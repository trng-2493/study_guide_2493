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</p:sldIdLst>
  <p:sldSz cx="12192000" cy="6858000"/>
  <p:notesSz cx="6858000" cy="9144000"/>
  <p:defaultTextStyle>
    <a:defPPr>
      <a:defRPr lang="en-I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Line 2"/>
          <p:cNvSpPr>
            <a:spLocks noChangeShapeType="1"/>
          </p:cNvSpPr>
          <p:nvPr/>
        </p:nvSpPr>
        <p:spPr bwMode="auto">
          <a:xfrm>
            <a:off x="9753600" y="1066800"/>
            <a:ext cx="0" cy="17526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1016000" y="457200"/>
            <a:ext cx="8519584" cy="2133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6656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132417" y="3049588"/>
            <a:ext cx="8331200" cy="2362200"/>
          </a:xfrm>
        </p:spPr>
        <p:txBody>
          <a:bodyPr/>
          <a:lstStyle>
            <a:lvl1pPr marL="0" indent="0" algn="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66565" name="Rectangle 5"/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/>
            </a:lvl1pPr>
          </a:lstStyle>
          <a:p>
            <a:fld id="{F304A9D6-1313-4D51-A62E-402D441D9A7B}" type="datetime1">
              <a:rPr lang="en-US" smtClean="0"/>
              <a:t>10/17/2026</a:t>
            </a:fld>
            <a:endParaRPr lang="en-US"/>
          </a:p>
        </p:txBody>
      </p:sp>
      <p:sp>
        <p:nvSpPr>
          <p:cNvPr id="66566" name="Rectangle 6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6567" name="Rectangle 7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sp>
        <p:nvSpPr>
          <p:cNvPr id="66568" name="Line 8"/>
          <p:cNvSpPr>
            <a:spLocks noChangeShapeType="1"/>
          </p:cNvSpPr>
          <p:nvPr/>
        </p:nvSpPr>
        <p:spPr bwMode="auto">
          <a:xfrm>
            <a:off x="1117600" y="2819400"/>
            <a:ext cx="8636000" cy="0"/>
          </a:xfrm>
          <a:prstGeom prst="line">
            <a:avLst/>
          </a:prstGeom>
          <a:noFill/>
          <a:ln w="635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  <p:grpSp>
        <p:nvGrpSpPr>
          <p:cNvPr id="66569" name="Group 9" descr="decorative graphic made up of dots"/>
          <p:cNvGrpSpPr>
            <a:grpSpLocks/>
          </p:cNvGrpSpPr>
          <p:nvPr/>
        </p:nvGrpSpPr>
        <p:grpSpPr bwMode="auto">
          <a:xfrm>
            <a:off x="9956801" y="1219200"/>
            <a:ext cx="1056217" cy="1295400"/>
            <a:chOff x="5136" y="960"/>
            <a:chExt cx="528" cy="864"/>
          </a:xfrm>
        </p:grpSpPr>
        <p:sp>
          <p:nvSpPr>
            <p:cNvPr id="66570" name="Oval 10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1" name="Oval 11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2" name="Oval 12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3" name="Oval 13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4" name="Oval 14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5" name="Oval 15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6" name="Oval 16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7" name="Oval 17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8" name="Oval 18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9" name="Oval 19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0" name="Oval 20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1" name="Oval 21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2" name="Oval 22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3" name="Oval 23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4" name="Oval 24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5" name="Oval 25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6" name="Oval 26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7" name="Oval 27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8" name="Oval 28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9" name="Oval 29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0" name="Oval 30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1" name="Oval 31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2" name="Oval 32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3" name="Oval 33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4" name="Oval 34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5" name="Oval 35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6" name="Oval 36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7" name="Oval 37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8" name="Oval 38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9" name="Oval 39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0" name="Oval 40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</p:grpSp>
      <p:grpSp>
        <p:nvGrpSpPr>
          <p:cNvPr id="66601" name="Group 41" descr="decorative graphic made up of dots"/>
          <p:cNvGrpSpPr>
            <a:grpSpLocks/>
          </p:cNvGrpSpPr>
          <p:nvPr/>
        </p:nvGrpSpPr>
        <p:grpSpPr bwMode="auto">
          <a:xfrm>
            <a:off x="9956801" y="1219200"/>
            <a:ext cx="1056217" cy="1295400"/>
            <a:chOff x="5136" y="960"/>
            <a:chExt cx="528" cy="864"/>
          </a:xfrm>
        </p:grpSpPr>
        <p:sp>
          <p:nvSpPr>
            <p:cNvPr id="66602" name="Oval 42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3" name="Oval 43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4" name="Oval 44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5" name="Oval 45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6" name="Oval 46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7" name="Oval 47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8" name="Oval 48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9" name="Oval 49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0" name="Oval 50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1" name="Oval 51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2" name="Oval 52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3" name="Oval 53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4" name="Oval 54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5" name="Oval 55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6" name="Oval 56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7" name="Oval 57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8" name="Oval 58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9" name="Oval 59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0" name="Oval 60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1" name="Oval 61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2" name="Oval 62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3" name="Oval 63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4" name="Oval 64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5" name="Oval 65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6" name="Oval 66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7" name="Oval 67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8" name="Oval 68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9" name="Oval 69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30" name="Oval 70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31" name="Oval 71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32" name="Oval 72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8955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2564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44A8556-2F07-416B-A81B-5F1C3AFD01EF}" type="datetime1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7954" y="6261305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722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6729637-7636-4388-949A-FC8BFDAA4705}" type="datetime1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092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0F5DED8-6456-47A2-A5CC-BE8BEC6BD892}" type="datetime1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174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7595759-8665-4708-8376-28A90FA13BDD}" type="datetime1">
              <a:rPr lang="en-US" smtClean="0"/>
              <a:t>10/17/2026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974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3B0C243-4A55-4741-8265-C0A2FA769F7B}" type="datetime1">
              <a:rPr lang="en-US" smtClean="0"/>
              <a:t>10/17/2026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5460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99A12F7-971D-41C1-A2B7-EBB58FF381A3}" type="datetime1">
              <a:rPr lang="en-US" smtClean="0"/>
              <a:t>10/17/2026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1122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E3C3D28-2E0C-4F8B-A45D-9E87921943BF}" type="datetime1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9956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020A2-9D30-48AD-A70D-69AD2B027FCA}" type="datetime1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103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01F6343-4644-43E3-AA07-6869EC7CEA0D}" type="datetime1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150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22239"/>
            <a:ext cx="2743200" cy="60086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22239"/>
            <a:ext cx="8026400" cy="60086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CA0A126-F3CA-45B4-970B-597BE67A203E}" type="datetime1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4651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22238"/>
            <a:ext cx="100584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fld id="{16815F9B-CAFE-4C37-897A-C6403744783F}" type="datetime1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879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Line 2"/>
          <p:cNvSpPr>
            <a:spLocks noChangeShapeType="1"/>
          </p:cNvSpPr>
          <p:nvPr/>
        </p:nvSpPr>
        <p:spPr bwMode="auto">
          <a:xfrm>
            <a:off x="10668000" y="0"/>
            <a:ext cx="0" cy="15240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122238"/>
            <a:ext cx="1005840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65540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719263"/>
            <a:ext cx="10972800" cy="4411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65541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/>
            </a:lvl1pPr>
          </a:lstStyle>
          <a:p>
            <a:fld id="{C569D4A1-8BB6-4430-9601-3FBC79908E8C}" type="datetime1">
              <a:rPr lang="en-US" smtClean="0"/>
              <a:t>10/17/2026</a:t>
            </a:fld>
            <a:endParaRPr lang="en-US"/>
          </a:p>
        </p:txBody>
      </p:sp>
      <p:sp>
        <p:nvSpPr>
          <p:cNvPr id="65542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/>
            </a:lvl1pPr>
          </a:lstStyle>
          <a:p>
            <a:endParaRPr lang="en-US"/>
          </a:p>
        </p:txBody>
      </p:sp>
      <p:sp>
        <p:nvSpPr>
          <p:cNvPr id="65543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grpSp>
        <p:nvGrpSpPr>
          <p:cNvPr id="65544" name="Group 8" descr="decorative graphic made up of dots"/>
          <p:cNvGrpSpPr>
            <a:grpSpLocks/>
          </p:cNvGrpSpPr>
          <p:nvPr/>
        </p:nvGrpSpPr>
        <p:grpSpPr bwMode="auto">
          <a:xfrm>
            <a:off x="10871201" y="152400"/>
            <a:ext cx="1056217" cy="1295400"/>
            <a:chOff x="5136" y="960"/>
            <a:chExt cx="528" cy="864"/>
          </a:xfrm>
        </p:grpSpPr>
        <p:sp>
          <p:nvSpPr>
            <p:cNvPr id="65545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6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7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8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9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0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1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2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3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4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5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6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7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8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9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0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1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2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3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4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5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6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7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8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9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0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1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2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3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4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5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</p:grpSp>
      <p:sp>
        <p:nvSpPr>
          <p:cNvPr id="65576" name="Line 40"/>
          <p:cNvSpPr>
            <a:spLocks noChangeShapeType="1"/>
          </p:cNvSpPr>
          <p:nvPr/>
        </p:nvSpPr>
        <p:spPr bwMode="auto">
          <a:xfrm>
            <a:off x="609600" y="1524000"/>
            <a:ext cx="100584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</p:spTree>
    <p:extLst>
      <p:ext uri="{BB962C8B-B14F-4D97-AF65-F5344CB8AC3E}">
        <p14:creationId xmlns:p14="http://schemas.microsoft.com/office/powerpoint/2010/main" val="2634220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9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l"/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87425" indent="-293688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281113" indent="-2921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98613" indent="-315913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Built-in Python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2057400"/>
            <a:ext cx="8777508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 i="0">
                <a:solidFill>
                  <a:srgbClr val="5A5A5A"/>
                </a:solidFill>
                <a:latin typeface="Arial"/>
              </a:rPr>
              <a:t>Use the standard library you already have: os, pathlib, sys, datetime and random for everyday QA tasks.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3520439"/>
            <a:ext cx="697230" cy="402336"/>
          </a:xfrm>
          <a:prstGeom prst="roundRect">
            <a:avLst>
              <a:gd name="adj" fmla="val 50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Arial"/>
              </a:rPr>
              <a:t>os</a:t>
            </a:r>
          </a:p>
        </p:txBody>
      </p:sp>
      <p:sp>
        <p:nvSpPr>
          <p:cNvPr id="6" name="Right Arrow 5"/>
          <p:cNvSpPr/>
          <p:nvPr/>
        </p:nvSpPr>
        <p:spPr>
          <a:xfrm>
            <a:off x="1398574" y="3630167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764334" y="3520439"/>
            <a:ext cx="1297305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50" b="1">
                <a:solidFill>
                  <a:srgbClr val="330066"/>
                </a:solidFill>
                <a:latin typeface="Arial"/>
              </a:rPr>
              <a:t>pathlib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153079" y="3630167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518839" y="3520439"/>
            <a:ext cx="817245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50" b="1">
                <a:solidFill>
                  <a:srgbClr val="330066"/>
                </a:solidFill>
                <a:latin typeface="Arial"/>
              </a:rPr>
              <a:t>sys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427524" y="3630167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793284" y="3520439"/>
            <a:ext cx="1417320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50" b="1">
                <a:solidFill>
                  <a:srgbClr val="330066"/>
                </a:solidFill>
                <a:latin typeface="Arial"/>
              </a:rPr>
              <a:t>datetime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302044" y="3630167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667804" y="3520439"/>
            <a:ext cx="1177290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50" b="1">
                <a:solidFill>
                  <a:srgbClr val="330066"/>
                </a:solidFill>
                <a:latin typeface="Arial"/>
              </a:rPr>
              <a:t>random</a:t>
            </a:r>
          </a:p>
        </p:txBody>
      </p:sp>
      <p:sp>
        <p:nvSpPr>
          <p:cNvPr id="14" name="Oval 13"/>
          <p:cNvSpPr/>
          <p:nvPr/>
        </p:nvSpPr>
        <p:spPr>
          <a:xfrm>
            <a:off x="609904" y="5596128"/>
            <a:ext cx="292608" cy="29260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067104" y="5596128"/>
            <a:ext cx="292608" cy="292608"/>
          </a:xfrm>
          <a:prstGeom prst="ellipse">
            <a:avLst/>
          </a:prstGeom>
          <a:solidFill>
            <a:srgbClr val="66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524304" y="5596128"/>
            <a:ext cx="292608" cy="292608"/>
          </a:xfrm>
          <a:prstGeom prst="ellipse">
            <a:avLst/>
          </a:prstGeom>
          <a:solidFill>
            <a:srgbClr val="CC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Learning Objectives</a:t>
            </a:r>
          </a:p>
        </p:txBody>
      </p:sp>
      <p:sp>
        <p:nvSpPr>
          <p:cNvPr id="3" name="Oval 2"/>
          <p:cNvSpPr/>
          <p:nvPr/>
        </p:nvSpPr>
        <p:spPr>
          <a:xfrm>
            <a:off x="609904" y="1874519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6832" y="1783079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Explain the standard library ("batteries included") and how to explore it.</a:t>
            </a:r>
          </a:p>
        </p:txBody>
      </p:sp>
      <p:sp>
        <p:nvSpPr>
          <p:cNvPr id="5" name="Oval 4"/>
          <p:cNvSpPr/>
          <p:nvPr/>
        </p:nvSpPr>
        <p:spPr>
          <a:xfrm>
            <a:off x="609904" y="2350008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6832" y="2258568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Use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os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for the file system, paths and environment variables.</a:t>
            </a:r>
          </a:p>
        </p:txBody>
      </p:sp>
      <p:sp>
        <p:nvSpPr>
          <p:cNvPr id="7" name="Oval 6"/>
          <p:cNvSpPr/>
          <p:nvPr/>
        </p:nvSpPr>
        <p:spPr>
          <a:xfrm>
            <a:off x="609904" y="2825496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6832" y="2734056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Use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pathlib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as a modern, object-oriented alternative for paths.</a:t>
            </a:r>
          </a:p>
        </p:txBody>
      </p:sp>
      <p:sp>
        <p:nvSpPr>
          <p:cNvPr id="9" name="Oval 8"/>
          <p:cNvSpPr/>
          <p:nvPr/>
        </p:nvSpPr>
        <p:spPr>
          <a:xfrm>
            <a:off x="609904" y="3300984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6832" y="3209544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Use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sys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for arguments, exit codes, the module search path and platform information.</a:t>
            </a:r>
          </a:p>
        </p:txBody>
      </p:sp>
      <p:sp>
        <p:nvSpPr>
          <p:cNvPr id="11" name="Oval 10"/>
          <p:cNvSpPr/>
          <p:nvPr/>
        </p:nvSpPr>
        <p:spPr>
          <a:xfrm>
            <a:off x="609904" y="3776472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6832" y="3685032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Use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datetime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to create, format, parse and calculate with dates, times and durations.</a:t>
            </a:r>
          </a:p>
        </p:txBody>
      </p:sp>
      <p:sp>
        <p:nvSpPr>
          <p:cNvPr id="13" name="Oval 12"/>
          <p:cNvSpPr/>
          <p:nvPr/>
        </p:nvSpPr>
        <p:spPr>
          <a:xfrm>
            <a:off x="609904" y="4251960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6832" y="4160520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Use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random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to generate repeatable and non-repeatable test data.</a:t>
            </a:r>
          </a:p>
        </p:txBody>
      </p:sp>
      <p:sp>
        <p:nvSpPr>
          <p:cNvPr id="15" name="Oval 14"/>
          <p:cNvSpPr/>
          <p:nvPr/>
        </p:nvSpPr>
        <p:spPr>
          <a:xfrm>
            <a:off x="609904" y="4727448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6832" y="4636008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Use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time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math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platform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and know where to look for others.</a:t>
            </a:r>
          </a:p>
        </p:txBody>
      </p:sp>
      <p:sp>
        <p:nvSpPr>
          <p:cNvPr id="17" name="Oval 16"/>
          <p:cNvSpPr/>
          <p:nvPr/>
        </p:nvSpPr>
        <p:spPr>
          <a:xfrm>
            <a:off x="609904" y="5202936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6832" y="5111496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Apply them to QA tasks: test data, timestamped reports, environment-aware config, timing checks.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 / 52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Why This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The previous lessons were about bringing code into your project. This one is about code you already have, for free, the moment Python is installed: no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pip install</a:t>
            </a:r>
            <a:r>
              <a:rPr sz="1500" b="0" i="0">
                <a:solidFill>
                  <a:srgbClr val="1A1A1A"/>
                </a:solidFill>
                <a:latin typeface="Arial"/>
              </a:rPr>
              <a:t>, no versions to pin, runs everywhere.</a:t>
            </a:r>
          </a:p>
        </p:txBody>
      </p:sp>
      <p:sp>
        <p:nvSpPr>
          <p:cNvPr id="5" name="Oval 4"/>
          <p:cNvSpPr/>
          <p:nvPr/>
        </p:nvSpPr>
        <p:spPr>
          <a:xfrm>
            <a:off x="609904" y="26974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8544" y="2770632"/>
            <a:ext cx="6217920" cy="4743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 i="0">
                <a:solidFill>
                  <a:srgbClr val="330066"/>
                </a:solidFill>
                <a:latin typeface="Courier New"/>
              </a:rPr>
              <a:t>os</a:t>
            </a:r>
            <a:r>
              <a:rPr sz="1350" b="0" i="0">
                <a:solidFill>
                  <a:srgbClr val="1A1A1A"/>
                </a:solidFill>
                <a:latin typeface="Arial"/>
              </a:rPr>
              <a:t> and </a:t>
            </a:r>
            <a:r>
              <a:rPr sz="1300" b="0" i="0">
                <a:solidFill>
                  <a:srgbClr val="330066"/>
                </a:solidFill>
                <a:latin typeface="Courier New"/>
              </a:rPr>
              <a:t>pathlib</a:t>
            </a:r>
            <a:r>
              <a:rPr sz="1350" b="0" i="0">
                <a:solidFill>
                  <a:srgbClr val="1A1A1A"/>
                </a:solidFill>
                <a:latin typeface="Arial"/>
              </a:rPr>
              <a:t> locate test data, create output folders, read variables such as the target environment (</a:t>
            </a:r>
            <a:r>
              <a:rPr sz="1300" b="0" i="0">
                <a:solidFill>
                  <a:srgbClr val="330066"/>
                </a:solidFill>
                <a:latin typeface="Courier New"/>
              </a:rPr>
              <a:t>STAGING</a:t>
            </a:r>
            <a:r>
              <a:rPr sz="1350" b="0" i="0">
                <a:solidFill>
                  <a:srgbClr val="1A1A1A"/>
                </a:solidFill>
                <a:latin typeface="Arial"/>
              </a:rPr>
              <a:t> or </a:t>
            </a:r>
            <a:r>
              <a:rPr sz="1300" b="0" i="0">
                <a:solidFill>
                  <a:srgbClr val="330066"/>
                </a:solidFill>
                <a:latin typeface="Courier New"/>
              </a:rPr>
              <a:t>QA</a:t>
            </a:r>
            <a:r>
              <a:rPr sz="1350" b="0" i="0">
                <a:solidFill>
                  <a:srgbClr val="1A1A1A"/>
                </a:solidFill>
                <a:latin typeface="Arial"/>
              </a:rPr>
              <a:t>).</a:t>
            </a:r>
          </a:p>
        </p:txBody>
      </p:sp>
      <p:sp>
        <p:nvSpPr>
          <p:cNvPr id="7" name="Oval 6"/>
          <p:cNvSpPr/>
          <p:nvPr/>
        </p:nvSpPr>
        <p:spPr>
          <a:xfrm>
            <a:off x="609904" y="3308985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sys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8544" y="3382137"/>
            <a:ext cx="6217920" cy="4743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 i="0">
                <a:solidFill>
                  <a:srgbClr val="330066"/>
                </a:solidFill>
                <a:latin typeface="Courier New"/>
              </a:rPr>
              <a:t>sys</a:t>
            </a:r>
            <a:r>
              <a:rPr sz="1350" b="0" i="0">
                <a:solidFill>
                  <a:srgbClr val="1A1A1A"/>
                </a:solidFill>
                <a:latin typeface="Arial"/>
              </a:rPr>
              <a:t> reads command-line arguments and sets the exit code that tells CI whether your script passed.</a:t>
            </a:r>
          </a:p>
        </p:txBody>
      </p:sp>
      <p:sp>
        <p:nvSpPr>
          <p:cNvPr id="9" name="Oval 8"/>
          <p:cNvSpPr/>
          <p:nvPr/>
        </p:nvSpPr>
        <p:spPr>
          <a:xfrm>
            <a:off x="609904" y="392049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dt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8544" y="3993642"/>
            <a:ext cx="6217920" cy="4743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 i="0">
                <a:solidFill>
                  <a:srgbClr val="330066"/>
                </a:solidFill>
                <a:latin typeface="Courier New"/>
              </a:rPr>
              <a:t>datetime</a:t>
            </a:r>
            <a:r>
              <a:rPr sz="1350" b="0" i="0">
                <a:solidFill>
                  <a:srgbClr val="1A1A1A"/>
                </a:solidFill>
                <a:latin typeface="Arial"/>
              </a:rPr>
              <a:t> stamps reports, checks token expiry, validates date fields.</a:t>
            </a:r>
          </a:p>
        </p:txBody>
      </p:sp>
      <p:sp>
        <p:nvSpPr>
          <p:cNvPr id="11" name="Oval 10"/>
          <p:cNvSpPr/>
          <p:nvPr/>
        </p:nvSpPr>
        <p:spPr>
          <a:xfrm>
            <a:off x="609904" y="4531995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rnd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8544" y="4605147"/>
            <a:ext cx="62179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 i="0">
                <a:solidFill>
                  <a:srgbClr val="330066"/>
                </a:solidFill>
                <a:latin typeface="Courier New"/>
              </a:rPr>
              <a:t>random</a:t>
            </a:r>
            <a:r>
              <a:rPr sz="1350" b="0" i="0">
                <a:solidFill>
                  <a:srgbClr val="1A1A1A"/>
                </a:solidFill>
                <a:latin typeface="Arial"/>
              </a:rPr>
              <a:t> generates varied but reproducible test inputs.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42224" y="2697480"/>
            <a:ext cx="3839565" cy="1828800"/>
          </a:xfrm>
          <a:prstGeom prst="roundRect">
            <a:avLst>
              <a:gd name="adj" fmla="val 4500"/>
            </a:avLst>
          </a:prstGeom>
          <a:solidFill>
            <a:srgbClr val="F5F5C2"/>
          </a:solidFill>
          <a:ln w="12700">
            <a:solidFill>
              <a:srgbClr val="F5F5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970824" y="2834640"/>
            <a:ext cx="3382365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ANALOGY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The standard library is the toolkit inside the box when you buy furniture: screwdriver, Allen key, a few screws. You can build a lot before buying anything extra from the hardware store (PyPI).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42224" y="4709160"/>
            <a:ext cx="3839565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 i="0">
                <a:solidFill>
                  <a:srgbClr val="5A5A5A"/>
                </a:solidFill>
                <a:latin typeface="Arial"/>
              </a:rPr>
              <a:t>Project 1 uses several of these. Tomorrow's file and CSV/JSON/XML lessons build on </a:t>
            </a:r>
            <a:r>
              <a:rPr sz="1250" b="0" i="0">
                <a:solidFill>
                  <a:srgbClr val="5A5A5A"/>
                </a:solidFill>
                <a:latin typeface="Courier New"/>
              </a:rPr>
              <a:t>os</a:t>
            </a:r>
            <a:r>
              <a:rPr sz="1300" b="0" i="0">
                <a:solidFill>
                  <a:srgbClr val="5A5A5A"/>
                </a:solidFill>
                <a:latin typeface="Arial"/>
              </a:rPr>
              <a:t>/</a:t>
            </a:r>
            <a:r>
              <a:rPr sz="1250" b="0" i="0">
                <a:solidFill>
                  <a:srgbClr val="5A5A5A"/>
                </a:solidFill>
                <a:latin typeface="Courier New"/>
              </a:rPr>
              <a:t>pathlib</a:t>
            </a:r>
            <a:r>
              <a:rPr sz="1300" b="0" i="0">
                <a:solidFill>
                  <a:srgbClr val="5A5A5A"/>
                </a:solidFill>
                <a:latin typeface="Arial"/>
              </a:rPr>
              <a:t>; Wednesday's debugging and logging rely on </a:t>
            </a:r>
            <a:r>
              <a:rPr sz="1250" b="0" i="0">
                <a:solidFill>
                  <a:srgbClr val="5A5A5A"/>
                </a:solidFill>
                <a:latin typeface="Courier New"/>
              </a:rPr>
              <a:t>sys</a:t>
            </a:r>
            <a:r>
              <a:rPr sz="1300" b="0" i="0">
                <a:solidFill>
                  <a:srgbClr val="5A5A5A"/>
                </a:solidFill>
                <a:latin typeface="Arial"/>
              </a:rPr>
              <a:t> and </a:t>
            </a:r>
            <a:r>
              <a:rPr sz="1250" b="0" i="0">
                <a:solidFill>
                  <a:srgbClr val="5A5A5A"/>
                </a:solidFill>
                <a:latin typeface="Courier New"/>
              </a:rPr>
              <a:t>datetime</a:t>
            </a:r>
            <a:r>
              <a:rPr sz="1300" b="0" i="0">
                <a:solidFill>
                  <a:srgbClr val="5A5A5A"/>
                </a:solidFill>
                <a:latin typeface="Arial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 / 52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The Concept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>
                <a:solidFill>
                  <a:srgbClr val="5A5A5A"/>
                </a:solidFill>
              </a:rPr>
              <a:t>The standard library, os, pathlib, sys, datetime, random, and a few more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 / 52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330066"/>
                </a:solidFill>
              </a:rPr>
              <a:t>The Standard Library: Batteries Included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904" y="1645920"/>
          <a:ext cx="10971885" cy="3675888"/>
        </p:xfrm>
        <a:graphic>
          <a:graphicData uri="http://schemas.openxmlformats.org/drawingml/2006/table">
            <a:tbl>
              <a:tblPr/>
              <a:tblGrid>
                <a:gridCol w="41693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025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Modules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Arial"/>
                        </a:rPr>
                        <a:t>Operating system and files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330066"/>
                          </a:solidFill>
                          <a:latin typeface="Courier New"/>
                        </a:rPr>
                        <a:t>os</a:t>
                      </a:r>
                      <a:r>
                        <a:rPr sz="115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100" b="0" i="0">
                          <a:solidFill>
                            <a:srgbClr val="330066"/>
                          </a:solidFill>
                          <a:latin typeface="Courier New"/>
                        </a:rPr>
                        <a:t>pathlib</a:t>
                      </a:r>
                      <a:r>
                        <a:rPr sz="115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100" b="0" i="0">
                          <a:solidFill>
                            <a:srgbClr val="330066"/>
                          </a:solidFill>
                          <a:latin typeface="Courier New"/>
                        </a:rPr>
                        <a:t>shutil</a:t>
                      </a:r>
                      <a:r>
                        <a:rPr sz="115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100" b="0" i="0">
                          <a:solidFill>
                            <a:srgbClr val="330066"/>
                          </a:solidFill>
                          <a:latin typeface="Courier New"/>
                        </a:rPr>
                        <a:t>tempfile</a:t>
                      </a:r>
                      <a:r>
                        <a:rPr sz="115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100" b="0" i="0">
                          <a:solidFill>
                            <a:srgbClr val="330066"/>
                          </a:solidFill>
                          <a:latin typeface="Courier New"/>
                        </a:rPr>
                        <a:t>glob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Arial"/>
                        </a:rPr>
                        <a:t>Python runtime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330066"/>
                          </a:solidFill>
                          <a:latin typeface="Courier New"/>
                        </a:rPr>
                        <a:t>sys</a:t>
                      </a:r>
                      <a:r>
                        <a:rPr sz="115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100" b="0" i="0">
                          <a:solidFill>
                            <a:srgbClr val="330066"/>
                          </a:solidFill>
                          <a:latin typeface="Courier New"/>
                        </a:rPr>
                        <a:t>platform</a:t>
                      </a:r>
                      <a:r>
                        <a:rPr sz="115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100" b="0" i="0">
                          <a:solidFill>
                            <a:srgbClr val="330066"/>
                          </a:solidFill>
                          <a:latin typeface="Courier New"/>
                        </a:rPr>
                        <a:t>importlib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Arial"/>
                        </a:rPr>
                        <a:t>Dates and time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330066"/>
                          </a:solidFill>
                          <a:latin typeface="Courier New"/>
                        </a:rPr>
                        <a:t>datetime</a:t>
                      </a:r>
                      <a:r>
                        <a:rPr sz="115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100" b="0" i="0">
                          <a:solidFill>
                            <a:srgbClr val="330066"/>
                          </a:solidFill>
                          <a:latin typeface="Courier New"/>
                        </a:rPr>
                        <a:t>time</a:t>
                      </a:r>
                      <a:r>
                        <a:rPr sz="115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100" b="0" i="0">
                          <a:solidFill>
                            <a:srgbClr val="330066"/>
                          </a:solidFill>
                          <a:latin typeface="Courier New"/>
                        </a:rPr>
                        <a:t>zoneinfo</a:t>
                      </a:r>
                      <a:r>
                        <a:rPr sz="115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100" b="0" i="0">
                          <a:solidFill>
                            <a:srgbClr val="330066"/>
                          </a:solidFill>
                          <a:latin typeface="Courier New"/>
                        </a:rPr>
                        <a:t>calendar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Arial"/>
                        </a:rPr>
                        <a:t>Randomness and math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330066"/>
                          </a:solidFill>
                          <a:latin typeface="Courier New"/>
                        </a:rPr>
                        <a:t>random</a:t>
                      </a:r>
                      <a:r>
                        <a:rPr sz="115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100" b="0" i="0">
                          <a:solidFill>
                            <a:srgbClr val="330066"/>
                          </a:solidFill>
                          <a:latin typeface="Courier New"/>
                        </a:rPr>
                        <a:t>math</a:t>
                      </a:r>
                      <a:r>
                        <a:rPr sz="115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100" b="0" i="0">
                          <a:solidFill>
                            <a:srgbClr val="330066"/>
                          </a:solidFill>
                          <a:latin typeface="Courier New"/>
                        </a:rPr>
                        <a:t>statistics</a:t>
                      </a:r>
                      <a:r>
                        <a:rPr sz="115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100" b="0" i="0">
                          <a:solidFill>
                            <a:srgbClr val="330066"/>
                          </a:solidFill>
                          <a:latin typeface="Courier New"/>
                        </a:rPr>
                        <a:t>secrets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Arial"/>
                        </a:rPr>
                        <a:t>Data formats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330066"/>
                          </a:solidFill>
                          <a:latin typeface="Courier New"/>
                        </a:rPr>
                        <a:t>json</a:t>
                      </a:r>
                      <a:r>
                        <a:rPr sz="115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100" b="0" i="0">
                          <a:solidFill>
                            <a:srgbClr val="330066"/>
                          </a:solidFill>
                          <a:latin typeface="Courier New"/>
                        </a:rPr>
                        <a:t>csv</a:t>
                      </a:r>
                      <a:r>
                        <a:rPr sz="115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100" b="0" i="0">
                          <a:solidFill>
                            <a:srgbClr val="330066"/>
                          </a:solidFill>
                          <a:latin typeface="Courier New"/>
                        </a:rPr>
                        <a:t>xml.etree.ElementTree</a:t>
                      </a:r>
                      <a:r>
                        <a:rPr sz="115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100" b="0" i="0">
                          <a:solidFill>
                            <a:srgbClr val="330066"/>
                          </a:solidFill>
                          <a:latin typeface="Courier New"/>
                        </a:rPr>
                        <a:t>sqlite3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Arial"/>
                        </a:rPr>
                        <a:t>Text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330066"/>
                          </a:solidFill>
                          <a:latin typeface="Courier New"/>
                        </a:rPr>
                        <a:t>re</a:t>
                      </a:r>
                      <a:r>
                        <a:rPr sz="115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100" b="0" i="0">
                          <a:solidFill>
                            <a:srgbClr val="330066"/>
                          </a:solidFill>
                          <a:latin typeface="Courier New"/>
                        </a:rPr>
                        <a:t>string</a:t>
                      </a:r>
                      <a:r>
                        <a:rPr sz="115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100" b="0" i="0">
                          <a:solidFill>
                            <a:srgbClr val="330066"/>
                          </a:solidFill>
                          <a:latin typeface="Courier New"/>
                        </a:rPr>
                        <a:t>textwrap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Arial"/>
                        </a:rPr>
                        <a:t>Collections and functional tools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330066"/>
                          </a:solidFill>
                          <a:latin typeface="Courier New"/>
                        </a:rPr>
                        <a:t>collections</a:t>
                      </a:r>
                      <a:r>
                        <a:rPr sz="115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100" b="0" i="0">
                          <a:solidFill>
                            <a:srgbClr val="330066"/>
                          </a:solidFill>
                          <a:latin typeface="Courier New"/>
                        </a:rPr>
                        <a:t>itertools</a:t>
                      </a:r>
                      <a:r>
                        <a:rPr sz="115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100" b="0" i="0">
                          <a:solidFill>
                            <a:srgbClr val="330066"/>
                          </a:solidFill>
                          <a:latin typeface="Courier New"/>
                        </a:rPr>
                        <a:t>functools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Arial"/>
                        </a:rPr>
                        <a:t>Command line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330066"/>
                          </a:solidFill>
                          <a:latin typeface="Courier New"/>
                        </a:rPr>
                        <a:t>argparse</a:t>
                      </a:r>
                      <a:r>
                        <a:rPr sz="115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100" b="0" i="0">
                          <a:solidFill>
                            <a:srgbClr val="330066"/>
                          </a:solidFill>
                          <a:latin typeface="Courier New"/>
                        </a:rPr>
                        <a:t>subprocess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Arial"/>
                        </a:rPr>
                        <a:t>Diagnostics and testing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330066"/>
                          </a:solidFill>
                          <a:latin typeface="Courier New"/>
                        </a:rPr>
                        <a:t>logging</a:t>
                      </a:r>
                      <a:r>
                        <a:rPr sz="115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100" b="0" i="0">
                          <a:solidFill>
                            <a:srgbClr val="330066"/>
                          </a:solidFill>
                          <a:latin typeface="Courier New"/>
                        </a:rPr>
                        <a:t>unittest</a:t>
                      </a:r>
                      <a:r>
                        <a:rPr sz="115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100" b="0" i="0">
                          <a:solidFill>
                            <a:srgbClr val="330066"/>
                          </a:solidFill>
                          <a:latin typeface="Courier New"/>
                        </a:rPr>
                        <a:t>pdb</a:t>
                      </a:r>
                      <a:r>
                        <a:rPr sz="115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100" b="0" i="0">
                          <a:solidFill>
                            <a:srgbClr val="330066"/>
                          </a:solidFill>
                          <a:latin typeface="Courier New"/>
                        </a:rPr>
                        <a:t>timeit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Arial"/>
                        </a:rPr>
                        <a:t>Networking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330066"/>
                          </a:solidFill>
                          <a:latin typeface="Courier New"/>
                        </a:rPr>
                        <a:t>urllib</a:t>
                      </a:r>
                      <a:r>
                        <a:rPr sz="115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100" b="0" i="0">
                          <a:solidFill>
                            <a:srgbClr val="330066"/>
                          </a:solidFill>
                          <a:latin typeface="Courier New"/>
                        </a:rPr>
                        <a:t>http</a:t>
                      </a:r>
                      <a:r>
                        <a:rPr sz="115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100" b="0" i="0">
                          <a:solidFill>
                            <a:srgbClr val="330066"/>
                          </a:solidFill>
                          <a:latin typeface="Courier New"/>
                        </a:rPr>
                        <a:t>socket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904" y="5779007"/>
            <a:ext cx="1097188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 i="0">
                <a:solidFill>
                  <a:srgbClr val="5A5A5A"/>
                </a:solidFill>
                <a:latin typeface="Arial"/>
              </a:rPr>
              <a:t>Today: </a:t>
            </a:r>
            <a:r>
              <a:rPr sz="1200" b="0" i="0">
                <a:solidFill>
                  <a:srgbClr val="5A5A5A"/>
                </a:solidFill>
                <a:latin typeface="Courier New"/>
              </a:rPr>
              <a:t>os</a:t>
            </a:r>
            <a:r>
              <a:rPr sz="1250" b="0" i="0">
                <a:solidFill>
                  <a:srgbClr val="5A5A5A"/>
                </a:solidFill>
                <a:latin typeface="Arial"/>
              </a:rPr>
              <a:t>, </a:t>
            </a:r>
            <a:r>
              <a:rPr sz="1200" b="0" i="0">
                <a:solidFill>
                  <a:srgbClr val="5A5A5A"/>
                </a:solidFill>
                <a:latin typeface="Courier New"/>
              </a:rPr>
              <a:t>sys</a:t>
            </a:r>
            <a:r>
              <a:rPr sz="1250" b="0" i="0">
                <a:solidFill>
                  <a:srgbClr val="5A5A5A"/>
                </a:solidFill>
                <a:latin typeface="Arial"/>
              </a:rPr>
              <a:t>, </a:t>
            </a:r>
            <a:r>
              <a:rPr sz="1200" b="0" i="0">
                <a:solidFill>
                  <a:srgbClr val="5A5A5A"/>
                </a:solidFill>
                <a:latin typeface="Courier New"/>
              </a:rPr>
              <a:t>datetime</a:t>
            </a:r>
            <a:r>
              <a:rPr sz="1250" b="0" i="0">
                <a:solidFill>
                  <a:srgbClr val="5A5A5A"/>
                </a:solidFill>
                <a:latin typeface="Arial"/>
              </a:rPr>
              <a:t>, </a:t>
            </a:r>
            <a:r>
              <a:rPr sz="1200" b="0" i="0">
                <a:solidFill>
                  <a:srgbClr val="5A5A5A"/>
                </a:solidFill>
                <a:latin typeface="Courier New"/>
              </a:rPr>
              <a:t>random</a:t>
            </a:r>
            <a:r>
              <a:rPr sz="1250" b="0" i="0">
                <a:solidFill>
                  <a:srgbClr val="5A5A5A"/>
                </a:solidFill>
                <a:latin typeface="Arial"/>
              </a:rPr>
              <a:t>, with short looks at </a:t>
            </a:r>
            <a:r>
              <a:rPr sz="1200" b="0" i="0">
                <a:solidFill>
                  <a:srgbClr val="5A5A5A"/>
                </a:solidFill>
                <a:latin typeface="Courier New"/>
              </a:rPr>
              <a:t>pathlib</a:t>
            </a:r>
            <a:r>
              <a:rPr sz="1250" b="0" i="0">
                <a:solidFill>
                  <a:srgbClr val="5A5A5A"/>
                </a:solidFill>
                <a:latin typeface="Arial"/>
              </a:rPr>
              <a:t>, </a:t>
            </a:r>
            <a:r>
              <a:rPr sz="1200" b="0" i="0">
                <a:solidFill>
                  <a:srgbClr val="5A5A5A"/>
                </a:solidFill>
                <a:latin typeface="Courier New"/>
              </a:rPr>
              <a:t>time</a:t>
            </a:r>
            <a:r>
              <a:rPr sz="1250" b="0" i="0">
                <a:solidFill>
                  <a:srgbClr val="5A5A5A"/>
                </a:solidFill>
                <a:latin typeface="Arial"/>
              </a:rPr>
              <a:t>, </a:t>
            </a:r>
            <a:r>
              <a:rPr sz="1200" b="0" i="0">
                <a:solidFill>
                  <a:srgbClr val="5A5A5A"/>
                </a:solidFill>
                <a:latin typeface="Courier New"/>
              </a:rPr>
              <a:t>math</a:t>
            </a:r>
            <a:r>
              <a:rPr sz="1250" b="0" i="0">
                <a:solidFill>
                  <a:srgbClr val="5A5A5A"/>
                </a:solidFill>
                <a:latin typeface="Arial"/>
              </a:rPr>
              <a:t>, </a:t>
            </a:r>
            <a:r>
              <a:rPr sz="1200" b="0" i="0">
                <a:solidFill>
                  <a:srgbClr val="5A5A5A"/>
                </a:solidFill>
                <a:latin typeface="Courier New"/>
              </a:rPr>
              <a:t>platform</a:t>
            </a:r>
            <a:r>
              <a:rPr sz="1250" b="0" i="0">
                <a:solidFill>
                  <a:srgbClr val="5A5A5A"/>
                </a:solidFill>
                <a:latin typeface="Arial"/>
              </a:rPr>
              <a:t>. Files, data formats, </a:t>
            </a:r>
            <a:r>
              <a:rPr sz="1200" b="0" i="0">
                <a:solidFill>
                  <a:srgbClr val="5A5A5A"/>
                </a:solidFill>
                <a:latin typeface="Courier New"/>
              </a:rPr>
              <a:t>logging</a:t>
            </a:r>
            <a:r>
              <a:rPr sz="1250" b="0" i="0">
                <a:solidFill>
                  <a:srgbClr val="5A5A5A"/>
                </a:solidFill>
                <a:latin typeface="Arial"/>
              </a:rPr>
              <a:t>, </a:t>
            </a:r>
            <a:r>
              <a:rPr sz="1200" b="0" i="0">
                <a:solidFill>
                  <a:srgbClr val="5A5A5A"/>
                </a:solidFill>
                <a:latin typeface="Courier New"/>
              </a:rPr>
              <a:t>unittest</a:t>
            </a:r>
            <a:r>
              <a:rPr sz="1250" b="0" i="0">
                <a:solidFill>
                  <a:srgbClr val="5A5A5A"/>
                </a:solidFill>
                <a:latin typeface="Arial"/>
              </a:rPr>
              <a:t>, </a:t>
            </a:r>
            <a:r>
              <a:rPr sz="1200" b="0" i="0">
                <a:solidFill>
                  <a:srgbClr val="5A5A5A"/>
                </a:solidFill>
                <a:latin typeface="Courier New"/>
              </a:rPr>
              <a:t>pdb</a:t>
            </a:r>
            <a:r>
              <a:rPr sz="1250" b="0" i="0">
                <a:solidFill>
                  <a:srgbClr val="5A5A5A"/>
                </a:solidFill>
                <a:latin typeface="Arial"/>
              </a:rPr>
              <a:t> come in the next days.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5 / 52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How to Explore a Module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Python documents itself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057400"/>
            <a:ext cx="7315200" cy="1245108"/>
          </a:xfrm>
          <a:prstGeom prst="roundRect">
            <a:avLst>
              <a:gd name="adj" fmla="val 5875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203704"/>
            <a:ext cx="6912864" cy="952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import math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print(dir(math))            # list of names inside the module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help(math.ceil)             # documentation for one function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print(math.__doc__)         # module docstring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34853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Is it standard or third-party?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904" y="3759707"/>
            <a:ext cx="7315200" cy="749808"/>
          </a:xfrm>
          <a:prstGeom prst="roundRect">
            <a:avLst>
              <a:gd name="adj" fmla="val 9756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1072" y="3906012"/>
            <a:ext cx="6912864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import sys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print(sorted(sys.stdlib_module_names)[:10])   # Python 3.10+ : names of all standard modules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90864" y="1783080"/>
            <a:ext cx="329092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You do not have to memorise anything.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Terminal: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python -m pydoc math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(docs) or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python -m pydoc -k keyword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(search).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Reference: docs.python.org/3/library/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If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import something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works on a fresh Python with no pip installs, it is standard library.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6 / 52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The os Module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2 · TALKING TO THE OPERATING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Portable access to OS features: current directory, files and folders, environment variables. "Portable" means the same code runs on Windows, macOS and Linux, despite different path separators and conventions.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27889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2.1 Working directory and listing files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904" y="3063239"/>
            <a:ext cx="10971885" cy="673607"/>
          </a:xfrm>
          <a:prstGeom prst="roundRect">
            <a:avLst>
              <a:gd name="adj" fmla="val 10859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11072" y="3209544"/>
            <a:ext cx="10569549" cy="380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print(os.getcwd())            # current working directory (where the script was RUN from)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print(os.listdir("."))        # names of entries in the current directory (a list of strings)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3931920"/>
            <a:ext cx="10971885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330066"/>
                </a:solidFill>
                <a:latin typeface="Courier New"/>
              </a:rPr>
              <a:t>os.getcwd()</a:t>
            </a:r>
            <a:r>
              <a:rPr sz="1450" b="0" i="0">
                <a:solidFill>
                  <a:srgbClr val="1A1A1A"/>
                </a:solidFill>
                <a:latin typeface="Arial"/>
              </a:rPr>
              <a:t> is the folder Python considers "here": where you ran Python from, not necessarily where the script lives. Many </a:t>
            </a:r>
            <a:r>
              <a:rPr sz="1400" b="0" i="0">
                <a:solidFill>
                  <a:srgbClr val="330066"/>
                </a:solidFill>
                <a:latin typeface="Courier New"/>
              </a:rPr>
              <a:t>FileNotFoundError</a:t>
            </a:r>
            <a:r>
              <a:rPr sz="1450" b="0" i="0">
                <a:solidFill>
                  <a:srgbClr val="1A1A1A"/>
                </a:solidFill>
                <a:latin typeface="Arial"/>
              </a:rPr>
              <a:t> bugs come from this.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330066"/>
                </a:solidFill>
                <a:latin typeface="Courier New"/>
              </a:rPr>
              <a:t>os.listdir(path)</a:t>
            </a:r>
            <a:r>
              <a:rPr sz="1450" b="0" i="0">
                <a:solidFill>
                  <a:srgbClr val="1A1A1A"/>
                </a:solidFill>
                <a:latin typeface="Arial"/>
              </a:rPr>
              <a:t> returns names only, in arbitrary order; use </a:t>
            </a:r>
            <a:r>
              <a:rPr sz="1400" b="0" i="0">
                <a:solidFill>
                  <a:srgbClr val="330066"/>
                </a:solidFill>
                <a:latin typeface="Courier New"/>
              </a:rPr>
              <a:t>sorted(...)</a:t>
            </a:r>
            <a:r>
              <a:rPr sz="1450" b="0" i="0">
                <a:solidFill>
                  <a:srgbClr val="1A1A1A"/>
                </a:solidFill>
                <a:latin typeface="Arial"/>
              </a:rPr>
              <a:t> for stable output.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330066"/>
                </a:solidFill>
                <a:latin typeface="Courier New"/>
              </a:rPr>
              <a:t>os.chdir(path)</a:t>
            </a:r>
            <a:r>
              <a:rPr sz="1450" b="0" i="0">
                <a:solidFill>
                  <a:srgbClr val="1A1A1A"/>
                </a:solidFill>
                <a:latin typeface="Arial"/>
              </a:rPr>
              <a:t> changes the working directory. Use it sparingly: it affects the whole program.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7 / 52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330066"/>
                </a:solidFill>
              </a:rPr>
              <a:t>Building Paths Safely with os.path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2.2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Never join with + "/" +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057400"/>
            <a:ext cx="10971885" cy="1024127"/>
          </a:xfrm>
          <a:prstGeom prst="roundRect">
            <a:avLst>
              <a:gd name="adj" fmla="val 7142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203704"/>
            <a:ext cx="10569549" cy="7315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import os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path = os.path.join("data", "users", "users.csv")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print(path)    # data/users/users.csv  (on Windows: data\users\users.csv)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3264408"/>
            <a:ext cx="1097188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Other os.path helpers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904" y="3538727"/>
            <a:ext cx="10971885" cy="2304287"/>
          </a:xfrm>
          <a:prstGeom prst="roundRect">
            <a:avLst>
              <a:gd name="adj" fmla="val 3174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1072" y="3685031"/>
            <a:ext cx="10569549" cy="20116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import os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p = "/projects/qe/data/report.final.html"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print(os.path.basename(p))        # report.final.html   (the file name)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print(os.path.dirname(p))         # /projects/qe/data   (the folder)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print(os.path.splitext(p))        # ('/projects/qe/data/report.final', '.html')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print(os.path.exists("nothing.txt"))   # False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print(os.path.isfile("main.py"))       # True if it is an existing file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print(os.path.isdir("data"))           # True if it is an existing directory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print(os.path.abspath("data"))         # full path based on the working directory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print(os.path.getsize("main.py"))      # size in bytes (raises an error if missing)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904" y="5779007"/>
            <a:ext cx="1097188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 i="0">
                <a:solidFill>
                  <a:srgbClr val="5A5A5A"/>
                </a:solidFill>
                <a:latin typeface="Courier New"/>
              </a:rPr>
              <a:t>splitext</a:t>
            </a:r>
            <a:r>
              <a:rPr sz="1400" b="0" i="0">
                <a:solidFill>
                  <a:srgbClr val="5A5A5A"/>
                </a:solidFill>
                <a:latin typeface="Arial"/>
              </a:rPr>
              <a:t> splits at the last dot: </a:t>
            </a:r>
            <a:r>
              <a:rPr sz="1350" b="0" i="0">
                <a:solidFill>
                  <a:srgbClr val="5A5A5A"/>
                </a:solidFill>
                <a:latin typeface="Courier New"/>
              </a:rPr>
              <a:t>report.final.html</a:t>
            </a:r>
            <a:r>
              <a:rPr sz="1400" b="0" i="0">
                <a:solidFill>
                  <a:srgbClr val="5A5A5A"/>
                </a:solidFill>
                <a:latin typeface="Arial"/>
              </a:rPr>
              <a:t> becomes </a:t>
            </a:r>
            <a:r>
              <a:rPr sz="1350" b="0" i="0">
                <a:solidFill>
                  <a:srgbClr val="5A5A5A"/>
                </a:solidFill>
                <a:latin typeface="Courier New"/>
              </a:rPr>
              <a:t>report.final</a:t>
            </a:r>
            <a:r>
              <a:rPr sz="1400" b="0" i="0">
                <a:solidFill>
                  <a:srgbClr val="5A5A5A"/>
                </a:solidFill>
                <a:latin typeface="Arial"/>
              </a:rPr>
              <a:t> and </a:t>
            </a:r>
            <a:r>
              <a:rPr sz="1350" b="0" i="0">
                <a:solidFill>
                  <a:srgbClr val="5A5A5A"/>
                </a:solidFill>
                <a:latin typeface="Courier New"/>
              </a:rPr>
              <a:t>.html</a:t>
            </a:r>
            <a:r>
              <a:rPr sz="1400" b="0" i="0">
                <a:solidFill>
                  <a:srgbClr val="5A5A5A"/>
                </a:solidFill>
                <a:latin typeface="Arial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8 / 52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Creating, Renaming and Deleting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2.3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10971885" cy="1344168"/>
          </a:xfrm>
          <a:prstGeom prst="roundRect">
            <a:avLst>
              <a:gd name="adj" fmla="val 5442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10569549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import os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os.makedirs("output/reports", exist_ok=True)    # creates all missing folders; no error if it already exists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os.rename("old_name.txt", "new_name.txt")        # rename or move a file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os.remove("temp.txt")                            # delete a FILE (error if missing)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os.rmdir("empty_folder")                         # delete an EMPTY folder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3337560"/>
            <a:ext cx="10971885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450" b="0" i="0">
                <a:solidFill>
                  <a:srgbClr val="330066"/>
                </a:solidFill>
                <a:latin typeface="Courier New"/>
              </a:rPr>
              <a:t>os.makedirs(path, exist_ok=True)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is the idiom for "make sure this folder exists". Without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exist_ok=True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it raises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FileExistsError</a:t>
            </a:r>
            <a:r>
              <a:rPr sz="1500" b="0" i="0">
                <a:solidFill>
                  <a:srgbClr val="1A1A1A"/>
                </a:solidFill>
                <a:latin typeface="Arial"/>
              </a:rPr>
              <a:t>.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os.mkdir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creates just one level.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500" b="0" i="0">
                <a:solidFill>
                  <a:srgbClr val="1A1A1A"/>
                </a:solidFill>
                <a:latin typeface="Arial"/>
              </a:rPr>
              <a:t>Deleting is permanent: there is no recycle bin.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500" b="0" i="0">
                <a:solidFill>
                  <a:srgbClr val="1A1A1A"/>
                </a:solidFill>
                <a:latin typeface="Arial"/>
              </a:rPr>
              <a:t>To delete a folder with contents use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shutil.rmtree</a:t>
            </a:r>
            <a:r>
              <a:rPr sz="1500" b="0" i="0">
                <a:solidFill>
                  <a:srgbClr val="1A1A1A"/>
                </a:solidFill>
                <a:latin typeface="Arial"/>
              </a:rPr>
              <a:t>, and be extremely careful with the path you pass.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9 / 52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Walking a Folder Tree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2.4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6400800" cy="1664208"/>
          </a:xfrm>
          <a:prstGeom prst="roundRect">
            <a:avLst>
              <a:gd name="adj" fmla="val 4395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5998464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import os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for folder, subfolders, files in os.walk("tests"):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    for name in files: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        if name.endswith(".py"):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            print(os.path.join(folder, name))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76464" y="1783080"/>
            <a:ext cx="420532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os.walk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visits every folder below the starting point.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Each step yields a 3-tuple: the current folder path, its subfolder names, its file names.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The classic tool for "find all test files" or "find every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.json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fixture".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10 / 52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Environment Variables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2.5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A named value stored by the OS and inherited by programs you start: the standard way to configure a program without changing its code.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569464"/>
            <a:ext cx="10971885" cy="1694688"/>
          </a:xfrm>
          <a:prstGeom prst="roundRect">
            <a:avLst>
              <a:gd name="adj" fmla="val 4316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715768"/>
            <a:ext cx="10569549" cy="1402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import os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home = os.environ.get("HOME")                      # returns None if not set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env_name = os.environ.get("TEST_ENV", "qa")        # second argument = default value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print(env_name)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os.environ["TEST_ENV"] = "staging"                 # set it for this program (and child processes) only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print(os.getenv("TEST_ENV"))                       # os.getenv(name, default) is a shortcut for environ.get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11 / 52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Using Environment Variables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2.5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Setting a variable for a single run from the terminal: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221991"/>
            <a:ext cx="6400800" cy="1283208"/>
          </a:xfrm>
          <a:prstGeom prst="roundRect">
            <a:avLst>
              <a:gd name="adj" fmla="val 5700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368296"/>
            <a:ext cx="5998464" cy="9905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5C8A8A"/>
                </a:solidFill>
                <a:latin typeface="Courier New"/>
              </a:rPr>
              <a:t># macOS/Linux/Git Bash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TEST_ENV=staging python run_tests.py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5C8A8A"/>
                </a:solidFill>
                <a:latin typeface="Courier New"/>
              </a:rPr>
              <a:t># Windows PowerShell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$env:TEST_ENV = "staging"; python run_tests.py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76464" y="2221991"/>
            <a:ext cx="4205325" cy="3922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os.environ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is a dictionary of strings: convert numbers yourself,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int(os.environ.get("TIMEOUT", "30"))</a:t>
            </a:r>
            <a:r>
              <a:rPr sz="140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Prefer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.get(name, default)</a:t>
            </a:r>
            <a:r>
              <a:rPr sz="1400" b="0" i="0">
                <a:solidFill>
                  <a:srgbClr val="1A1A1A"/>
                </a:solidFill>
                <a:latin typeface="Arial"/>
              </a:rPr>
              <a:t>: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os.environ[name]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raises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KeyError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if missing.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os.environ[...] = ...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affects only your running program, not your terminal.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QA: the suite reads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BASE_URL</a:t>
            </a:r>
            <a:r>
              <a:rPr sz="1400" b="0" i="0">
                <a:solidFill>
                  <a:srgbClr val="1A1A1A"/>
                </a:solidFill>
                <a:latin typeface="Arial"/>
              </a:rPr>
              <a:t>; CI sets staging, your laptop defaults to local. Same code, no edits; secrets stay out of Git.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12 / 52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Other Handy os Items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2.6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10971885" cy="1892808"/>
          </a:xfrm>
          <a:prstGeom prst="roundRect">
            <a:avLst>
              <a:gd name="adj" fmla="val 3864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10569549" cy="1600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import os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print(os.name)        # 'posix' (macOS/Linux) or 'nt' (Windows)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print(os.sep)         # path separator: '/' or '\\'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print(os.linesep)     # line ending used by the platform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print(os.cpu_count()) # number of CPUs (may be None)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print(os.getpid())    # this process's 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13 / 52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pathlib: Paths as Objects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 i="0">
                <a:solidFill>
                  <a:srgbClr val="330066"/>
                </a:solidFill>
                <a:latin typeface="Courier New"/>
              </a:rPr>
              <a:t>os.path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works with plain strings;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pathlib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represents paths as objects with methods and a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/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operator. Many teams prefer it for new code.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523744"/>
            <a:ext cx="6400800" cy="2273807"/>
          </a:xfrm>
          <a:prstGeom prst="roundRect">
            <a:avLst>
              <a:gd name="adj" fmla="val 3217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670048"/>
            <a:ext cx="5998464" cy="19811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from pathlib import Path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base = Path("data")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users = base / "users" / "users.csv"      # '/' joins path parts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print(users)                  # data/users/users.csv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print(users.name)             # users.csv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print(users.stem)             # users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print(users.suffix)           # .csv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print(users.parent)           # data/users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print(users.exists())         # False unless it exists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print(Path.cwd())             # current working directory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print(Path(__file__).resolve().parent)   # the folder that contains THIS script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76464" y="2523744"/>
            <a:ext cx="4205325" cy="36210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330066"/>
                </a:solidFill>
                <a:latin typeface="Courier New"/>
              </a:rPr>
              <a:t>Path(__file__).resolve().parent</a:t>
            </a:r>
            <a:r>
              <a:rPr sz="1350" b="0" i="0">
                <a:solidFill>
                  <a:srgbClr val="1A1A1A"/>
                </a:solidFill>
                <a:latin typeface="Arial"/>
              </a:rPr>
              <a:t>: the folder containing this script.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330066"/>
                </a:solidFill>
                <a:latin typeface="Courier New"/>
              </a:rPr>
              <a:t>__file__</a:t>
            </a:r>
            <a:r>
              <a:rPr sz="1350" b="0" i="0">
                <a:solidFill>
                  <a:srgbClr val="1A1A1A"/>
                </a:solidFill>
                <a:latin typeface="Arial"/>
              </a:rPr>
              <a:t> is the script's path; </a:t>
            </a:r>
            <a:r>
              <a:rPr sz="1300" b="0" i="0">
                <a:solidFill>
                  <a:srgbClr val="330066"/>
                </a:solidFill>
                <a:latin typeface="Courier New"/>
              </a:rPr>
              <a:t>.resolve()</a:t>
            </a:r>
            <a:r>
              <a:rPr sz="1350" b="0" i="0">
                <a:solidFill>
                  <a:srgbClr val="1A1A1A"/>
                </a:solidFill>
                <a:latin typeface="Arial"/>
              </a:rPr>
              <a:t> makes it absolute; </a:t>
            </a:r>
            <a:r>
              <a:rPr sz="1300" b="0" i="0">
                <a:solidFill>
                  <a:srgbClr val="330066"/>
                </a:solidFill>
                <a:latin typeface="Courier New"/>
              </a:rPr>
              <a:t>.parent</a:t>
            </a:r>
            <a:r>
              <a:rPr sz="1350" b="0" i="0">
                <a:solidFill>
                  <a:srgbClr val="1A1A1A"/>
                </a:solidFill>
                <a:latin typeface="Arial"/>
              </a:rPr>
              <a:t> is its folder.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50" b="0" i="0">
                <a:solidFill>
                  <a:srgbClr val="1A1A1A"/>
                </a:solidFill>
                <a:latin typeface="Arial"/>
              </a:rPr>
              <a:t>Finds data files relative to the script, not to wherever you ran Python from.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14 / 52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More pathlib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10971885" cy="2746247"/>
          </a:xfrm>
          <a:prstGeom prst="roundRect">
            <a:avLst>
              <a:gd name="adj" fmla="val 2663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10569549" cy="24536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from pathlib import Path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out = Path("output") / "reports"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out.mkdir(parents=True, exist_ok=True)         # like os.makedirs(..., exist_ok=True)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for csv_file in sorted(Path("data").glob("*.csv")):   # pattern matching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print(csv_file.name)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for py_file in Path("tests").rglob("*.py"):           # recursive search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print(py_file)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report = out / "summary.txt"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report.write_text("0 failures\n", encoding="utf-8")   # quick write (we cover files in depth tomorrow)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print(report.read_text(encoding="utf-8"))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904" y="5321807"/>
            <a:ext cx="10971885" cy="777240"/>
          </a:xfrm>
          <a:prstGeom prst="roundRect">
            <a:avLst>
              <a:gd name="adj" fmla="val 10588"/>
            </a:avLst>
          </a:prstGeom>
          <a:solidFill>
            <a:srgbClr val="F5F5C2"/>
          </a:solidFill>
          <a:ln w="12700">
            <a:solidFill>
              <a:srgbClr val="F5F5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38504" y="5458968"/>
            <a:ext cx="1051468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OS.PATH VS PATHLIB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Both are fine.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pathlib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reads more naturally;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os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is widespread in older code, so you must read both. Choose one style per project.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15 / 52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sys.argv: Command-Line Arguments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4 · TALKING TO THE INTERPRETER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Where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os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talks to the OS,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sys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talks to the Python interpreter.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sys.argv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is the script name followed by the arguments typed.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2523744"/>
            <a:ext cx="5852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args_demo.py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904" y="2798063"/>
            <a:ext cx="5852160" cy="1816608"/>
          </a:xfrm>
          <a:prstGeom prst="roundRect">
            <a:avLst>
              <a:gd name="adj" fmla="val 4026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11072" y="2944368"/>
            <a:ext cx="5449824" cy="1523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>
                <a:solidFill>
                  <a:srgbClr val="5C8A8A"/>
                </a:solidFill>
                <a:latin typeface="Courier New"/>
              </a:rPr>
              <a:t># args_demo.py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import sys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print(sys.argv)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if len(sys.argv) &gt; 1: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print("First argument:", sys.argv[1])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else: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print("No arguments given")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27824" y="2523744"/>
            <a:ext cx="4753965" cy="36210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sys.argv[0]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is the script name; real arguments start at index 1.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All values are strings.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For more than two or three simple arguments, the standard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argparse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module provides help text, validation and flags.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27824" y="42976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Run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27824" y="4572000"/>
            <a:ext cx="4753965" cy="483108"/>
          </a:xfrm>
          <a:prstGeom prst="roundRect">
            <a:avLst>
              <a:gd name="adj" fmla="val 15141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028992" y="4718304"/>
            <a:ext cx="4351629" cy="190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python args_demo.py smoke --verbose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27824" y="52120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Output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27824" y="5486400"/>
            <a:ext cx="4753965" cy="673607"/>
          </a:xfrm>
          <a:prstGeom prst="roundRect">
            <a:avLst>
              <a:gd name="adj" fmla="val 10859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028992" y="5632704"/>
            <a:ext cx="4351629" cy="380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['args_demo.py', 'smoke', '--verbose']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First argument: smoke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16 / 52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sys.exit: Exit Codes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4.2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6400800" cy="2670047"/>
          </a:xfrm>
          <a:prstGeom prst="roundRect">
            <a:avLst>
              <a:gd name="adj" fmla="val 2739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5998464" cy="23774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import sys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def main():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failures = 2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if failures: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    print(f"{failures} checks failed")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    return 1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print("All checks passed")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return 0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if __name__ == "__main__":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sys.exit(main())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76464" y="1783080"/>
            <a:ext cx="420532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0 means success; any non-zero value means failure. CI systems and shell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&amp;&amp;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rely on this.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Check it: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echo $?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(macOS/Linux),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echo %ERRORLEVEL%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(cmd),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$LASTEXITCODE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(PowerShell). Here it would be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1</a:t>
            </a:r>
            <a:r>
              <a:rPr sz="140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sys.exit("some message")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prints to standard error and exits with code 1.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17 / 52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Standard Streams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4.3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6400800" cy="963168"/>
          </a:xfrm>
          <a:prstGeom prst="roundRect">
            <a:avLst>
              <a:gd name="adj" fmla="val 7594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5998464" cy="67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import sys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print("normal output")                       # goes to sys.stdout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print("something went wrong", file=sys.stderr)   # goes to sys.stderr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76464" y="1783080"/>
            <a:ext cx="420532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stdout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(normal output) and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stderr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(errors/diagnostics) are separate channels.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A CI system or user can redirect one without the other: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python script.py &gt; out.txt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captures only stdout.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18 / 52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330066"/>
                </a:solidFill>
              </a:rPr>
              <a:t>Interpreter and Platform Information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4.4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10971885" cy="1626108"/>
          </a:xfrm>
          <a:prstGeom prst="roundRect">
            <a:avLst>
              <a:gd name="adj" fmla="val 4498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10569549" cy="1333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import sys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print(sys.version)             # full version string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print(sys.version_info)        # named tuple: major, minor, micro, ...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print(sys.version_info &gt;= (3, 9))   # True/False - compare versions with tuples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print(sys.platform)            # 'win32', 'linux', 'darwin' (macOS)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print(sys.executable)          # which Python is running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3592068"/>
            <a:ext cx="1097188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A QA use: adapt a check to the platform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904" y="3866388"/>
            <a:ext cx="10971885" cy="1054608"/>
          </a:xfrm>
          <a:prstGeom prst="roundRect">
            <a:avLst>
              <a:gd name="adj" fmla="val 6936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11072" y="4012692"/>
            <a:ext cx="10569549" cy="761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if sys.platform == "win32":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browser_path = r"C:\Program Files\Browser\browser.exe"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else: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browser_path = "/usr/bin/browser"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904" y="5458968"/>
            <a:ext cx="1097188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 i="0">
                <a:solidFill>
                  <a:srgbClr val="5A5A5A"/>
                </a:solidFill>
                <a:latin typeface="Arial"/>
              </a:rPr>
              <a:t>The </a:t>
            </a:r>
            <a:r>
              <a:rPr sz="1300" b="0" i="0">
                <a:solidFill>
                  <a:srgbClr val="5A5A5A"/>
                </a:solidFill>
                <a:latin typeface="Courier New"/>
              </a:rPr>
              <a:t>r"..."</a:t>
            </a:r>
            <a:r>
              <a:rPr sz="1350" b="0" i="0">
                <a:solidFill>
                  <a:srgbClr val="5A5A5A"/>
                </a:solidFill>
                <a:latin typeface="Arial"/>
              </a:rPr>
              <a:t> prefix makes a raw string, so backslashes are not escapes. </a:t>
            </a:r>
            <a:r>
              <a:rPr sz="1300" b="0" i="0">
                <a:solidFill>
                  <a:srgbClr val="5A5A5A"/>
                </a:solidFill>
                <a:latin typeface="Courier New"/>
              </a:rPr>
              <a:t>sys.path</a:t>
            </a:r>
            <a:r>
              <a:rPr sz="1350" b="0" i="0">
                <a:solidFill>
                  <a:srgbClr val="5A5A5A"/>
                </a:solidFill>
                <a:latin typeface="Arial"/>
              </a:rPr>
              <a:t> (import search folders) and </a:t>
            </a:r>
            <a:r>
              <a:rPr sz="1300" b="0" i="0">
                <a:solidFill>
                  <a:srgbClr val="5A5A5A"/>
                </a:solidFill>
                <a:latin typeface="Courier New"/>
              </a:rPr>
              <a:t>sys.modules</a:t>
            </a:r>
            <a:r>
              <a:rPr sz="1350" b="0" i="0">
                <a:solidFill>
                  <a:srgbClr val="5A5A5A"/>
                </a:solidFill>
                <a:latin typeface="Arial"/>
              </a:rPr>
              <a:t> (import cache) were covered in today's first lesson.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19 / 52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The datetime Module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5 · DATES, TIMES, DURATIONS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904" y="1783080"/>
          <a:ext cx="10971884" cy="2422651"/>
        </p:xfrm>
        <a:graphic>
          <a:graphicData uri="http://schemas.openxmlformats.org/drawingml/2006/table">
            <a:tbl>
              <a:tblPr/>
              <a:tblGrid>
                <a:gridCol w="19749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081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87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Class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Represents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Example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330066"/>
                          </a:solidFill>
                          <a:latin typeface="Courier New"/>
                        </a:rPr>
                        <a:t>dt.date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A calendar date (year, month, day)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330066"/>
                          </a:solidFill>
                          <a:latin typeface="Courier New"/>
                        </a:rPr>
                        <a:t>dt.date(2025, 3, 14)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330066"/>
                          </a:solidFill>
                          <a:latin typeface="Courier New"/>
                        </a:rPr>
                        <a:t>dt.time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A time of day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330066"/>
                          </a:solidFill>
                          <a:latin typeface="Courier New"/>
                        </a:rPr>
                        <a:t>dt.time(9, 30)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330066"/>
                          </a:solidFill>
                          <a:latin typeface="Courier New"/>
                        </a:rPr>
                        <a:t>dt.datetime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Date and time together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330066"/>
                          </a:solidFill>
                          <a:latin typeface="Courier New"/>
                        </a:rPr>
                        <a:t>dt.datetime(2025, 3, 14, 9, 30, 15)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5563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330066"/>
                          </a:solidFill>
                          <a:latin typeface="Courier New"/>
                        </a:rPr>
                        <a:t>dt.timedelta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A duration (difference between two points in time)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330066"/>
                          </a:solidFill>
                          <a:latin typeface="Courier New"/>
                        </a:rPr>
                        <a:t>dt.timedelta(days=30, hours=2)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330066"/>
                          </a:solidFill>
                          <a:latin typeface="Courier New"/>
                        </a:rPr>
                        <a:t>dt.timezone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A fixed UTC offset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330066"/>
                          </a:solidFill>
                          <a:latin typeface="Courier New"/>
                        </a:rPr>
                        <a:t>dt.timezone.utc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904" y="4297680"/>
            <a:ext cx="10971885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Testing is full of time: report timestamps, "created at" fields, session expiry, scheduling, date filters.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The module is called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datetime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and contains a class called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datetime</a:t>
            </a:r>
            <a:r>
              <a:rPr sz="1500" b="0" i="0">
                <a:solidFill>
                  <a:srgbClr val="1A1A1A"/>
                </a:solidFill>
                <a:latin typeface="Arial"/>
              </a:rPr>
              <a:t>.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import datetime as dt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avoids confusion; this lesson uses it. You will also see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from datetime import datetime, date, timedelta</a:t>
            </a:r>
            <a:r>
              <a:rPr sz="15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20 / 52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Creating Values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5.2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10971885" cy="3035808"/>
          </a:xfrm>
          <a:prstGeom prst="roundRect">
            <a:avLst>
              <a:gd name="adj" fmla="val 2409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10569549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import datetime as dt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d = dt.date(2025, 3, 14)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print(d)                      # 2025-03-14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print(d.year, d.month, d.day) # 2025 3 14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print(d.weekday())            # 4  (Monday = 0 ... Sunday = 6, so 4 = Friday)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print(d.isoformat())          # 2025-03-14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t = dt.datetime(2025, 3, 14, 9, 30, 15)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print(t)                      # 2025-03-14 09:30:15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print(t.hour, t.minute, t.second)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today = dt.date.today()               # today's date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now = dt.datetime.now()               # current local date and time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utc_now = dt.datetime.now(dt.timezone.utc)   # current time in UTC (timezone-aware)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21 / 52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strftime Format Codes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5.3 · VALUE TO TEXT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904" y="1645920"/>
          <a:ext cx="10971884" cy="4005072"/>
        </p:xfrm>
        <a:graphic>
          <a:graphicData uri="http://schemas.openxmlformats.org/drawingml/2006/table">
            <a:tbl>
              <a:tblPr/>
              <a:tblGrid>
                <a:gridCol w="16457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345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5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Code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Meaning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Example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30066"/>
                          </a:solidFill>
                          <a:latin typeface="Courier New"/>
                        </a:rPr>
                        <a:t>%Y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Arial"/>
                        </a:rPr>
                        <a:t>4-digit year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Arial"/>
                        </a:rPr>
                        <a:t>2025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30066"/>
                          </a:solidFill>
                          <a:latin typeface="Courier New"/>
                        </a:rPr>
                        <a:t>%m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Arial"/>
                        </a:rPr>
                        <a:t>Month number (01-12)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30066"/>
                          </a:solidFill>
                          <a:latin typeface="Courier New"/>
                        </a:rPr>
                        <a:t>%d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Arial"/>
                        </a:rPr>
                        <a:t>Day of month (01-31)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30066"/>
                          </a:solidFill>
                          <a:latin typeface="Courier New"/>
                        </a:rPr>
                        <a:t>%H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Arial"/>
                        </a:rPr>
                        <a:t>Hour, 24-hour clock (00-23)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30066"/>
                          </a:solidFill>
                          <a:latin typeface="Courier New"/>
                        </a:rPr>
                        <a:t>%M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Arial"/>
                        </a:rPr>
                        <a:t>Minute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30066"/>
                          </a:solidFill>
                          <a:latin typeface="Courier New"/>
                        </a:rPr>
                        <a:t>%S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Arial"/>
                        </a:rPr>
                        <a:t>Second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30066"/>
                          </a:solidFill>
                          <a:latin typeface="Courier New"/>
                        </a:rPr>
                        <a:t>%A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Arial"/>
                        </a:rPr>
                        <a:t>Weekday name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Arial"/>
                        </a:rPr>
                        <a:t>Friday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30066"/>
                          </a:solidFill>
                          <a:latin typeface="Courier New"/>
                        </a:rPr>
                        <a:t>%B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Arial"/>
                        </a:rPr>
                        <a:t>Month name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Arial"/>
                        </a:rPr>
                        <a:t>March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30066"/>
                          </a:solidFill>
                          <a:latin typeface="Courier New"/>
                        </a:rPr>
                        <a:t>%b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Arial"/>
                        </a:rPr>
                        <a:t>Short month name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Arial"/>
                        </a:rPr>
                        <a:t>Mar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30066"/>
                          </a:solidFill>
                          <a:latin typeface="Courier New"/>
                        </a:rPr>
                        <a:t>%y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Arial"/>
                        </a:rPr>
                        <a:t>2-digit year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30066"/>
                          </a:solidFill>
                          <a:latin typeface="Courier New"/>
                        </a:rPr>
                        <a:t>%p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Arial"/>
                        </a:rPr>
                        <a:t>AM/PM (locale dependent)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Arial"/>
                        </a:rPr>
                        <a:t>AM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22 / 52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Formatting with strftime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5.3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6400800" cy="1054608"/>
          </a:xfrm>
          <a:prstGeom prst="roundRect">
            <a:avLst>
              <a:gd name="adj" fmla="val 6936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5998464" cy="761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t = dt.datetime(2025, 3, 14, 9, 30, 15)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print(t.strftime("%Y-%m-%d %H:%M:%S"))   # 2025-03-14 09:30:15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print(t.strftime("%d/%m/%Y"))            # 14/03/2025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print(t.strftime("%A, %B %d"))           # Friday, March 14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print(t.strftime("report_%Y%m%d_%H%M%S.html"))   # report_20250314_093015.html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76464" y="1783080"/>
            <a:ext cx="420532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The last line is the most common QE use: timestamped file names.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Each run's report gets a unique, sortable name.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Year first, so alphabetical order equals chronological order.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23 / 52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330066"/>
                </a:solidFill>
              </a:rPr>
              <a:t>Parsing: strptime and fromisoformat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5.4 · TEXT TO VALUE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6400800" cy="1168908"/>
          </a:xfrm>
          <a:prstGeom prst="roundRect">
            <a:avLst>
              <a:gd name="adj" fmla="val 6258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5998464" cy="8762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parsed = dt.datetime.strptime("2025-03-14 09:30", "%Y-%m-%d %H:%M")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print(parsed)                         # 2025-03-14 09:30:00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iso = dt.datetime.fromisoformat("2025-03-14T09:30:15")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print(iso)                            # 2025-03-14 09:30:15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76464" y="1783080"/>
            <a:ext cx="420532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330066"/>
                </a:solidFill>
                <a:latin typeface="Courier New"/>
              </a:rPr>
              <a:t>strptime</a:t>
            </a:r>
            <a:r>
              <a:rPr sz="1350" b="0" i="0">
                <a:solidFill>
                  <a:srgbClr val="1A1A1A"/>
                </a:solidFill>
                <a:latin typeface="Arial"/>
              </a:rPr>
              <a:t> needs a format that matches the text exactly, otherwise </a:t>
            </a:r>
            <a:r>
              <a:rPr sz="1300" b="0" i="0">
                <a:solidFill>
                  <a:srgbClr val="330066"/>
                </a:solidFill>
                <a:latin typeface="Courier New"/>
              </a:rPr>
              <a:t>ValueError</a:t>
            </a:r>
            <a:r>
              <a:rPr sz="135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330066"/>
                </a:solidFill>
                <a:latin typeface="Courier New"/>
              </a:rPr>
              <a:t>fromisoformat</a:t>
            </a:r>
            <a:r>
              <a:rPr sz="1350" b="0" i="0">
                <a:solidFill>
                  <a:srgbClr val="1A1A1A"/>
                </a:solidFill>
                <a:latin typeface="Arial"/>
              </a:rPr>
              <a:t> reads ISO 8601 (</a:t>
            </a:r>
            <a:r>
              <a:rPr sz="1300" b="0" i="0">
                <a:solidFill>
                  <a:srgbClr val="330066"/>
                </a:solidFill>
                <a:latin typeface="Courier New"/>
              </a:rPr>
              <a:t>YYYY-MM-DDTHH:MM:SS</a:t>
            </a:r>
            <a:r>
              <a:rPr sz="1350" b="0" i="0">
                <a:solidFill>
                  <a:srgbClr val="1A1A1A"/>
                </a:solidFill>
                <a:latin typeface="Arial"/>
              </a:rPr>
              <a:t>), the style most web APIs use. Newer Pythons accept more variants (e.g. a trailing </a:t>
            </a:r>
            <a:r>
              <a:rPr sz="1300" b="0" i="0">
                <a:solidFill>
                  <a:srgbClr val="330066"/>
                </a:solidFill>
                <a:latin typeface="Courier New"/>
              </a:rPr>
              <a:t>Z</a:t>
            </a:r>
            <a:r>
              <a:rPr sz="1350" b="0" i="0">
                <a:solidFill>
                  <a:srgbClr val="1A1A1A"/>
                </a:solidFill>
                <a:latin typeface="Arial"/>
              </a:rPr>
              <a:t>); normalise for older versions.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50" b="0" i="0">
                <a:solidFill>
                  <a:srgbClr val="1A1A1A"/>
                </a:solidFill>
                <a:latin typeface="Arial"/>
              </a:rPr>
              <a:t>QA: parse </a:t>
            </a:r>
            <a:r>
              <a:rPr sz="1300" b="0" i="0">
                <a:solidFill>
                  <a:srgbClr val="330066"/>
                </a:solidFill>
                <a:latin typeface="Courier New"/>
              </a:rPr>
              <a:t>"created_at"</a:t>
            </a:r>
            <a:r>
              <a:rPr sz="1350" b="0" i="0">
                <a:solidFill>
                  <a:srgbClr val="1A1A1A"/>
                </a:solidFill>
                <a:latin typeface="Arial"/>
              </a:rPr>
              <a:t> from an API and assert it is within the last minute, instead of comparing brittle strings.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24 / 52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Arithmetic with timedelta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5.5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6400800" cy="2045207"/>
          </a:xfrm>
          <a:prstGeom prst="roundRect">
            <a:avLst>
              <a:gd name="adj" fmla="val 3576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5998464" cy="17525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t = dt.datetime(2025, 3, 14, 9, 30, 15)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later = t + dt.timedelta(days=30, hours=2)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print(later)                          # 2025-04-13 11:30:15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diff = dt.date(2025, 12, 25) - dt.date(2025, 3, 14)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print(diff)                           # 286 days, 0:00:00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print(diff.days)                      # 286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print(dt.timedelta(hours=1, minutes=30).total_seconds())   # 5400.0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76464" y="1783080"/>
            <a:ext cx="420532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Date minus date gives a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timedelta</a:t>
            </a:r>
            <a:r>
              <a:rPr sz="140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Date plus/minus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timedelta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gives a new date.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timedelta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supports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days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seconds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microseconds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milliseconds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minutes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hours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weeks</a:t>
            </a:r>
            <a:r>
              <a:rPr sz="140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Not months or years: those have varying lengths.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25 / 52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Comparing and Replacing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5.6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6400800" cy="1207008"/>
          </a:xfrm>
          <a:prstGeom prst="roundRect">
            <a:avLst>
              <a:gd name="adj" fmla="val 6060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5998464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a = dt.datetime(2025, 3, 14, 9, 0)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b = dt.datetime(2025, 3, 14, 17, 0)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print(a &lt; b)                           # True; datetimes are comparable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print(b - a)                           # 8:00:00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print(b.replace(hour=0, minute=0))     # 2025-03-14 00:00:00  (replace returns a NEW object)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76464" y="1783080"/>
            <a:ext cx="420532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Date/time objects are immutable.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replace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and arithmetic create new objects rather than changing the original.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26 / 52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Time Zones: A Note of Caution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5.7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A naive datetime has no timezone (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datetime.now()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returns local time without saying so). An aware datetime knows its offset. Comparing or subtracting naive and aware raises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TypeError</a:t>
            </a:r>
            <a:r>
              <a:rPr sz="15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5" name="Oval 4"/>
          <p:cNvSpPr/>
          <p:nvPr/>
        </p:nvSpPr>
        <p:spPr>
          <a:xfrm>
            <a:off x="609904" y="26974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8544" y="2770632"/>
            <a:ext cx="1042324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 i="0">
                <a:solidFill>
                  <a:srgbClr val="1A1A1A"/>
                </a:solidFill>
                <a:latin typeface="Arial"/>
              </a:rPr>
              <a:t>Store and compare in UTC (</a:t>
            </a:r>
            <a:r>
              <a:rPr sz="1400" b="0" i="0">
                <a:solidFill>
                  <a:srgbClr val="330066"/>
                </a:solidFill>
                <a:latin typeface="Courier New"/>
              </a:rPr>
              <a:t>dt.datetime.now(dt.timezone.utc)</a:t>
            </a:r>
            <a:r>
              <a:rPr sz="1450" b="0" i="0">
                <a:solidFill>
                  <a:srgbClr val="1A1A1A"/>
                </a:solidFill>
                <a:latin typeface="Arial"/>
              </a:rPr>
              <a:t>); convert to local only for display.</a:t>
            </a:r>
          </a:p>
        </p:txBody>
      </p:sp>
      <p:sp>
        <p:nvSpPr>
          <p:cNvPr id="7" name="Oval 6"/>
          <p:cNvSpPr/>
          <p:nvPr/>
        </p:nvSpPr>
        <p:spPr>
          <a:xfrm>
            <a:off x="609904" y="3227832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8544" y="3300984"/>
            <a:ext cx="1042324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 i="0">
                <a:solidFill>
                  <a:srgbClr val="1A1A1A"/>
                </a:solidFill>
                <a:latin typeface="Arial"/>
              </a:rPr>
              <a:t>Know whether the system under test returns naive or aware timestamps before comparing.</a:t>
            </a:r>
          </a:p>
        </p:txBody>
      </p:sp>
      <p:sp>
        <p:nvSpPr>
          <p:cNvPr id="9" name="Oval 8"/>
          <p:cNvSpPr/>
          <p:nvPr/>
        </p:nvSpPr>
        <p:spPr>
          <a:xfrm>
            <a:off x="609904" y="3758184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8544" y="3831336"/>
            <a:ext cx="10423245" cy="5060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 i="0">
                <a:solidFill>
                  <a:srgbClr val="1A1A1A"/>
                </a:solidFill>
                <a:latin typeface="Arial"/>
              </a:rPr>
              <a:t>Named zones with daylight saving (</a:t>
            </a:r>
            <a:r>
              <a:rPr sz="1400" b="0" i="0">
                <a:solidFill>
                  <a:srgbClr val="330066"/>
                </a:solidFill>
                <a:latin typeface="Courier New"/>
              </a:rPr>
              <a:t>America/New_York</a:t>
            </a:r>
            <a:r>
              <a:rPr sz="1450" b="0" i="0">
                <a:solidFill>
                  <a:srgbClr val="1A1A1A"/>
                </a:solidFill>
                <a:latin typeface="Arial"/>
              </a:rPr>
              <a:t>): use </a:t>
            </a:r>
            <a:r>
              <a:rPr sz="1400" b="0" i="0">
                <a:solidFill>
                  <a:srgbClr val="330066"/>
                </a:solidFill>
                <a:latin typeface="Courier New"/>
              </a:rPr>
              <a:t>zoneinfo</a:t>
            </a:r>
            <a:r>
              <a:rPr sz="1450" b="0" i="0">
                <a:solidFill>
                  <a:srgbClr val="1A1A1A"/>
                </a:solidFill>
                <a:latin typeface="Arial"/>
              </a:rPr>
              <a:t> (Python 3.9+; Windows may need </a:t>
            </a:r>
            <a:r>
              <a:rPr sz="1400" b="0" i="0">
                <a:solidFill>
                  <a:srgbClr val="330066"/>
                </a:solidFill>
                <a:latin typeface="Courier New"/>
              </a:rPr>
              <a:t>tzdata</a:t>
            </a:r>
            <a:r>
              <a:rPr sz="1450" b="0" i="0">
                <a:solidFill>
                  <a:srgbClr val="1A1A1A"/>
                </a:solidFill>
                <a:latin typeface="Arial"/>
              </a:rPr>
              <a:t> from pip).</a:t>
            </a:r>
          </a:p>
        </p:txBody>
      </p:sp>
      <p:sp>
        <p:nvSpPr>
          <p:cNvPr id="11" name="Oval 10"/>
          <p:cNvSpPr/>
          <p:nvPr/>
        </p:nvSpPr>
        <p:spPr>
          <a:xfrm>
            <a:off x="609904" y="4410583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8544" y="4483735"/>
            <a:ext cx="10423245" cy="5060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 i="0">
                <a:solidFill>
                  <a:srgbClr val="1A1A1A"/>
                </a:solidFill>
                <a:latin typeface="Arial"/>
              </a:rPr>
              <a:t>Tests near midnight or across daylight-saving changes can fail only on certain days: a classic source of flaky tests.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27 / 52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330066"/>
                </a:solidFill>
              </a:rPr>
              <a:t>The random Module: Core Functions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Pseudo-random: looks random but comes from a deterministic algorithm. The same seed gives the same sequence, which is a gift for testing.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569464"/>
            <a:ext cx="10971885" cy="1869948"/>
          </a:xfrm>
          <a:prstGeom prst="roundRect">
            <a:avLst>
              <a:gd name="adj" fmla="val 3911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715768"/>
            <a:ext cx="10569549" cy="15773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random.random()               # float from 0.0 up to (not including) 1.0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random.uniform(1.5, 4.5)      # float between the two numbers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random.randint(1, 6)          # integer from 1 to 6, BOTH ends included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random.randrange(0, 10, 2)    # like range(): 0,2,4,6,8 (end excluded)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random.choice(["chrome", "firefox", "edge"])    # one random item from a sequence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random.choices(["PASS", "FAIL"], weights=[90, 10], k=5)  # k picks WITH replacement, optionally weighted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random.sample(range(1, 11), 3)     # 3 DIFFERENT items (no repeats) from a population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items = [1, 2, 3, 4, 5]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random.shuffle(items)         # shuffles the list IN PLACE (returns None)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5001768"/>
            <a:ext cx="1097188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B03A2E"/>
                </a:solidFill>
                <a:latin typeface="Arial"/>
              </a:rPr>
              <a:t>EASY MISTAKES TO AVOID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5276088"/>
            <a:ext cx="10971885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400"/>
              </a:spcAft>
              <a:buFont typeface="Arial"/>
              <a:buChar char="•"/>
            </a:pPr>
            <a:r>
              <a:rPr sz="1250" b="0" i="0">
                <a:solidFill>
                  <a:srgbClr val="330066"/>
                </a:solidFill>
                <a:latin typeface="Courier New"/>
              </a:rPr>
              <a:t>randint(a, b)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includes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b</a:t>
            </a:r>
            <a:r>
              <a:rPr sz="1300" b="0" i="0">
                <a:solidFill>
                  <a:srgbClr val="1A1A1A"/>
                </a:solidFill>
                <a:latin typeface="Arial"/>
              </a:rPr>
              <a:t>;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randrange(a, b)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does not.</a:t>
            </a:r>
          </a:p>
          <a:p>
            <a:pPr marL="228600" indent="-228600" algn="l">
              <a:spcAft>
                <a:spcPts val="400"/>
              </a:spcAft>
              <a:buFont typeface="Arial"/>
              <a:buChar char="•"/>
            </a:pPr>
            <a:r>
              <a:rPr sz="1250" b="0" i="0">
                <a:solidFill>
                  <a:srgbClr val="330066"/>
                </a:solidFill>
                <a:latin typeface="Courier New"/>
              </a:rPr>
              <a:t>shuffle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changes the list you give it and returns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None</a:t>
            </a:r>
            <a:r>
              <a:rPr sz="1300" b="0" i="0">
                <a:solidFill>
                  <a:srgbClr val="1A1A1A"/>
                </a:solidFill>
                <a:latin typeface="Arial"/>
              </a:rPr>
              <a:t>;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sample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returns a new list. 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choice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on an empty sequence raises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IndexError</a:t>
            </a:r>
            <a:r>
              <a:rPr sz="13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28 / 52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330066"/>
                </a:solidFill>
              </a:rPr>
              <a:t>Seeds: Making Random Data Repeatable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6.2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6400800" cy="1511808"/>
          </a:xfrm>
          <a:prstGeom prst="roundRect">
            <a:avLst>
              <a:gd name="adj" fmla="val 4838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5998464" cy="1219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import random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random.seed(42)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print(random.randint(1, 100), random.randint(1, 100))   # 82 15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random.seed(42)                                         # reset to the same starting point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print(random.randint(1, 100), random.randint(1, 100))   # 82 15 again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76464" y="1783080"/>
            <a:ext cx="420532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50" b="0" i="0">
                <a:solidFill>
                  <a:srgbClr val="1A1A1A"/>
                </a:solidFill>
                <a:latin typeface="Arial"/>
              </a:rPr>
              <a:t>Same seed, same calls, same values. Exact numbers are not guaranteed across very different Python versions: do not hard-code them across versions.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50" b="0" i="0">
                <a:solidFill>
                  <a:srgbClr val="1A1A1A"/>
                </a:solidFill>
                <a:latin typeface="Arial"/>
              </a:rPr>
              <a:t>A test that fails once in a hundred runs is useless if you cannot reproduce it: generate a seed, print/log it, and allow passing it in.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50" b="0" i="0">
                <a:solidFill>
                  <a:srgbClr val="1A1A1A"/>
                </a:solidFill>
                <a:latin typeface="Arial"/>
              </a:rPr>
              <a:t>Tests that must be deterministic (most) should use a fixed seed.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29 / 52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330066"/>
                </a:solidFill>
              </a:rPr>
              <a:t>A Private Generator, and Not for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6.3 - 6.4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Module-level functions share one global generator, so separate parts of your code can disturb each other. Create independent generators when this matters (you met this in today's first lesson).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569464"/>
            <a:ext cx="10971885" cy="1146048"/>
          </a:xfrm>
          <a:prstGeom prst="roundRect">
            <a:avLst>
              <a:gd name="adj" fmla="val 6382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715768"/>
            <a:ext cx="10569549" cy="853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import random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rng = random.Random(123)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print(rng.randint(1, 100))      # same methods as the module-level functions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904" y="3977639"/>
            <a:ext cx="10971885" cy="1060704"/>
          </a:xfrm>
          <a:prstGeom prst="roundRect">
            <a:avLst>
              <a:gd name="adj" fmla="val 7758"/>
            </a:avLst>
          </a:prstGeom>
          <a:solidFill>
            <a:srgbClr val="FBEDEB"/>
          </a:solidFill>
          <a:ln w="12700">
            <a:solidFill>
              <a:srgbClr val="FBE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8504" y="4114800"/>
            <a:ext cx="10514685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NOT FOR SECURITY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random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is not secure. Never use it for passwords, tokens or anything an attacker should not guess: use the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secrets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module. For test data it is exactly right.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30 / 52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time: Measuring and Pausing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6400800" cy="1664208"/>
          </a:xfrm>
          <a:prstGeom prst="roundRect">
            <a:avLst>
              <a:gd name="adj" fmla="val 4395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5998464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import time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start = time.perf_counter()        # high-resolution timer for measuring durations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time.sleep(0.2)                    # pause for 0.2 seconds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elapsed = time.perf_counter() - start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print(f"Took {elapsed:.2f} seconds")     # Took 0.20 seconds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print(time.time())                 # seconds since the 'epoch' (1 Jan 1970 UTC), as a float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76464" y="1783080"/>
            <a:ext cx="420532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Use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perf_counter()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to measure durations (e.g. a response-time check), not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datetime.now()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subtraction.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Fixed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time.sleep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in tests makes suites slow and flaky; polling with a timeout is usually better (later automation topics).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31 / 52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math and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6949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math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057400"/>
            <a:ext cx="6949440" cy="1207008"/>
          </a:xfrm>
          <a:prstGeom prst="roundRect">
            <a:avLst>
              <a:gd name="adj" fmla="val 6060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203704"/>
            <a:ext cx="6547103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import math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print(math.ceil(2.1), math.floor(2.9))   # 3 2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print(math.sqrt(16))                     # 4.0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print(0.1 + 0.2 == 0.3)                  # False! floating-point rounding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print(math.isclose(0.1 + 0.2, 0.3))      # True  - the right way to compare floats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3447288"/>
            <a:ext cx="6949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platform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904" y="3721608"/>
            <a:ext cx="6949440" cy="1054608"/>
          </a:xfrm>
          <a:prstGeom prst="roundRect">
            <a:avLst>
              <a:gd name="adj" fmla="val 6936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1072" y="3867912"/>
            <a:ext cx="6547103" cy="761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import platform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print(platform.system())      # 'Windows', 'Linux' or 'Darwin'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print(platform.python_version())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25104" y="1783080"/>
            <a:ext cx="365668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Never compare floating-point results with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==</a:t>
            </a:r>
            <a:r>
              <a:rPr sz="1300" b="0" i="0">
                <a:solidFill>
                  <a:srgbClr val="1A1A1A"/>
                </a:solidFill>
                <a:latin typeface="Arial"/>
              </a:rPr>
              <a:t>; use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math.isclose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(or a tolerance).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50" b="0" i="0">
                <a:solidFill>
                  <a:srgbClr val="330066"/>
                </a:solidFill>
                <a:latin typeface="Courier New"/>
              </a:rPr>
              <a:t>platform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is a clean way to log which OS and Python a test run used.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1" i="0">
                <a:solidFill>
                  <a:srgbClr val="1A1A1A"/>
                </a:solidFill>
                <a:latin typeface="Arial"/>
              </a:rPr>
              <a:t>Awareness</a:t>
            </a:r>
          </a:p>
          <a:p>
            <a:pPr marL="457200" indent="-228600" algn="l">
              <a:spcAft>
                <a:spcPts val="800"/>
              </a:spcAft>
              <a:buFont typeface="Arial"/>
              <a:buChar char="•"/>
            </a:pPr>
            <a:r>
              <a:rPr sz="1150" b="0" i="0">
                <a:solidFill>
                  <a:srgbClr val="330066"/>
                </a:solidFill>
                <a:latin typeface="Courier New"/>
              </a:rPr>
              <a:t>shutil.copy</a:t>
            </a:r>
            <a:r>
              <a:rPr sz="12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150" b="0" i="0">
                <a:solidFill>
                  <a:srgbClr val="330066"/>
                </a:solidFill>
                <a:latin typeface="Courier New"/>
              </a:rPr>
              <a:t>copytree</a:t>
            </a:r>
            <a:r>
              <a:rPr sz="12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150" b="0" i="0">
                <a:solidFill>
                  <a:srgbClr val="330066"/>
                </a:solidFill>
                <a:latin typeface="Courier New"/>
              </a:rPr>
              <a:t>rmtree</a:t>
            </a:r>
            <a:r>
              <a:rPr sz="12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150" b="0" i="0">
                <a:solidFill>
                  <a:srgbClr val="330066"/>
                </a:solidFill>
                <a:latin typeface="Courier New"/>
              </a:rPr>
              <a:t>move</a:t>
            </a:r>
            <a:r>
              <a:rPr sz="1200" b="0" i="0">
                <a:solidFill>
                  <a:srgbClr val="1A1A1A"/>
                </a:solidFill>
                <a:latin typeface="Arial"/>
              </a:rPr>
              <a:t>: copy, move, delete files/folders</a:t>
            </a:r>
          </a:p>
          <a:p>
            <a:pPr marL="457200" indent="-228600" algn="l">
              <a:spcAft>
                <a:spcPts val="800"/>
              </a:spcAft>
              <a:buFont typeface="Arial"/>
              <a:buChar char="•"/>
            </a:pPr>
            <a:r>
              <a:rPr sz="1150" b="0" i="0">
                <a:solidFill>
                  <a:srgbClr val="330066"/>
                </a:solidFill>
                <a:latin typeface="Courier New"/>
              </a:rPr>
              <a:t>glob.glob("data/*.json")</a:t>
            </a:r>
            <a:r>
              <a:rPr sz="1200" b="0" i="0">
                <a:solidFill>
                  <a:srgbClr val="1A1A1A"/>
                </a:solidFill>
                <a:latin typeface="Arial"/>
              </a:rPr>
              <a:t>: find files by pattern</a:t>
            </a:r>
          </a:p>
          <a:p>
            <a:pPr marL="457200" indent="-228600" algn="l">
              <a:spcAft>
                <a:spcPts val="800"/>
              </a:spcAft>
              <a:buFont typeface="Arial"/>
              <a:buChar char="•"/>
            </a:pPr>
            <a:r>
              <a:rPr sz="1150" b="0" i="0">
                <a:solidFill>
                  <a:srgbClr val="330066"/>
                </a:solidFill>
                <a:latin typeface="Courier New"/>
              </a:rPr>
              <a:t>tempfile.TemporaryDirectory()</a:t>
            </a:r>
            <a:r>
              <a:rPr sz="1200" b="0" i="0">
                <a:solidFill>
                  <a:srgbClr val="1A1A1A"/>
                </a:solidFill>
                <a:latin typeface="Arial"/>
              </a:rPr>
              <a:t>: a throwaway folder, excellent for tests that write files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32 / 52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Code Examples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>
                <a:solidFill>
                  <a:srgbClr val="5A5A5A"/>
                </a:solidFill>
              </a:rPr>
              <a:t>Report folders, reproducible users, timestamp checks, configuration, timing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33 / 52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330066"/>
                </a:solidFill>
              </a:rPr>
              <a:t>Example 1: Timestamped Report Folder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CODE EXAMPLES · OS/PATHLIB + DATETIME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7223760" cy="3332988"/>
          </a:xfrm>
          <a:prstGeom prst="roundRect">
            <a:avLst>
              <a:gd name="adj" fmla="val 2194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6821424" cy="30403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"""make_report_dir.py - create a unique, timestamped folder for test artefacts."""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import datetime as dt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from pathlib import Path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def make_report_dir(base="reports"):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   """Create and return a Path like reports/run_20250314_093015."""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   stamp = dt.datetime.now().strftime("%Y%m%d_%H%M%S")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   folder = Path(base) / f"run_{stamp}"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   folder.mkdir(parents=True, exist_ok=True)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   return folder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if __name__ == "__main__":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   folder = make_report_dir()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   print("Created:", folder)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   (folder / "summary.txt").write_text("0 failures\n", encoding="utf-8")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   print("Files in folder:", [p.name for p in folder.iterdir()])</a:t>
            </a:r>
          </a:p>
        </p:txBody>
      </p:sp>
      <p:sp>
        <p:nvSpPr>
          <p:cNvPr id="6" name="Oval 5"/>
          <p:cNvSpPr/>
          <p:nvPr/>
        </p:nvSpPr>
        <p:spPr>
          <a:xfrm>
            <a:off x="819942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064" y="1819656"/>
            <a:ext cx="2833725" cy="6251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 b="1" i="0">
                <a:solidFill>
                  <a:srgbClr val="330066"/>
                </a:solidFill>
                <a:latin typeface="Courier New"/>
              </a:rPr>
              <a:t>strftime(...)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A sortable timestamp such as </a:t>
            </a:r>
            <a:r>
              <a:rPr sz="1150" b="0" i="0">
                <a:solidFill>
                  <a:srgbClr val="330066"/>
                </a:solidFill>
                <a:latin typeface="Courier New"/>
              </a:rPr>
              <a:t>20250314_093015</a:t>
            </a:r>
            <a:r>
              <a:rPr sz="12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8" name="Oval 7"/>
          <p:cNvSpPr/>
          <p:nvPr/>
        </p:nvSpPr>
        <p:spPr>
          <a:xfrm>
            <a:off x="8199424" y="2609405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48064" y="2645981"/>
            <a:ext cx="2833725" cy="6251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 b="1" i="0">
                <a:solidFill>
                  <a:srgbClr val="330066"/>
                </a:solidFill>
                <a:latin typeface="Courier New"/>
              </a:rPr>
              <a:t>Path(base) / ...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Joins path parts safely for any OS.</a:t>
            </a:r>
          </a:p>
        </p:txBody>
      </p:sp>
      <p:sp>
        <p:nvSpPr>
          <p:cNvPr id="10" name="Oval 9"/>
          <p:cNvSpPr/>
          <p:nvPr/>
        </p:nvSpPr>
        <p:spPr>
          <a:xfrm>
            <a:off x="8199424" y="3435731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48064" y="3472307"/>
            <a:ext cx="2833725" cy="8235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 b="1" i="0">
                <a:solidFill>
                  <a:srgbClr val="330066"/>
                </a:solidFill>
                <a:latin typeface="Courier New"/>
              </a:rPr>
              <a:t>mkdir(parents=True, exist_ok=True)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Creates intermediate folders; no failure if it exists.</a:t>
            </a:r>
          </a:p>
        </p:txBody>
      </p:sp>
      <p:sp>
        <p:nvSpPr>
          <p:cNvPr id="12" name="Oval 11"/>
          <p:cNvSpPr/>
          <p:nvPr/>
        </p:nvSpPr>
        <p:spPr>
          <a:xfrm>
            <a:off x="8199424" y="4460494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064" y="4497070"/>
            <a:ext cx="2833725" cy="8156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 b="1" i="0">
                <a:solidFill>
                  <a:srgbClr val="330066"/>
                </a:solidFill>
                <a:latin typeface="Courier New"/>
              </a:rPr>
              <a:t>write_text</a:t>
            </a:r>
            <a:r>
              <a:rPr sz="1250" b="1" i="0">
                <a:solidFill>
                  <a:srgbClr val="330066"/>
                </a:solidFill>
                <a:latin typeface="Arial"/>
              </a:rPr>
              <a:t>, </a:t>
            </a:r>
            <a:r>
              <a:rPr sz="1200" b="1" i="0">
                <a:solidFill>
                  <a:srgbClr val="330066"/>
                </a:solidFill>
                <a:latin typeface="Courier New"/>
              </a:rPr>
              <a:t>iterdir()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Writes a small file; lists contents as </a:t>
            </a:r>
            <a:r>
              <a:rPr sz="1150" b="0" i="0">
                <a:solidFill>
                  <a:srgbClr val="330066"/>
                </a:solidFill>
                <a:latin typeface="Courier New"/>
              </a:rPr>
              <a:t>Path</a:t>
            </a:r>
            <a:r>
              <a:rPr sz="1200" b="0" i="0">
                <a:solidFill>
                  <a:srgbClr val="1A1A1A"/>
                </a:solidFill>
                <a:latin typeface="Arial"/>
              </a:rPr>
              <a:t> objects, </a:t>
            </a:r>
            <a:r>
              <a:rPr sz="1150" b="0" i="0">
                <a:solidFill>
                  <a:srgbClr val="330066"/>
                </a:solidFill>
                <a:latin typeface="Courier New"/>
              </a:rPr>
              <a:t>.name</a:t>
            </a:r>
            <a:r>
              <a:rPr sz="1200" b="0" i="0">
                <a:solidFill>
                  <a:srgbClr val="1A1A1A"/>
                </a:solidFill>
                <a:latin typeface="Arial"/>
              </a:rPr>
              <a:t> extracted.</a:t>
            </a:r>
          </a:p>
        </p:txBody>
      </p:sp>
      <p:sp>
        <p:nvSpPr>
          <p:cNvPr id="14" name="Oval 13"/>
          <p:cNvSpPr/>
          <p:nvPr/>
        </p:nvSpPr>
        <p:spPr>
          <a:xfrm>
            <a:off x="8199424" y="5477319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48064" y="5513895"/>
            <a:ext cx="2833725" cy="8156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 i="0">
                <a:solidFill>
                  <a:srgbClr val="330066"/>
                </a:solidFill>
                <a:latin typeface="Arial"/>
              </a:rPr>
              <a:t>Returns the folder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Callers put artefacts in it; the </a:t>
            </a:r>
            <a:r>
              <a:rPr sz="1150" b="0" i="0">
                <a:solidFill>
                  <a:srgbClr val="330066"/>
                </a:solidFill>
                <a:latin typeface="Courier New"/>
              </a:rPr>
              <a:t>__main__</a:t>
            </a:r>
            <a:r>
              <a:rPr sz="1200" b="0" i="0">
                <a:solidFill>
                  <a:srgbClr val="1A1A1A"/>
                </a:solidFill>
                <a:latin typeface="Arial"/>
              </a:rPr>
              <a:t> guard stops the demo on import.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34 / 52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330066"/>
                </a:solidFill>
              </a:rPr>
              <a:t>Example 2: Reproducible Random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CODE EXAMPLES · RANDOM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37360"/>
            <a:ext cx="7223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A5A5A"/>
                </a:solidFill>
                <a:latin typeface="Arial"/>
              </a:rPr>
              <a:t>random_users.py › make_users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075688"/>
            <a:ext cx="7223760" cy="3950208"/>
          </a:xfrm>
          <a:prstGeom prst="roundRect">
            <a:avLst>
              <a:gd name="adj" fmla="val 1851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221992"/>
            <a:ext cx="6821424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"""random_users.py - generate reproducible random test users."""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import random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FIRST_NAMES = ["Asha", "Ben", "Carla", "Dev", "Elena", "Farid"]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ROLES = ["viewer", "editor", "admin"]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def make_users(count, seed=None):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  """Return a list of user dictionaries.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  Passing the same seed always returns the same users."""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  rng = random.Random(seed)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  users = []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  for i in range(1, count + 1):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      name = rng.choice(FIRST_NAMES)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      users.append({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          "id": i,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          "name": name,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          "email": f"{name.lower()}{i}@example.com",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          "age": rng.randint(18, 65),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          "role": rng.choices(ROLES, weights=[70, 25, 5])[0],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      })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  return users</a:t>
            </a:r>
          </a:p>
        </p:txBody>
      </p:sp>
      <p:sp>
        <p:nvSpPr>
          <p:cNvPr id="7" name="Oval 6"/>
          <p:cNvSpPr/>
          <p:nvPr/>
        </p:nvSpPr>
        <p:spPr>
          <a:xfrm>
            <a:off x="819942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48064" y="1819656"/>
            <a:ext cx="2833725" cy="648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 i="0">
                <a:solidFill>
                  <a:srgbClr val="330066"/>
                </a:solidFill>
                <a:latin typeface="Courier New"/>
              </a:rPr>
              <a:t>random.Random(seed)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 i="0">
                <a:solidFill>
                  <a:srgbClr val="1A1A1A"/>
                </a:solidFill>
                <a:latin typeface="Arial"/>
              </a:rPr>
              <a:t>A private generator: does not disturb other random use.</a:t>
            </a:r>
          </a:p>
        </p:txBody>
      </p:sp>
      <p:sp>
        <p:nvSpPr>
          <p:cNvPr id="9" name="Oval 8"/>
          <p:cNvSpPr/>
          <p:nvPr/>
        </p:nvSpPr>
        <p:spPr>
          <a:xfrm>
            <a:off x="8199424" y="2633218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48064" y="2669794"/>
            <a:ext cx="2833725" cy="10537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 i="0">
                <a:solidFill>
                  <a:srgbClr val="330066"/>
                </a:solidFill>
                <a:latin typeface="Courier New"/>
              </a:rPr>
              <a:t>choices(..., weights=[70, 25, 5])[0]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viewer</a:t>
            </a:r>
            <a:r>
              <a:rPr sz="1250" b="0" i="0">
                <a:solidFill>
                  <a:srgbClr val="1A1A1A"/>
                </a:solidFill>
                <a:latin typeface="Arial"/>
              </a:rPr>
              <a:t> most likely, </a:t>
            </a:r>
            <a:r>
              <a:rPr sz="1200" b="0" i="0">
                <a:solidFill>
                  <a:srgbClr val="330066"/>
                </a:solidFill>
                <a:latin typeface="Courier New"/>
              </a:rPr>
              <a:t>admin</a:t>
            </a:r>
            <a:r>
              <a:rPr sz="1250" b="0" i="0">
                <a:solidFill>
                  <a:srgbClr val="1A1A1A"/>
                </a:solidFill>
                <a:latin typeface="Arial"/>
              </a:rPr>
              <a:t> rare. </a:t>
            </a:r>
            <a:r>
              <a:rPr sz="1200" b="0" i="0">
                <a:solidFill>
                  <a:srgbClr val="330066"/>
                </a:solidFill>
                <a:latin typeface="Courier New"/>
              </a:rPr>
              <a:t>choices</a:t>
            </a:r>
            <a:r>
              <a:rPr sz="1250" b="0" i="0">
                <a:solidFill>
                  <a:srgbClr val="1A1A1A"/>
                </a:solidFill>
                <a:latin typeface="Arial"/>
              </a:rPr>
              <a:t> returns a list, so take </a:t>
            </a:r>
            <a:r>
              <a:rPr sz="1200" b="0" i="0">
                <a:solidFill>
                  <a:srgbClr val="330066"/>
                </a:solidFill>
                <a:latin typeface="Courier New"/>
              </a:rPr>
              <a:t>[0]</a:t>
            </a:r>
            <a:r>
              <a:rPr sz="125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11" name="Oval 10"/>
          <p:cNvSpPr/>
          <p:nvPr/>
        </p:nvSpPr>
        <p:spPr>
          <a:xfrm>
            <a:off x="8199424" y="3888168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48064" y="3924744"/>
            <a:ext cx="2833725" cy="648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Email includes the index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 i="0">
                <a:solidFill>
                  <a:srgbClr val="1A1A1A"/>
                </a:solidFill>
                <a:latin typeface="Arial"/>
              </a:rPr>
              <a:t>Every address is unique: a common need for test accounts.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35 / 52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Example 2: Same Seed, Same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CODE EXAMPLES · RANDOM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6400800" cy="1527048"/>
          </a:xfrm>
          <a:prstGeom prst="roundRect">
            <a:avLst>
              <a:gd name="adj" fmla="val 4790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5998464" cy="12344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>
                <a:solidFill>
                  <a:srgbClr val="1A1A1A"/>
                </a:solidFill>
                <a:latin typeface="Courier New"/>
              </a:rPr>
              <a:t>if __name__ == "__main__":</a:t>
            </a:r>
          </a:p>
          <a:p>
            <a:pPr algn="l">
              <a:lnSpc>
                <a:spcPct val="100000"/>
              </a:lnSpc>
            </a:pPr>
            <a:r>
              <a:rPr sz="1350">
                <a:solidFill>
                  <a:srgbClr val="1A1A1A"/>
                </a:solidFill>
                <a:latin typeface="Courier New"/>
              </a:rPr>
              <a:t>    first = make_users(3, seed=2025)</a:t>
            </a:r>
          </a:p>
          <a:p>
            <a:pPr algn="l">
              <a:lnSpc>
                <a:spcPct val="100000"/>
              </a:lnSpc>
            </a:pPr>
            <a:r>
              <a:rPr sz="1350">
                <a:solidFill>
                  <a:srgbClr val="1A1A1A"/>
                </a:solidFill>
                <a:latin typeface="Courier New"/>
              </a:rPr>
              <a:t>    second = make_users(3, seed=2025)</a:t>
            </a:r>
          </a:p>
          <a:p>
            <a:pPr algn="l">
              <a:lnSpc>
                <a:spcPct val="100000"/>
              </a:lnSpc>
            </a:pPr>
            <a:r>
              <a:rPr sz="1350">
                <a:solidFill>
                  <a:srgbClr val="1A1A1A"/>
                </a:solidFill>
                <a:latin typeface="Courier New"/>
              </a:rPr>
              <a:t>    for user in first:</a:t>
            </a:r>
          </a:p>
          <a:p>
            <a:pPr algn="l">
              <a:lnSpc>
                <a:spcPct val="100000"/>
              </a:lnSpc>
            </a:pPr>
            <a:r>
              <a:rPr sz="1350">
                <a:solidFill>
                  <a:srgbClr val="1A1A1A"/>
                </a:solidFill>
                <a:latin typeface="Courier New"/>
              </a:rPr>
              <a:t>        print(user)</a:t>
            </a:r>
          </a:p>
          <a:p>
            <a:pPr algn="l">
              <a:lnSpc>
                <a:spcPct val="100000"/>
              </a:lnSpc>
            </a:pPr>
            <a:r>
              <a:rPr sz="1350">
                <a:solidFill>
                  <a:srgbClr val="1A1A1A"/>
                </a:solidFill>
                <a:latin typeface="Courier New"/>
              </a:rPr>
              <a:t>    print("Same seed gives same data:", first == second)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76464" y="1783080"/>
            <a:ext cx="420532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The final comparison prints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True</a:t>
            </a:r>
            <a:r>
              <a:rPr sz="1400" b="0" i="0">
                <a:solidFill>
                  <a:srgbClr val="1A1A1A"/>
                </a:solidFill>
                <a:latin typeface="Arial"/>
              </a:rPr>
              <a:t>: lists of dictionaries are equal when their contents are equal.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With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seed=None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results differ per run.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36 / 52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330066"/>
                </a:solidFill>
              </a:rPr>
              <a:t>Example 3: Is a Timestamp Recent?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CODE EXAMPLES · DATETIME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7223760" cy="3653027"/>
          </a:xfrm>
          <a:prstGeom prst="roundRect">
            <a:avLst>
              <a:gd name="adj" fmla="val 2002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6821424" cy="33604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"""check_timestamp.py - verify that a 'created_at' value is recent."""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import datetime as dt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def is_recent(created_at_text, max_age_seconds=60, now=None):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   """True if the ISO timestamp is no more than max_age_seconds old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   (and not in the future)."""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   now = now or dt.datetime.now(dt.timezone.utc)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   created = dt.datetime.fromisoformat(created_at_text)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   if created.tzinfo is None:                 # naive -&gt; assume it is UTC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       created = created.replace(tzinfo=dt.timezone.utc)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   age = now - created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   return dt.timedelta(0) &lt;= age &lt;= dt.timedelta(seconds=max_age_seconds)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if __name__ == "__main__":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   fixed_now = dt.datetime(2025, 3, 14, 9, 31, 0, tzinfo=dt.timezone.utc)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   print(is_recent("2025-03-14T09:30:30", now=fixed_now))   # True  (30 s old)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   print(is_recent("2025-03-14T09:20:00", now=fixed_now))   # False (11 min old)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   print(is_recent("2025-03-14T09:45:00", now=fixed_now))   # False (in the future)</a:t>
            </a:r>
          </a:p>
        </p:txBody>
      </p:sp>
      <p:sp>
        <p:nvSpPr>
          <p:cNvPr id="6" name="Oval 5"/>
          <p:cNvSpPr/>
          <p:nvPr/>
        </p:nvSpPr>
        <p:spPr>
          <a:xfrm>
            <a:off x="819942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064" y="1819656"/>
            <a:ext cx="2833725" cy="10458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 i="0">
                <a:solidFill>
                  <a:srgbClr val="330066"/>
                </a:solidFill>
                <a:latin typeface="Courier New"/>
              </a:rPr>
              <a:t>now</a:t>
            </a:r>
            <a:r>
              <a:rPr sz="1300" b="1" i="0">
                <a:solidFill>
                  <a:srgbClr val="330066"/>
                </a:solidFill>
                <a:latin typeface="Arial"/>
              </a:rPr>
              <a:t> parameter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 i="0">
                <a:solidFill>
                  <a:srgbClr val="1A1A1A"/>
                </a:solidFill>
                <a:latin typeface="Arial"/>
              </a:rPr>
              <a:t>A test can inject a fixed "current time": deterministic and testable (unit testing, Wednesday).</a:t>
            </a:r>
          </a:p>
        </p:txBody>
      </p:sp>
      <p:sp>
        <p:nvSpPr>
          <p:cNvPr id="8" name="Oval 7"/>
          <p:cNvSpPr/>
          <p:nvPr/>
        </p:nvSpPr>
        <p:spPr>
          <a:xfrm>
            <a:off x="8199424" y="3030093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48064" y="3066669"/>
            <a:ext cx="2833725" cy="8474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 i="0">
                <a:solidFill>
                  <a:srgbClr val="330066"/>
                </a:solidFill>
                <a:latin typeface="Courier New"/>
              </a:rPr>
              <a:t>replace(tzinfo=...utc)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 i="0">
                <a:solidFill>
                  <a:srgbClr val="1A1A1A"/>
                </a:solidFill>
                <a:latin typeface="Arial"/>
              </a:rPr>
              <a:t>Turns a naive datetime aware (assuming UTC) so subtraction avoids </a:t>
            </a:r>
            <a:r>
              <a:rPr sz="1200" b="0" i="0">
                <a:solidFill>
                  <a:srgbClr val="330066"/>
                </a:solidFill>
                <a:latin typeface="Courier New"/>
              </a:rPr>
              <a:t>TypeError</a:t>
            </a:r>
            <a:r>
              <a:rPr sz="125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10" name="Oval 9"/>
          <p:cNvSpPr/>
          <p:nvPr/>
        </p:nvSpPr>
        <p:spPr>
          <a:xfrm>
            <a:off x="8199424" y="4078668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48064" y="4115244"/>
            <a:ext cx="2833725" cy="648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Chained comparison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 i="0">
                <a:solidFill>
                  <a:srgbClr val="1A1A1A"/>
                </a:solidFill>
                <a:latin typeface="Arial"/>
              </a:rPr>
              <a:t>True only if the age is between zero and the maximum.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37 / 52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330066"/>
                </a:solidFill>
              </a:rPr>
              <a:t>Example 4: Environment-Aware Config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CODE EXAMPLES · OS + SYS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7223760" cy="3950208"/>
          </a:xfrm>
          <a:prstGeom prst="roundRect">
            <a:avLst>
              <a:gd name="adj" fmla="val 1851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6821424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"""config_check.py - read configuration from the environment and exit properly."""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import os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import sys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REQUIRED = ["BASE_URL"]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def main():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  base_url = os.environ.get("BASE_URL")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  timeout = int(os.environ.get("TIMEOUT", "30"))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  env_name = os.environ.get("TEST_ENV", "qa")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  missing = [name for name in REQUIRED if not os.environ.get(name)]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  if missing: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      print(f"Missing environment variables: {', '.join(missing)}", file=sys.stderr)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      return 1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  print(f"Running against {env_name}: {base_url} (timeout {timeout}s)")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  return 0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if __name__ == "__main__":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  sys.exit(main())</a:t>
            </a:r>
          </a:p>
        </p:txBody>
      </p:sp>
      <p:sp>
        <p:nvSpPr>
          <p:cNvPr id="6" name="Oval 5"/>
          <p:cNvSpPr/>
          <p:nvPr/>
        </p:nvSpPr>
        <p:spPr>
          <a:xfrm>
            <a:off x="819942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064" y="1819656"/>
            <a:ext cx="2833725" cy="8474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Missing configuration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 i="0">
                <a:solidFill>
                  <a:srgbClr val="1A1A1A"/>
                </a:solidFill>
                <a:latin typeface="Arial"/>
              </a:rPr>
              <a:t>Reported on </a:t>
            </a:r>
            <a:r>
              <a:rPr sz="1200" b="0" i="0">
                <a:solidFill>
                  <a:srgbClr val="330066"/>
                </a:solidFill>
                <a:latin typeface="Courier New"/>
              </a:rPr>
              <a:t>stderr</a:t>
            </a:r>
            <a:r>
              <a:rPr sz="1250" b="0" i="0">
                <a:solidFill>
                  <a:srgbClr val="1A1A1A"/>
                </a:solidFill>
                <a:latin typeface="Arial"/>
              </a:rPr>
              <a:t> and returned as exit code </a:t>
            </a:r>
            <a:r>
              <a:rPr sz="1200" b="0" i="0">
                <a:solidFill>
                  <a:srgbClr val="330066"/>
                </a:solidFill>
                <a:latin typeface="Courier New"/>
              </a:rPr>
              <a:t>1</a:t>
            </a:r>
            <a:r>
              <a:rPr sz="1250" b="0" i="0">
                <a:solidFill>
                  <a:srgbClr val="1A1A1A"/>
                </a:solidFill>
                <a:latin typeface="Arial"/>
              </a:rPr>
              <a:t>, so CI marks the step failed.</a:t>
            </a:r>
          </a:p>
        </p:txBody>
      </p:sp>
      <p:sp>
        <p:nvSpPr>
          <p:cNvPr id="8" name="Oval 7"/>
          <p:cNvSpPr/>
          <p:nvPr/>
        </p:nvSpPr>
        <p:spPr>
          <a:xfrm>
            <a:off x="8199424" y="2831655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48064" y="2868231"/>
            <a:ext cx="2833725" cy="450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 i="0">
                <a:solidFill>
                  <a:srgbClr val="330066"/>
                </a:solidFill>
                <a:latin typeface="Courier New"/>
              </a:rPr>
              <a:t>', '.join(missing)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 i="0">
                <a:solidFill>
                  <a:srgbClr val="1A1A1A"/>
                </a:solidFill>
                <a:latin typeface="Arial"/>
              </a:rPr>
              <a:t>Formats the list nicely.</a:t>
            </a:r>
          </a:p>
        </p:txBody>
      </p:sp>
      <p:sp>
        <p:nvSpPr>
          <p:cNvPr id="10" name="Oval 9"/>
          <p:cNvSpPr/>
          <p:nvPr/>
        </p:nvSpPr>
        <p:spPr>
          <a:xfrm>
            <a:off x="8199424" y="3483356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48064" y="3519932"/>
            <a:ext cx="2833725" cy="8474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 i="0">
                <a:solidFill>
                  <a:srgbClr val="330066"/>
                </a:solidFill>
                <a:latin typeface="Courier New"/>
              </a:rPr>
              <a:t>int(...)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 i="0">
                <a:solidFill>
                  <a:srgbClr val="1A1A1A"/>
                </a:solidFill>
                <a:latin typeface="Arial"/>
              </a:rPr>
              <a:t>Raises </a:t>
            </a:r>
            <a:r>
              <a:rPr sz="1200" b="0" i="0">
                <a:solidFill>
                  <a:srgbClr val="330066"/>
                </a:solidFill>
                <a:latin typeface="Courier New"/>
              </a:rPr>
              <a:t>ValueError</a:t>
            </a:r>
            <a:r>
              <a:rPr sz="1250" b="0" i="0">
                <a:solidFill>
                  <a:srgbClr val="1A1A1A"/>
                </a:solidFill>
                <a:latin typeface="Arial"/>
              </a:rPr>
              <a:t> if </a:t>
            </a:r>
            <a:r>
              <a:rPr sz="1200" b="0" i="0">
                <a:solidFill>
                  <a:srgbClr val="330066"/>
                </a:solidFill>
                <a:latin typeface="Courier New"/>
              </a:rPr>
              <a:t>TIMEOUT</a:t>
            </a:r>
            <a:r>
              <a:rPr sz="1250" b="0" i="0">
                <a:solidFill>
                  <a:srgbClr val="1A1A1A"/>
                </a:solidFill>
                <a:latin typeface="Arial"/>
              </a:rPr>
              <a:t> is not numeric: tomorrow's exception lessons.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38 / 52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Example 4: Try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CODE EXAMPLES · OS + SYS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10971885" cy="673607"/>
          </a:xfrm>
          <a:prstGeom prst="roundRect">
            <a:avLst>
              <a:gd name="adj" fmla="val 10859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10569549" cy="380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python config_check.py                                  # error message, exit code 1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BASE_URL=https://qa.example.com python config_check.py  # works (macOS/Linux/Git Bash)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39 / 52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Example 5: Timing a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CODE EXAMPLES · TIME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6400800" cy="2121408"/>
          </a:xfrm>
          <a:prstGeom prst="roundRect">
            <a:avLst>
              <a:gd name="adj" fmla="val 3448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5998464" cy="18287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import time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def timed(label, func, *args):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  start = time.perf_counter()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  result = func(*args)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  elapsed = time.perf_counter() - start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  print(f"{label}: {elapsed * 1000:.1f} ms")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  return result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total = timed("sum of squares", lambda n: sum(i * i for i in range(n)), 1_000_000)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print(total)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76464" y="1783080"/>
            <a:ext cx="420532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*args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collects extra positional arguments and passes them on to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func</a:t>
            </a:r>
            <a:r>
              <a:rPr sz="140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Multiplying by 1000 converts seconds to milliseconds;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:.1f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formats with one decimal place.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1_000_000</a:t>
            </a:r>
            <a:r>
              <a:rPr sz="1400" b="0" i="0">
                <a:solidFill>
                  <a:srgbClr val="1A1A1A"/>
                </a:solidFill>
                <a:latin typeface="Arial"/>
              </a:rPr>
              <a:t>: underscores purely for readability.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40 / 52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Practice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>
                <a:solidFill>
                  <a:srgbClr val="5A5A5A"/>
                </a:solidFill>
              </a:rPr>
              <a:t>Try each one yourself before looking at the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41 / 52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Practice Questions (1 of 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PRACTICE</a:t>
            </a:r>
          </a:p>
        </p:txBody>
      </p:sp>
      <p:sp>
        <p:nvSpPr>
          <p:cNvPr id="4" name="Oval 3"/>
          <p:cNvSpPr/>
          <p:nvPr/>
        </p:nvSpPr>
        <p:spPr>
          <a:xfrm>
            <a:off x="60990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Q1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8544" y="1856231"/>
            <a:ext cx="1042324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What is the standard library? Name three standard modules and one thing each is used for.</a:t>
            </a:r>
          </a:p>
        </p:txBody>
      </p:sp>
      <p:sp>
        <p:nvSpPr>
          <p:cNvPr id="6" name="Oval 5"/>
          <p:cNvSpPr/>
          <p:nvPr/>
        </p:nvSpPr>
        <p:spPr>
          <a:xfrm>
            <a:off x="609904" y="2368296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Q2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8544" y="2441448"/>
            <a:ext cx="1042324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Why use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os.path.join("data", "x.csv")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rather than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"data" + "/" + "x.csv"</a:t>
            </a:r>
            <a:r>
              <a:rPr sz="1500" b="0" i="0">
                <a:solidFill>
                  <a:srgbClr val="1A1A1A"/>
                </a:solidFill>
                <a:latin typeface="Arial"/>
              </a:rPr>
              <a:t>?</a:t>
            </a:r>
          </a:p>
        </p:txBody>
      </p:sp>
      <p:sp>
        <p:nvSpPr>
          <p:cNvPr id="8" name="Oval 7"/>
          <p:cNvSpPr/>
          <p:nvPr/>
        </p:nvSpPr>
        <p:spPr>
          <a:xfrm>
            <a:off x="609904" y="2953512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Q3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8544" y="3026664"/>
            <a:ext cx="1042324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Difference between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os.makedirs("a/b", exist_ok=True)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and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os.mkdir("a/b")</a:t>
            </a:r>
            <a:r>
              <a:rPr sz="1500" b="0" i="0">
                <a:solidFill>
                  <a:srgbClr val="1A1A1A"/>
                </a:solidFill>
                <a:latin typeface="Arial"/>
              </a:rPr>
              <a:t>?</a:t>
            </a:r>
          </a:p>
        </p:txBody>
      </p:sp>
      <p:sp>
        <p:nvSpPr>
          <p:cNvPr id="10" name="Oval 9"/>
          <p:cNvSpPr/>
          <p:nvPr/>
        </p:nvSpPr>
        <p:spPr>
          <a:xfrm>
            <a:off x="609904" y="3538728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Q4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8544" y="3611880"/>
            <a:ext cx="10423245" cy="521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Print the full path of every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.json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file under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fixtures</a:t>
            </a:r>
            <a:r>
              <a:rPr sz="1500" b="0" i="0">
                <a:solidFill>
                  <a:srgbClr val="1A1A1A"/>
                </a:solidFill>
                <a:latin typeface="Arial"/>
              </a:rPr>
              <a:t>, including subfolders: one version with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os.walk</a:t>
            </a:r>
            <a:r>
              <a:rPr sz="1500" b="0" i="0">
                <a:solidFill>
                  <a:srgbClr val="1A1A1A"/>
                </a:solidFill>
                <a:latin typeface="Arial"/>
              </a:rPr>
              <a:t>, one with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pathlib</a:t>
            </a:r>
            <a:r>
              <a:rPr sz="15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42 / 52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Practice Questions (2 of 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PRACTICE</a:t>
            </a:r>
          </a:p>
        </p:txBody>
      </p:sp>
      <p:sp>
        <p:nvSpPr>
          <p:cNvPr id="4" name="Oval 3"/>
          <p:cNvSpPr/>
          <p:nvPr/>
        </p:nvSpPr>
        <p:spPr>
          <a:xfrm>
            <a:off x="60990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Q5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8544" y="1856231"/>
            <a:ext cx="10423245" cy="5060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 i="0">
                <a:solidFill>
                  <a:srgbClr val="1A1A1A"/>
                </a:solidFill>
                <a:latin typeface="Arial"/>
              </a:rPr>
              <a:t>Run as </a:t>
            </a:r>
            <a:r>
              <a:rPr sz="1400" b="0" i="0">
                <a:solidFill>
                  <a:srgbClr val="330066"/>
                </a:solidFill>
                <a:latin typeface="Courier New"/>
              </a:rPr>
              <a:t>python check.py staging 5</a:t>
            </a:r>
            <a:r>
              <a:rPr sz="1450" b="0" i="0">
                <a:solidFill>
                  <a:srgbClr val="1A1A1A"/>
                </a:solidFill>
                <a:latin typeface="Arial"/>
              </a:rPr>
              <a:t>: what are </a:t>
            </a:r>
            <a:r>
              <a:rPr sz="1400" b="0" i="0">
                <a:solidFill>
                  <a:srgbClr val="330066"/>
                </a:solidFill>
                <a:latin typeface="Courier New"/>
              </a:rPr>
              <a:t>sys.argv[0]</a:t>
            </a:r>
            <a:r>
              <a:rPr sz="1450" b="0" i="0">
                <a:solidFill>
                  <a:srgbClr val="1A1A1A"/>
                </a:solidFill>
                <a:latin typeface="Arial"/>
              </a:rPr>
              <a:t>, </a:t>
            </a:r>
            <a:r>
              <a:rPr sz="1400" b="0" i="0">
                <a:solidFill>
                  <a:srgbClr val="330066"/>
                </a:solidFill>
                <a:latin typeface="Courier New"/>
              </a:rPr>
              <a:t>[1]</a:t>
            </a:r>
            <a:r>
              <a:rPr sz="1450" b="0" i="0">
                <a:solidFill>
                  <a:srgbClr val="1A1A1A"/>
                </a:solidFill>
                <a:latin typeface="Arial"/>
              </a:rPr>
              <a:t>, </a:t>
            </a:r>
            <a:r>
              <a:rPr sz="1400" b="0" i="0">
                <a:solidFill>
                  <a:srgbClr val="330066"/>
                </a:solidFill>
                <a:latin typeface="Courier New"/>
              </a:rPr>
              <a:t>[2]</a:t>
            </a:r>
            <a:r>
              <a:rPr sz="1450" b="0" i="0">
                <a:solidFill>
                  <a:srgbClr val="1A1A1A"/>
                </a:solidFill>
                <a:latin typeface="Arial"/>
              </a:rPr>
              <a:t>, what type is </a:t>
            </a:r>
            <a:r>
              <a:rPr sz="1400" b="0" i="0">
                <a:solidFill>
                  <a:srgbClr val="330066"/>
                </a:solidFill>
                <a:latin typeface="Courier New"/>
              </a:rPr>
              <a:t>sys.argv[2]</a:t>
            </a:r>
            <a:r>
              <a:rPr sz="1450" b="0" i="0">
                <a:solidFill>
                  <a:srgbClr val="1A1A1A"/>
                </a:solidFill>
                <a:latin typeface="Arial"/>
              </a:rPr>
              <a:t>, and how do you use it as a number?</a:t>
            </a:r>
          </a:p>
        </p:txBody>
      </p:sp>
      <p:sp>
        <p:nvSpPr>
          <p:cNvPr id="6" name="Oval 5"/>
          <p:cNvSpPr/>
          <p:nvPr/>
        </p:nvSpPr>
        <p:spPr>
          <a:xfrm>
            <a:off x="609904" y="2490343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Q6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8544" y="2563495"/>
            <a:ext cx="1042324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 i="0">
                <a:solidFill>
                  <a:srgbClr val="1A1A1A"/>
                </a:solidFill>
                <a:latin typeface="Arial"/>
              </a:rPr>
              <a:t>What does </a:t>
            </a:r>
            <a:r>
              <a:rPr sz="1400" b="0" i="0">
                <a:solidFill>
                  <a:srgbClr val="330066"/>
                </a:solidFill>
                <a:latin typeface="Courier New"/>
              </a:rPr>
              <a:t>sys.exit(2)</a:t>
            </a:r>
            <a:r>
              <a:rPr sz="1450" b="0" i="0">
                <a:solidFill>
                  <a:srgbClr val="1A1A1A"/>
                </a:solidFill>
                <a:latin typeface="Arial"/>
              </a:rPr>
              <a:t> do and why would a CI system care?</a:t>
            </a:r>
          </a:p>
        </p:txBody>
      </p:sp>
      <p:sp>
        <p:nvSpPr>
          <p:cNvPr id="8" name="Oval 7"/>
          <p:cNvSpPr/>
          <p:nvPr/>
        </p:nvSpPr>
        <p:spPr>
          <a:xfrm>
            <a:off x="609904" y="3075559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Q7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8544" y="3148711"/>
            <a:ext cx="10423245" cy="5060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 i="0">
                <a:solidFill>
                  <a:srgbClr val="1A1A1A"/>
                </a:solidFill>
                <a:latin typeface="Arial"/>
              </a:rPr>
              <a:t>Given </a:t>
            </a:r>
            <a:r>
              <a:rPr sz="1400" b="0" i="0">
                <a:solidFill>
                  <a:srgbClr val="330066"/>
                </a:solidFill>
                <a:latin typeface="Courier New"/>
              </a:rPr>
              <a:t>t = datetime.datetime(2025, 1, 31, 23, 59, 0)</a:t>
            </a:r>
            <a:r>
              <a:rPr sz="1450" b="0" i="0">
                <a:solidFill>
                  <a:srgbClr val="1A1A1A"/>
                </a:solidFill>
                <a:latin typeface="Arial"/>
              </a:rPr>
              <a:t>: (a) text </a:t>
            </a:r>
            <a:r>
              <a:rPr sz="1400" b="0" i="0">
                <a:solidFill>
                  <a:srgbClr val="330066"/>
                </a:solidFill>
                <a:latin typeface="Courier New"/>
              </a:rPr>
              <a:t>20250131_235900</a:t>
            </a:r>
            <a:r>
              <a:rPr sz="1450" b="0" i="0">
                <a:solidFill>
                  <a:srgbClr val="1A1A1A"/>
                </a:solidFill>
                <a:latin typeface="Arial"/>
              </a:rPr>
              <a:t>, (b) the datetime 90 minutes later, (c) whether </a:t>
            </a:r>
            <a:r>
              <a:rPr sz="1400" b="0" i="0">
                <a:solidFill>
                  <a:srgbClr val="330066"/>
                </a:solidFill>
                <a:latin typeface="Courier New"/>
              </a:rPr>
              <a:t>t</a:t>
            </a:r>
            <a:r>
              <a:rPr sz="1450" b="0" i="0">
                <a:solidFill>
                  <a:srgbClr val="1A1A1A"/>
                </a:solidFill>
                <a:latin typeface="Arial"/>
              </a:rPr>
              <a:t> is on a weekend.</a:t>
            </a:r>
          </a:p>
        </p:txBody>
      </p:sp>
      <p:sp>
        <p:nvSpPr>
          <p:cNvPr id="10" name="Oval 9"/>
          <p:cNvSpPr/>
          <p:nvPr/>
        </p:nvSpPr>
        <p:spPr>
          <a:xfrm>
            <a:off x="609904" y="3782822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Q8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8544" y="3855974"/>
            <a:ext cx="1042324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 i="0">
                <a:solidFill>
                  <a:srgbClr val="1A1A1A"/>
                </a:solidFill>
                <a:latin typeface="Arial"/>
              </a:rPr>
              <a:t>What happens with </a:t>
            </a:r>
            <a:r>
              <a:rPr sz="1400" b="0" i="0">
                <a:solidFill>
                  <a:srgbClr val="330066"/>
                </a:solidFill>
                <a:latin typeface="Courier New"/>
              </a:rPr>
              <a:t>dt.datetime.strptime("14-03-2025", "%Y-%m-%d")</a:t>
            </a:r>
            <a:r>
              <a:rPr sz="1450" b="0" i="0">
                <a:solidFill>
                  <a:srgbClr val="1A1A1A"/>
                </a:solidFill>
                <a:latin typeface="Arial"/>
              </a:rPr>
              <a:t>? Fix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43 / 52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Practice Questions (3 of 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PRACTICE</a:t>
            </a:r>
          </a:p>
        </p:txBody>
      </p:sp>
      <p:sp>
        <p:nvSpPr>
          <p:cNvPr id="4" name="Oval 3"/>
          <p:cNvSpPr/>
          <p:nvPr/>
        </p:nvSpPr>
        <p:spPr>
          <a:xfrm>
            <a:off x="60990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Q9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8544" y="1856231"/>
            <a:ext cx="10423245" cy="490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Why is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random.seed(...)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valuable for a QE engineer? What would you log at the start of a randomised run?</a:t>
            </a:r>
          </a:p>
        </p:txBody>
      </p:sp>
      <p:sp>
        <p:nvSpPr>
          <p:cNvPr id="6" name="Oval 5"/>
          <p:cNvSpPr/>
          <p:nvPr/>
        </p:nvSpPr>
        <p:spPr>
          <a:xfrm>
            <a:off x="609904" y="2474468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Q10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8544" y="2547620"/>
            <a:ext cx="10423245" cy="490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Which raise errors: (a)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random.randint(5, 1)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(b)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random.choice([])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(c)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random.sample([1, 2], 3)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(d)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random.shuffle((1, 2, 3))</a:t>
            </a:r>
            <a:r>
              <a:rPr sz="1400" b="0" i="0">
                <a:solidFill>
                  <a:srgbClr val="1A1A1A"/>
                </a:solidFill>
                <a:latin typeface="Arial"/>
              </a:rPr>
              <a:t>?</a:t>
            </a:r>
          </a:p>
        </p:txBody>
      </p:sp>
      <p:sp>
        <p:nvSpPr>
          <p:cNvPr id="8" name="Oval 7"/>
          <p:cNvSpPr/>
          <p:nvPr/>
        </p:nvSpPr>
        <p:spPr>
          <a:xfrm>
            <a:off x="609904" y="3165856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Q11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8544" y="3202432"/>
            <a:ext cx="10423245" cy="7204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450" b="1" i="0">
                <a:solidFill>
                  <a:srgbClr val="330066"/>
                </a:solidFill>
                <a:latin typeface="Arial"/>
              </a:rPr>
              <a:t>Hands-on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password_policy_data.py</a:t>
            </a:r>
            <a:r>
              <a:rPr sz="1400" b="0" i="0">
                <a:solidFill>
                  <a:srgbClr val="1A1A1A"/>
                </a:solidFill>
                <a:latin typeface="Arial"/>
              </a:rPr>
              <a:t>: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random_usernames(count, seed)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returns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count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unique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qa_&lt;4 random digits&gt;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names (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random.Random(seed)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and a set). Print for seed 10 twice.</a:t>
            </a:r>
          </a:p>
        </p:txBody>
      </p:sp>
      <p:sp>
        <p:nvSpPr>
          <p:cNvPr id="10" name="Oval 9"/>
          <p:cNvSpPr/>
          <p:nvPr/>
        </p:nvSpPr>
        <p:spPr>
          <a:xfrm>
            <a:off x="609904" y="4087431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Q12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8544" y="4124007"/>
            <a:ext cx="10423245" cy="7204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450" b="1" i="0">
                <a:solidFill>
                  <a:srgbClr val="330066"/>
                </a:solidFill>
                <a:latin typeface="Arial"/>
              </a:rPr>
              <a:t>Challenge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days_until.py</a:t>
            </a:r>
            <a:r>
              <a:rPr sz="1400" b="0" i="0">
                <a:solidFill>
                  <a:srgbClr val="1A1A1A"/>
                </a:solidFill>
                <a:latin typeface="Arial"/>
              </a:rPr>
              <a:t>: date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YYYY-MM-DD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from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sys.argv[1]</a:t>
            </a:r>
            <a:r>
              <a:rPr sz="1400" b="0" i="0">
                <a:solidFill>
                  <a:srgbClr val="1A1A1A"/>
                </a:solidFill>
                <a:latin typeface="Arial"/>
              </a:rPr>
              <a:t>; print days remaining (or "That date has passed"); exit 2 with a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stderr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message if missing or invalid (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try/except ValueError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allowed).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44 / 52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Answers (1 of 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PRACTICE</a:t>
            </a:r>
          </a:p>
        </p:txBody>
      </p:sp>
      <p:sp>
        <p:nvSpPr>
          <p:cNvPr id="4" name="Oval 3"/>
          <p:cNvSpPr/>
          <p:nvPr/>
        </p:nvSpPr>
        <p:spPr>
          <a:xfrm>
            <a:off x="60990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8544" y="1856231"/>
            <a:ext cx="10423245" cy="521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Modules shipped with Python (no installation). E.g.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os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(file system, environment),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datetime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(dates, times),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random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(test data),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sys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(interpreter details, exit codes).</a:t>
            </a:r>
          </a:p>
        </p:txBody>
      </p:sp>
      <p:sp>
        <p:nvSpPr>
          <p:cNvPr id="6" name="Oval 5"/>
          <p:cNvSpPr/>
          <p:nvPr/>
        </p:nvSpPr>
        <p:spPr>
          <a:xfrm>
            <a:off x="609904" y="2506218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8544" y="2579370"/>
            <a:ext cx="10423245" cy="521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 i="0">
                <a:solidFill>
                  <a:srgbClr val="330066"/>
                </a:solidFill>
                <a:latin typeface="Courier New"/>
              </a:rPr>
              <a:t>os.path.join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uses the right separator (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\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on Windows,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/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elsewhere) and avoids doubled or missing separators: portable code.</a:t>
            </a:r>
          </a:p>
        </p:txBody>
      </p:sp>
      <p:sp>
        <p:nvSpPr>
          <p:cNvPr id="8" name="Oval 7"/>
          <p:cNvSpPr/>
          <p:nvPr/>
        </p:nvSpPr>
        <p:spPr>
          <a:xfrm>
            <a:off x="609904" y="3229356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8544" y="3302508"/>
            <a:ext cx="10423245" cy="7600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 i="0">
                <a:solidFill>
                  <a:srgbClr val="330066"/>
                </a:solidFill>
                <a:latin typeface="Courier New"/>
              </a:rPr>
              <a:t>makedirs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creates all missing intermediate folders and, with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exist_ok=True</a:t>
            </a:r>
            <a:r>
              <a:rPr sz="1500" b="0" i="0">
                <a:solidFill>
                  <a:srgbClr val="1A1A1A"/>
                </a:solidFill>
                <a:latin typeface="Arial"/>
              </a:rPr>
              <a:t>, does not fail if it exists.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mkdir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creates only the last level (fails if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a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is missing) and raises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FileExistsError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if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a/b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exists.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45 / 52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Answers (2 of 5): A4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PRACTICE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10971885" cy="2555748"/>
          </a:xfrm>
          <a:prstGeom prst="roundRect">
            <a:avLst>
              <a:gd name="adj" fmla="val 2862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10569549" cy="22631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>
                <a:solidFill>
                  <a:srgbClr val="5C8A8A"/>
                </a:solidFill>
                <a:latin typeface="Courier New"/>
              </a:rPr>
              <a:t># os.walk version</a:t>
            </a:r>
          </a:p>
          <a:p>
            <a:pPr algn="l">
              <a:lnSpc>
                <a:spcPct val="100000"/>
              </a:lnSpc>
            </a:pPr>
            <a:r>
              <a:rPr sz="1350">
                <a:solidFill>
                  <a:srgbClr val="1A1A1A"/>
                </a:solidFill>
                <a:latin typeface="Courier New"/>
              </a:rPr>
              <a:t>import os</a:t>
            </a:r>
          </a:p>
          <a:p>
            <a:pPr algn="l">
              <a:lnSpc>
                <a:spcPct val="100000"/>
              </a:lnSpc>
            </a:pPr>
            <a:r>
              <a:rPr sz="1350">
                <a:solidFill>
                  <a:srgbClr val="1A1A1A"/>
                </a:solidFill>
                <a:latin typeface="Courier New"/>
              </a:rPr>
              <a:t>for folder, _subfolders, files in os.walk("fixtures"):</a:t>
            </a:r>
          </a:p>
          <a:p>
            <a:pPr algn="l">
              <a:lnSpc>
                <a:spcPct val="100000"/>
              </a:lnSpc>
            </a:pPr>
            <a:r>
              <a:rPr sz="1350">
                <a:solidFill>
                  <a:srgbClr val="1A1A1A"/>
                </a:solidFill>
                <a:latin typeface="Courier New"/>
              </a:rPr>
              <a:t>    for name in files:</a:t>
            </a:r>
          </a:p>
          <a:p>
            <a:pPr algn="l">
              <a:lnSpc>
                <a:spcPct val="100000"/>
              </a:lnSpc>
            </a:pPr>
            <a:r>
              <a:rPr sz="1350">
                <a:solidFill>
                  <a:srgbClr val="1A1A1A"/>
                </a:solidFill>
                <a:latin typeface="Courier New"/>
              </a:rPr>
              <a:t>        if name.endswith(".json"):</a:t>
            </a:r>
          </a:p>
          <a:p>
            <a:pPr algn="l">
              <a:lnSpc>
                <a:spcPct val="100000"/>
              </a:lnSpc>
            </a:pPr>
            <a:r>
              <a:rPr sz="1350">
                <a:solidFill>
                  <a:srgbClr val="1A1A1A"/>
                </a:solidFill>
                <a:latin typeface="Courier New"/>
              </a:rPr>
              <a:t>            print(os.path.abspath(os.path.join(folder, name)))</a:t>
            </a:r>
          </a:p>
          <a:p>
            <a:pPr algn="l">
              <a:lnSpc>
                <a:spcPct val="100000"/>
              </a:lnSpc>
            </a:pPr>
            <a:r>
              <a:rPr sz="13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350">
                <a:solidFill>
                  <a:srgbClr val="5C8A8A"/>
                </a:solidFill>
                <a:latin typeface="Courier New"/>
              </a:rPr>
              <a:t># pathlib version</a:t>
            </a:r>
          </a:p>
          <a:p>
            <a:pPr algn="l">
              <a:lnSpc>
                <a:spcPct val="100000"/>
              </a:lnSpc>
            </a:pPr>
            <a:r>
              <a:rPr sz="1350">
                <a:solidFill>
                  <a:srgbClr val="1A1A1A"/>
                </a:solidFill>
                <a:latin typeface="Courier New"/>
              </a:rPr>
              <a:t>from pathlib import Path</a:t>
            </a:r>
          </a:p>
          <a:p>
            <a:pPr algn="l">
              <a:lnSpc>
                <a:spcPct val="100000"/>
              </a:lnSpc>
            </a:pPr>
            <a:r>
              <a:rPr sz="1350">
                <a:solidFill>
                  <a:srgbClr val="1A1A1A"/>
                </a:solidFill>
                <a:latin typeface="Courier New"/>
              </a:rPr>
              <a:t>for path in Path("fixtures").rglob("*.json"):</a:t>
            </a:r>
          </a:p>
          <a:p>
            <a:pPr algn="l">
              <a:lnSpc>
                <a:spcPct val="100000"/>
              </a:lnSpc>
            </a:pPr>
            <a:r>
              <a:rPr sz="1350">
                <a:solidFill>
                  <a:srgbClr val="1A1A1A"/>
                </a:solidFill>
                <a:latin typeface="Courier New"/>
              </a:rPr>
              <a:t>    print(path.resolve())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46 / 52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Answers (3 of 5): A5 to A8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PRACTICE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10971885" cy="1207007"/>
          </a:xfrm>
          <a:prstGeom prst="roundRect">
            <a:avLst>
              <a:gd name="adj" fmla="val 6060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10569549" cy="9143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import datetime as dt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t = dt.datetime(2025, 1, 31, 23, 59, 0)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print(t.strftime("%Y%m%d_%H%M%S"))              # (a) 20250131_235900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print(t + dt.timedelta(minutes=90))              # (b) 2025-02-01 01:29:00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print(t.weekday() &gt;= 5)                          # (c) 31 Jan 2025 is a Friday (weekday 4) -&gt; False</a:t>
            </a:r>
          </a:p>
        </p:txBody>
      </p:sp>
      <p:sp>
        <p:nvSpPr>
          <p:cNvPr id="6" name="Oval 5"/>
          <p:cNvSpPr/>
          <p:nvPr/>
        </p:nvSpPr>
        <p:spPr>
          <a:xfrm>
            <a:off x="609904" y="3291839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8544" y="3364991"/>
            <a:ext cx="1042324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sys.argv[0]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is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"check.py"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[1]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is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"staging"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[2]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is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"5"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a string. Convert with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int(sys.argv[2])</a:t>
            </a:r>
            <a:r>
              <a:rPr sz="14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8" name="Oval 7"/>
          <p:cNvSpPr/>
          <p:nvPr/>
        </p:nvSpPr>
        <p:spPr>
          <a:xfrm>
            <a:off x="609904" y="3803904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8544" y="3877056"/>
            <a:ext cx="10423245" cy="490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Ends the program with exit code 2. CI and shell scripts treat non-zero as failure: the step is marked failed (later steps can be skipped).</a:t>
            </a:r>
          </a:p>
        </p:txBody>
      </p:sp>
      <p:sp>
        <p:nvSpPr>
          <p:cNvPr id="10" name="Oval 9"/>
          <p:cNvSpPr/>
          <p:nvPr/>
        </p:nvSpPr>
        <p:spPr>
          <a:xfrm>
            <a:off x="609904" y="442214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8544" y="4495292"/>
            <a:ext cx="1042324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The code above: (a) 20250131_235900 (b) 2025-02-01 01:29:00 (c) Friday, weekday 4, so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False</a:t>
            </a:r>
            <a:r>
              <a:rPr sz="14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12" name="Oval 11"/>
          <p:cNvSpPr/>
          <p:nvPr/>
        </p:nvSpPr>
        <p:spPr>
          <a:xfrm>
            <a:off x="609904" y="4934204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8544" y="5007356"/>
            <a:ext cx="10423245" cy="490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ValueError</a:t>
            </a:r>
            <a:r>
              <a:rPr sz="1400" b="0" i="0">
                <a:solidFill>
                  <a:srgbClr val="1A1A1A"/>
                </a:solidFill>
                <a:latin typeface="Arial"/>
              </a:rPr>
              <a:t>: the text is day-month-year but the format expects year-month-day. Fix: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strptime("14-03-2025", "%d-%m-%Y")</a:t>
            </a:r>
            <a:r>
              <a:rPr sz="14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47 / 52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Answers (4 of 5): A9 to A11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PRACTICE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6400800" cy="2220467"/>
          </a:xfrm>
          <a:prstGeom prst="roundRect">
            <a:avLst>
              <a:gd name="adj" fmla="val 3294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5998464" cy="19278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import random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def random_usernames(count, seed=None):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rng = random.Random(seed)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names = set()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while len(names) &lt; count: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    names.add(f"qa_{rng.randint(0, 9999):04d}")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return sorted(names)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print(random_usernames(5, seed=10))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print(random_usernames(5, seed=10))   # identical to the line above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76464" y="1783080"/>
            <a:ext cx="420532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A9: seeds make sequences repeatable, so a failing run can be reproduced. Log the seed (ideally Python/OS versions too) and support passing it in.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A10: (a)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ValueError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(empty range) (b)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IndexError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(c)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ValueError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(sample larger than population) (d)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TypeError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(tuples are immutable).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A11: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:04d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pads to four digits; the set ignores duplicates; the loop runs until enough unique names exist (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count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must not exceed 10,000).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48 / 52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Answers (5 of 5): A12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PRACTICE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10971885" cy="4323587"/>
          </a:xfrm>
          <a:prstGeom prst="roundRect">
            <a:avLst>
              <a:gd name="adj" fmla="val 1691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10569549" cy="40309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import datetime as dt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import sys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def main():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if len(sys.argv) != 2: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    print("Usage: python days_until.py YYYY-MM-DD", file=sys.stderr)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    return 2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try: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    target = dt.date.fromisoformat(sys.argv[1])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except ValueError: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    print(f"Invalid date: {sys.argv[1]!r}", file=sys.stderr)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    return 2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days = (target - dt.date.today()).days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if days &lt; 0: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    print("That date has passed")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else: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    print(f"{days} days remaining")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return 0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if __name__ == "__main__":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sys.exit(main())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49 / 52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Key Takeaways (1 of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SUMMARY</a:t>
            </a:r>
          </a:p>
        </p:txBody>
      </p:sp>
      <p:sp>
        <p:nvSpPr>
          <p:cNvPr id="4" name="Oval 3"/>
          <p:cNvSpPr/>
          <p:nvPr/>
        </p:nvSpPr>
        <p:spPr>
          <a:xfrm>
            <a:off x="60990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8544" y="1856231"/>
            <a:ext cx="1042324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The standard library ships with Python: no pip, no pin. Explore with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dir()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help()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and the docs.</a:t>
            </a:r>
          </a:p>
        </p:txBody>
      </p:sp>
      <p:sp>
        <p:nvSpPr>
          <p:cNvPr id="6" name="Oval 5"/>
          <p:cNvSpPr/>
          <p:nvPr/>
        </p:nvSpPr>
        <p:spPr>
          <a:xfrm>
            <a:off x="609904" y="233172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8544" y="2404872"/>
            <a:ext cx="10423245" cy="490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os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and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pathlib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handle paths, folders, files and environment variables portably: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os.path.join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or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/</a:t>
            </a:r>
            <a:r>
              <a:rPr sz="1400" b="0" i="0">
                <a:solidFill>
                  <a:srgbClr val="1A1A1A"/>
                </a:solidFill>
                <a:latin typeface="Arial"/>
              </a:rPr>
              <a:t>;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makedirs</a:t>
            </a:r>
            <a:r>
              <a:rPr sz="1400" b="0" i="0">
                <a:solidFill>
                  <a:srgbClr val="1A1A1A"/>
                </a:solidFill>
                <a:latin typeface="Arial"/>
              </a:rPr>
              <a:t>/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mkdir(..., exist_ok=True)</a:t>
            </a:r>
            <a:r>
              <a:rPr sz="1400" b="0" i="0">
                <a:solidFill>
                  <a:srgbClr val="1A1A1A"/>
                </a:solidFill>
                <a:latin typeface="Arial"/>
              </a:rPr>
              <a:t>;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os.environ.get(name, default)</a:t>
            </a:r>
            <a:r>
              <a:rPr sz="14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8" name="Oval 7"/>
          <p:cNvSpPr/>
          <p:nvPr/>
        </p:nvSpPr>
        <p:spPr>
          <a:xfrm>
            <a:off x="609904" y="2986532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8544" y="3059684"/>
            <a:ext cx="10423245" cy="490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sys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gives arguments (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sys.argv</a:t>
            </a:r>
            <a:r>
              <a:rPr sz="1400" b="0" i="0">
                <a:solidFill>
                  <a:srgbClr val="1A1A1A"/>
                </a:solidFill>
                <a:latin typeface="Arial"/>
              </a:rPr>
              <a:t>), exit codes (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sys.exit</a:t>
            </a:r>
            <a:r>
              <a:rPr sz="1400" b="0" i="0">
                <a:solidFill>
                  <a:srgbClr val="1A1A1A"/>
                </a:solidFill>
                <a:latin typeface="Arial"/>
              </a:rPr>
              <a:t>), standard streams, version and platform data, plus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sys.path</a:t>
            </a:r>
            <a:r>
              <a:rPr sz="1400" b="0" i="0">
                <a:solidFill>
                  <a:srgbClr val="1A1A1A"/>
                </a:solidFill>
                <a:latin typeface="Arial"/>
              </a:rPr>
              <a:t>/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sys.modules</a:t>
            </a:r>
            <a:r>
              <a:rPr sz="14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10" name="Oval 9"/>
          <p:cNvSpPr/>
          <p:nvPr/>
        </p:nvSpPr>
        <p:spPr>
          <a:xfrm>
            <a:off x="609904" y="3641344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8544" y="3714496"/>
            <a:ext cx="10423245" cy="490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datetime</a:t>
            </a:r>
            <a:r>
              <a:rPr sz="1400" b="0" i="0">
                <a:solidFill>
                  <a:srgbClr val="1A1A1A"/>
                </a:solidFill>
                <a:latin typeface="Arial"/>
              </a:rPr>
              <a:t>: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date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datetime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timedelta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timezone</a:t>
            </a:r>
            <a:r>
              <a:rPr sz="1400" b="0" i="0">
                <a:solidFill>
                  <a:srgbClr val="1A1A1A"/>
                </a:solidFill>
                <a:latin typeface="Arial"/>
              </a:rPr>
              <a:t>. Format with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strftime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parse with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strptime</a:t>
            </a:r>
            <a:r>
              <a:rPr sz="1400" b="0" i="0">
                <a:solidFill>
                  <a:srgbClr val="1A1A1A"/>
                </a:solidFill>
                <a:latin typeface="Arial"/>
              </a:rPr>
              <a:t>/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fromisoformat</a:t>
            </a:r>
            <a:r>
              <a:rPr sz="1400" b="0" i="0">
                <a:solidFill>
                  <a:srgbClr val="1A1A1A"/>
                </a:solidFill>
                <a:latin typeface="Arial"/>
              </a:rPr>
              <a:t>. Prefer UTC; beware naive vs aware.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50 / 52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Key Takeaways (2 of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SUMMARY</a:t>
            </a:r>
          </a:p>
        </p:txBody>
      </p:sp>
      <p:sp>
        <p:nvSpPr>
          <p:cNvPr id="4" name="Oval 3"/>
          <p:cNvSpPr/>
          <p:nvPr/>
        </p:nvSpPr>
        <p:spPr>
          <a:xfrm>
            <a:off x="60990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8544" y="1856231"/>
            <a:ext cx="10423245" cy="490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random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produces pseudo-random data; seeding makes it repeatable, vital for reproducing test failures. It is not for security.</a:t>
            </a:r>
          </a:p>
        </p:txBody>
      </p:sp>
      <p:sp>
        <p:nvSpPr>
          <p:cNvPr id="6" name="Oval 5"/>
          <p:cNvSpPr/>
          <p:nvPr/>
        </p:nvSpPr>
        <p:spPr>
          <a:xfrm>
            <a:off x="609904" y="2437892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8544" y="2511044"/>
            <a:ext cx="10423245" cy="490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Handy extras: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time.perf_counter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for timing,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math.isclose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for float comparison,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platform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for OS details.</a:t>
            </a:r>
          </a:p>
        </p:txBody>
      </p:sp>
      <p:sp>
        <p:nvSpPr>
          <p:cNvPr id="8" name="Oval 7"/>
          <p:cNvSpPr/>
          <p:nvPr/>
        </p:nvSpPr>
        <p:spPr>
          <a:xfrm>
            <a:off x="609904" y="3092704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8544" y="3165856"/>
            <a:ext cx="10423245" cy="490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Next lesson: collaborative Git workflow (fetch, pull and push), moving the code you have organised into a shared repository.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51 / 52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Additional Resources</a:t>
            </a:r>
          </a:p>
        </p:txBody>
      </p:sp>
      <p:sp>
        <p:nvSpPr>
          <p:cNvPr id="3" name="Oval 2"/>
          <p:cNvSpPr/>
          <p:nvPr/>
        </p:nvSpPr>
        <p:spPr>
          <a:xfrm>
            <a:off x="60990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8544" y="1819656"/>
            <a:ext cx="10423245" cy="450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The Python Standard Library (index of all modules)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https://docs.python.org/3/library/</a:t>
            </a:r>
          </a:p>
        </p:txBody>
      </p:sp>
      <p:sp>
        <p:nvSpPr>
          <p:cNvPr id="5" name="Oval 4"/>
          <p:cNvSpPr/>
          <p:nvPr/>
        </p:nvSpPr>
        <p:spPr>
          <a:xfrm>
            <a:off x="609904" y="24347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8544" y="2471356"/>
            <a:ext cx="10423245" cy="450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datetime module reference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https://docs.python.org/3/library/datetime.html</a:t>
            </a:r>
          </a:p>
        </p:txBody>
      </p:sp>
      <p:sp>
        <p:nvSpPr>
          <p:cNvPr id="7" name="Oval 6"/>
          <p:cNvSpPr/>
          <p:nvPr/>
        </p:nvSpPr>
        <p:spPr>
          <a:xfrm>
            <a:off x="609904" y="3086481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8544" y="3123057"/>
            <a:ext cx="10423245" cy="450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os module reference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https://docs.python.org/3/library/os.html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52 / 52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earners Point">
  <a:themeElements>
    <a:clrScheme name="1_Network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1_Networ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I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I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1_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Learners Point" id="{5ABB7BE2-076F-42C1-9907-FD58862889C1}" vid="{2565D177-60C2-4381-BEC4-E0C09BB79CB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7540</Words>
  <Application>Microsoft Office PowerPoint</Application>
  <PresentationFormat>Widescreen</PresentationFormat>
  <Paragraphs>823</Paragraphs>
  <Slides>52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6" baseType="lpstr">
      <vt:lpstr>Arial</vt:lpstr>
      <vt:lpstr>Courier New</vt:lpstr>
      <vt:lpstr>Wingdings</vt:lpstr>
      <vt:lpstr>Learners Point</vt:lpstr>
      <vt:lpstr>Built-in Python Modules</vt:lpstr>
      <vt:lpstr>Learning Objectives</vt:lpstr>
      <vt:lpstr>Why This Matters</vt:lpstr>
      <vt:lpstr>The Concept</vt:lpstr>
      <vt:lpstr>The Standard Library: Batteries Included</vt:lpstr>
      <vt:lpstr>How to Explore a Module</vt:lpstr>
      <vt:lpstr>The os Module</vt:lpstr>
      <vt:lpstr>Building Paths Safely with os.path</vt:lpstr>
      <vt:lpstr>Creating, Renaming and Deleting</vt:lpstr>
      <vt:lpstr>Walking a Folder Tree</vt:lpstr>
      <vt:lpstr>Environment Variables</vt:lpstr>
      <vt:lpstr>Using Environment Variables</vt:lpstr>
      <vt:lpstr>Other Handy os Items</vt:lpstr>
      <vt:lpstr>pathlib: Paths as Objects</vt:lpstr>
      <vt:lpstr>More pathlib Operations</vt:lpstr>
      <vt:lpstr>sys.argv: Command-Line Arguments</vt:lpstr>
      <vt:lpstr>sys.exit: Exit Codes</vt:lpstr>
      <vt:lpstr>Standard Streams</vt:lpstr>
      <vt:lpstr>Interpreter and Platform Information</vt:lpstr>
      <vt:lpstr>The datetime Module</vt:lpstr>
      <vt:lpstr>Creating Values</vt:lpstr>
      <vt:lpstr>strftime Format Codes</vt:lpstr>
      <vt:lpstr>Formatting with strftime</vt:lpstr>
      <vt:lpstr>Parsing: strptime and fromisoformat</vt:lpstr>
      <vt:lpstr>Arithmetic with timedelta</vt:lpstr>
      <vt:lpstr>Comparing and Replacing</vt:lpstr>
      <vt:lpstr>Time Zones: A Note of Caution</vt:lpstr>
      <vt:lpstr>The random Module: Core Functions</vt:lpstr>
      <vt:lpstr>Seeds: Making Random Data Repeatable</vt:lpstr>
      <vt:lpstr>A Private Generator, and Not for Security</vt:lpstr>
      <vt:lpstr>time: Measuring and Pausing</vt:lpstr>
      <vt:lpstr>math and platform</vt:lpstr>
      <vt:lpstr>Code Examples</vt:lpstr>
      <vt:lpstr>Example 1: Timestamped Report Folder</vt:lpstr>
      <vt:lpstr>Example 2: Reproducible Random Users</vt:lpstr>
      <vt:lpstr>Example 2: Same Seed, Same Data</vt:lpstr>
      <vt:lpstr>Example 3: Is a Timestamp Recent?</vt:lpstr>
      <vt:lpstr>Example 4: Environment-Aware Config</vt:lpstr>
      <vt:lpstr>Example 4: Try It</vt:lpstr>
      <vt:lpstr>Example 5: Timing a Check</vt:lpstr>
      <vt:lpstr>Practice</vt:lpstr>
      <vt:lpstr>Practice Questions (1 of 3)</vt:lpstr>
      <vt:lpstr>Practice Questions (2 of 3)</vt:lpstr>
      <vt:lpstr>Practice Questions (3 of 3)</vt:lpstr>
      <vt:lpstr>Answers (1 of 5)</vt:lpstr>
      <vt:lpstr>Answers (2 of 5): A4</vt:lpstr>
      <vt:lpstr>Answers (3 of 5): A5 to A8</vt:lpstr>
      <vt:lpstr>Answers (4 of 5): A9 to A11</vt:lpstr>
      <vt:lpstr>Answers (5 of 5): A12</vt:lpstr>
      <vt:lpstr>Key Takeaways (1 of 2)</vt:lpstr>
      <vt:lpstr>Key Takeaways (2 of 2)</vt:lpstr>
      <vt:lpstr>Additional Resources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Learners Point Template</dc:title>
  <dc:creator>Learners Point</dc:creator>
  <cp:lastModifiedBy>Jasdhir Singh</cp:lastModifiedBy>
  <cp:revision>1</cp:revision>
  <dcterms:modified xsi:type="dcterms:W3CDTF">2026-10-17T09:34:46Z</dcterms:modified>
</cp:coreProperties>
</file>