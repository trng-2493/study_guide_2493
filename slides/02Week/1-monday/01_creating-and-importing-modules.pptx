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5" r:id="rId29"/>
    <p:sldId id="286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 and Importing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Create your own modules, import them four ways, and know how Python finds, runs and caches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201739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validators.py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187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84499" y="3520439"/>
            <a:ext cx="249745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import validators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733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915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main.py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Python module is and why splitting code into modules is a professional habit.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231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3317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your own module (a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file) and import it from another file.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97180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288036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four main import styles and know when each one is appropriate.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52043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42899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how Python finds modules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why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ModuleNotFoundError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happens.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06907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397763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if __name__ == "__main__":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guard so a file is both a module and a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61772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452628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Understand import execution (once, cached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avoid circular imports.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516635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" y="50749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Document a module with a docstring and control its public surface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This week hardens your Python: modules, exceptions, files, debugging and unit testing, then SQL and collaborative Git. Everything else assumes you can organise code across multiple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6974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 REAL TEST AUTOMATION FRAMEWORK HAS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3063239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" y="2971799"/>
            <a:ext cx="5870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file that reads test data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566159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" y="3474719"/>
            <a:ext cx="5870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file of helpers for validating responses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4069079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256" y="3977639"/>
            <a:ext cx="5870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file that handles configuration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572000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256" y="4480560"/>
            <a:ext cx="5870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file with the actual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464" y="3063239"/>
            <a:ext cx="4205325" cy="1920240"/>
          </a:xfrm>
          <a:prstGeom prst="roundRect">
            <a:avLst>
              <a:gd name="adj" fmla="val 4285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5064" y="3200399"/>
            <a:ext cx="374812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ANALOGY: A TOOLBOX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single messy drawer works for five tools. For five hundred you want labelled drawers. Each module is one labelled drawer,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opens the drawer you need.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34924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A module is the smallest unit of code organisation in Python, and the first tool a QE engineer uses to keep a growing automation suite maintainable.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Modules, import styles, the search path, import execution, and the __main__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Module?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module is a single Python file (ending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containing definitions and statements: functions, classes, variables, and possibly some runnable code. Its name is the file name without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926080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784" y="292608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330066"/>
                </a:solidFill>
                <a:latin typeface="Courier New"/>
              </a:rPr>
              <a:t>validators.py  -&gt;  module validators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9476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You have already been using modules: every </a:t>
            </a:r>
            <a:r>
              <a:rPr sz="1550" b="0" i="0">
                <a:solidFill>
                  <a:srgbClr val="5A5A5A"/>
                </a:solidFill>
                <a:latin typeface="Courier New"/>
              </a:rPr>
              <a:t>import math</a:t>
            </a:r>
            <a:r>
              <a:rPr sz="1600" b="0" i="0">
                <a:solidFill>
                  <a:srgbClr val="5A5A5A"/>
                </a:solidFill>
                <a:latin typeface="Arial"/>
              </a:rPr>
              <a:t> or </a:t>
            </a:r>
            <a:r>
              <a:rPr sz="1550" b="0" i="0">
                <a:solidFill>
                  <a:srgbClr val="5A5A5A"/>
                </a:solidFill>
                <a:latin typeface="Courier New"/>
              </a:rPr>
              <a:t>import random</a:t>
            </a:r>
            <a:r>
              <a:rPr sz="1600" b="0" i="0">
                <a:solidFill>
                  <a:srgbClr val="5A5A5A"/>
                </a:solidFill>
                <a:latin typeface="Arial"/>
              </a:rPr>
              <a:t> loads a module someone else wrote. Today you learn to write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Modules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1. Organisation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Group related code together (all string validation in one place).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2. Reuse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Write a function once, import it everywhere. No copy-paste.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3. Namespace separation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Each module is its own namespace: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csv_loader.load()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json_loader.load()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do not clash.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4. Collaboration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Different people edit different files with fewer merge conflicts.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5. Testability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Small, focused modules are far easier to unit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 Your First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PROJECT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Create a folder anywhere (say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modules_lab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and put files inside it. This layout is used throughout the lesson.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modules_lab/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640080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599846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modules_lab/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├── validators.py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├── 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6464" y="2523744"/>
            <a:ext cx="42053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validators.py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the module (helper functions for validating test data)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main.py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the file that imports and uses it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Both files sit in the same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Step 1: Write validators.py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1 OF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3142488"/>
          </a:xfrm>
          <a:prstGeom prst="roundRect">
            <a:avLst>
              <a:gd name="adj" fmla="val 232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284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"""validators.py - small helper functions for validating test data.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These helpers are used to check values that come back from an application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under test (for example an API response or a form field).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MAX_USERNAME_LENGTH = 20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is_valid_username(name):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"""Return True if name is a non-empty string of letters/digits/underscores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that is not longer than MAX_USERNAME_LENGTH."""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not isinstance(name, str) or name == "":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len(name) &gt; MAX_USERNAME_LENGTH: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name.replace("_", "").isalnum()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Module docstring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Must be the first statement.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help(validators)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reads it.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669794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Module-level variable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UPPER_CASE signals a constant by convention; Python does not enforce it.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6817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718369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isinstance(name, str)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Checked first: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.replace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or a number would crash.</a:t>
            </a:r>
          </a:p>
        </p:txBody>
      </p:sp>
      <p:sp>
        <p:nvSpPr>
          <p:cNvPr id="12" name="Oval 11"/>
          <p:cNvSpPr/>
          <p:nvPr/>
        </p:nvSpPr>
        <p:spPr>
          <a:xfrm>
            <a:off x="8199424" y="45319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64" y="4568507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.replace("_", "").isalnum()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Removes underscores, then checks letters/digits: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"qa_user_1"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valid,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"qa-user"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Step 1: Write validators.py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2 OF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578607"/>
          </a:xfrm>
          <a:prstGeom prst="roundRect">
            <a:avLst>
              <a:gd name="adj" fmla="val 28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285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is_valid_email(email):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"""A deliberately simple email check: one '@' with text on both sides and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 '.' somewhere after the '@'. (Real-world email validation is harder.)"""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not isinstance(email, str) or email.count("@") != 1: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local, domain = email.split("@")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bool(local) and "." in domain and not domain.startswith(".") and not domain.endswith(".")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is_positive_int(value):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"""Return True only for real ints greater than zero (bool is excluded)."""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isinstance(value, int) and not isinstance(value, bool) and value &gt; 0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4681727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" y="4590288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email.count("@") != 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rejects zero or several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@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email.split("@")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then unpacks into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local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domain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5212079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" y="5120640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bool(local)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an empty string,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"@example.com"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fails.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5742431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256" y="5650992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isinstance(True, int)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bool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subclasses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so booleans are excluded: a JSON API returning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a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Step 2: Import and Use the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MAIN.PY (SAME FOLDER)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583680" cy="1755648"/>
          </a:xfrm>
          <a:prstGeom prst="roundRect">
            <a:avLst>
              <a:gd name="adj" fmla="val 416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181344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validators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print(validators.is_valid_username("qa_user_1"))   # True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print(validators.is_valid_username("qa-user"))     # False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print(validators.is_valid_email("tester@example.com"))  # True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print(validators.is_positive_int(5))               # True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print(validators.is_positive_int(True))            # False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print(validators.MAX_USERNAME_LENGTH)              #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9344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EXPECTED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9344" y="2057400"/>
            <a:ext cx="4023360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60512" y="2203704"/>
            <a:ext cx="362102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False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False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0873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RUN IT FROM INSIDE THE 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379976"/>
            <a:ext cx="292608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" y="437997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main.py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1744" y="4133087"/>
            <a:ext cx="768004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30344" y="4270248"/>
            <a:ext cx="722284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WINDOWS NOTE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 Windows you may need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 main.py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on macOS/Linux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python3 main.py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Use whichever works on your machine.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What Happened on import validators?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874519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20" y="1945401"/>
            <a:ext cx="10386669" cy="2788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 dirty="0">
                <a:solidFill>
                  <a:srgbClr val="1A1A1A"/>
                </a:solidFill>
                <a:latin typeface="Arial"/>
              </a:rPr>
              <a:t>Searched for something named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</a:t>
            </a:r>
            <a:r>
              <a:rPr lang="en-US" sz="1700" b="0" i="0">
                <a:solidFill>
                  <a:srgbClr val="1A1A1A"/>
                </a:solidFill>
                <a:latin typeface="Arial"/>
              </a:rPr>
              <a:t>.</a:t>
            </a:r>
            <a:endParaRPr sz="1700" b="0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9904" y="2532887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5120" y="2441447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Found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validators.py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the current folder.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91256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5120" y="3099815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Executed the whole file top to bottom, creating the function objects and the constant.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849624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5120" y="3758184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Created a module object named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bound it to that name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main.py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709160"/>
            <a:ext cx="10971885" cy="1060704"/>
          </a:xfrm>
          <a:prstGeom prst="roundRect">
            <a:avLst>
              <a:gd name="adj" fmla="val 775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" y="4846320"/>
            <a:ext cx="1051468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DOT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validators.is_valid_username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the name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is_valid_username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that lives inside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 namespace. The dot is how you reach inside a module.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Style 1: import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IMPORT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validators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validators.is_valid_email("a@b.com")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Brings in the module object only; you always prefix with the module name.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Pros: always obvious where a function came from. No name clashes.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Cons: slightly more typing.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A1A1A"/>
                </a:solidFill>
                <a:latin typeface="Arial"/>
              </a:rPr>
              <a:t>When to use: the default choice. Prefer this when in doubt.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Style 2: from module import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IMPORT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validators import is_valid_email, is_positive_int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is_valid_email("a@b.com")      # no prefix needed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is_positive_int(3)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051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Wrap long import lists in parentheses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325367"/>
            <a:ext cx="64008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3471672"/>
            <a:ext cx="59984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validators import (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is_valid_email,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is_valid_username,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is_positive_int,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Brings only the names you list directly into your namespace.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Pros: shorter calls; a clear list of what you depend on at the top of the file.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Cons: importing two same-named functions from two modules: the second silently replaces the first. Origin is less obvious.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A1A1A"/>
                </a:solidFill>
                <a:latin typeface="Arial"/>
              </a:rPr>
              <a:t>When to use: a few names used repeatedly, and the names are unambiguous.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Style 3: import module as 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IMPORT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validators as 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v.is_valid_username("qa_user")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8529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Alias a single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127248"/>
            <a:ext cx="64008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3273552"/>
            <a:ext cx="59984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validators import is_valid_email as check_email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380085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Handy to resolve a name clash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075175"/>
            <a:ext cx="640080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" y="4221480"/>
            <a:ext cx="5998464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csv_loader import load as load_csv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json_loader import load as load_json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Gives the module a shorter nickname.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for long module names or well-known conventions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numpy as np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Do not invent cryptic aliases like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your own modules: readability beats saved keystrokes.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Style 4: from module import * (avoid 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IMPORT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521208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validators import 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Imports every public name into your namespace.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Why discouraged: you can no longer tell where a name came from, it can silently overwrite your own variables, and linters cannot warn about undefined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Acceptable: interactive experiments in the shell, and rarely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files (next lesson).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Import Styles: Quick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352038"/>
        </p:xfrm>
        <a:graphic>
          <a:graphicData uri="http://schemas.openxmlformats.org/drawingml/2006/table">
            <a:tbl>
              <a:tblPr/>
              <a:tblGrid>
                <a:gridCol w="3730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lands in your namespace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Call looks like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Recommended?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import validators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validators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validators.is_valid_email(x)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Yes (default)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from validators import is_valid_email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is_valid_email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is_valid_email(x)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Yes, in moderation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import validators as 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v.is_valid_email(x)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For long names/conventions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from validators import *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every public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is_valid_email(x)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Avoid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PEP 8 Import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requests          # third-party (installed via pip)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validators        # your own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PEP 8 is the official Python style guide.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Put imports at the top of the file (after the module docstring).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import on its own line: not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os, sys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 with a blank line between: standard library, third-party (pip), your own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Python Finds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SYS.PATH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B03A2E"/>
                </a:solidFill>
                <a:latin typeface="Arial"/>
              </a:rPr>
              <a:t>A VERY COMMON BEGINNER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BEDE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ModuleNotFoundError: No module named 'validators'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26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When you write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import validators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Python looks in this order: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2900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832" y="333756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a dictionary cache of modules already imported in this run. If found, reuse it.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406908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6832" y="397764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Built-in modules compiled into the interpreter (like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7091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6832" y="46177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Each folder listed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in order, looking for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validators.py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(or a package folder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sys.path Is Just a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Print it to see where Python searches. Typical contents (yours will differ):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for entry in sys.path: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print(entry)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folder containing the script you ran (first entry: why side-by-side imports work).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standard library folder(s).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folder of the current Python or virtual environment (where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install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puts code).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Any folders listed in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PYTHONPATH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environment variable.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You Get ModuleNotFoundError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121533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Typo in the module name (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validater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Fix the spelling; names are case-sensitive on Linux/macOS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The file is in a different folder not on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sys.path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Move it, or run from the right folder, or organise as a package (next lesson)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It is a third-party library you have not installed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pip install &lt;name&gt;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inside your active 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You installed the library into a different Python than the one running your script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Use a virtual environment and check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pip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which python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The file name contains a hyphen or space (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my-validators.py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Use letters, digits and underscores only: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my_validators.py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Adding a Folder at Run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sys.path.append("/path/to/my/shared/helpers")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something_there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This works, but it is a last resort.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real projects you structure packages properly or install your code instead of editing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Shadowing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Never name your own file the same as a standard library or installed module. The script folder is first on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so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import random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loads your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random.py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standard code breaks in confusing 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880360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BEDE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3026664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AttributeError: module 'random' has no attribute 'randint'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033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ALSO AVOID THESE FILE NAMES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06908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random.py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6096" y="406908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json.py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2832" y="406908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test.py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9568" y="406908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email.py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6032" y="40690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csv.py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3040" y="4069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logging.py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8960" y="406908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30066"/>
                </a:solidFill>
                <a:latin typeface="Arial"/>
              </a:rPr>
              <a:t>types.py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Importing Runs the Module (Once)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noisy.py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print("noisy.py is being executed")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hello():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"hello"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948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use_noisy.py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69208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715512"/>
            <a:ext cx="59984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noisy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noisy      # second import: nothing printed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print(noisy.hello())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8066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5081016"/>
            <a:ext cx="640080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5227320"/>
            <a:ext cx="599846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noisy.py is being executed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hello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Importing executes the module's top-level code.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message appears once, not twice.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After the first import, the module object is stored in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dictionary.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Later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noisy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statements anywhere in the program fetch the cached object.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__name__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 · THE __MAIN__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Every module has a built-in variable called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whoami.py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64008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59984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print("My __name__ is:", __name__)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18515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Run it two 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459479"/>
            <a:ext cx="64008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3605783"/>
            <a:ext cx="599846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whoami.py          # My __name__ is: __main__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-c "import whoami" # My __name__ is: whoami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Imported: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module's name (for example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"validators"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directly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python validators.py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special string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"__main__"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Adding the Guard to validators.py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Add this to the bottom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validators.py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2197608"/>
          </a:xfrm>
          <a:prstGeom prst="roundRect">
            <a:avLst>
              <a:gd name="adj" fmla="val 332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190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    # This block only runs when you do:  python validators.py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print("Running quick self-check...")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is_valid_username("qa_user_1") is True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is_valid_username("") is False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is_valid_email("a@b.com") is True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is_valid_email("nope") is False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is_positive_int(1) is True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assert is_positive_int(0) is False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print("All checks passed.")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python validators.py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Running quick self-check...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All checks passed.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import 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main.py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does not run the block: only the definitions are loaded.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It Matters: main()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professional pattern wraps script behaviour in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main()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dirty="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400" dirty="0">
                <a:solidFill>
                  <a:srgbClr val="1A1A1A"/>
                </a:solidFill>
                <a:latin typeface="Courier New"/>
              </a:rPr>
              <a:t>    print("Doing the real work")</a:t>
            </a:r>
          </a:p>
          <a:p>
            <a:pPr algn="l">
              <a:lnSpc>
                <a:spcPct val="100000"/>
              </a:lnSpc>
            </a:pPr>
            <a:r>
              <a:rPr sz="1400" dirty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dirty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dirty="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400" dirty="0">
                <a:solidFill>
                  <a:srgbClr val="1A1A1A"/>
                </a:solidFill>
                <a:latin typeface="Courier New"/>
              </a:rPr>
              <a:t>    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same file acts as a library (importable without side effects) and a program (runnable from the command line).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 frameworks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later) import your modules to test them. The guard stops your workflow running on every import.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093208"/>
            <a:ext cx="10971885" cy="1060704"/>
          </a:xfrm>
          <a:prstGeom prst="roundRect">
            <a:avLst>
              <a:gd name="adj" fmla="val 775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5230368"/>
            <a:ext cx="1051468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ASIDE - ASSERT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assert condition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does nothing when true and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false. Covered properly on Tuesday; for now treat it as "shout if this is not true".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Inspecting a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Tools to look inside a module, useful when exploring unfamiliar code: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466088"/>
          </a:xfrm>
          <a:prstGeom prst="roundRect">
            <a:avLst>
              <a:gd name="adj" fmla="val 49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1173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validators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print(validators.__name__)     # validators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print(validators.__file__)     # full path to validators.py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print(validators.__doc__)      # the module docstring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print(dir(validators))         # list of names defined in the module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help(validators)               # formatted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dir(validators)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lists your three functions,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MAX_USERNAME_LENGTH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built-in dunder names such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__file__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help(validators)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shows formatted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Circular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Module A imports module B, and module B imports module 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40280"/>
            <a:ext cx="530306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514600"/>
            <a:ext cx="5303062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60904"/>
            <a:ext cx="4900726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b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func_a():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"A"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2240280"/>
            <a:ext cx="530306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514600"/>
            <a:ext cx="5303062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9895" y="2660904"/>
            <a:ext cx="4900726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func_b():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a.func_a() + "B"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379476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B03A2E"/>
                </a:solidFill>
                <a:latin typeface="Arial"/>
              </a:rPr>
              <a:t>WITH from a import func_a AT THE TOP OF BOTH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069080"/>
            <a:ext cx="10971885" cy="460248"/>
          </a:xfrm>
          <a:prstGeom prst="roundRect">
            <a:avLst>
              <a:gd name="adj" fmla="val 15894"/>
            </a:avLst>
          </a:prstGeom>
          <a:solidFill>
            <a:srgbClr val="FBEDE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" y="4215384"/>
            <a:ext cx="10569549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ImportError: cannot import name 'func_a' from partially initialized module 'a' (most likely due to a circular import)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475488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Why? Python starts executing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hits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import 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pauses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starts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which tries to get something from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that has not been defined yet (because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paused halfway).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Avoiding Circular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Redesign (the best fix)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If A and B need each other, the shared piece probably belongs in a third module C that both import (A -&gt; C &lt;- B).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522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888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Local import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Import inside the function that needs it, as a short-term workaround.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19932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Prefer </a:t>
            </a:r>
            <a:r>
              <a:rPr sz="1500" b="1" i="0">
                <a:solidFill>
                  <a:srgbClr val="330066"/>
                </a:solidFill>
                <a:latin typeface="Courier New"/>
              </a:rPr>
              <a:t>import module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Attribute lookups then happen later, at call time, rather than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module import name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43484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RULE OF THUMB: KEEP DEPENDENCIES FLOWING IN ONE DIRECTION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800600"/>
            <a:ext cx="112928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30628" y="491032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196388" y="4800600"/>
            <a:ext cx="274228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330066"/>
                </a:solidFill>
                <a:latin typeface="Arial"/>
              </a:rPr>
              <a:t>framework helpers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30114" y="491032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95874" y="4800600"/>
            <a:ext cx="166695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330066"/>
                </a:solidFill>
                <a:latin typeface="Arial"/>
              </a:rPr>
              <a:t>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4406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Utilities should never import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Common Mistakes and How to Fix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148584"/>
        </p:xfrm>
        <a:graphic>
          <a:graphicData uri="http://schemas.openxmlformats.org/drawingml/2006/table">
            <a:tbl>
              <a:tblPr/>
              <a:tblGrid>
                <a:gridCol w="438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Naming a file after a standard module (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random.py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Strange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AttributeError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Rename your file; delete stale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__pycache__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folder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Using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from x import *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everywhere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Unknown names, overwritten variables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Import explicit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Running code at import 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Slow tests, side effects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Move into functions, guard with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__main__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Circular imports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ImportError ... partially initialized 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Move shared code to a third 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Running a script from the wrong folder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ModuleNotFoundError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cd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into the project root, or use packages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File named with hyphen (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my-module.py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SyntaxError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on import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Use underscores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Editing a module in an interactive session and expecting auto-update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Old behaviour persists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Restart or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importlib.reload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184648"/>
            <a:ext cx="10971885" cy="777240"/>
          </a:xfrm>
          <a:prstGeom prst="roundRect">
            <a:avLst>
              <a:gd name="adj" fmla="val 1058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321808"/>
            <a:ext cx="105146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ABOUT __PYCACHE__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__pycache__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holds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.pyc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bytecode caches that speed up later imports. Safe to delete; list it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runnable mini-project, sys.modules in action, and resolving name clashes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1: test_data.py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QA_DEMO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4293108"/>
          </a:xfrm>
          <a:prstGeom prst="roundRect">
            <a:avLst>
              <a:gd name="adj" fmla="val 170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400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"""test_data.py - generates predictable test data."""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random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DEFAULT_DOMAIN = "example.com"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make_username(index):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"""Return a predictable username such as 'qa_user_3'."""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f"qa_user_{index}"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make_email(index, domain=DEFAULT_DOMAIN):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"""Return an email address for the given index."""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f"{make_username(index)}@{domain}"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random_age(minimum=18, maximum=65, seed=None):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"""Return a random age; pass a seed for repeatable results."""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rng = random.Random(seed)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rng.randint(minimum, maximum)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print(make_username(1), make_email(1), random_age(seed=42))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random.Random(seed)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Its own generator, so seeded results do not interfere with other code.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868231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domain=DEFAULT_DOMAIN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default argument using the module-level constant; callers can override it.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8802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916807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Naming tip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Runners treat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test_*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files as tests; prefer helper names like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data_factory.py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1: run_demo.py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QA_DEMO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run_demo.py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2426208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213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test_data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test_data import make_email as email_for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print(test_data.make_username(7))        # qa_user_7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print(email_for(7))                      # qa_user_7@example.com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print(email_for(7, domain="qa.test"))    # qa_user_7@qa.test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print(test_data.random_age(seed=1) == test_data.random_age(seed=1))  # True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last line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the same seed produces the same number every 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That is exactly the kind of repeatability test data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Example 2: sys.modules and __name__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68096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278624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validators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print(validators.__name__)           # validators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print("validators" in sys.modules)   # True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print(sys.modules["validators"] is validators)   # True: same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2160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Example 3: resolving a name clash with aliases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95928"/>
            <a:ext cx="768096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142232"/>
            <a:ext cx="727862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csv import reader as csv_reader      # standard library csv module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json import load as json_load        # standard library json module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Both are clearly named; neither hides the other.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print(csv_reader, json_load)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6624" y="1783080"/>
            <a:ext cx="29251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sys.modules["validators"] is 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the cache holds the same object.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aliases are clearly named; neither hides the other.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will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csv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json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heavily tomorrow.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457200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Concept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What is the difference between a module and a script? Can one file be both?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04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41231"/>
            <a:ext cx="457200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Predict the output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What does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app.py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print? What does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greet.py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3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greet.py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304" y="2057400"/>
            <a:ext cx="548640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7472" y="2203704"/>
            <a:ext cx="5084064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print("loading greet")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hello():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"hi"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print("running directly")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304" y="39197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app.py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304" y="4194048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7472" y="4340352"/>
            <a:ext cx="50840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greet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greet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print(greet.hello())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Fix the 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teammate named their helper file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random.py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now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import random; random.randint(1, 5)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crashes. Why? How do you fix it?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522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88856"/>
            <a:ext cx="10423245" cy="1006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Write code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Create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string_tools.py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slugify(text)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lowercase, strip whitespace, replace spaces with hyphens. Add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__main__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guard that prints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slugify("  Login Page Test 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Import it with both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import string_tools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string_tools import slugify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95960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996182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Choose the style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Which import style, and why? (a) One function once, from a module with a very long name. (b) Two modules that both define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load()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(c) Typing in the interactive shell to explore.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ModuleNotFoundError: No module named 'helpers'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occurs when running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tests/run_tests.py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but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helpers.py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in the project root. Give two possible fixes. (Hint: what is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sys.path[0]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?)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522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888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Design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Module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b import f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a import 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Explain the failure and propose a redesign.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721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758057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Challenge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Add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string_tools.py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containing only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slugify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and a private helper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_collapse_spaces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Show how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string_tools import *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behaves.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(1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module is any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file considered as something to import; a script is a file you run directly. One file can be both: use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if __name__ == "__main__":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guard.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06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79370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python app.py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loading greet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once (the second import uses the cache), then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hi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greet.py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loading greet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running directly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29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302508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script's folder is first on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import random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finds the local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random.py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which has no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randint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Rename it (e.g.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random_helpers.py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and delete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__pycache__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(2 of 4):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string_tools.py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string_tools.py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slugify(text):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"""Turn 'Login Page Test' into 'login-page-test'."""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"-".join(text.strip().lower().split())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print(slugify("  Login Page Test "))   # login-page-test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1178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Using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392168"/>
            <a:ext cx="64008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538472"/>
            <a:ext cx="59984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string_tools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print(string_tools.slugify("A B"))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string_tools import slugify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print(slugify("A B"))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"-".join(text.strip().lower().split())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also collapses multiple spaces.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split()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no argument splits on any run of whitespace.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(3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(a)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from long_module_name import the_function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import long_module_name as lmn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). (b)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import csv_loader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import json_loader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call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csv_loader.load()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json_loader.load()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or alias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(c)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from module import *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tolerable in the shell; plain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import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still fine.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2053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93682"/>
            <a:ext cx="10423245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Running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tests/run_tests.py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makes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sys.path[0]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the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tests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folder. Fixes: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-m tests.run_tests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from the root (needs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tests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as a package; next lesson); move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helpers.py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next to the script; append the root to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(last resort); or make the code an installable package (best long term).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6579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731132"/>
            <a:ext cx="10423245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starts importing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which immediately tries to import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from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before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has finished, so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does not exist yet: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ImportError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Redesign: move the shared code into a third module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that both import.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(4 of 4): A8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__all__ = ["slugify"]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_collapse_spaces(text):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" ".join(text.split())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slugify(text):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_collapse_spaces(text).lower().replace(" ", "-")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from string_tools import *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brings in only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slugify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string_tools._collapse_spaces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still works if accessed with the module prefix.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module is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file; its name is the file name without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Modules give organisation, reuse, namespaces, collaboration and testability.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Import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module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(default),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 module import 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(a few unambiguous names),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module as alias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Avoid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 module import *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Python finds modules via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(cache), built-ins, then each entry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ModuleNotFoundError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the name was not found there.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Never name your files after standard library modules.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2961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36930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Importing executes the module once; the result is cached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shared.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if __name__ == "__main__":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so a file is both importable and runnable; keep top-level code free of side effects.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docstrings, underscore-prefixed helper names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communicate a module's public interface.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Avoid circular imports: keep dependencies one-directional and extract shared code into another module.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lesson: Python packages, which are folders of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 - Modules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https://docs.python.org/3/tutorial/modules.html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The Python Language Reference - The import system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https://docs.python.org/3/reference/import.html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PEP 8 - Style Guide for Python Code (Imports section)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https://peps.python.org/pep-0008/#imports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5223</Words>
  <Application>Microsoft Office PowerPoint</Application>
  <PresentationFormat>Widescreen</PresentationFormat>
  <Paragraphs>653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Courier New</vt:lpstr>
      <vt:lpstr>Wingdings</vt:lpstr>
      <vt:lpstr>Learners Point</vt:lpstr>
      <vt:lpstr>Creating and Importing Modules</vt:lpstr>
      <vt:lpstr>Learning Objectives</vt:lpstr>
      <vt:lpstr>Why This Matters</vt:lpstr>
      <vt:lpstr>The Concept</vt:lpstr>
      <vt:lpstr>What Is a Module?</vt:lpstr>
      <vt:lpstr>Why Modules Exist</vt:lpstr>
      <vt:lpstr>Creating Your First Module</vt:lpstr>
      <vt:lpstr>Step 1: Write validators.py</vt:lpstr>
      <vt:lpstr>Step 1: Write validators.py</vt:lpstr>
      <vt:lpstr>Step 2: Import and Use the Module</vt:lpstr>
      <vt:lpstr>What Happened on import validators?</vt:lpstr>
      <vt:lpstr>Style 1: import module</vt:lpstr>
      <vt:lpstr>Style 2: from module import name</vt:lpstr>
      <vt:lpstr>Style 3: import module as alias</vt:lpstr>
      <vt:lpstr>Style 4: from module import * (avoid it)</vt:lpstr>
      <vt:lpstr>Import Styles: Quick Comparison</vt:lpstr>
      <vt:lpstr>PEP 8 Import Conventions</vt:lpstr>
      <vt:lpstr>How Python Finds Modules</vt:lpstr>
      <vt:lpstr>sys.path Is Just a List</vt:lpstr>
      <vt:lpstr>Why You Get ModuleNotFoundError</vt:lpstr>
      <vt:lpstr>Adding a Folder at Run Time</vt:lpstr>
      <vt:lpstr>The Shadowing Trap</vt:lpstr>
      <vt:lpstr>Importing Runs the Module (Once)</vt:lpstr>
      <vt:lpstr>The __name__ Variable</vt:lpstr>
      <vt:lpstr>Adding the Guard to validators.py</vt:lpstr>
      <vt:lpstr>Why It Matters: main()</vt:lpstr>
      <vt:lpstr>Inspecting a Module</vt:lpstr>
      <vt:lpstr>Circular Imports</vt:lpstr>
      <vt:lpstr>Avoiding Circular Imports</vt:lpstr>
      <vt:lpstr>Common Mistakes and How to Fix Them</vt:lpstr>
      <vt:lpstr>Code Examples</vt:lpstr>
      <vt:lpstr>Example 1: test_data.py</vt:lpstr>
      <vt:lpstr>Example 1: run_demo.py</vt:lpstr>
      <vt:lpstr>Examples 2 and 3</vt:lpstr>
      <vt:lpstr>Practice</vt:lpstr>
      <vt:lpstr>Practice Questions (1 of 3)</vt:lpstr>
      <vt:lpstr>Practice Questions (2 of 3)</vt:lpstr>
      <vt:lpstr>Practice Questions (3 of 3)</vt:lpstr>
      <vt:lpstr>Answers (1 of 4)</vt:lpstr>
      <vt:lpstr>Answers (2 of 4): A4</vt:lpstr>
      <vt:lpstr>Answers (3 of 4)</vt:lpstr>
      <vt:lpstr>Answers (4 of 4): A8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6</cp:revision>
  <dcterms:modified xsi:type="dcterms:W3CDTF">2026-10-18T15:43:43Z</dcterms:modified>
</cp:coreProperties>
</file>