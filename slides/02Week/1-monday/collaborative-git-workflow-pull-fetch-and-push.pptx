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sldSz cx="12192000" cy="6858000"/>
  <p:notesSz cx="6858000" cy="9144000"/>
  <p:defaultTextStyle>
    <a:defPPr>
      <a:defRPr lang="en-IN"/>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66562" name="Line 2"/>
          <p:cNvSpPr>
            <a:spLocks noChangeShapeType="1"/>
          </p:cNvSpPr>
          <p:nvPr/>
        </p:nvSpPr>
        <p:spPr bwMode="auto">
          <a:xfrm>
            <a:off x="9753600" y="1066800"/>
            <a:ext cx="0" cy="175260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1800"/>
          </a:p>
        </p:txBody>
      </p:sp>
      <p:sp>
        <p:nvSpPr>
          <p:cNvPr id="66563" name="Rectangle 3"/>
          <p:cNvSpPr>
            <a:spLocks noGrp="1" noChangeArrowheads="1"/>
          </p:cNvSpPr>
          <p:nvPr>
            <p:ph type="ctrTitle"/>
          </p:nvPr>
        </p:nvSpPr>
        <p:spPr>
          <a:xfrm>
            <a:off x="1016000" y="457200"/>
            <a:ext cx="8519584" cy="2133600"/>
          </a:xfrm>
        </p:spPr>
        <p:txBody>
          <a:bodyPr/>
          <a:lstStyle>
            <a:lvl1pPr>
              <a:defRPr/>
            </a:lvl1pPr>
          </a:lstStyle>
          <a:p>
            <a:pPr lvl="0"/>
            <a:r>
              <a:rPr lang="en-US" altLang="en-US" noProof="0"/>
              <a:t>Click to edit Master title style</a:t>
            </a:r>
          </a:p>
        </p:txBody>
      </p:sp>
      <p:sp>
        <p:nvSpPr>
          <p:cNvPr id="66564" name="Rectangle 4"/>
          <p:cNvSpPr>
            <a:spLocks noGrp="1" noChangeArrowheads="1"/>
          </p:cNvSpPr>
          <p:nvPr>
            <p:ph type="subTitle" idx="1"/>
          </p:nvPr>
        </p:nvSpPr>
        <p:spPr>
          <a:xfrm>
            <a:off x="1132417" y="3049588"/>
            <a:ext cx="8331200" cy="2362200"/>
          </a:xfrm>
        </p:spPr>
        <p:txBody>
          <a:bodyPr/>
          <a:lstStyle>
            <a:lvl1pPr marL="0" indent="0" algn="r">
              <a:buFont typeface="Wingdings" panose="05000000000000000000" pitchFamily="2" charset="2"/>
              <a:buNone/>
              <a:defRPr/>
            </a:lvl1pPr>
          </a:lstStyle>
          <a:p>
            <a:pPr lvl="0"/>
            <a:r>
              <a:rPr lang="en-US" altLang="en-US" noProof="0"/>
              <a:t>Click to edit Master subtitle style</a:t>
            </a:r>
          </a:p>
        </p:txBody>
      </p:sp>
      <p:sp>
        <p:nvSpPr>
          <p:cNvPr id="66565" name="Rectangle 5"/>
          <p:cNvSpPr>
            <a:spLocks noGrp="1" noChangeArrowheads="1"/>
          </p:cNvSpPr>
          <p:nvPr>
            <p:ph type="dt" sz="half" idx="2"/>
          </p:nvPr>
        </p:nvSpPr>
        <p:spPr/>
        <p:txBody>
          <a:bodyPr/>
          <a:lstStyle>
            <a:lvl1pPr>
              <a:defRPr/>
            </a:lvl1pPr>
          </a:lstStyle>
          <a:p>
            <a:fld id="{F304A9D6-1313-4D51-A62E-402D441D9A7B}" type="datetime1">
              <a:rPr lang="en-US" smtClean="0"/>
              <a:t>10/14/2025</a:t>
            </a:fld>
            <a:endParaRPr lang="en-US"/>
          </a:p>
        </p:txBody>
      </p:sp>
      <p:sp>
        <p:nvSpPr>
          <p:cNvPr id="66566" name="Rectangle 6"/>
          <p:cNvSpPr>
            <a:spLocks noGrp="1" noChangeArrowheads="1"/>
          </p:cNvSpPr>
          <p:nvPr>
            <p:ph type="ftr" sz="quarter" idx="3"/>
          </p:nvPr>
        </p:nvSpPr>
        <p:spPr/>
        <p:txBody>
          <a:bodyPr/>
          <a:lstStyle>
            <a:lvl1pPr>
              <a:defRPr/>
            </a:lvl1pPr>
          </a:lstStyle>
          <a:p>
            <a:endParaRPr lang="en-US"/>
          </a:p>
        </p:txBody>
      </p:sp>
      <p:sp>
        <p:nvSpPr>
          <p:cNvPr id="66567" name="Rectangle 7"/>
          <p:cNvSpPr>
            <a:spLocks noGrp="1" noChangeArrowheads="1"/>
          </p:cNvSpPr>
          <p:nvPr>
            <p:ph type="sldNum" sz="quarter" idx="4"/>
          </p:nvPr>
        </p:nvSpPr>
        <p:spPr/>
        <p:txBody>
          <a:bodyPr/>
          <a:lstStyle>
            <a:lvl1pPr>
              <a:defRPr/>
            </a:lvl1pPr>
          </a:lstStyle>
          <a:p>
            <a:fld id="{83385899-0B10-4821-AAA8-DC5305EDD7F2}" type="slidenum">
              <a:rPr lang="en-US" smtClean="0"/>
              <a:t>‹#›</a:t>
            </a:fld>
            <a:endParaRPr lang="en-US"/>
          </a:p>
        </p:txBody>
      </p:sp>
      <p:sp>
        <p:nvSpPr>
          <p:cNvPr id="66568" name="Line 8"/>
          <p:cNvSpPr>
            <a:spLocks noChangeShapeType="1"/>
          </p:cNvSpPr>
          <p:nvPr/>
        </p:nvSpPr>
        <p:spPr bwMode="auto">
          <a:xfrm>
            <a:off x="1117600" y="2819400"/>
            <a:ext cx="8636000" cy="0"/>
          </a:xfrm>
          <a:prstGeom prst="line">
            <a:avLst/>
          </a:prstGeom>
          <a:noFill/>
          <a:ln w="63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1800"/>
          </a:p>
        </p:txBody>
      </p:sp>
      <p:grpSp>
        <p:nvGrpSpPr>
          <p:cNvPr id="66569" name="Group 9" descr="decorative graphic made up of dots"/>
          <p:cNvGrpSpPr>
            <a:grpSpLocks/>
          </p:cNvGrpSpPr>
          <p:nvPr/>
        </p:nvGrpSpPr>
        <p:grpSpPr bwMode="auto">
          <a:xfrm>
            <a:off x="9956801" y="1219200"/>
            <a:ext cx="1056217" cy="1295400"/>
            <a:chOff x="5136" y="960"/>
            <a:chExt cx="528" cy="864"/>
          </a:xfrm>
        </p:grpSpPr>
        <p:sp>
          <p:nvSpPr>
            <p:cNvPr id="66570" name="Oval 10"/>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1" name="Oval 11"/>
            <p:cNvSpPr>
              <a:spLocks noChangeArrowheads="1"/>
            </p:cNvSpPr>
            <p:nvPr/>
          </p:nvSpPr>
          <p:spPr bwMode="auto">
            <a:xfrm>
              <a:off x="5248"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2" name="Oval 12"/>
            <p:cNvSpPr>
              <a:spLocks noChangeArrowheads="1"/>
            </p:cNvSpPr>
            <p:nvPr/>
          </p:nvSpPr>
          <p:spPr bwMode="auto">
            <a:xfrm>
              <a:off x="5360"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3" name="Oval 13"/>
            <p:cNvSpPr>
              <a:spLocks noChangeArrowheads="1"/>
            </p:cNvSpPr>
            <p:nvPr/>
          </p:nvSpPr>
          <p:spPr bwMode="auto">
            <a:xfrm>
              <a:off x="5136"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4" name="Oval 14"/>
            <p:cNvSpPr>
              <a:spLocks noChangeArrowheads="1"/>
            </p:cNvSpPr>
            <p:nvPr/>
          </p:nvSpPr>
          <p:spPr bwMode="auto">
            <a:xfrm>
              <a:off x="5248"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5" name="Oval 15"/>
            <p:cNvSpPr>
              <a:spLocks noChangeArrowheads="1"/>
            </p:cNvSpPr>
            <p:nvPr/>
          </p:nvSpPr>
          <p:spPr bwMode="auto">
            <a:xfrm>
              <a:off x="5360"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6" name="Oval 16"/>
            <p:cNvSpPr>
              <a:spLocks noChangeArrowheads="1"/>
            </p:cNvSpPr>
            <p:nvPr/>
          </p:nvSpPr>
          <p:spPr bwMode="auto">
            <a:xfrm>
              <a:off x="5472" y="1072"/>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7" name="Oval 17"/>
            <p:cNvSpPr>
              <a:spLocks noChangeArrowheads="1"/>
            </p:cNvSpPr>
            <p:nvPr/>
          </p:nvSpPr>
          <p:spPr bwMode="auto">
            <a:xfrm>
              <a:off x="5136"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8" name="Oval 18"/>
            <p:cNvSpPr>
              <a:spLocks noChangeArrowheads="1"/>
            </p:cNvSpPr>
            <p:nvPr/>
          </p:nvSpPr>
          <p:spPr bwMode="auto">
            <a:xfrm>
              <a:off x="5248"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9" name="Oval 19"/>
            <p:cNvSpPr>
              <a:spLocks noChangeArrowheads="1"/>
            </p:cNvSpPr>
            <p:nvPr/>
          </p:nvSpPr>
          <p:spPr bwMode="auto">
            <a:xfrm>
              <a:off x="5360"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0" name="Oval 20"/>
            <p:cNvSpPr>
              <a:spLocks noChangeArrowheads="1"/>
            </p:cNvSpPr>
            <p:nvPr/>
          </p:nvSpPr>
          <p:spPr bwMode="auto">
            <a:xfrm>
              <a:off x="5472"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1" name="Oval 21"/>
            <p:cNvSpPr>
              <a:spLocks noChangeArrowheads="1"/>
            </p:cNvSpPr>
            <p:nvPr/>
          </p:nvSpPr>
          <p:spPr bwMode="auto">
            <a:xfrm>
              <a:off x="5584" y="1184"/>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2" name="Oval 22"/>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3" name="Oval 23"/>
            <p:cNvSpPr>
              <a:spLocks noChangeArrowheads="1"/>
            </p:cNvSpPr>
            <p:nvPr/>
          </p:nvSpPr>
          <p:spPr bwMode="auto">
            <a:xfrm>
              <a:off x="5248"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4" name="Oval 24"/>
            <p:cNvSpPr>
              <a:spLocks noChangeArrowheads="1"/>
            </p:cNvSpPr>
            <p:nvPr/>
          </p:nvSpPr>
          <p:spPr bwMode="auto">
            <a:xfrm>
              <a:off x="5360"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5" name="Oval 25"/>
            <p:cNvSpPr>
              <a:spLocks noChangeArrowheads="1"/>
            </p:cNvSpPr>
            <p:nvPr/>
          </p:nvSpPr>
          <p:spPr bwMode="auto">
            <a:xfrm>
              <a:off x="5472" y="1296"/>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6" name="Oval 26"/>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7" name="Oval 27"/>
            <p:cNvSpPr>
              <a:spLocks noChangeArrowheads="1"/>
            </p:cNvSpPr>
            <p:nvPr/>
          </p:nvSpPr>
          <p:spPr bwMode="auto">
            <a:xfrm>
              <a:off x="5248"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8" name="Oval 28"/>
            <p:cNvSpPr>
              <a:spLocks noChangeArrowheads="1"/>
            </p:cNvSpPr>
            <p:nvPr/>
          </p:nvSpPr>
          <p:spPr bwMode="auto">
            <a:xfrm>
              <a:off x="5360"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9" name="Oval 29"/>
            <p:cNvSpPr>
              <a:spLocks noChangeArrowheads="1"/>
            </p:cNvSpPr>
            <p:nvPr/>
          </p:nvSpPr>
          <p:spPr bwMode="auto">
            <a:xfrm>
              <a:off x="5472"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0" name="Oval 30"/>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1" name="Oval 31"/>
            <p:cNvSpPr>
              <a:spLocks noChangeArrowheads="1"/>
            </p:cNvSpPr>
            <p:nvPr/>
          </p:nvSpPr>
          <p:spPr bwMode="auto">
            <a:xfrm>
              <a:off x="5136" y="1520"/>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2" name="Oval 32"/>
            <p:cNvSpPr>
              <a:spLocks noChangeArrowheads="1"/>
            </p:cNvSpPr>
            <p:nvPr/>
          </p:nvSpPr>
          <p:spPr bwMode="auto">
            <a:xfrm>
              <a:off x="5248"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3" name="Oval 33"/>
            <p:cNvSpPr>
              <a:spLocks noChangeArrowheads="1"/>
            </p:cNvSpPr>
            <p:nvPr/>
          </p:nvSpPr>
          <p:spPr bwMode="auto">
            <a:xfrm>
              <a:off x="5360"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4" name="Oval 34"/>
            <p:cNvSpPr>
              <a:spLocks noChangeArrowheads="1"/>
            </p:cNvSpPr>
            <p:nvPr/>
          </p:nvSpPr>
          <p:spPr bwMode="auto">
            <a:xfrm>
              <a:off x="5472" y="1520"/>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5" name="Oval 35"/>
            <p:cNvSpPr>
              <a:spLocks noChangeArrowheads="1"/>
            </p:cNvSpPr>
            <p:nvPr/>
          </p:nvSpPr>
          <p:spPr bwMode="auto">
            <a:xfrm>
              <a:off x="5136"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6" name="Oval 36"/>
            <p:cNvSpPr>
              <a:spLocks noChangeArrowheads="1"/>
            </p:cNvSpPr>
            <p:nvPr/>
          </p:nvSpPr>
          <p:spPr bwMode="auto">
            <a:xfrm>
              <a:off x="5248"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7" name="Oval 37"/>
            <p:cNvSpPr>
              <a:spLocks noChangeArrowheads="1"/>
            </p:cNvSpPr>
            <p:nvPr/>
          </p:nvSpPr>
          <p:spPr bwMode="auto">
            <a:xfrm>
              <a:off x="5360"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8" name="Oval 38"/>
            <p:cNvSpPr>
              <a:spLocks noChangeArrowheads="1"/>
            </p:cNvSpPr>
            <p:nvPr/>
          </p:nvSpPr>
          <p:spPr bwMode="auto">
            <a:xfrm>
              <a:off x="5472"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9" name="Oval 39"/>
            <p:cNvSpPr>
              <a:spLocks noChangeArrowheads="1"/>
            </p:cNvSpPr>
            <p:nvPr/>
          </p:nvSpPr>
          <p:spPr bwMode="auto">
            <a:xfrm>
              <a:off x="5248"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0" name="Oval 40"/>
            <p:cNvSpPr>
              <a:spLocks noChangeArrowheads="1"/>
            </p:cNvSpPr>
            <p:nvPr/>
          </p:nvSpPr>
          <p:spPr bwMode="auto">
            <a:xfrm>
              <a:off x="5472"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grpSp>
      <p:grpSp>
        <p:nvGrpSpPr>
          <p:cNvPr id="66601" name="Group 41" descr="decorative graphic made up of dots"/>
          <p:cNvGrpSpPr>
            <a:grpSpLocks/>
          </p:cNvGrpSpPr>
          <p:nvPr/>
        </p:nvGrpSpPr>
        <p:grpSpPr bwMode="auto">
          <a:xfrm>
            <a:off x="9956801" y="1219200"/>
            <a:ext cx="1056217" cy="1295400"/>
            <a:chOff x="5136" y="960"/>
            <a:chExt cx="528" cy="864"/>
          </a:xfrm>
        </p:grpSpPr>
        <p:sp>
          <p:nvSpPr>
            <p:cNvPr id="66602" name="Oval 42"/>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3" name="Oval 43"/>
            <p:cNvSpPr>
              <a:spLocks noChangeArrowheads="1"/>
            </p:cNvSpPr>
            <p:nvPr/>
          </p:nvSpPr>
          <p:spPr bwMode="auto">
            <a:xfrm>
              <a:off x="5248"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4" name="Oval 44"/>
            <p:cNvSpPr>
              <a:spLocks noChangeArrowheads="1"/>
            </p:cNvSpPr>
            <p:nvPr/>
          </p:nvSpPr>
          <p:spPr bwMode="auto">
            <a:xfrm>
              <a:off x="5360"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5" name="Oval 45"/>
            <p:cNvSpPr>
              <a:spLocks noChangeArrowheads="1"/>
            </p:cNvSpPr>
            <p:nvPr/>
          </p:nvSpPr>
          <p:spPr bwMode="auto">
            <a:xfrm>
              <a:off x="5136"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6" name="Oval 46"/>
            <p:cNvSpPr>
              <a:spLocks noChangeArrowheads="1"/>
            </p:cNvSpPr>
            <p:nvPr/>
          </p:nvSpPr>
          <p:spPr bwMode="auto">
            <a:xfrm>
              <a:off x="5248"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7" name="Oval 47"/>
            <p:cNvSpPr>
              <a:spLocks noChangeArrowheads="1"/>
            </p:cNvSpPr>
            <p:nvPr/>
          </p:nvSpPr>
          <p:spPr bwMode="auto">
            <a:xfrm>
              <a:off x="5360"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8" name="Oval 48"/>
            <p:cNvSpPr>
              <a:spLocks noChangeArrowheads="1"/>
            </p:cNvSpPr>
            <p:nvPr/>
          </p:nvSpPr>
          <p:spPr bwMode="auto">
            <a:xfrm>
              <a:off x="5472" y="1072"/>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9" name="Oval 49"/>
            <p:cNvSpPr>
              <a:spLocks noChangeArrowheads="1"/>
            </p:cNvSpPr>
            <p:nvPr/>
          </p:nvSpPr>
          <p:spPr bwMode="auto">
            <a:xfrm>
              <a:off x="5136"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0" name="Oval 50"/>
            <p:cNvSpPr>
              <a:spLocks noChangeArrowheads="1"/>
            </p:cNvSpPr>
            <p:nvPr/>
          </p:nvSpPr>
          <p:spPr bwMode="auto">
            <a:xfrm>
              <a:off x="5248"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1" name="Oval 51"/>
            <p:cNvSpPr>
              <a:spLocks noChangeArrowheads="1"/>
            </p:cNvSpPr>
            <p:nvPr/>
          </p:nvSpPr>
          <p:spPr bwMode="auto">
            <a:xfrm>
              <a:off x="5360"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2" name="Oval 52"/>
            <p:cNvSpPr>
              <a:spLocks noChangeArrowheads="1"/>
            </p:cNvSpPr>
            <p:nvPr/>
          </p:nvSpPr>
          <p:spPr bwMode="auto">
            <a:xfrm>
              <a:off x="5472"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3" name="Oval 53"/>
            <p:cNvSpPr>
              <a:spLocks noChangeArrowheads="1"/>
            </p:cNvSpPr>
            <p:nvPr/>
          </p:nvSpPr>
          <p:spPr bwMode="auto">
            <a:xfrm>
              <a:off x="5584" y="1184"/>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4" name="Oval 54"/>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5" name="Oval 55"/>
            <p:cNvSpPr>
              <a:spLocks noChangeArrowheads="1"/>
            </p:cNvSpPr>
            <p:nvPr/>
          </p:nvSpPr>
          <p:spPr bwMode="auto">
            <a:xfrm>
              <a:off x="5248"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6" name="Oval 56"/>
            <p:cNvSpPr>
              <a:spLocks noChangeArrowheads="1"/>
            </p:cNvSpPr>
            <p:nvPr/>
          </p:nvSpPr>
          <p:spPr bwMode="auto">
            <a:xfrm>
              <a:off x="5360"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7" name="Oval 57"/>
            <p:cNvSpPr>
              <a:spLocks noChangeArrowheads="1"/>
            </p:cNvSpPr>
            <p:nvPr/>
          </p:nvSpPr>
          <p:spPr bwMode="auto">
            <a:xfrm>
              <a:off x="5472" y="1296"/>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8" name="Oval 58"/>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9" name="Oval 59"/>
            <p:cNvSpPr>
              <a:spLocks noChangeArrowheads="1"/>
            </p:cNvSpPr>
            <p:nvPr/>
          </p:nvSpPr>
          <p:spPr bwMode="auto">
            <a:xfrm>
              <a:off x="5248"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0" name="Oval 60"/>
            <p:cNvSpPr>
              <a:spLocks noChangeArrowheads="1"/>
            </p:cNvSpPr>
            <p:nvPr/>
          </p:nvSpPr>
          <p:spPr bwMode="auto">
            <a:xfrm>
              <a:off x="5360"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1" name="Oval 61"/>
            <p:cNvSpPr>
              <a:spLocks noChangeArrowheads="1"/>
            </p:cNvSpPr>
            <p:nvPr/>
          </p:nvSpPr>
          <p:spPr bwMode="auto">
            <a:xfrm>
              <a:off x="5472"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2" name="Oval 62"/>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3" name="Oval 63"/>
            <p:cNvSpPr>
              <a:spLocks noChangeArrowheads="1"/>
            </p:cNvSpPr>
            <p:nvPr/>
          </p:nvSpPr>
          <p:spPr bwMode="auto">
            <a:xfrm>
              <a:off x="5136" y="1520"/>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4" name="Oval 64"/>
            <p:cNvSpPr>
              <a:spLocks noChangeArrowheads="1"/>
            </p:cNvSpPr>
            <p:nvPr/>
          </p:nvSpPr>
          <p:spPr bwMode="auto">
            <a:xfrm>
              <a:off x="5248"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5" name="Oval 65"/>
            <p:cNvSpPr>
              <a:spLocks noChangeArrowheads="1"/>
            </p:cNvSpPr>
            <p:nvPr/>
          </p:nvSpPr>
          <p:spPr bwMode="auto">
            <a:xfrm>
              <a:off x="5360"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6" name="Oval 66"/>
            <p:cNvSpPr>
              <a:spLocks noChangeArrowheads="1"/>
            </p:cNvSpPr>
            <p:nvPr/>
          </p:nvSpPr>
          <p:spPr bwMode="auto">
            <a:xfrm>
              <a:off x="5472" y="1520"/>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7" name="Oval 67"/>
            <p:cNvSpPr>
              <a:spLocks noChangeArrowheads="1"/>
            </p:cNvSpPr>
            <p:nvPr/>
          </p:nvSpPr>
          <p:spPr bwMode="auto">
            <a:xfrm>
              <a:off x="5136"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8" name="Oval 68"/>
            <p:cNvSpPr>
              <a:spLocks noChangeArrowheads="1"/>
            </p:cNvSpPr>
            <p:nvPr/>
          </p:nvSpPr>
          <p:spPr bwMode="auto">
            <a:xfrm>
              <a:off x="5248"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9" name="Oval 69"/>
            <p:cNvSpPr>
              <a:spLocks noChangeArrowheads="1"/>
            </p:cNvSpPr>
            <p:nvPr/>
          </p:nvSpPr>
          <p:spPr bwMode="auto">
            <a:xfrm>
              <a:off x="5360"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30" name="Oval 70"/>
            <p:cNvSpPr>
              <a:spLocks noChangeArrowheads="1"/>
            </p:cNvSpPr>
            <p:nvPr/>
          </p:nvSpPr>
          <p:spPr bwMode="auto">
            <a:xfrm>
              <a:off x="5472"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31" name="Oval 71"/>
            <p:cNvSpPr>
              <a:spLocks noChangeArrowheads="1"/>
            </p:cNvSpPr>
            <p:nvPr/>
          </p:nvSpPr>
          <p:spPr bwMode="auto">
            <a:xfrm>
              <a:off x="5248"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32" name="Oval 72"/>
            <p:cNvSpPr>
              <a:spLocks noChangeArrowheads="1"/>
            </p:cNvSpPr>
            <p:nvPr/>
          </p:nvSpPr>
          <p:spPr bwMode="auto">
            <a:xfrm>
              <a:off x="5472"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gr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08955" y="6247726"/>
            <a:ext cx="499764" cy="460309"/>
          </a:xfrm>
          <a:prstGeom prst="rect">
            <a:avLst/>
          </a:prstGeom>
        </p:spPr>
      </p:pic>
    </p:spTree>
    <p:extLst>
      <p:ext uri="{BB962C8B-B14F-4D97-AF65-F5344CB8AC3E}">
        <p14:creationId xmlns:p14="http://schemas.microsoft.com/office/powerpoint/2010/main" val="30852564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fld id="{F44A8556-2F07-416B-A81B-5F1C3AFD01EF}" type="datetime1">
              <a:rPr lang="en-US" smtClean="0"/>
              <a:t>10/14/2025</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27954" y="6261305"/>
            <a:ext cx="499764" cy="460309"/>
          </a:xfrm>
          <a:prstGeom prst="rect">
            <a:avLst/>
          </a:prstGeom>
        </p:spPr>
      </p:pic>
    </p:spTree>
    <p:extLst>
      <p:ext uri="{BB962C8B-B14F-4D97-AF65-F5344CB8AC3E}">
        <p14:creationId xmlns:p14="http://schemas.microsoft.com/office/powerpoint/2010/main" val="673722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26729637-7636-4388-949A-FC8BFDAA4705}" type="datetime1">
              <a:rPr lang="en-US" smtClean="0"/>
              <a:t>10/14/2025</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37060925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09600" y="1719263"/>
            <a:ext cx="53848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97600" y="1719263"/>
            <a:ext cx="53848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lvl1pPr>
              <a:defRPr/>
            </a:lvl1pPr>
          </a:lstStyle>
          <a:p>
            <a:fld id="{A0F5DED8-6456-47A2-A5CC-BE8BEC6BD892}" type="datetime1">
              <a:rPr lang="en-US" smtClean="0"/>
              <a:t>10/14/2025</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39191744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lvl1pPr>
              <a:defRPr/>
            </a:lvl1pPr>
          </a:lstStyle>
          <a:p>
            <a:fld id="{17595759-8665-4708-8376-28A90FA13BDD}" type="datetime1">
              <a:rPr lang="en-US" smtClean="0"/>
              <a:t>10/14/2025</a:t>
            </a:fld>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3182974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lvl1pPr>
              <a:defRPr/>
            </a:lvl1pPr>
          </a:lstStyle>
          <a:p>
            <a:fld id="{A3B0C243-4A55-4741-8265-C0A2FA769F7B}" type="datetime1">
              <a:rPr lang="en-US" smtClean="0"/>
              <a:t>10/14/2025</a:t>
            </a:fld>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12785460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A99A12F7-971D-41C1-A2B7-EBB58FF381A3}" type="datetime1">
              <a:rPr lang="en-US" smtClean="0"/>
              <a:t>10/14/2025</a:t>
            </a:fld>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13811122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2E3C3D28-2E0C-4F8B-A45D-9E87921943BF}" type="datetime1">
              <a:rPr lang="en-US" smtClean="0"/>
              <a:t>10/14/2025</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34809956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020A2-9D30-48AD-A70D-69AD2B027FCA}" type="datetime1">
              <a:rPr lang="en-US" smtClean="0"/>
              <a:t>10/14/2025</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3121103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fld id="{F01F6343-4644-43E3-AA07-6869EC7CEA0D}" type="datetime1">
              <a:rPr lang="en-US" smtClean="0"/>
              <a:t>10/14/2025</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1892150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22239"/>
            <a:ext cx="2743200" cy="6008687"/>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09600" y="122239"/>
            <a:ext cx="8026400" cy="6008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fld id="{0CA0A126-F3CA-45B4-970B-597BE67A203E}" type="datetime1">
              <a:rPr lang="en-US" smtClean="0"/>
              <a:t>10/14/2025</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40294651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122238"/>
            <a:ext cx="10058400" cy="1295400"/>
          </a:xfrm>
        </p:spPr>
        <p:txBody>
          <a:bodyPr/>
          <a:lstStyle/>
          <a:p>
            <a:r>
              <a:rPr lang="en-US"/>
              <a:t>Click to edit Master title style</a:t>
            </a:r>
            <a:endParaRPr lang="en-IN"/>
          </a:p>
        </p:txBody>
      </p:sp>
      <p:sp>
        <p:nvSpPr>
          <p:cNvPr id="3" name="Text Placeholder 2"/>
          <p:cNvSpPr>
            <a:spLocks noGrp="1"/>
          </p:cNvSpPr>
          <p:nvPr>
            <p:ph type="body" sz="half" idx="1"/>
          </p:nvPr>
        </p:nvSpPr>
        <p:spPr>
          <a:xfrm>
            <a:off x="609600" y="1719263"/>
            <a:ext cx="53848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97600" y="1719263"/>
            <a:ext cx="53848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609600" y="6248400"/>
            <a:ext cx="2844800" cy="457200"/>
          </a:xfrm>
        </p:spPr>
        <p:txBody>
          <a:bodyPr/>
          <a:lstStyle>
            <a:lvl1pPr>
              <a:defRPr/>
            </a:lvl1pPr>
          </a:lstStyle>
          <a:p>
            <a:fld id="{16815F9B-CAFE-4C37-897A-C6403744783F}" type="datetime1">
              <a:rPr lang="en-US" smtClean="0"/>
              <a:t>10/14/2025</a:t>
            </a:fld>
            <a:endParaRPr lang="en-US"/>
          </a:p>
        </p:txBody>
      </p:sp>
      <p:sp>
        <p:nvSpPr>
          <p:cNvPr id="6" name="Footer Placeholder 5"/>
          <p:cNvSpPr>
            <a:spLocks noGrp="1"/>
          </p:cNvSpPr>
          <p:nvPr>
            <p:ph type="ftr" sz="quarter" idx="11"/>
          </p:nvPr>
        </p:nvSpPr>
        <p:spPr>
          <a:xfrm>
            <a:off x="4165600" y="6248400"/>
            <a:ext cx="3860800" cy="457200"/>
          </a:xfrm>
        </p:spPr>
        <p:txBody>
          <a:bodyPr/>
          <a:lstStyle>
            <a:lvl1pPr>
              <a:defRPr/>
            </a:lvl1pPr>
          </a:lstStyle>
          <a:p>
            <a:endParaRPr lang="en-US"/>
          </a:p>
        </p:txBody>
      </p:sp>
      <p:sp>
        <p:nvSpPr>
          <p:cNvPr id="7" name="Slide Number Placeholder 6"/>
          <p:cNvSpPr>
            <a:spLocks noGrp="1"/>
          </p:cNvSpPr>
          <p:nvPr>
            <p:ph type="sldNum" sz="quarter" idx="12"/>
          </p:nvPr>
        </p:nvSpPr>
        <p:spPr>
          <a:xfrm>
            <a:off x="8737600" y="6248400"/>
            <a:ext cx="2844800" cy="457200"/>
          </a:xfrm>
        </p:spPr>
        <p:txBody>
          <a:bodyPr/>
          <a:lstStyle>
            <a:lvl1pPr>
              <a:defRPr/>
            </a:lvl1pPr>
          </a:lstStyle>
          <a:p>
            <a:fld id="{83385899-0B10-4821-AAA8-DC5305EDD7F2}" type="slidenum">
              <a:rPr lang="en-US" smtClean="0"/>
              <a:t>‹#›</a:t>
            </a:fld>
            <a:endParaRPr lang="en-US"/>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173787975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5538" name="Line 2"/>
          <p:cNvSpPr>
            <a:spLocks noChangeShapeType="1"/>
          </p:cNvSpPr>
          <p:nvPr/>
        </p:nvSpPr>
        <p:spPr bwMode="auto">
          <a:xfrm>
            <a:off x="10668000" y="0"/>
            <a:ext cx="0" cy="152400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1800"/>
          </a:p>
        </p:txBody>
      </p:sp>
      <p:sp>
        <p:nvSpPr>
          <p:cNvPr id="65539" name="Rectangle 3"/>
          <p:cNvSpPr>
            <a:spLocks noGrp="1" noChangeArrowheads="1"/>
          </p:cNvSpPr>
          <p:nvPr>
            <p:ph type="title"/>
          </p:nvPr>
        </p:nvSpPr>
        <p:spPr bwMode="auto">
          <a:xfrm>
            <a:off x="609600" y="122238"/>
            <a:ext cx="100584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65540" name="Rectangle 4"/>
          <p:cNvSpPr>
            <a:spLocks noGrp="1" noChangeArrowheads="1"/>
          </p:cNvSpPr>
          <p:nvPr>
            <p:ph type="body" idx="1"/>
          </p:nvPr>
        </p:nvSpPr>
        <p:spPr bwMode="auto">
          <a:xfrm>
            <a:off x="609600" y="1719263"/>
            <a:ext cx="10972800" cy="4411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65541" name="Rectangle 5"/>
          <p:cNvSpPr>
            <a:spLocks noGrp="1" noChangeArrowheads="1"/>
          </p:cNvSpPr>
          <p:nvPr>
            <p:ph type="dt" sz="half" idx="2"/>
          </p:nvPr>
        </p:nvSpPr>
        <p:spPr bwMode="auto">
          <a:xfrm>
            <a:off x="609600" y="6248400"/>
            <a:ext cx="284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000"/>
            </a:lvl1pPr>
          </a:lstStyle>
          <a:p>
            <a:fld id="{C569D4A1-8BB6-4430-9601-3FBC79908E8C}" type="datetime1">
              <a:rPr lang="en-US" smtClean="0"/>
              <a:t>10/14/2025</a:t>
            </a:fld>
            <a:endParaRPr lang="en-US"/>
          </a:p>
        </p:txBody>
      </p:sp>
      <p:sp>
        <p:nvSpPr>
          <p:cNvPr id="65542" name="Rectangle 6"/>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000"/>
            </a:lvl1pPr>
          </a:lstStyle>
          <a:p>
            <a:endParaRPr lang="en-US"/>
          </a:p>
        </p:txBody>
      </p:sp>
      <p:sp>
        <p:nvSpPr>
          <p:cNvPr id="65543" name="Rectangle 7"/>
          <p:cNvSpPr>
            <a:spLocks noGrp="1" noChangeArrowheads="1"/>
          </p:cNvSpPr>
          <p:nvPr>
            <p:ph type="sldNum" sz="quarter" idx="4"/>
          </p:nvPr>
        </p:nvSpPr>
        <p:spPr bwMode="auto">
          <a:xfrm>
            <a:off x="8737600" y="6248400"/>
            <a:ext cx="284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000"/>
            </a:lvl1pPr>
          </a:lstStyle>
          <a:p>
            <a:fld id="{83385899-0B10-4821-AAA8-DC5305EDD7F2}" type="slidenum">
              <a:rPr lang="en-US" smtClean="0"/>
              <a:t>‹#›</a:t>
            </a:fld>
            <a:endParaRPr lang="en-US"/>
          </a:p>
        </p:txBody>
      </p:sp>
      <p:grpSp>
        <p:nvGrpSpPr>
          <p:cNvPr id="65544" name="Group 8" descr="decorative graphic made up of dots"/>
          <p:cNvGrpSpPr>
            <a:grpSpLocks/>
          </p:cNvGrpSpPr>
          <p:nvPr/>
        </p:nvGrpSpPr>
        <p:grpSpPr bwMode="auto">
          <a:xfrm>
            <a:off x="10871201" y="152400"/>
            <a:ext cx="1056217" cy="1295400"/>
            <a:chOff x="5136" y="960"/>
            <a:chExt cx="528" cy="864"/>
          </a:xfrm>
        </p:grpSpPr>
        <p:sp>
          <p:nvSpPr>
            <p:cNvPr id="65545" name="Oval 9"/>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46" name="Oval 10"/>
            <p:cNvSpPr>
              <a:spLocks noChangeArrowheads="1"/>
            </p:cNvSpPr>
            <p:nvPr/>
          </p:nvSpPr>
          <p:spPr bwMode="auto">
            <a:xfrm>
              <a:off x="5248"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47" name="Oval 11"/>
            <p:cNvSpPr>
              <a:spLocks noChangeArrowheads="1"/>
            </p:cNvSpPr>
            <p:nvPr/>
          </p:nvSpPr>
          <p:spPr bwMode="auto">
            <a:xfrm>
              <a:off x="5360"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48" name="Oval 12"/>
            <p:cNvSpPr>
              <a:spLocks noChangeArrowheads="1"/>
            </p:cNvSpPr>
            <p:nvPr/>
          </p:nvSpPr>
          <p:spPr bwMode="auto">
            <a:xfrm>
              <a:off x="5136"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49" name="Oval 13"/>
            <p:cNvSpPr>
              <a:spLocks noChangeArrowheads="1"/>
            </p:cNvSpPr>
            <p:nvPr/>
          </p:nvSpPr>
          <p:spPr bwMode="auto">
            <a:xfrm>
              <a:off x="5248"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0" name="Oval 14"/>
            <p:cNvSpPr>
              <a:spLocks noChangeArrowheads="1"/>
            </p:cNvSpPr>
            <p:nvPr/>
          </p:nvSpPr>
          <p:spPr bwMode="auto">
            <a:xfrm>
              <a:off x="5360"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1" name="Oval 15"/>
            <p:cNvSpPr>
              <a:spLocks noChangeArrowheads="1"/>
            </p:cNvSpPr>
            <p:nvPr/>
          </p:nvSpPr>
          <p:spPr bwMode="auto">
            <a:xfrm>
              <a:off x="5472" y="1072"/>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2" name="Oval 16"/>
            <p:cNvSpPr>
              <a:spLocks noChangeArrowheads="1"/>
            </p:cNvSpPr>
            <p:nvPr/>
          </p:nvSpPr>
          <p:spPr bwMode="auto">
            <a:xfrm>
              <a:off x="5136"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3" name="Oval 17"/>
            <p:cNvSpPr>
              <a:spLocks noChangeArrowheads="1"/>
            </p:cNvSpPr>
            <p:nvPr/>
          </p:nvSpPr>
          <p:spPr bwMode="auto">
            <a:xfrm>
              <a:off x="5248"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4" name="Oval 18"/>
            <p:cNvSpPr>
              <a:spLocks noChangeArrowheads="1"/>
            </p:cNvSpPr>
            <p:nvPr/>
          </p:nvSpPr>
          <p:spPr bwMode="auto">
            <a:xfrm>
              <a:off x="5360"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5" name="Oval 19"/>
            <p:cNvSpPr>
              <a:spLocks noChangeArrowheads="1"/>
            </p:cNvSpPr>
            <p:nvPr/>
          </p:nvSpPr>
          <p:spPr bwMode="auto">
            <a:xfrm>
              <a:off x="5472"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6" name="Oval 20"/>
            <p:cNvSpPr>
              <a:spLocks noChangeArrowheads="1"/>
            </p:cNvSpPr>
            <p:nvPr/>
          </p:nvSpPr>
          <p:spPr bwMode="auto">
            <a:xfrm>
              <a:off x="5584" y="1184"/>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7" name="Oval 21"/>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8" name="Oval 22"/>
            <p:cNvSpPr>
              <a:spLocks noChangeArrowheads="1"/>
            </p:cNvSpPr>
            <p:nvPr/>
          </p:nvSpPr>
          <p:spPr bwMode="auto">
            <a:xfrm>
              <a:off x="5248"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9" name="Oval 23"/>
            <p:cNvSpPr>
              <a:spLocks noChangeArrowheads="1"/>
            </p:cNvSpPr>
            <p:nvPr/>
          </p:nvSpPr>
          <p:spPr bwMode="auto">
            <a:xfrm>
              <a:off x="5360"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0" name="Oval 24"/>
            <p:cNvSpPr>
              <a:spLocks noChangeArrowheads="1"/>
            </p:cNvSpPr>
            <p:nvPr/>
          </p:nvSpPr>
          <p:spPr bwMode="auto">
            <a:xfrm>
              <a:off x="5472" y="1296"/>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1" name="Oval 25"/>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2" name="Oval 26"/>
            <p:cNvSpPr>
              <a:spLocks noChangeArrowheads="1"/>
            </p:cNvSpPr>
            <p:nvPr/>
          </p:nvSpPr>
          <p:spPr bwMode="auto">
            <a:xfrm>
              <a:off x="5248"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3" name="Oval 27"/>
            <p:cNvSpPr>
              <a:spLocks noChangeArrowheads="1"/>
            </p:cNvSpPr>
            <p:nvPr/>
          </p:nvSpPr>
          <p:spPr bwMode="auto">
            <a:xfrm>
              <a:off x="5360"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4" name="Oval 28"/>
            <p:cNvSpPr>
              <a:spLocks noChangeArrowheads="1"/>
            </p:cNvSpPr>
            <p:nvPr/>
          </p:nvSpPr>
          <p:spPr bwMode="auto">
            <a:xfrm>
              <a:off x="5472"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5" name="Oval 29"/>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6" name="Oval 30"/>
            <p:cNvSpPr>
              <a:spLocks noChangeArrowheads="1"/>
            </p:cNvSpPr>
            <p:nvPr/>
          </p:nvSpPr>
          <p:spPr bwMode="auto">
            <a:xfrm>
              <a:off x="5136" y="1520"/>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7" name="Oval 31"/>
            <p:cNvSpPr>
              <a:spLocks noChangeArrowheads="1"/>
            </p:cNvSpPr>
            <p:nvPr/>
          </p:nvSpPr>
          <p:spPr bwMode="auto">
            <a:xfrm>
              <a:off x="5248"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8" name="Oval 32"/>
            <p:cNvSpPr>
              <a:spLocks noChangeArrowheads="1"/>
            </p:cNvSpPr>
            <p:nvPr/>
          </p:nvSpPr>
          <p:spPr bwMode="auto">
            <a:xfrm>
              <a:off x="5360"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9" name="Oval 33"/>
            <p:cNvSpPr>
              <a:spLocks noChangeArrowheads="1"/>
            </p:cNvSpPr>
            <p:nvPr/>
          </p:nvSpPr>
          <p:spPr bwMode="auto">
            <a:xfrm>
              <a:off x="5472" y="1520"/>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0" name="Oval 34"/>
            <p:cNvSpPr>
              <a:spLocks noChangeArrowheads="1"/>
            </p:cNvSpPr>
            <p:nvPr/>
          </p:nvSpPr>
          <p:spPr bwMode="auto">
            <a:xfrm>
              <a:off x="5136"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1" name="Oval 35"/>
            <p:cNvSpPr>
              <a:spLocks noChangeArrowheads="1"/>
            </p:cNvSpPr>
            <p:nvPr/>
          </p:nvSpPr>
          <p:spPr bwMode="auto">
            <a:xfrm>
              <a:off x="5248"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2" name="Oval 36"/>
            <p:cNvSpPr>
              <a:spLocks noChangeArrowheads="1"/>
            </p:cNvSpPr>
            <p:nvPr/>
          </p:nvSpPr>
          <p:spPr bwMode="auto">
            <a:xfrm>
              <a:off x="5360"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3" name="Oval 37"/>
            <p:cNvSpPr>
              <a:spLocks noChangeArrowheads="1"/>
            </p:cNvSpPr>
            <p:nvPr/>
          </p:nvSpPr>
          <p:spPr bwMode="auto">
            <a:xfrm>
              <a:off x="5472"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4" name="Oval 38"/>
            <p:cNvSpPr>
              <a:spLocks noChangeArrowheads="1"/>
            </p:cNvSpPr>
            <p:nvPr/>
          </p:nvSpPr>
          <p:spPr bwMode="auto">
            <a:xfrm>
              <a:off x="5248"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5" name="Oval 39"/>
            <p:cNvSpPr>
              <a:spLocks noChangeArrowheads="1"/>
            </p:cNvSpPr>
            <p:nvPr/>
          </p:nvSpPr>
          <p:spPr bwMode="auto">
            <a:xfrm>
              <a:off x="5472"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grpSp>
      <p:sp>
        <p:nvSpPr>
          <p:cNvPr id="65576" name="Line 40"/>
          <p:cNvSpPr>
            <a:spLocks noChangeShapeType="1"/>
          </p:cNvSpPr>
          <p:nvPr/>
        </p:nvSpPr>
        <p:spPr bwMode="auto">
          <a:xfrm>
            <a:off x="609600" y="1524000"/>
            <a:ext cx="10058400" cy="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1800"/>
          </a:p>
        </p:txBody>
      </p:sp>
    </p:spTree>
    <p:extLst>
      <p:ext uri="{BB962C8B-B14F-4D97-AF65-F5344CB8AC3E}">
        <p14:creationId xmlns:p14="http://schemas.microsoft.com/office/powerpoint/2010/main" val="263422005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rtl="0" eaLnBrk="1" fontAlgn="base" hangingPunct="1">
        <a:spcBef>
          <a:spcPct val="0"/>
        </a:spcBef>
        <a:spcAft>
          <a:spcPct val="0"/>
        </a:spcAft>
        <a:defRPr sz="3900" b="1" kern="1200">
          <a:solidFill>
            <a:schemeClr val="tx2"/>
          </a:solidFill>
          <a:latin typeface="+mj-lt"/>
          <a:ea typeface="+mj-ea"/>
          <a:cs typeface="+mj-cs"/>
        </a:defRPr>
      </a:lvl1pPr>
      <a:lvl2pPr algn="l" rtl="0" eaLnBrk="1" fontAlgn="base" hangingPunct="1">
        <a:spcBef>
          <a:spcPct val="0"/>
        </a:spcBef>
        <a:spcAft>
          <a:spcPct val="0"/>
        </a:spcAft>
        <a:defRPr sz="3900" b="1">
          <a:solidFill>
            <a:schemeClr val="tx2"/>
          </a:solidFill>
          <a:latin typeface="Arial" panose="020B0604020202020204" pitchFamily="34" charset="0"/>
        </a:defRPr>
      </a:lvl2pPr>
      <a:lvl3pPr algn="l" rtl="0" eaLnBrk="1" fontAlgn="base" hangingPunct="1">
        <a:spcBef>
          <a:spcPct val="0"/>
        </a:spcBef>
        <a:spcAft>
          <a:spcPct val="0"/>
        </a:spcAft>
        <a:defRPr sz="3900" b="1">
          <a:solidFill>
            <a:schemeClr val="tx2"/>
          </a:solidFill>
          <a:latin typeface="Arial" panose="020B0604020202020204" pitchFamily="34" charset="0"/>
        </a:defRPr>
      </a:lvl3pPr>
      <a:lvl4pPr algn="l" rtl="0" eaLnBrk="1" fontAlgn="base" hangingPunct="1">
        <a:spcBef>
          <a:spcPct val="0"/>
        </a:spcBef>
        <a:spcAft>
          <a:spcPct val="0"/>
        </a:spcAft>
        <a:defRPr sz="3900" b="1">
          <a:solidFill>
            <a:schemeClr val="tx2"/>
          </a:solidFill>
          <a:latin typeface="Arial" panose="020B0604020202020204" pitchFamily="34" charset="0"/>
        </a:defRPr>
      </a:lvl4pPr>
      <a:lvl5pPr algn="l" rtl="0" eaLnBrk="1" fontAlgn="base" hangingPunct="1">
        <a:spcBef>
          <a:spcPct val="0"/>
        </a:spcBef>
        <a:spcAft>
          <a:spcPct val="0"/>
        </a:spcAft>
        <a:defRPr sz="3900" b="1">
          <a:solidFill>
            <a:schemeClr val="tx2"/>
          </a:solidFill>
          <a:latin typeface="Arial" panose="020B0604020202020204" pitchFamily="34" charset="0"/>
        </a:defRPr>
      </a:lvl5pPr>
      <a:lvl6pPr marL="457200" algn="l" rtl="0" eaLnBrk="1" fontAlgn="base" hangingPunct="1">
        <a:spcBef>
          <a:spcPct val="0"/>
        </a:spcBef>
        <a:spcAft>
          <a:spcPct val="0"/>
        </a:spcAft>
        <a:defRPr sz="3900" b="1">
          <a:solidFill>
            <a:schemeClr val="tx2"/>
          </a:solidFill>
          <a:latin typeface="Arial" panose="020B0604020202020204" pitchFamily="34" charset="0"/>
        </a:defRPr>
      </a:lvl6pPr>
      <a:lvl7pPr marL="914400" algn="l" rtl="0" eaLnBrk="1" fontAlgn="base" hangingPunct="1">
        <a:spcBef>
          <a:spcPct val="0"/>
        </a:spcBef>
        <a:spcAft>
          <a:spcPct val="0"/>
        </a:spcAft>
        <a:defRPr sz="3900" b="1">
          <a:solidFill>
            <a:schemeClr val="tx2"/>
          </a:solidFill>
          <a:latin typeface="Arial" panose="020B0604020202020204" pitchFamily="34" charset="0"/>
        </a:defRPr>
      </a:lvl7pPr>
      <a:lvl8pPr marL="1371600" algn="l" rtl="0" eaLnBrk="1" fontAlgn="base" hangingPunct="1">
        <a:spcBef>
          <a:spcPct val="0"/>
        </a:spcBef>
        <a:spcAft>
          <a:spcPct val="0"/>
        </a:spcAft>
        <a:defRPr sz="3900" b="1">
          <a:solidFill>
            <a:schemeClr val="tx2"/>
          </a:solidFill>
          <a:latin typeface="Arial" panose="020B0604020202020204" pitchFamily="34" charset="0"/>
        </a:defRPr>
      </a:lvl8pPr>
      <a:lvl9pPr marL="1828800" algn="l" rtl="0" eaLnBrk="1" fontAlgn="base" hangingPunct="1">
        <a:spcBef>
          <a:spcPct val="0"/>
        </a:spcBef>
        <a:spcAft>
          <a:spcPct val="0"/>
        </a:spcAft>
        <a:defRPr sz="3900" b="1">
          <a:solidFill>
            <a:schemeClr val="tx2"/>
          </a:solidFill>
          <a:latin typeface="Arial" panose="020B0604020202020204" pitchFamily="34" charset="0"/>
        </a:defRPr>
      </a:lvl9pPr>
    </p:titleStyle>
    <p:bodyStyle>
      <a:lvl1pPr marL="342900" indent="-342900" algn="l" rtl="0" eaLnBrk="1" fontAlgn="base" hangingPunct="1">
        <a:spcBef>
          <a:spcPct val="20000"/>
        </a:spcBef>
        <a:spcAft>
          <a:spcPct val="0"/>
        </a:spcAft>
        <a:buClr>
          <a:schemeClr val="tx2"/>
        </a:buClr>
        <a:buSzPct val="70000"/>
        <a:buFont typeface="Wingdings" panose="05000000000000000000" pitchFamily="2" charset="2"/>
        <a:buChar char="l"/>
        <a:defRPr sz="3000" kern="1200">
          <a:solidFill>
            <a:schemeClr val="tx1"/>
          </a:solidFill>
          <a:latin typeface="+mn-lt"/>
          <a:ea typeface="+mn-ea"/>
          <a:cs typeface="+mn-cs"/>
        </a:defRPr>
      </a:lvl1pPr>
      <a:lvl2pPr marL="692150" indent="-347663" algn="l" rtl="0" eaLnBrk="1" fontAlgn="base" hangingPunct="1">
        <a:spcBef>
          <a:spcPct val="20000"/>
        </a:spcBef>
        <a:spcAft>
          <a:spcPct val="0"/>
        </a:spcAft>
        <a:buClr>
          <a:schemeClr val="accent2"/>
        </a:buClr>
        <a:buSzPct val="70000"/>
        <a:buFont typeface="Wingdings" panose="05000000000000000000" pitchFamily="2" charset="2"/>
        <a:buChar char="l"/>
        <a:defRPr sz="2600" kern="1200">
          <a:solidFill>
            <a:schemeClr val="tx1"/>
          </a:solidFill>
          <a:latin typeface="+mn-lt"/>
          <a:ea typeface="+mn-ea"/>
          <a:cs typeface="+mn-cs"/>
        </a:defRPr>
      </a:lvl2pPr>
      <a:lvl3pPr marL="987425" indent="-293688" algn="l" rtl="0" eaLnBrk="1" fontAlgn="base" hangingPunct="1">
        <a:spcBef>
          <a:spcPct val="20000"/>
        </a:spcBef>
        <a:spcAft>
          <a:spcPct val="0"/>
        </a:spcAft>
        <a:buClr>
          <a:schemeClr val="accent1"/>
        </a:buClr>
        <a:buSzPct val="70000"/>
        <a:buFont typeface="Wingdings" panose="05000000000000000000" pitchFamily="2" charset="2"/>
        <a:buChar char="l"/>
        <a:defRPr sz="2300" kern="1200">
          <a:solidFill>
            <a:schemeClr val="tx1"/>
          </a:solidFill>
          <a:latin typeface="+mn-lt"/>
          <a:ea typeface="+mn-ea"/>
          <a:cs typeface="+mn-cs"/>
        </a:defRPr>
      </a:lvl3pPr>
      <a:lvl4pPr marL="1281113" indent="-292100" algn="l" rtl="0" eaLnBrk="1" fontAlgn="base" hangingPunct="1">
        <a:spcBef>
          <a:spcPct val="20000"/>
        </a:spcBef>
        <a:spcAft>
          <a:spcPct val="0"/>
        </a:spcAft>
        <a:buClr>
          <a:schemeClr val="tx2"/>
        </a:buClr>
        <a:buSzPct val="75000"/>
        <a:buFont typeface="Wingdings" panose="05000000000000000000" pitchFamily="2" charset="2"/>
        <a:buChar char="§"/>
        <a:defRPr sz="2000" kern="1200">
          <a:solidFill>
            <a:schemeClr val="tx1"/>
          </a:solidFill>
          <a:latin typeface="+mn-lt"/>
          <a:ea typeface="+mn-ea"/>
          <a:cs typeface="+mn-cs"/>
        </a:defRPr>
      </a:lvl4pPr>
      <a:lvl5pPr marL="1598613" indent="-315913" algn="l" rtl="0" eaLnBrk="1" fontAlgn="base" hangingPunct="1">
        <a:spcBef>
          <a:spcPct val="20000"/>
        </a:spcBef>
        <a:spcAft>
          <a:spcPct val="0"/>
        </a:spcAft>
        <a:buClr>
          <a:schemeClr val="folHlink"/>
        </a:buClr>
        <a:buSzPct val="80000"/>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3200">
                <a:solidFill>
                  <a:srgbClr val="330066"/>
                </a:solidFill>
              </a:rPr>
              <a:t>Collaborative Git: Pull, Fetch, Push</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WEEK 2 · MONDAY</a:t>
            </a:r>
          </a:p>
        </p:txBody>
      </p:sp>
      <p:sp>
        <p:nvSpPr>
          <p:cNvPr id="4" name="TextBox 3"/>
          <p:cNvSpPr txBox="1"/>
          <p:nvPr/>
        </p:nvSpPr>
        <p:spPr>
          <a:xfrm>
            <a:off x="609904" y="2057400"/>
            <a:ext cx="8777508" cy="1097280"/>
          </a:xfrm>
          <a:prstGeom prst="rect">
            <a:avLst/>
          </a:prstGeom>
          <a:noFill/>
        </p:spPr>
        <p:txBody>
          <a:bodyPr wrap="square" anchor="t" lIns="0" rIns="0" tIns="0" bIns="0">
            <a:spAutoFit/>
          </a:bodyPr>
          <a:lstStyle/>
          <a:p>
            <a:pPr algn="l">
              <a:lnSpc>
                <a:spcPct val="110000"/>
              </a:lnSpc>
              <a:spcAft>
                <a:spcPts val="600"/>
              </a:spcAft>
            </a:pPr>
            <a:r>
              <a:rPr sz="2200" b="0" i="0">
                <a:solidFill>
                  <a:srgbClr val="5A5A5A"/>
                </a:solidFill>
                <a:latin typeface="Arial"/>
              </a:rPr>
              <a:t>Synchronise safely with a shared remote: download with fetch, integrate with pull, publish with push.</a:t>
            </a:r>
          </a:p>
        </p:txBody>
      </p:sp>
      <p:sp>
        <p:nvSpPr>
          <p:cNvPr id="5" name="Rounded Rectangle 4"/>
          <p:cNvSpPr/>
          <p:nvPr/>
        </p:nvSpPr>
        <p:spPr>
          <a:xfrm>
            <a:off x="609904" y="3520439"/>
            <a:ext cx="1537335" cy="402336"/>
          </a:xfrm>
          <a:prstGeom prst="roundRect">
            <a:avLst>
              <a:gd name="adj" fmla="val 50000"/>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250">
                <a:solidFill>
                  <a:srgbClr val="FFFFFF"/>
                </a:solidFill>
                <a:latin typeface="Arial"/>
              </a:rPr>
              <a:t>git fetch</a:t>
            </a:r>
          </a:p>
        </p:txBody>
      </p:sp>
      <p:sp>
        <p:nvSpPr>
          <p:cNvPr id="6" name="Right Arrow 5"/>
          <p:cNvSpPr/>
          <p:nvPr/>
        </p:nvSpPr>
        <p:spPr>
          <a:xfrm>
            <a:off x="2238679" y="3630167"/>
            <a:ext cx="274320" cy="18288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604439" y="3520439"/>
            <a:ext cx="1417320" cy="402336"/>
          </a:xfrm>
          <a:prstGeom prst="roundRect">
            <a:avLst>
              <a:gd name="adj" fmla="val 50000"/>
            </a:avLst>
          </a:prstGeom>
          <a:solidFill>
            <a:srgbClr val="EDE6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250">
                <a:solidFill>
                  <a:srgbClr val="330066"/>
                </a:solidFill>
                <a:latin typeface="Arial"/>
              </a:rPr>
              <a:t>git pull</a:t>
            </a:r>
          </a:p>
        </p:txBody>
      </p:sp>
      <p:sp>
        <p:nvSpPr>
          <p:cNvPr id="8" name="Right Arrow 7"/>
          <p:cNvSpPr/>
          <p:nvPr/>
        </p:nvSpPr>
        <p:spPr>
          <a:xfrm>
            <a:off x="4113199" y="3630167"/>
            <a:ext cx="274320" cy="18288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78959" y="3520439"/>
            <a:ext cx="1417320" cy="402336"/>
          </a:xfrm>
          <a:prstGeom prst="roundRect">
            <a:avLst>
              <a:gd name="adj" fmla="val 50000"/>
            </a:avLst>
          </a:prstGeom>
          <a:solidFill>
            <a:srgbClr val="EDE6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250">
                <a:solidFill>
                  <a:srgbClr val="330066"/>
                </a:solidFill>
                <a:latin typeface="Arial"/>
              </a:rPr>
              <a:t>git push</a:t>
            </a:r>
          </a:p>
        </p:txBody>
      </p:sp>
      <p:sp>
        <p:nvSpPr>
          <p:cNvPr id="10" name="Oval 9"/>
          <p:cNvSpPr/>
          <p:nvPr/>
        </p:nvSpPr>
        <p:spPr>
          <a:xfrm>
            <a:off x="609904" y="5596128"/>
            <a:ext cx="292608" cy="29260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00" b="1">
                <a:solidFill>
                  <a:srgbClr val="FFFFFF"/>
                </a:solidFill>
                <a:latin typeface="Arial"/>
              </a:rPr>
              <a:t/>
            </a:r>
          </a:p>
        </p:txBody>
      </p:sp>
      <p:sp>
        <p:nvSpPr>
          <p:cNvPr id="11" name="Oval 10"/>
          <p:cNvSpPr/>
          <p:nvPr/>
        </p:nvSpPr>
        <p:spPr>
          <a:xfrm>
            <a:off x="1067104" y="5596128"/>
            <a:ext cx="292608" cy="292608"/>
          </a:xfrm>
          <a:prstGeom prst="ellipse">
            <a:avLst/>
          </a:prstGeom>
          <a:solidFill>
            <a:srgbClr val="66999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00" b="1">
                <a:solidFill>
                  <a:srgbClr val="FFFFFF"/>
                </a:solidFill>
                <a:latin typeface="Arial"/>
              </a:rPr>
              <a:t/>
            </a:r>
          </a:p>
        </p:txBody>
      </p:sp>
      <p:sp>
        <p:nvSpPr>
          <p:cNvPr id="12" name="Oval 11"/>
          <p:cNvSpPr/>
          <p:nvPr/>
        </p:nvSpPr>
        <p:spPr>
          <a:xfrm>
            <a:off x="1524304" y="5596128"/>
            <a:ext cx="292608" cy="292608"/>
          </a:xfrm>
          <a:prstGeom prst="ellipse">
            <a:avLst/>
          </a:prstGeom>
          <a:solidFill>
            <a:srgbClr val="CC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00" b="1">
                <a:solidFill>
                  <a:srgbClr val="FFFFFF"/>
                </a:solidFill>
                <a:latin typeface="Arial"/>
              </a:rPr>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330066"/>
                </a:solidFill>
              </a:rPr>
              <a:t>Learning Objectives</a:t>
            </a:r>
          </a:p>
        </p:txBody>
      </p:sp>
      <p:sp>
        <p:nvSpPr>
          <p:cNvPr id="3" name="Oval 2"/>
          <p:cNvSpPr/>
          <p:nvPr/>
        </p:nvSpPr>
        <p:spPr>
          <a:xfrm>
            <a:off x="609904" y="1874519"/>
            <a:ext cx="402336" cy="402336"/>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Arial"/>
              </a:rPr>
              <a:t>1</a:t>
            </a:r>
          </a:p>
        </p:txBody>
      </p:sp>
      <p:sp>
        <p:nvSpPr>
          <p:cNvPr id="4" name="TextBox 3"/>
          <p:cNvSpPr txBox="1"/>
          <p:nvPr/>
        </p:nvSpPr>
        <p:spPr>
          <a:xfrm>
            <a:off x="1176832" y="1783079"/>
            <a:ext cx="10404957" cy="585216"/>
          </a:xfrm>
          <a:prstGeom prst="rect">
            <a:avLst/>
          </a:prstGeom>
          <a:noFill/>
        </p:spPr>
        <p:txBody>
          <a:bodyPr wrap="square" anchor="ctr" lIns="0" rIns="0" tIns="0" bIns="0">
            <a:spAutoFit/>
          </a:bodyPr>
          <a:lstStyle/>
          <a:p>
            <a:pPr algn="l">
              <a:lnSpc>
                <a:spcPct val="110000"/>
              </a:lnSpc>
              <a:spcAft>
                <a:spcPts val="600"/>
              </a:spcAft>
            </a:pPr>
            <a:r>
              <a:rPr sz="1400" b="0" i="0">
                <a:solidFill>
                  <a:srgbClr val="1A1A1A"/>
                </a:solidFill>
                <a:latin typeface="Arial"/>
              </a:rPr>
              <a:t>Explain local vs remote repositories, and what </a:t>
            </a:r>
            <a:r>
              <a:rPr sz="1350" b="0" i="0">
                <a:solidFill>
                  <a:srgbClr val="330066"/>
                </a:solidFill>
                <a:latin typeface="Courier New"/>
              </a:rPr>
              <a:t>origin</a:t>
            </a:r>
            <a:r>
              <a:rPr sz="1400" b="0" i="0">
                <a:solidFill>
                  <a:srgbClr val="1A1A1A"/>
                </a:solidFill>
                <a:latin typeface="Arial"/>
              </a:rPr>
              <a:t> means.</a:t>
            </a:r>
          </a:p>
        </p:txBody>
      </p:sp>
      <p:sp>
        <p:nvSpPr>
          <p:cNvPr id="5" name="Oval 4"/>
          <p:cNvSpPr/>
          <p:nvPr/>
        </p:nvSpPr>
        <p:spPr>
          <a:xfrm>
            <a:off x="609904" y="2350008"/>
            <a:ext cx="402336" cy="402336"/>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Arial"/>
              </a:rPr>
              <a:t>2</a:t>
            </a:r>
          </a:p>
        </p:txBody>
      </p:sp>
      <p:sp>
        <p:nvSpPr>
          <p:cNvPr id="6" name="TextBox 5"/>
          <p:cNvSpPr txBox="1"/>
          <p:nvPr/>
        </p:nvSpPr>
        <p:spPr>
          <a:xfrm>
            <a:off x="1176832" y="2258568"/>
            <a:ext cx="10404957" cy="585216"/>
          </a:xfrm>
          <a:prstGeom prst="rect">
            <a:avLst/>
          </a:prstGeom>
          <a:noFill/>
        </p:spPr>
        <p:txBody>
          <a:bodyPr wrap="square" anchor="ctr" lIns="0" rIns="0" tIns="0" bIns="0">
            <a:spAutoFit/>
          </a:bodyPr>
          <a:lstStyle/>
          <a:p>
            <a:pPr algn="l">
              <a:lnSpc>
                <a:spcPct val="110000"/>
              </a:lnSpc>
              <a:spcAft>
                <a:spcPts val="600"/>
              </a:spcAft>
            </a:pPr>
            <a:r>
              <a:rPr sz="1400" b="0" i="0">
                <a:solidFill>
                  <a:srgbClr val="1A1A1A"/>
                </a:solidFill>
                <a:latin typeface="Arial"/>
              </a:rPr>
              <a:t>Clone a repository and inspect its remotes with </a:t>
            </a:r>
            <a:r>
              <a:rPr sz="1350" b="0" i="0">
                <a:solidFill>
                  <a:srgbClr val="330066"/>
                </a:solidFill>
                <a:latin typeface="Courier New"/>
              </a:rPr>
              <a:t>git remote -v</a:t>
            </a:r>
            <a:r>
              <a:rPr sz="1400" b="0" i="0">
                <a:solidFill>
                  <a:srgbClr val="1A1A1A"/>
                </a:solidFill>
                <a:latin typeface="Arial"/>
              </a:rPr>
              <a:t>.</a:t>
            </a:r>
          </a:p>
        </p:txBody>
      </p:sp>
      <p:sp>
        <p:nvSpPr>
          <p:cNvPr id="7" name="Oval 6"/>
          <p:cNvSpPr/>
          <p:nvPr/>
        </p:nvSpPr>
        <p:spPr>
          <a:xfrm>
            <a:off x="609904" y="2825496"/>
            <a:ext cx="402336" cy="402336"/>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Arial"/>
              </a:rPr>
              <a:t>3</a:t>
            </a:r>
          </a:p>
        </p:txBody>
      </p:sp>
      <p:sp>
        <p:nvSpPr>
          <p:cNvPr id="8" name="TextBox 7"/>
          <p:cNvSpPr txBox="1"/>
          <p:nvPr/>
        </p:nvSpPr>
        <p:spPr>
          <a:xfrm>
            <a:off x="1176832" y="2734056"/>
            <a:ext cx="10404957" cy="585216"/>
          </a:xfrm>
          <a:prstGeom prst="rect">
            <a:avLst/>
          </a:prstGeom>
          <a:noFill/>
        </p:spPr>
        <p:txBody>
          <a:bodyPr wrap="square" anchor="ctr" lIns="0" rIns="0" tIns="0" bIns="0">
            <a:spAutoFit/>
          </a:bodyPr>
          <a:lstStyle/>
          <a:p>
            <a:pPr algn="l">
              <a:lnSpc>
                <a:spcPct val="110000"/>
              </a:lnSpc>
              <a:spcAft>
                <a:spcPts val="600"/>
              </a:spcAft>
            </a:pPr>
            <a:r>
              <a:rPr sz="1400" b="0" i="0">
                <a:solidFill>
                  <a:srgbClr val="1A1A1A"/>
                </a:solidFill>
                <a:latin typeface="Arial"/>
              </a:rPr>
              <a:t>Explain remote-tracking branches (such as </a:t>
            </a:r>
            <a:r>
              <a:rPr sz="1350" b="0" i="0">
                <a:solidFill>
                  <a:srgbClr val="330066"/>
                </a:solidFill>
                <a:latin typeface="Courier New"/>
              </a:rPr>
              <a:t>origin/main</a:t>
            </a:r>
            <a:r>
              <a:rPr sz="1400" b="0" i="0">
                <a:solidFill>
                  <a:srgbClr val="1A1A1A"/>
                </a:solidFill>
                <a:latin typeface="Arial"/>
              </a:rPr>
              <a:t>) and how they differ from local branches.</a:t>
            </a:r>
          </a:p>
        </p:txBody>
      </p:sp>
      <p:sp>
        <p:nvSpPr>
          <p:cNvPr id="9" name="Oval 8"/>
          <p:cNvSpPr/>
          <p:nvPr/>
        </p:nvSpPr>
        <p:spPr>
          <a:xfrm>
            <a:off x="609904" y="3300984"/>
            <a:ext cx="402336" cy="402336"/>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Arial"/>
              </a:rPr>
              <a:t>4</a:t>
            </a:r>
          </a:p>
        </p:txBody>
      </p:sp>
      <p:sp>
        <p:nvSpPr>
          <p:cNvPr id="10" name="TextBox 9"/>
          <p:cNvSpPr txBox="1"/>
          <p:nvPr/>
        </p:nvSpPr>
        <p:spPr>
          <a:xfrm>
            <a:off x="1176832" y="3209544"/>
            <a:ext cx="10404957" cy="585216"/>
          </a:xfrm>
          <a:prstGeom prst="rect">
            <a:avLst/>
          </a:prstGeom>
          <a:noFill/>
        </p:spPr>
        <p:txBody>
          <a:bodyPr wrap="square" anchor="ctr" lIns="0" rIns="0" tIns="0" bIns="0">
            <a:spAutoFit/>
          </a:bodyPr>
          <a:lstStyle/>
          <a:p>
            <a:pPr algn="l">
              <a:lnSpc>
                <a:spcPct val="110000"/>
              </a:lnSpc>
              <a:spcAft>
                <a:spcPts val="600"/>
              </a:spcAft>
            </a:pPr>
            <a:r>
              <a:rPr sz="1400" b="0" i="0">
                <a:solidFill>
                  <a:srgbClr val="1A1A1A"/>
                </a:solidFill>
                <a:latin typeface="Arial"/>
              </a:rPr>
              <a:t>Use </a:t>
            </a:r>
            <a:r>
              <a:rPr sz="1350" b="0" i="0">
                <a:solidFill>
                  <a:srgbClr val="330066"/>
                </a:solidFill>
                <a:latin typeface="Courier New"/>
              </a:rPr>
              <a:t>git fetch</a:t>
            </a:r>
            <a:r>
              <a:rPr sz="1400" b="0" i="0">
                <a:solidFill>
                  <a:srgbClr val="1A1A1A"/>
                </a:solidFill>
                <a:latin typeface="Arial"/>
              </a:rPr>
              <a:t> to download others' work without changing your files, and inspect what arrived.</a:t>
            </a:r>
          </a:p>
        </p:txBody>
      </p:sp>
      <p:sp>
        <p:nvSpPr>
          <p:cNvPr id="11" name="Oval 10"/>
          <p:cNvSpPr/>
          <p:nvPr/>
        </p:nvSpPr>
        <p:spPr>
          <a:xfrm>
            <a:off x="609904" y="3776472"/>
            <a:ext cx="402336" cy="402336"/>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Arial"/>
              </a:rPr>
              <a:t>5</a:t>
            </a:r>
          </a:p>
        </p:txBody>
      </p:sp>
      <p:sp>
        <p:nvSpPr>
          <p:cNvPr id="12" name="TextBox 11"/>
          <p:cNvSpPr txBox="1"/>
          <p:nvPr/>
        </p:nvSpPr>
        <p:spPr>
          <a:xfrm>
            <a:off x="1176832" y="3685032"/>
            <a:ext cx="10404957" cy="585216"/>
          </a:xfrm>
          <a:prstGeom prst="rect">
            <a:avLst/>
          </a:prstGeom>
          <a:noFill/>
        </p:spPr>
        <p:txBody>
          <a:bodyPr wrap="square" anchor="ctr" lIns="0" rIns="0" tIns="0" bIns="0">
            <a:spAutoFit/>
          </a:bodyPr>
          <a:lstStyle/>
          <a:p>
            <a:pPr algn="l">
              <a:lnSpc>
                <a:spcPct val="110000"/>
              </a:lnSpc>
              <a:spcAft>
                <a:spcPts val="600"/>
              </a:spcAft>
            </a:pPr>
            <a:r>
              <a:rPr sz="1400" b="0" i="0">
                <a:solidFill>
                  <a:srgbClr val="1A1A1A"/>
                </a:solidFill>
                <a:latin typeface="Arial"/>
              </a:rPr>
              <a:t>Use </a:t>
            </a:r>
            <a:r>
              <a:rPr sz="1350" b="0" i="0">
                <a:solidFill>
                  <a:srgbClr val="330066"/>
                </a:solidFill>
                <a:latin typeface="Courier New"/>
              </a:rPr>
              <a:t>git pull</a:t>
            </a:r>
            <a:r>
              <a:rPr sz="1400" b="0" i="0">
                <a:solidFill>
                  <a:srgbClr val="1A1A1A"/>
                </a:solidFill>
                <a:latin typeface="Arial"/>
              </a:rPr>
              <a:t> (fetch plus integrate); explain pulling with merge vs rebase.</a:t>
            </a:r>
          </a:p>
        </p:txBody>
      </p:sp>
      <p:sp>
        <p:nvSpPr>
          <p:cNvPr id="13" name="Oval 12"/>
          <p:cNvSpPr/>
          <p:nvPr/>
        </p:nvSpPr>
        <p:spPr>
          <a:xfrm>
            <a:off x="609904" y="4251960"/>
            <a:ext cx="402336" cy="402336"/>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Arial"/>
              </a:rPr>
              <a:t>6</a:t>
            </a:r>
          </a:p>
        </p:txBody>
      </p:sp>
      <p:sp>
        <p:nvSpPr>
          <p:cNvPr id="14" name="TextBox 13"/>
          <p:cNvSpPr txBox="1"/>
          <p:nvPr/>
        </p:nvSpPr>
        <p:spPr>
          <a:xfrm>
            <a:off x="1176832" y="4160520"/>
            <a:ext cx="10404957" cy="585216"/>
          </a:xfrm>
          <a:prstGeom prst="rect">
            <a:avLst/>
          </a:prstGeom>
          <a:noFill/>
        </p:spPr>
        <p:txBody>
          <a:bodyPr wrap="square" anchor="ctr" lIns="0" rIns="0" tIns="0" bIns="0">
            <a:spAutoFit/>
          </a:bodyPr>
          <a:lstStyle/>
          <a:p>
            <a:pPr algn="l">
              <a:lnSpc>
                <a:spcPct val="110000"/>
              </a:lnSpc>
              <a:spcAft>
                <a:spcPts val="600"/>
              </a:spcAft>
            </a:pPr>
            <a:r>
              <a:rPr sz="1400" b="0" i="0">
                <a:solidFill>
                  <a:srgbClr val="1A1A1A"/>
                </a:solidFill>
                <a:latin typeface="Arial"/>
              </a:rPr>
              <a:t>Use </a:t>
            </a:r>
            <a:r>
              <a:rPr sz="1350" b="0" i="0">
                <a:solidFill>
                  <a:srgbClr val="330066"/>
                </a:solidFill>
                <a:latin typeface="Courier New"/>
              </a:rPr>
              <a:t>git push</a:t>
            </a:r>
            <a:r>
              <a:rPr sz="1400" b="0" i="0">
                <a:solidFill>
                  <a:srgbClr val="1A1A1A"/>
                </a:solidFill>
                <a:latin typeface="Arial"/>
              </a:rPr>
              <a:t>, set an upstream with </a:t>
            </a:r>
            <a:r>
              <a:rPr sz="1350" b="0" i="0">
                <a:solidFill>
                  <a:srgbClr val="330066"/>
                </a:solidFill>
                <a:latin typeface="Courier New"/>
              </a:rPr>
              <a:t>-u</a:t>
            </a:r>
            <a:r>
              <a:rPr sz="1400" b="0" i="0">
                <a:solidFill>
                  <a:srgbClr val="1A1A1A"/>
                </a:solidFill>
                <a:latin typeface="Arial"/>
              </a:rPr>
              <a:t>, and understand why a push can be rejected.</a:t>
            </a:r>
          </a:p>
        </p:txBody>
      </p:sp>
      <p:sp>
        <p:nvSpPr>
          <p:cNvPr id="15" name="Oval 14"/>
          <p:cNvSpPr/>
          <p:nvPr/>
        </p:nvSpPr>
        <p:spPr>
          <a:xfrm>
            <a:off x="609904" y="4727448"/>
            <a:ext cx="402336" cy="402336"/>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Arial"/>
              </a:rPr>
              <a:t>7</a:t>
            </a:r>
          </a:p>
        </p:txBody>
      </p:sp>
      <p:sp>
        <p:nvSpPr>
          <p:cNvPr id="16" name="TextBox 15"/>
          <p:cNvSpPr txBox="1"/>
          <p:nvPr/>
        </p:nvSpPr>
        <p:spPr>
          <a:xfrm>
            <a:off x="1176832" y="4636008"/>
            <a:ext cx="10404957" cy="585216"/>
          </a:xfrm>
          <a:prstGeom prst="rect">
            <a:avLst/>
          </a:prstGeom>
          <a:noFill/>
        </p:spPr>
        <p:txBody>
          <a:bodyPr wrap="square" anchor="ctr" lIns="0" rIns="0" tIns="0" bIns="0">
            <a:spAutoFit/>
          </a:bodyPr>
          <a:lstStyle/>
          <a:p>
            <a:pPr algn="l">
              <a:lnSpc>
                <a:spcPct val="110000"/>
              </a:lnSpc>
              <a:spcAft>
                <a:spcPts val="600"/>
              </a:spcAft>
            </a:pPr>
            <a:r>
              <a:rPr sz="1400" b="0" i="0">
                <a:solidFill>
                  <a:srgbClr val="1A1A1A"/>
                </a:solidFill>
                <a:latin typeface="Arial"/>
              </a:rPr>
              <a:t>Follow a safe daily collaboration routine, including feature branches.</a:t>
            </a:r>
          </a:p>
        </p:txBody>
      </p:sp>
      <p:sp>
        <p:nvSpPr>
          <p:cNvPr id="17" name="Oval 16"/>
          <p:cNvSpPr/>
          <p:nvPr/>
        </p:nvSpPr>
        <p:spPr>
          <a:xfrm>
            <a:off x="609904" y="5202936"/>
            <a:ext cx="402336" cy="402336"/>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Arial"/>
              </a:rPr>
              <a:t>8</a:t>
            </a:r>
          </a:p>
        </p:txBody>
      </p:sp>
      <p:sp>
        <p:nvSpPr>
          <p:cNvPr id="18" name="TextBox 17"/>
          <p:cNvSpPr txBox="1"/>
          <p:nvPr/>
        </p:nvSpPr>
        <p:spPr>
          <a:xfrm>
            <a:off x="1176832" y="5111496"/>
            <a:ext cx="10404957" cy="585216"/>
          </a:xfrm>
          <a:prstGeom prst="rect">
            <a:avLst/>
          </a:prstGeom>
          <a:noFill/>
        </p:spPr>
        <p:txBody>
          <a:bodyPr wrap="square" anchor="ctr" lIns="0" rIns="0" tIns="0" bIns="0">
            <a:spAutoFit/>
          </a:bodyPr>
          <a:lstStyle/>
          <a:p>
            <a:pPr algn="l">
              <a:lnSpc>
                <a:spcPct val="110000"/>
              </a:lnSpc>
              <a:spcAft>
                <a:spcPts val="600"/>
              </a:spcAft>
            </a:pPr>
            <a:r>
              <a:rPr sz="1400" b="0" i="0">
                <a:solidFill>
                  <a:srgbClr val="1A1A1A"/>
                </a:solidFill>
                <a:latin typeface="Arial"/>
              </a:rPr>
              <a:t>Understand authentication (HTTPS tokens, SSH keys) and when force-pushing is dangerous.</a:t>
            </a:r>
          </a:p>
        </p:txBody>
      </p:sp>
      <p:sp>
        <p:nvSpPr>
          <p:cNvPr id="19" name="TextBox 18"/>
          <p:cNvSpPr txBox="1"/>
          <p:nvPr/>
        </p:nvSpPr>
        <p:spPr>
          <a:xfrm>
            <a:off x="609904" y="6382512"/>
            <a:ext cx="8686800" cy="274320"/>
          </a:xfrm>
          <a:prstGeom prst="rect">
            <a:avLst/>
          </a:prstGeom>
          <a:noFill/>
        </p:spPr>
        <p:txBody>
          <a:bodyPr wrap="square" anchor="t" lIns="0" rIns="0" tIns="0" bIns="0">
            <a:spAutoFit/>
          </a:bodyPr>
          <a:lstStyle/>
          <a:p>
            <a:pPr algn="l">
              <a:lnSpc>
                <a:spcPct val="110000"/>
              </a:lnSpc>
              <a:spcAft>
                <a:spcPts val="600"/>
              </a:spcAft>
            </a:pPr>
            <a:r>
              <a:rPr sz="900" b="0" i="0">
                <a:solidFill>
                  <a:srgbClr val="5A5A5A"/>
                </a:solidFill>
                <a:latin typeface="Arial"/>
              </a:rPr>
              <a:t>Collaborative Git Workflow  ·  Week 2 · Monday   |   2 / 55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330066"/>
                </a:solidFill>
              </a:rPr>
              <a:t>Scope Note</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INTRODUCTION</a:t>
            </a:r>
          </a:p>
        </p:txBody>
      </p:sp>
      <p:sp>
        <p:nvSpPr>
          <p:cNvPr id="4" name="Rounded Rectangle 3"/>
          <p:cNvSpPr/>
          <p:nvPr/>
        </p:nvSpPr>
        <p:spPr>
          <a:xfrm>
            <a:off x="609904" y="1783080"/>
            <a:ext cx="10971885" cy="1188720"/>
          </a:xfrm>
          <a:prstGeom prst="roundRect">
            <a:avLst>
              <a:gd name="adj" fmla="val 6923"/>
            </a:avLst>
          </a:prstGeom>
          <a:solidFill>
            <a:srgbClr val="F5F5C2"/>
          </a:solidFill>
          <a:ln w="12700">
            <a:solidFill>
              <a:srgbClr val="F5F5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38504" y="1920240"/>
            <a:ext cx="10514685" cy="914400"/>
          </a:xfrm>
          <a:prstGeom prst="rect">
            <a:avLst/>
          </a:prstGeom>
          <a:noFill/>
        </p:spPr>
        <p:txBody>
          <a:bodyPr wrap="square" anchor="t" lIns="0" rIns="0" tIns="0" bIns="0">
            <a:spAutoFit/>
          </a:bodyPr>
          <a:lstStyle/>
          <a:p>
            <a:pPr algn="l">
              <a:lnSpc>
                <a:spcPct val="110000"/>
              </a:lnSpc>
              <a:spcAft>
                <a:spcPts val="300"/>
              </a:spcAft>
            </a:pPr>
            <a:r>
              <a:rPr sz="1100" b="1" i="0">
                <a:solidFill>
                  <a:srgbClr val="5C8A8A"/>
                </a:solidFill>
                <a:latin typeface="Arial"/>
              </a:rPr>
              <a:t>ASSUMED KNOWLEDGE</a:t>
            </a:r>
          </a:p>
          <a:p>
            <a:pPr algn="l">
              <a:lnSpc>
                <a:spcPct val="110000"/>
              </a:lnSpc>
              <a:spcAft>
                <a:spcPts val="600"/>
              </a:spcAft>
            </a:pPr>
            <a:r>
              <a:rPr sz="1400" b="0" i="0">
                <a:solidFill>
                  <a:srgbClr val="1A1A1A"/>
                </a:solidFill>
                <a:latin typeface="Arial"/>
              </a:rPr>
              <a:t>This lesson assumes the basic local commands (</a:t>
            </a:r>
            <a:r>
              <a:rPr sz="1350" b="0" i="0">
                <a:solidFill>
                  <a:srgbClr val="330066"/>
                </a:solidFill>
                <a:latin typeface="Courier New"/>
              </a:rPr>
              <a:t>git init</a:t>
            </a:r>
            <a:r>
              <a:rPr sz="1400" b="0" i="0">
                <a:solidFill>
                  <a:srgbClr val="1A1A1A"/>
                </a:solidFill>
                <a:latin typeface="Arial"/>
              </a:rPr>
              <a:t>, </a:t>
            </a:r>
            <a:r>
              <a:rPr sz="1350" b="0" i="0">
                <a:solidFill>
                  <a:srgbClr val="330066"/>
                </a:solidFill>
                <a:latin typeface="Courier New"/>
              </a:rPr>
              <a:t>git status</a:t>
            </a:r>
            <a:r>
              <a:rPr sz="1400" b="0" i="0">
                <a:solidFill>
                  <a:srgbClr val="1A1A1A"/>
                </a:solidFill>
                <a:latin typeface="Arial"/>
              </a:rPr>
              <a:t>, </a:t>
            </a:r>
            <a:r>
              <a:rPr sz="1350" b="0" i="0">
                <a:solidFill>
                  <a:srgbClr val="330066"/>
                </a:solidFill>
                <a:latin typeface="Courier New"/>
              </a:rPr>
              <a:t>git add</a:t>
            </a:r>
            <a:r>
              <a:rPr sz="1400" b="0" i="0">
                <a:solidFill>
                  <a:srgbClr val="1A1A1A"/>
                </a:solidFill>
                <a:latin typeface="Arial"/>
              </a:rPr>
              <a:t>, </a:t>
            </a:r>
            <a:r>
              <a:rPr sz="1350" b="0" i="0">
                <a:solidFill>
                  <a:srgbClr val="330066"/>
                </a:solidFill>
                <a:latin typeface="Courier New"/>
              </a:rPr>
              <a:t>git commit</a:t>
            </a:r>
            <a:r>
              <a:rPr sz="1400" b="0" i="0">
                <a:solidFill>
                  <a:srgbClr val="1A1A1A"/>
                </a:solidFill>
                <a:latin typeface="Arial"/>
              </a:rPr>
              <a:t>, </a:t>
            </a:r>
            <a:r>
              <a:rPr sz="1350" b="0" i="0">
                <a:solidFill>
                  <a:srgbClr val="330066"/>
                </a:solidFill>
                <a:latin typeface="Courier New"/>
              </a:rPr>
              <a:t>git log</a:t>
            </a:r>
            <a:r>
              <a:rPr sz="1400" b="0" i="0">
                <a:solidFill>
                  <a:srgbClr val="1A1A1A"/>
                </a:solidFill>
                <a:latin typeface="Arial"/>
              </a:rPr>
              <a:t>, and the idea of a branch). If you need a refresher, practise them in a throw-away folder first.</a:t>
            </a:r>
          </a:p>
        </p:txBody>
      </p:sp>
      <p:sp>
        <p:nvSpPr>
          <p:cNvPr id="6" name="Rounded Rectangle 5"/>
          <p:cNvSpPr/>
          <p:nvPr/>
        </p:nvSpPr>
        <p:spPr>
          <a:xfrm>
            <a:off x="609904" y="3246120"/>
            <a:ext cx="10971885" cy="1005840"/>
          </a:xfrm>
          <a:prstGeom prst="roundRect">
            <a:avLst>
              <a:gd name="adj" fmla="val 8181"/>
            </a:avLst>
          </a:prstGeom>
          <a:solidFill>
            <a:srgbClr val="E9F1F1"/>
          </a:solidFill>
          <a:ln w="12700">
            <a:solidFill>
              <a:srgbClr val="E9F1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504" y="3383279"/>
            <a:ext cx="10514685" cy="731520"/>
          </a:xfrm>
          <a:prstGeom prst="rect">
            <a:avLst/>
          </a:prstGeom>
          <a:noFill/>
        </p:spPr>
        <p:txBody>
          <a:bodyPr wrap="square" anchor="t" lIns="0" rIns="0" tIns="0" bIns="0">
            <a:spAutoFit/>
          </a:bodyPr>
          <a:lstStyle/>
          <a:p>
            <a:pPr algn="l">
              <a:lnSpc>
                <a:spcPct val="110000"/>
              </a:lnSpc>
              <a:spcAft>
                <a:spcPts val="300"/>
              </a:spcAft>
            </a:pPr>
            <a:r>
              <a:rPr sz="1100" b="1" i="0">
                <a:solidFill>
                  <a:srgbClr val="5C8A8A"/>
                </a:solidFill>
                <a:latin typeface="Arial"/>
              </a:rPr>
              <a:t>CONFLICTS</a:t>
            </a:r>
          </a:p>
          <a:p>
            <a:pPr algn="l">
              <a:lnSpc>
                <a:spcPct val="110000"/>
              </a:lnSpc>
              <a:spcAft>
                <a:spcPts val="600"/>
              </a:spcAft>
            </a:pPr>
            <a:r>
              <a:rPr sz="1400" b="0" i="0">
                <a:solidFill>
                  <a:srgbClr val="1A1A1A"/>
                </a:solidFill>
                <a:latin typeface="Arial"/>
              </a:rPr>
              <a:t>When a pull or merge produces a conflict, we will say so and stop. Resolving conflicts is the focus of its own lesson on Wednesday.</a:t>
            </a:r>
          </a:p>
        </p:txBody>
      </p:sp>
      <p:sp>
        <p:nvSpPr>
          <p:cNvPr id="8" name="TextBox 7"/>
          <p:cNvSpPr txBox="1"/>
          <p:nvPr/>
        </p:nvSpPr>
        <p:spPr>
          <a:xfrm>
            <a:off x="609904" y="6382512"/>
            <a:ext cx="8686800" cy="274320"/>
          </a:xfrm>
          <a:prstGeom prst="rect">
            <a:avLst/>
          </a:prstGeom>
          <a:noFill/>
        </p:spPr>
        <p:txBody>
          <a:bodyPr wrap="square" anchor="t" lIns="0" rIns="0" tIns="0" bIns="0">
            <a:spAutoFit/>
          </a:bodyPr>
          <a:lstStyle/>
          <a:p>
            <a:pPr algn="l">
              <a:lnSpc>
                <a:spcPct val="110000"/>
              </a:lnSpc>
              <a:spcAft>
                <a:spcPts val="600"/>
              </a:spcAft>
            </a:pPr>
            <a:r>
              <a:rPr sz="900" b="0" i="0">
                <a:solidFill>
                  <a:srgbClr val="5A5A5A"/>
                </a:solidFill>
                <a:latin typeface="Arial"/>
              </a:rPr>
              <a:t>Collaborative Git Workflow  ·  Week 2 · Monday   |   3 / 55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330066"/>
                </a:solidFill>
              </a:rPr>
              <a:t>Why This Matters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INTRODUCTION</a:t>
            </a:r>
          </a:p>
        </p:txBody>
      </p:sp>
      <p:sp>
        <p:nvSpPr>
          <p:cNvPr id="4" name="TextBox 3"/>
          <p:cNvSpPr txBox="1"/>
          <p:nvPr/>
        </p:nvSpPr>
        <p:spPr>
          <a:xfrm>
            <a:off x="609904" y="1783080"/>
            <a:ext cx="10971885" cy="1554480"/>
          </a:xfrm>
          <a:prstGeom prst="rect">
            <a:avLst/>
          </a:prstGeom>
          <a:noFill/>
        </p:spPr>
        <p:txBody>
          <a:bodyPr wrap="square" anchor="t" lIns="0" rIns="0" tIns="0" bIns="0">
            <a:spAutoFit/>
          </a:bodyPr>
          <a:lstStyle/>
          <a:p>
            <a:pPr algn="l">
              <a:lnSpc>
                <a:spcPct val="110000"/>
              </a:lnSpc>
              <a:spcAft>
                <a:spcPts val="600"/>
              </a:spcAft>
            </a:pPr>
            <a:r>
              <a:rPr sz="1500" b="0" i="0">
                <a:solidFill>
                  <a:srgbClr val="1A1A1A"/>
                </a:solidFill>
                <a:latin typeface="Arial"/>
              </a:rPr>
              <a:t>Test automation is a team sport: five people may add tests, fix helpers and update test data in the same repository every day. Git combines the work; the remote (GitHub, GitLab, Bitbucket, Azure DevOps) is the shared meeting point.</a:t>
            </a:r>
          </a:p>
          <a:p>
            <a:pPr algn="l">
              <a:lnSpc>
                <a:spcPct val="110000"/>
              </a:lnSpc>
              <a:spcAft>
                <a:spcPts val="600"/>
              </a:spcAft>
            </a:pPr>
            <a:r>
              <a:rPr sz="1500" b="0" i="0">
                <a:solidFill>
                  <a:srgbClr val="1A1A1A"/>
                </a:solidFill>
                <a:latin typeface="Arial"/>
              </a:rPr>
              <a:t>Project 1 starts today. Your modules, packages and </a:t>
            </a:r>
            <a:r>
              <a:rPr sz="1450" b="0" i="0">
                <a:solidFill>
                  <a:srgbClr val="330066"/>
                </a:solidFill>
                <a:latin typeface="Courier New"/>
              </a:rPr>
              <a:t>requirements.txt</a:t>
            </a:r>
            <a:r>
              <a:rPr sz="1500" b="0" i="0">
                <a:solidFill>
                  <a:srgbClr val="1A1A1A"/>
                </a:solidFill>
                <a:latin typeface="Arial"/>
              </a:rPr>
              <a:t> only help a team if they are committed, pushed and pulled correctly: a teammate or CI clones, creates a venv, runs </a:t>
            </a:r>
            <a:r>
              <a:rPr sz="1450" b="0" i="0">
                <a:solidFill>
                  <a:srgbClr val="330066"/>
                </a:solidFill>
                <a:latin typeface="Courier New"/>
              </a:rPr>
              <a:t>pip install -r requirements.txt</a:t>
            </a:r>
            <a:r>
              <a:rPr sz="1500" b="0" i="0">
                <a:solidFill>
                  <a:srgbClr val="1A1A1A"/>
                </a:solidFill>
                <a:latin typeface="Arial"/>
              </a:rPr>
              <a:t>, and expects it to work.</a:t>
            </a:r>
          </a:p>
        </p:txBody>
      </p:sp>
      <p:sp>
        <p:nvSpPr>
          <p:cNvPr id="5" name="TextBox 4"/>
          <p:cNvSpPr txBox="1"/>
          <p:nvPr/>
        </p:nvSpPr>
        <p:spPr>
          <a:xfrm>
            <a:off x="609904" y="3886200"/>
            <a:ext cx="5486400" cy="274320"/>
          </a:xfrm>
          <a:prstGeom prst="rect">
            <a:avLst/>
          </a:prstGeom>
          <a:noFill/>
        </p:spPr>
        <p:txBody>
          <a:bodyPr wrap="square" anchor="t" lIns="0" rIns="0" tIns="0" bIns="0">
            <a:spAutoFit/>
          </a:bodyPr>
          <a:lstStyle/>
          <a:p>
            <a:pPr algn="l">
              <a:lnSpc>
                <a:spcPct val="110000"/>
              </a:lnSpc>
              <a:spcAft>
                <a:spcPts val="600"/>
              </a:spcAft>
            </a:pPr>
            <a:r>
              <a:rPr sz="1100" b="1" i="0">
                <a:solidFill>
                  <a:srgbClr val="B03A2E"/>
                </a:solidFill>
                <a:latin typeface="Arial"/>
              </a:rPr>
              <a:t>Without fetch/pull/push you will hit messages like</a:t>
            </a:r>
          </a:p>
        </p:txBody>
      </p:sp>
      <p:sp>
        <p:nvSpPr>
          <p:cNvPr id="6" name="Rounded Rectangle 5"/>
          <p:cNvSpPr/>
          <p:nvPr/>
        </p:nvSpPr>
        <p:spPr>
          <a:xfrm>
            <a:off x="609904" y="4160520"/>
            <a:ext cx="10971885" cy="688848"/>
          </a:xfrm>
          <a:prstGeom prst="roundRect">
            <a:avLst>
              <a:gd name="adj" fmla="val 10619"/>
            </a:avLst>
          </a:prstGeom>
          <a:solidFill>
            <a:srgbClr val="FBEDEB"/>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1072" y="4306824"/>
            <a:ext cx="10569549" cy="396239"/>
          </a:xfrm>
          <a:prstGeom prst="rect">
            <a:avLst/>
          </a:prstGeom>
          <a:noFill/>
        </p:spPr>
        <p:txBody>
          <a:bodyPr wrap="square" lIns="0" rIns="0" tIns="0" bIns="0">
            <a:spAutoFit/>
          </a:bodyPr>
          <a:lstStyle/>
          <a:p>
            <a:pPr algn="l">
              <a:lnSpc>
                <a:spcPct val="100000"/>
              </a:lnSpc>
            </a:pPr>
            <a:r>
              <a:rPr sz="1300">
                <a:solidFill>
                  <a:srgbClr val="1A1A1A"/>
                </a:solidFill>
                <a:latin typeface="Courier New"/>
              </a:rPr>
              <a:t>! [rejected]        main -&gt; main (fetch first)</a:t>
            </a:r>
          </a:p>
          <a:p>
            <a:pPr algn="l">
              <a:lnSpc>
                <a:spcPct val="100000"/>
              </a:lnSpc>
            </a:pPr>
            <a:r>
              <a:rPr sz="1300">
                <a:solidFill>
                  <a:srgbClr val="1A1A1A"/>
                </a:solidFill>
                <a:latin typeface="Courier New"/>
              </a:rPr>
              <a:t>error: failed to push some refs to ...</a:t>
            </a:r>
          </a:p>
        </p:txBody>
      </p:sp>
      <p:sp>
        <p:nvSpPr>
          <p:cNvPr id="8" name="TextBox 7"/>
          <p:cNvSpPr txBox="1"/>
          <p:nvPr/>
        </p:nvSpPr>
        <p:spPr>
          <a:xfrm>
            <a:off x="609904" y="5029200"/>
            <a:ext cx="10971885" cy="731520"/>
          </a:xfrm>
          <a:prstGeom prst="rect">
            <a:avLst/>
          </a:prstGeom>
          <a:noFill/>
        </p:spPr>
        <p:txBody>
          <a:bodyPr wrap="square" anchor="t" lIns="0" rIns="0" tIns="0" bIns="0">
            <a:spAutoFit/>
          </a:bodyPr>
          <a:lstStyle/>
          <a:p>
            <a:pPr algn="l">
              <a:lnSpc>
                <a:spcPct val="110000"/>
              </a:lnSpc>
              <a:spcAft>
                <a:spcPts val="600"/>
              </a:spcAft>
            </a:pPr>
            <a:r>
              <a:rPr sz="1500" b="0" i="0">
                <a:solidFill>
                  <a:srgbClr val="5A5A5A"/>
                </a:solidFill>
                <a:latin typeface="Arial"/>
              </a:rPr>
              <a:t>...and be tempted to "fix" them with dangerous commands. After this lesson, those messages will be ordinary.</a:t>
            </a:r>
          </a:p>
        </p:txBody>
      </p:sp>
      <p:sp>
        <p:nvSpPr>
          <p:cNvPr id="9" name="TextBox 8"/>
          <p:cNvSpPr txBox="1"/>
          <p:nvPr/>
        </p:nvSpPr>
        <p:spPr>
          <a:xfrm>
            <a:off x="609904" y="6382512"/>
            <a:ext cx="8686800" cy="274320"/>
          </a:xfrm>
          <a:prstGeom prst="rect">
            <a:avLst/>
          </a:prstGeom>
          <a:noFill/>
        </p:spPr>
        <p:txBody>
          <a:bodyPr wrap="square" anchor="t" lIns="0" rIns="0" tIns="0" bIns="0">
            <a:spAutoFit/>
          </a:bodyPr>
          <a:lstStyle/>
          <a:p>
            <a:pPr algn="l">
              <a:lnSpc>
                <a:spcPct val="110000"/>
              </a:lnSpc>
              <a:spcAft>
                <a:spcPts val="600"/>
              </a:spcAft>
            </a:pPr>
            <a:r>
              <a:rPr sz="900" b="0" i="0">
                <a:solidFill>
                  <a:srgbClr val="5A5A5A"/>
                </a:solidFill>
                <a:latin typeface="Arial"/>
              </a:rPr>
              <a:t>Collaborative Git Workflow  ·  Week 2 · Monday   |   4 / 55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330066"/>
                </a:solidFill>
              </a:rPr>
              <a:t>Analogy: A Shared Document</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INTRODUCTION</a:t>
            </a:r>
          </a:p>
        </p:txBody>
      </p:sp>
      <p:sp>
        <p:nvSpPr>
          <p:cNvPr id="4" name="Rounded Rectangle 3"/>
          <p:cNvSpPr/>
          <p:nvPr/>
        </p:nvSpPr>
        <p:spPr>
          <a:xfrm>
            <a:off x="609904" y="1783080"/>
            <a:ext cx="5348782" cy="2043684"/>
          </a:xfrm>
          <a:prstGeom prst="roundRect">
            <a:avLst>
              <a:gd name="adj" fmla="val 4026"/>
            </a:avLst>
          </a:prstGeom>
          <a:solidFill>
            <a:srgbClr val="EDE6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38504" y="1965960"/>
            <a:ext cx="4891582" cy="1677924"/>
          </a:xfrm>
          <a:prstGeom prst="rect">
            <a:avLst/>
          </a:prstGeom>
          <a:noFill/>
        </p:spPr>
        <p:txBody>
          <a:bodyPr wrap="square" anchor="t" lIns="0" rIns="0" tIns="0" bIns="0">
            <a:spAutoFit/>
          </a:bodyPr>
          <a:lstStyle/>
          <a:p>
            <a:pPr algn="l">
              <a:lnSpc>
                <a:spcPct val="110000"/>
              </a:lnSpc>
              <a:spcAft>
                <a:spcPts val="800"/>
              </a:spcAft>
            </a:pPr>
            <a:r>
              <a:rPr sz="1600" b="1" i="0">
                <a:solidFill>
                  <a:srgbClr val="330066"/>
                </a:solidFill>
                <a:latin typeface="Arial"/>
              </a:rPr>
              <a:t>Local repository</a:t>
            </a:r>
          </a:p>
          <a:p>
            <a:pPr algn="l">
              <a:lnSpc>
                <a:spcPct val="110000"/>
              </a:lnSpc>
              <a:spcAft>
                <a:spcPts val="600"/>
              </a:spcAft>
            </a:pPr>
            <a:r>
              <a:rPr sz="1450" b="0" i="0">
                <a:solidFill>
                  <a:srgbClr val="1A1A1A"/>
                </a:solidFill>
                <a:latin typeface="Arial"/>
              </a:rPr>
              <a:t>A copy on your own laptop that you edit freely. The remote is the master copy in the shared folder.</a:t>
            </a:r>
          </a:p>
        </p:txBody>
      </p:sp>
      <p:sp>
        <p:nvSpPr>
          <p:cNvPr id="6" name="Rounded Rectangle 5"/>
          <p:cNvSpPr/>
          <p:nvPr/>
        </p:nvSpPr>
        <p:spPr>
          <a:xfrm>
            <a:off x="6233007" y="1783080"/>
            <a:ext cx="5348782" cy="2043684"/>
          </a:xfrm>
          <a:prstGeom prst="roundRect">
            <a:avLst>
              <a:gd name="adj" fmla="val 4026"/>
            </a:avLst>
          </a:prstGeom>
          <a:solidFill>
            <a:srgbClr val="E9F1F1"/>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1607" y="1965960"/>
            <a:ext cx="4891582" cy="1677924"/>
          </a:xfrm>
          <a:prstGeom prst="rect">
            <a:avLst/>
          </a:prstGeom>
          <a:noFill/>
        </p:spPr>
        <p:txBody>
          <a:bodyPr wrap="square" anchor="t" lIns="0" rIns="0" tIns="0" bIns="0">
            <a:spAutoFit/>
          </a:bodyPr>
          <a:lstStyle/>
          <a:p>
            <a:pPr algn="l">
              <a:lnSpc>
                <a:spcPct val="110000"/>
              </a:lnSpc>
              <a:spcAft>
                <a:spcPts val="800"/>
              </a:spcAft>
            </a:pPr>
            <a:r>
              <a:rPr sz="1600" b="1" i="0">
                <a:solidFill>
                  <a:srgbClr val="330066"/>
                </a:solidFill>
                <a:latin typeface="Arial"/>
              </a:rPr>
              <a:t>Fetch</a:t>
            </a:r>
          </a:p>
          <a:p>
            <a:pPr algn="l">
              <a:lnSpc>
                <a:spcPct val="110000"/>
              </a:lnSpc>
              <a:spcAft>
                <a:spcPts val="600"/>
              </a:spcAft>
            </a:pPr>
            <a:r>
              <a:rPr sz="1450" b="0" i="0">
                <a:solidFill>
                  <a:srgbClr val="1A1A1A"/>
                </a:solidFill>
                <a:latin typeface="Arial"/>
              </a:rPr>
              <a:t>Check what changed in the shared folder and bring me copies to look at, without touching my working document.</a:t>
            </a:r>
          </a:p>
        </p:txBody>
      </p:sp>
      <p:sp>
        <p:nvSpPr>
          <p:cNvPr id="8" name="Rounded Rectangle 7"/>
          <p:cNvSpPr/>
          <p:nvPr/>
        </p:nvSpPr>
        <p:spPr>
          <a:xfrm>
            <a:off x="609904" y="4101083"/>
            <a:ext cx="5348782" cy="2043684"/>
          </a:xfrm>
          <a:prstGeom prst="roundRect">
            <a:avLst>
              <a:gd name="adj" fmla="val 4026"/>
            </a:avLst>
          </a:prstGeom>
          <a:solidFill>
            <a:srgbClr val="EDE6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8504" y="4283964"/>
            <a:ext cx="4891582" cy="1677924"/>
          </a:xfrm>
          <a:prstGeom prst="rect">
            <a:avLst/>
          </a:prstGeom>
          <a:noFill/>
        </p:spPr>
        <p:txBody>
          <a:bodyPr wrap="square" anchor="t" lIns="0" rIns="0" tIns="0" bIns="0">
            <a:spAutoFit/>
          </a:bodyPr>
          <a:lstStyle/>
          <a:p>
            <a:pPr algn="l">
              <a:lnSpc>
                <a:spcPct val="110000"/>
              </a:lnSpc>
              <a:spcAft>
                <a:spcPts val="800"/>
              </a:spcAft>
            </a:pPr>
            <a:r>
              <a:rPr sz="1600" b="1" i="0">
                <a:solidFill>
                  <a:srgbClr val="330066"/>
                </a:solidFill>
                <a:latin typeface="Arial"/>
              </a:rPr>
              <a:t>Pull</a:t>
            </a:r>
          </a:p>
          <a:p>
            <a:pPr algn="l">
              <a:lnSpc>
                <a:spcPct val="110000"/>
              </a:lnSpc>
              <a:spcAft>
                <a:spcPts val="600"/>
              </a:spcAft>
            </a:pPr>
            <a:r>
              <a:rPr sz="1450" b="0" i="0">
                <a:solidFill>
                  <a:srgbClr val="1A1A1A"/>
                </a:solidFill>
                <a:latin typeface="Arial"/>
              </a:rPr>
              <a:t>Bring in the changes and merge them into my document now.</a:t>
            </a:r>
          </a:p>
        </p:txBody>
      </p:sp>
      <p:sp>
        <p:nvSpPr>
          <p:cNvPr id="10" name="Rounded Rectangle 9"/>
          <p:cNvSpPr/>
          <p:nvPr/>
        </p:nvSpPr>
        <p:spPr>
          <a:xfrm>
            <a:off x="6233007" y="4101083"/>
            <a:ext cx="5348782" cy="2043684"/>
          </a:xfrm>
          <a:prstGeom prst="roundRect">
            <a:avLst>
              <a:gd name="adj" fmla="val 4026"/>
            </a:avLst>
          </a:prstGeom>
          <a:solidFill>
            <a:srgbClr val="E9F1F1"/>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61607" y="4283964"/>
            <a:ext cx="4891582" cy="1677924"/>
          </a:xfrm>
          <a:prstGeom prst="rect">
            <a:avLst/>
          </a:prstGeom>
          <a:noFill/>
        </p:spPr>
        <p:txBody>
          <a:bodyPr wrap="square" anchor="t" lIns="0" rIns="0" tIns="0" bIns="0">
            <a:spAutoFit/>
          </a:bodyPr>
          <a:lstStyle/>
          <a:p>
            <a:pPr algn="l">
              <a:lnSpc>
                <a:spcPct val="110000"/>
              </a:lnSpc>
              <a:spcAft>
                <a:spcPts val="800"/>
              </a:spcAft>
            </a:pPr>
            <a:r>
              <a:rPr sz="1600" b="1" i="0">
                <a:solidFill>
                  <a:srgbClr val="330066"/>
                </a:solidFill>
                <a:latin typeface="Arial"/>
              </a:rPr>
              <a:t>Push</a:t>
            </a:r>
          </a:p>
          <a:p>
            <a:pPr algn="l">
              <a:lnSpc>
                <a:spcPct val="110000"/>
              </a:lnSpc>
              <a:spcAft>
                <a:spcPts val="600"/>
              </a:spcAft>
            </a:pPr>
            <a:r>
              <a:rPr sz="1450" b="0" i="0">
                <a:solidFill>
                  <a:srgbClr val="1A1A1A"/>
                </a:solidFill>
                <a:latin typeface="Arial"/>
              </a:rPr>
              <a:t>Publish my changes to the shared folder: allowed only if I have seen everything others already published.</a:t>
            </a:r>
          </a:p>
        </p:txBody>
      </p:sp>
      <p:sp>
        <p:nvSpPr>
          <p:cNvPr id="12" name="TextBox 11"/>
          <p:cNvSpPr txBox="1"/>
          <p:nvPr/>
        </p:nvSpPr>
        <p:spPr>
          <a:xfrm>
            <a:off x="609904" y="6382512"/>
            <a:ext cx="8686800" cy="274320"/>
          </a:xfrm>
          <a:prstGeom prst="rect">
            <a:avLst/>
          </a:prstGeom>
          <a:noFill/>
        </p:spPr>
        <p:txBody>
          <a:bodyPr wrap="square" anchor="t" lIns="0" rIns="0" tIns="0" bIns="0">
            <a:spAutoFit/>
          </a:bodyPr>
          <a:lstStyle/>
          <a:p>
            <a:pPr algn="l">
              <a:lnSpc>
                <a:spcPct val="110000"/>
              </a:lnSpc>
              <a:spcAft>
                <a:spcPts val="600"/>
              </a:spcAft>
            </a:pPr>
            <a:r>
              <a:rPr sz="900" b="0" i="0">
                <a:solidFill>
                  <a:srgbClr val="5A5A5A"/>
                </a:solidFill>
                <a:latin typeface="Arial"/>
              </a:rPr>
              <a:t>Collaborative Git Workflow  ·  Week 2 · Monday   |   5 / 55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330066"/>
                </a:solidFill>
              </a:rPr>
              <a:t>The Concept</a:t>
            </a:r>
          </a:p>
        </p:txBody>
      </p:sp>
      <p:sp>
        <p:nvSpPr>
          <p:cNvPr id="3" name="Text Placeholder 2"/>
          <p:cNvSpPr>
            <a:spLocks noGrp="1"/>
          </p:cNvSpPr>
          <p:nvPr>
            <p:ph type="body" idx="1"/>
          </p:nvPr>
        </p:nvSpPr>
        <p:spPr/>
        <p:txBody>
          <a:bodyPr/>
          <a:lstStyle/>
          <a:p>
            <a:r>
              <a:rPr sz="1800">
                <a:solidFill>
                  <a:srgbClr val="5A5A5A"/>
                </a:solidFill>
              </a:rPr>
              <a:t>Remotes, remote-tracking branches, fetch, pull, push, routine, authentication</a:t>
            </a:r>
          </a:p>
        </p:txBody>
      </p:sp>
      <p:sp>
        <p:nvSpPr>
          <p:cNvPr id="4" name="TextBox 3"/>
          <p:cNvSpPr txBox="1"/>
          <p:nvPr/>
        </p:nvSpPr>
        <p:spPr>
          <a:xfrm>
            <a:off x="832104" y="1600200"/>
            <a:ext cx="3657600" cy="1097280"/>
          </a:xfrm>
          <a:prstGeom prst="rect">
            <a:avLst/>
          </a:prstGeom>
          <a:noFill/>
        </p:spPr>
        <p:txBody>
          <a:bodyPr wrap="square" anchor="t" lIns="0" rIns="0" tIns="0" bIns="0">
            <a:spAutoFit/>
          </a:bodyPr>
          <a:lstStyle/>
          <a:p>
            <a:pPr algn="l">
              <a:lnSpc>
                <a:spcPct val="110000"/>
              </a:lnSpc>
              <a:spcAft>
                <a:spcPts val="600"/>
              </a:spcAft>
            </a:pPr>
            <a:r>
              <a:rPr sz="6600" b="1" i="0">
                <a:solidFill>
                  <a:srgbClr val="669999"/>
                </a:solidFill>
                <a:latin typeface="Arial"/>
              </a:rPr>
              <a:t>01</a:t>
            </a:r>
          </a:p>
        </p:txBody>
      </p:sp>
      <p:sp>
        <p:nvSpPr>
          <p:cNvPr id="5" name="TextBox 4"/>
          <p:cNvSpPr txBox="1"/>
          <p:nvPr/>
        </p:nvSpPr>
        <p:spPr>
          <a:xfrm>
            <a:off x="609904" y="6382512"/>
            <a:ext cx="8686800" cy="274320"/>
          </a:xfrm>
          <a:prstGeom prst="rect">
            <a:avLst/>
          </a:prstGeom>
          <a:noFill/>
        </p:spPr>
        <p:txBody>
          <a:bodyPr wrap="square" anchor="t" lIns="0" rIns="0" tIns="0" bIns="0">
            <a:spAutoFit/>
          </a:bodyPr>
          <a:lstStyle/>
          <a:p>
            <a:pPr algn="l">
              <a:lnSpc>
                <a:spcPct val="110000"/>
              </a:lnSpc>
              <a:spcAft>
                <a:spcPts val="600"/>
              </a:spcAft>
            </a:pPr>
            <a:r>
              <a:rPr sz="900" b="0" i="0">
                <a:solidFill>
                  <a:srgbClr val="5A5A5A"/>
                </a:solidFill>
                <a:latin typeface="Arial"/>
              </a:rPr>
              <a:t>Collaborative Git Workflow  ·  Week 2 · Monday   |   6 / 55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330066"/>
                </a:solidFill>
              </a:rPr>
              <a:t>Local vs Remote Repositories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a:t>
            </a:r>
          </a:p>
        </p:txBody>
      </p:sp>
      <p:graphicFrame>
        <p:nvGraphicFramePr>
          <p:cNvPr id="4" name="Table 3"/>
          <p:cNvGraphicFramePr>
            <a:graphicFrameLocks noGrp="1"/>
          </p:cNvGraphicFramePr>
          <p:nvPr/>
        </p:nvGraphicFramePr>
        <p:xfrm>
          <a:off x="609904" y="1783080"/>
          <a:ext cx="10971885" cy="2632454"/>
        </p:xfrm>
        <a:graphic>
          <a:graphicData uri="http://schemas.openxmlformats.org/drawingml/2006/table">
            <a:tbl>
              <a:tblPr firstRow="0" bandRow="0"/>
              <a:tblGrid>
                <a:gridCol w="2742971"/>
                <a:gridCol w="8228914"/>
              </a:tblGrid>
              <a:tr h="384048">
                <a:tc>
                  <a:txBody>
                    <a:bodyPr wrap="square"/>
                    <a:lstStyle/>
                    <a:p>
                      <a:r>
                        <a:rPr sz="1300" b="1">
                          <a:solidFill>
                            <a:srgbClr val="FFFFFF"/>
                          </a:solidFill>
                          <a:latin typeface="Arial"/>
                        </a:rPr>
                        <a:t>Term</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wrap="square"/>
                    <a:lstStyle/>
                    <a:p>
                      <a:r>
                        <a:rPr sz="1300" b="1">
                          <a:solidFill>
                            <a:srgbClr val="FFFFFF"/>
                          </a:solidFill>
                          <a:latin typeface="Arial"/>
                        </a:rPr>
                        <a:t>Meaning</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r>
              <a:tr h="365760">
                <a:tc>
                  <a:txBody>
                    <a:bodyPr wrap="square"/>
                    <a:lstStyle/>
                    <a:p>
                      <a:r>
                        <a:rPr sz="1300" b="0">
                          <a:solidFill>
                            <a:srgbClr val="1A1A1A"/>
                          </a:solidFill>
                          <a:latin typeface="Arial"/>
                        </a:rPr>
                        <a:t>Local repository</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wrap="square"/>
                    <a:lstStyle/>
                    <a:p>
                      <a:r>
                        <a:rPr sz="1300" b="0" i="0">
                          <a:solidFill>
                            <a:srgbClr val="1A1A1A"/>
                          </a:solidFill>
                          <a:latin typeface="Arial"/>
                        </a:rPr>
                        <a:t>The </a:t>
                      </a:r>
                      <a:r>
                        <a:rPr sz="1250" b="0" i="0">
                          <a:solidFill>
                            <a:srgbClr val="330066"/>
                          </a:solidFill>
                          <a:latin typeface="Courier New"/>
                        </a:rPr>
                        <a:t>.git</a:t>
                      </a:r>
                      <a:r>
                        <a:rPr sz="1300" b="0" i="0">
                          <a:solidFill>
                            <a:srgbClr val="1A1A1A"/>
                          </a:solidFill>
                          <a:latin typeface="Arial"/>
                        </a:rPr>
                        <a:t> folder and working files on your computer</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r>
              <a:tr h="575563">
                <a:tc>
                  <a:txBody>
                    <a:bodyPr wrap="square"/>
                    <a:lstStyle/>
                    <a:p>
                      <a:r>
                        <a:rPr sz="1300" b="0">
                          <a:solidFill>
                            <a:srgbClr val="1A1A1A"/>
                          </a:solidFill>
                          <a:latin typeface="Arial"/>
                        </a:rPr>
                        <a:t>Remote repository</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wrap="square"/>
                    <a:lstStyle/>
                    <a:p>
                      <a:r>
                        <a:rPr sz="1300" b="0">
                          <a:solidFill>
                            <a:srgbClr val="1A1A1A"/>
                          </a:solidFill>
                          <a:latin typeface="Arial"/>
                        </a:rPr>
                        <a:t>Another copy of the repository, usually on a hosting service (GitHub, GitLab...), used to share work</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r>
              <a:tr h="365760">
                <a:tc>
                  <a:txBody>
                    <a:bodyPr wrap="square"/>
                    <a:lstStyle/>
                    <a:p>
                      <a:r>
                        <a:rPr sz="1300" b="0">
                          <a:solidFill>
                            <a:srgbClr val="1A1A1A"/>
                          </a:solidFill>
                          <a:latin typeface="Arial"/>
                        </a:rPr>
                        <a:t>Remote (name)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wrap="square"/>
                    <a:lstStyle/>
                    <a:p>
                      <a:r>
                        <a:rPr sz="1300" b="0" i="0">
                          <a:solidFill>
                            <a:srgbClr val="1A1A1A"/>
                          </a:solidFill>
                          <a:latin typeface="Arial"/>
                        </a:rPr>
                        <a:t>A short nickname Git stores for a remote's URL. The default name is </a:t>
                      </a:r>
                      <a:r>
                        <a:rPr sz="1250" b="0" i="0">
                          <a:solidFill>
                            <a:srgbClr val="330066"/>
                          </a:solidFill>
                          <a:latin typeface="Courier New"/>
                        </a:rPr>
                        <a:t>origin</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r>
              <a:tr h="365760">
                <a:tc>
                  <a:txBody>
                    <a:bodyPr wrap="square"/>
                    <a:lstStyle/>
                    <a:p>
                      <a:r>
                        <a:rPr sz="1300" b="0">
                          <a:solidFill>
                            <a:srgbClr val="1A1A1A"/>
                          </a:solidFill>
                          <a:latin typeface="Arial"/>
                        </a:rPr>
                        <a:t>Clone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wrap="square"/>
                    <a:lstStyle/>
                    <a:p>
                      <a:r>
                        <a:rPr sz="1300" b="0" i="0">
                          <a:solidFill>
                            <a:srgbClr val="1A1A1A"/>
                          </a:solidFill>
                          <a:latin typeface="Arial"/>
                        </a:rPr>
                        <a:t>Make a local copy of a remote repository (and set up </a:t>
                      </a:r>
                      <a:r>
                        <a:rPr sz="1250" b="0" i="0">
                          <a:solidFill>
                            <a:srgbClr val="330066"/>
                          </a:solidFill>
                          <a:latin typeface="Courier New"/>
                        </a:rPr>
                        <a:t>origin</a:t>
                      </a:r>
                      <a:r>
                        <a:rPr sz="1300" b="0" i="0">
                          <a:solidFill>
                            <a:srgbClr val="1A1A1A"/>
                          </a:solidFill>
                          <a:latin typeface="Arial"/>
                        </a:rPr>
                        <a:t> automatically)</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r>
              <a:tr h="575563">
                <a:tc>
                  <a:txBody>
                    <a:bodyPr wrap="square"/>
                    <a:lstStyle/>
                    <a:p>
                      <a:r>
                        <a:rPr sz="1300" b="0">
                          <a:solidFill>
                            <a:srgbClr val="1A1A1A"/>
                          </a:solidFill>
                          <a:latin typeface="Arial"/>
                        </a:rPr>
                        <a:t>Upstream branch</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wrap="square"/>
                    <a:lstStyle/>
                    <a:p>
                      <a:r>
                        <a:rPr sz="1300" b="0">
                          <a:solidFill>
                            <a:srgbClr val="1A1A1A"/>
                          </a:solidFill>
                          <a:latin typeface="Arial"/>
                        </a:rPr>
                        <a:t>The remote branch your local branch is linked to, so Git knows where to push/pull by default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r>
            </a:tbl>
          </a:graphicData>
        </a:graphic>
      </p:graphicFrame>
      <p:sp>
        <p:nvSpPr>
          <p:cNvPr id="5" name="TextBox 4"/>
          <p:cNvSpPr txBox="1"/>
          <p:nvPr/>
        </p:nvSpPr>
        <p:spPr>
          <a:xfrm>
            <a:off x="609904" y="5367528"/>
            <a:ext cx="10971885" cy="731520"/>
          </a:xfrm>
          <a:prstGeom prst="rect">
            <a:avLst/>
          </a:prstGeom>
          <a:noFill/>
        </p:spPr>
        <p:txBody>
          <a:bodyPr wrap="square" anchor="t" lIns="0" rIns="0" tIns="0" bIns="0">
            <a:spAutoFit/>
          </a:bodyPr>
          <a:lstStyle/>
          <a:p>
            <a:pPr algn="l">
              <a:lnSpc>
                <a:spcPct val="110000"/>
              </a:lnSpc>
              <a:spcAft>
                <a:spcPts val="600"/>
              </a:spcAft>
            </a:pPr>
            <a:r>
              <a:rPr sz="1400" b="0" i="0">
                <a:solidFill>
                  <a:srgbClr val="5A5A5A"/>
                </a:solidFill>
                <a:latin typeface="Arial"/>
              </a:rPr>
              <a:t>Git is distributed: every clone has the full history. No live connection; each person works offline on a full copy and explicitly synchronises.</a:t>
            </a:r>
          </a:p>
        </p:txBody>
      </p:sp>
      <p:sp>
        <p:nvSpPr>
          <p:cNvPr id="6" name="TextBox 5"/>
          <p:cNvSpPr txBox="1"/>
          <p:nvPr/>
        </p:nvSpPr>
        <p:spPr>
          <a:xfrm>
            <a:off x="609904" y="6382512"/>
            <a:ext cx="8686800" cy="274320"/>
          </a:xfrm>
          <a:prstGeom prst="rect">
            <a:avLst/>
          </a:prstGeom>
          <a:noFill/>
        </p:spPr>
        <p:txBody>
          <a:bodyPr wrap="square" anchor="t" lIns="0" rIns="0" tIns="0" bIns="0">
            <a:spAutoFit/>
          </a:bodyPr>
          <a:lstStyle/>
          <a:p>
            <a:pPr algn="l">
              <a:lnSpc>
                <a:spcPct val="110000"/>
              </a:lnSpc>
              <a:spcAft>
                <a:spcPts val="600"/>
              </a:spcAft>
            </a:pPr>
            <a:r>
              <a:rPr sz="900" b="0" i="0">
                <a:solidFill>
                  <a:srgbClr val="5A5A5A"/>
                </a:solidFill>
                <a:latin typeface="Arial"/>
              </a:rPr>
              <a:t>Collaborative Git Workflow  ·  Week 2 · Monday   |   7 / 55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330066"/>
                </a:solidFill>
              </a:rPr>
              <a:t>The Synchronisation Commands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a:t>
            </a:r>
          </a:p>
        </p:txBody>
      </p:sp>
      <p:graphicFrame>
        <p:nvGraphicFramePr>
          <p:cNvPr id="4" name="Table 3"/>
          <p:cNvGraphicFramePr>
            <a:graphicFrameLocks noGrp="1"/>
          </p:cNvGraphicFramePr>
          <p:nvPr/>
        </p:nvGraphicFramePr>
        <p:xfrm>
          <a:off x="609904" y="1783080"/>
          <a:ext cx="10971884" cy="1813560"/>
        </p:xfrm>
        <a:graphic>
          <a:graphicData uri="http://schemas.openxmlformats.org/drawingml/2006/table">
            <a:tbl>
              <a:tblPr firstRow="0" bandRow="0"/>
              <a:tblGrid>
                <a:gridCol w="2194377"/>
                <a:gridCol w="5485942"/>
                <a:gridCol w="3291565"/>
              </a:tblGrid>
              <a:tr h="384048">
                <a:tc>
                  <a:txBody>
                    <a:bodyPr wrap="square"/>
                    <a:lstStyle/>
                    <a:p>
                      <a:r>
                        <a:rPr sz="1500" b="1">
                          <a:solidFill>
                            <a:srgbClr val="FFFFFF"/>
                          </a:solidFill>
                          <a:latin typeface="Arial"/>
                        </a:rPr>
                        <a:t>Command</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wrap="square"/>
                    <a:lstStyle/>
                    <a:p>
                      <a:r>
                        <a:rPr sz="1500" b="1">
                          <a:solidFill>
                            <a:srgbClr val="FFFFFF"/>
                          </a:solidFill>
                          <a:latin typeface="Arial"/>
                        </a:rPr>
                        <a:t>Direction</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wrap="square"/>
                    <a:lstStyle/>
                    <a:p>
                      <a:r>
                        <a:rPr sz="1500" b="1">
                          <a:solidFill>
                            <a:srgbClr val="FFFFFF"/>
                          </a:solidFill>
                          <a:latin typeface="Arial"/>
                        </a:rPr>
                        <a:t>Changes your files?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r>
              <a:tr h="393954">
                <a:tc>
                  <a:txBody>
                    <a:bodyPr wrap="square"/>
                    <a:lstStyle/>
                    <a:p>
                      <a:r>
                        <a:rPr sz="1450" b="1">
                          <a:solidFill>
                            <a:srgbClr val="330066"/>
                          </a:solidFill>
                          <a:latin typeface="Courier New"/>
                        </a:rPr>
                        <a:t>git fetch</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wrap="square"/>
                    <a:lstStyle/>
                    <a:p>
                      <a:r>
                        <a:rPr sz="1500" b="0">
                          <a:solidFill>
                            <a:srgbClr val="1A1A1A"/>
                          </a:solidFill>
                          <a:latin typeface="Arial"/>
                        </a:rPr>
                        <a:t>remote -&gt; your repository (history only)</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wrap="square"/>
                    <a:lstStyle/>
                    <a:p>
                      <a:r>
                        <a:rPr sz="1500" b="0">
                          <a:solidFill>
                            <a:srgbClr val="1A1A1A"/>
                          </a:solidFill>
                          <a:latin typeface="Arial"/>
                        </a:rPr>
                        <a:t>No</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r>
              <a:tr h="641604">
                <a:tc>
                  <a:txBody>
                    <a:bodyPr wrap="square"/>
                    <a:lstStyle/>
                    <a:p>
                      <a:r>
                        <a:rPr sz="1450" b="1">
                          <a:solidFill>
                            <a:srgbClr val="330066"/>
                          </a:solidFill>
                          <a:latin typeface="Courier New"/>
                        </a:rPr>
                        <a:t>git pull</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wrap="square"/>
                    <a:lstStyle/>
                    <a:p>
                      <a:r>
                        <a:rPr sz="1500" b="0">
                          <a:solidFill>
                            <a:srgbClr val="1A1A1A"/>
                          </a:solidFill>
                          <a:latin typeface="Arial"/>
                        </a:rPr>
                        <a:t>remote -&gt; your repository and into your current branch</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wrap="square"/>
                    <a:lstStyle/>
                    <a:p>
                      <a:r>
                        <a:rPr sz="1500" b="0">
                          <a:solidFill>
                            <a:srgbClr val="1A1A1A"/>
                          </a:solidFill>
                          <a:latin typeface="Arial"/>
                        </a:rPr>
                        <a:t>Yes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r>
              <a:tr h="393954">
                <a:tc>
                  <a:txBody>
                    <a:bodyPr wrap="square"/>
                    <a:lstStyle/>
                    <a:p>
                      <a:r>
                        <a:rPr sz="1450" b="1">
                          <a:solidFill>
                            <a:srgbClr val="330066"/>
                          </a:solidFill>
                          <a:latin typeface="Courier New"/>
                        </a:rPr>
                        <a:t>git push</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wrap="square"/>
                    <a:lstStyle/>
                    <a:p>
                      <a:r>
                        <a:rPr sz="1500" b="0">
                          <a:solidFill>
                            <a:srgbClr val="1A1A1A"/>
                          </a:solidFill>
                          <a:latin typeface="Arial"/>
                        </a:rPr>
                        <a:t>your repository -&gt; remote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wrap="square"/>
                    <a:lstStyle/>
                    <a:p>
                      <a:r>
                        <a:rPr sz="1500" b="0">
                          <a:solidFill>
                            <a:srgbClr val="1A1A1A"/>
                          </a:solidFill>
                          <a:latin typeface="Arial"/>
                        </a:rPr>
                        <a:t>No (changes the remote)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r>
            </a:tbl>
          </a:graphicData>
        </a:graphic>
      </p:graphicFrame>
      <p:sp>
        <p:nvSpPr>
          <p:cNvPr id="5" name="TextBox 4"/>
          <p:cNvSpPr txBox="1"/>
          <p:nvPr/>
        </p:nvSpPr>
        <p:spPr>
          <a:xfrm>
            <a:off x="609904" y="6382512"/>
            <a:ext cx="8686800" cy="274320"/>
          </a:xfrm>
          <a:prstGeom prst="rect">
            <a:avLst/>
          </a:prstGeom>
          <a:noFill/>
        </p:spPr>
        <p:txBody>
          <a:bodyPr wrap="square" anchor="t" lIns="0" rIns="0" tIns="0" bIns="0">
            <a:spAutoFit/>
          </a:bodyPr>
          <a:lstStyle/>
          <a:p>
            <a:pPr algn="l">
              <a:lnSpc>
                <a:spcPct val="110000"/>
              </a:lnSpc>
              <a:spcAft>
                <a:spcPts val="600"/>
              </a:spcAft>
            </a:pPr>
            <a:r>
              <a:rPr sz="900" b="0" i="0">
                <a:solidFill>
                  <a:srgbClr val="5A5A5A"/>
                </a:solidFill>
                <a:latin typeface="Arial"/>
              </a:rPr>
              <a:t>Collaborative Git Workflow  ·  Week 2 · Monday   |   8 / 55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330066"/>
                </a:solidFill>
              </a:rPr>
              <a:t>Cloning</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2 · REMOTES AND ORIGIN</a:t>
            </a:r>
          </a:p>
        </p:txBody>
      </p:sp>
      <p:sp>
        <p:nvSpPr>
          <p:cNvPr id="4" name="Rounded Rectangle 3"/>
          <p:cNvSpPr/>
          <p:nvPr/>
        </p:nvSpPr>
        <p:spPr>
          <a:xfrm>
            <a:off x="609904" y="1783080"/>
            <a:ext cx="6400800" cy="704088"/>
          </a:xfrm>
          <a:prstGeom prst="roundRect">
            <a:avLst>
              <a:gd name="adj" fmla="val 10389"/>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1072" y="1929384"/>
            <a:ext cx="5998464" cy="411480"/>
          </a:xfrm>
          <a:prstGeom prst="rect">
            <a:avLst/>
          </a:prstGeom>
          <a:noFill/>
        </p:spPr>
        <p:txBody>
          <a:bodyPr wrap="square" lIns="0" rIns="0" tIns="0" bIns="0">
            <a:spAutoFit/>
          </a:bodyPr>
          <a:lstStyle/>
          <a:p>
            <a:pPr algn="l">
              <a:lnSpc>
                <a:spcPct val="100000"/>
              </a:lnSpc>
            </a:pPr>
            <a:r>
              <a:rPr sz="1350">
                <a:solidFill>
                  <a:srgbClr val="1A1A1A"/>
                </a:solidFill>
                <a:latin typeface="Courier New"/>
              </a:rPr>
              <a:t>git clone https://github.com/your-team/qe-foundations.git</a:t>
            </a:r>
          </a:p>
          <a:p>
            <a:pPr algn="l">
              <a:lnSpc>
                <a:spcPct val="100000"/>
              </a:lnSpc>
            </a:pPr>
            <a:r>
              <a:rPr sz="1350">
                <a:solidFill>
                  <a:srgbClr val="1A1A1A"/>
                </a:solidFill>
                <a:latin typeface="Courier New"/>
              </a:rPr>
              <a:t>cd qe-foundations</a:t>
            </a:r>
          </a:p>
        </p:txBody>
      </p:sp>
      <p:sp>
        <p:nvSpPr>
          <p:cNvPr id="6" name="TextBox 5"/>
          <p:cNvSpPr txBox="1"/>
          <p:nvPr/>
        </p:nvSpPr>
        <p:spPr>
          <a:xfrm>
            <a:off x="7376464" y="1783080"/>
            <a:ext cx="4205325" cy="4361688"/>
          </a:xfrm>
          <a:prstGeom prst="rect">
            <a:avLst/>
          </a:prstGeom>
          <a:noFill/>
        </p:spPr>
        <p:txBody>
          <a:bodyPr wrap="square" lIns="0" rIns="0" tIns="0" bIns="0">
            <a:spAutoFit/>
          </a:bodyPr>
          <a:lstStyle/>
          <a:p>
            <a:pPr algn="l" marL="228600" indent="-228600">
              <a:spcAft>
                <a:spcPts val="800"/>
              </a:spcAft>
              <a:buFont typeface="Arial"/>
              <a:buChar char="•"/>
            </a:pPr>
            <a:r>
              <a:rPr sz="1400" b="0" i="0">
                <a:solidFill>
                  <a:srgbClr val="1A1A1A"/>
                </a:solidFill>
                <a:latin typeface="Arial"/>
              </a:rPr>
              <a:t>Creates a folder named after the repository.</a:t>
            </a:r>
          </a:p>
          <a:p>
            <a:pPr algn="l" marL="228600" indent="-228600">
              <a:spcAft>
                <a:spcPts val="800"/>
              </a:spcAft>
              <a:buFont typeface="Arial"/>
              <a:buChar char="•"/>
            </a:pPr>
            <a:r>
              <a:rPr sz="1400" b="0" i="0">
                <a:solidFill>
                  <a:srgbClr val="1A1A1A"/>
                </a:solidFill>
                <a:latin typeface="Arial"/>
              </a:rPr>
              <a:t>Downloads all the history and branches.</a:t>
            </a:r>
          </a:p>
          <a:p>
            <a:pPr algn="l" marL="228600" indent="-228600">
              <a:spcAft>
                <a:spcPts val="800"/>
              </a:spcAft>
              <a:buFont typeface="Arial"/>
              <a:buChar char="•"/>
            </a:pPr>
            <a:r>
              <a:rPr sz="1400" b="0" i="0">
                <a:solidFill>
                  <a:srgbClr val="1A1A1A"/>
                </a:solidFill>
                <a:latin typeface="Arial"/>
              </a:rPr>
              <a:t>Adds a remote called </a:t>
            </a:r>
            <a:r>
              <a:rPr sz="1350" b="0" i="0">
                <a:solidFill>
                  <a:srgbClr val="330066"/>
                </a:solidFill>
                <a:latin typeface="Courier New"/>
              </a:rPr>
              <a:t>origin</a:t>
            </a:r>
            <a:r>
              <a:rPr sz="1400" b="0" i="0">
                <a:solidFill>
                  <a:srgbClr val="1A1A1A"/>
                </a:solidFill>
                <a:latin typeface="Arial"/>
              </a:rPr>
              <a:t> pointing to the URL you cloned from.</a:t>
            </a:r>
          </a:p>
          <a:p>
            <a:pPr algn="l" marL="228600" indent="-228600">
              <a:spcAft>
                <a:spcPts val="800"/>
              </a:spcAft>
              <a:buFont typeface="Arial"/>
              <a:buChar char="•"/>
            </a:pPr>
            <a:r>
              <a:rPr sz="1400" b="0" i="0">
                <a:solidFill>
                  <a:srgbClr val="1A1A1A"/>
                </a:solidFill>
                <a:latin typeface="Arial"/>
              </a:rPr>
              <a:t>Checks out the default branch (usually </a:t>
            </a:r>
            <a:r>
              <a:rPr sz="1350" b="0" i="0">
                <a:solidFill>
                  <a:srgbClr val="330066"/>
                </a:solidFill>
                <a:latin typeface="Courier New"/>
              </a:rPr>
              <a:t>main</a:t>
            </a:r>
            <a:r>
              <a:rPr sz="1400" b="0" i="0">
                <a:solidFill>
                  <a:srgbClr val="1A1A1A"/>
                </a:solidFill>
                <a:latin typeface="Arial"/>
              </a:rPr>
              <a:t>) and sets it to track </a:t>
            </a:r>
            <a:r>
              <a:rPr sz="1350" b="0" i="0">
                <a:solidFill>
                  <a:srgbClr val="330066"/>
                </a:solidFill>
                <a:latin typeface="Courier New"/>
              </a:rPr>
              <a:t>origin/main</a:t>
            </a:r>
            <a:r>
              <a:rPr sz="1400" b="0" i="0">
                <a:solidFill>
                  <a:srgbClr val="1A1A1A"/>
                </a:solidFill>
                <a:latin typeface="Arial"/>
              </a:rPr>
              <a:t>.</a:t>
            </a:r>
          </a:p>
          <a:p>
            <a:pPr algn="l" marL="228600" indent="-228600">
              <a:spcAft>
                <a:spcPts val="800"/>
              </a:spcAft>
              <a:buFont typeface="Arial"/>
              <a:buChar char="•"/>
            </a:pPr>
            <a:r>
              <a:rPr sz="1400" b="0" i="0">
                <a:solidFill>
                  <a:srgbClr val="1A1A1A"/>
                </a:solidFill>
                <a:latin typeface="Arial"/>
              </a:rPr>
              <a:t>Different folder name: </a:t>
            </a:r>
            <a:r>
              <a:rPr sz="1350" b="0" i="0">
                <a:solidFill>
                  <a:srgbClr val="330066"/>
                </a:solidFill>
                <a:latin typeface="Courier New"/>
              </a:rPr>
              <a:t>git clone &lt;url&gt; my-folder</a:t>
            </a:r>
            <a:r>
              <a:rPr sz="1400" b="0" i="0">
                <a:solidFill>
                  <a:srgbClr val="1A1A1A"/>
                </a:solidFill>
                <a:latin typeface="Arial"/>
              </a:rPr>
              <a:t>.</a:t>
            </a:r>
          </a:p>
        </p:txBody>
      </p:sp>
      <p:sp>
        <p:nvSpPr>
          <p:cNvPr id="7" name="TextBox 6"/>
          <p:cNvSpPr txBox="1"/>
          <p:nvPr/>
        </p:nvSpPr>
        <p:spPr>
          <a:xfrm>
            <a:off x="609904" y="6382512"/>
            <a:ext cx="8686800" cy="274320"/>
          </a:xfrm>
          <a:prstGeom prst="rect">
            <a:avLst/>
          </a:prstGeom>
          <a:noFill/>
        </p:spPr>
        <p:txBody>
          <a:bodyPr wrap="square" anchor="t" lIns="0" rIns="0" tIns="0" bIns="0">
            <a:spAutoFit/>
          </a:bodyPr>
          <a:lstStyle/>
          <a:p>
            <a:pPr algn="l">
              <a:lnSpc>
                <a:spcPct val="110000"/>
              </a:lnSpc>
              <a:spcAft>
                <a:spcPts val="600"/>
              </a:spcAft>
            </a:pPr>
            <a:r>
              <a:rPr sz="900" b="0" i="0">
                <a:solidFill>
                  <a:srgbClr val="5A5A5A"/>
                </a:solidFill>
                <a:latin typeface="Arial"/>
              </a:rPr>
              <a:t>Collaborative Git Workflow  ·  Week 2 · Monday   |   9 / 55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330066"/>
                </a:solidFill>
              </a:rPr>
              <a:t>Listing Remotes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2</a:t>
            </a:r>
          </a:p>
        </p:txBody>
      </p:sp>
      <p:sp>
        <p:nvSpPr>
          <p:cNvPr id="4" name="Rounded Rectangle 3"/>
          <p:cNvSpPr/>
          <p:nvPr/>
        </p:nvSpPr>
        <p:spPr>
          <a:xfrm>
            <a:off x="609904" y="1783080"/>
            <a:ext cx="10971885" cy="490727"/>
          </a:xfrm>
          <a:prstGeom prst="roundRect">
            <a:avLst>
              <a:gd name="adj" fmla="val 14906"/>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1072" y="1929384"/>
            <a:ext cx="10569549" cy="198119"/>
          </a:xfrm>
          <a:prstGeom prst="rect">
            <a:avLst/>
          </a:prstGeom>
          <a:noFill/>
        </p:spPr>
        <p:txBody>
          <a:bodyPr wrap="square" lIns="0" rIns="0" tIns="0" bIns="0">
            <a:spAutoFit/>
          </a:bodyPr>
          <a:lstStyle/>
          <a:p>
            <a:pPr algn="l">
              <a:lnSpc>
                <a:spcPct val="100000"/>
              </a:lnSpc>
            </a:pPr>
            <a:r>
              <a:rPr sz="1300">
                <a:solidFill>
                  <a:srgbClr val="1A1A1A"/>
                </a:solidFill>
                <a:latin typeface="Courier New"/>
              </a:rPr>
              <a:t>git remote -v</a:t>
            </a:r>
          </a:p>
        </p:txBody>
      </p:sp>
      <p:sp>
        <p:nvSpPr>
          <p:cNvPr id="6" name="TextBox 5"/>
          <p:cNvSpPr txBox="1"/>
          <p:nvPr/>
        </p:nvSpPr>
        <p:spPr>
          <a:xfrm>
            <a:off x="609904" y="2456688"/>
            <a:ext cx="10971885" cy="274320"/>
          </a:xfrm>
          <a:prstGeom prst="rect">
            <a:avLst/>
          </a:prstGeom>
          <a:noFill/>
        </p:spPr>
        <p:txBody>
          <a:bodyPr wrap="square" anchor="t" lIns="0" rIns="0" tIns="0" bIns="0">
            <a:spAutoFit/>
          </a:bodyPr>
          <a:lstStyle/>
          <a:p>
            <a:pPr algn="l">
              <a:lnSpc>
                <a:spcPct val="110000"/>
              </a:lnSpc>
              <a:spcAft>
                <a:spcPts val="600"/>
              </a:spcAft>
            </a:pPr>
            <a:r>
              <a:rPr sz="1100" b="1" i="0">
                <a:solidFill>
                  <a:srgbClr val="5C8A8A"/>
                </a:solidFill>
                <a:latin typeface="Arial"/>
              </a:rPr>
              <a:t>Output (example)</a:t>
            </a:r>
          </a:p>
        </p:txBody>
      </p:sp>
      <p:sp>
        <p:nvSpPr>
          <p:cNvPr id="7" name="Rounded Rectangle 6"/>
          <p:cNvSpPr/>
          <p:nvPr/>
        </p:nvSpPr>
        <p:spPr>
          <a:xfrm>
            <a:off x="609904" y="2731007"/>
            <a:ext cx="10971885" cy="688848"/>
          </a:xfrm>
          <a:prstGeom prst="roundRect">
            <a:avLst>
              <a:gd name="adj" fmla="val 10619"/>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1072" y="2877312"/>
            <a:ext cx="10569549" cy="396239"/>
          </a:xfrm>
          <a:prstGeom prst="rect">
            <a:avLst/>
          </a:prstGeom>
          <a:noFill/>
        </p:spPr>
        <p:txBody>
          <a:bodyPr wrap="square" lIns="0" rIns="0" tIns="0" bIns="0">
            <a:spAutoFit/>
          </a:bodyPr>
          <a:lstStyle/>
          <a:p>
            <a:pPr algn="l">
              <a:lnSpc>
                <a:spcPct val="100000"/>
              </a:lnSpc>
            </a:pPr>
            <a:r>
              <a:rPr sz="1300">
                <a:solidFill>
                  <a:srgbClr val="1A1A1A"/>
                </a:solidFill>
                <a:latin typeface="Courier New"/>
              </a:rPr>
              <a:t>origin  https://github.com/your-team/qe-foundations.git (fetch)</a:t>
            </a:r>
          </a:p>
          <a:p>
            <a:pPr algn="l">
              <a:lnSpc>
                <a:spcPct val="100000"/>
              </a:lnSpc>
            </a:pPr>
            <a:r>
              <a:rPr sz="1300">
                <a:solidFill>
                  <a:srgbClr val="1A1A1A"/>
                </a:solidFill>
                <a:latin typeface="Courier New"/>
              </a:rPr>
              <a:t>origin  https://github.com/your-team/qe-foundations.git (push)</a:t>
            </a:r>
          </a:p>
        </p:txBody>
      </p:sp>
      <p:sp>
        <p:nvSpPr>
          <p:cNvPr id="9" name="TextBox 8"/>
          <p:cNvSpPr txBox="1"/>
          <p:nvPr/>
        </p:nvSpPr>
        <p:spPr>
          <a:xfrm>
            <a:off x="609904" y="3794760"/>
            <a:ext cx="10971885" cy="914400"/>
          </a:xfrm>
          <a:prstGeom prst="rect">
            <a:avLst/>
          </a:prstGeom>
          <a:noFill/>
        </p:spPr>
        <p:txBody>
          <a:bodyPr wrap="square" anchor="t" lIns="0" rIns="0" tIns="0" bIns="0">
            <a:spAutoFit/>
          </a:bodyPr>
          <a:lstStyle/>
          <a:p>
            <a:pPr algn="l">
              <a:lnSpc>
                <a:spcPct val="110000"/>
              </a:lnSpc>
              <a:spcAft>
                <a:spcPts val="600"/>
              </a:spcAft>
            </a:pPr>
            <a:r>
              <a:rPr sz="1550" b="0" i="0">
                <a:solidFill>
                  <a:srgbClr val="330066"/>
                </a:solidFill>
                <a:latin typeface="Courier New"/>
              </a:rPr>
              <a:t>-v</a:t>
            </a:r>
            <a:r>
              <a:rPr sz="1600" b="0" i="0">
                <a:solidFill>
                  <a:srgbClr val="1A1A1A"/>
                </a:solidFill>
                <a:latin typeface="Arial"/>
              </a:rPr>
              <a:t> means verbose: show the URLs. Two lines because Git can use different URLs for downloading (fetch) and uploading (push), though they are normally identical.</a:t>
            </a:r>
          </a:p>
        </p:txBody>
      </p:sp>
      <p:sp>
        <p:nvSpPr>
          <p:cNvPr id="10" name="TextBox 9"/>
          <p:cNvSpPr txBox="1"/>
          <p:nvPr/>
        </p:nvSpPr>
        <p:spPr>
          <a:xfrm>
            <a:off x="609904" y="6382512"/>
            <a:ext cx="8686800" cy="274320"/>
          </a:xfrm>
          <a:prstGeom prst="rect">
            <a:avLst/>
          </a:prstGeom>
          <a:noFill/>
        </p:spPr>
        <p:txBody>
          <a:bodyPr wrap="square" anchor="t" lIns="0" rIns="0" tIns="0" bIns="0">
            <a:spAutoFit/>
          </a:bodyPr>
          <a:lstStyle/>
          <a:p>
            <a:pPr algn="l">
              <a:lnSpc>
                <a:spcPct val="110000"/>
              </a:lnSpc>
              <a:spcAft>
                <a:spcPts val="600"/>
              </a:spcAft>
            </a:pPr>
            <a:r>
              <a:rPr sz="900" b="0" i="0">
                <a:solidFill>
                  <a:srgbClr val="5A5A5A"/>
                </a:solidFill>
                <a:latin typeface="Arial"/>
              </a:rPr>
              <a:t>Collaborative Git Workflow  ·  Week 2 · Monday   |   10 / 55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3200">
                <a:solidFill>
                  <a:srgbClr val="330066"/>
                </a:solidFill>
              </a:rPr>
              <a:t>Adding a Remote to a Local Repository</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2</a:t>
            </a:r>
          </a:p>
        </p:txBody>
      </p:sp>
      <p:sp>
        <p:nvSpPr>
          <p:cNvPr id="4" name="TextBox 3"/>
          <p:cNvSpPr txBox="1"/>
          <p:nvPr/>
        </p:nvSpPr>
        <p:spPr>
          <a:xfrm>
            <a:off x="609904" y="1783080"/>
            <a:ext cx="10971885" cy="457200"/>
          </a:xfrm>
          <a:prstGeom prst="rect">
            <a:avLst/>
          </a:prstGeom>
          <a:noFill/>
        </p:spPr>
        <p:txBody>
          <a:bodyPr wrap="square" anchor="t" lIns="0" rIns="0" tIns="0" bIns="0">
            <a:spAutoFit/>
          </a:bodyPr>
          <a:lstStyle/>
          <a:p>
            <a:pPr algn="l">
              <a:lnSpc>
                <a:spcPct val="110000"/>
              </a:lnSpc>
              <a:spcAft>
                <a:spcPts val="600"/>
              </a:spcAft>
            </a:pPr>
            <a:r>
              <a:rPr sz="1500" b="0" i="0">
                <a:solidFill>
                  <a:srgbClr val="1A1A1A"/>
                </a:solidFill>
                <a:latin typeface="Arial"/>
              </a:rPr>
              <a:t>Started with </a:t>
            </a:r>
            <a:r>
              <a:rPr sz="1450" b="0" i="0">
                <a:solidFill>
                  <a:srgbClr val="330066"/>
                </a:solidFill>
                <a:latin typeface="Courier New"/>
              </a:rPr>
              <a:t>git init</a:t>
            </a:r>
            <a:r>
              <a:rPr sz="1500" b="0" i="0">
                <a:solidFill>
                  <a:srgbClr val="1A1A1A"/>
                </a:solidFill>
                <a:latin typeface="Arial"/>
              </a:rPr>
              <a:t> (as in today's exercise) and created an empty repository on GitHub? Connect them:</a:t>
            </a:r>
          </a:p>
        </p:txBody>
      </p:sp>
      <p:sp>
        <p:nvSpPr>
          <p:cNvPr id="5" name="Rounded Rectangle 4"/>
          <p:cNvSpPr/>
          <p:nvPr/>
        </p:nvSpPr>
        <p:spPr>
          <a:xfrm>
            <a:off x="609904" y="2523744"/>
            <a:ext cx="6400800" cy="795528"/>
          </a:xfrm>
          <a:prstGeom prst="roundRect">
            <a:avLst>
              <a:gd name="adj" fmla="val 9195"/>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1072" y="2670048"/>
            <a:ext cx="5998464" cy="502920"/>
          </a:xfrm>
          <a:prstGeom prst="rect">
            <a:avLst/>
          </a:prstGeom>
          <a:noFill/>
        </p:spPr>
        <p:txBody>
          <a:bodyPr wrap="square" lIns="0" rIns="0" tIns="0" bIns="0">
            <a:spAutoFit/>
          </a:bodyPr>
          <a:lstStyle/>
          <a:p>
            <a:pPr algn="l">
              <a:lnSpc>
                <a:spcPct val="100000"/>
              </a:lnSpc>
            </a:pPr>
            <a:r>
              <a:rPr sz="1100">
                <a:solidFill>
                  <a:srgbClr val="1A1A1A"/>
                </a:solidFill>
                <a:latin typeface="Courier New"/>
              </a:rPr>
              <a:t>git remote add origin https://github.com/your-name/qe-foundations.git</a:t>
            </a:r>
          </a:p>
          <a:p>
            <a:pPr algn="l">
              <a:lnSpc>
                <a:spcPct val="100000"/>
              </a:lnSpc>
            </a:pPr>
            <a:r>
              <a:rPr sz="1100">
                <a:solidFill>
                  <a:srgbClr val="1A1A1A"/>
                </a:solidFill>
                <a:latin typeface="Courier New"/>
              </a:rPr>
              <a:t>git remote -v</a:t>
            </a:r>
          </a:p>
          <a:p>
            <a:pPr algn="l">
              <a:lnSpc>
                <a:spcPct val="100000"/>
              </a:lnSpc>
            </a:pPr>
            <a:r>
              <a:rPr sz="1100">
                <a:solidFill>
                  <a:srgbClr val="1A1A1A"/>
                </a:solidFill>
                <a:latin typeface="Courier New"/>
              </a:rPr>
              <a:t>git push -u origin main</a:t>
            </a:r>
          </a:p>
        </p:txBody>
      </p:sp>
      <p:sp>
        <p:nvSpPr>
          <p:cNvPr id="7" name="TextBox 6"/>
          <p:cNvSpPr txBox="1"/>
          <p:nvPr/>
        </p:nvSpPr>
        <p:spPr>
          <a:xfrm>
            <a:off x="7376464" y="2523744"/>
            <a:ext cx="4205325" cy="3621024"/>
          </a:xfrm>
          <a:prstGeom prst="rect">
            <a:avLst/>
          </a:prstGeom>
          <a:noFill/>
        </p:spPr>
        <p:txBody>
          <a:bodyPr wrap="square" lIns="0" rIns="0" tIns="0" bIns="0">
            <a:spAutoFit/>
          </a:bodyPr>
          <a:lstStyle/>
          <a:p>
            <a:pPr algn="l" marL="228600" indent="-228600">
              <a:spcAft>
                <a:spcPts val="800"/>
              </a:spcAft>
              <a:buFont typeface="Arial"/>
              <a:buChar char="•"/>
            </a:pPr>
            <a:r>
              <a:rPr sz="1350" b="0" i="0">
                <a:solidFill>
                  <a:srgbClr val="330066"/>
                </a:solidFill>
                <a:latin typeface="Courier New"/>
              </a:rPr>
              <a:t>git remote add &lt;name&gt; &lt;url&gt;</a:t>
            </a:r>
            <a:r>
              <a:rPr sz="1400" b="0" i="0">
                <a:solidFill>
                  <a:srgbClr val="1A1A1A"/>
                </a:solidFill>
                <a:latin typeface="Arial"/>
              </a:rPr>
              <a:t> registers a nickname. Nothing is transferred yet.</a:t>
            </a:r>
          </a:p>
          <a:p>
            <a:pPr algn="l" marL="228600" indent="-228600">
              <a:spcAft>
                <a:spcPts val="800"/>
              </a:spcAft>
              <a:buFont typeface="Arial"/>
              <a:buChar char="•"/>
            </a:pPr>
            <a:r>
              <a:rPr sz="1350" b="0" i="0">
                <a:solidFill>
                  <a:srgbClr val="330066"/>
                </a:solidFill>
                <a:latin typeface="Courier New"/>
              </a:rPr>
              <a:t>origin</a:t>
            </a:r>
            <a:r>
              <a:rPr sz="1400" b="0" i="0">
                <a:solidFill>
                  <a:srgbClr val="1A1A1A"/>
                </a:solidFill>
                <a:latin typeface="Arial"/>
              </a:rPr>
              <a:t> is only a convention; a repository can have several remotes (</a:t>
            </a:r>
            <a:r>
              <a:rPr sz="1350" b="0" i="0">
                <a:solidFill>
                  <a:srgbClr val="330066"/>
                </a:solidFill>
                <a:latin typeface="Courier New"/>
              </a:rPr>
              <a:t>origin</a:t>
            </a:r>
            <a:r>
              <a:rPr sz="1400" b="0" i="0">
                <a:solidFill>
                  <a:srgbClr val="1A1A1A"/>
                </a:solidFill>
                <a:latin typeface="Arial"/>
              </a:rPr>
              <a:t> for your fork, </a:t>
            </a:r>
            <a:r>
              <a:rPr sz="1350" b="0" i="0">
                <a:solidFill>
                  <a:srgbClr val="330066"/>
                </a:solidFill>
                <a:latin typeface="Courier New"/>
              </a:rPr>
              <a:t>upstream</a:t>
            </a:r>
            <a:r>
              <a:rPr sz="1400" b="0" i="0">
                <a:solidFill>
                  <a:srgbClr val="1A1A1A"/>
                </a:solidFill>
                <a:latin typeface="Arial"/>
              </a:rPr>
              <a:t> for the original).</a:t>
            </a:r>
          </a:p>
          <a:p>
            <a:pPr algn="l" marL="228600" indent="-228600">
              <a:spcAft>
                <a:spcPts val="800"/>
              </a:spcAft>
              <a:buFont typeface="Arial"/>
              <a:buChar char="•"/>
            </a:pPr>
            <a:r>
              <a:rPr sz="1400" b="0" i="0">
                <a:solidFill>
                  <a:srgbClr val="1A1A1A"/>
                </a:solidFill>
                <a:latin typeface="Arial"/>
              </a:rPr>
              <a:t>Change a URL: </a:t>
            </a:r>
            <a:r>
              <a:rPr sz="1350" b="0" i="0">
                <a:solidFill>
                  <a:srgbClr val="330066"/>
                </a:solidFill>
                <a:latin typeface="Courier New"/>
              </a:rPr>
              <a:t>git remote set-url origin &lt;new-url&gt;</a:t>
            </a:r>
            <a:r>
              <a:rPr sz="1400" b="0" i="0">
                <a:solidFill>
                  <a:srgbClr val="1A1A1A"/>
                </a:solidFill>
                <a:latin typeface="Arial"/>
              </a:rPr>
              <a:t>. Remove: </a:t>
            </a:r>
            <a:r>
              <a:rPr sz="1350" b="0" i="0">
                <a:solidFill>
                  <a:srgbClr val="330066"/>
                </a:solidFill>
                <a:latin typeface="Courier New"/>
              </a:rPr>
              <a:t>git remote remove &lt;name&gt;</a:t>
            </a:r>
            <a:r>
              <a:rPr sz="1400" b="0" i="0">
                <a:solidFill>
                  <a:srgbClr val="1A1A1A"/>
                </a:solidFill>
                <a:latin typeface="Arial"/>
              </a:rPr>
              <a:t>.</a:t>
            </a:r>
          </a:p>
        </p:txBody>
      </p:sp>
      <p:sp>
        <p:nvSpPr>
          <p:cNvPr id="8" name="Rounded Rectangle 7"/>
          <p:cNvSpPr/>
          <p:nvPr/>
        </p:nvSpPr>
        <p:spPr>
          <a:xfrm>
            <a:off x="609904" y="5093208"/>
            <a:ext cx="6035040" cy="960120"/>
          </a:xfrm>
          <a:prstGeom prst="roundRect">
            <a:avLst>
              <a:gd name="adj" fmla="val 8571"/>
            </a:avLst>
          </a:prstGeom>
          <a:solidFill>
            <a:srgbClr val="F5F5C2"/>
          </a:solidFill>
          <a:ln w="12700">
            <a:solidFill>
              <a:srgbClr val="F5F5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8504" y="5230368"/>
            <a:ext cx="5577840" cy="685800"/>
          </a:xfrm>
          <a:prstGeom prst="rect">
            <a:avLst/>
          </a:prstGeom>
          <a:noFill/>
        </p:spPr>
        <p:txBody>
          <a:bodyPr wrap="square" anchor="t" lIns="0" rIns="0" tIns="0" bIns="0">
            <a:spAutoFit/>
          </a:bodyPr>
          <a:lstStyle/>
          <a:p>
            <a:pPr algn="l">
              <a:lnSpc>
                <a:spcPct val="110000"/>
              </a:lnSpc>
              <a:spcAft>
                <a:spcPts val="300"/>
              </a:spcAft>
            </a:pPr>
            <a:r>
              <a:rPr sz="1100" b="1" i="0">
                <a:solidFill>
                  <a:srgbClr val="5C8A8A"/>
                </a:solidFill>
                <a:latin typeface="Arial"/>
              </a:rPr>
              <a:t>BRANCH NAME CHECK</a:t>
            </a:r>
          </a:p>
          <a:p>
            <a:pPr algn="l">
              <a:lnSpc>
                <a:spcPct val="110000"/>
              </a:lnSpc>
              <a:spcAft>
                <a:spcPts val="600"/>
              </a:spcAft>
            </a:pPr>
            <a:r>
              <a:rPr sz="1400" b="0" i="0">
                <a:solidFill>
                  <a:srgbClr val="1A1A1A"/>
                </a:solidFill>
                <a:latin typeface="Arial"/>
              </a:rPr>
              <a:t>Many repositories use </a:t>
            </a:r>
            <a:r>
              <a:rPr sz="1350" b="0" i="0">
                <a:solidFill>
                  <a:srgbClr val="330066"/>
                </a:solidFill>
                <a:latin typeface="Courier New"/>
              </a:rPr>
              <a:t>main</a:t>
            </a:r>
            <a:r>
              <a:rPr sz="1400" b="0" i="0">
                <a:solidFill>
                  <a:srgbClr val="1A1A1A"/>
                </a:solidFill>
                <a:latin typeface="Arial"/>
              </a:rPr>
              <a:t>; older ones </a:t>
            </a:r>
            <a:r>
              <a:rPr sz="1350" b="0" i="0">
                <a:solidFill>
                  <a:srgbClr val="330066"/>
                </a:solidFill>
                <a:latin typeface="Courier New"/>
              </a:rPr>
              <a:t>master</a:t>
            </a:r>
            <a:r>
              <a:rPr sz="1400" b="0" i="0">
                <a:solidFill>
                  <a:srgbClr val="1A1A1A"/>
                </a:solidFill>
                <a:latin typeface="Arial"/>
              </a:rPr>
              <a:t>. See yours with </a:t>
            </a:r>
            <a:r>
              <a:rPr sz="1350" b="0" i="0">
                <a:solidFill>
                  <a:srgbClr val="330066"/>
                </a:solidFill>
                <a:latin typeface="Courier New"/>
              </a:rPr>
              <a:t>git branch</a:t>
            </a:r>
            <a:r>
              <a:rPr sz="1400" b="0" i="0">
                <a:solidFill>
                  <a:srgbClr val="1A1A1A"/>
                </a:solidFill>
                <a:latin typeface="Arial"/>
              </a:rPr>
              <a:t>. Start right with </a:t>
            </a:r>
            <a:r>
              <a:rPr sz="1350" b="0" i="0">
                <a:solidFill>
                  <a:srgbClr val="330066"/>
                </a:solidFill>
                <a:latin typeface="Courier New"/>
              </a:rPr>
              <a:t>git init -b main</a:t>
            </a:r>
            <a:r>
              <a:rPr sz="1400" b="0" i="0">
                <a:solidFill>
                  <a:srgbClr val="1A1A1A"/>
                </a:solidFill>
                <a:latin typeface="Arial"/>
              </a:rPr>
              <a:t>, or rename with </a:t>
            </a:r>
            <a:r>
              <a:rPr sz="1350" b="0" i="0">
                <a:solidFill>
                  <a:srgbClr val="330066"/>
                </a:solidFill>
                <a:latin typeface="Courier New"/>
              </a:rPr>
              <a:t>git branch -M main</a:t>
            </a:r>
            <a:r>
              <a:rPr sz="1400" b="0" i="0">
                <a:solidFill>
                  <a:srgbClr val="1A1A1A"/>
                </a:solidFill>
                <a:latin typeface="Arial"/>
              </a:rPr>
              <a:t>.</a:t>
            </a:r>
          </a:p>
        </p:txBody>
      </p:sp>
      <p:sp>
        <p:nvSpPr>
          <p:cNvPr id="10" name="TextBox 9"/>
          <p:cNvSpPr txBox="1"/>
          <p:nvPr/>
        </p:nvSpPr>
        <p:spPr>
          <a:xfrm>
            <a:off x="609904" y="6382512"/>
            <a:ext cx="8686800" cy="274320"/>
          </a:xfrm>
          <a:prstGeom prst="rect">
            <a:avLst/>
          </a:prstGeom>
          <a:noFill/>
        </p:spPr>
        <p:txBody>
          <a:bodyPr wrap="square" anchor="t" lIns="0" rIns="0" tIns="0" bIns="0">
            <a:spAutoFit/>
          </a:bodyPr>
          <a:lstStyle/>
          <a:p>
            <a:pPr algn="l">
              <a:lnSpc>
                <a:spcPct val="110000"/>
              </a:lnSpc>
              <a:spcAft>
                <a:spcPts val="600"/>
              </a:spcAft>
            </a:pPr>
            <a:r>
              <a:rPr sz="900" b="0" i="0">
                <a:solidFill>
                  <a:srgbClr val="5A5A5A"/>
                </a:solidFill>
                <a:latin typeface="Arial"/>
              </a:rPr>
              <a:t>Collaborative Git Workflow  ·  Week 2 · Monday   |   11 / 55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3200">
                <a:solidFill>
                  <a:srgbClr val="330066"/>
                </a:solidFill>
              </a:rPr>
              <a:t>Remote-Tracking Branches: origin/main</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3 · THE KEY IDEA</a:t>
            </a:r>
          </a:p>
        </p:txBody>
      </p:sp>
      <p:sp>
        <p:nvSpPr>
          <p:cNvPr id="4" name="TextBox 3"/>
          <p:cNvSpPr txBox="1"/>
          <p:nvPr/>
        </p:nvSpPr>
        <p:spPr>
          <a:xfrm>
            <a:off x="609904" y="1783080"/>
            <a:ext cx="10971885" cy="731520"/>
          </a:xfrm>
          <a:prstGeom prst="rect">
            <a:avLst/>
          </a:prstGeom>
          <a:noFill/>
        </p:spPr>
        <p:txBody>
          <a:bodyPr wrap="square" anchor="t" lIns="0" rIns="0" tIns="0" bIns="0">
            <a:spAutoFit/>
          </a:bodyPr>
          <a:lstStyle/>
          <a:p>
            <a:pPr algn="l">
              <a:lnSpc>
                <a:spcPct val="110000"/>
              </a:lnSpc>
              <a:spcAft>
                <a:spcPts val="600"/>
              </a:spcAft>
            </a:pPr>
            <a:r>
              <a:rPr sz="1600" b="0" i="0">
                <a:solidFill>
                  <a:srgbClr val="1A1A1A"/>
                </a:solidFill>
                <a:latin typeface="Arial"/>
              </a:rPr>
              <a:t>Cloning gives you a local </a:t>
            </a:r>
            <a:r>
              <a:rPr sz="1550" b="0" i="0">
                <a:solidFill>
                  <a:srgbClr val="330066"/>
                </a:solidFill>
                <a:latin typeface="Courier New"/>
              </a:rPr>
              <a:t>main</a:t>
            </a:r>
            <a:r>
              <a:rPr sz="1600" b="0" i="0">
                <a:solidFill>
                  <a:srgbClr val="1A1A1A"/>
                </a:solidFill>
                <a:latin typeface="Arial"/>
              </a:rPr>
              <a:t> and a read-only bookmark </a:t>
            </a:r>
            <a:r>
              <a:rPr sz="1550" b="0" i="0">
                <a:solidFill>
                  <a:srgbClr val="330066"/>
                </a:solidFill>
                <a:latin typeface="Courier New"/>
              </a:rPr>
              <a:t>origin/main</a:t>
            </a:r>
            <a:r>
              <a:rPr sz="1600" b="0" i="0">
                <a:solidFill>
                  <a:srgbClr val="1A1A1A"/>
                </a:solidFill>
                <a:latin typeface="Arial"/>
              </a:rPr>
              <a:t>: where the remote's </a:t>
            </a:r>
            <a:r>
              <a:rPr sz="1550" b="0" i="0">
                <a:solidFill>
                  <a:srgbClr val="330066"/>
                </a:solidFill>
                <a:latin typeface="Courier New"/>
              </a:rPr>
              <a:t>main</a:t>
            </a:r>
            <a:r>
              <a:rPr sz="1600" b="0" i="0">
                <a:solidFill>
                  <a:srgbClr val="1A1A1A"/>
                </a:solidFill>
                <a:latin typeface="Arial"/>
              </a:rPr>
              <a:t> was the last time you talked to the remote.</a:t>
            </a:r>
          </a:p>
        </p:txBody>
      </p:sp>
      <p:sp>
        <p:nvSpPr>
          <p:cNvPr id="5" name="Rounded Rectangle 4"/>
          <p:cNvSpPr/>
          <p:nvPr/>
        </p:nvSpPr>
        <p:spPr>
          <a:xfrm>
            <a:off x="609904" y="2697480"/>
            <a:ext cx="5349240" cy="1371600"/>
          </a:xfrm>
          <a:prstGeom prst="roundRect">
            <a:avLst>
              <a:gd name="adj" fmla="val 6000"/>
            </a:avLst>
          </a:prstGeom>
          <a:solidFill>
            <a:srgbClr val="EDE6F5"/>
          </a:solidFill>
          <a:ln w="12700">
            <a:solidFill>
              <a:srgbClr val="EDE6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504" y="2834639"/>
            <a:ext cx="4937760" cy="1188720"/>
          </a:xfrm>
          <a:prstGeom prst="rect">
            <a:avLst/>
          </a:prstGeom>
          <a:noFill/>
        </p:spPr>
        <p:txBody>
          <a:bodyPr wrap="square" anchor="t" lIns="0" rIns="0" tIns="0" bIns="0">
            <a:spAutoFit/>
          </a:bodyPr>
          <a:lstStyle/>
          <a:p>
            <a:pPr algn="l">
              <a:lnSpc>
                <a:spcPct val="110000"/>
              </a:lnSpc>
              <a:spcAft>
                <a:spcPts val="600"/>
              </a:spcAft>
            </a:pPr>
            <a:r>
              <a:rPr sz="1750" b="1" i="0">
                <a:solidFill>
                  <a:srgbClr val="330066"/>
                </a:solidFill>
                <a:latin typeface="Courier New"/>
              </a:rPr>
              <a:t>main</a:t>
            </a:r>
          </a:p>
          <a:p>
            <a:pPr algn="l">
              <a:lnSpc>
                <a:spcPct val="110000"/>
              </a:lnSpc>
              <a:spcAft>
                <a:spcPts val="600"/>
              </a:spcAft>
            </a:pPr>
            <a:r>
              <a:rPr sz="1450" b="0" i="0">
                <a:solidFill>
                  <a:srgbClr val="1A1A1A"/>
                </a:solidFill>
                <a:latin typeface="Arial"/>
              </a:rPr>
              <a:t>Your own local branch. You move it by committing.</a:t>
            </a:r>
          </a:p>
        </p:txBody>
      </p:sp>
      <p:sp>
        <p:nvSpPr>
          <p:cNvPr id="7" name="Rounded Rectangle 6"/>
          <p:cNvSpPr/>
          <p:nvPr/>
        </p:nvSpPr>
        <p:spPr>
          <a:xfrm>
            <a:off x="6233464" y="2697480"/>
            <a:ext cx="5349240" cy="1371600"/>
          </a:xfrm>
          <a:prstGeom prst="roundRect">
            <a:avLst>
              <a:gd name="adj" fmla="val 6000"/>
            </a:avLst>
          </a:prstGeom>
          <a:solidFill>
            <a:srgbClr val="E9F1F1"/>
          </a:solidFill>
          <a:ln w="12700">
            <a:solidFill>
              <a:srgbClr val="E9F1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62064" y="2834639"/>
            <a:ext cx="4937760" cy="1188720"/>
          </a:xfrm>
          <a:prstGeom prst="rect">
            <a:avLst/>
          </a:prstGeom>
          <a:noFill/>
        </p:spPr>
        <p:txBody>
          <a:bodyPr wrap="square" anchor="t" lIns="0" rIns="0" tIns="0" bIns="0">
            <a:spAutoFit/>
          </a:bodyPr>
          <a:lstStyle/>
          <a:p>
            <a:pPr algn="l">
              <a:lnSpc>
                <a:spcPct val="110000"/>
              </a:lnSpc>
              <a:spcAft>
                <a:spcPts val="600"/>
              </a:spcAft>
            </a:pPr>
            <a:r>
              <a:rPr sz="1750" b="1" i="0">
                <a:solidFill>
                  <a:srgbClr val="330066"/>
                </a:solidFill>
                <a:latin typeface="Courier New"/>
              </a:rPr>
              <a:t>origin/main</a:t>
            </a:r>
          </a:p>
          <a:p>
            <a:pPr algn="l">
              <a:lnSpc>
                <a:spcPct val="110000"/>
              </a:lnSpc>
              <a:spcAft>
                <a:spcPts val="600"/>
              </a:spcAft>
            </a:pPr>
            <a:r>
              <a:rPr sz="1450" b="0" i="0">
                <a:solidFill>
                  <a:srgbClr val="1A1A1A"/>
                </a:solidFill>
                <a:latin typeface="Arial"/>
              </a:rPr>
              <a:t>Git's memory of the remote </a:t>
            </a:r>
            <a:r>
              <a:rPr sz="1400" b="0" i="0">
                <a:solidFill>
                  <a:srgbClr val="330066"/>
                </a:solidFill>
                <a:latin typeface="Courier New"/>
              </a:rPr>
              <a:t>main</a:t>
            </a:r>
            <a:r>
              <a:rPr sz="1450" b="0" i="0">
                <a:solidFill>
                  <a:srgbClr val="1A1A1A"/>
                </a:solidFill>
                <a:latin typeface="Arial"/>
              </a:rPr>
              <a:t>. You cannot commit onto it; it only moves when you </a:t>
            </a:r>
            <a:r>
              <a:rPr sz="1400" b="0" i="0">
                <a:solidFill>
                  <a:srgbClr val="330066"/>
                </a:solidFill>
                <a:latin typeface="Courier New"/>
              </a:rPr>
              <a:t>fetch</a:t>
            </a:r>
            <a:r>
              <a:rPr sz="1450" b="0" i="0">
                <a:solidFill>
                  <a:srgbClr val="1A1A1A"/>
                </a:solidFill>
                <a:latin typeface="Arial"/>
              </a:rPr>
              <a:t>, </a:t>
            </a:r>
            <a:r>
              <a:rPr sz="1400" b="0" i="0">
                <a:solidFill>
                  <a:srgbClr val="330066"/>
                </a:solidFill>
                <a:latin typeface="Courier New"/>
              </a:rPr>
              <a:t>pull</a:t>
            </a:r>
            <a:r>
              <a:rPr sz="1450" b="0" i="0">
                <a:solidFill>
                  <a:srgbClr val="1A1A1A"/>
                </a:solidFill>
                <a:latin typeface="Arial"/>
              </a:rPr>
              <a:t> or </a:t>
            </a:r>
            <a:r>
              <a:rPr sz="1400" b="0" i="0">
                <a:solidFill>
                  <a:srgbClr val="330066"/>
                </a:solidFill>
                <a:latin typeface="Courier New"/>
              </a:rPr>
              <a:t>push</a:t>
            </a:r>
            <a:r>
              <a:rPr sz="1450" b="0" i="0">
                <a:solidFill>
                  <a:srgbClr val="1A1A1A"/>
                </a:solidFill>
                <a:latin typeface="Arial"/>
              </a:rPr>
              <a:t>.</a:t>
            </a:r>
          </a:p>
        </p:txBody>
      </p:sp>
      <p:sp>
        <p:nvSpPr>
          <p:cNvPr id="9" name="Rounded Rectangle 8"/>
          <p:cNvSpPr/>
          <p:nvPr/>
        </p:nvSpPr>
        <p:spPr>
          <a:xfrm>
            <a:off x="609904" y="4343400"/>
            <a:ext cx="10971885" cy="1060704"/>
          </a:xfrm>
          <a:prstGeom prst="roundRect">
            <a:avLst>
              <a:gd name="adj" fmla="val 7758"/>
            </a:avLst>
          </a:prstGeom>
          <a:solidFill>
            <a:srgbClr val="FBEDEB"/>
          </a:solidFill>
          <a:ln w="12700">
            <a:solidFill>
              <a:srgbClr val="FBE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8504" y="4480560"/>
            <a:ext cx="10514685" cy="786384"/>
          </a:xfrm>
          <a:prstGeom prst="rect">
            <a:avLst/>
          </a:prstGeom>
          <a:noFill/>
        </p:spPr>
        <p:txBody>
          <a:bodyPr wrap="square" anchor="t" lIns="0" rIns="0" tIns="0" bIns="0">
            <a:spAutoFit/>
          </a:bodyPr>
          <a:lstStyle/>
          <a:p>
            <a:pPr algn="l">
              <a:lnSpc>
                <a:spcPct val="110000"/>
              </a:lnSpc>
              <a:spcAft>
                <a:spcPts val="300"/>
              </a:spcAft>
            </a:pPr>
            <a:r>
              <a:rPr sz="1100" b="1" i="0">
                <a:solidFill>
                  <a:srgbClr val="5C8A8A"/>
                </a:solidFill>
                <a:latin typeface="Arial"/>
              </a:rPr>
              <a:t>IMPORTANT CONSEQUENCE</a:t>
            </a:r>
          </a:p>
          <a:p>
            <a:pPr algn="l">
              <a:lnSpc>
                <a:spcPct val="110000"/>
              </a:lnSpc>
              <a:spcAft>
                <a:spcPts val="600"/>
              </a:spcAft>
            </a:pPr>
            <a:r>
              <a:rPr sz="1350" b="0" i="0">
                <a:solidFill>
                  <a:srgbClr val="330066"/>
                </a:solidFill>
                <a:latin typeface="Courier New"/>
              </a:rPr>
              <a:t>origin/main</a:t>
            </a:r>
            <a:r>
              <a:rPr sz="1400" b="0" i="0">
                <a:solidFill>
                  <a:srgbClr val="1A1A1A"/>
                </a:solidFill>
                <a:latin typeface="Arial"/>
              </a:rPr>
              <a:t> is only as fresh as your last contact. It does not update automatically in the background. To learn what teammates have done, you must </a:t>
            </a:r>
            <a:r>
              <a:rPr sz="1350" b="0" i="0">
                <a:solidFill>
                  <a:srgbClr val="330066"/>
                </a:solidFill>
                <a:latin typeface="Courier New"/>
              </a:rPr>
              <a:t>fetch</a:t>
            </a:r>
            <a:r>
              <a:rPr sz="1400" b="0" i="0">
                <a:solidFill>
                  <a:srgbClr val="1A1A1A"/>
                </a:solidFill>
                <a:latin typeface="Arial"/>
              </a:rPr>
              <a:t>.</a:t>
            </a:r>
          </a:p>
        </p:txBody>
      </p:sp>
      <p:sp>
        <p:nvSpPr>
          <p:cNvPr id="11" name="TextBox 10"/>
          <p:cNvSpPr txBox="1"/>
          <p:nvPr/>
        </p:nvSpPr>
        <p:spPr>
          <a:xfrm>
            <a:off x="609904" y="6382512"/>
            <a:ext cx="8686800" cy="274320"/>
          </a:xfrm>
          <a:prstGeom prst="rect">
            <a:avLst/>
          </a:prstGeom>
          <a:noFill/>
        </p:spPr>
        <p:txBody>
          <a:bodyPr wrap="square" anchor="t" lIns="0" rIns="0" tIns="0" bIns="0">
            <a:spAutoFit/>
          </a:bodyPr>
          <a:lstStyle/>
          <a:p>
            <a:pPr algn="l">
              <a:lnSpc>
                <a:spcPct val="110000"/>
              </a:lnSpc>
              <a:spcAft>
                <a:spcPts val="600"/>
              </a:spcAft>
            </a:pPr>
            <a:r>
              <a:rPr sz="900" b="0" i="0">
                <a:solidFill>
                  <a:srgbClr val="5A5A5A"/>
                </a:solidFill>
                <a:latin typeface="Arial"/>
              </a:rPr>
              <a:t>Collaborative Git Workflow  ·  Week 2 · Monday   |   12 / 55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330066"/>
                </a:solidFill>
              </a:rPr>
              <a:t>Seeing Both, and Ahead/Behind</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3</a:t>
            </a:r>
          </a:p>
        </p:txBody>
      </p:sp>
      <p:sp>
        <p:nvSpPr>
          <p:cNvPr id="4" name="Rounded Rectangle 3"/>
          <p:cNvSpPr/>
          <p:nvPr/>
        </p:nvSpPr>
        <p:spPr>
          <a:xfrm>
            <a:off x="609904" y="1783080"/>
            <a:ext cx="10971885" cy="673607"/>
          </a:xfrm>
          <a:prstGeom prst="roundRect">
            <a:avLst>
              <a:gd name="adj" fmla="val 10859"/>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1072" y="1929384"/>
            <a:ext cx="10569549" cy="380999"/>
          </a:xfrm>
          <a:prstGeom prst="rect">
            <a:avLst/>
          </a:prstGeom>
          <a:noFill/>
        </p:spPr>
        <p:txBody>
          <a:bodyPr wrap="square" lIns="0" rIns="0" tIns="0" bIns="0">
            <a:spAutoFit/>
          </a:bodyPr>
          <a:lstStyle/>
          <a:p>
            <a:pPr algn="l">
              <a:lnSpc>
                <a:spcPct val="100000"/>
              </a:lnSpc>
            </a:pPr>
            <a:r>
              <a:rPr sz="1250">
                <a:solidFill>
                  <a:srgbClr val="1A1A1A"/>
                </a:solidFill>
                <a:latin typeface="Courier New"/>
              </a:rPr>
              <a:t>git branch -a      # all branches: local and remote-tracking</a:t>
            </a:r>
          </a:p>
          <a:p>
            <a:pPr algn="l">
              <a:lnSpc>
                <a:spcPct val="100000"/>
              </a:lnSpc>
            </a:pPr>
            <a:r>
              <a:rPr sz="1250">
                <a:solidFill>
                  <a:srgbClr val="1A1A1A"/>
                </a:solidFill>
                <a:latin typeface="Courier New"/>
              </a:rPr>
              <a:t>git branch -vv     # local branches with their upstream and ahead/behind counts</a:t>
            </a:r>
          </a:p>
        </p:txBody>
      </p:sp>
      <p:sp>
        <p:nvSpPr>
          <p:cNvPr id="6" name="TextBox 5"/>
          <p:cNvSpPr txBox="1"/>
          <p:nvPr/>
        </p:nvSpPr>
        <p:spPr>
          <a:xfrm>
            <a:off x="609904" y="2639568"/>
            <a:ext cx="10971885" cy="274320"/>
          </a:xfrm>
          <a:prstGeom prst="rect">
            <a:avLst/>
          </a:prstGeom>
          <a:noFill/>
        </p:spPr>
        <p:txBody>
          <a:bodyPr wrap="square" anchor="t" lIns="0" rIns="0" tIns="0" bIns="0">
            <a:spAutoFit/>
          </a:bodyPr>
          <a:lstStyle/>
          <a:p>
            <a:pPr algn="l">
              <a:lnSpc>
                <a:spcPct val="110000"/>
              </a:lnSpc>
              <a:spcAft>
                <a:spcPts val="600"/>
              </a:spcAft>
            </a:pPr>
            <a:r>
              <a:rPr sz="1100" b="1" i="0">
                <a:solidFill>
                  <a:srgbClr val="5C8A8A"/>
                </a:solidFill>
                <a:latin typeface="Arial"/>
              </a:rPr>
              <a:t>Example of git branch -vv</a:t>
            </a:r>
          </a:p>
        </p:txBody>
      </p:sp>
      <p:sp>
        <p:nvSpPr>
          <p:cNvPr id="7" name="Rounded Rectangle 6"/>
          <p:cNvSpPr/>
          <p:nvPr/>
        </p:nvSpPr>
        <p:spPr>
          <a:xfrm>
            <a:off x="609904" y="2913888"/>
            <a:ext cx="10971885" cy="483108"/>
          </a:xfrm>
          <a:prstGeom prst="roundRect">
            <a:avLst>
              <a:gd name="adj" fmla="val 15141"/>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1072" y="3060192"/>
            <a:ext cx="10569549" cy="190499"/>
          </a:xfrm>
          <a:prstGeom prst="rect">
            <a:avLst/>
          </a:prstGeom>
          <a:noFill/>
        </p:spPr>
        <p:txBody>
          <a:bodyPr wrap="square" lIns="0" rIns="0" tIns="0" bIns="0">
            <a:spAutoFit/>
          </a:bodyPr>
          <a:lstStyle/>
          <a:p>
            <a:pPr algn="l">
              <a:lnSpc>
                <a:spcPct val="100000"/>
              </a:lnSpc>
            </a:pPr>
            <a:r>
              <a:rPr sz="1250">
                <a:solidFill>
                  <a:srgbClr val="1A1A1A"/>
                </a:solidFill>
                <a:latin typeface="Courier New"/>
              </a:rPr>
              <a:t>* main bdb4169 [origin/main] Initial commit</a:t>
            </a:r>
          </a:p>
        </p:txBody>
      </p:sp>
      <p:sp>
        <p:nvSpPr>
          <p:cNvPr id="9" name="TextBox 8"/>
          <p:cNvSpPr txBox="1"/>
          <p:nvPr/>
        </p:nvSpPr>
        <p:spPr>
          <a:xfrm>
            <a:off x="609904" y="3566160"/>
            <a:ext cx="10971885" cy="457200"/>
          </a:xfrm>
          <a:prstGeom prst="rect">
            <a:avLst/>
          </a:prstGeom>
          <a:noFill/>
        </p:spPr>
        <p:txBody>
          <a:bodyPr wrap="square" anchor="t" lIns="0" rIns="0" tIns="0" bIns="0">
            <a:spAutoFit/>
          </a:bodyPr>
          <a:lstStyle/>
          <a:p>
            <a:pPr algn="l">
              <a:lnSpc>
                <a:spcPct val="110000"/>
              </a:lnSpc>
              <a:spcAft>
                <a:spcPts val="600"/>
              </a:spcAft>
            </a:pPr>
            <a:r>
              <a:rPr sz="1500" b="0" i="0">
                <a:solidFill>
                  <a:srgbClr val="1A1A1A"/>
                </a:solidFill>
                <a:latin typeface="Arial"/>
              </a:rPr>
              <a:t>Out of sync, Git adds counts such as </a:t>
            </a:r>
            <a:r>
              <a:rPr sz="1450" b="0" i="0">
                <a:solidFill>
                  <a:srgbClr val="330066"/>
                </a:solidFill>
                <a:latin typeface="Courier New"/>
              </a:rPr>
              <a:t>[origin/main: ahead 1, behind 2]</a:t>
            </a:r>
            <a:r>
              <a:rPr sz="1500" b="0" i="0">
                <a:solidFill>
                  <a:srgbClr val="1A1A1A"/>
                </a:solidFill>
                <a:latin typeface="Arial"/>
              </a:rPr>
              <a:t>:</a:t>
            </a:r>
          </a:p>
        </p:txBody>
      </p:sp>
      <p:sp>
        <p:nvSpPr>
          <p:cNvPr id="10" name="Oval 9"/>
          <p:cNvSpPr/>
          <p:nvPr/>
        </p:nvSpPr>
        <p:spPr>
          <a:xfrm>
            <a:off x="609904" y="4069080"/>
            <a:ext cx="365760" cy="365760"/>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Arial"/>
              </a:rPr>
              <a:t>+</a:t>
            </a:r>
          </a:p>
        </p:txBody>
      </p:sp>
      <p:sp>
        <p:nvSpPr>
          <p:cNvPr id="11" name="TextBox 10"/>
          <p:cNvSpPr txBox="1"/>
          <p:nvPr/>
        </p:nvSpPr>
        <p:spPr>
          <a:xfrm>
            <a:off x="1140256" y="3977640"/>
            <a:ext cx="10441533" cy="548640"/>
          </a:xfrm>
          <a:prstGeom prst="rect">
            <a:avLst/>
          </a:prstGeom>
          <a:noFill/>
        </p:spPr>
        <p:txBody>
          <a:bodyPr wrap="square" anchor="ctr" lIns="0" rIns="0" tIns="0" bIns="0">
            <a:spAutoFit/>
          </a:bodyPr>
          <a:lstStyle/>
          <a:p>
            <a:pPr algn="l">
              <a:lnSpc>
                <a:spcPct val="110000"/>
              </a:lnSpc>
              <a:spcAft>
                <a:spcPts val="600"/>
              </a:spcAft>
            </a:pPr>
            <a:r>
              <a:rPr sz="1450" b="0" i="0">
                <a:solidFill>
                  <a:srgbClr val="1A1A1A"/>
                </a:solidFill>
                <a:latin typeface="Arial"/>
              </a:rPr>
              <a:t>ahead 1: you have 1 commit the remote does not have (you need to push).</a:t>
            </a:r>
          </a:p>
        </p:txBody>
      </p:sp>
      <p:sp>
        <p:nvSpPr>
          <p:cNvPr id="12" name="Oval 11"/>
          <p:cNvSpPr/>
          <p:nvPr/>
        </p:nvSpPr>
        <p:spPr>
          <a:xfrm>
            <a:off x="609904" y="4572000"/>
            <a:ext cx="365760" cy="365760"/>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Arial"/>
              </a:rPr>
              <a:t>−</a:t>
            </a:r>
          </a:p>
        </p:txBody>
      </p:sp>
      <p:sp>
        <p:nvSpPr>
          <p:cNvPr id="13" name="TextBox 12"/>
          <p:cNvSpPr txBox="1"/>
          <p:nvPr/>
        </p:nvSpPr>
        <p:spPr>
          <a:xfrm>
            <a:off x="1140256" y="4480560"/>
            <a:ext cx="10441533" cy="548640"/>
          </a:xfrm>
          <a:prstGeom prst="rect">
            <a:avLst/>
          </a:prstGeom>
          <a:noFill/>
        </p:spPr>
        <p:txBody>
          <a:bodyPr wrap="square" anchor="ctr" lIns="0" rIns="0" tIns="0" bIns="0">
            <a:spAutoFit/>
          </a:bodyPr>
          <a:lstStyle/>
          <a:p>
            <a:pPr algn="l">
              <a:lnSpc>
                <a:spcPct val="110000"/>
              </a:lnSpc>
              <a:spcAft>
                <a:spcPts val="600"/>
              </a:spcAft>
            </a:pPr>
            <a:r>
              <a:rPr sz="1450" b="0" i="0">
                <a:solidFill>
                  <a:srgbClr val="1A1A1A"/>
                </a:solidFill>
                <a:latin typeface="Arial"/>
              </a:rPr>
              <a:t>behind 2: the remote has 2 commits you do not have (you need to fetch/pull).</a:t>
            </a:r>
          </a:p>
        </p:txBody>
      </p:sp>
      <p:sp>
        <p:nvSpPr>
          <p:cNvPr id="14" name="Oval 13"/>
          <p:cNvSpPr/>
          <p:nvPr/>
        </p:nvSpPr>
        <p:spPr>
          <a:xfrm>
            <a:off x="609904" y="5074920"/>
            <a:ext cx="365760" cy="365760"/>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Arial"/>
              </a:rPr>
              <a:t>!</a:t>
            </a:r>
          </a:p>
        </p:txBody>
      </p:sp>
      <p:sp>
        <p:nvSpPr>
          <p:cNvPr id="15" name="TextBox 14"/>
          <p:cNvSpPr txBox="1"/>
          <p:nvPr/>
        </p:nvSpPr>
        <p:spPr>
          <a:xfrm>
            <a:off x="1140256" y="4983480"/>
            <a:ext cx="10441533" cy="548640"/>
          </a:xfrm>
          <a:prstGeom prst="rect">
            <a:avLst/>
          </a:prstGeom>
          <a:noFill/>
        </p:spPr>
        <p:txBody>
          <a:bodyPr wrap="square" anchor="ctr" lIns="0" rIns="0" tIns="0" bIns="0">
            <a:spAutoFit/>
          </a:bodyPr>
          <a:lstStyle/>
          <a:p>
            <a:pPr algn="l">
              <a:lnSpc>
                <a:spcPct val="110000"/>
              </a:lnSpc>
              <a:spcAft>
                <a:spcPts val="600"/>
              </a:spcAft>
            </a:pPr>
            <a:r>
              <a:rPr sz="1450" b="0" i="0">
                <a:solidFill>
                  <a:srgbClr val="1A1A1A"/>
                </a:solidFill>
                <a:latin typeface="Arial"/>
              </a:rPr>
              <a:t>both (diverged): you must combine the work before you can push.</a:t>
            </a:r>
          </a:p>
        </p:txBody>
      </p:sp>
      <p:sp>
        <p:nvSpPr>
          <p:cNvPr id="16" name="TextBox 15"/>
          <p:cNvSpPr txBox="1"/>
          <p:nvPr/>
        </p:nvSpPr>
        <p:spPr>
          <a:xfrm>
            <a:off x="609904" y="5779007"/>
            <a:ext cx="10971885" cy="365760"/>
          </a:xfrm>
          <a:prstGeom prst="rect">
            <a:avLst/>
          </a:prstGeom>
          <a:noFill/>
        </p:spPr>
        <p:txBody>
          <a:bodyPr wrap="square" anchor="t" lIns="0" rIns="0" tIns="0" bIns="0">
            <a:spAutoFit/>
          </a:bodyPr>
          <a:lstStyle/>
          <a:p>
            <a:pPr algn="l">
              <a:lnSpc>
                <a:spcPct val="110000"/>
              </a:lnSpc>
              <a:spcAft>
                <a:spcPts val="600"/>
              </a:spcAft>
            </a:pPr>
            <a:r>
              <a:rPr sz="1250" b="0" i="0">
                <a:solidFill>
                  <a:srgbClr val="5A5A5A"/>
                </a:solidFill>
                <a:latin typeface="Courier New"/>
              </a:rPr>
              <a:t>git status</a:t>
            </a:r>
            <a:r>
              <a:rPr sz="1300" b="0" i="0">
                <a:solidFill>
                  <a:srgbClr val="5A5A5A"/>
                </a:solidFill>
                <a:latin typeface="Arial"/>
              </a:rPr>
              <a:t> says the same in friendlier words; </a:t>
            </a:r>
            <a:r>
              <a:rPr sz="1250" b="0" i="0">
                <a:solidFill>
                  <a:srgbClr val="5A5A5A"/>
                </a:solidFill>
                <a:latin typeface="Courier New"/>
              </a:rPr>
              <a:t>git status -sb</a:t>
            </a:r>
            <a:r>
              <a:rPr sz="1300" b="0" i="0">
                <a:solidFill>
                  <a:srgbClr val="5A5A5A"/>
                </a:solidFill>
                <a:latin typeface="Arial"/>
              </a:rPr>
              <a:t> shows </a:t>
            </a:r>
            <a:r>
              <a:rPr sz="1250" b="0" i="0">
                <a:solidFill>
                  <a:srgbClr val="5A5A5A"/>
                </a:solidFill>
                <a:latin typeface="Courier New"/>
              </a:rPr>
              <a:t>## main...origin/main [ahead 1, behind 1]</a:t>
            </a:r>
            <a:r>
              <a:rPr sz="1300" b="0" i="0">
                <a:solidFill>
                  <a:srgbClr val="5A5A5A"/>
                </a:solidFill>
                <a:latin typeface="Arial"/>
              </a:rPr>
              <a:t>.</a:t>
            </a:r>
          </a:p>
        </p:txBody>
      </p:sp>
      <p:sp>
        <p:nvSpPr>
          <p:cNvPr id="17" name="TextBox 16"/>
          <p:cNvSpPr txBox="1"/>
          <p:nvPr/>
        </p:nvSpPr>
        <p:spPr>
          <a:xfrm>
            <a:off x="609904" y="6382512"/>
            <a:ext cx="8686800" cy="274320"/>
          </a:xfrm>
          <a:prstGeom prst="rect">
            <a:avLst/>
          </a:prstGeom>
          <a:noFill/>
        </p:spPr>
        <p:txBody>
          <a:bodyPr wrap="square" anchor="t" lIns="0" rIns="0" tIns="0" bIns="0">
            <a:spAutoFit/>
          </a:bodyPr>
          <a:lstStyle/>
          <a:p>
            <a:pPr algn="l">
              <a:lnSpc>
                <a:spcPct val="110000"/>
              </a:lnSpc>
              <a:spcAft>
                <a:spcPts val="600"/>
              </a:spcAft>
            </a:pPr>
            <a:r>
              <a:rPr sz="900" b="0" i="0">
                <a:solidFill>
                  <a:srgbClr val="5A5A5A"/>
                </a:solidFill>
                <a:latin typeface="Arial"/>
              </a:rPr>
              <a:t>Collaborative Git Workflow  ·  Week 2 · Monday   |   13 / 55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800">
                <a:solidFill>
                  <a:srgbClr val="330066"/>
                </a:solidFill>
              </a:rPr>
              <a:t>git fetch: Download Without Changing Your Work</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4</a:t>
            </a:r>
          </a:p>
        </p:txBody>
      </p:sp>
      <p:sp>
        <p:nvSpPr>
          <p:cNvPr id="4" name="Rounded Rectangle 3"/>
          <p:cNvSpPr/>
          <p:nvPr/>
        </p:nvSpPr>
        <p:spPr>
          <a:xfrm>
            <a:off x="609904" y="1783080"/>
            <a:ext cx="2011680" cy="457200"/>
          </a:xfrm>
          <a:prstGeom prst="roundRect">
            <a:avLst>
              <a:gd name="adj" fmla="val 18000"/>
            </a:avLst>
          </a:prstGeom>
          <a:solidFill>
            <a:srgbClr val="EDE6F5"/>
          </a:solidFill>
          <a:ln w="12700">
            <a:solidFill>
              <a:srgbClr val="EDE6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2784" y="1783080"/>
            <a:ext cx="1737360" cy="457200"/>
          </a:xfrm>
          <a:prstGeom prst="rect">
            <a:avLst/>
          </a:prstGeom>
          <a:noFill/>
        </p:spPr>
        <p:txBody>
          <a:bodyPr wrap="square" anchor="ctr" lIns="0" rIns="0" tIns="0" bIns="0">
            <a:spAutoFit/>
          </a:bodyPr>
          <a:lstStyle/>
          <a:p>
            <a:pPr algn="l"/>
            <a:r>
              <a:rPr sz="1500" b="1">
                <a:solidFill>
                  <a:srgbClr val="330066"/>
                </a:solidFill>
                <a:latin typeface="Courier New"/>
              </a:rPr>
              <a:t>git fetch</a:t>
            </a:r>
          </a:p>
        </p:txBody>
      </p:sp>
      <p:sp>
        <p:nvSpPr>
          <p:cNvPr id="6" name="TextBox 5"/>
          <p:cNvSpPr txBox="1"/>
          <p:nvPr/>
        </p:nvSpPr>
        <p:spPr>
          <a:xfrm>
            <a:off x="2895904" y="1856231"/>
            <a:ext cx="8229600" cy="365760"/>
          </a:xfrm>
          <a:prstGeom prst="rect">
            <a:avLst/>
          </a:prstGeom>
          <a:noFill/>
        </p:spPr>
        <p:txBody>
          <a:bodyPr wrap="square" anchor="t" lIns="0" rIns="0" tIns="0" bIns="0">
            <a:spAutoFit/>
          </a:bodyPr>
          <a:lstStyle/>
          <a:p>
            <a:pPr algn="l">
              <a:lnSpc>
                <a:spcPct val="110000"/>
              </a:lnSpc>
              <a:spcAft>
                <a:spcPts val="600"/>
              </a:spcAft>
            </a:pPr>
            <a:r>
              <a:rPr sz="1350" b="0" i="0">
                <a:solidFill>
                  <a:srgbClr val="5A5A5A"/>
                </a:solidFill>
                <a:latin typeface="Courier New"/>
              </a:rPr>
              <a:t>git fetch origin</a:t>
            </a:r>
            <a:r>
              <a:rPr sz="1400" b="0" i="0">
                <a:solidFill>
                  <a:srgbClr val="5A5A5A"/>
                </a:solidFill>
                <a:latin typeface="Arial"/>
              </a:rPr>
              <a:t> is the explicit form; with one remote they are equivalent.</a:t>
            </a:r>
          </a:p>
        </p:txBody>
      </p:sp>
      <p:sp>
        <p:nvSpPr>
          <p:cNvPr id="7" name="Oval 6"/>
          <p:cNvSpPr/>
          <p:nvPr/>
        </p:nvSpPr>
        <p:spPr>
          <a:xfrm>
            <a:off x="609904" y="2514600"/>
            <a:ext cx="365760" cy="365760"/>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Arial"/>
              </a:rPr>
              <a:t>1</a:t>
            </a:r>
          </a:p>
        </p:txBody>
      </p:sp>
      <p:sp>
        <p:nvSpPr>
          <p:cNvPr id="8" name="TextBox 7"/>
          <p:cNvSpPr txBox="1"/>
          <p:nvPr/>
        </p:nvSpPr>
        <p:spPr>
          <a:xfrm>
            <a:off x="1140256" y="2423160"/>
            <a:ext cx="5504688" cy="548640"/>
          </a:xfrm>
          <a:prstGeom prst="rect">
            <a:avLst/>
          </a:prstGeom>
          <a:noFill/>
        </p:spPr>
        <p:txBody>
          <a:bodyPr wrap="square" anchor="ctr" lIns="0" rIns="0" tIns="0" bIns="0">
            <a:spAutoFit/>
          </a:bodyPr>
          <a:lstStyle/>
          <a:p>
            <a:pPr algn="l">
              <a:lnSpc>
                <a:spcPct val="110000"/>
              </a:lnSpc>
              <a:spcAft>
                <a:spcPts val="600"/>
              </a:spcAft>
            </a:pPr>
            <a:r>
              <a:rPr sz="1450" b="0" i="0">
                <a:solidFill>
                  <a:srgbClr val="1A1A1A"/>
                </a:solidFill>
                <a:latin typeface="Arial"/>
              </a:rPr>
              <a:t>Contacts the remote and finds commits you do not have.</a:t>
            </a:r>
          </a:p>
        </p:txBody>
      </p:sp>
      <p:sp>
        <p:nvSpPr>
          <p:cNvPr id="9" name="Oval 8"/>
          <p:cNvSpPr/>
          <p:nvPr/>
        </p:nvSpPr>
        <p:spPr>
          <a:xfrm>
            <a:off x="609904" y="3081528"/>
            <a:ext cx="365760" cy="365760"/>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Arial"/>
              </a:rPr>
              <a:t>2</a:t>
            </a:r>
          </a:p>
        </p:txBody>
      </p:sp>
      <p:sp>
        <p:nvSpPr>
          <p:cNvPr id="10" name="TextBox 9"/>
          <p:cNvSpPr txBox="1"/>
          <p:nvPr/>
        </p:nvSpPr>
        <p:spPr>
          <a:xfrm>
            <a:off x="1140256" y="2990088"/>
            <a:ext cx="5504688" cy="548640"/>
          </a:xfrm>
          <a:prstGeom prst="rect">
            <a:avLst/>
          </a:prstGeom>
          <a:noFill/>
        </p:spPr>
        <p:txBody>
          <a:bodyPr wrap="square" anchor="ctr" lIns="0" rIns="0" tIns="0" bIns="0">
            <a:spAutoFit/>
          </a:bodyPr>
          <a:lstStyle/>
          <a:p>
            <a:pPr algn="l">
              <a:lnSpc>
                <a:spcPct val="110000"/>
              </a:lnSpc>
              <a:spcAft>
                <a:spcPts val="600"/>
              </a:spcAft>
            </a:pPr>
            <a:r>
              <a:rPr sz="1450" b="0" i="0">
                <a:solidFill>
                  <a:srgbClr val="1A1A1A"/>
                </a:solidFill>
                <a:latin typeface="Arial"/>
              </a:rPr>
              <a:t>Downloads them into your repository.</a:t>
            </a:r>
          </a:p>
        </p:txBody>
      </p:sp>
      <p:sp>
        <p:nvSpPr>
          <p:cNvPr id="11" name="Oval 10"/>
          <p:cNvSpPr/>
          <p:nvPr/>
        </p:nvSpPr>
        <p:spPr>
          <a:xfrm>
            <a:off x="609904" y="3648456"/>
            <a:ext cx="365760" cy="365760"/>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Arial"/>
              </a:rPr>
              <a:t>3</a:t>
            </a:r>
          </a:p>
        </p:txBody>
      </p:sp>
      <p:sp>
        <p:nvSpPr>
          <p:cNvPr id="12" name="TextBox 11"/>
          <p:cNvSpPr txBox="1"/>
          <p:nvPr/>
        </p:nvSpPr>
        <p:spPr>
          <a:xfrm>
            <a:off x="1140256" y="3557016"/>
            <a:ext cx="5504688" cy="548640"/>
          </a:xfrm>
          <a:prstGeom prst="rect">
            <a:avLst/>
          </a:prstGeom>
          <a:noFill/>
        </p:spPr>
        <p:txBody>
          <a:bodyPr wrap="square" anchor="ctr" lIns="0" rIns="0" tIns="0" bIns="0">
            <a:spAutoFit/>
          </a:bodyPr>
          <a:lstStyle/>
          <a:p>
            <a:pPr algn="l">
              <a:lnSpc>
                <a:spcPct val="110000"/>
              </a:lnSpc>
              <a:spcAft>
                <a:spcPts val="600"/>
              </a:spcAft>
            </a:pPr>
            <a:r>
              <a:rPr sz="1450" b="0" i="0">
                <a:solidFill>
                  <a:srgbClr val="1A1A1A"/>
                </a:solidFill>
                <a:latin typeface="Arial"/>
              </a:rPr>
              <a:t>Moves the remote-tracking branches (</a:t>
            </a:r>
            <a:r>
              <a:rPr sz="1400" b="0" i="0">
                <a:solidFill>
                  <a:srgbClr val="330066"/>
                </a:solidFill>
                <a:latin typeface="Courier New"/>
              </a:rPr>
              <a:t>origin/main</a:t>
            </a:r>
            <a:r>
              <a:rPr sz="1450" b="0" i="0">
                <a:solidFill>
                  <a:srgbClr val="1A1A1A"/>
                </a:solidFill>
                <a:latin typeface="Arial"/>
              </a:rPr>
              <a:t>, ...) to match.</a:t>
            </a:r>
          </a:p>
        </p:txBody>
      </p:sp>
      <p:sp>
        <p:nvSpPr>
          <p:cNvPr id="13" name="Oval 12"/>
          <p:cNvSpPr/>
          <p:nvPr/>
        </p:nvSpPr>
        <p:spPr>
          <a:xfrm>
            <a:off x="609904" y="4215383"/>
            <a:ext cx="365760" cy="365760"/>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Arial"/>
              </a:rPr>
              <a:t>4</a:t>
            </a:r>
          </a:p>
        </p:txBody>
      </p:sp>
      <p:sp>
        <p:nvSpPr>
          <p:cNvPr id="14" name="TextBox 13"/>
          <p:cNvSpPr txBox="1"/>
          <p:nvPr/>
        </p:nvSpPr>
        <p:spPr>
          <a:xfrm>
            <a:off x="1140256" y="4123944"/>
            <a:ext cx="5504688" cy="548640"/>
          </a:xfrm>
          <a:prstGeom prst="rect">
            <a:avLst/>
          </a:prstGeom>
          <a:noFill/>
        </p:spPr>
        <p:txBody>
          <a:bodyPr wrap="square" anchor="ctr" lIns="0" rIns="0" tIns="0" bIns="0">
            <a:spAutoFit/>
          </a:bodyPr>
          <a:lstStyle/>
          <a:p>
            <a:pPr algn="l">
              <a:lnSpc>
                <a:spcPct val="110000"/>
              </a:lnSpc>
              <a:spcAft>
                <a:spcPts val="600"/>
              </a:spcAft>
            </a:pPr>
            <a:r>
              <a:rPr sz="1450" b="0" i="0">
                <a:solidFill>
                  <a:srgbClr val="1A1A1A"/>
                </a:solidFill>
                <a:latin typeface="Arial"/>
              </a:rPr>
              <a:t>Does nothing to your local branches or working files.</a:t>
            </a:r>
          </a:p>
        </p:txBody>
      </p:sp>
      <p:sp>
        <p:nvSpPr>
          <p:cNvPr id="15" name="TextBox 14"/>
          <p:cNvSpPr txBox="1"/>
          <p:nvPr/>
        </p:nvSpPr>
        <p:spPr>
          <a:xfrm>
            <a:off x="7010704" y="2514600"/>
            <a:ext cx="4572000" cy="1097280"/>
          </a:xfrm>
          <a:prstGeom prst="rect">
            <a:avLst/>
          </a:prstGeom>
          <a:noFill/>
        </p:spPr>
        <p:txBody>
          <a:bodyPr wrap="square" anchor="t" lIns="0" rIns="0" tIns="0" bIns="0">
            <a:spAutoFit/>
          </a:bodyPr>
          <a:lstStyle/>
          <a:p>
            <a:pPr algn="l">
              <a:lnSpc>
                <a:spcPct val="110000"/>
              </a:lnSpc>
              <a:spcAft>
                <a:spcPts val="600"/>
              </a:spcAft>
            </a:pPr>
            <a:r>
              <a:rPr sz="1500" b="1" i="0">
                <a:solidFill>
                  <a:srgbClr val="330066"/>
                </a:solidFill>
                <a:latin typeface="Arial"/>
              </a:rPr>
              <a:t>That last point makes </a:t>
            </a:r>
            <a:r>
              <a:rPr sz="1450" b="1" i="0">
                <a:solidFill>
                  <a:srgbClr val="330066"/>
                </a:solidFill>
                <a:latin typeface="Courier New"/>
              </a:rPr>
              <a:t>fetch</a:t>
            </a:r>
            <a:r>
              <a:rPr sz="1500" b="1" i="0">
                <a:solidFill>
                  <a:srgbClr val="330066"/>
                </a:solidFill>
                <a:latin typeface="Arial"/>
              </a:rPr>
              <a:t> completely safe: run it any time without risk to your work in progress.</a:t>
            </a:r>
          </a:p>
        </p:txBody>
      </p:sp>
      <p:sp>
        <p:nvSpPr>
          <p:cNvPr id="16" name="TextBox 15"/>
          <p:cNvSpPr txBox="1"/>
          <p:nvPr/>
        </p:nvSpPr>
        <p:spPr>
          <a:xfrm>
            <a:off x="7010704" y="3611880"/>
            <a:ext cx="5486400" cy="274320"/>
          </a:xfrm>
          <a:prstGeom prst="rect">
            <a:avLst/>
          </a:prstGeom>
          <a:noFill/>
        </p:spPr>
        <p:txBody>
          <a:bodyPr wrap="square" anchor="t" lIns="0" rIns="0" tIns="0" bIns="0">
            <a:spAutoFit/>
          </a:bodyPr>
          <a:lstStyle/>
          <a:p>
            <a:pPr algn="l">
              <a:lnSpc>
                <a:spcPct val="110000"/>
              </a:lnSpc>
              <a:spcAft>
                <a:spcPts val="600"/>
              </a:spcAft>
            </a:pPr>
            <a:r>
              <a:rPr sz="1100" b="1" i="0">
                <a:solidFill>
                  <a:srgbClr val="5C8A8A"/>
                </a:solidFill>
                <a:latin typeface="Arial"/>
              </a:rPr>
              <a:t>Typical output</a:t>
            </a:r>
          </a:p>
        </p:txBody>
      </p:sp>
      <p:sp>
        <p:nvSpPr>
          <p:cNvPr id="17" name="Rounded Rectangle 16"/>
          <p:cNvSpPr/>
          <p:nvPr/>
        </p:nvSpPr>
        <p:spPr>
          <a:xfrm>
            <a:off x="7010704" y="3886200"/>
            <a:ext cx="4572000" cy="627888"/>
          </a:xfrm>
          <a:prstGeom prst="roundRect">
            <a:avLst>
              <a:gd name="adj" fmla="val 11650"/>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11872" y="4032504"/>
            <a:ext cx="4169663" cy="335280"/>
          </a:xfrm>
          <a:prstGeom prst="rect">
            <a:avLst/>
          </a:prstGeom>
          <a:noFill/>
        </p:spPr>
        <p:txBody>
          <a:bodyPr wrap="square" lIns="0" rIns="0" tIns="0" bIns="0">
            <a:spAutoFit/>
          </a:bodyPr>
          <a:lstStyle/>
          <a:p>
            <a:pPr algn="l">
              <a:lnSpc>
                <a:spcPct val="100000"/>
              </a:lnSpc>
            </a:pPr>
            <a:r>
              <a:rPr sz="1100">
                <a:solidFill>
                  <a:srgbClr val="1A1A1A"/>
                </a:solidFill>
                <a:latin typeface="Courier New"/>
              </a:rPr>
              <a:t>From https://github.com/your-team/qe-foundations</a:t>
            </a:r>
          </a:p>
          <a:p>
            <a:pPr algn="l">
              <a:lnSpc>
                <a:spcPct val="100000"/>
              </a:lnSpc>
            </a:pPr>
            <a:r>
              <a:rPr sz="1100">
                <a:solidFill>
                  <a:srgbClr val="1A1A1A"/>
                </a:solidFill>
                <a:latin typeface="Courier New"/>
              </a:rPr>
              <a:t>   bdb4169..8116ac8  main       -&gt; origin/main</a:t>
            </a:r>
          </a:p>
        </p:txBody>
      </p:sp>
      <p:sp>
        <p:nvSpPr>
          <p:cNvPr id="19" name="TextBox 18"/>
          <p:cNvSpPr txBox="1"/>
          <p:nvPr/>
        </p:nvSpPr>
        <p:spPr>
          <a:xfrm>
            <a:off x="609904" y="4983480"/>
            <a:ext cx="10971885" cy="822960"/>
          </a:xfrm>
          <a:prstGeom prst="rect">
            <a:avLst/>
          </a:prstGeom>
          <a:noFill/>
        </p:spPr>
        <p:txBody>
          <a:bodyPr wrap="square" anchor="t" lIns="0" rIns="0" tIns="0" bIns="0">
            <a:spAutoFit/>
          </a:bodyPr>
          <a:lstStyle/>
          <a:p>
            <a:pPr algn="l">
              <a:lnSpc>
                <a:spcPct val="110000"/>
              </a:lnSpc>
              <a:spcAft>
                <a:spcPts val="600"/>
              </a:spcAft>
            </a:pPr>
            <a:r>
              <a:rPr sz="1450" b="0" i="0">
                <a:solidFill>
                  <a:srgbClr val="1A1A1A"/>
                </a:solidFill>
                <a:latin typeface="Arial"/>
              </a:rPr>
              <a:t>Reads: on the remote, </a:t>
            </a:r>
            <a:r>
              <a:rPr sz="1400" b="0" i="0">
                <a:solidFill>
                  <a:srgbClr val="330066"/>
                </a:solidFill>
                <a:latin typeface="Courier New"/>
              </a:rPr>
              <a:t>main</a:t>
            </a:r>
            <a:r>
              <a:rPr sz="1450" b="0" i="0">
                <a:solidFill>
                  <a:srgbClr val="1A1A1A"/>
                </a:solidFill>
                <a:latin typeface="Arial"/>
              </a:rPr>
              <a:t> moved from </a:t>
            </a:r>
            <a:r>
              <a:rPr sz="1400" b="0" i="0">
                <a:solidFill>
                  <a:srgbClr val="330066"/>
                </a:solidFill>
                <a:latin typeface="Courier New"/>
              </a:rPr>
              <a:t>bdb4169</a:t>
            </a:r>
            <a:r>
              <a:rPr sz="1450" b="0" i="0">
                <a:solidFill>
                  <a:srgbClr val="1A1A1A"/>
                </a:solidFill>
                <a:latin typeface="Arial"/>
              </a:rPr>
              <a:t> to </a:t>
            </a:r>
            <a:r>
              <a:rPr sz="1400" b="0" i="0">
                <a:solidFill>
                  <a:srgbClr val="330066"/>
                </a:solidFill>
                <a:latin typeface="Courier New"/>
              </a:rPr>
              <a:t>8116ac8</a:t>
            </a:r>
            <a:r>
              <a:rPr sz="1450" b="0" i="0">
                <a:solidFill>
                  <a:srgbClr val="1A1A1A"/>
                </a:solidFill>
                <a:latin typeface="Arial"/>
              </a:rPr>
              <a:t>, and I updated my </a:t>
            </a:r>
            <a:r>
              <a:rPr sz="1400" b="0" i="0">
                <a:solidFill>
                  <a:srgbClr val="330066"/>
                </a:solidFill>
                <a:latin typeface="Courier New"/>
              </a:rPr>
              <a:t>origin/main</a:t>
            </a:r>
            <a:r>
              <a:rPr sz="1450" b="0" i="0">
                <a:solidFill>
                  <a:srgbClr val="1A1A1A"/>
                </a:solidFill>
                <a:latin typeface="Arial"/>
              </a:rPr>
              <a:t> bookmark accordingly.</a:t>
            </a:r>
          </a:p>
        </p:txBody>
      </p:sp>
      <p:sp>
        <p:nvSpPr>
          <p:cNvPr id="20" name="TextBox 19"/>
          <p:cNvSpPr txBox="1"/>
          <p:nvPr/>
        </p:nvSpPr>
        <p:spPr>
          <a:xfrm>
            <a:off x="609904" y="6382512"/>
            <a:ext cx="8686800" cy="274320"/>
          </a:xfrm>
          <a:prstGeom prst="rect">
            <a:avLst/>
          </a:prstGeom>
          <a:noFill/>
        </p:spPr>
        <p:txBody>
          <a:bodyPr wrap="square" anchor="t" lIns="0" rIns="0" tIns="0" bIns="0">
            <a:spAutoFit/>
          </a:bodyPr>
          <a:lstStyle/>
          <a:p>
            <a:pPr algn="l">
              <a:lnSpc>
                <a:spcPct val="110000"/>
              </a:lnSpc>
              <a:spcAft>
                <a:spcPts val="600"/>
              </a:spcAft>
            </a:pPr>
            <a:r>
              <a:rPr sz="900" b="0" i="0">
                <a:solidFill>
                  <a:srgbClr val="5A5A5A"/>
                </a:solidFill>
                <a:latin typeface="Arial"/>
              </a:rPr>
              <a:t>Collaborative Git Workflow  ·  Week 2 · Monday   |   14 / 55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330066"/>
                </a:solidFill>
              </a:rPr>
              <a:t>Inspecting What Arrived</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4</a:t>
            </a:r>
          </a:p>
        </p:txBody>
      </p:sp>
      <p:sp>
        <p:nvSpPr>
          <p:cNvPr id="4" name="TextBox 3"/>
          <p:cNvSpPr txBox="1"/>
          <p:nvPr/>
        </p:nvSpPr>
        <p:spPr>
          <a:xfrm>
            <a:off x="609904" y="1783080"/>
            <a:ext cx="10971885" cy="457200"/>
          </a:xfrm>
          <a:prstGeom prst="rect">
            <a:avLst/>
          </a:prstGeom>
          <a:noFill/>
        </p:spPr>
        <p:txBody>
          <a:bodyPr wrap="square" anchor="t" lIns="0" rIns="0" tIns="0" bIns="0">
            <a:spAutoFit/>
          </a:bodyPr>
          <a:lstStyle/>
          <a:p>
            <a:pPr algn="l">
              <a:lnSpc>
                <a:spcPct val="110000"/>
              </a:lnSpc>
              <a:spcAft>
                <a:spcPts val="600"/>
              </a:spcAft>
            </a:pPr>
            <a:r>
              <a:rPr sz="1500" b="0" i="0">
                <a:solidFill>
                  <a:srgbClr val="1A1A1A"/>
                </a:solidFill>
                <a:latin typeface="Arial"/>
              </a:rPr>
              <a:t>After fetching, look before you integrate:</a:t>
            </a:r>
          </a:p>
        </p:txBody>
      </p:sp>
      <p:sp>
        <p:nvSpPr>
          <p:cNvPr id="5" name="Rounded Rectangle 4"/>
          <p:cNvSpPr/>
          <p:nvPr/>
        </p:nvSpPr>
        <p:spPr>
          <a:xfrm>
            <a:off x="609904" y="2267712"/>
            <a:ext cx="10971885" cy="1435607"/>
          </a:xfrm>
          <a:prstGeom prst="roundRect">
            <a:avLst>
              <a:gd name="adj" fmla="val 5095"/>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1072" y="2414016"/>
            <a:ext cx="10569549" cy="1142999"/>
          </a:xfrm>
          <a:prstGeom prst="rect">
            <a:avLst/>
          </a:prstGeom>
          <a:noFill/>
        </p:spPr>
        <p:txBody>
          <a:bodyPr wrap="square" lIns="0" rIns="0" tIns="0" bIns="0">
            <a:spAutoFit/>
          </a:bodyPr>
          <a:lstStyle/>
          <a:p>
            <a:pPr algn="l">
              <a:lnSpc>
                <a:spcPct val="100000"/>
              </a:lnSpc>
            </a:pPr>
            <a:r>
              <a:rPr sz="1250">
                <a:solidFill>
                  <a:srgbClr val="1A1A1A"/>
                </a:solidFill>
                <a:latin typeface="Courier New"/>
              </a:rPr>
              <a:t>git status -sb                      # ahead/behind summary</a:t>
            </a:r>
          </a:p>
          <a:p>
            <a:pPr algn="l">
              <a:lnSpc>
                <a:spcPct val="100000"/>
              </a:lnSpc>
            </a:pPr>
            <a:r>
              <a:rPr sz="1250">
                <a:solidFill>
                  <a:srgbClr val="1A1A1A"/>
                </a:solidFill>
                <a:latin typeface="Courier New"/>
              </a:rPr>
              <a:t>git log --oneline HEAD..origin/main # commits on the remote that I don't have</a:t>
            </a:r>
          </a:p>
          <a:p>
            <a:pPr algn="l">
              <a:lnSpc>
                <a:spcPct val="100000"/>
              </a:lnSpc>
            </a:pPr>
            <a:r>
              <a:rPr sz="1250">
                <a:solidFill>
                  <a:srgbClr val="1A1A1A"/>
                </a:solidFill>
                <a:latin typeface="Courier New"/>
              </a:rPr>
              <a:t>git log --oneline origin/main..HEAD # commits I have that the remote doesn't</a:t>
            </a:r>
          </a:p>
          <a:p>
            <a:pPr algn="l">
              <a:lnSpc>
                <a:spcPct val="100000"/>
              </a:lnSpc>
            </a:pPr>
            <a:r>
              <a:rPr sz="1250">
                <a:solidFill>
                  <a:srgbClr val="1A1A1A"/>
                </a:solidFill>
                <a:latin typeface="Courier New"/>
              </a:rPr>
              <a:t>git diff --stat HEAD...origin/main  # which files changed on the remote side (summary)</a:t>
            </a:r>
          </a:p>
          <a:p>
            <a:pPr algn="l">
              <a:lnSpc>
                <a:spcPct val="100000"/>
              </a:lnSpc>
            </a:pPr>
            <a:r>
              <a:rPr sz="1250">
                <a:solidFill>
                  <a:srgbClr val="1A1A1A"/>
                </a:solidFill>
                <a:latin typeface="Courier New"/>
              </a:rPr>
              <a:t>git diff HEAD...origin/main         # the actual changes made on the remote side</a:t>
            </a:r>
          </a:p>
          <a:p>
            <a:pPr algn="l">
              <a:lnSpc>
                <a:spcPct val="100000"/>
              </a:lnSpc>
            </a:pPr>
            <a:r>
              <a:rPr sz="1250">
                <a:solidFill>
                  <a:srgbClr val="1A1A1A"/>
                </a:solidFill>
                <a:latin typeface="Courier New"/>
              </a:rPr>
              <a:t>git log --oneline --graph --all     # a picture of how the branches relate</a:t>
            </a:r>
          </a:p>
        </p:txBody>
      </p:sp>
      <p:sp>
        <p:nvSpPr>
          <p:cNvPr id="7" name="TextBox 6"/>
          <p:cNvSpPr txBox="1"/>
          <p:nvPr/>
        </p:nvSpPr>
        <p:spPr>
          <a:xfrm>
            <a:off x="609904" y="3931920"/>
            <a:ext cx="10971885" cy="2743200"/>
          </a:xfrm>
          <a:prstGeom prst="rect">
            <a:avLst/>
          </a:prstGeom>
          <a:noFill/>
        </p:spPr>
        <p:txBody>
          <a:bodyPr wrap="square" lIns="0" rIns="0" tIns="0" bIns="0">
            <a:spAutoFit/>
          </a:bodyPr>
          <a:lstStyle/>
          <a:p>
            <a:pPr algn="l" marL="228600" indent="-228600">
              <a:spcAft>
                <a:spcPts val="1000"/>
              </a:spcAft>
              <a:buFont typeface="Arial"/>
              <a:buChar char="•"/>
            </a:pPr>
            <a:r>
              <a:rPr sz="1400" b="0" i="0">
                <a:solidFill>
                  <a:srgbClr val="330066"/>
                </a:solidFill>
                <a:latin typeface="Courier New"/>
              </a:rPr>
              <a:t>A..B</a:t>
            </a:r>
            <a:r>
              <a:rPr sz="1450" b="0" i="0">
                <a:solidFill>
                  <a:srgbClr val="1A1A1A"/>
                </a:solidFill>
                <a:latin typeface="Arial"/>
              </a:rPr>
              <a:t> means commits reachable from B but not from A: </a:t>
            </a:r>
            <a:r>
              <a:rPr sz="1400" b="0" i="0">
                <a:solidFill>
                  <a:srgbClr val="330066"/>
                </a:solidFill>
                <a:latin typeface="Courier New"/>
              </a:rPr>
              <a:t>HEAD..origin/main</a:t>
            </a:r>
            <a:r>
              <a:rPr sz="1450" b="0" i="0">
                <a:solidFill>
                  <a:srgbClr val="1A1A1A"/>
                </a:solidFill>
                <a:latin typeface="Arial"/>
              </a:rPr>
              <a:t> is "what's on the remote that I lack".</a:t>
            </a:r>
          </a:p>
          <a:p>
            <a:pPr algn="l" marL="228600" indent="-228600">
              <a:spcAft>
                <a:spcPts val="1000"/>
              </a:spcAft>
              <a:buFont typeface="Arial"/>
              <a:buChar char="•"/>
            </a:pPr>
            <a:r>
              <a:rPr sz="1450" b="0" i="0">
                <a:solidFill>
                  <a:srgbClr val="1A1A1A"/>
                </a:solidFill>
                <a:latin typeface="Arial"/>
              </a:rPr>
              <a:t>Three-dot </a:t>
            </a:r>
            <a:r>
              <a:rPr sz="1400" b="0" i="0">
                <a:solidFill>
                  <a:srgbClr val="330066"/>
                </a:solidFill>
                <a:latin typeface="Courier New"/>
              </a:rPr>
              <a:t>HEAD...origin/main</a:t>
            </a:r>
            <a:r>
              <a:rPr sz="1450" b="0" i="0">
                <a:solidFill>
                  <a:srgbClr val="1A1A1A"/>
                </a:solidFill>
                <a:latin typeface="Arial"/>
              </a:rPr>
              <a:t> in </a:t>
            </a:r>
            <a:r>
              <a:rPr sz="1400" b="0" i="0">
                <a:solidFill>
                  <a:srgbClr val="330066"/>
                </a:solidFill>
                <a:latin typeface="Courier New"/>
              </a:rPr>
              <a:t>git diff</a:t>
            </a:r>
            <a:r>
              <a:rPr sz="1450" b="0" i="0">
                <a:solidFill>
                  <a:srgbClr val="1A1A1A"/>
                </a:solidFill>
                <a:latin typeface="Arial"/>
              </a:rPr>
              <a:t> compares the remote's latest commit to the common ancestor: what the other side changed since you diverged, usually what you want to review.</a:t>
            </a:r>
          </a:p>
        </p:txBody>
      </p:sp>
      <p:sp>
        <p:nvSpPr>
          <p:cNvPr id="8" name="TextBox 7"/>
          <p:cNvSpPr txBox="1"/>
          <p:nvPr/>
        </p:nvSpPr>
        <p:spPr>
          <a:xfrm>
            <a:off x="609904" y="6382512"/>
            <a:ext cx="8686800" cy="274320"/>
          </a:xfrm>
          <a:prstGeom prst="rect">
            <a:avLst/>
          </a:prstGeom>
          <a:noFill/>
        </p:spPr>
        <p:txBody>
          <a:bodyPr wrap="square" anchor="t" lIns="0" rIns="0" tIns="0" bIns="0">
            <a:spAutoFit/>
          </a:bodyPr>
          <a:lstStyle/>
          <a:p>
            <a:pPr algn="l">
              <a:lnSpc>
                <a:spcPct val="110000"/>
              </a:lnSpc>
              <a:spcAft>
                <a:spcPts val="600"/>
              </a:spcAft>
            </a:pPr>
            <a:r>
              <a:rPr sz="900" b="0" i="0">
                <a:solidFill>
                  <a:srgbClr val="5A5A5A"/>
                </a:solidFill>
                <a:latin typeface="Arial"/>
              </a:rPr>
              <a:t>Collaborative Git Workflow  ·  Week 2 · Monday   |   15 / 55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330066"/>
                </a:solidFill>
              </a:rPr>
              <a:t>Seeing Divergence in the Graph</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4</a:t>
            </a:r>
          </a:p>
        </p:txBody>
      </p:sp>
      <p:sp>
        <p:nvSpPr>
          <p:cNvPr id="4" name="TextBox 3"/>
          <p:cNvSpPr txBox="1"/>
          <p:nvPr/>
        </p:nvSpPr>
        <p:spPr>
          <a:xfrm>
            <a:off x="609904" y="1783080"/>
            <a:ext cx="10971885" cy="457200"/>
          </a:xfrm>
          <a:prstGeom prst="rect">
            <a:avLst/>
          </a:prstGeom>
          <a:noFill/>
        </p:spPr>
        <p:txBody>
          <a:bodyPr wrap="square" anchor="t" lIns="0" rIns="0" tIns="0" bIns="0">
            <a:spAutoFit/>
          </a:bodyPr>
          <a:lstStyle/>
          <a:p>
            <a:pPr algn="l">
              <a:lnSpc>
                <a:spcPct val="110000"/>
              </a:lnSpc>
              <a:spcAft>
                <a:spcPts val="600"/>
              </a:spcAft>
            </a:pPr>
            <a:r>
              <a:rPr sz="1450" b="0" i="0">
                <a:solidFill>
                  <a:srgbClr val="330066"/>
                </a:solidFill>
                <a:latin typeface="Courier New"/>
              </a:rPr>
              <a:t>git log --oneline --graph --all</a:t>
            </a:r>
            <a:r>
              <a:rPr sz="1500" b="0" i="0">
                <a:solidFill>
                  <a:srgbClr val="1A1A1A"/>
                </a:solidFill>
                <a:latin typeface="Arial"/>
              </a:rPr>
              <a:t> after both you and a teammate have committed:</a:t>
            </a:r>
          </a:p>
        </p:txBody>
      </p:sp>
      <p:sp>
        <p:nvSpPr>
          <p:cNvPr id="5" name="Rounded Rectangle 4"/>
          <p:cNvSpPr/>
          <p:nvPr/>
        </p:nvSpPr>
        <p:spPr>
          <a:xfrm>
            <a:off x="609904" y="2221991"/>
            <a:ext cx="6400800" cy="1054608"/>
          </a:xfrm>
          <a:prstGeom prst="roundRect">
            <a:avLst>
              <a:gd name="adj" fmla="val 6936"/>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1072" y="2368296"/>
            <a:ext cx="5998464" cy="761999"/>
          </a:xfrm>
          <a:prstGeom prst="rect">
            <a:avLst/>
          </a:prstGeom>
          <a:noFill/>
        </p:spPr>
        <p:txBody>
          <a:bodyPr wrap="square" lIns="0" rIns="0" tIns="0" bIns="0">
            <a:spAutoFit/>
          </a:bodyPr>
          <a:lstStyle/>
          <a:p>
            <a:pPr algn="l">
              <a:lnSpc>
                <a:spcPct val="100000"/>
              </a:lnSpc>
            </a:pPr>
            <a:r>
              <a:rPr sz="1000">
                <a:solidFill>
                  <a:srgbClr val="1A1A1A"/>
                </a:solidFill>
                <a:latin typeface="Courier New"/>
              </a:rPr>
              <a:t>* 88914b4 Bob adds file          &lt;- my local commit</a:t>
            </a:r>
          </a:p>
          <a:p>
            <a:pPr algn="l">
              <a:lnSpc>
                <a:spcPct val="100000"/>
              </a:lnSpc>
            </a:pPr>
            <a:r>
              <a:rPr sz="1000">
                <a:solidFill>
                  <a:srgbClr val="1A1A1A"/>
                </a:solidFill>
                <a:latin typeface="Courier New"/>
              </a:rPr>
              <a:t>| * 8116ac8 Alice adds file      &lt;- teammate's commit, now visible as origin/main</a:t>
            </a:r>
          </a:p>
          <a:p>
            <a:pPr algn="l">
              <a:lnSpc>
                <a:spcPct val="100000"/>
              </a:lnSpc>
            </a:pPr>
            <a:r>
              <a:rPr sz="1000">
                <a:solidFill>
                  <a:srgbClr val="1A1A1A"/>
                </a:solidFill>
                <a:latin typeface="Courier New"/>
              </a:rPr>
              <a:t>|/</a:t>
            </a:r>
          </a:p>
          <a:p>
            <a:pPr algn="l">
              <a:lnSpc>
                <a:spcPct val="100000"/>
              </a:lnSpc>
            </a:pPr>
            <a:r>
              <a:rPr sz="1000">
                <a:solidFill>
                  <a:srgbClr val="1A1A1A"/>
                </a:solidFill>
                <a:latin typeface="Courier New"/>
              </a:rPr>
              <a:t>* bdb4169 Initial commit</a:t>
            </a:r>
          </a:p>
        </p:txBody>
      </p:sp>
      <p:sp>
        <p:nvSpPr>
          <p:cNvPr id="7" name="TextBox 6"/>
          <p:cNvSpPr txBox="1"/>
          <p:nvPr/>
        </p:nvSpPr>
        <p:spPr>
          <a:xfrm>
            <a:off x="7376464" y="2221991"/>
            <a:ext cx="4205325" cy="3922776"/>
          </a:xfrm>
          <a:prstGeom prst="rect">
            <a:avLst/>
          </a:prstGeom>
          <a:noFill/>
        </p:spPr>
        <p:txBody>
          <a:bodyPr wrap="square" lIns="0" rIns="0" tIns="0" bIns="0">
            <a:spAutoFit/>
          </a:bodyPr>
          <a:lstStyle/>
          <a:p>
            <a:pPr algn="l" marL="228600" indent="-228600">
              <a:spcAft>
                <a:spcPts val="800"/>
              </a:spcAft>
              <a:buFont typeface="Arial"/>
              <a:buChar char="•"/>
            </a:pPr>
            <a:r>
              <a:rPr sz="1400" b="0" i="0">
                <a:solidFill>
                  <a:srgbClr val="1A1A1A"/>
                </a:solidFill>
                <a:latin typeface="Arial"/>
              </a:rPr>
              <a:t>The lines splitting apart show that history has diverged.</a:t>
            </a:r>
          </a:p>
        </p:txBody>
      </p:sp>
      <p:sp>
        <p:nvSpPr>
          <p:cNvPr id="8" name="TextBox 7"/>
          <p:cNvSpPr txBox="1"/>
          <p:nvPr/>
        </p:nvSpPr>
        <p:spPr>
          <a:xfrm>
            <a:off x="609904" y="6382512"/>
            <a:ext cx="8686800" cy="274320"/>
          </a:xfrm>
          <a:prstGeom prst="rect">
            <a:avLst/>
          </a:prstGeom>
          <a:noFill/>
        </p:spPr>
        <p:txBody>
          <a:bodyPr wrap="square" anchor="t" lIns="0" rIns="0" tIns="0" bIns="0">
            <a:spAutoFit/>
          </a:bodyPr>
          <a:lstStyle/>
          <a:p>
            <a:pPr algn="l">
              <a:lnSpc>
                <a:spcPct val="110000"/>
              </a:lnSpc>
              <a:spcAft>
                <a:spcPts val="600"/>
              </a:spcAft>
            </a:pPr>
            <a:r>
              <a:rPr sz="900" b="0" i="0">
                <a:solidFill>
                  <a:srgbClr val="5A5A5A"/>
                </a:solidFill>
                <a:latin typeface="Arial"/>
              </a:rPr>
              <a:t>Collaborative Git Workflow  ·  Week 2 · Monday   |   16 / 55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3200">
                <a:solidFill>
                  <a:srgbClr val="330066"/>
                </a:solidFill>
              </a:rPr>
              <a:t>When to Fetch, and Handy Variants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4</a:t>
            </a:r>
          </a:p>
        </p:txBody>
      </p:sp>
      <p:sp>
        <p:nvSpPr>
          <p:cNvPr id="4" name="Rounded Rectangle 3"/>
          <p:cNvSpPr/>
          <p:nvPr/>
        </p:nvSpPr>
        <p:spPr>
          <a:xfrm>
            <a:off x="609904" y="1783080"/>
            <a:ext cx="6400800" cy="749808"/>
          </a:xfrm>
          <a:prstGeom prst="roundRect">
            <a:avLst>
              <a:gd name="adj" fmla="val 9756"/>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1072" y="1929384"/>
            <a:ext cx="5998464" cy="457200"/>
          </a:xfrm>
          <a:prstGeom prst="rect">
            <a:avLst/>
          </a:prstGeom>
          <a:noFill/>
        </p:spPr>
        <p:txBody>
          <a:bodyPr wrap="square" lIns="0" rIns="0" tIns="0" bIns="0">
            <a:spAutoFit/>
          </a:bodyPr>
          <a:lstStyle/>
          <a:p>
            <a:pPr algn="l">
              <a:lnSpc>
                <a:spcPct val="100000"/>
              </a:lnSpc>
            </a:pPr>
            <a:r>
              <a:rPr sz="1000">
                <a:solidFill>
                  <a:srgbClr val="1A1A1A"/>
                </a:solidFill>
                <a:latin typeface="Courier New"/>
              </a:rPr>
              <a:t>git fetch --all      # fetch from every configured remote</a:t>
            </a:r>
          </a:p>
          <a:p>
            <a:pPr algn="l">
              <a:lnSpc>
                <a:spcPct val="100000"/>
              </a:lnSpc>
            </a:pPr>
            <a:r>
              <a:rPr sz="1000">
                <a:solidFill>
                  <a:srgbClr val="1A1A1A"/>
                </a:solidFill>
                <a:latin typeface="Courier New"/>
              </a:rPr>
              <a:t>git fetch --prune    # also remove remote-tracking branches that were deleted on the remote</a:t>
            </a:r>
          </a:p>
        </p:txBody>
      </p:sp>
      <p:sp>
        <p:nvSpPr>
          <p:cNvPr id="6" name="TextBox 5"/>
          <p:cNvSpPr txBox="1"/>
          <p:nvPr/>
        </p:nvSpPr>
        <p:spPr>
          <a:xfrm>
            <a:off x="7376464" y="1783080"/>
            <a:ext cx="4205325" cy="4361688"/>
          </a:xfrm>
          <a:prstGeom prst="rect">
            <a:avLst/>
          </a:prstGeom>
          <a:noFill/>
        </p:spPr>
        <p:txBody>
          <a:bodyPr wrap="square" lIns="0" rIns="0" tIns="0" bIns="0">
            <a:spAutoFit/>
          </a:bodyPr>
          <a:lstStyle/>
          <a:p>
            <a:pPr algn="l" marL="228600" indent="-228600">
              <a:spcAft>
                <a:spcPts val="800"/>
              </a:spcAft>
              <a:buFont typeface="Arial"/>
              <a:buChar char="•"/>
            </a:pPr>
            <a:r>
              <a:rPr sz="1400" b="0" i="0">
                <a:solidFill>
                  <a:srgbClr val="1A1A1A"/>
                </a:solidFill>
                <a:latin typeface="Arial"/>
              </a:rPr>
              <a:t>To see what teammates did before deciding how to integrate.</a:t>
            </a:r>
          </a:p>
          <a:p>
            <a:pPr algn="l" marL="228600" indent="-228600">
              <a:spcAft>
                <a:spcPts val="800"/>
              </a:spcAft>
              <a:buFont typeface="Arial"/>
              <a:buChar char="•"/>
            </a:pPr>
            <a:r>
              <a:rPr sz="1400" b="0" i="0">
                <a:solidFill>
                  <a:srgbClr val="1A1A1A"/>
                </a:solidFill>
                <a:latin typeface="Arial"/>
              </a:rPr>
              <a:t>Before new work or a push, to check whether you are behind.</a:t>
            </a:r>
          </a:p>
          <a:p>
            <a:pPr algn="l" marL="228600" indent="-228600">
              <a:spcAft>
                <a:spcPts val="800"/>
              </a:spcAft>
              <a:buFont typeface="Arial"/>
              <a:buChar char="•"/>
            </a:pPr>
            <a:r>
              <a:rPr sz="1400" b="0" i="0">
                <a:solidFill>
                  <a:srgbClr val="1A1A1A"/>
                </a:solidFill>
                <a:latin typeface="Arial"/>
              </a:rPr>
              <a:t>In scripts and automation: safe and read-only for your files.</a:t>
            </a:r>
          </a:p>
          <a:p>
            <a:pPr algn="l" marL="228600" indent="-228600">
              <a:spcAft>
                <a:spcPts val="800"/>
              </a:spcAft>
              <a:buFont typeface="Arial"/>
              <a:buChar char="•"/>
            </a:pPr>
            <a:r>
              <a:rPr sz="1350" b="0" i="0">
                <a:solidFill>
                  <a:srgbClr val="330066"/>
                </a:solidFill>
                <a:latin typeface="Courier New"/>
              </a:rPr>
              <a:t>--prune</a:t>
            </a:r>
            <a:r>
              <a:rPr sz="1400" b="0" i="0">
                <a:solidFill>
                  <a:srgbClr val="1A1A1A"/>
                </a:solidFill>
                <a:latin typeface="Arial"/>
              </a:rPr>
              <a:t> tidies stale </a:t>
            </a:r>
            <a:r>
              <a:rPr sz="1350" b="0" i="0">
                <a:solidFill>
                  <a:srgbClr val="330066"/>
                </a:solidFill>
                <a:latin typeface="Courier New"/>
              </a:rPr>
              <a:t>origin/feature-x</a:t>
            </a:r>
            <a:r>
              <a:rPr sz="1400" b="0" i="0">
                <a:solidFill>
                  <a:srgbClr val="1A1A1A"/>
                </a:solidFill>
                <a:latin typeface="Arial"/>
              </a:rPr>
              <a:t> bookmarks after a remote branch is deleted (automatic with </a:t>
            </a:r>
            <a:r>
              <a:rPr sz="1350" b="0" i="0">
                <a:solidFill>
                  <a:srgbClr val="330066"/>
                </a:solidFill>
                <a:latin typeface="Courier New"/>
              </a:rPr>
              <a:t>git config fetch.prune true</a:t>
            </a:r>
            <a:r>
              <a:rPr sz="1400" b="0" i="0">
                <a:solidFill>
                  <a:srgbClr val="1A1A1A"/>
                </a:solidFill>
                <a:latin typeface="Arial"/>
              </a:rPr>
              <a:t>).</a:t>
            </a:r>
          </a:p>
        </p:txBody>
      </p:sp>
      <p:sp>
        <p:nvSpPr>
          <p:cNvPr id="7" name="TextBox 6"/>
          <p:cNvSpPr txBox="1"/>
          <p:nvPr/>
        </p:nvSpPr>
        <p:spPr>
          <a:xfrm>
            <a:off x="609904" y="6382512"/>
            <a:ext cx="8686800" cy="274320"/>
          </a:xfrm>
          <a:prstGeom prst="rect">
            <a:avLst/>
          </a:prstGeom>
          <a:noFill/>
        </p:spPr>
        <p:txBody>
          <a:bodyPr wrap="square" anchor="t" lIns="0" rIns="0" tIns="0" bIns="0">
            <a:spAutoFit/>
          </a:bodyPr>
          <a:lstStyle/>
          <a:p>
            <a:pPr algn="l">
              <a:lnSpc>
                <a:spcPct val="110000"/>
              </a:lnSpc>
              <a:spcAft>
                <a:spcPts val="600"/>
              </a:spcAft>
            </a:pPr>
            <a:r>
              <a:rPr sz="900" b="0" i="0">
                <a:solidFill>
                  <a:srgbClr val="5A5A5A"/>
                </a:solidFill>
                <a:latin typeface="Arial"/>
              </a:rPr>
              <a:t>Collaborative Git Workflow  ·  Week 2 · Monday   |   17 / 55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330066"/>
                </a:solidFill>
              </a:rPr>
              <a:t>git pull: Fetch Plus Integrate</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5</a:t>
            </a:r>
          </a:p>
        </p:txBody>
      </p:sp>
      <p:sp>
        <p:nvSpPr>
          <p:cNvPr id="4" name="Rounded Rectangle 3"/>
          <p:cNvSpPr/>
          <p:nvPr/>
        </p:nvSpPr>
        <p:spPr>
          <a:xfrm>
            <a:off x="609904" y="1783080"/>
            <a:ext cx="10971885" cy="490727"/>
          </a:xfrm>
          <a:prstGeom prst="roundRect">
            <a:avLst>
              <a:gd name="adj" fmla="val 14906"/>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1072" y="1929384"/>
            <a:ext cx="10569549" cy="198119"/>
          </a:xfrm>
          <a:prstGeom prst="rect">
            <a:avLst/>
          </a:prstGeom>
          <a:noFill/>
        </p:spPr>
        <p:txBody>
          <a:bodyPr wrap="square" lIns="0" rIns="0" tIns="0" bIns="0">
            <a:spAutoFit/>
          </a:bodyPr>
          <a:lstStyle/>
          <a:p>
            <a:pPr algn="l">
              <a:lnSpc>
                <a:spcPct val="100000"/>
              </a:lnSpc>
            </a:pPr>
            <a:r>
              <a:rPr sz="1300">
                <a:solidFill>
                  <a:srgbClr val="1A1A1A"/>
                </a:solidFill>
                <a:latin typeface="Courier New"/>
              </a:rPr>
              <a:t>git pull</a:t>
            </a:r>
          </a:p>
        </p:txBody>
      </p:sp>
      <p:sp>
        <p:nvSpPr>
          <p:cNvPr id="6" name="TextBox 5"/>
          <p:cNvSpPr txBox="1"/>
          <p:nvPr/>
        </p:nvSpPr>
        <p:spPr>
          <a:xfrm>
            <a:off x="609904" y="2456688"/>
            <a:ext cx="10971885" cy="274320"/>
          </a:xfrm>
          <a:prstGeom prst="rect">
            <a:avLst/>
          </a:prstGeom>
          <a:noFill/>
        </p:spPr>
        <p:txBody>
          <a:bodyPr wrap="square" anchor="t" lIns="0" rIns="0" tIns="0" bIns="0">
            <a:spAutoFit/>
          </a:bodyPr>
          <a:lstStyle/>
          <a:p>
            <a:pPr algn="l">
              <a:lnSpc>
                <a:spcPct val="110000"/>
              </a:lnSpc>
              <a:spcAft>
                <a:spcPts val="600"/>
              </a:spcAft>
            </a:pPr>
            <a:r>
              <a:rPr sz="1100" b="1" i="0">
                <a:solidFill>
                  <a:srgbClr val="5C8A8A"/>
                </a:solidFill>
                <a:latin typeface="Arial"/>
              </a:rPr>
              <a:t>A shortcut for two steps</a:t>
            </a:r>
          </a:p>
        </p:txBody>
      </p:sp>
      <p:sp>
        <p:nvSpPr>
          <p:cNvPr id="7" name="Rounded Rectangle 6"/>
          <p:cNvSpPr/>
          <p:nvPr/>
        </p:nvSpPr>
        <p:spPr>
          <a:xfrm>
            <a:off x="609904" y="2731007"/>
            <a:ext cx="10971885" cy="688848"/>
          </a:xfrm>
          <a:prstGeom prst="roundRect">
            <a:avLst>
              <a:gd name="adj" fmla="val 10619"/>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1072" y="2877312"/>
            <a:ext cx="10569549" cy="396239"/>
          </a:xfrm>
          <a:prstGeom prst="rect">
            <a:avLst/>
          </a:prstGeom>
          <a:noFill/>
        </p:spPr>
        <p:txBody>
          <a:bodyPr wrap="square" lIns="0" rIns="0" tIns="0" bIns="0">
            <a:spAutoFit/>
          </a:bodyPr>
          <a:lstStyle/>
          <a:p>
            <a:pPr algn="l">
              <a:lnSpc>
                <a:spcPct val="100000"/>
              </a:lnSpc>
            </a:pPr>
            <a:r>
              <a:rPr sz="1300">
                <a:solidFill>
                  <a:srgbClr val="1A1A1A"/>
                </a:solidFill>
                <a:latin typeface="Courier New"/>
              </a:rPr>
              <a:t>git pull  =  git fetch   (download and update origin/&lt;branch&gt;)</a:t>
            </a:r>
          </a:p>
          <a:p>
            <a:pPr algn="l">
              <a:lnSpc>
                <a:spcPct val="100000"/>
              </a:lnSpc>
            </a:pPr>
            <a:r>
              <a:rPr sz="1300">
                <a:solidFill>
                  <a:srgbClr val="1A1A1A"/>
                </a:solidFill>
                <a:latin typeface="Courier New"/>
              </a:rPr>
              <a:t>          +  integrate   (merge or rebase origin/&lt;branch&gt; into your current branch)</a:t>
            </a:r>
          </a:p>
        </p:txBody>
      </p:sp>
      <p:sp>
        <p:nvSpPr>
          <p:cNvPr id="9" name="TextBox 8"/>
          <p:cNvSpPr txBox="1"/>
          <p:nvPr/>
        </p:nvSpPr>
        <p:spPr>
          <a:xfrm>
            <a:off x="609904" y="3886200"/>
            <a:ext cx="10971885" cy="914400"/>
          </a:xfrm>
          <a:prstGeom prst="rect">
            <a:avLst/>
          </a:prstGeom>
          <a:noFill/>
        </p:spPr>
        <p:txBody>
          <a:bodyPr wrap="square" anchor="t" lIns="0" rIns="0" tIns="0" bIns="0">
            <a:spAutoFit/>
          </a:bodyPr>
          <a:lstStyle/>
          <a:p>
            <a:pPr algn="l">
              <a:lnSpc>
                <a:spcPct val="110000"/>
              </a:lnSpc>
              <a:spcAft>
                <a:spcPts val="600"/>
              </a:spcAft>
            </a:pPr>
            <a:r>
              <a:rPr sz="1600" b="0" i="0">
                <a:solidFill>
                  <a:srgbClr val="1A1A1A"/>
                </a:solidFill>
                <a:latin typeface="Arial"/>
              </a:rPr>
              <a:t>Because it changes your current branch and working files, it can fail or create conflicts if you have uncommitted changes in the same files, or if the remote's changes overlap with yours.</a:t>
            </a:r>
          </a:p>
        </p:txBody>
      </p:sp>
      <p:sp>
        <p:nvSpPr>
          <p:cNvPr id="10" name="TextBox 9"/>
          <p:cNvSpPr txBox="1"/>
          <p:nvPr/>
        </p:nvSpPr>
        <p:spPr>
          <a:xfrm>
            <a:off x="609904" y="6382512"/>
            <a:ext cx="8686800" cy="274320"/>
          </a:xfrm>
          <a:prstGeom prst="rect">
            <a:avLst/>
          </a:prstGeom>
          <a:noFill/>
        </p:spPr>
        <p:txBody>
          <a:bodyPr wrap="square" anchor="t" lIns="0" rIns="0" tIns="0" bIns="0">
            <a:spAutoFit/>
          </a:bodyPr>
          <a:lstStyle/>
          <a:p>
            <a:pPr algn="l">
              <a:lnSpc>
                <a:spcPct val="110000"/>
              </a:lnSpc>
              <a:spcAft>
                <a:spcPts val="600"/>
              </a:spcAft>
            </a:pPr>
            <a:r>
              <a:rPr sz="900" b="0" i="0">
                <a:solidFill>
                  <a:srgbClr val="5A5A5A"/>
                </a:solidFill>
                <a:latin typeface="Arial"/>
              </a:rPr>
              <a:t>Collaborative Git Workflow  ·  Week 2 · Monday   |   18 / 55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330066"/>
                </a:solidFill>
              </a:rPr>
              <a:t>Case 1: Behind, No Local Commits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5 · FAST-FORWARD</a:t>
            </a:r>
          </a:p>
        </p:txBody>
      </p:sp>
      <p:sp>
        <p:nvSpPr>
          <p:cNvPr id="4" name="TextBox 3"/>
          <p:cNvSpPr txBox="1"/>
          <p:nvPr/>
        </p:nvSpPr>
        <p:spPr>
          <a:xfrm>
            <a:off x="609904" y="1783080"/>
            <a:ext cx="10971885" cy="457200"/>
          </a:xfrm>
          <a:prstGeom prst="rect">
            <a:avLst/>
          </a:prstGeom>
          <a:noFill/>
        </p:spPr>
        <p:txBody>
          <a:bodyPr wrap="square" anchor="t" lIns="0" rIns="0" tIns="0" bIns="0">
            <a:spAutoFit/>
          </a:bodyPr>
          <a:lstStyle/>
          <a:p>
            <a:pPr algn="l">
              <a:lnSpc>
                <a:spcPct val="110000"/>
              </a:lnSpc>
              <a:spcAft>
                <a:spcPts val="600"/>
              </a:spcAft>
            </a:pPr>
            <a:r>
              <a:rPr sz="1500" b="0" i="0">
                <a:solidFill>
                  <a:srgbClr val="1A1A1A"/>
                </a:solidFill>
                <a:latin typeface="Arial"/>
              </a:rPr>
              <a:t>Your branch is simply older than the remote's. Git moves your branch pointer forward. No new commit is created.</a:t>
            </a:r>
          </a:p>
        </p:txBody>
      </p:sp>
      <p:sp>
        <p:nvSpPr>
          <p:cNvPr id="5" name="Rounded Rectangle 4"/>
          <p:cNvSpPr/>
          <p:nvPr/>
        </p:nvSpPr>
        <p:spPr>
          <a:xfrm>
            <a:off x="609904" y="2523744"/>
            <a:ext cx="6400800" cy="1092708"/>
          </a:xfrm>
          <a:prstGeom prst="roundRect">
            <a:avLst>
              <a:gd name="adj" fmla="val 6694"/>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1072" y="2670048"/>
            <a:ext cx="5998464" cy="800100"/>
          </a:xfrm>
          <a:prstGeom prst="rect">
            <a:avLst/>
          </a:prstGeom>
          <a:noFill/>
        </p:spPr>
        <p:txBody>
          <a:bodyPr wrap="square" lIns="0" rIns="0" tIns="0" bIns="0">
            <a:spAutoFit/>
          </a:bodyPr>
          <a:lstStyle/>
          <a:p>
            <a:pPr algn="l">
              <a:lnSpc>
                <a:spcPct val="100000"/>
              </a:lnSpc>
            </a:pPr>
            <a:r>
              <a:rPr sz="1050">
                <a:solidFill>
                  <a:srgbClr val="1A1A1A"/>
                </a:solidFill>
                <a:latin typeface="Courier New"/>
              </a:rPr>
              <a:t>Before:   A---B            (main, origin/main was B; remote now has C, D)</a:t>
            </a:r>
          </a:p>
          <a:p>
            <a:pPr algn="l">
              <a:lnSpc>
                <a:spcPct val="100000"/>
              </a:lnSpc>
            </a:pPr>
            <a:r>
              <a:rPr sz="1050">
                <a:solidFill>
                  <a:srgbClr val="1A1A1A"/>
                </a:solidFill>
                <a:latin typeface="Courier New"/>
              </a:rPr>
              <a:t>                \</a:t>
            </a:r>
          </a:p>
          <a:p>
            <a:pPr algn="l">
              <a:lnSpc>
                <a:spcPct val="100000"/>
              </a:lnSpc>
            </a:pPr>
            <a:r>
              <a:rPr sz="1050">
                <a:solidFill>
                  <a:srgbClr val="1A1A1A"/>
                </a:solidFill>
                <a:latin typeface="Courier New"/>
              </a:rPr>
              <a:t>Remote:           C---D</a:t>
            </a:r>
          </a:p>
          <a:p>
            <a:pPr algn="l">
              <a:lnSpc>
                <a:spcPct val="100000"/>
              </a:lnSpc>
            </a:pPr>
            <a:r>
              <a:rPr sz="1050">
                <a:solidFill>
                  <a:srgbClr val="1A1A1A"/>
                </a:solidFill>
                <a:latin typeface="Courier New"/>
              </a:rPr>
              <a:t> </a:t>
            </a:r>
          </a:p>
          <a:p>
            <a:pPr algn="l">
              <a:lnSpc>
                <a:spcPct val="100000"/>
              </a:lnSpc>
            </a:pPr>
            <a:r>
              <a:rPr sz="1050">
                <a:solidFill>
                  <a:srgbClr val="1A1A1A"/>
                </a:solidFill>
                <a:latin typeface="Courier New"/>
              </a:rPr>
              <a:t>After pull:  A---B---C---D   (main fast-forwarded)</a:t>
            </a:r>
          </a:p>
        </p:txBody>
      </p:sp>
      <p:sp>
        <p:nvSpPr>
          <p:cNvPr id="7" name="TextBox 6"/>
          <p:cNvSpPr txBox="1"/>
          <p:nvPr/>
        </p:nvSpPr>
        <p:spPr>
          <a:xfrm>
            <a:off x="7376464" y="2523744"/>
            <a:ext cx="4205325" cy="3621024"/>
          </a:xfrm>
          <a:prstGeom prst="rect">
            <a:avLst/>
          </a:prstGeom>
          <a:noFill/>
        </p:spPr>
        <p:txBody>
          <a:bodyPr wrap="square" lIns="0" rIns="0" tIns="0" bIns="0">
            <a:spAutoFit/>
          </a:bodyPr>
          <a:lstStyle/>
          <a:p>
            <a:pPr algn="l" marL="228600" indent="-228600">
              <a:spcAft>
                <a:spcPts val="800"/>
              </a:spcAft>
              <a:buFont typeface="Arial"/>
              <a:buChar char="•"/>
            </a:pPr>
            <a:r>
              <a:rPr sz="1400" b="0" i="0">
                <a:solidFill>
                  <a:srgbClr val="1A1A1A"/>
                </a:solidFill>
                <a:latin typeface="Arial"/>
              </a:rPr>
              <a:t>Output includes </a:t>
            </a:r>
            <a:r>
              <a:rPr sz="1350" b="0" i="0">
                <a:solidFill>
                  <a:srgbClr val="330066"/>
                </a:solidFill>
                <a:latin typeface="Courier New"/>
              </a:rPr>
              <a:t>Fast-forward</a:t>
            </a:r>
            <a:r>
              <a:rPr sz="1400" b="0" i="0">
                <a:solidFill>
                  <a:srgbClr val="1A1A1A"/>
                </a:solidFill>
                <a:latin typeface="Arial"/>
              </a:rPr>
              <a:t> and a list of changed files.</a:t>
            </a:r>
          </a:p>
        </p:txBody>
      </p:sp>
      <p:sp>
        <p:nvSpPr>
          <p:cNvPr id="8" name="TextBox 7"/>
          <p:cNvSpPr txBox="1"/>
          <p:nvPr/>
        </p:nvSpPr>
        <p:spPr>
          <a:xfrm>
            <a:off x="609904" y="6382512"/>
            <a:ext cx="8686800" cy="274320"/>
          </a:xfrm>
          <a:prstGeom prst="rect">
            <a:avLst/>
          </a:prstGeom>
          <a:noFill/>
        </p:spPr>
        <p:txBody>
          <a:bodyPr wrap="square" anchor="t" lIns="0" rIns="0" tIns="0" bIns="0">
            <a:spAutoFit/>
          </a:bodyPr>
          <a:lstStyle/>
          <a:p>
            <a:pPr algn="l">
              <a:lnSpc>
                <a:spcPct val="110000"/>
              </a:lnSpc>
              <a:spcAft>
                <a:spcPts val="600"/>
              </a:spcAft>
            </a:pPr>
            <a:r>
              <a:rPr sz="900" b="0" i="0">
                <a:solidFill>
                  <a:srgbClr val="5A5A5A"/>
                </a:solidFill>
                <a:latin typeface="Arial"/>
              </a:rPr>
              <a:t>Collaborative Git Workflow  ·  Week 2 · Monday   |   19 / 55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330066"/>
                </a:solidFill>
              </a:rPr>
              <a:t>Case 2: Diverged</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5</a:t>
            </a:r>
          </a:p>
        </p:txBody>
      </p:sp>
      <p:sp>
        <p:nvSpPr>
          <p:cNvPr id="4" name="TextBox 3"/>
          <p:cNvSpPr txBox="1"/>
          <p:nvPr/>
        </p:nvSpPr>
        <p:spPr>
          <a:xfrm>
            <a:off x="609904" y="1783080"/>
            <a:ext cx="5120640" cy="274320"/>
          </a:xfrm>
          <a:prstGeom prst="rect">
            <a:avLst/>
          </a:prstGeom>
          <a:noFill/>
        </p:spPr>
        <p:txBody>
          <a:bodyPr wrap="square" anchor="t" lIns="0" rIns="0" tIns="0" bIns="0">
            <a:spAutoFit/>
          </a:bodyPr>
          <a:lstStyle/>
          <a:p>
            <a:pPr algn="l">
              <a:lnSpc>
                <a:spcPct val="110000"/>
              </a:lnSpc>
              <a:spcAft>
                <a:spcPts val="600"/>
              </a:spcAft>
            </a:pPr>
            <a:r>
              <a:rPr sz="1100" b="1" i="0">
                <a:solidFill>
                  <a:srgbClr val="5C8A8A"/>
                </a:solidFill>
                <a:latin typeface="Arial"/>
              </a:rPr>
              <a:t>You have local commits; the remote has new ones</a:t>
            </a:r>
          </a:p>
        </p:txBody>
      </p:sp>
      <p:sp>
        <p:nvSpPr>
          <p:cNvPr id="5" name="Rounded Rectangle 4"/>
          <p:cNvSpPr/>
          <p:nvPr/>
        </p:nvSpPr>
        <p:spPr>
          <a:xfrm>
            <a:off x="609904" y="2057400"/>
            <a:ext cx="5120640" cy="841247"/>
          </a:xfrm>
          <a:prstGeom prst="roundRect">
            <a:avLst>
              <a:gd name="adj" fmla="val 8695"/>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1072" y="2203704"/>
            <a:ext cx="4718303" cy="548639"/>
          </a:xfrm>
          <a:prstGeom prst="rect">
            <a:avLst/>
          </a:prstGeom>
          <a:noFill/>
        </p:spPr>
        <p:txBody>
          <a:bodyPr wrap="square" lIns="0" rIns="0" tIns="0" bIns="0">
            <a:spAutoFit/>
          </a:bodyPr>
          <a:lstStyle/>
          <a:p>
            <a:pPr algn="l">
              <a:lnSpc>
                <a:spcPct val="100000"/>
              </a:lnSpc>
            </a:pPr>
            <a:r>
              <a:rPr sz="1200">
                <a:solidFill>
                  <a:srgbClr val="1A1A1A"/>
                </a:solidFill>
                <a:latin typeface="Courier New"/>
              </a:rPr>
              <a:t>Local:      A---B---X          (your commit X)</a:t>
            </a:r>
          </a:p>
          <a:p>
            <a:pPr algn="l">
              <a:lnSpc>
                <a:spcPct val="100000"/>
              </a:lnSpc>
            </a:pPr>
            <a:r>
              <a:rPr sz="1200">
                <a:solidFill>
                  <a:srgbClr val="1A1A1A"/>
                </a:solidFill>
                <a:latin typeface="Courier New"/>
              </a:rPr>
              <a:t>                 \</a:t>
            </a:r>
          </a:p>
          <a:p>
            <a:pPr algn="l">
              <a:lnSpc>
                <a:spcPct val="100000"/>
              </a:lnSpc>
            </a:pPr>
            <a:r>
              <a:rPr sz="1200">
                <a:solidFill>
                  <a:srgbClr val="1A1A1A"/>
                </a:solidFill>
                <a:latin typeface="Courier New"/>
              </a:rPr>
              <a:t>Remote:           C---D        (teammates' commits)</a:t>
            </a:r>
          </a:p>
        </p:txBody>
      </p:sp>
      <p:sp>
        <p:nvSpPr>
          <p:cNvPr id="7" name="TextBox 6"/>
          <p:cNvSpPr txBox="1"/>
          <p:nvPr/>
        </p:nvSpPr>
        <p:spPr>
          <a:xfrm>
            <a:off x="609904" y="3081528"/>
            <a:ext cx="5120640" cy="274320"/>
          </a:xfrm>
          <a:prstGeom prst="rect">
            <a:avLst/>
          </a:prstGeom>
          <a:noFill/>
        </p:spPr>
        <p:txBody>
          <a:bodyPr wrap="square" anchor="t" lIns="0" rIns="0" tIns="0" bIns="0">
            <a:spAutoFit/>
          </a:bodyPr>
          <a:lstStyle/>
          <a:p>
            <a:pPr algn="l">
              <a:lnSpc>
                <a:spcPct val="110000"/>
              </a:lnSpc>
              <a:spcAft>
                <a:spcPts val="600"/>
              </a:spcAft>
            </a:pPr>
            <a:r>
              <a:rPr sz="1100" b="1" i="0">
                <a:solidFill>
                  <a:srgbClr val="5C8A8A"/>
                </a:solidFill>
                <a:latin typeface="Arial"/>
              </a:rPr>
              <a:t>Pull with merge: git pull --no-rebase</a:t>
            </a:r>
          </a:p>
        </p:txBody>
      </p:sp>
      <p:sp>
        <p:nvSpPr>
          <p:cNvPr id="8" name="Rounded Rectangle 7"/>
          <p:cNvSpPr/>
          <p:nvPr/>
        </p:nvSpPr>
        <p:spPr>
          <a:xfrm>
            <a:off x="609904" y="3355848"/>
            <a:ext cx="5120640" cy="886968"/>
          </a:xfrm>
          <a:prstGeom prst="roundRect">
            <a:avLst>
              <a:gd name="adj" fmla="val 8247"/>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1072" y="3502152"/>
            <a:ext cx="4718303" cy="594359"/>
          </a:xfrm>
          <a:prstGeom prst="rect">
            <a:avLst/>
          </a:prstGeom>
          <a:noFill/>
        </p:spPr>
        <p:txBody>
          <a:bodyPr wrap="square" lIns="0" rIns="0" tIns="0" bIns="0">
            <a:spAutoFit/>
          </a:bodyPr>
          <a:lstStyle/>
          <a:p>
            <a:pPr algn="l">
              <a:lnSpc>
                <a:spcPct val="100000"/>
              </a:lnSpc>
            </a:pPr>
            <a:r>
              <a:rPr sz="1300">
                <a:solidFill>
                  <a:srgbClr val="1A1A1A"/>
                </a:solidFill>
                <a:latin typeface="Courier New"/>
              </a:rPr>
              <a:t>A---B---X-------M</a:t>
            </a:r>
          </a:p>
          <a:p>
            <a:pPr algn="l">
              <a:lnSpc>
                <a:spcPct val="100000"/>
              </a:lnSpc>
            </a:pPr>
            <a:r>
              <a:rPr sz="1300">
                <a:solidFill>
                  <a:srgbClr val="1A1A1A"/>
                </a:solidFill>
                <a:latin typeface="Courier New"/>
              </a:rPr>
              <a:t>     \         /</a:t>
            </a:r>
          </a:p>
          <a:p>
            <a:pPr algn="l">
              <a:lnSpc>
                <a:spcPct val="100000"/>
              </a:lnSpc>
            </a:pPr>
            <a:r>
              <a:rPr sz="1300">
                <a:solidFill>
                  <a:srgbClr val="1A1A1A"/>
                </a:solidFill>
                <a:latin typeface="Courier New"/>
              </a:rPr>
              <a:t>      C-------D</a:t>
            </a:r>
          </a:p>
        </p:txBody>
      </p:sp>
      <p:sp>
        <p:nvSpPr>
          <p:cNvPr id="10" name="TextBox 9"/>
          <p:cNvSpPr txBox="1"/>
          <p:nvPr/>
        </p:nvSpPr>
        <p:spPr>
          <a:xfrm>
            <a:off x="609904" y="4425696"/>
            <a:ext cx="5120640" cy="274320"/>
          </a:xfrm>
          <a:prstGeom prst="rect">
            <a:avLst/>
          </a:prstGeom>
          <a:noFill/>
        </p:spPr>
        <p:txBody>
          <a:bodyPr wrap="square" anchor="t" lIns="0" rIns="0" tIns="0" bIns="0">
            <a:spAutoFit/>
          </a:bodyPr>
          <a:lstStyle/>
          <a:p>
            <a:pPr algn="l">
              <a:lnSpc>
                <a:spcPct val="110000"/>
              </a:lnSpc>
              <a:spcAft>
                <a:spcPts val="600"/>
              </a:spcAft>
            </a:pPr>
            <a:r>
              <a:rPr sz="1100" b="1" i="0">
                <a:solidFill>
                  <a:srgbClr val="5C8A8A"/>
                </a:solidFill>
                <a:latin typeface="Arial"/>
              </a:rPr>
              <a:t>Pull with rebase: git pull --rebase</a:t>
            </a:r>
          </a:p>
        </p:txBody>
      </p:sp>
      <p:sp>
        <p:nvSpPr>
          <p:cNvPr id="11" name="Rounded Rectangle 10"/>
          <p:cNvSpPr/>
          <p:nvPr/>
        </p:nvSpPr>
        <p:spPr>
          <a:xfrm>
            <a:off x="609904" y="4700016"/>
            <a:ext cx="5120640" cy="490727"/>
          </a:xfrm>
          <a:prstGeom prst="roundRect">
            <a:avLst>
              <a:gd name="adj" fmla="val 14906"/>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1072" y="4846320"/>
            <a:ext cx="4718303" cy="198119"/>
          </a:xfrm>
          <a:prstGeom prst="rect">
            <a:avLst/>
          </a:prstGeom>
          <a:noFill/>
        </p:spPr>
        <p:txBody>
          <a:bodyPr wrap="square" lIns="0" rIns="0" tIns="0" bIns="0">
            <a:spAutoFit/>
          </a:bodyPr>
          <a:lstStyle/>
          <a:p>
            <a:pPr algn="l">
              <a:lnSpc>
                <a:spcPct val="100000"/>
              </a:lnSpc>
            </a:pPr>
            <a:r>
              <a:rPr sz="1300">
                <a:solidFill>
                  <a:srgbClr val="1A1A1A"/>
                </a:solidFill>
                <a:latin typeface="Courier New"/>
              </a:rPr>
              <a:t>A---B---C---D---X'</a:t>
            </a:r>
          </a:p>
        </p:txBody>
      </p:sp>
      <p:sp>
        <p:nvSpPr>
          <p:cNvPr id="13" name="TextBox 12"/>
          <p:cNvSpPr txBox="1"/>
          <p:nvPr/>
        </p:nvSpPr>
        <p:spPr>
          <a:xfrm>
            <a:off x="6096304" y="1783080"/>
            <a:ext cx="5485485" cy="4361688"/>
          </a:xfrm>
          <a:prstGeom prst="rect">
            <a:avLst/>
          </a:prstGeom>
          <a:noFill/>
        </p:spPr>
        <p:txBody>
          <a:bodyPr wrap="square" lIns="0" rIns="0" tIns="0" bIns="0">
            <a:spAutoFit/>
          </a:bodyPr>
          <a:lstStyle/>
          <a:p>
            <a:pPr algn="l" marL="228600" indent="-228600">
              <a:spcAft>
                <a:spcPts val="800"/>
              </a:spcAft>
              <a:buFont typeface="Arial"/>
              <a:buChar char="•"/>
            </a:pPr>
            <a:r>
              <a:rPr sz="1350" b="0" i="0">
                <a:solidFill>
                  <a:srgbClr val="1A1A1A"/>
                </a:solidFill>
                <a:latin typeface="Arial"/>
              </a:rPr>
              <a:t>Merge: a merge commit </a:t>
            </a:r>
            <a:r>
              <a:rPr sz="1300" b="0" i="0">
                <a:solidFill>
                  <a:srgbClr val="330066"/>
                </a:solidFill>
                <a:latin typeface="Courier New"/>
              </a:rPr>
              <a:t>M</a:t>
            </a:r>
            <a:r>
              <a:rPr sz="1350" b="0" i="0">
                <a:solidFill>
                  <a:srgbClr val="1A1A1A"/>
                </a:solidFill>
                <a:latin typeface="Arial"/>
              </a:rPr>
              <a:t> with two parents ties the histories together. Keeps the true shape, at the cost of extra merge commits.</a:t>
            </a:r>
          </a:p>
          <a:p>
            <a:pPr algn="l" marL="228600" indent="-228600">
              <a:spcAft>
                <a:spcPts val="800"/>
              </a:spcAft>
              <a:buFont typeface="Arial"/>
              <a:buChar char="•"/>
            </a:pPr>
            <a:r>
              <a:rPr sz="1350" b="0" i="0">
                <a:solidFill>
                  <a:srgbClr val="1A1A1A"/>
                </a:solidFill>
                <a:latin typeface="Arial"/>
              </a:rPr>
              <a:t>Rebase: your commits are set aside, the branch fast-forwards, then they are replayed on top. </a:t>
            </a:r>
            <a:r>
              <a:rPr sz="1300" b="0" i="0">
                <a:solidFill>
                  <a:srgbClr val="330066"/>
                </a:solidFill>
                <a:latin typeface="Courier New"/>
              </a:rPr>
              <a:t>X'</a:t>
            </a:r>
            <a:r>
              <a:rPr sz="1350" b="0" i="0">
                <a:solidFill>
                  <a:srgbClr val="1A1A1A"/>
                </a:solidFill>
                <a:latin typeface="Arial"/>
              </a:rPr>
              <a:t> has the same changes but a new parent and ID: a straight line.</a:t>
            </a:r>
          </a:p>
          <a:p>
            <a:pPr algn="l" marL="228600" indent="-228600">
              <a:spcAft>
                <a:spcPts val="800"/>
              </a:spcAft>
              <a:buFont typeface="Arial"/>
              <a:buChar char="•"/>
            </a:pPr>
            <a:r>
              <a:rPr sz="1350" b="0" i="0">
                <a:solidFill>
                  <a:srgbClr val="1A1A1A"/>
                </a:solidFill>
                <a:latin typeface="Arial"/>
              </a:rPr>
              <a:t>Only rebase commits you have not yet shared. Pull-with-rebase rewrites only your own unpublished commits, so it is safe here.</a:t>
            </a:r>
          </a:p>
        </p:txBody>
      </p:sp>
      <p:sp>
        <p:nvSpPr>
          <p:cNvPr id="14" name="TextBox 13"/>
          <p:cNvSpPr txBox="1"/>
          <p:nvPr/>
        </p:nvSpPr>
        <p:spPr>
          <a:xfrm>
            <a:off x="609904" y="6382512"/>
            <a:ext cx="8686800" cy="274320"/>
          </a:xfrm>
          <a:prstGeom prst="rect">
            <a:avLst/>
          </a:prstGeom>
          <a:noFill/>
        </p:spPr>
        <p:txBody>
          <a:bodyPr wrap="square" anchor="t" lIns="0" rIns="0" tIns="0" bIns="0">
            <a:spAutoFit/>
          </a:bodyPr>
          <a:lstStyle/>
          <a:p>
            <a:pPr algn="l">
              <a:lnSpc>
                <a:spcPct val="110000"/>
              </a:lnSpc>
              <a:spcAft>
                <a:spcPts val="600"/>
              </a:spcAft>
            </a:pPr>
            <a:r>
              <a:rPr sz="900" b="0" i="0">
                <a:solidFill>
                  <a:srgbClr val="5A5A5A"/>
                </a:solidFill>
                <a:latin typeface="Arial"/>
              </a:rPr>
              <a:t>Collaborative Git Workflow  ·  Week 2 · Monday   |   20 / 55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330066"/>
                </a:solidFill>
              </a:rPr>
              <a:t>Merge or Rebase?</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5</a:t>
            </a:r>
          </a:p>
        </p:txBody>
      </p:sp>
      <p:graphicFrame>
        <p:nvGraphicFramePr>
          <p:cNvPr id="4" name="Table 3"/>
          <p:cNvGraphicFramePr>
            <a:graphicFrameLocks noGrp="1"/>
          </p:cNvGraphicFramePr>
          <p:nvPr/>
        </p:nvGraphicFramePr>
        <p:xfrm>
          <a:off x="609904" y="1783080"/>
          <a:ext cx="10971884" cy="2209797"/>
        </p:xfrm>
        <a:graphic>
          <a:graphicData uri="http://schemas.openxmlformats.org/drawingml/2006/table">
            <a:tbl>
              <a:tblPr firstRow="0" bandRow="0"/>
              <a:tblGrid>
                <a:gridCol w="2413814"/>
                <a:gridCol w="4279035"/>
                <a:gridCol w="4279035"/>
              </a:tblGrid>
              <a:tr h="384048">
                <a:tc>
                  <a:txBody>
                    <a:bodyPr wrap="square"/>
                    <a:lstStyle/>
                    <a:p>
                      <a:r>
                        <a:rPr sz="1400" b="1">
                          <a:solidFill>
                            <a:srgbClr val="FFFFFF"/>
                          </a:solidFill>
                          <a:latin typeface="Arial"/>
                        </a:rPr>
                        <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wrap="square"/>
                    <a:lstStyle/>
                    <a:p>
                      <a:r>
                        <a:rPr sz="1400" b="1">
                          <a:solidFill>
                            <a:srgbClr val="FFFFFF"/>
                          </a:solidFill>
                          <a:latin typeface="Arial"/>
                        </a:rPr>
                        <a:t>Merge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wrap="square"/>
                    <a:lstStyle/>
                    <a:p>
                      <a:r>
                        <a:rPr sz="1400" b="1">
                          <a:solidFill>
                            <a:srgbClr val="FFFFFF"/>
                          </a:solidFill>
                          <a:latin typeface="Arial"/>
                        </a:rPr>
                        <a:t>Rebase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r>
              <a:tr h="608583">
                <a:tc>
                  <a:txBody>
                    <a:bodyPr wrap="square"/>
                    <a:lstStyle/>
                    <a:p>
                      <a:r>
                        <a:rPr sz="1400" b="0">
                          <a:solidFill>
                            <a:srgbClr val="1A1A1A"/>
                          </a:solidFill>
                          <a:latin typeface="Arial"/>
                        </a:rPr>
                        <a:t>History</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wrap="square"/>
                    <a:lstStyle/>
                    <a:p>
                      <a:r>
                        <a:rPr sz="1400" b="0">
                          <a:solidFill>
                            <a:srgbClr val="1A1A1A"/>
                          </a:solidFill>
                          <a:latin typeface="Arial"/>
                        </a:rPr>
                        <a:t>Preserves the branching shape; adds merge commits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wrap="square"/>
                    <a:lstStyle/>
                    <a:p>
                      <a:r>
                        <a:rPr sz="1400" b="0">
                          <a:solidFill>
                            <a:srgbClr val="1A1A1A"/>
                          </a:solidFill>
                          <a:latin typeface="Arial"/>
                        </a:rPr>
                        <a:t>Linear and tidy</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r>
              <a:tr h="608583">
                <a:tc>
                  <a:txBody>
                    <a:bodyPr wrap="square"/>
                    <a:lstStyle/>
                    <a:p>
                      <a:r>
                        <a:rPr sz="1400" b="0">
                          <a:solidFill>
                            <a:srgbClr val="1A1A1A"/>
                          </a:solidFill>
                          <a:latin typeface="Arial"/>
                        </a:rPr>
                        <a:t>Safety</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wrap="square"/>
                    <a:lstStyle/>
                    <a:p>
                      <a:r>
                        <a:rPr sz="1400" b="0">
                          <a:solidFill>
                            <a:srgbClr val="1A1A1A"/>
                          </a:solidFill>
                          <a:latin typeface="Arial"/>
                        </a:rPr>
                        <a:t>Never rewrites existing commits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wrap="square"/>
                    <a:lstStyle/>
                    <a:p>
                      <a:r>
                        <a:rPr sz="1400" b="0">
                          <a:solidFill>
                            <a:srgbClr val="1A1A1A"/>
                          </a:solidFill>
                          <a:latin typeface="Arial"/>
                        </a:rPr>
                        <a:t>Rewrites your local, unpublished commits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r>
              <a:tr h="608583">
                <a:tc>
                  <a:txBody>
                    <a:bodyPr wrap="square"/>
                    <a:lstStyle/>
                    <a:p>
                      <a:r>
                        <a:rPr sz="1400" b="0">
                          <a:solidFill>
                            <a:srgbClr val="1A1A1A"/>
                          </a:solidFill>
                          <a:latin typeface="Arial"/>
                        </a:rPr>
                        <a:t>Conflict handling</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wrap="square"/>
                    <a:lstStyle/>
                    <a:p>
                      <a:r>
                        <a:rPr sz="1400" b="0">
                          <a:solidFill>
                            <a:srgbClr val="1A1A1A"/>
                          </a:solidFill>
                          <a:latin typeface="Arial"/>
                        </a:rPr>
                        <a:t>Resolve once, in the merge commit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wrap="square"/>
                    <a:lstStyle/>
                    <a:p>
                      <a:r>
                        <a:rPr sz="1400" b="0">
                          <a:solidFill>
                            <a:srgbClr val="1A1A1A"/>
                          </a:solidFill>
                          <a:latin typeface="Arial"/>
                        </a:rPr>
                        <a:t>May need to resolve at each replayed commit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r>
            </a:tbl>
          </a:graphicData>
        </a:graphic>
      </p:graphicFrame>
      <p:sp>
        <p:nvSpPr>
          <p:cNvPr id="5" name="TextBox 4"/>
          <p:cNvSpPr txBox="1"/>
          <p:nvPr/>
        </p:nvSpPr>
        <p:spPr>
          <a:xfrm>
            <a:off x="609904" y="4069080"/>
            <a:ext cx="10971885" cy="822960"/>
          </a:xfrm>
          <a:prstGeom prst="rect">
            <a:avLst/>
          </a:prstGeom>
          <a:noFill/>
        </p:spPr>
        <p:txBody>
          <a:bodyPr wrap="square" anchor="t" lIns="0" rIns="0" tIns="0" bIns="0">
            <a:spAutoFit/>
          </a:bodyPr>
          <a:lstStyle/>
          <a:p>
            <a:pPr algn="l">
              <a:lnSpc>
                <a:spcPct val="110000"/>
              </a:lnSpc>
              <a:spcAft>
                <a:spcPts val="600"/>
              </a:spcAft>
            </a:pPr>
            <a:r>
              <a:rPr sz="1600" b="1" i="0">
                <a:solidFill>
                  <a:srgbClr val="330066"/>
                </a:solidFill>
                <a:latin typeface="Arial"/>
              </a:rPr>
              <a:t>Both are valid, and teams choose a convention. Know your team's. For this course either is acceptable: be consistent.</a:t>
            </a:r>
          </a:p>
        </p:txBody>
      </p:sp>
      <p:sp>
        <p:nvSpPr>
          <p:cNvPr id="6" name="TextBox 5"/>
          <p:cNvSpPr txBox="1"/>
          <p:nvPr/>
        </p:nvSpPr>
        <p:spPr>
          <a:xfrm>
            <a:off x="609904" y="6382512"/>
            <a:ext cx="8686800" cy="274320"/>
          </a:xfrm>
          <a:prstGeom prst="rect">
            <a:avLst/>
          </a:prstGeom>
          <a:noFill/>
        </p:spPr>
        <p:txBody>
          <a:bodyPr wrap="square" anchor="t" lIns="0" rIns="0" tIns="0" bIns="0">
            <a:spAutoFit/>
          </a:bodyPr>
          <a:lstStyle/>
          <a:p>
            <a:pPr algn="l">
              <a:lnSpc>
                <a:spcPct val="110000"/>
              </a:lnSpc>
              <a:spcAft>
                <a:spcPts val="600"/>
              </a:spcAft>
            </a:pPr>
            <a:r>
              <a:rPr sz="900" b="0" i="0">
                <a:solidFill>
                  <a:srgbClr val="5A5A5A"/>
                </a:solidFill>
                <a:latin typeface="Arial"/>
              </a:rPr>
              <a:t>Collaborative Git Workflow  ·  Week 2 · Monday   |   21 / 55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330066"/>
                </a:solidFill>
              </a:rPr>
              <a:t>Git Requires You to Choose</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5</a:t>
            </a:r>
          </a:p>
        </p:txBody>
      </p:sp>
      <p:sp>
        <p:nvSpPr>
          <p:cNvPr id="4" name="TextBox 3"/>
          <p:cNvSpPr txBox="1"/>
          <p:nvPr/>
        </p:nvSpPr>
        <p:spPr>
          <a:xfrm>
            <a:off x="609904" y="1783080"/>
            <a:ext cx="10971885" cy="365760"/>
          </a:xfrm>
          <a:prstGeom prst="rect">
            <a:avLst/>
          </a:prstGeom>
          <a:noFill/>
        </p:spPr>
        <p:txBody>
          <a:bodyPr wrap="square" anchor="t" lIns="0" rIns="0" tIns="0" bIns="0">
            <a:spAutoFit/>
          </a:bodyPr>
          <a:lstStyle/>
          <a:p>
            <a:pPr algn="l">
              <a:lnSpc>
                <a:spcPct val="110000"/>
              </a:lnSpc>
              <a:spcAft>
                <a:spcPts val="600"/>
              </a:spcAft>
            </a:pPr>
            <a:r>
              <a:rPr sz="1500" b="0" i="0">
                <a:solidFill>
                  <a:srgbClr val="1A1A1A"/>
                </a:solidFill>
                <a:latin typeface="Arial"/>
              </a:rPr>
              <a:t>Since Git 2.27, diverged histories with no configured default give:</a:t>
            </a:r>
          </a:p>
        </p:txBody>
      </p:sp>
      <p:sp>
        <p:nvSpPr>
          <p:cNvPr id="5" name="Rounded Rectangle 4"/>
          <p:cNvSpPr/>
          <p:nvPr/>
        </p:nvSpPr>
        <p:spPr>
          <a:xfrm>
            <a:off x="609904" y="2194560"/>
            <a:ext cx="10971885" cy="673607"/>
          </a:xfrm>
          <a:prstGeom prst="roundRect">
            <a:avLst>
              <a:gd name="adj" fmla="val 10859"/>
            </a:avLst>
          </a:prstGeom>
          <a:solidFill>
            <a:srgbClr val="FBEDEB"/>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1072" y="2340864"/>
            <a:ext cx="10569549" cy="380999"/>
          </a:xfrm>
          <a:prstGeom prst="rect">
            <a:avLst/>
          </a:prstGeom>
          <a:noFill/>
        </p:spPr>
        <p:txBody>
          <a:bodyPr wrap="square" lIns="0" rIns="0" tIns="0" bIns="0">
            <a:spAutoFit/>
          </a:bodyPr>
          <a:lstStyle/>
          <a:p>
            <a:pPr algn="l">
              <a:lnSpc>
                <a:spcPct val="100000"/>
              </a:lnSpc>
            </a:pPr>
            <a:r>
              <a:rPr sz="1250">
                <a:solidFill>
                  <a:srgbClr val="1A1A1A"/>
                </a:solidFill>
                <a:latin typeface="Courier New"/>
              </a:rPr>
              <a:t>hint: You have divergent branches and need to specify how to reconcile them.</a:t>
            </a:r>
          </a:p>
          <a:p>
            <a:pPr algn="l">
              <a:lnSpc>
                <a:spcPct val="100000"/>
              </a:lnSpc>
            </a:pPr>
            <a:r>
              <a:rPr sz="1250">
                <a:solidFill>
                  <a:srgbClr val="1A1A1A"/>
                </a:solidFill>
                <a:latin typeface="Courier New"/>
              </a:rPr>
              <a:t>fatal: Need to specify how to reconcile divergent branches.</a:t>
            </a:r>
          </a:p>
        </p:txBody>
      </p:sp>
      <p:sp>
        <p:nvSpPr>
          <p:cNvPr id="7" name="Rounded Rectangle 6"/>
          <p:cNvSpPr/>
          <p:nvPr/>
        </p:nvSpPr>
        <p:spPr>
          <a:xfrm>
            <a:off x="609904" y="3017520"/>
            <a:ext cx="7132320" cy="1816608"/>
          </a:xfrm>
          <a:prstGeom prst="roundRect">
            <a:avLst>
              <a:gd name="adj" fmla="val 4026"/>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1072" y="3163824"/>
            <a:ext cx="6729983" cy="1523999"/>
          </a:xfrm>
          <a:prstGeom prst="rect">
            <a:avLst/>
          </a:prstGeom>
          <a:noFill/>
        </p:spPr>
        <p:txBody>
          <a:bodyPr wrap="square" lIns="0" rIns="0" tIns="0" bIns="0">
            <a:spAutoFit/>
          </a:bodyPr>
          <a:lstStyle/>
          <a:p>
            <a:pPr algn="l">
              <a:lnSpc>
                <a:spcPct val="100000"/>
              </a:lnSpc>
            </a:pPr>
            <a:r>
              <a:rPr sz="1000">
                <a:solidFill>
                  <a:srgbClr val="1A1A1A"/>
                </a:solidFill>
                <a:latin typeface="Courier New"/>
              </a:rPr>
              <a:t>git pull --rebase          # this time, rebase</a:t>
            </a:r>
          </a:p>
          <a:p>
            <a:pPr algn="l">
              <a:lnSpc>
                <a:spcPct val="100000"/>
              </a:lnSpc>
            </a:pPr>
            <a:r>
              <a:rPr sz="1000">
                <a:solidFill>
                  <a:srgbClr val="1A1A1A"/>
                </a:solidFill>
                <a:latin typeface="Courier New"/>
              </a:rPr>
              <a:t>git pull --no-rebase       # this time, merge</a:t>
            </a:r>
          </a:p>
          <a:p>
            <a:pPr algn="l">
              <a:lnSpc>
                <a:spcPct val="100000"/>
              </a:lnSpc>
            </a:pPr>
            <a:r>
              <a:rPr sz="1000">
                <a:solidFill>
                  <a:srgbClr val="1A1A1A"/>
                </a:solidFill>
                <a:latin typeface="Courier New"/>
              </a:rPr>
              <a:t>git pull --ff-only         # only if a fast-forward is possible; otherwise stop (the safest)</a:t>
            </a:r>
          </a:p>
          <a:p>
            <a:pPr algn="l">
              <a:lnSpc>
                <a:spcPct val="100000"/>
              </a:lnSpc>
            </a:pPr>
            <a:r>
              <a:rPr sz="1000">
                <a:solidFill>
                  <a:srgbClr val="1A1A1A"/>
                </a:solidFill>
                <a:latin typeface="Courier New"/>
              </a:rPr>
              <a:t> </a:t>
            </a:r>
          </a:p>
          <a:p>
            <a:pPr algn="l">
              <a:lnSpc>
                <a:spcPct val="100000"/>
              </a:lnSpc>
            </a:pPr>
            <a:r>
              <a:rPr sz="1000">
                <a:solidFill>
                  <a:srgbClr val="5C8A8A"/>
                </a:solidFill>
                <a:latin typeface="Courier New"/>
              </a:rPr>
              <a:t># set a default so you are not asked again (for this repository):</a:t>
            </a:r>
          </a:p>
          <a:p>
            <a:pPr algn="l">
              <a:lnSpc>
                <a:spcPct val="100000"/>
              </a:lnSpc>
            </a:pPr>
            <a:r>
              <a:rPr sz="1000">
                <a:solidFill>
                  <a:srgbClr val="1A1A1A"/>
                </a:solidFill>
                <a:latin typeface="Courier New"/>
              </a:rPr>
              <a:t>git config pull.rebase false     # merge</a:t>
            </a:r>
          </a:p>
          <a:p>
            <a:pPr algn="l">
              <a:lnSpc>
                <a:spcPct val="100000"/>
              </a:lnSpc>
            </a:pPr>
            <a:r>
              <a:rPr sz="1000">
                <a:solidFill>
                  <a:srgbClr val="1A1A1A"/>
                </a:solidFill>
                <a:latin typeface="Courier New"/>
              </a:rPr>
              <a:t>git config pull.rebase true      # rebase</a:t>
            </a:r>
          </a:p>
          <a:p>
            <a:pPr algn="l">
              <a:lnSpc>
                <a:spcPct val="100000"/>
              </a:lnSpc>
            </a:pPr>
            <a:r>
              <a:rPr sz="1000">
                <a:solidFill>
                  <a:srgbClr val="1A1A1A"/>
                </a:solidFill>
                <a:latin typeface="Courier New"/>
              </a:rPr>
              <a:t>git config pull.ff only          # fast-forward only</a:t>
            </a:r>
          </a:p>
          <a:p>
            <a:pPr algn="l">
              <a:lnSpc>
                <a:spcPct val="100000"/>
              </a:lnSpc>
            </a:pPr>
            <a:r>
              <a:rPr sz="1000">
                <a:solidFill>
                  <a:srgbClr val="5C8A8A"/>
                </a:solidFill>
                <a:latin typeface="Courier New"/>
              </a:rPr>
              <a:t># add --global to apply it to all your repositories</a:t>
            </a:r>
          </a:p>
        </p:txBody>
      </p:sp>
      <p:sp>
        <p:nvSpPr>
          <p:cNvPr id="9" name="TextBox 8"/>
          <p:cNvSpPr txBox="1"/>
          <p:nvPr/>
        </p:nvSpPr>
        <p:spPr>
          <a:xfrm>
            <a:off x="8107984" y="3017520"/>
            <a:ext cx="3473805" cy="3017520"/>
          </a:xfrm>
          <a:prstGeom prst="rect">
            <a:avLst/>
          </a:prstGeom>
          <a:noFill/>
        </p:spPr>
        <p:txBody>
          <a:bodyPr wrap="square" anchor="t" lIns="0" rIns="0" tIns="0" bIns="0">
            <a:spAutoFit/>
          </a:bodyPr>
          <a:lstStyle/>
          <a:p>
            <a:pPr algn="l">
              <a:lnSpc>
                <a:spcPct val="110000"/>
              </a:lnSpc>
              <a:spcAft>
                <a:spcPts val="600"/>
              </a:spcAft>
            </a:pPr>
            <a:r>
              <a:rPr sz="1400" b="0" i="0">
                <a:solidFill>
                  <a:srgbClr val="1A1A1A"/>
                </a:solidFill>
                <a:latin typeface="Arial"/>
              </a:rPr>
              <a:t>Not an error in your repository: Git is asking which strategy you want.</a:t>
            </a:r>
          </a:p>
          <a:p>
            <a:pPr algn="l">
              <a:lnSpc>
                <a:spcPct val="110000"/>
              </a:lnSpc>
              <a:spcAft>
                <a:spcPts val="600"/>
              </a:spcAft>
            </a:pPr>
            <a:r>
              <a:rPr sz="1350" b="1" i="0">
                <a:solidFill>
                  <a:srgbClr val="330066"/>
                </a:solidFill>
                <a:latin typeface="Courier New"/>
              </a:rPr>
              <a:t>git pull --ff-only</a:t>
            </a:r>
            <a:r>
              <a:rPr sz="1400" b="1" i="0">
                <a:solidFill>
                  <a:srgbClr val="330066"/>
                </a:solidFill>
                <a:latin typeface="Arial"/>
              </a:rPr>
              <a:t> is a good beginner habit: it fast-forwards if it can; if histories diverged it stops with "Not possible to fast-forward, aborting.", leaving everything untouched.</a:t>
            </a:r>
          </a:p>
        </p:txBody>
      </p:sp>
      <p:sp>
        <p:nvSpPr>
          <p:cNvPr id="10" name="TextBox 9"/>
          <p:cNvSpPr txBox="1"/>
          <p:nvPr/>
        </p:nvSpPr>
        <p:spPr>
          <a:xfrm>
            <a:off x="609904" y="6382512"/>
            <a:ext cx="8686800" cy="274320"/>
          </a:xfrm>
          <a:prstGeom prst="rect">
            <a:avLst/>
          </a:prstGeom>
          <a:noFill/>
        </p:spPr>
        <p:txBody>
          <a:bodyPr wrap="square" anchor="t" lIns="0" rIns="0" tIns="0" bIns="0">
            <a:spAutoFit/>
          </a:bodyPr>
          <a:lstStyle/>
          <a:p>
            <a:pPr algn="l">
              <a:lnSpc>
                <a:spcPct val="110000"/>
              </a:lnSpc>
              <a:spcAft>
                <a:spcPts val="600"/>
              </a:spcAft>
            </a:pPr>
            <a:r>
              <a:rPr sz="900" b="0" i="0">
                <a:solidFill>
                  <a:srgbClr val="5A5A5A"/>
                </a:solidFill>
                <a:latin typeface="Arial"/>
              </a:rPr>
              <a:t>Collaborative Git Workflow  ·  Week 2 · Monday   |   22 / 55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330066"/>
                </a:solidFill>
              </a:rPr>
              <a:t>What If There Are Conflicts?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5</a:t>
            </a:r>
          </a:p>
        </p:txBody>
      </p:sp>
      <p:sp>
        <p:nvSpPr>
          <p:cNvPr id="4" name="TextBox 3"/>
          <p:cNvSpPr txBox="1"/>
          <p:nvPr/>
        </p:nvSpPr>
        <p:spPr>
          <a:xfrm>
            <a:off x="609904" y="1783080"/>
            <a:ext cx="10971885" cy="914400"/>
          </a:xfrm>
          <a:prstGeom prst="rect">
            <a:avLst/>
          </a:prstGeom>
          <a:noFill/>
        </p:spPr>
        <p:txBody>
          <a:bodyPr wrap="square" anchor="t" lIns="0" rIns="0" tIns="0" bIns="0">
            <a:spAutoFit/>
          </a:bodyPr>
          <a:lstStyle/>
          <a:p>
            <a:pPr algn="l">
              <a:lnSpc>
                <a:spcPct val="110000"/>
              </a:lnSpc>
              <a:spcAft>
                <a:spcPts val="600"/>
              </a:spcAft>
            </a:pPr>
            <a:r>
              <a:rPr sz="1600" b="0" i="0">
                <a:solidFill>
                  <a:srgbClr val="1A1A1A"/>
                </a:solidFill>
                <a:latin typeface="Arial"/>
              </a:rPr>
              <a:t>If you and a teammate changed the same lines of the same file, Git cannot decide whose version wins. The pull stops and prints something like </a:t>
            </a:r>
            <a:r>
              <a:rPr sz="1550" b="0" i="0">
                <a:solidFill>
                  <a:srgbClr val="330066"/>
                </a:solidFill>
                <a:latin typeface="Courier New"/>
              </a:rPr>
              <a:t>CONFLICT (content): Merge conflict in &lt;file&gt;</a:t>
            </a:r>
            <a:r>
              <a:rPr sz="1600" b="0" i="0">
                <a:solidFill>
                  <a:srgbClr val="1A1A1A"/>
                </a:solidFill>
                <a:latin typeface="Arial"/>
              </a:rPr>
              <a:t>.</a:t>
            </a:r>
          </a:p>
        </p:txBody>
      </p:sp>
      <p:sp>
        <p:nvSpPr>
          <p:cNvPr id="5" name="Rounded Rectangle 4"/>
          <p:cNvSpPr/>
          <p:nvPr/>
        </p:nvSpPr>
        <p:spPr>
          <a:xfrm>
            <a:off x="609904" y="2880360"/>
            <a:ext cx="10971885" cy="777240"/>
          </a:xfrm>
          <a:prstGeom prst="roundRect">
            <a:avLst>
              <a:gd name="adj" fmla="val 10588"/>
            </a:avLst>
          </a:prstGeom>
          <a:solidFill>
            <a:srgbClr val="FBEDEB"/>
          </a:solidFill>
          <a:ln w="12700">
            <a:solidFill>
              <a:srgbClr val="FBE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504" y="3017520"/>
            <a:ext cx="10514685" cy="502920"/>
          </a:xfrm>
          <a:prstGeom prst="rect">
            <a:avLst/>
          </a:prstGeom>
          <a:noFill/>
        </p:spPr>
        <p:txBody>
          <a:bodyPr wrap="square" anchor="t" lIns="0" rIns="0" tIns="0" bIns="0">
            <a:spAutoFit/>
          </a:bodyPr>
          <a:lstStyle/>
          <a:p>
            <a:pPr algn="l">
              <a:lnSpc>
                <a:spcPct val="110000"/>
              </a:lnSpc>
              <a:spcAft>
                <a:spcPts val="300"/>
              </a:spcAft>
            </a:pPr>
            <a:r>
              <a:rPr sz="1100" b="1" i="0">
                <a:solidFill>
                  <a:srgbClr val="5C8A8A"/>
                </a:solidFill>
                <a:latin typeface="Arial"/>
              </a:rPr>
              <a:t>STAY CALM</a:t>
            </a:r>
          </a:p>
          <a:p>
            <a:pPr algn="l">
              <a:lnSpc>
                <a:spcPct val="110000"/>
              </a:lnSpc>
              <a:spcAft>
                <a:spcPts val="600"/>
              </a:spcAft>
            </a:pPr>
            <a:r>
              <a:rPr sz="1400" b="0" i="0">
                <a:solidFill>
                  <a:srgbClr val="1A1A1A"/>
                </a:solidFill>
                <a:latin typeface="Arial"/>
              </a:rPr>
              <a:t>Do not panic and do not delete anything. Resolving conflicts is Wednesday's lesson.</a:t>
            </a:r>
          </a:p>
        </p:txBody>
      </p:sp>
      <p:sp>
        <p:nvSpPr>
          <p:cNvPr id="7" name="Oval 6"/>
          <p:cNvSpPr/>
          <p:nvPr/>
        </p:nvSpPr>
        <p:spPr>
          <a:xfrm>
            <a:off x="609904" y="393192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Arial"/>
              </a:rPr>
              <a:t>1</a:t>
            </a:r>
          </a:p>
        </p:txBody>
      </p:sp>
      <p:sp>
        <p:nvSpPr>
          <p:cNvPr id="8" name="TextBox 7"/>
          <p:cNvSpPr txBox="1"/>
          <p:nvPr/>
        </p:nvSpPr>
        <p:spPr>
          <a:xfrm>
            <a:off x="1158544" y="3968496"/>
            <a:ext cx="10423245" cy="768032"/>
          </a:xfrm>
          <a:prstGeom prst="rect">
            <a:avLst/>
          </a:prstGeom>
          <a:noFill/>
        </p:spPr>
        <p:txBody>
          <a:bodyPr wrap="square" anchor="t" lIns="0" rIns="0" tIns="0" bIns="0">
            <a:spAutoFit/>
          </a:bodyPr>
          <a:lstStyle/>
          <a:p>
            <a:pPr algn="l">
              <a:lnSpc>
                <a:spcPct val="110000"/>
              </a:lnSpc>
              <a:spcAft>
                <a:spcPts val="200"/>
              </a:spcAft>
            </a:pPr>
            <a:r>
              <a:rPr sz="1550" b="1" i="0">
                <a:solidFill>
                  <a:srgbClr val="330066"/>
                </a:solidFill>
                <a:latin typeface="Arial"/>
              </a:rPr>
              <a:t>Safe way out</a:t>
            </a:r>
          </a:p>
          <a:p>
            <a:pPr algn="l">
              <a:lnSpc>
                <a:spcPct val="110000"/>
              </a:lnSpc>
              <a:spcAft>
                <a:spcPts val="600"/>
              </a:spcAft>
            </a:pPr>
            <a:r>
              <a:rPr sz="1450" b="0" i="0">
                <a:solidFill>
                  <a:srgbClr val="330066"/>
                </a:solidFill>
                <a:latin typeface="Courier New"/>
              </a:rPr>
              <a:t>git merge --abort</a:t>
            </a:r>
            <a:r>
              <a:rPr sz="1500" b="0" i="0">
                <a:solidFill>
                  <a:srgbClr val="1A1A1A"/>
                </a:solidFill>
                <a:latin typeface="Arial"/>
              </a:rPr>
              <a:t> (if merging) or </a:t>
            </a:r>
            <a:r>
              <a:rPr sz="1450" b="0" i="0">
                <a:solidFill>
                  <a:srgbClr val="330066"/>
                </a:solidFill>
                <a:latin typeface="Courier New"/>
              </a:rPr>
              <a:t>git rebase --abort</a:t>
            </a:r>
            <a:r>
              <a:rPr sz="1500" b="0" i="0">
                <a:solidFill>
                  <a:srgbClr val="1A1A1A"/>
                </a:solidFill>
                <a:latin typeface="Arial"/>
              </a:rPr>
              <a:t> (if rebasing) returns you to the state before the pull.</a:t>
            </a:r>
          </a:p>
        </p:txBody>
      </p:sp>
      <p:sp>
        <p:nvSpPr>
          <p:cNvPr id="9" name="Oval 8"/>
          <p:cNvSpPr/>
          <p:nvPr/>
        </p:nvSpPr>
        <p:spPr>
          <a:xfrm>
            <a:off x="609904" y="490112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Arial"/>
              </a:rPr>
              <a:t>2</a:t>
            </a:r>
          </a:p>
        </p:txBody>
      </p:sp>
      <p:sp>
        <p:nvSpPr>
          <p:cNvPr id="10" name="TextBox 9"/>
          <p:cNvSpPr txBox="1"/>
          <p:nvPr/>
        </p:nvSpPr>
        <p:spPr>
          <a:xfrm>
            <a:off x="1158544" y="4937696"/>
            <a:ext cx="10423245" cy="529907"/>
          </a:xfrm>
          <a:prstGeom prst="rect">
            <a:avLst/>
          </a:prstGeom>
          <a:noFill/>
        </p:spPr>
        <p:txBody>
          <a:bodyPr wrap="square" anchor="t" lIns="0" rIns="0" tIns="0" bIns="0">
            <a:spAutoFit/>
          </a:bodyPr>
          <a:lstStyle/>
          <a:p>
            <a:pPr algn="l">
              <a:lnSpc>
                <a:spcPct val="110000"/>
              </a:lnSpc>
              <a:spcAft>
                <a:spcPts val="200"/>
              </a:spcAft>
            </a:pPr>
            <a:r>
              <a:rPr sz="1550" b="1" i="0">
                <a:solidFill>
                  <a:srgbClr val="330066"/>
                </a:solidFill>
                <a:latin typeface="Arial"/>
              </a:rPr>
              <a:t>Best prevention for now</a:t>
            </a:r>
          </a:p>
          <a:p>
            <a:pPr algn="l">
              <a:lnSpc>
                <a:spcPct val="110000"/>
              </a:lnSpc>
              <a:spcAft>
                <a:spcPts val="600"/>
              </a:spcAft>
            </a:pPr>
            <a:r>
              <a:rPr sz="1500" b="0" i="0">
                <a:solidFill>
                  <a:srgbClr val="1A1A1A"/>
                </a:solidFill>
                <a:latin typeface="Arial"/>
              </a:rPr>
              <a:t>Pull often and keep commits small.</a:t>
            </a:r>
          </a:p>
        </p:txBody>
      </p:sp>
      <p:sp>
        <p:nvSpPr>
          <p:cNvPr id="11" name="TextBox 10"/>
          <p:cNvSpPr txBox="1"/>
          <p:nvPr/>
        </p:nvSpPr>
        <p:spPr>
          <a:xfrm>
            <a:off x="609904" y="6382512"/>
            <a:ext cx="8686800" cy="274320"/>
          </a:xfrm>
          <a:prstGeom prst="rect">
            <a:avLst/>
          </a:prstGeom>
          <a:noFill/>
        </p:spPr>
        <p:txBody>
          <a:bodyPr wrap="square" anchor="t" lIns="0" rIns="0" tIns="0" bIns="0">
            <a:spAutoFit/>
          </a:bodyPr>
          <a:lstStyle/>
          <a:p>
            <a:pPr algn="l">
              <a:lnSpc>
                <a:spcPct val="110000"/>
              </a:lnSpc>
              <a:spcAft>
                <a:spcPts val="600"/>
              </a:spcAft>
            </a:pPr>
            <a:r>
              <a:rPr sz="900" b="0" i="0">
                <a:solidFill>
                  <a:srgbClr val="5A5A5A"/>
                </a:solidFill>
                <a:latin typeface="Arial"/>
              </a:rPr>
              <a:t>Collaborative Git Workflow  ·  Week 2 · Monday   |   23 / 55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3200">
                <a:solidFill>
                  <a:srgbClr val="330066"/>
                </a:solidFill>
              </a:rPr>
              <a:t>Fetch Then Merge, the Explicit Way</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5</a:t>
            </a:r>
          </a:p>
        </p:txBody>
      </p:sp>
      <p:sp>
        <p:nvSpPr>
          <p:cNvPr id="4" name="TextBox 3"/>
          <p:cNvSpPr txBox="1"/>
          <p:nvPr/>
        </p:nvSpPr>
        <p:spPr>
          <a:xfrm>
            <a:off x="609904" y="1783080"/>
            <a:ext cx="10971885" cy="457200"/>
          </a:xfrm>
          <a:prstGeom prst="rect">
            <a:avLst/>
          </a:prstGeom>
          <a:noFill/>
        </p:spPr>
        <p:txBody>
          <a:bodyPr wrap="square" anchor="t" lIns="0" rIns="0" tIns="0" bIns="0">
            <a:spAutoFit/>
          </a:bodyPr>
          <a:lstStyle/>
          <a:p>
            <a:pPr algn="l">
              <a:lnSpc>
                <a:spcPct val="110000"/>
              </a:lnSpc>
              <a:spcAft>
                <a:spcPts val="600"/>
              </a:spcAft>
            </a:pPr>
            <a:r>
              <a:rPr sz="1450" b="0" i="0">
                <a:solidFill>
                  <a:srgbClr val="330066"/>
                </a:solidFill>
                <a:latin typeface="Courier New"/>
              </a:rPr>
              <a:t>git pull</a:t>
            </a:r>
            <a:r>
              <a:rPr sz="1500" b="0" i="0">
                <a:solidFill>
                  <a:srgbClr val="1A1A1A"/>
                </a:solidFill>
                <a:latin typeface="Arial"/>
              </a:rPr>
              <a:t> does two things at once. Many experienced developers prefer the explicit form, inspecting between steps:</a:t>
            </a:r>
          </a:p>
        </p:txBody>
      </p:sp>
      <p:sp>
        <p:nvSpPr>
          <p:cNvPr id="5" name="Rounded Rectangle 4"/>
          <p:cNvSpPr/>
          <p:nvPr/>
        </p:nvSpPr>
        <p:spPr>
          <a:xfrm>
            <a:off x="609904" y="2523744"/>
            <a:ext cx="6400800" cy="795528"/>
          </a:xfrm>
          <a:prstGeom prst="roundRect">
            <a:avLst>
              <a:gd name="adj" fmla="val 9195"/>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1072" y="2670048"/>
            <a:ext cx="5998464" cy="502920"/>
          </a:xfrm>
          <a:prstGeom prst="rect">
            <a:avLst/>
          </a:prstGeom>
          <a:noFill/>
        </p:spPr>
        <p:txBody>
          <a:bodyPr wrap="square" lIns="0" rIns="0" tIns="0" bIns="0">
            <a:spAutoFit/>
          </a:bodyPr>
          <a:lstStyle/>
          <a:p>
            <a:pPr algn="l">
              <a:lnSpc>
                <a:spcPct val="100000"/>
              </a:lnSpc>
            </a:pPr>
            <a:r>
              <a:rPr sz="1100">
                <a:solidFill>
                  <a:srgbClr val="1A1A1A"/>
                </a:solidFill>
                <a:latin typeface="Courier New"/>
              </a:rPr>
              <a:t>git fetch</a:t>
            </a:r>
          </a:p>
          <a:p>
            <a:pPr algn="l">
              <a:lnSpc>
                <a:spcPct val="100000"/>
              </a:lnSpc>
            </a:pPr>
            <a:r>
              <a:rPr sz="1100">
                <a:solidFill>
                  <a:srgbClr val="1A1A1A"/>
                </a:solidFill>
                <a:latin typeface="Courier New"/>
              </a:rPr>
              <a:t>git log --oneline HEAD..origin/main     # what's new?</a:t>
            </a:r>
          </a:p>
          <a:p>
            <a:pPr algn="l">
              <a:lnSpc>
                <a:spcPct val="100000"/>
              </a:lnSpc>
            </a:pPr>
            <a:r>
              <a:rPr sz="1100">
                <a:solidFill>
                  <a:srgbClr val="1A1A1A"/>
                </a:solidFill>
                <a:latin typeface="Courier New"/>
              </a:rPr>
              <a:t>git merge origin/main                    # or: git rebase origin/main</a:t>
            </a:r>
          </a:p>
        </p:txBody>
      </p:sp>
      <p:sp>
        <p:nvSpPr>
          <p:cNvPr id="7" name="TextBox 6"/>
          <p:cNvSpPr txBox="1"/>
          <p:nvPr/>
        </p:nvSpPr>
        <p:spPr>
          <a:xfrm>
            <a:off x="7376464" y="2523744"/>
            <a:ext cx="4205325" cy="3621024"/>
          </a:xfrm>
          <a:prstGeom prst="rect">
            <a:avLst/>
          </a:prstGeom>
          <a:noFill/>
        </p:spPr>
        <p:txBody>
          <a:bodyPr wrap="square" lIns="0" rIns="0" tIns="0" bIns="0">
            <a:spAutoFit/>
          </a:bodyPr>
          <a:lstStyle/>
          <a:p>
            <a:pPr algn="l" marL="228600" indent="-228600">
              <a:spcAft>
                <a:spcPts val="800"/>
              </a:spcAft>
              <a:buFont typeface="Arial"/>
              <a:buChar char="•"/>
            </a:pPr>
            <a:r>
              <a:rPr sz="1400" b="0" i="0">
                <a:solidFill>
                  <a:srgbClr val="1A1A1A"/>
                </a:solidFill>
                <a:latin typeface="Arial"/>
              </a:rPr>
              <a:t>Think of </a:t>
            </a:r>
            <a:r>
              <a:rPr sz="1350" b="0" i="0">
                <a:solidFill>
                  <a:srgbClr val="330066"/>
                </a:solidFill>
                <a:latin typeface="Courier New"/>
              </a:rPr>
              <a:t>git pull</a:t>
            </a:r>
            <a:r>
              <a:rPr sz="1400" b="0" i="0">
                <a:solidFill>
                  <a:srgbClr val="1A1A1A"/>
                </a:solidFill>
                <a:latin typeface="Arial"/>
              </a:rPr>
              <a:t> as </a:t>
            </a:r>
            <a:r>
              <a:rPr sz="1350" b="0" i="0">
                <a:solidFill>
                  <a:srgbClr val="330066"/>
                </a:solidFill>
                <a:latin typeface="Courier New"/>
              </a:rPr>
              <a:t>git fetch</a:t>
            </a:r>
            <a:r>
              <a:rPr sz="1400" b="0" i="0">
                <a:solidFill>
                  <a:srgbClr val="1A1A1A"/>
                </a:solidFill>
                <a:latin typeface="Arial"/>
              </a:rPr>
              <a:t> then </a:t>
            </a:r>
            <a:r>
              <a:rPr sz="1350" b="0" i="0">
                <a:solidFill>
                  <a:srgbClr val="330066"/>
                </a:solidFill>
                <a:latin typeface="Courier New"/>
              </a:rPr>
              <a:t>git merge origin/&lt;current-branch&gt;</a:t>
            </a:r>
            <a:r>
              <a:rPr sz="1400" b="0" i="0">
                <a:solidFill>
                  <a:srgbClr val="1A1A1A"/>
                </a:solidFill>
                <a:latin typeface="Arial"/>
              </a:rPr>
              <a:t> (or </a:t>
            </a:r>
            <a:r>
              <a:rPr sz="1350" b="0" i="0">
                <a:solidFill>
                  <a:srgbClr val="330066"/>
                </a:solidFill>
                <a:latin typeface="Courier New"/>
              </a:rPr>
              <a:t>git rebase ...</a:t>
            </a:r>
            <a:r>
              <a:rPr sz="1400" b="0" i="0">
                <a:solidFill>
                  <a:srgbClr val="1A1A1A"/>
                </a:solidFill>
                <a:latin typeface="Arial"/>
              </a:rPr>
              <a:t> when configured).</a:t>
            </a:r>
          </a:p>
          <a:p>
            <a:pPr algn="l" marL="228600" indent="-228600">
              <a:spcAft>
                <a:spcPts val="800"/>
              </a:spcAft>
              <a:buFont typeface="Arial"/>
              <a:buChar char="•"/>
            </a:pPr>
            <a:r>
              <a:rPr sz="1400" b="0" i="0">
                <a:solidFill>
                  <a:srgbClr val="1A1A1A"/>
                </a:solidFill>
                <a:latin typeface="Arial"/>
              </a:rPr>
              <a:t>Uncommitted edits in files the pull would change? Git refuses (</a:t>
            </a:r>
            <a:r>
              <a:rPr sz="1350" b="0" i="0">
                <a:solidFill>
                  <a:srgbClr val="330066"/>
                </a:solidFill>
                <a:latin typeface="Courier New"/>
              </a:rPr>
              <a:t>error: Your local changes ... would be overwritten by merge</a:t>
            </a:r>
            <a:r>
              <a:rPr sz="1400" b="0" i="0">
                <a:solidFill>
                  <a:srgbClr val="1A1A1A"/>
                </a:solidFill>
                <a:latin typeface="Arial"/>
              </a:rPr>
              <a:t>).</a:t>
            </a:r>
          </a:p>
          <a:p>
            <a:pPr algn="l" marL="228600" indent="-228600">
              <a:spcAft>
                <a:spcPts val="800"/>
              </a:spcAft>
              <a:buFont typeface="Arial"/>
              <a:buChar char="•"/>
            </a:pPr>
            <a:r>
              <a:rPr sz="1400" b="0" i="0">
                <a:solidFill>
                  <a:srgbClr val="1A1A1A"/>
                </a:solidFill>
                <a:latin typeface="Arial"/>
              </a:rPr>
              <a:t>Commit first (best), or park work with </a:t>
            </a:r>
            <a:r>
              <a:rPr sz="1350" b="0" i="0">
                <a:solidFill>
                  <a:srgbClr val="330066"/>
                </a:solidFill>
                <a:latin typeface="Courier New"/>
              </a:rPr>
              <a:t>git stash</a:t>
            </a:r>
            <a:r>
              <a:rPr sz="1400" b="0" i="0">
                <a:solidFill>
                  <a:srgbClr val="1A1A1A"/>
                </a:solidFill>
                <a:latin typeface="Arial"/>
              </a:rPr>
              <a:t>, </a:t>
            </a:r>
            <a:r>
              <a:rPr sz="1350" b="0" i="0">
                <a:solidFill>
                  <a:srgbClr val="330066"/>
                </a:solidFill>
                <a:latin typeface="Courier New"/>
              </a:rPr>
              <a:t>git pull</a:t>
            </a:r>
            <a:r>
              <a:rPr sz="1400" b="0" i="0">
                <a:solidFill>
                  <a:srgbClr val="1A1A1A"/>
                </a:solidFill>
                <a:latin typeface="Arial"/>
              </a:rPr>
              <a:t>, then </a:t>
            </a:r>
            <a:r>
              <a:rPr sz="1350" b="0" i="0">
                <a:solidFill>
                  <a:srgbClr val="330066"/>
                </a:solidFill>
                <a:latin typeface="Courier New"/>
              </a:rPr>
              <a:t>git stash pop</a:t>
            </a:r>
            <a:r>
              <a:rPr sz="1400" b="0" i="0">
                <a:solidFill>
                  <a:srgbClr val="1A1A1A"/>
                </a:solidFill>
                <a:latin typeface="Arial"/>
              </a:rPr>
              <a:t>.</a:t>
            </a:r>
          </a:p>
        </p:txBody>
      </p:sp>
      <p:sp>
        <p:nvSpPr>
          <p:cNvPr id="8" name="TextBox 7"/>
          <p:cNvSpPr txBox="1"/>
          <p:nvPr/>
        </p:nvSpPr>
        <p:spPr>
          <a:xfrm>
            <a:off x="609904" y="6382512"/>
            <a:ext cx="8686800" cy="274320"/>
          </a:xfrm>
          <a:prstGeom prst="rect">
            <a:avLst/>
          </a:prstGeom>
          <a:noFill/>
        </p:spPr>
        <p:txBody>
          <a:bodyPr wrap="square" anchor="t" lIns="0" rIns="0" tIns="0" bIns="0">
            <a:spAutoFit/>
          </a:bodyPr>
          <a:lstStyle/>
          <a:p>
            <a:pPr algn="l">
              <a:lnSpc>
                <a:spcPct val="110000"/>
              </a:lnSpc>
              <a:spcAft>
                <a:spcPts val="600"/>
              </a:spcAft>
            </a:pPr>
            <a:r>
              <a:rPr sz="900" b="0" i="0">
                <a:solidFill>
                  <a:srgbClr val="5A5A5A"/>
                </a:solidFill>
                <a:latin typeface="Arial"/>
              </a:rPr>
              <a:t>Collaborative Git Workflow  ·  Week 2 · Monday   |   24 / 55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330066"/>
                </a:solidFill>
              </a:rPr>
              <a:t>git push: Publish Your Commits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6</a:t>
            </a:r>
          </a:p>
        </p:txBody>
      </p:sp>
      <p:sp>
        <p:nvSpPr>
          <p:cNvPr id="4" name="Rounded Rectangle 3"/>
          <p:cNvSpPr/>
          <p:nvPr/>
        </p:nvSpPr>
        <p:spPr>
          <a:xfrm>
            <a:off x="609904" y="1783080"/>
            <a:ext cx="2011680" cy="457200"/>
          </a:xfrm>
          <a:prstGeom prst="roundRect">
            <a:avLst>
              <a:gd name="adj" fmla="val 18000"/>
            </a:avLst>
          </a:prstGeom>
          <a:solidFill>
            <a:srgbClr val="EDE6F5"/>
          </a:solidFill>
          <a:ln w="12700">
            <a:solidFill>
              <a:srgbClr val="EDE6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2784" y="1783080"/>
            <a:ext cx="1737360" cy="457200"/>
          </a:xfrm>
          <a:prstGeom prst="rect">
            <a:avLst/>
          </a:prstGeom>
          <a:noFill/>
        </p:spPr>
        <p:txBody>
          <a:bodyPr wrap="square" anchor="ctr" lIns="0" rIns="0" tIns="0" bIns="0">
            <a:spAutoFit/>
          </a:bodyPr>
          <a:lstStyle/>
          <a:p>
            <a:pPr algn="l"/>
            <a:r>
              <a:rPr sz="1500" b="1">
                <a:solidFill>
                  <a:srgbClr val="330066"/>
                </a:solidFill>
                <a:latin typeface="Courier New"/>
              </a:rPr>
              <a:t>git push</a:t>
            </a:r>
          </a:p>
        </p:txBody>
      </p:sp>
      <p:sp>
        <p:nvSpPr>
          <p:cNvPr id="6" name="TextBox 5"/>
          <p:cNvSpPr txBox="1"/>
          <p:nvPr/>
        </p:nvSpPr>
        <p:spPr>
          <a:xfrm>
            <a:off x="609904" y="2468880"/>
            <a:ext cx="10971885" cy="822960"/>
          </a:xfrm>
          <a:prstGeom prst="rect">
            <a:avLst/>
          </a:prstGeom>
          <a:noFill/>
        </p:spPr>
        <p:txBody>
          <a:bodyPr wrap="square" anchor="t" lIns="0" rIns="0" tIns="0" bIns="0">
            <a:spAutoFit/>
          </a:bodyPr>
          <a:lstStyle/>
          <a:p>
            <a:pPr algn="l">
              <a:lnSpc>
                <a:spcPct val="110000"/>
              </a:lnSpc>
              <a:spcAft>
                <a:spcPts val="600"/>
              </a:spcAft>
            </a:pPr>
            <a:r>
              <a:rPr sz="1600" b="0" i="0">
                <a:solidFill>
                  <a:srgbClr val="1A1A1A"/>
                </a:solidFill>
                <a:latin typeface="Arial"/>
              </a:rPr>
              <a:t>Uploads your local commits to the remote branch and moves it (and your </a:t>
            </a:r>
            <a:r>
              <a:rPr sz="1550" b="0" i="0">
                <a:solidFill>
                  <a:srgbClr val="330066"/>
                </a:solidFill>
                <a:latin typeface="Courier New"/>
              </a:rPr>
              <a:t>origin/main</a:t>
            </a:r>
            <a:r>
              <a:rPr sz="1600" b="0" i="0">
                <a:solidFill>
                  <a:srgbClr val="1A1A1A"/>
                </a:solidFill>
                <a:latin typeface="Arial"/>
              </a:rPr>
              <a:t> bookmark) forward. Syntax: </a:t>
            </a:r>
            <a:r>
              <a:rPr sz="1550" b="0" i="0">
                <a:solidFill>
                  <a:srgbClr val="330066"/>
                </a:solidFill>
                <a:latin typeface="Courier New"/>
              </a:rPr>
              <a:t>git push &lt;remote&gt; &lt;branch&gt;</a:t>
            </a:r>
            <a:r>
              <a:rPr sz="1600" b="0" i="0">
                <a:solidFill>
                  <a:srgbClr val="1A1A1A"/>
                </a:solidFill>
                <a:latin typeface="Arial"/>
              </a:rPr>
              <a:t>, e.g. </a:t>
            </a:r>
            <a:r>
              <a:rPr sz="1550" b="0" i="0">
                <a:solidFill>
                  <a:srgbClr val="330066"/>
                </a:solidFill>
                <a:latin typeface="Courier New"/>
              </a:rPr>
              <a:t>git push origin main</a:t>
            </a:r>
            <a:r>
              <a:rPr sz="1600" b="0" i="0">
                <a:solidFill>
                  <a:srgbClr val="1A1A1A"/>
                </a:solidFill>
                <a:latin typeface="Arial"/>
              </a:rPr>
              <a:t>.</a:t>
            </a:r>
          </a:p>
        </p:txBody>
      </p:sp>
      <p:sp>
        <p:nvSpPr>
          <p:cNvPr id="7" name="TextBox 6"/>
          <p:cNvSpPr txBox="1"/>
          <p:nvPr/>
        </p:nvSpPr>
        <p:spPr>
          <a:xfrm>
            <a:off x="609904" y="3383280"/>
            <a:ext cx="5486400" cy="274320"/>
          </a:xfrm>
          <a:prstGeom prst="rect">
            <a:avLst/>
          </a:prstGeom>
          <a:noFill/>
        </p:spPr>
        <p:txBody>
          <a:bodyPr wrap="square" anchor="t" lIns="0" rIns="0" tIns="0" bIns="0">
            <a:spAutoFit/>
          </a:bodyPr>
          <a:lstStyle/>
          <a:p>
            <a:pPr algn="l">
              <a:lnSpc>
                <a:spcPct val="110000"/>
              </a:lnSpc>
              <a:spcAft>
                <a:spcPts val="600"/>
              </a:spcAft>
            </a:pPr>
            <a:r>
              <a:rPr sz="1100" b="1" i="0">
                <a:solidFill>
                  <a:srgbClr val="5C8A8A"/>
                </a:solidFill>
                <a:latin typeface="Arial"/>
              </a:rPr>
              <a:t>The very first push of a branch</a:t>
            </a:r>
          </a:p>
        </p:txBody>
      </p:sp>
      <p:sp>
        <p:nvSpPr>
          <p:cNvPr id="8" name="Rounded Rectangle 7"/>
          <p:cNvSpPr/>
          <p:nvPr/>
        </p:nvSpPr>
        <p:spPr>
          <a:xfrm>
            <a:off x="609904" y="3657600"/>
            <a:ext cx="5120640" cy="457200"/>
          </a:xfrm>
          <a:prstGeom prst="roundRect">
            <a:avLst>
              <a:gd name="adj" fmla="val 18000"/>
            </a:avLst>
          </a:prstGeom>
          <a:solidFill>
            <a:srgbClr val="EDE6F5"/>
          </a:solidFill>
          <a:ln w="12700">
            <a:solidFill>
              <a:srgbClr val="EDE6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2784" y="3657600"/>
            <a:ext cx="4846320" cy="457200"/>
          </a:xfrm>
          <a:prstGeom prst="rect">
            <a:avLst/>
          </a:prstGeom>
          <a:noFill/>
        </p:spPr>
        <p:txBody>
          <a:bodyPr wrap="square" anchor="ctr" lIns="0" rIns="0" tIns="0" bIns="0">
            <a:spAutoFit/>
          </a:bodyPr>
          <a:lstStyle/>
          <a:p>
            <a:pPr algn="l"/>
            <a:r>
              <a:rPr sz="1400" b="1">
                <a:solidFill>
                  <a:srgbClr val="330066"/>
                </a:solidFill>
                <a:latin typeface="Courier New"/>
              </a:rPr>
              <a:t>git push -u origin feature/login-tests</a:t>
            </a:r>
          </a:p>
        </p:txBody>
      </p:sp>
      <p:sp>
        <p:nvSpPr>
          <p:cNvPr id="10" name="TextBox 9"/>
          <p:cNvSpPr txBox="1"/>
          <p:nvPr/>
        </p:nvSpPr>
        <p:spPr>
          <a:xfrm>
            <a:off x="609904" y="4389120"/>
            <a:ext cx="10971885" cy="2743200"/>
          </a:xfrm>
          <a:prstGeom prst="rect">
            <a:avLst/>
          </a:prstGeom>
          <a:noFill/>
        </p:spPr>
        <p:txBody>
          <a:bodyPr wrap="square" lIns="0" rIns="0" tIns="0" bIns="0">
            <a:spAutoFit/>
          </a:bodyPr>
          <a:lstStyle/>
          <a:p>
            <a:pPr algn="l" marL="228600" indent="-228600">
              <a:spcAft>
                <a:spcPts val="600"/>
              </a:spcAft>
              <a:buFont typeface="Arial"/>
              <a:buChar char="•"/>
            </a:pPr>
            <a:r>
              <a:rPr sz="1400" b="0" i="0">
                <a:solidFill>
                  <a:srgbClr val="330066"/>
                </a:solidFill>
                <a:latin typeface="Courier New"/>
              </a:rPr>
              <a:t>-u</a:t>
            </a:r>
            <a:r>
              <a:rPr sz="1450" b="0" i="0">
                <a:solidFill>
                  <a:srgbClr val="1A1A1A"/>
                </a:solidFill>
                <a:latin typeface="Arial"/>
              </a:rPr>
              <a:t> (</a:t>
            </a:r>
            <a:r>
              <a:rPr sz="1400" b="0" i="0">
                <a:solidFill>
                  <a:srgbClr val="330066"/>
                </a:solidFill>
                <a:latin typeface="Courier New"/>
              </a:rPr>
              <a:t>--set-upstream</a:t>
            </a:r>
            <a:r>
              <a:rPr sz="1450" b="0" i="0">
                <a:solidFill>
                  <a:srgbClr val="1A1A1A"/>
                </a:solidFill>
                <a:latin typeface="Arial"/>
              </a:rPr>
              <a:t>) pushes the branch and records that local </a:t>
            </a:r>
            <a:r>
              <a:rPr sz="1400" b="0" i="0">
                <a:solidFill>
                  <a:srgbClr val="330066"/>
                </a:solidFill>
                <a:latin typeface="Courier New"/>
              </a:rPr>
              <a:t>feature/login-tests</a:t>
            </a:r>
            <a:r>
              <a:rPr sz="1450" b="0" i="0">
                <a:solidFill>
                  <a:srgbClr val="1A1A1A"/>
                </a:solidFill>
                <a:latin typeface="Arial"/>
              </a:rPr>
              <a:t> tracks </a:t>
            </a:r>
            <a:r>
              <a:rPr sz="1400" b="0" i="0">
                <a:solidFill>
                  <a:srgbClr val="330066"/>
                </a:solidFill>
                <a:latin typeface="Courier New"/>
              </a:rPr>
              <a:t>origin/feature/login-tests</a:t>
            </a:r>
            <a:r>
              <a:rPr sz="1450" b="0" i="0">
                <a:solidFill>
                  <a:srgbClr val="1A1A1A"/>
                </a:solidFill>
                <a:latin typeface="Arial"/>
              </a:rPr>
              <a:t>.</a:t>
            </a:r>
          </a:p>
          <a:p>
            <a:pPr algn="l" marL="228600" indent="-228600">
              <a:spcAft>
                <a:spcPts val="600"/>
              </a:spcAft>
              <a:buFont typeface="Arial"/>
              <a:buChar char="•"/>
            </a:pPr>
            <a:r>
              <a:rPr sz="1450" b="0" i="0">
                <a:solidFill>
                  <a:srgbClr val="1A1A1A"/>
                </a:solidFill>
                <a:latin typeface="Arial"/>
              </a:rPr>
              <a:t>After that, plain </a:t>
            </a:r>
            <a:r>
              <a:rPr sz="1400" b="0" i="0">
                <a:solidFill>
                  <a:srgbClr val="330066"/>
                </a:solidFill>
                <a:latin typeface="Courier New"/>
              </a:rPr>
              <a:t>git push</a:t>
            </a:r>
            <a:r>
              <a:rPr sz="1450" b="0" i="0">
                <a:solidFill>
                  <a:srgbClr val="1A1A1A"/>
                </a:solidFill>
                <a:latin typeface="Arial"/>
              </a:rPr>
              <a:t> and </a:t>
            </a:r>
            <a:r>
              <a:rPr sz="1400" b="0" i="0">
                <a:solidFill>
                  <a:srgbClr val="330066"/>
                </a:solidFill>
                <a:latin typeface="Courier New"/>
              </a:rPr>
              <a:t>git pull</a:t>
            </a:r>
            <a:r>
              <a:rPr sz="1450" b="0" i="0">
                <a:solidFill>
                  <a:srgbClr val="1A1A1A"/>
                </a:solidFill>
                <a:latin typeface="Arial"/>
              </a:rPr>
              <a:t> on that branch know where to go.</a:t>
            </a:r>
          </a:p>
          <a:p>
            <a:pPr algn="l" marL="228600" indent="-228600">
              <a:spcAft>
                <a:spcPts val="600"/>
              </a:spcAft>
              <a:buFont typeface="Arial"/>
              <a:buChar char="•"/>
            </a:pPr>
            <a:r>
              <a:rPr sz="1450" b="0" i="0">
                <a:solidFill>
                  <a:srgbClr val="1A1A1A"/>
                </a:solidFill>
                <a:latin typeface="Arial"/>
              </a:rPr>
              <a:t>Forget </a:t>
            </a:r>
            <a:r>
              <a:rPr sz="1400" b="0" i="0">
                <a:solidFill>
                  <a:srgbClr val="330066"/>
                </a:solidFill>
                <a:latin typeface="Courier New"/>
              </a:rPr>
              <a:t>-u</a:t>
            </a:r>
            <a:r>
              <a:rPr sz="1450" b="0" i="0">
                <a:solidFill>
                  <a:srgbClr val="1A1A1A"/>
                </a:solidFill>
                <a:latin typeface="Arial"/>
              </a:rPr>
              <a:t> and Git reminds you with a message containing </a:t>
            </a:r>
            <a:r>
              <a:rPr sz="1400" b="0" i="0">
                <a:solidFill>
                  <a:srgbClr val="330066"/>
                </a:solidFill>
                <a:latin typeface="Courier New"/>
              </a:rPr>
              <a:t>git push --set-upstream origin &lt;branch&gt;</a:t>
            </a:r>
            <a:r>
              <a:rPr sz="1450" b="0" i="0">
                <a:solidFill>
                  <a:srgbClr val="1A1A1A"/>
                </a:solidFill>
                <a:latin typeface="Arial"/>
              </a:rPr>
              <a:t>.</a:t>
            </a:r>
          </a:p>
        </p:txBody>
      </p:sp>
      <p:sp>
        <p:nvSpPr>
          <p:cNvPr id="11" name="TextBox 10"/>
          <p:cNvSpPr txBox="1"/>
          <p:nvPr/>
        </p:nvSpPr>
        <p:spPr>
          <a:xfrm>
            <a:off x="609904" y="6382512"/>
            <a:ext cx="8686800" cy="274320"/>
          </a:xfrm>
          <a:prstGeom prst="rect">
            <a:avLst/>
          </a:prstGeom>
          <a:noFill/>
        </p:spPr>
        <p:txBody>
          <a:bodyPr wrap="square" anchor="t" lIns="0" rIns="0" tIns="0" bIns="0">
            <a:spAutoFit/>
          </a:bodyPr>
          <a:lstStyle/>
          <a:p>
            <a:pPr algn="l">
              <a:lnSpc>
                <a:spcPct val="110000"/>
              </a:lnSpc>
              <a:spcAft>
                <a:spcPts val="600"/>
              </a:spcAft>
            </a:pPr>
            <a:r>
              <a:rPr sz="900" b="0" i="0">
                <a:solidFill>
                  <a:srgbClr val="5A5A5A"/>
                </a:solidFill>
                <a:latin typeface="Arial"/>
              </a:rPr>
              <a:t>Collaborative Git Workflow  ·  Week 2 · Monday   |   25 / 55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330066"/>
                </a:solidFill>
              </a:rPr>
              <a:t>Why a Push Can Be Rejected</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6</a:t>
            </a:r>
          </a:p>
        </p:txBody>
      </p:sp>
      <p:sp>
        <p:nvSpPr>
          <p:cNvPr id="4" name="TextBox 3"/>
          <p:cNvSpPr txBox="1"/>
          <p:nvPr/>
        </p:nvSpPr>
        <p:spPr>
          <a:xfrm>
            <a:off x="609904" y="1783080"/>
            <a:ext cx="10971885" cy="457200"/>
          </a:xfrm>
          <a:prstGeom prst="rect">
            <a:avLst/>
          </a:prstGeom>
          <a:noFill/>
        </p:spPr>
        <p:txBody>
          <a:bodyPr wrap="square" anchor="t" lIns="0" rIns="0" tIns="0" bIns="0">
            <a:spAutoFit/>
          </a:bodyPr>
          <a:lstStyle/>
          <a:p>
            <a:pPr algn="l">
              <a:lnSpc>
                <a:spcPct val="110000"/>
              </a:lnSpc>
              <a:spcAft>
                <a:spcPts val="600"/>
              </a:spcAft>
            </a:pPr>
            <a:r>
              <a:rPr sz="1500" b="0" i="0">
                <a:solidFill>
                  <a:srgbClr val="1A1A1A"/>
                </a:solidFill>
                <a:latin typeface="Arial"/>
              </a:rPr>
              <a:t>Git only allows a push that fast-forwards the remote branch. If a teammate pushed since you last synced, your push would erase their commit, so Git refuses:</a:t>
            </a:r>
          </a:p>
        </p:txBody>
      </p:sp>
      <p:sp>
        <p:nvSpPr>
          <p:cNvPr id="5" name="Rounded Rectangle 4"/>
          <p:cNvSpPr/>
          <p:nvPr/>
        </p:nvSpPr>
        <p:spPr>
          <a:xfrm>
            <a:off x="609904" y="2569464"/>
            <a:ext cx="10971885" cy="1519427"/>
          </a:xfrm>
          <a:prstGeom prst="roundRect">
            <a:avLst>
              <a:gd name="adj" fmla="val 4814"/>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1072" y="2715768"/>
            <a:ext cx="10569549" cy="1226819"/>
          </a:xfrm>
          <a:prstGeom prst="rect">
            <a:avLst/>
          </a:prstGeom>
          <a:noFill/>
        </p:spPr>
        <p:txBody>
          <a:bodyPr wrap="square" lIns="0" rIns="0" tIns="0" bIns="0">
            <a:spAutoFit/>
          </a:bodyPr>
          <a:lstStyle/>
          <a:p>
            <a:pPr algn="l">
              <a:lnSpc>
                <a:spcPct val="100000"/>
              </a:lnSpc>
            </a:pPr>
            <a:r>
              <a:rPr sz="1150">
                <a:solidFill>
                  <a:srgbClr val="1A1A1A"/>
                </a:solidFill>
                <a:latin typeface="Courier New"/>
              </a:rPr>
              <a:t>To https://github.com/your-team/qe-foundations.git</a:t>
            </a:r>
          </a:p>
          <a:p>
            <a:pPr algn="l">
              <a:lnSpc>
                <a:spcPct val="100000"/>
              </a:lnSpc>
            </a:pPr>
            <a:r>
              <a:rPr sz="1150">
                <a:solidFill>
                  <a:srgbClr val="1A1A1A"/>
                </a:solidFill>
                <a:latin typeface="Courier New"/>
              </a:rPr>
              <a:t> ! [rejected]        main -&gt; main (fetch first)</a:t>
            </a:r>
          </a:p>
          <a:p>
            <a:pPr algn="l">
              <a:lnSpc>
                <a:spcPct val="100000"/>
              </a:lnSpc>
            </a:pPr>
            <a:r>
              <a:rPr sz="1150">
                <a:solidFill>
                  <a:srgbClr val="1A1A1A"/>
                </a:solidFill>
                <a:latin typeface="Courier New"/>
              </a:rPr>
              <a:t>error: failed to push some refs to 'https://github.com/your-team/qe-foundations.git'</a:t>
            </a:r>
          </a:p>
          <a:p>
            <a:pPr algn="l">
              <a:lnSpc>
                <a:spcPct val="100000"/>
              </a:lnSpc>
            </a:pPr>
            <a:r>
              <a:rPr sz="1150">
                <a:solidFill>
                  <a:srgbClr val="1A1A1A"/>
                </a:solidFill>
                <a:latin typeface="Courier New"/>
              </a:rPr>
              <a:t>hint: Updates were rejected because the remote contains work that you do not</a:t>
            </a:r>
          </a:p>
          <a:p>
            <a:pPr algn="l">
              <a:lnSpc>
                <a:spcPct val="100000"/>
              </a:lnSpc>
            </a:pPr>
            <a:r>
              <a:rPr sz="1150">
                <a:solidFill>
                  <a:srgbClr val="1A1A1A"/>
                </a:solidFill>
                <a:latin typeface="Courier New"/>
              </a:rPr>
              <a:t>hint: have locally. This is usually caused by another repository pushing to</a:t>
            </a:r>
          </a:p>
          <a:p>
            <a:pPr algn="l">
              <a:lnSpc>
                <a:spcPct val="100000"/>
              </a:lnSpc>
            </a:pPr>
            <a:r>
              <a:rPr sz="1150">
                <a:solidFill>
                  <a:srgbClr val="1A1A1A"/>
                </a:solidFill>
                <a:latin typeface="Courier New"/>
              </a:rPr>
              <a:t>hint: the same ref. If you want to integrate the remote changes, use</a:t>
            </a:r>
          </a:p>
          <a:p>
            <a:pPr algn="l">
              <a:lnSpc>
                <a:spcPct val="100000"/>
              </a:lnSpc>
            </a:pPr>
            <a:r>
              <a:rPr sz="1150">
                <a:solidFill>
                  <a:srgbClr val="1A1A1A"/>
                </a:solidFill>
                <a:latin typeface="Courier New"/>
              </a:rPr>
              <a:t>hint: 'git pull' before pushing again.</a:t>
            </a:r>
          </a:p>
        </p:txBody>
      </p:sp>
      <p:sp>
        <p:nvSpPr>
          <p:cNvPr id="7" name="TextBox 6"/>
          <p:cNvSpPr txBox="1"/>
          <p:nvPr/>
        </p:nvSpPr>
        <p:spPr>
          <a:xfrm>
            <a:off x="609904" y="5367528"/>
            <a:ext cx="10971885" cy="731520"/>
          </a:xfrm>
          <a:prstGeom prst="rect">
            <a:avLst/>
          </a:prstGeom>
          <a:noFill/>
        </p:spPr>
        <p:txBody>
          <a:bodyPr wrap="square" anchor="t" lIns="0" rIns="0" tIns="0" bIns="0">
            <a:spAutoFit/>
          </a:bodyPr>
          <a:lstStyle/>
          <a:p>
            <a:pPr algn="l">
              <a:lnSpc>
                <a:spcPct val="110000"/>
              </a:lnSpc>
              <a:spcAft>
                <a:spcPts val="600"/>
              </a:spcAft>
            </a:pPr>
            <a:r>
              <a:rPr sz="1600" b="1" i="0">
                <a:solidFill>
                  <a:srgbClr val="330066"/>
                </a:solidFill>
                <a:latin typeface="Arial"/>
              </a:rPr>
              <a:t>Read it as a helpful instruction rather than a failure.</a:t>
            </a:r>
          </a:p>
        </p:txBody>
      </p:sp>
      <p:sp>
        <p:nvSpPr>
          <p:cNvPr id="8" name="TextBox 7"/>
          <p:cNvSpPr txBox="1"/>
          <p:nvPr/>
        </p:nvSpPr>
        <p:spPr>
          <a:xfrm>
            <a:off x="609904" y="6382512"/>
            <a:ext cx="8686800" cy="274320"/>
          </a:xfrm>
          <a:prstGeom prst="rect">
            <a:avLst/>
          </a:prstGeom>
          <a:noFill/>
        </p:spPr>
        <p:txBody>
          <a:bodyPr wrap="square" anchor="t" lIns="0" rIns="0" tIns="0" bIns="0">
            <a:spAutoFit/>
          </a:bodyPr>
          <a:lstStyle/>
          <a:p>
            <a:pPr algn="l">
              <a:lnSpc>
                <a:spcPct val="110000"/>
              </a:lnSpc>
              <a:spcAft>
                <a:spcPts val="600"/>
              </a:spcAft>
            </a:pPr>
            <a:r>
              <a:rPr sz="900" b="0" i="0">
                <a:solidFill>
                  <a:srgbClr val="5A5A5A"/>
                </a:solidFill>
                <a:latin typeface="Arial"/>
              </a:rPr>
              <a:t>Collaborative Git Workflow  ·  Week 2 · Monday   |   26 / 55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330066"/>
                </a:solidFill>
              </a:rPr>
              <a:t>The Standard Resolution</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6</a:t>
            </a:r>
          </a:p>
        </p:txBody>
      </p:sp>
      <p:sp>
        <p:nvSpPr>
          <p:cNvPr id="4" name="Rounded Rectangle 3"/>
          <p:cNvSpPr/>
          <p:nvPr/>
        </p:nvSpPr>
        <p:spPr>
          <a:xfrm>
            <a:off x="609904" y="1783080"/>
            <a:ext cx="6400800" cy="902207"/>
          </a:xfrm>
          <a:prstGeom prst="roundRect">
            <a:avLst>
              <a:gd name="adj" fmla="val 8108"/>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1072" y="1929384"/>
            <a:ext cx="5998464" cy="609599"/>
          </a:xfrm>
          <a:prstGeom prst="rect">
            <a:avLst/>
          </a:prstGeom>
          <a:noFill/>
        </p:spPr>
        <p:txBody>
          <a:bodyPr wrap="square" lIns="0" rIns="0" tIns="0" bIns="0">
            <a:spAutoFit/>
          </a:bodyPr>
          <a:lstStyle/>
          <a:p>
            <a:pPr algn="l">
              <a:lnSpc>
                <a:spcPct val="100000"/>
              </a:lnSpc>
            </a:pPr>
            <a:r>
              <a:rPr sz="1000">
                <a:solidFill>
                  <a:srgbClr val="1A1A1A"/>
                </a:solidFill>
                <a:latin typeface="Courier New"/>
              </a:rPr>
              <a:t>git pull --rebase     # (or git pull, per your team's convention) to bring in their commits</a:t>
            </a:r>
          </a:p>
          <a:p>
            <a:pPr algn="l">
              <a:lnSpc>
                <a:spcPct val="100000"/>
              </a:lnSpc>
            </a:pPr>
            <a:r>
              <a:rPr sz="1000">
                <a:solidFill>
                  <a:srgbClr val="5C8A8A"/>
                </a:solidFill>
                <a:latin typeface="Courier New"/>
              </a:rPr>
              <a:t># resolve conflicts if any (Wednesday's topic), run your tests</a:t>
            </a:r>
          </a:p>
          <a:p>
            <a:pPr algn="l">
              <a:lnSpc>
                <a:spcPct val="100000"/>
              </a:lnSpc>
            </a:pPr>
            <a:r>
              <a:rPr sz="1000">
                <a:solidFill>
                  <a:srgbClr val="1A1A1A"/>
                </a:solidFill>
                <a:latin typeface="Courier New"/>
              </a:rPr>
              <a:t>git push              # now it is a fast-forward and succeeds</a:t>
            </a:r>
          </a:p>
        </p:txBody>
      </p:sp>
      <p:sp>
        <p:nvSpPr>
          <p:cNvPr id="6" name="TextBox 5"/>
          <p:cNvSpPr txBox="1"/>
          <p:nvPr/>
        </p:nvSpPr>
        <p:spPr>
          <a:xfrm>
            <a:off x="7376464" y="1783080"/>
            <a:ext cx="4205325" cy="4361688"/>
          </a:xfrm>
          <a:prstGeom prst="rect">
            <a:avLst/>
          </a:prstGeom>
          <a:noFill/>
        </p:spPr>
        <p:txBody>
          <a:bodyPr wrap="square" lIns="0" rIns="0" tIns="0" bIns="0">
            <a:spAutoFit/>
          </a:bodyPr>
          <a:lstStyle/>
          <a:p>
            <a:pPr algn="l" marL="228600" indent="-228600">
              <a:spcAft>
                <a:spcPts val="800"/>
              </a:spcAft>
              <a:buFont typeface="Arial"/>
              <a:buChar char="•"/>
            </a:pPr>
            <a:r>
              <a:rPr sz="1400" b="0" i="0">
                <a:solidFill>
                  <a:srgbClr val="1A1A1A"/>
                </a:solidFill>
                <a:latin typeface="Arial"/>
              </a:rPr>
              <a:t>After integrating, the push is a fast-forward and succeeds.</a:t>
            </a:r>
          </a:p>
          <a:p>
            <a:pPr algn="l" marL="228600" indent="-228600">
              <a:spcAft>
                <a:spcPts val="800"/>
              </a:spcAft>
              <a:buFont typeface="Arial"/>
              <a:buChar char="•"/>
            </a:pPr>
            <a:r>
              <a:rPr sz="1350" b="0" i="0">
                <a:solidFill>
                  <a:srgbClr val="330066"/>
                </a:solidFill>
                <a:latin typeface="Courier New"/>
              </a:rPr>
              <a:t>(non-fast-forward)</a:t>
            </a:r>
            <a:r>
              <a:rPr sz="1400" b="0" i="0">
                <a:solidFill>
                  <a:srgbClr val="1A1A1A"/>
                </a:solidFill>
                <a:latin typeface="Arial"/>
              </a:rPr>
              <a:t> instead of </a:t>
            </a:r>
            <a:r>
              <a:rPr sz="1350" b="0" i="0">
                <a:solidFill>
                  <a:srgbClr val="330066"/>
                </a:solidFill>
                <a:latin typeface="Courier New"/>
              </a:rPr>
              <a:t>(fetch first)</a:t>
            </a:r>
            <a:r>
              <a:rPr sz="1400" b="0" i="0">
                <a:solidFill>
                  <a:srgbClr val="1A1A1A"/>
                </a:solidFill>
                <a:latin typeface="Arial"/>
              </a:rPr>
              <a:t>: the same idea, when you already fetched but have not integrated.</a:t>
            </a:r>
          </a:p>
        </p:txBody>
      </p:sp>
      <p:sp>
        <p:nvSpPr>
          <p:cNvPr id="7" name="TextBox 6"/>
          <p:cNvSpPr txBox="1"/>
          <p:nvPr/>
        </p:nvSpPr>
        <p:spPr>
          <a:xfrm>
            <a:off x="609904" y="6382512"/>
            <a:ext cx="8686800" cy="274320"/>
          </a:xfrm>
          <a:prstGeom prst="rect">
            <a:avLst/>
          </a:prstGeom>
          <a:noFill/>
        </p:spPr>
        <p:txBody>
          <a:bodyPr wrap="square" anchor="t" lIns="0" rIns="0" tIns="0" bIns="0">
            <a:spAutoFit/>
          </a:bodyPr>
          <a:lstStyle/>
          <a:p>
            <a:pPr algn="l">
              <a:lnSpc>
                <a:spcPct val="110000"/>
              </a:lnSpc>
              <a:spcAft>
                <a:spcPts val="600"/>
              </a:spcAft>
            </a:pPr>
            <a:r>
              <a:rPr sz="900" b="0" i="0">
                <a:solidFill>
                  <a:srgbClr val="5A5A5A"/>
                </a:solidFill>
                <a:latin typeface="Arial"/>
              </a:rPr>
              <a:t>Collaborative Git Workflow  ·  Week 2 · Monday   |   27 / 55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330066"/>
                </a:solidFill>
              </a:rPr>
              <a:t>Force Pushing: A Dangerous Tool</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6</a:t>
            </a:r>
          </a:p>
        </p:txBody>
      </p:sp>
      <p:sp>
        <p:nvSpPr>
          <p:cNvPr id="4" name="TextBox 3"/>
          <p:cNvSpPr txBox="1"/>
          <p:nvPr/>
        </p:nvSpPr>
        <p:spPr>
          <a:xfrm>
            <a:off x="609904" y="1783080"/>
            <a:ext cx="10971885" cy="731520"/>
          </a:xfrm>
          <a:prstGeom prst="rect">
            <a:avLst/>
          </a:prstGeom>
          <a:noFill/>
        </p:spPr>
        <p:txBody>
          <a:bodyPr wrap="square" anchor="t" lIns="0" rIns="0" tIns="0" bIns="0">
            <a:spAutoFit/>
          </a:bodyPr>
          <a:lstStyle/>
          <a:p>
            <a:pPr algn="l">
              <a:lnSpc>
                <a:spcPct val="110000"/>
              </a:lnSpc>
              <a:spcAft>
                <a:spcPts val="600"/>
              </a:spcAft>
            </a:pPr>
            <a:r>
              <a:rPr sz="1550" b="0" i="0">
                <a:solidFill>
                  <a:srgbClr val="330066"/>
                </a:solidFill>
                <a:latin typeface="Courier New"/>
              </a:rPr>
              <a:t>git push --force</a:t>
            </a:r>
            <a:r>
              <a:rPr sz="1600" b="0" i="0">
                <a:solidFill>
                  <a:srgbClr val="1A1A1A"/>
                </a:solidFill>
                <a:latin typeface="Arial"/>
              </a:rPr>
              <a:t> overwrites the remote branch with your version, deleting teammates' commits from it if you have not integrated them.</a:t>
            </a:r>
          </a:p>
        </p:txBody>
      </p:sp>
      <p:sp>
        <p:nvSpPr>
          <p:cNvPr id="5" name="Oval 4"/>
          <p:cNvSpPr/>
          <p:nvPr/>
        </p:nvSpPr>
        <p:spPr>
          <a:xfrm>
            <a:off x="609904" y="265176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Arial"/>
              </a:rPr>
              <a:t>1</a:t>
            </a:r>
          </a:p>
        </p:txBody>
      </p:sp>
      <p:sp>
        <p:nvSpPr>
          <p:cNvPr id="6" name="TextBox 5"/>
          <p:cNvSpPr txBox="1"/>
          <p:nvPr/>
        </p:nvSpPr>
        <p:spPr>
          <a:xfrm>
            <a:off x="1158544" y="2724912"/>
            <a:ext cx="10423245" cy="384048"/>
          </a:xfrm>
          <a:prstGeom prst="rect">
            <a:avLst/>
          </a:prstGeom>
          <a:noFill/>
        </p:spPr>
        <p:txBody>
          <a:bodyPr wrap="square" anchor="t" lIns="0" rIns="0" tIns="0" bIns="0">
            <a:spAutoFit/>
          </a:bodyPr>
          <a:lstStyle/>
          <a:p>
            <a:pPr algn="l">
              <a:lnSpc>
                <a:spcPct val="110000"/>
              </a:lnSpc>
              <a:spcAft>
                <a:spcPts val="600"/>
              </a:spcAft>
            </a:pPr>
            <a:r>
              <a:rPr sz="1500" b="0" i="0">
                <a:solidFill>
                  <a:srgbClr val="1A1A1A"/>
                </a:solidFill>
                <a:latin typeface="Arial"/>
              </a:rPr>
              <a:t>Never force-push to a shared branch (</a:t>
            </a:r>
            <a:r>
              <a:rPr sz="1450" b="0" i="0">
                <a:solidFill>
                  <a:srgbClr val="330066"/>
                </a:solidFill>
                <a:latin typeface="Courier New"/>
              </a:rPr>
              <a:t>main</a:t>
            </a:r>
            <a:r>
              <a:rPr sz="1500" b="0" i="0">
                <a:solidFill>
                  <a:srgbClr val="1A1A1A"/>
                </a:solidFill>
                <a:latin typeface="Arial"/>
              </a:rPr>
              <a:t>, </a:t>
            </a:r>
            <a:r>
              <a:rPr sz="1450" b="0" i="0">
                <a:solidFill>
                  <a:srgbClr val="330066"/>
                </a:solidFill>
                <a:latin typeface="Courier New"/>
              </a:rPr>
              <a:t>develop</a:t>
            </a:r>
            <a:r>
              <a:rPr sz="1500" b="0" i="0">
                <a:solidFill>
                  <a:srgbClr val="1A1A1A"/>
                </a:solidFill>
                <a:latin typeface="Arial"/>
              </a:rPr>
              <a:t>, a colleague's branch).</a:t>
            </a:r>
          </a:p>
        </p:txBody>
      </p:sp>
      <p:sp>
        <p:nvSpPr>
          <p:cNvPr id="7" name="Oval 6"/>
          <p:cNvSpPr/>
          <p:nvPr/>
        </p:nvSpPr>
        <p:spPr>
          <a:xfrm>
            <a:off x="609904" y="3236976"/>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Arial"/>
              </a:rPr>
              <a:t>2</a:t>
            </a:r>
          </a:p>
        </p:txBody>
      </p:sp>
      <p:sp>
        <p:nvSpPr>
          <p:cNvPr id="8" name="TextBox 7"/>
          <p:cNvSpPr txBox="1"/>
          <p:nvPr/>
        </p:nvSpPr>
        <p:spPr>
          <a:xfrm>
            <a:off x="1158544" y="3310128"/>
            <a:ext cx="10423245" cy="521970"/>
          </a:xfrm>
          <a:prstGeom prst="rect">
            <a:avLst/>
          </a:prstGeom>
          <a:noFill/>
        </p:spPr>
        <p:txBody>
          <a:bodyPr wrap="square" anchor="t" lIns="0" rIns="0" tIns="0" bIns="0">
            <a:spAutoFit/>
          </a:bodyPr>
          <a:lstStyle/>
          <a:p>
            <a:pPr algn="l">
              <a:lnSpc>
                <a:spcPct val="110000"/>
              </a:lnSpc>
              <a:spcAft>
                <a:spcPts val="600"/>
              </a:spcAft>
            </a:pPr>
            <a:r>
              <a:rPr sz="1500" b="0" i="0">
                <a:solidFill>
                  <a:srgbClr val="1A1A1A"/>
                </a:solidFill>
                <a:latin typeface="Arial"/>
              </a:rPr>
              <a:t>Occasionally legitimate on your own feature branch after rebasing commits only you pushed. Prefer </a:t>
            </a:r>
            <a:r>
              <a:rPr sz="1450" b="0" i="0">
                <a:solidFill>
                  <a:srgbClr val="330066"/>
                </a:solidFill>
                <a:latin typeface="Courier New"/>
              </a:rPr>
              <a:t>git push --force-with-lease</a:t>
            </a:r>
            <a:r>
              <a:rPr sz="1500" b="0" i="0">
                <a:solidFill>
                  <a:srgbClr val="1A1A1A"/>
                </a:solidFill>
                <a:latin typeface="Arial"/>
              </a:rPr>
              <a:t>, which refuses if the remote has commits you have not seen.</a:t>
            </a:r>
          </a:p>
        </p:txBody>
      </p:sp>
      <p:sp>
        <p:nvSpPr>
          <p:cNvPr id="9" name="Oval 8"/>
          <p:cNvSpPr/>
          <p:nvPr/>
        </p:nvSpPr>
        <p:spPr>
          <a:xfrm>
            <a:off x="609904" y="3960114"/>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Arial"/>
              </a:rPr>
              <a:t>3</a:t>
            </a:r>
          </a:p>
        </p:txBody>
      </p:sp>
      <p:sp>
        <p:nvSpPr>
          <p:cNvPr id="10" name="TextBox 9"/>
          <p:cNvSpPr txBox="1"/>
          <p:nvPr/>
        </p:nvSpPr>
        <p:spPr>
          <a:xfrm>
            <a:off x="1158544" y="4033266"/>
            <a:ext cx="10423245" cy="384048"/>
          </a:xfrm>
          <a:prstGeom prst="rect">
            <a:avLst/>
          </a:prstGeom>
          <a:noFill/>
        </p:spPr>
        <p:txBody>
          <a:bodyPr wrap="square" anchor="t" lIns="0" rIns="0" tIns="0" bIns="0">
            <a:spAutoFit/>
          </a:bodyPr>
          <a:lstStyle/>
          <a:p>
            <a:pPr algn="l">
              <a:lnSpc>
                <a:spcPct val="110000"/>
              </a:lnSpc>
              <a:spcAft>
                <a:spcPts val="600"/>
              </a:spcAft>
            </a:pPr>
            <a:r>
              <a:rPr sz="1500" b="0" i="0">
                <a:solidFill>
                  <a:srgbClr val="1A1A1A"/>
                </a:solidFill>
                <a:latin typeface="Arial"/>
              </a:rPr>
              <a:t>If a push is rejected, the answer is nearly always "pull first", not "force".</a:t>
            </a:r>
          </a:p>
        </p:txBody>
      </p:sp>
      <p:sp>
        <p:nvSpPr>
          <p:cNvPr id="11" name="TextBox 10"/>
          <p:cNvSpPr txBox="1"/>
          <p:nvPr/>
        </p:nvSpPr>
        <p:spPr>
          <a:xfrm>
            <a:off x="609904" y="6382512"/>
            <a:ext cx="8686800" cy="274320"/>
          </a:xfrm>
          <a:prstGeom prst="rect">
            <a:avLst/>
          </a:prstGeom>
          <a:noFill/>
        </p:spPr>
        <p:txBody>
          <a:bodyPr wrap="square" anchor="t" lIns="0" rIns="0" tIns="0" bIns="0">
            <a:spAutoFit/>
          </a:bodyPr>
          <a:lstStyle/>
          <a:p>
            <a:pPr algn="l">
              <a:lnSpc>
                <a:spcPct val="110000"/>
              </a:lnSpc>
              <a:spcAft>
                <a:spcPts val="600"/>
              </a:spcAft>
            </a:pPr>
            <a:r>
              <a:rPr sz="900" b="0" i="0">
                <a:solidFill>
                  <a:srgbClr val="5A5A5A"/>
                </a:solidFill>
                <a:latin typeface="Arial"/>
              </a:rPr>
              <a:t>Collaborative Git Workflow  ·  Week 2 · Monday   |   28 / 55</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330066"/>
                </a:solidFill>
              </a:rPr>
              <a:t>What push Does Not Do</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6</a:t>
            </a:r>
          </a:p>
        </p:txBody>
      </p:sp>
      <p:sp>
        <p:nvSpPr>
          <p:cNvPr id="4" name="TextBox 3"/>
          <p:cNvSpPr txBox="1"/>
          <p:nvPr/>
        </p:nvSpPr>
        <p:spPr>
          <a:xfrm>
            <a:off x="609904" y="1783080"/>
            <a:ext cx="10971885" cy="2743200"/>
          </a:xfrm>
          <a:prstGeom prst="rect">
            <a:avLst/>
          </a:prstGeom>
          <a:noFill/>
        </p:spPr>
        <p:txBody>
          <a:bodyPr wrap="square" lIns="0" rIns="0" tIns="0" bIns="0">
            <a:spAutoFit/>
          </a:bodyPr>
          <a:lstStyle/>
          <a:p>
            <a:pPr algn="l" marL="228600" indent="-228600">
              <a:spcAft>
                <a:spcPts val="1000"/>
              </a:spcAft>
              <a:buFont typeface="Arial"/>
              <a:buChar char="•"/>
            </a:pPr>
            <a:r>
              <a:rPr sz="1600" b="0" i="0">
                <a:solidFill>
                  <a:srgbClr val="1A1A1A"/>
                </a:solidFill>
                <a:latin typeface="Arial"/>
              </a:rPr>
              <a:t>It pushes commits, not uncommitted files. Forgot </a:t>
            </a:r>
            <a:r>
              <a:rPr sz="1550" b="0" i="0">
                <a:solidFill>
                  <a:srgbClr val="330066"/>
                </a:solidFill>
                <a:latin typeface="Courier New"/>
              </a:rPr>
              <a:t>git add</a:t>
            </a:r>
            <a:r>
              <a:rPr sz="1600" b="0" i="0">
                <a:solidFill>
                  <a:srgbClr val="1A1A1A"/>
                </a:solidFill>
                <a:latin typeface="Arial"/>
              </a:rPr>
              <a:t>/</a:t>
            </a:r>
            <a:r>
              <a:rPr sz="1550" b="0" i="0">
                <a:solidFill>
                  <a:srgbClr val="330066"/>
                </a:solidFill>
                <a:latin typeface="Courier New"/>
              </a:rPr>
              <a:t>git commit</a:t>
            </a:r>
            <a:r>
              <a:rPr sz="1600" b="0" i="0">
                <a:solidFill>
                  <a:srgbClr val="1A1A1A"/>
                </a:solidFill>
                <a:latin typeface="Arial"/>
              </a:rPr>
              <a:t>? Nothing new is uploaded ("Everything up-to-date").</a:t>
            </a:r>
          </a:p>
          <a:p>
            <a:pPr algn="l" marL="228600" indent="-228600">
              <a:spcAft>
                <a:spcPts val="1000"/>
              </a:spcAft>
              <a:buFont typeface="Arial"/>
              <a:buChar char="•"/>
            </a:pPr>
            <a:r>
              <a:rPr sz="1600" b="0" i="0">
                <a:solidFill>
                  <a:srgbClr val="1A1A1A"/>
                </a:solidFill>
                <a:latin typeface="Arial"/>
              </a:rPr>
              <a:t>It pushes only the branch you name (or the current branch's upstream). </a:t>
            </a:r>
            <a:r>
              <a:rPr sz="1550" b="0" i="0">
                <a:solidFill>
                  <a:srgbClr val="330066"/>
                </a:solidFill>
                <a:latin typeface="Courier New"/>
              </a:rPr>
              <a:t>git push --all</a:t>
            </a:r>
            <a:r>
              <a:rPr sz="1600" b="0" i="0">
                <a:solidFill>
                  <a:srgbClr val="1A1A1A"/>
                </a:solidFill>
                <a:latin typeface="Arial"/>
              </a:rPr>
              <a:t> exists but is rarely needed.</a:t>
            </a:r>
          </a:p>
          <a:p>
            <a:pPr algn="l" marL="228600" indent="-228600">
              <a:spcAft>
                <a:spcPts val="1000"/>
              </a:spcAft>
              <a:buFont typeface="Arial"/>
              <a:buChar char="•"/>
            </a:pPr>
            <a:r>
              <a:rPr sz="1600" b="0" i="0">
                <a:solidFill>
                  <a:srgbClr val="1A1A1A"/>
                </a:solidFill>
                <a:latin typeface="Arial"/>
              </a:rPr>
              <a:t>It does not push tags by default: </a:t>
            </a:r>
            <a:r>
              <a:rPr sz="1550" b="0" i="0">
                <a:solidFill>
                  <a:srgbClr val="330066"/>
                </a:solidFill>
                <a:latin typeface="Courier New"/>
              </a:rPr>
              <a:t>git push origin v1.0</a:t>
            </a:r>
            <a:r>
              <a:rPr sz="1600" b="0" i="0">
                <a:solidFill>
                  <a:srgbClr val="1A1A1A"/>
                </a:solidFill>
                <a:latin typeface="Arial"/>
              </a:rPr>
              <a:t>, or </a:t>
            </a:r>
            <a:r>
              <a:rPr sz="1550" b="0" i="0">
                <a:solidFill>
                  <a:srgbClr val="330066"/>
                </a:solidFill>
                <a:latin typeface="Courier New"/>
              </a:rPr>
              <a:t>git push --tags</a:t>
            </a:r>
            <a:r>
              <a:rPr sz="1600" b="0" i="0">
                <a:solidFill>
                  <a:srgbClr val="1A1A1A"/>
                </a:solidFill>
                <a:latin typeface="Arial"/>
              </a:rPr>
              <a:t>.</a:t>
            </a:r>
          </a:p>
        </p:txBody>
      </p:sp>
      <p:sp>
        <p:nvSpPr>
          <p:cNvPr id="5" name="TextBox 4"/>
          <p:cNvSpPr txBox="1"/>
          <p:nvPr/>
        </p:nvSpPr>
        <p:spPr>
          <a:xfrm>
            <a:off x="609904" y="3977639"/>
            <a:ext cx="5486400" cy="274320"/>
          </a:xfrm>
          <a:prstGeom prst="rect">
            <a:avLst/>
          </a:prstGeom>
          <a:noFill/>
        </p:spPr>
        <p:txBody>
          <a:bodyPr wrap="square" anchor="t" lIns="0" rIns="0" tIns="0" bIns="0">
            <a:spAutoFit/>
          </a:bodyPr>
          <a:lstStyle/>
          <a:p>
            <a:pPr algn="l">
              <a:lnSpc>
                <a:spcPct val="110000"/>
              </a:lnSpc>
              <a:spcAft>
                <a:spcPts val="600"/>
              </a:spcAft>
            </a:pPr>
            <a:r>
              <a:rPr sz="1100" b="1" i="0">
                <a:solidFill>
                  <a:srgbClr val="5C8A8A"/>
                </a:solidFill>
                <a:latin typeface="Arial"/>
              </a:rPr>
              <a:t>Deleting a remote branch</a:t>
            </a:r>
          </a:p>
        </p:txBody>
      </p:sp>
      <p:sp>
        <p:nvSpPr>
          <p:cNvPr id="6" name="Rounded Rectangle 5"/>
          <p:cNvSpPr/>
          <p:nvPr/>
        </p:nvSpPr>
        <p:spPr>
          <a:xfrm>
            <a:off x="609904" y="4251960"/>
            <a:ext cx="5852160" cy="457200"/>
          </a:xfrm>
          <a:prstGeom prst="roundRect">
            <a:avLst>
              <a:gd name="adj" fmla="val 18000"/>
            </a:avLst>
          </a:prstGeom>
          <a:solidFill>
            <a:srgbClr val="EDE6F5"/>
          </a:solidFill>
          <a:ln w="12700">
            <a:solidFill>
              <a:srgbClr val="EDE6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2784" y="4251960"/>
            <a:ext cx="5577840" cy="457200"/>
          </a:xfrm>
          <a:prstGeom prst="rect">
            <a:avLst/>
          </a:prstGeom>
          <a:noFill/>
        </p:spPr>
        <p:txBody>
          <a:bodyPr wrap="square" anchor="ctr" lIns="0" rIns="0" tIns="0" bIns="0">
            <a:spAutoFit/>
          </a:bodyPr>
          <a:lstStyle/>
          <a:p>
            <a:pPr algn="l"/>
            <a:r>
              <a:rPr sz="1400" b="1">
                <a:solidFill>
                  <a:srgbClr val="330066"/>
                </a:solidFill>
                <a:latin typeface="Courier New"/>
              </a:rPr>
              <a:t>git push origin --delete feature/login-tests</a:t>
            </a:r>
          </a:p>
        </p:txBody>
      </p:sp>
      <p:sp>
        <p:nvSpPr>
          <p:cNvPr id="8" name="TextBox 7"/>
          <p:cNvSpPr txBox="1"/>
          <p:nvPr/>
        </p:nvSpPr>
        <p:spPr>
          <a:xfrm>
            <a:off x="609904" y="4892040"/>
            <a:ext cx="10971885" cy="731520"/>
          </a:xfrm>
          <a:prstGeom prst="rect">
            <a:avLst/>
          </a:prstGeom>
          <a:noFill/>
        </p:spPr>
        <p:txBody>
          <a:bodyPr wrap="square" anchor="t" lIns="0" rIns="0" tIns="0" bIns="0">
            <a:spAutoFit/>
          </a:bodyPr>
          <a:lstStyle/>
          <a:p>
            <a:pPr algn="l">
              <a:lnSpc>
                <a:spcPct val="110000"/>
              </a:lnSpc>
              <a:spcAft>
                <a:spcPts val="600"/>
              </a:spcAft>
            </a:pPr>
            <a:r>
              <a:rPr sz="1500" b="0" i="0">
                <a:solidFill>
                  <a:srgbClr val="5A5A5A"/>
                </a:solidFill>
                <a:latin typeface="Arial"/>
              </a:rPr>
              <a:t>Usually after the branch is merged. Teammates clean up the stale bookmark with </a:t>
            </a:r>
            <a:r>
              <a:rPr sz="1450" b="0" i="0">
                <a:solidFill>
                  <a:srgbClr val="5A5A5A"/>
                </a:solidFill>
                <a:latin typeface="Courier New"/>
              </a:rPr>
              <a:t>git fetch --prune</a:t>
            </a:r>
            <a:r>
              <a:rPr sz="1500" b="0" i="0">
                <a:solidFill>
                  <a:srgbClr val="5A5A5A"/>
                </a:solidFill>
                <a:latin typeface="Arial"/>
              </a:rPr>
              <a:t>.</a:t>
            </a:r>
          </a:p>
        </p:txBody>
      </p:sp>
      <p:sp>
        <p:nvSpPr>
          <p:cNvPr id="9" name="TextBox 8"/>
          <p:cNvSpPr txBox="1"/>
          <p:nvPr/>
        </p:nvSpPr>
        <p:spPr>
          <a:xfrm>
            <a:off x="609904" y="6382512"/>
            <a:ext cx="8686800" cy="274320"/>
          </a:xfrm>
          <a:prstGeom prst="rect">
            <a:avLst/>
          </a:prstGeom>
          <a:noFill/>
        </p:spPr>
        <p:txBody>
          <a:bodyPr wrap="square" anchor="t" lIns="0" rIns="0" tIns="0" bIns="0">
            <a:spAutoFit/>
          </a:bodyPr>
          <a:lstStyle/>
          <a:p>
            <a:pPr algn="l">
              <a:lnSpc>
                <a:spcPct val="110000"/>
              </a:lnSpc>
              <a:spcAft>
                <a:spcPts val="600"/>
              </a:spcAft>
            </a:pPr>
            <a:r>
              <a:rPr sz="900" b="0" i="0">
                <a:solidFill>
                  <a:srgbClr val="5A5A5A"/>
                </a:solidFill>
                <a:latin typeface="Arial"/>
              </a:rPr>
              <a:t>Collaborative Git Workflow  ·  Week 2 · Monday   |   29 / 55</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3200">
                <a:solidFill>
                  <a:srgbClr val="330066"/>
                </a:solidFill>
              </a:rPr>
              <a:t>A Safe Daily Collaboration Routine</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7</a:t>
            </a:r>
          </a:p>
        </p:txBody>
      </p:sp>
      <p:sp>
        <p:nvSpPr>
          <p:cNvPr id="4" name="Rounded Rectangle 3"/>
          <p:cNvSpPr/>
          <p:nvPr/>
        </p:nvSpPr>
        <p:spPr>
          <a:xfrm>
            <a:off x="609904" y="1783080"/>
            <a:ext cx="10971885" cy="3980688"/>
          </a:xfrm>
          <a:prstGeom prst="roundRect">
            <a:avLst>
              <a:gd name="adj" fmla="val 1837"/>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1072" y="1929384"/>
            <a:ext cx="10569549" cy="3688080"/>
          </a:xfrm>
          <a:prstGeom prst="rect">
            <a:avLst/>
          </a:prstGeom>
          <a:noFill/>
        </p:spPr>
        <p:txBody>
          <a:bodyPr wrap="square" lIns="0" rIns="0" tIns="0" bIns="0">
            <a:spAutoFit/>
          </a:bodyPr>
          <a:lstStyle/>
          <a:p>
            <a:pPr algn="l">
              <a:lnSpc>
                <a:spcPct val="100000"/>
              </a:lnSpc>
            </a:pPr>
            <a:r>
              <a:rPr sz="1100">
                <a:solidFill>
                  <a:srgbClr val="5C8A8A"/>
                </a:solidFill>
                <a:latin typeface="Courier New"/>
              </a:rPr>
              <a:t># 1. START OF DAY / before new work: get up to date</a:t>
            </a:r>
          </a:p>
          <a:p>
            <a:pPr algn="l">
              <a:lnSpc>
                <a:spcPct val="100000"/>
              </a:lnSpc>
            </a:pPr>
            <a:r>
              <a:rPr sz="1100">
                <a:solidFill>
                  <a:srgbClr val="1A1A1A"/>
                </a:solidFill>
                <a:latin typeface="Courier New"/>
              </a:rPr>
              <a:t>git switch main</a:t>
            </a:r>
          </a:p>
          <a:p>
            <a:pPr algn="l">
              <a:lnSpc>
                <a:spcPct val="100000"/>
              </a:lnSpc>
            </a:pPr>
            <a:r>
              <a:rPr sz="1100">
                <a:solidFill>
                  <a:srgbClr val="1A1A1A"/>
                </a:solidFill>
                <a:latin typeface="Courier New"/>
              </a:rPr>
              <a:t>git pull --ff-only              # update my local main (stops if something unusual happened)</a:t>
            </a:r>
          </a:p>
          <a:p>
            <a:pPr algn="l">
              <a:lnSpc>
                <a:spcPct val="100000"/>
              </a:lnSpc>
            </a:pPr>
            <a:r>
              <a:rPr sz="1100">
                <a:solidFill>
                  <a:srgbClr val="1A1A1A"/>
                </a:solidFill>
                <a:latin typeface="Courier New"/>
              </a:rPr>
              <a:t> </a:t>
            </a:r>
          </a:p>
          <a:p>
            <a:pPr algn="l">
              <a:lnSpc>
                <a:spcPct val="100000"/>
              </a:lnSpc>
            </a:pPr>
            <a:r>
              <a:rPr sz="1100">
                <a:solidFill>
                  <a:srgbClr val="5C8A8A"/>
                </a:solidFill>
                <a:latin typeface="Courier New"/>
              </a:rPr>
              <a:t># 2. Make a branch for your task</a:t>
            </a:r>
          </a:p>
          <a:p>
            <a:pPr algn="l">
              <a:lnSpc>
                <a:spcPct val="100000"/>
              </a:lnSpc>
            </a:pPr>
            <a:r>
              <a:rPr sz="1100">
                <a:solidFill>
                  <a:srgbClr val="1A1A1A"/>
                </a:solidFill>
                <a:latin typeface="Courier New"/>
              </a:rPr>
              <a:t>git switch -c feature/add-email-validator</a:t>
            </a:r>
          </a:p>
          <a:p>
            <a:pPr algn="l">
              <a:lnSpc>
                <a:spcPct val="100000"/>
              </a:lnSpc>
            </a:pPr>
            <a:r>
              <a:rPr sz="1100">
                <a:solidFill>
                  <a:srgbClr val="1A1A1A"/>
                </a:solidFill>
                <a:latin typeface="Courier New"/>
              </a:rPr>
              <a:t> </a:t>
            </a:r>
          </a:p>
          <a:p>
            <a:pPr algn="l">
              <a:lnSpc>
                <a:spcPct val="100000"/>
              </a:lnSpc>
            </a:pPr>
            <a:r>
              <a:rPr sz="1100">
                <a:solidFill>
                  <a:srgbClr val="5C8A8A"/>
                </a:solidFill>
                <a:latin typeface="Courier New"/>
              </a:rPr>
              <a:t># 3. Work in small steps; commit often with clear messages</a:t>
            </a:r>
          </a:p>
          <a:p>
            <a:pPr algn="l">
              <a:lnSpc>
                <a:spcPct val="100000"/>
              </a:lnSpc>
            </a:pPr>
            <a:r>
              <a:rPr sz="1100">
                <a:solidFill>
                  <a:srgbClr val="1A1A1A"/>
                </a:solidFill>
                <a:latin typeface="Courier New"/>
              </a:rPr>
              <a:t>git add src/qa_toolkit/validators.py</a:t>
            </a:r>
          </a:p>
          <a:p>
            <a:pPr algn="l">
              <a:lnSpc>
                <a:spcPct val="100000"/>
              </a:lnSpc>
            </a:pPr>
            <a:r>
              <a:rPr sz="1100">
                <a:solidFill>
                  <a:srgbClr val="1A1A1A"/>
                </a:solidFill>
                <a:latin typeface="Courier New"/>
              </a:rPr>
              <a:t>git commit -m "Add is_valid_email validator"</a:t>
            </a:r>
          </a:p>
          <a:p>
            <a:pPr algn="l">
              <a:lnSpc>
                <a:spcPct val="100000"/>
              </a:lnSpc>
            </a:pPr>
            <a:r>
              <a:rPr sz="1100">
                <a:solidFill>
                  <a:srgbClr val="1A1A1A"/>
                </a:solidFill>
                <a:latin typeface="Courier New"/>
              </a:rPr>
              <a:t> </a:t>
            </a:r>
          </a:p>
          <a:p>
            <a:pPr algn="l">
              <a:lnSpc>
                <a:spcPct val="100000"/>
              </a:lnSpc>
            </a:pPr>
            <a:r>
              <a:rPr sz="1100">
                <a:solidFill>
                  <a:srgbClr val="5C8A8A"/>
                </a:solidFill>
                <a:latin typeface="Courier New"/>
              </a:rPr>
              <a:t># 4. Before publishing: see what changed upstream</a:t>
            </a:r>
          </a:p>
          <a:p>
            <a:pPr algn="l">
              <a:lnSpc>
                <a:spcPct val="100000"/>
              </a:lnSpc>
            </a:pPr>
            <a:r>
              <a:rPr sz="1100">
                <a:solidFill>
                  <a:srgbClr val="1A1A1A"/>
                </a:solidFill>
                <a:latin typeface="Courier New"/>
              </a:rPr>
              <a:t>git fetch</a:t>
            </a:r>
          </a:p>
          <a:p>
            <a:pPr algn="l">
              <a:lnSpc>
                <a:spcPct val="100000"/>
              </a:lnSpc>
            </a:pPr>
            <a:r>
              <a:rPr sz="1100">
                <a:solidFill>
                  <a:srgbClr val="1A1A1A"/>
                </a:solidFill>
                <a:latin typeface="Courier New"/>
              </a:rPr>
              <a:t>git status -sb                  # ahead/behind?</a:t>
            </a:r>
          </a:p>
          <a:p>
            <a:pPr algn="l">
              <a:lnSpc>
                <a:spcPct val="100000"/>
              </a:lnSpc>
            </a:pPr>
            <a:r>
              <a:rPr sz="1100">
                <a:solidFill>
                  <a:srgbClr val="1A1A1A"/>
                </a:solidFill>
                <a:latin typeface="Courier New"/>
              </a:rPr>
              <a:t>git pull --rebase origin main   # (or merge) bring main's latest into my branch</a:t>
            </a:r>
          </a:p>
          <a:p>
            <a:pPr algn="l">
              <a:lnSpc>
                <a:spcPct val="100000"/>
              </a:lnSpc>
            </a:pPr>
            <a:r>
              <a:rPr sz="1100">
                <a:solidFill>
                  <a:srgbClr val="1A1A1A"/>
                </a:solidFill>
                <a:latin typeface="Courier New"/>
              </a:rPr>
              <a:t> </a:t>
            </a:r>
          </a:p>
          <a:p>
            <a:pPr algn="l">
              <a:lnSpc>
                <a:spcPct val="100000"/>
              </a:lnSpc>
            </a:pPr>
            <a:r>
              <a:rPr sz="1100">
                <a:solidFill>
                  <a:srgbClr val="5C8A8A"/>
                </a:solidFill>
                <a:latin typeface="Courier New"/>
              </a:rPr>
              <a:t># 5. Run the tests / check the code still works</a:t>
            </a:r>
          </a:p>
          <a:p>
            <a:pPr algn="l">
              <a:lnSpc>
                <a:spcPct val="100000"/>
              </a:lnSpc>
            </a:pPr>
            <a:r>
              <a:rPr sz="1100">
                <a:solidFill>
                  <a:srgbClr val="1A1A1A"/>
                </a:solidFill>
                <a:latin typeface="Courier New"/>
              </a:rPr>
              <a:t> </a:t>
            </a:r>
          </a:p>
          <a:p>
            <a:pPr algn="l">
              <a:lnSpc>
                <a:spcPct val="100000"/>
              </a:lnSpc>
            </a:pPr>
            <a:r>
              <a:rPr sz="1100">
                <a:solidFill>
                  <a:srgbClr val="5C8A8A"/>
                </a:solidFill>
                <a:latin typeface="Courier New"/>
              </a:rPr>
              <a:t># 6. Publish</a:t>
            </a:r>
          </a:p>
          <a:p>
            <a:pPr algn="l">
              <a:lnSpc>
                <a:spcPct val="100000"/>
              </a:lnSpc>
            </a:pPr>
            <a:r>
              <a:rPr sz="1100">
                <a:solidFill>
                  <a:srgbClr val="1A1A1A"/>
                </a:solidFill>
                <a:latin typeface="Courier New"/>
              </a:rPr>
              <a:t>git push -u origin feature/add-email-validator</a:t>
            </a:r>
          </a:p>
          <a:p>
            <a:pPr algn="l">
              <a:lnSpc>
                <a:spcPct val="100000"/>
              </a:lnSpc>
            </a:pPr>
            <a:r>
              <a:rPr sz="1100">
                <a:solidFill>
                  <a:srgbClr val="1A1A1A"/>
                </a:solidFill>
                <a:latin typeface="Courier New"/>
              </a:rPr>
              <a:t> </a:t>
            </a:r>
          </a:p>
          <a:p>
            <a:pPr algn="l">
              <a:lnSpc>
                <a:spcPct val="100000"/>
              </a:lnSpc>
            </a:pPr>
            <a:r>
              <a:rPr sz="1100">
                <a:solidFill>
                  <a:srgbClr val="5C8A8A"/>
                </a:solidFill>
                <a:latin typeface="Courier New"/>
              </a:rPr>
              <a:t># 7. Open a pull request (merge request) on the hosting service for review</a:t>
            </a:r>
          </a:p>
        </p:txBody>
      </p:sp>
      <p:sp>
        <p:nvSpPr>
          <p:cNvPr id="6" name="TextBox 5"/>
          <p:cNvSpPr txBox="1"/>
          <p:nvPr/>
        </p:nvSpPr>
        <p:spPr>
          <a:xfrm>
            <a:off x="609904" y="6382512"/>
            <a:ext cx="8686800" cy="274320"/>
          </a:xfrm>
          <a:prstGeom prst="rect">
            <a:avLst/>
          </a:prstGeom>
          <a:noFill/>
        </p:spPr>
        <p:txBody>
          <a:bodyPr wrap="square" anchor="t" lIns="0" rIns="0" tIns="0" bIns="0">
            <a:spAutoFit/>
          </a:bodyPr>
          <a:lstStyle/>
          <a:p>
            <a:pPr algn="l">
              <a:lnSpc>
                <a:spcPct val="110000"/>
              </a:lnSpc>
              <a:spcAft>
                <a:spcPts val="600"/>
              </a:spcAft>
            </a:pPr>
            <a:r>
              <a:rPr sz="900" b="0" i="0">
                <a:solidFill>
                  <a:srgbClr val="5A5A5A"/>
                </a:solidFill>
                <a:latin typeface="Arial"/>
              </a:rPr>
              <a:t>Collaborative Git Workflow  ·  Week 2 · Monday   |   30 / 55</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330066"/>
                </a:solidFill>
              </a:rPr>
              <a:t>Why Branches and Pull Requests?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7</a:t>
            </a:r>
          </a:p>
        </p:txBody>
      </p:sp>
      <p:sp>
        <p:nvSpPr>
          <p:cNvPr id="4" name="TextBox 3"/>
          <p:cNvSpPr txBox="1"/>
          <p:nvPr/>
        </p:nvSpPr>
        <p:spPr>
          <a:xfrm>
            <a:off x="609904" y="1783080"/>
            <a:ext cx="10971885" cy="457200"/>
          </a:xfrm>
          <a:prstGeom prst="rect">
            <a:avLst/>
          </a:prstGeom>
          <a:noFill/>
        </p:spPr>
        <p:txBody>
          <a:bodyPr wrap="square" anchor="t" lIns="0" rIns="0" tIns="0" bIns="0">
            <a:spAutoFit/>
          </a:bodyPr>
          <a:lstStyle/>
          <a:p>
            <a:pPr algn="l">
              <a:lnSpc>
                <a:spcPct val="110000"/>
              </a:lnSpc>
              <a:spcAft>
                <a:spcPts val="600"/>
              </a:spcAft>
            </a:pPr>
            <a:r>
              <a:rPr sz="1300" b="0" i="0">
                <a:solidFill>
                  <a:srgbClr val="5A5A5A"/>
                </a:solidFill>
                <a:latin typeface="Courier New"/>
              </a:rPr>
              <a:t>git switch</a:t>
            </a:r>
            <a:r>
              <a:rPr sz="1350" b="0" i="0">
                <a:solidFill>
                  <a:srgbClr val="5A5A5A"/>
                </a:solidFill>
                <a:latin typeface="Arial"/>
              </a:rPr>
              <a:t> / </a:t>
            </a:r>
            <a:r>
              <a:rPr sz="1300" b="0" i="0">
                <a:solidFill>
                  <a:srgbClr val="5A5A5A"/>
                </a:solidFill>
                <a:latin typeface="Courier New"/>
              </a:rPr>
              <a:t>git switch -c</a:t>
            </a:r>
            <a:r>
              <a:rPr sz="1350" b="0" i="0">
                <a:solidFill>
                  <a:srgbClr val="5A5A5A"/>
                </a:solidFill>
                <a:latin typeface="Arial"/>
              </a:rPr>
              <a:t> are the modern equivalents of </a:t>
            </a:r>
            <a:r>
              <a:rPr sz="1300" b="0" i="0">
                <a:solidFill>
                  <a:srgbClr val="5A5A5A"/>
                </a:solidFill>
                <a:latin typeface="Courier New"/>
              </a:rPr>
              <a:t>git checkout &lt;branch&gt;</a:t>
            </a:r>
            <a:r>
              <a:rPr sz="1350" b="0" i="0">
                <a:solidFill>
                  <a:srgbClr val="5A5A5A"/>
                </a:solidFill>
                <a:latin typeface="Arial"/>
              </a:rPr>
              <a:t> / </a:t>
            </a:r>
            <a:r>
              <a:rPr sz="1300" b="0" i="0">
                <a:solidFill>
                  <a:srgbClr val="5A5A5A"/>
                </a:solidFill>
                <a:latin typeface="Courier New"/>
              </a:rPr>
              <a:t>git checkout -b &lt;branch&gt;</a:t>
            </a:r>
            <a:r>
              <a:rPr sz="1350" b="0" i="0">
                <a:solidFill>
                  <a:srgbClr val="5A5A5A"/>
                </a:solidFill>
                <a:latin typeface="Arial"/>
              </a:rPr>
              <a:t>; both work.</a:t>
            </a:r>
          </a:p>
        </p:txBody>
      </p:sp>
      <p:sp>
        <p:nvSpPr>
          <p:cNvPr id="5" name="Oval 4"/>
          <p:cNvSpPr/>
          <p:nvPr/>
        </p:nvSpPr>
        <p:spPr>
          <a:xfrm>
            <a:off x="609904" y="233172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Arial"/>
              </a:rPr>
              <a:t>1</a:t>
            </a:r>
          </a:p>
        </p:txBody>
      </p:sp>
      <p:sp>
        <p:nvSpPr>
          <p:cNvPr id="6" name="TextBox 5"/>
          <p:cNvSpPr txBox="1"/>
          <p:nvPr/>
        </p:nvSpPr>
        <p:spPr>
          <a:xfrm>
            <a:off x="1158544" y="2368296"/>
            <a:ext cx="10423245" cy="974407"/>
          </a:xfrm>
          <a:prstGeom prst="rect">
            <a:avLst/>
          </a:prstGeom>
          <a:noFill/>
        </p:spPr>
        <p:txBody>
          <a:bodyPr wrap="square" anchor="t" lIns="0" rIns="0" tIns="0" bIns="0">
            <a:spAutoFit/>
          </a:bodyPr>
          <a:lstStyle/>
          <a:p>
            <a:pPr algn="l">
              <a:lnSpc>
                <a:spcPct val="110000"/>
              </a:lnSpc>
              <a:spcAft>
                <a:spcPts val="200"/>
              </a:spcAft>
            </a:pPr>
            <a:r>
              <a:rPr sz="1500" b="1" i="0">
                <a:solidFill>
                  <a:srgbClr val="330066"/>
                </a:solidFill>
                <a:latin typeface="Arial"/>
              </a:rPr>
              <a:t>Why branches?</a:t>
            </a:r>
          </a:p>
          <a:p>
            <a:pPr algn="l">
              <a:lnSpc>
                <a:spcPct val="110000"/>
              </a:lnSpc>
              <a:spcAft>
                <a:spcPts val="600"/>
              </a:spcAft>
            </a:pPr>
            <a:r>
              <a:rPr sz="1450" b="0" i="0">
                <a:solidFill>
                  <a:srgbClr val="1A1A1A"/>
                </a:solidFill>
                <a:latin typeface="Arial"/>
              </a:rPr>
              <a:t>Pushing every change to </a:t>
            </a:r>
            <a:r>
              <a:rPr sz="1400" b="0" i="0">
                <a:solidFill>
                  <a:srgbClr val="330066"/>
                </a:solidFill>
                <a:latin typeface="Courier New"/>
              </a:rPr>
              <a:t>main</a:t>
            </a:r>
            <a:r>
              <a:rPr sz="1450" b="0" i="0">
                <a:solidFill>
                  <a:srgbClr val="1A1A1A"/>
                </a:solidFill>
                <a:latin typeface="Arial"/>
              </a:rPr>
              <a:t> lets a half-finished change break everyone. A short-lived feature branch isolates your work; teammates review it through a pull request (a merge request on GitLab); only then does it join </a:t>
            </a:r>
            <a:r>
              <a:rPr sz="1400" b="0" i="0">
                <a:solidFill>
                  <a:srgbClr val="330066"/>
                </a:solidFill>
                <a:latin typeface="Courier New"/>
              </a:rPr>
              <a:t>main</a:t>
            </a:r>
            <a:r>
              <a:rPr sz="1450" b="0" i="0">
                <a:solidFill>
                  <a:srgbClr val="1A1A1A"/>
                </a:solidFill>
                <a:latin typeface="Arial"/>
              </a:rPr>
              <a:t>. Many teams protect </a:t>
            </a:r>
            <a:r>
              <a:rPr sz="1400" b="0" i="0">
                <a:solidFill>
                  <a:srgbClr val="330066"/>
                </a:solidFill>
                <a:latin typeface="Courier New"/>
              </a:rPr>
              <a:t>main</a:t>
            </a:r>
            <a:r>
              <a:rPr sz="1450" b="0" i="0">
                <a:solidFill>
                  <a:srgbClr val="1A1A1A"/>
                </a:solidFill>
                <a:latin typeface="Arial"/>
              </a:rPr>
              <a:t> so direct pushes are blocked.</a:t>
            </a:r>
          </a:p>
        </p:txBody>
      </p:sp>
      <p:sp>
        <p:nvSpPr>
          <p:cNvPr id="7" name="Oval 6"/>
          <p:cNvSpPr/>
          <p:nvPr/>
        </p:nvSpPr>
        <p:spPr>
          <a:xfrm>
            <a:off x="609904" y="3507295"/>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Arial"/>
              </a:rPr>
              <a:t>2</a:t>
            </a:r>
          </a:p>
        </p:txBody>
      </p:sp>
      <p:sp>
        <p:nvSpPr>
          <p:cNvPr id="8" name="TextBox 7"/>
          <p:cNvSpPr txBox="1"/>
          <p:nvPr/>
        </p:nvSpPr>
        <p:spPr>
          <a:xfrm>
            <a:off x="1158544" y="3543871"/>
            <a:ext cx="10423245" cy="974407"/>
          </a:xfrm>
          <a:prstGeom prst="rect">
            <a:avLst/>
          </a:prstGeom>
          <a:noFill/>
        </p:spPr>
        <p:txBody>
          <a:bodyPr wrap="square" anchor="t" lIns="0" rIns="0" tIns="0" bIns="0">
            <a:spAutoFit/>
          </a:bodyPr>
          <a:lstStyle/>
          <a:p>
            <a:pPr algn="l">
              <a:lnSpc>
                <a:spcPct val="110000"/>
              </a:lnSpc>
              <a:spcAft>
                <a:spcPts val="200"/>
              </a:spcAft>
            </a:pPr>
            <a:r>
              <a:rPr sz="1500" b="1" i="0">
                <a:solidFill>
                  <a:srgbClr val="330066"/>
                </a:solidFill>
                <a:latin typeface="Arial"/>
              </a:rPr>
              <a:t>Pull request</a:t>
            </a:r>
          </a:p>
          <a:p>
            <a:pPr algn="l">
              <a:lnSpc>
                <a:spcPct val="110000"/>
              </a:lnSpc>
              <a:spcAft>
                <a:spcPts val="600"/>
              </a:spcAft>
            </a:pPr>
            <a:r>
              <a:rPr sz="1450" b="0" i="0">
                <a:solidFill>
                  <a:srgbClr val="1A1A1A"/>
                </a:solidFill>
                <a:latin typeface="Arial"/>
              </a:rPr>
              <a:t>A hosting-service feature, not Git itself: "I have commits on branch X; please review and merge them into </a:t>
            </a:r>
            <a:r>
              <a:rPr sz="1400" b="0" i="0">
                <a:solidFill>
                  <a:srgbClr val="330066"/>
                </a:solidFill>
                <a:latin typeface="Courier New"/>
              </a:rPr>
              <a:t>main</a:t>
            </a:r>
            <a:r>
              <a:rPr sz="1450" b="0" i="0">
                <a:solidFill>
                  <a:srgbClr val="1A1A1A"/>
                </a:solidFill>
                <a:latin typeface="Arial"/>
              </a:rPr>
              <a:t>". Reviewers comment, CI may run your tests, and when approved someone clicks Merge. Then update local </a:t>
            </a:r>
            <a:r>
              <a:rPr sz="1400" b="0" i="0">
                <a:solidFill>
                  <a:srgbClr val="330066"/>
                </a:solidFill>
                <a:latin typeface="Courier New"/>
              </a:rPr>
              <a:t>main</a:t>
            </a:r>
            <a:r>
              <a:rPr sz="1450" b="0" i="0">
                <a:solidFill>
                  <a:srgbClr val="1A1A1A"/>
                </a:solidFill>
                <a:latin typeface="Arial"/>
              </a:rPr>
              <a:t> with </a:t>
            </a:r>
            <a:r>
              <a:rPr sz="1400" b="0" i="0">
                <a:solidFill>
                  <a:srgbClr val="330066"/>
                </a:solidFill>
                <a:latin typeface="Courier New"/>
              </a:rPr>
              <a:t>git pull</a:t>
            </a:r>
            <a:r>
              <a:rPr sz="1450" b="0" i="0">
                <a:solidFill>
                  <a:srgbClr val="1A1A1A"/>
                </a:solidFill>
                <a:latin typeface="Arial"/>
              </a:rPr>
              <a:t> and delete the feature branch.</a:t>
            </a:r>
          </a:p>
        </p:txBody>
      </p:sp>
      <p:sp>
        <p:nvSpPr>
          <p:cNvPr id="9" name="TextBox 8"/>
          <p:cNvSpPr txBox="1"/>
          <p:nvPr/>
        </p:nvSpPr>
        <p:spPr>
          <a:xfrm>
            <a:off x="609904" y="6382512"/>
            <a:ext cx="8686800" cy="274320"/>
          </a:xfrm>
          <a:prstGeom prst="rect">
            <a:avLst/>
          </a:prstGeom>
          <a:noFill/>
        </p:spPr>
        <p:txBody>
          <a:bodyPr wrap="square" anchor="t" lIns="0" rIns="0" tIns="0" bIns="0">
            <a:spAutoFit/>
          </a:bodyPr>
          <a:lstStyle/>
          <a:p>
            <a:pPr algn="l">
              <a:lnSpc>
                <a:spcPct val="110000"/>
              </a:lnSpc>
              <a:spcAft>
                <a:spcPts val="600"/>
              </a:spcAft>
            </a:pPr>
            <a:r>
              <a:rPr sz="900" b="0" i="0">
                <a:solidFill>
                  <a:srgbClr val="5A5A5A"/>
                </a:solidFill>
                <a:latin typeface="Arial"/>
              </a:rPr>
              <a:t>Collaborative Git Workflow  ·  Week 2 · Monday   |   31 / 55</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330066"/>
                </a:solidFill>
              </a:rPr>
              <a:t>Authentication</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8 · HOW THE REMOTE KNOWS IT IS YOU</a:t>
            </a:r>
          </a:p>
        </p:txBody>
      </p:sp>
      <p:sp>
        <p:nvSpPr>
          <p:cNvPr id="4" name="Rounded Rectangle 3"/>
          <p:cNvSpPr/>
          <p:nvPr/>
        </p:nvSpPr>
        <p:spPr>
          <a:xfrm>
            <a:off x="609904" y="1783080"/>
            <a:ext cx="5349240" cy="2743200"/>
          </a:xfrm>
          <a:prstGeom prst="roundRect">
            <a:avLst>
              <a:gd name="adj" fmla="val 3000"/>
            </a:avLst>
          </a:prstGeom>
          <a:solidFill>
            <a:srgbClr val="EDE6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38504" y="1920240"/>
            <a:ext cx="4937760" cy="2560320"/>
          </a:xfrm>
          <a:prstGeom prst="rect">
            <a:avLst/>
          </a:prstGeom>
          <a:noFill/>
        </p:spPr>
        <p:txBody>
          <a:bodyPr wrap="square" anchor="t" lIns="0" rIns="0" tIns="0" bIns="0">
            <a:spAutoFit/>
          </a:bodyPr>
          <a:lstStyle/>
          <a:p>
            <a:pPr algn="l">
              <a:lnSpc>
                <a:spcPct val="110000"/>
              </a:lnSpc>
              <a:spcAft>
                <a:spcPts val="400"/>
              </a:spcAft>
            </a:pPr>
            <a:r>
              <a:rPr sz="1500" b="1" i="0">
                <a:solidFill>
                  <a:srgbClr val="330066"/>
                </a:solidFill>
                <a:latin typeface="Arial"/>
              </a:rPr>
              <a:t>HTTPS with a personal access token</a:t>
            </a:r>
          </a:p>
          <a:p>
            <a:pPr algn="l">
              <a:lnSpc>
                <a:spcPct val="110000"/>
              </a:lnSpc>
              <a:spcAft>
                <a:spcPts val="600"/>
              </a:spcAft>
            </a:pPr>
            <a:r>
              <a:rPr sz="1200" b="0" i="0">
                <a:solidFill>
                  <a:srgbClr val="330066"/>
                </a:solidFill>
                <a:latin typeface="Courier New"/>
              </a:rPr>
              <a:t>https://github.com/user/repo.git</a:t>
            </a:r>
          </a:p>
          <a:p>
            <a:pPr algn="l">
              <a:lnSpc>
                <a:spcPct val="110000"/>
              </a:lnSpc>
              <a:spcAft>
                <a:spcPts val="600"/>
              </a:spcAft>
            </a:pPr>
            <a:r>
              <a:rPr sz="1300" b="0" i="0">
                <a:solidFill>
                  <a:srgbClr val="1A1A1A"/>
                </a:solidFill>
                <a:latin typeface="Arial"/>
              </a:rPr>
              <a:t>Services no longer accept your account password. Create a personal access token in account settings and use it as the password. A credential helper stores it (Git for Windows and macOS include one; </a:t>
            </a:r>
            <a:r>
              <a:rPr sz="1250" b="0" i="0">
                <a:solidFill>
                  <a:srgbClr val="330066"/>
                </a:solidFill>
                <a:latin typeface="Courier New"/>
              </a:rPr>
              <a:t>git config --global credential.helper store</a:t>
            </a:r>
            <a:r>
              <a:rPr sz="1300" b="0" i="0">
                <a:solidFill>
                  <a:srgbClr val="1A1A1A"/>
                </a:solidFill>
                <a:latin typeface="Arial"/>
              </a:rPr>
              <a:t> on Linux saves plain text, so prefer a proper helper).</a:t>
            </a:r>
          </a:p>
        </p:txBody>
      </p:sp>
      <p:sp>
        <p:nvSpPr>
          <p:cNvPr id="6" name="Rounded Rectangle 5"/>
          <p:cNvSpPr/>
          <p:nvPr/>
        </p:nvSpPr>
        <p:spPr>
          <a:xfrm>
            <a:off x="6233464" y="1783080"/>
            <a:ext cx="5349240" cy="2743200"/>
          </a:xfrm>
          <a:prstGeom prst="roundRect">
            <a:avLst>
              <a:gd name="adj" fmla="val 3000"/>
            </a:avLst>
          </a:prstGeom>
          <a:solidFill>
            <a:srgbClr val="E9F1F1"/>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2064" y="1920240"/>
            <a:ext cx="4937760" cy="2560320"/>
          </a:xfrm>
          <a:prstGeom prst="rect">
            <a:avLst/>
          </a:prstGeom>
          <a:noFill/>
        </p:spPr>
        <p:txBody>
          <a:bodyPr wrap="square" anchor="t" lIns="0" rIns="0" tIns="0" bIns="0">
            <a:spAutoFit/>
          </a:bodyPr>
          <a:lstStyle/>
          <a:p>
            <a:pPr algn="l">
              <a:lnSpc>
                <a:spcPct val="110000"/>
              </a:lnSpc>
              <a:spcAft>
                <a:spcPts val="400"/>
              </a:spcAft>
            </a:pPr>
            <a:r>
              <a:rPr sz="1500" b="1" i="0">
                <a:solidFill>
                  <a:srgbClr val="330066"/>
                </a:solidFill>
                <a:latin typeface="Arial"/>
              </a:rPr>
              <a:t>SSH keys</a:t>
            </a:r>
          </a:p>
          <a:p>
            <a:pPr algn="l">
              <a:lnSpc>
                <a:spcPct val="110000"/>
              </a:lnSpc>
              <a:spcAft>
                <a:spcPts val="600"/>
              </a:spcAft>
            </a:pPr>
            <a:r>
              <a:rPr sz="1200" b="0" i="0">
                <a:solidFill>
                  <a:srgbClr val="330066"/>
                </a:solidFill>
                <a:latin typeface="Courier New"/>
              </a:rPr>
              <a:t>git@github.com:user/repo.git</a:t>
            </a:r>
          </a:p>
          <a:p>
            <a:pPr algn="l">
              <a:lnSpc>
                <a:spcPct val="110000"/>
              </a:lnSpc>
              <a:spcAft>
                <a:spcPts val="600"/>
              </a:spcAft>
            </a:pPr>
            <a:r>
              <a:rPr sz="1300" b="0" i="0">
                <a:solidFill>
                  <a:srgbClr val="1A1A1A"/>
                </a:solidFill>
                <a:latin typeface="Arial"/>
              </a:rPr>
              <a:t>Generate a key pair (below). Upload the public </a:t>
            </a:r>
            <a:r>
              <a:rPr sz="1250" b="0" i="0">
                <a:solidFill>
                  <a:srgbClr val="330066"/>
                </a:solidFill>
                <a:latin typeface="Courier New"/>
              </a:rPr>
              <a:t>.pub</a:t>
            </a:r>
            <a:r>
              <a:rPr sz="1300" b="0" i="0">
                <a:solidFill>
                  <a:srgbClr val="1A1A1A"/>
                </a:solidFill>
                <a:latin typeface="Arial"/>
              </a:rPr>
              <a:t> key to your account; the private key stays on your machine and must never be shared or committed. Test with </a:t>
            </a:r>
            <a:r>
              <a:rPr sz="1250" b="0" i="0">
                <a:solidFill>
                  <a:srgbClr val="330066"/>
                </a:solidFill>
                <a:latin typeface="Courier New"/>
              </a:rPr>
              <a:t>ssh -T git@github.com</a:t>
            </a:r>
            <a:r>
              <a:rPr sz="1300" b="0" i="0">
                <a:solidFill>
                  <a:srgbClr val="1A1A1A"/>
                </a:solidFill>
                <a:latin typeface="Arial"/>
              </a:rPr>
              <a:t>.</a:t>
            </a:r>
          </a:p>
        </p:txBody>
      </p:sp>
      <p:sp>
        <p:nvSpPr>
          <p:cNvPr id="8" name="Rounded Rectangle 7"/>
          <p:cNvSpPr/>
          <p:nvPr/>
        </p:nvSpPr>
        <p:spPr>
          <a:xfrm>
            <a:off x="6233464" y="4709160"/>
            <a:ext cx="5349240" cy="475488"/>
          </a:xfrm>
          <a:prstGeom prst="roundRect">
            <a:avLst>
              <a:gd name="adj" fmla="val 15384"/>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34632" y="4855464"/>
            <a:ext cx="4946903" cy="182880"/>
          </a:xfrm>
          <a:prstGeom prst="rect">
            <a:avLst/>
          </a:prstGeom>
          <a:noFill/>
        </p:spPr>
        <p:txBody>
          <a:bodyPr wrap="square" lIns="0" rIns="0" tIns="0" bIns="0">
            <a:spAutoFit/>
          </a:bodyPr>
          <a:lstStyle/>
          <a:p>
            <a:pPr algn="l">
              <a:lnSpc>
                <a:spcPct val="100000"/>
              </a:lnSpc>
            </a:pPr>
            <a:r>
              <a:rPr sz="1200">
                <a:solidFill>
                  <a:srgbClr val="1A1A1A"/>
                </a:solidFill>
                <a:latin typeface="Courier New"/>
              </a:rPr>
              <a:t>ssh-keygen -t ed25519 -C "your-email@example.com"</a:t>
            </a:r>
          </a:p>
        </p:txBody>
      </p:sp>
      <p:sp>
        <p:nvSpPr>
          <p:cNvPr id="10" name="TextBox 9"/>
          <p:cNvSpPr txBox="1"/>
          <p:nvPr/>
        </p:nvSpPr>
        <p:spPr>
          <a:xfrm>
            <a:off x="609904" y="4709160"/>
            <a:ext cx="5349240" cy="1280160"/>
          </a:xfrm>
          <a:prstGeom prst="rect">
            <a:avLst/>
          </a:prstGeom>
          <a:noFill/>
        </p:spPr>
        <p:txBody>
          <a:bodyPr wrap="square" anchor="t" lIns="0" rIns="0" tIns="0" bIns="0">
            <a:spAutoFit/>
          </a:bodyPr>
          <a:lstStyle/>
          <a:p>
            <a:pPr algn="l">
              <a:lnSpc>
                <a:spcPct val="110000"/>
              </a:lnSpc>
              <a:spcAft>
                <a:spcPts val="600"/>
              </a:spcAft>
            </a:pPr>
            <a:r>
              <a:rPr sz="1350" b="0" i="0">
                <a:solidFill>
                  <a:srgbClr val="1A1A1A"/>
                </a:solidFill>
                <a:latin typeface="Arial"/>
              </a:rPr>
              <a:t>Switch a clone between them by changing the URL: </a:t>
            </a:r>
            <a:r>
              <a:rPr sz="1300" b="0" i="0">
                <a:solidFill>
                  <a:srgbClr val="330066"/>
                </a:solidFill>
                <a:latin typeface="Courier New"/>
              </a:rPr>
              <a:t>git remote set-url origin git@github.com:user/repo.git</a:t>
            </a:r>
            <a:r>
              <a:rPr sz="1350" b="0" i="0">
                <a:solidFill>
                  <a:srgbClr val="1A1A1A"/>
                </a:solidFill>
                <a:latin typeface="Arial"/>
              </a:rPr>
              <a:t>.</a:t>
            </a:r>
          </a:p>
        </p:txBody>
      </p:sp>
      <p:sp>
        <p:nvSpPr>
          <p:cNvPr id="11" name="TextBox 10"/>
          <p:cNvSpPr txBox="1"/>
          <p:nvPr/>
        </p:nvSpPr>
        <p:spPr>
          <a:xfrm>
            <a:off x="609904" y="6382512"/>
            <a:ext cx="8686800" cy="274320"/>
          </a:xfrm>
          <a:prstGeom prst="rect">
            <a:avLst/>
          </a:prstGeom>
          <a:noFill/>
        </p:spPr>
        <p:txBody>
          <a:bodyPr wrap="square" anchor="t" lIns="0" rIns="0" tIns="0" bIns="0">
            <a:spAutoFit/>
          </a:bodyPr>
          <a:lstStyle/>
          <a:p>
            <a:pPr algn="l">
              <a:lnSpc>
                <a:spcPct val="110000"/>
              </a:lnSpc>
              <a:spcAft>
                <a:spcPts val="600"/>
              </a:spcAft>
            </a:pPr>
            <a:r>
              <a:rPr sz="900" b="0" i="0">
                <a:solidFill>
                  <a:srgbClr val="5A5A5A"/>
                </a:solidFill>
                <a:latin typeface="Arial"/>
              </a:rPr>
              <a:t>Collaborative Git Workflow  ·  Week 2 · Monday   |   32 / 55</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330066"/>
                </a:solidFill>
              </a:rPr>
              <a:t>Security and Identity</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8 - 9</a:t>
            </a:r>
          </a:p>
        </p:txBody>
      </p:sp>
      <p:sp>
        <p:nvSpPr>
          <p:cNvPr id="4" name="Rounded Rectangle 3"/>
          <p:cNvSpPr/>
          <p:nvPr/>
        </p:nvSpPr>
        <p:spPr>
          <a:xfrm>
            <a:off x="609904" y="1783080"/>
            <a:ext cx="10971885" cy="1280160"/>
          </a:xfrm>
          <a:prstGeom prst="roundRect">
            <a:avLst>
              <a:gd name="adj" fmla="val 6428"/>
            </a:avLst>
          </a:prstGeom>
          <a:solidFill>
            <a:srgbClr val="FBEDEB"/>
          </a:solidFill>
          <a:ln w="12700">
            <a:solidFill>
              <a:srgbClr val="FBE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38504" y="1920240"/>
            <a:ext cx="10514685" cy="1005839"/>
          </a:xfrm>
          <a:prstGeom prst="rect">
            <a:avLst/>
          </a:prstGeom>
          <a:noFill/>
        </p:spPr>
        <p:txBody>
          <a:bodyPr wrap="square" anchor="t" lIns="0" rIns="0" tIns="0" bIns="0">
            <a:spAutoFit/>
          </a:bodyPr>
          <a:lstStyle/>
          <a:p>
            <a:pPr algn="l">
              <a:lnSpc>
                <a:spcPct val="110000"/>
              </a:lnSpc>
              <a:spcAft>
                <a:spcPts val="300"/>
              </a:spcAft>
            </a:pPr>
            <a:r>
              <a:rPr sz="1100" b="1" i="0">
                <a:solidFill>
                  <a:srgbClr val="5C8A8A"/>
                </a:solidFill>
                <a:latin typeface="Arial"/>
              </a:rPr>
              <a:t>SECURITY REMINDERS FOR QE WORK</a:t>
            </a:r>
          </a:p>
          <a:p>
            <a:pPr algn="l">
              <a:lnSpc>
                <a:spcPct val="110000"/>
              </a:lnSpc>
              <a:spcAft>
                <a:spcPts val="600"/>
              </a:spcAft>
            </a:pPr>
            <a:r>
              <a:rPr sz="1400" b="0" i="0">
                <a:solidFill>
                  <a:srgbClr val="1A1A1A"/>
                </a:solidFill>
                <a:latin typeface="Arial"/>
              </a:rPr>
              <a:t>Never commit passwords, API keys, tokens or </a:t>
            </a:r>
            <a:r>
              <a:rPr sz="1350" b="0" i="0">
                <a:solidFill>
                  <a:srgbClr val="330066"/>
                </a:solidFill>
                <a:latin typeface="Courier New"/>
              </a:rPr>
              <a:t>.env</a:t>
            </a:r>
            <a:r>
              <a:rPr sz="1400" b="0" i="0">
                <a:solidFill>
                  <a:srgbClr val="1A1A1A"/>
                </a:solidFill>
                <a:latin typeface="Arial"/>
              </a:rPr>
              <a:t> files: add them to </a:t>
            </a:r>
            <a:r>
              <a:rPr sz="1350" b="0" i="0">
                <a:solidFill>
                  <a:srgbClr val="330066"/>
                </a:solidFill>
                <a:latin typeface="Courier New"/>
              </a:rPr>
              <a:t>.gitignore</a:t>
            </a:r>
            <a:r>
              <a:rPr sz="1400" b="0" i="0">
                <a:solidFill>
                  <a:srgbClr val="1A1A1A"/>
                </a:solidFill>
                <a:latin typeface="Arial"/>
              </a:rPr>
              <a:t> before the first commit. If a secret is ever pushed, consider it compromised and rotate it; deleting it in a later commit does not remove it from history.</a:t>
            </a:r>
          </a:p>
        </p:txBody>
      </p:sp>
      <p:sp>
        <p:nvSpPr>
          <p:cNvPr id="6" name="TextBox 5"/>
          <p:cNvSpPr txBox="1"/>
          <p:nvPr/>
        </p:nvSpPr>
        <p:spPr>
          <a:xfrm>
            <a:off x="609904" y="3337560"/>
            <a:ext cx="10971885" cy="274320"/>
          </a:xfrm>
          <a:prstGeom prst="rect">
            <a:avLst/>
          </a:prstGeom>
          <a:noFill/>
        </p:spPr>
        <p:txBody>
          <a:bodyPr wrap="square" anchor="t" lIns="0" rIns="0" tIns="0" bIns="0">
            <a:spAutoFit/>
          </a:bodyPr>
          <a:lstStyle/>
          <a:p>
            <a:pPr algn="l">
              <a:lnSpc>
                <a:spcPct val="110000"/>
              </a:lnSpc>
              <a:spcAft>
                <a:spcPts val="600"/>
              </a:spcAft>
            </a:pPr>
            <a:r>
              <a:rPr sz="1100" b="1" i="0">
                <a:solidFill>
                  <a:srgbClr val="5C8A8A"/>
                </a:solidFill>
                <a:latin typeface="Arial"/>
              </a:rPr>
              <a:t>Identity: commits are labelled with a name and email. Set them once</a:t>
            </a:r>
          </a:p>
        </p:txBody>
      </p:sp>
      <p:sp>
        <p:nvSpPr>
          <p:cNvPr id="7" name="Rounded Rectangle 6"/>
          <p:cNvSpPr/>
          <p:nvPr/>
        </p:nvSpPr>
        <p:spPr>
          <a:xfrm>
            <a:off x="609904" y="3611880"/>
            <a:ext cx="10971885" cy="886968"/>
          </a:xfrm>
          <a:prstGeom prst="roundRect">
            <a:avLst>
              <a:gd name="adj" fmla="val 8247"/>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1072" y="3758184"/>
            <a:ext cx="10569549" cy="594359"/>
          </a:xfrm>
          <a:prstGeom prst="rect">
            <a:avLst/>
          </a:prstGeom>
          <a:noFill/>
        </p:spPr>
        <p:txBody>
          <a:bodyPr wrap="square" lIns="0" rIns="0" tIns="0" bIns="0">
            <a:spAutoFit/>
          </a:bodyPr>
          <a:lstStyle/>
          <a:p>
            <a:pPr algn="l">
              <a:lnSpc>
                <a:spcPct val="100000"/>
              </a:lnSpc>
            </a:pPr>
            <a:r>
              <a:rPr sz="1300">
                <a:solidFill>
                  <a:srgbClr val="1A1A1A"/>
                </a:solidFill>
                <a:latin typeface="Courier New"/>
              </a:rPr>
              <a:t>git config --global user.name "Your Name"</a:t>
            </a:r>
          </a:p>
          <a:p>
            <a:pPr algn="l">
              <a:lnSpc>
                <a:spcPct val="100000"/>
              </a:lnSpc>
            </a:pPr>
            <a:r>
              <a:rPr sz="1300">
                <a:solidFill>
                  <a:srgbClr val="1A1A1A"/>
                </a:solidFill>
                <a:latin typeface="Courier New"/>
              </a:rPr>
              <a:t>git config --global user.email "you@example.com"</a:t>
            </a:r>
          </a:p>
          <a:p>
            <a:pPr algn="l">
              <a:lnSpc>
                <a:spcPct val="100000"/>
              </a:lnSpc>
            </a:pPr>
            <a:r>
              <a:rPr sz="1300">
                <a:solidFill>
                  <a:srgbClr val="1A1A1A"/>
                </a:solidFill>
                <a:latin typeface="Courier New"/>
              </a:rPr>
              <a:t>git config --list --show-origin     # review your settings (and where they come from)</a:t>
            </a:r>
          </a:p>
        </p:txBody>
      </p:sp>
      <p:sp>
        <p:nvSpPr>
          <p:cNvPr id="9" name="TextBox 8"/>
          <p:cNvSpPr txBox="1"/>
          <p:nvPr/>
        </p:nvSpPr>
        <p:spPr>
          <a:xfrm>
            <a:off x="609904" y="6382512"/>
            <a:ext cx="8686800" cy="274320"/>
          </a:xfrm>
          <a:prstGeom prst="rect">
            <a:avLst/>
          </a:prstGeom>
          <a:noFill/>
        </p:spPr>
        <p:txBody>
          <a:bodyPr wrap="square" anchor="t" lIns="0" rIns="0" tIns="0" bIns="0">
            <a:spAutoFit/>
          </a:bodyPr>
          <a:lstStyle/>
          <a:p>
            <a:pPr algn="l">
              <a:lnSpc>
                <a:spcPct val="110000"/>
              </a:lnSpc>
              <a:spcAft>
                <a:spcPts val="600"/>
              </a:spcAft>
            </a:pPr>
            <a:r>
              <a:rPr sz="900" b="0" i="0">
                <a:solidFill>
                  <a:srgbClr val="5A5A5A"/>
                </a:solidFill>
                <a:latin typeface="Arial"/>
              </a:rPr>
              <a:t>Collaborative Git Workflow  ·  Week 2 · Monday   |   33 / 55</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330066"/>
                </a:solidFill>
              </a:rPr>
              <a:t>Troubleshooting (1 of 2)</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10</a:t>
            </a:r>
          </a:p>
        </p:txBody>
      </p:sp>
      <p:graphicFrame>
        <p:nvGraphicFramePr>
          <p:cNvPr id="4" name="Table 3"/>
          <p:cNvGraphicFramePr>
            <a:graphicFrameLocks noGrp="1"/>
          </p:cNvGraphicFramePr>
          <p:nvPr/>
        </p:nvGraphicFramePr>
        <p:xfrm>
          <a:off x="609904" y="1783080"/>
          <a:ext cx="10971884" cy="3179318"/>
        </p:xfrm>
        <a:graphic>
          <a:graphicData uri="http://schemas.openxmlformats.org/drawingml/2006/table">
            <a:tbl>
              <a:tblPr firstRow="0" bandRow="0"/>
              <a:tblGrid>
                <a:gridCol w="4388754"/>
                <a:gridCol w="3291565"/>
                <a:gridCol w="3291565"/>
              </a:tblGrid>
              <a:tr h="384048">
                <a:tc>
                  <a:txBody>
                    <a:bodyPr wrap="square"/>
                    <a:lstStyle/>
                    <a:p>
                      <a:r>
                        <a:rPr sz="1250" b="1">
                          <a:solidFill>
                            <a:srgbClr val="FFFFFF"/>
                          </a:solidFill>
                          <a:latin typeface="Arial"/>
                        </a:rPr>
                        <a:t>Message / Situation</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wrap="square"/>
                    <a:lstStyle/>
                    <a:p>
                      <a:r>
                        <a:rPr sz="1250" b="1">
                          <a:solidFill>
                            <a:srgbClr val="FFFFFF"/>
                          </a:solidFill>
                          <a:latin typeface="Arial"/>
                        </a:rPr>
                        <a:t>Meaning</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wrap="square"/>
                    <a:lstStyle/>
                    <a:p>
                      <a:r>
                        <a:rPr sz="1250" b="1">
                          <a:solidFill>
                            <a:srgbClr val="FFFFFF"/>
                          </a:solidFill>
                          <a:latin typeface="Arial"/>
                        </a:rPr>
                        <a:t>What to do</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r>
              <a:tr h="559054">
                <a:tc>
                  <a:txBody>
                    <a:bodyPr wrap="square"/>
                    <a:lstStyle/>
                    <a:p>
                      <a:r>
                        <a:rPr sz="1200" b="0" i="0">
                          <a:solidFill>
                            <a:srgbClr val="330066"/>
                          </a:solidFill>
                          <a:latin typeface="Courier New"/>
                        </a:rPr>
                        <a:t>! [rejected] main -&gt; main (fetch first)</a:t>
                      </a:r>
                      <a:r>
                        <a:rPr sz="1250" b="0" i="0">
                          <a:solidFill>
                            <a:srgbClr val="1A1A1A"/>
                          </a:solidFill>
                          <a:latin typeface="Arial"/>
                        </a:rPr>
                        <a:t> or </a:t>
                      </a:r>
                      <a:r>
                        <a:rPr sz="1200" b="0" i="0">
                          <a:solidFill>
                            <a:srgbClr val="330066"/>
                          </a:solidFill>
                          <a:latin typeface="Courier New"/>
                        </a:rPr>
                        <a:t>(non-fast-forward)</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wrap="square"/>
                    <a:lstStyle/>
                    <a:p>
                      <a:r>
                        <a:rPr sz="1250" b="0">
                          <a:solidFill>
                            <a:srgbClr val="1A1A1A"/>
                          </a:solidFill>
                          <a:latin typeface="Arial"/>
                        </a:rPr>
                        <a:t>Remote has commits you lack</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wrap="square"/>
                    <a:lstStyle/>
                    <a:p>
                      <a:r>
                        <a:rPr sz="1200" b="0" i="0">
                          <a:solidFill>
                            <a:srgbClr val="330066"/>
                          </a:solidFill>
                          <a:latin typeface="Courier New"/>
                        </a:rPr>
                        <a:t>git pull --rebase</a:t>
                      </a:r>
                      <a:r>
                        <a:rPr sz="1250" b="0" i="0">
                          <a:solidFill>
                            <a:srgbClr val="1A1A1A"/>
                          </a:solidFill>
                          <a:latin typeface="Arial"/>
                        </a:rPr>
                        <a:t> (or merge), then </a:t>
                      </a:r>
                      <a:r>
                        <a:rPr sz="1200" b="0" i="0">
                          <a:solidFill>
                            <a:srgbClr val="330066"/>
                          </a:solidFill>
                          <a:latin typeface="Courier New"/>
                        </a:rPr>
                        <a:t>git push</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r>
              <a:tr h="559054">
                <a:tc>
                  <a:txBody>
                    <a:bodyPr wrap="square"/>
                    <a:lstStyle/>
                    <a:p>
                      <a:r>
                        <a:rPr sz="1200" b="0" i="0">
                          <a:solidFill>
                            <a:srgbClr val="330066"/>
                          </a:solidFill>
                          <a:latin typeface="Courier New"/>
                        </a:rPr>
                        <a:t>fatal: Need to specify how to reconcile divergent branches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wrap="square"/>
                    <a:lstStyle/>
                    <a:p>
                      <a:r>
                        <a:rPr sz="1250" b="0">
                          <a:solidFill>
                            <a:srgbClr val="1A1A1A"/>
                          </a:solidFill>
                          <a:latin typeface="Arial"/>
                        </a:rPr>
                        <a:t>Diverged histories; no default strategy set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wrap="square"/>
                    <a:lstStyle/>
                    <a:p>
                      <a:r>
                        <a:rPr sz="1250" b="0" i="0">
                          <a:solidFill>
                            <a:srgbClr val="1A1A1A"/>
                          </a:solidFill>
                          <a:latin typeface="Arial"/>
                        </a:rPr>
                        <a:t>Use </a:t>
                      </a:r>
                      <a:r>
                        <a:rPr sz="1200" b="0" i="0">
                          <a:solidFill>
                            <a:srgbClr val="330066"/>
                          </a:solidFill>
                          <a:latin typeface="Courier New"/>
                        </a:rPr>
                        <a:t>--rebase</a:t>
                      </a:r>
                      <a:r>
                        <a:rPr sz="1250" b="0" i="0">
                          <a:solidFill>
                            <a:srgbClr val="1A1A1A"/>
                          </a:solidFill>
                          <a:latin typeface="Arial"/>
                        </a:rPr>
                        <a:t>, </a:t>
                      </a:r>
                      <a:r>
                        <a:rPr sz="1200" b="0" i="0">
                          <a:solidFill>
                            <a:srgbClr val="330066"/>
                          </a:solidFill>
                          <a:latin typeface="Courier New"/>
                        </a:rPr>
                        <a:t>--no-rebase</a:t>
                      </a:r>
                      <a:r>
                        <a:rPr sz="1250" b="0" i="0">
                          <a:solidFill>
                            <a:srgbClr val="1A1A1A"/>
                          </a:solidFill>
                          <a:latin typeface="Arial"/>
                        </a:rPr>
                        <a:t> or </a:t>
                      </a:r>
                      <a:r>
                        <a:rPr sz="1200" b="0" i="0">
                          <a:solidFill>
                            <a:srgbClr val="330066"/>
                          </a:solidFill>
                          <a:latin typeface="Courier New"/>
                        </a:rPr>
                        <a:t>--ff-only</a:t>
                      </a:r>
                      <a:r>
                        <a:rPr sz="1250" b="0" i="0">
                          <a:solidFill>
                            <a:srgbClr val="1A1A1A"/>
                          </a:solidFill>
                          <a:latin typeface="Arial"/>
                        </a:rPr>
                        <a:t>; set </a:t>
                      </a:r>
                      <a:r>
                        <a:rPr sz="1200" b="0" i="0">
                          <a:solidFill>
                            <a:srgbClr val="330066"/>
                          </a:solidFill>
                          <a:latin typeface="Courier New"/>
                        </a:rPr>
                        <a:t>pull.rebase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r>
              <a:tr h="559054">
                <a:tc>
                  <a:txBody>
                    <a:bodyPr wrap="square"/>
                    <a:lstStyle/>
                    <a:p>
                      <a:r>
                        <a:rPr sz="1200" b="0" i="0">
                          <a:solidFill>
                            <a:srgbClr val="330066"/>
                          </a:solidFill>
                          <a:latin typeface="Courier New"/>
                        </a:rPr>
                        <a:t>fatal: Not possible to fast-forward, aborting.</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wrap="square"/>
                    <a:lstStyle/>
                    <a:p>
                      <a:r>
                        <a:rPr sz="1200" b="0" i="0">
                          <a:solidFill>
                            <a:srgbClr val="330066"/>
                          </a:solidFill>
                          <a:latin typeface="Courier New"/>
                        </a:rPr>
                        <a:t>--ff-only</a:t>
                      </a:r>
                      <a:r>
                        <a:rPr sz="1250" b="0" i="0">
                          <a:solidFill>
                            <a:srgbClr val="1A1A1A"/>
                          </a:solidFill>
                          <a:latin typeface="Arial"/>
                        </a:rPr>
                        <a:t> and history diverged</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wrap="square"/>
                    <a:lstStyle/>
                    <a:p>
                      <a:r>
                        <a:rPr sz="1250" b="0">
                          <a:solidFill>
                            <a:srgbClr val="1A1A1A"/>
                          </a:solidFill>
                          <a:latin typeface="Arial"/>
                        </a:rPr>
                        <a:t>Choose merge or rebase deliberately</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r>
              <a:tr h="559054">
                <a:tc>
                  <a:txBody>
                    <a:bodyPr wrap="square"/>
                    <a:lstStyle/>
                    <a:p>
                      <a:r>
                        <a:rPr sz="1200" b="0" i="0">
                          <a:solidFill>
                            <a:srgbClr val="330066"/>
                          </a:solidFill>
                          <a:latin typeface="Courier New"/>
                        </a:rPr>
                        <a:t>fatal: The current branch X has no upstream branch</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wrap="square"/>
                    <a:lstStyle/>
                    <a:p>
                      <a:r>
                        <a:rPr sz="1250" b="0">
                          <a:solidFill>
                            <a:srgbClr val="1A1A1A"/>
                          </a:solidFill>
                          <a:latin typeface="Arial"/>
                        </a:rPr>
                        <a:t>First push of a new branch</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wrap="square"/>
                    <a:lstStyle/>
                    <a:p>
                      <a:r>
                        <a:rPr sz="1200" b="0" i="0">
                          <a:solidFill>
                            <a:srgbClr val="330066"/>
                          </a:solidFill>
                          <a:latin typeface="Courier New"/>
                        </a:rPr>
                        <a:t>git push -u origin X</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r>
              <a:tr h="559054">
                <a:tc>
                  <a:txBody>
                    <a:bodyPr wrap="square"/>
                    <a:lstStyle/>
                    <a:p>
                      <a:r>
                        <a:rPr sz="1200" b="0" i="0">
                          <a:solidFill>
                            <a:srgbClr val="330066"/>
                          </a:solidFill>
                          <a:latin typeface="Courier New"/>
                        </a:rPr>
                        <a:t>Everything up-to-date</a:t>
                      </a:r>
                      <a:r>
                        <a:rPr sz="1250" b="0" i="0">
                          <a:solidFill>
                            <a:srgbClr val="1A1A1A"/>
                          </a:solidFill>
                          <a:latin typeface="Arial"/>
                        </a:rPr>
                        <a:t> but you expected changes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wrap="square"/>
                    <a:lstStyle/>
                    <a:p>
                      <a:r>
                        <a:rPr sz="1250" b="0">
                          <a:solidFill>
                            <a:srgbClr val="1A1A1A"/>
                          </a:solidFill>
                          <a:latin typeface="Arial"/>
                        </a:rPr>
                        <a:t>You did not commit, or you are on a different branch</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wrap="square"/>
                    <a:lstStyle/>
                    <a:p>
                      <a:r>
                        <a:rPr sz="1200" b="0" i="0">
                          <a:solidFill>
                            <a:srgbClr val="330066"/>
                          </a:solidFill>
                          <a:latin typeface="Courier New"/>
                        </a:rPr>
                        <a:t>git status</a:t>
                      </a:r>
                      <a:r>
                        <a:rPr sz="1250" b="0" i="0">
                          <a:solidFill>
                            <a:srgbClr val="1A1A1A"/>
                          </a:solidFill>
                          <a:latin typeface="Arial"/>
                        </a:rPr>
                        <a:t>, </a:t>
                      </a:r>
                      <a:r>
                        <a:rPr sz="1200" b="0" i="0">
                          <a:solidFill>
                            <a:srgbClr val="330066"/>
                          </a:solidFill>
                          <a:latin typeface="Courier New"/>
                        </a:rPr>
                        <a:t>git log</a:t>
                      </a:r>
                      <a:r>
                        <a:rPr sz="1250" b="0" i="0">
                          <a:solidFill>
                            <a:srgbClr val="1A1A1A"/>
                          </a:solidFill>
                          <a:latin typeface="Arial"/>
                        </a:rPr>
                        <a:t>, </a:t>
                      </a:r>
                      <a:r>
                        <a:rPr sz="1200" b="0" i="0">
                          <a:solidFill>
                            <a:srgbClr val="330066"/>
                          </a:solidFill>
                          <a:latin typeface="Courier New"/>
                        </a:rPr>
                        <a:t>git branch</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r>
            </a:tbl>
          </a:graphicData>
        </a:graphic>
      </p:graphicFrame>
      <p:sp>
        <p:nvSpPr>
          <p:cNvPr id="5" name="TextBox 4"/>
          <p:cNvSpPr txBox="1"/>
          <p:nvPr/>
        </p:nvSpPr>
        <p:spPr>
          <a:xfrm>
            <a:off x="609904" y="6382512"/>
            <a:ext cx="8686800" cy="274320"/>
          </a:xfrm>
          <a:prstGeom prst="rect">
            <a:avLst/>
          </a:prstGeom>
          <a:noFill/>
        </p:spPr>
        <p:txBody>
          <a:bodyPr wrap="square" anchor="t" lIns="0" rIns="0" tIns="0" bIns="0">
            <a:spAutoFit/>
          </a:bodyPr>
          <a:lstStyle/>
          <a:p>
            <a:pPr algn="l">
              <a:lnSpc>
                <a:spcPct val="110000"/>
              </a:lnSpc>
              <a:spcAft>
                <a:spcPts val="600"/>
              </a:spcAft>
            </a:pPr>
            <a:r>
              <a:rPr sz="900" b="0" i="0">
                <a:solidFill>
                  <a:srgbClr val="5A5A5A"/>
                </a:solidFill>
                <a:latin typeface="Arial"/>
              </a:rPr>
              <a:t>Collaborative Git Workflow  ·  Week 2 · Monday   |   34 / 55</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330066"/>
                </a:solidFill>
              </a:rPr>
              <a:t>Troubleshooting (2 of 2)</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10</a:t>
            </a:r>
          </a:p>
        </p:txBody>
      </p:sp>
      <p:graphicFrame>
        <p:nvGraphicFramePr>
          <p:cNvPr id="4" name="Table 3"/>
          <p:cNvGraphicFramePr>
            <a:graphicFrameLocks noGrp="1"/>
          </p:cNvGraphicFramePr>
          <p:nvPr/>
        </p:nvGraphicFramePr>
        <p:xfrm>
          <a:off x="609904" y="1783080"/>
          <a:ext cx="10971884" cy="4035548"/>
        </p:xfrm>
        <a:graphic>
          <a:graphicData uri="http://schemas.openxmlformats.org/drawingml/2006/table">
            <a:tbl>
              <a:tblPr firstRow="0" bandRow="0"/>
              <a:tblGrid>
                <a:gridCol w="4169316"/>
                <a:gridCol w="3511003"/>
                <a:gridCol w="3291565"/>
              </a:tblGrid>
              <a:tr h="384048">
                <a:tc>
                  <a:txBody>
                    <a:bodyPr wrap="square"/>
                    <a:lstStyle/>
                    <a:p>
                      <a:r>
                        <a:rPr sz="1200" b="1">
                          <a:solidFill>
                            <a:srgbClr val="FFFFFF"/>
                          </a:solidFill>
                          <a:latin typeface="Arial"/>
                        </a:rPr>
                        <a:t>Message / Situation</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wrap="square"/>
                    <a:lstStyle/>
                    <a:p>
                      <a:r>
                        <a:rPr sz="1200" b="1">
                          <a:solidFill>
                            <a:srgbClr val="FFFFFF"/>
                          </a:solidFill>
                          <a:latin typeface="Arial"/>
                        </a:rPr>
                        <a:t>Meaning</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wrap="square"/>
                    <a:lstStyle/>
                    <a:p>
                      <a:r>
                        <a:rPr sz="1200" b="1">
                          <a:solidFill>
                            <a:srgbClr val="FFFFFF"/>
                          </a:solidFill>
                          <a:latin typeface="Arial"/>
                        </a:rPr>
                        <a:t>What to do</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r>
              <a:tr h="542543">
                <a:tc>
                  <a:txBody>
                    <a:bodyPr wrap="square"/>
                    <a:lstStyle/>
                    <a:p>
                      <a:r>
                        <a:rPr sz="1150" b="0" i="0">
                          <a:solidFill>
                            <a:srgbClr val="330066"/>
                          </a:solidFill>
                          <a:latin typeface="Courier New"/>
                        </a:rPr>
                        <a:t>fatal: Authentication failed</a:t>
                      </a:r>
                      <a:r>
                        <a:rPr sz="1200" b="0" i="0">
                          <a:solidFill>
                            <a:srgbClr val="1A1A1A"/>
                          </a:solidFill>
                          <a:latin typeface="Arial"/>
                        </a:rPr>
                        <a:t> / </a:t>
                      </a:r>
                      <a:r>
                        <a:rPr sz="1150" b="0" i="0">
                          <a:solidFill>
                            <a:srgbClr val="330066"/>
                          </a:solidFill>
                          <a:latin typeface="Courier New"/>
                        </a:rPr>
                        <a:t>Permission denied (publickey)</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wrap="square"/>
                    <a:lstStyle/>
                    <a:p>
                      <a:r>
                        <a:rPr sz="1200" b="0">
                          <a:solidFill>
                            <a:srgbClr val="1A1A1A"/>
                          </a:solidFill>
                          <a:latin typeface="Arial"/>
                        </a:rPr>
                        <a:t>Wrong or expired token; key not uploaded</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wrap="square"/>
                    <a:lstStyle/>
                    <a:p>
                      <a:r>
                        <a:rPr sz="1200" b="0">
                          <a:solidFill>
                            <a:srgbClr val="1A1A1A"/>
                          </a:solidFill>
                          <a:latin typeface="Arial"/>
                        </a:rPr>
                        <a:t>Create a new token; check SSH key setup</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r>
              <a:tr h="542543">
                <a:tc>
                  <a:txBody>
                    <a:bodyPr wrap="square"/>
                    <a:lstStyle/>
                    <a:p>
                      <a:r>
                        <a:rPr sz="1150" b="0" i="0">
                          <a:solidFill>
                            <a:srgbClr val="330066"/>
                          </a:solidFill>
                          <a:latin typeface="Courier New"/>
                        </a:rPr>
                        <a:t>error: Your local changes would be overwritten by merge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wrap="square"/>
                    <a:lstStyle/>
                    <a:p>
                      <a:r>
                        <a:rPr sz="1200" b="0">
                          <a:solidFill>
                            <a:srgbClr val="1A1A1A"/>
                          </a:solidFill>
                          <a:latin typeface="Arial"/>
                        </a:rPr>
                        <a:t>Uncommitted edits conflict with incoming changes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wrap="square"/>
                    <a:lstStyle/>
                    <a:p>
                      <a:r>
                        <a:rPr sz="1200" b="0">
                          <a:solidFill>
                            <a:srgbClr val="1A1A1A"/>
                          </a:solidFill>
                          <a:latin typeface="Arial"/>
                        </a:rPr>
                        <a:t>Commit or stash first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r>
              <a:tr h="740664">
                <a:tc>
                  <a:txBody>
                    <a:bodyPr wrap="square"/>
                    <a:lstStyle/>
                    <a:p>
                      <a:r>
                        <a:rPr sz="1150" b="0" i="0">
                          <a:solidFill>
                            <a:srgbClr val="330066"/>
                          </a:solidFill>
                          <a:latin typeface="Courier New"/>
                        </a:rPr>
                        <a:t>CONFLICT (content): Merge conflict in ...</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wrap="square"/>
                    <a:lstStyle/>
                    <a:p>
                      <a:r>
                        <a:rPr sz="1200" b="0">
                          <a:solidFill>
                            <a:srgbClr val="1A1A1A"/>
                          </a:solidFill>
                          <a:latin typeface="Arial"/>
                        </a:rPr>
                        <a:t>Overlapping edits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wrap="square"/>
                    <a:lstStyle/>
                    <a:p>
                      <a:r>
                        <a:rPr sz="1200" b="0" i="0">
                          <a:solidFill>
                            <a:srgbClr val="1A1A1A"/>
                          </a:solidFill>
                          <a:latin typeface="Arial"/>
                        </a:rPr>
                        <a:t>Wednesday's lesson; for now </a:t>
                      </a:r>
                      <a:r>
                        <a:rPr sz="1150" b="0" i="0">
                          <a:solidFill>
                            <a:srgbClr val="330066"/>
                          </a:solidFill>
                          <a:latin typeface="Courier New"/>
                        </a:rPr>
                        <a:t>git merge --abort</a:t>
                      </a:r>
                      <a:r>
                        <a:rPr sz="1200" b="0" i="0">
                          <a:solidFill>
                            <a:srgbClr val="1A1A1A"/>
                          </a:solidFill>
                          <a:latin typeface="Arial"/>
                        </a:rPr>
                        <a:t> / </a:t>
                      </a:r>
                      <a:r>
                        <a:rPr sz="1150" b="0" i="0">
                          <a:solidFill>
                            <a:srgbClr val="330066"/>
                          </a:solidFill>
                          <a:latin typeface="Courier New"/>
                        </a:rPr>
                        <a:t>git rebase --abort</a:t>
                      </a:r>
                      <a:r>
                        <a:rPr sz="1200" b="0" i="0">
                          <a:solidFill>
                            <a:srgbClr val="1A1A1A"/>
                          </a:solidFill>
                          <a:latin typeface="Arial"/>
                        </a:rPr>
                        <a:t> to back out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r>
              <a:tr h="740664">
                <a:tc>
                  <a:txBody>
                    <a:bodyPr wrap="square"/>
                    <a:lstStyle/>
                    <a:p>
                      <a:r>
                        <a:rPr sz="1150" b="0" i="0">
                          <a:solidFill>
                            <a:srgbClr val="330066"/>
                          </a:solidFill>
                          <a:latin typeface="Courier New"/>
                        </a:rPr>
                        <a:t>fatal: refusing to merge unrelated histories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wrap="square"/>
                    <a:lstStyle/>
                    <a:p>
                      <a:r>
                        <a:rPr sz="1200" b="0">
                          <a:solidFill>
                            <a:srgbClr val="1A1A1A"/>
                          </a:solidFill>
                          <a:latin typeface="Arial"/>
                        </a:rPr>
                        <a:t>Two repositories with no common ancestor (for example, an initial commit created on both GitHub and locally)</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wrap="square"/>
                    <a:lstStyle/>
                    <a:p>
                      <a:r>
                        <a:rPr sz="1200" b="0" i="0">
                          <a:solidFill>
                            <a:srgbClr val="1A1A1A"/>
                          </a:solidFill>
                          <a:latin typeface="Arial"/>
                        </a:rPr>
                        <a:t>Usually clone the remote instead; ask for help before using </a:t>
                      </a:r>
                      <a:r>
                        <a:rPr sz="1150" b="0" i="0">
                          <a:solidFill>
                            <a:srgbClr val="330066"/>
                          </a:solidFill>
                          <a:latin typeface="Courier New"/>
                        </a:rPr>
                        <a:t>--allow-unrelated-histories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r>
              <a:tr h="542543">
                <a:tc>
                  <a:txBody>
                    <a:bodyPr wrap="square"/>
                    <a:lstStyle/>
                    <a:p>
                      <a:r>
                        <a:rPr sz="1150" b="0" i="0">
                          <a:solidFill>
                            <a:srgbClr val="330066"/>
                          </a:solidFill>
                          <a:latin typeface="Courier New"/>
                        </a:rPr>
                        <a:t>remote: Permission to ... denied</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wrap="square"/>
                    <a:lstStyle/>
                    <a:p>
                      <a:r>
                        <a:rPr sz="1200" b="0">
                          <a:solidFill>
                            <a:srgbClr val="1A1A1A"/>
                          </a:solidFill>
                          <a:latin typeface="Arial"/>
                        </a:rPr>
                        <a:t>You lack write access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wrap="square"/>
                    <a:lstStyle/>
                    <a:p>
                      <a:r>
                        <a:rPr sz="1200" b="0">
                          <a:solidFill>
                            <a:srgbClr val="1A1A1A"/>
                          </a:solidFill>
                          <a:latin typeface="Arial"/>
                        </a:rPr>
                        <a:t>Ask the owner for access, or work on a fork and open a pull request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r>
              <a:tr h="542543">
                <a:tc>
                  <a:txBody>
                    <a:bodyPr wrap="square"/>
                    <a:lstStyle/>
                    <a:p>
                      <a:r>
                        <a:rPr sz="1150" b="0" i="0">
                          <a:solidFill>
                            <a:srgbClr val="330066"/>
                          </a:solidFill>
                          <a:latin typeface="Courier New"/>
                        </a:rPr>
                        <a:t>error: src refspec main does not match any</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wrap="square"/>
                    <a:lstStyle/>
                    <a:p>
                      <a:r>
                        <a:rPr sz="1200" b="0" i="0">
                          <a:solidFill>
                            <a:srgbClr val="1A1A1A"/>
                          </a:solidFill>
                          <a:latin typeface="Arial"/>
                        </a:rPr>
                        <a:t>Branch </a:t>
                      </a:r>
                      <a:r>
                        <a:rPr sz="1150" b="0" i="0">
                          <a:solidFill>
                            <a:srgbClr val="330066"/>
                          </a:solidFill>
                          <a:latin typeface="Courier New"/>
                        </a:rPr>
                        <a:t>main</a:t>
                      </a:r>
                      <a:r>
                        <a:rPr sz="1200" b="0" i="0">
                          <a:solidFill>
                            <a:srgbClr val="1A1A1A"/>
                          </a:solidFill>
                          <a:latin typeface="Arial"/>
                        </a:rPr>
                        <a:t> doesn't exist locally (maybe it is </a:t>
                      </a:r>
                      <a:r>
                        <a:rPr sz="1150" b="0" i="0">
                          <a:solidFill>
                            <a:srgbClr val="330066"/>
                          </a:solidFill>
                          <a:latin typeface="Courier New"/>
                        </a:rPr>
                        <a:t>master</a:t>
                      </a:r>
                      <a:r>
                        <a:rPr sz="1200" b="0" i="0">
                          <a:solidFill>
                            <a:srgbClr val="1A1A1A"/>
                          </a:solidFill>
                          <a:latin typeface="Arial"/>
                        </a:rPr>
                        <a:t>), or no commits yet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wrap="square"/>
                    <a:lstStyle/>
                    <a:p>
                      <a:r>
                        <a:rPr sz="1150" b="0" i="0">
                          <a:solidFill>
                            <a:srgbClr val="330066"/>
                          </a:solidFill>
                          <a:latin typeface="Courier New"/>
                        </a:rPr>
                        <a:t>git branch</a:t>
                      </a:r>
                      <a:r>
                        <a:rPr sz="1200" b="0" i="0">
                          <a:solidFill>
                            <a:srgbClr val="1A1A1A"/>
                          </a:solidFill>
                          <a:latin typeface="Arial"/>
                        </a:rPr>
                        <a:t>; make a commit first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r>
            </a:tbl>
          </a:graphicData>
        </a:graphic>
      </p:graphicFrame>
      <p:sp>
        <p:nvSpPr>
          <p:cNvPr id="5" name="TextBox 4"/>
          <p:cNvSpPr txBox="1"/>
          <p:nvPr/>
        </p:nvSpPr>
        <p:spPr>
          <a:xfrm>
            <a:off x="609904" y="6382512"/>
            <a:ext cx="8686800" cy="274320"/>
          </a:xfrm>
          <a:prstGeom prst="rect">
            <a:avLst/>
          </a:prstGeom>
          <a:noFill/>
        </p:spPr>
        <p:txBody>
          <a:bodyPr wrap="square" anchor="t" lIns="0" rIns="0" tIns="0" bIns="0">
            <a:spAutoFit/>
          </a:bodyPr>
          <a:lstStyle/>
          <a:p>
            <a:pPr algn="l">
              <a:lnSpc>
                <a:spcPct val="110000"/>
              </a:lnSpc>
              <a:spcAft>
                <a:spcPts val="600"/>
              </a:spcAft>
            </a:pPr>
            <a:r>
              <a:rPr sz="900" b="0" i="0">
                <a:solidFill>
                  <a:srgbClr val="5A5A5A"/>
                </a:solidFill>
                <a:latin typeface="Arial"/>
              </a:rPr>
              <a:t>Collaborative Git Workflow  ·  Week 2 · Monday   |   35 / 55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330066"/>
                </a:solidFill>
              </a:rPr>
              <a:t>Code Examples</a:t>
            </a:r>
          </a:p>
        </p:txBody>
      </p:sp>
      <p:sp>
        <p:nvSpPr>
          <p:cNvPr id="3" name="Text Placeholder 2"/>
          <p:cNvSpPr>
            <a:spLocks noGrp="1"/>
          </p:cNvSpPr>
          <p:nvPr>
            <p:ph type="body" idx="1"/>
          </p:nvPr>
        </p:nvSpPr>
        <p:spPr/>
        <p:txBody>
          <a:bodyPr/>
          <a:lstStyle/>
          <a:p>
            <a:r>
              <a:rPr sz="1800">
                <a:solidFill>
                  <a:srgbClr val="5A5A5A"/>
                </a:solidFill>
              </a:rPr>
              <a:t>Practise on one computer with a local bare repository: no accounts, no network</a:t>
            </a:r>
          </a:p>
        </p:txBody>
      </p:sp>
      <p:sp>
        <p:nvSpPr>
          <p:cNvPr id="4" name="TextBox 3"/>
          <p:cNvSpPr txBox="1"/>
          <p:nvPr/>
        </p:nvSpPr>
        <p:spPr>
          <a:xfrm>
            <a:off x="832104" y="1600200"/>
            <a:ext cx="3657600" cy="1097280"/>
          </a:xfrm>
          <a:prstGeom prst="rect">
            <a:avLst/>
          </a:prstGeom>
          <a:noFill/>
        </p:spPr>
        <p:txBody>
          <a:bodyPr wrap="square" anchor="t" lIns="0" rIns="0" tIns="0" bIns="0">
            <a:spAutoFit/>
          </a:bodyPr>
          <a:lstStyle/>
          <a:p>
            <a:pPr algn="l">
              <a:lnSpc>
                <a:spcPct val="110000"/>
              </a:lnSpc>
              <a:spcAft>
                <a:spcPts val="600"/>
              </a:spcAft>
            </a:pPr>
            <a:r>
              <a:rPr sz="6600" b="1" i="0">
                <a:solidFill>
                  <a:srgbClr val="669999"/>
                </a:solidFill>
                <a:latin typeface="Arial"/>
              </a:rPr>
              <a:t>02</a:t>
            </a:r>
          </a:p>
        </p:txBody>
      </p:sp>
      <p:sp>
        <p:nvSpPr>
          <p:cNvPr id="5" name="TextBox 4"/>
          <p:cNvSpPr txBox="1"/>
          <p:nvPr/>
        </p:nvSpPr>
        <p:spPr>
          <a:xfrm>
            <a:off x="609904" y="6382512"/>
            <a:ext cx="8686800" cy="274320"/>
          </a:xfrm>
          <a:prstGeom prst="rect">
            <a:avLst/>
          </a:prstGeom>
          <a:noFill/>
        </p:spPr>
        <p:txBody>
          <a:bodyPr wrap="square" anchor="t" lIns="0" rIns="0" tIns="0" bIns="0">
            <a:spAutoFit/>
          </a:bodyPr>
          <a:lstStyle/>
          <a:p>
            <a:pPr algn="l">
              <a:lnSpc>
                <a:spcPct val="110000"/>
              </a:lnSpc>
              <a:spcAft>
                <a:spcPts val="600"/>
              </a:spcAft>
            </a:pPr>
            <a:r>
              <a:rPr sz="900" b="0" i="0">
                <a:solidFill>
                  <a:srgbClr val="5A5A5A"/>
                </a:solidFill>
                <a:latin typeface="Arial"/>
              </a:rPr>
              <a:t>Collaborative Git Workflow  ·  Week 2 · Monday   |   36 / 55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330066"/>
                </a:solidFill>
              </a:rPr>
              <a:t>Example 1: Simulate a Team</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CODE EXAMPLES</a:t>
            </a:r>
          </a:p>
        </p:txBody>
      </p:sp>
      <p:sp>
        <p:nvSpPr>
          <p:cNvPr id="4" name="TextBox 3"/>
          <p:cNvSpPr txBox="1"/>
          <p:nvPr/>
        </p:nvSpPr>
        <p:spPr>
          <a:xfrm>
            <a:off x="609904" y="1783080"/>
            <a:ext cx="10971885" cy="457200"/>
          </a:xfrm>
          <a:prstGeom prst="rect">
            <a:avLst/>
          </a:prstGeom>
          <a:noFill/>
        </p:spPr>
        <p:txBody>
          <a:bodyPr wrap="square" anchor="t" lIns="0" rIns="0" tIns="0" bIns="0">
            <a:spAutoFit/>
          </a:bodyPr>
          <a:lstStyle/>
          <a:p>
            <a:pPr algn="l">
              <a:lnSpc>
                <a:spcPct val="110000"/>
              </a:lnSpc>
              <a:spcAft>
                <a:spcPts val="600"/>
              </a:spcAft>
            </a:pPr>
            <a:r>
              <a:rPr sz="1500" b="0" i="0">
                <a:solidFill>
                  <a:srgbClr val="1A1A1A"/>
                </a:solidFill>
                <a:latin typeface="Arial"/>
              </a:rPr>
              <a:t>A local bare repository stands in for GitHub. A "bare" repository has no working files: it is what a hosting service holds.</a:t>
            </a:r>
          </a:p>
        </p:txBody>
      </p:sp>
      <p:sp>
        <p:nvSpPr>
          <p:cNvPr id="5" name="Rounded Rectangle 4"/>
          <p:cNvSpPr/>
          <p:nvPr/>
        </p:nvSpPr>
        <p:spPr>
          <a:xfrm>
            <a:off x="609904" y="2523744"/>
            <a:ext cx="6400800" cy="2075688"/>
          </a:xfrm>
          <a:prstGeom prst="roundRect">
            <a:avLst>
              <a:gd name="adj" fmla="val 3524"/>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1072" y="2670048"/>
            <a:ext cx="5998464" cy="1783080"/>
          </a:xfrm>
          <a:prstGeom prst="rect">
            <a:avLst/>
          </a:prstGeom>
          <a:noFill/>
        </p:spPr>
        <p:txBody>
          <a:bodyPr wrap="square" lIns="0" rIns="0" tIns="0" bIns="0">
            <a:spAutoFit/>
          </a:bodyPr>
          <a:lstStyle/>
          <a:p>
            <a:pPr algn="l">
              <a:lnSpc>
                <a:spcPct val="100000"/>
              </a:lnSpc>
            </a:pPr>
            <a:r>
              <a:rPr sz="1300">
                <a:solidFill>
                  <a:srgbClr val="5C8A8A"/>
                </a:solidFill>
                <a:latin typeface="Courier New"/>
              </a:rPr>
              <a:t># Create a workspace</a:t>
            </a:r>
          </a:p>
          <a:p>
            <a:pPr algn="l">
              <a:lnSpc>
                <a:spcPct val="100000"/>
              </a:lnSpc>
            </a:pPr>
            <a:r>
              <a:rPr sz="1300">
                <a:solidFill>
                  <a:srgbClr val="1A1A1A"/>
                </a:solidFill>
                <a:latin typeface="Courier New"/>
              </a:rPr>
              <a:t>mkdir git-collab-lab &amp;&amp; cd git-collab-lab</a:t>
            </a:r>
          </a:p>
          <a:p>
            <a:pPr algn="l">
              <a:lnSpc>
                <a:spcPct val="100000"/>
              </a:lnSpc>
            </a:pPr>
            <a:r>
              <a:rPr sz="1300">
                <a:solidFill>
                  <a:srgbClr val="1A1A1A"/>
                </a:solidFill>
                <a:latin typeface="Courier New"/>
              </a:rPr>
              <a:t> </a:t>
            </a:r>
          </a:p>
          <a:p>
            <a:pPr algn="l">
              <a:lnSpc>
                <a:spcPct val="100000"/>
              </a:lnSpc>
            </a:pPr>
            <a:r>
              <a:rPr sz="1300">
                <a:solidFill>
                  <a:srgbClr val="5C8A8A"/>
                </a:solidFill>
                <a:latin typeface="Courier New"/>
              </a:rPr>
              <a:t># The "remote" (like GitHub): a bare repository</a:t>
            </a:r>
          </a:p>
          <a:p>
            <a:pPr algn="l">
              <a:lnSpc>
                <a:spcPct val="100000"/>
              </a:lnSpc>
            </a:pPr>
            <a:r>
              <a:rPr sz="1300">
                <a:solidFill>
                  <a:srgbClr val="1A1A1A"/>
                </a:solidFill>
                <a:latin typeface="Courier New"/>
              </a:rPr>
              <a:t>git init --bare -b main remote.git</a:t>
            </a:r>
          </a:p>
          <a:p>
            <a:pPr algn="l">
              <a:lnSpc>
                <a:spcPct val="100000"/>
              </a:lnSpc>
            </a:pPr>
            <a:r>
              <a:rPr sz="1300">
                <a:solidFill>
                  <a:srgbClr val="1A1A1A"/>
                </a:solidFill>
                <a:latin typeface="Courier New"/>
              </a:rPr>
              <a:t> </a:t>
            </a:r>
          </a:p>
          <a:p>
            <a:pPr algn="l">
              <a:lnSpc>
                <a:spcPct val="100000"/>
              </a:lnSpc>
            </a:pPr>
            <a:r>
              <a:rPr sz="1300">
                <a:solidFill>
                  <a:srgbClr val="5C8A8A"/>
                </a:solidFill>
                <a:latin typeface="Courier New"/>
              </a:rPr>
              <a:t># Two team members, each with a clone</a:t>
            </a:r>
          </a:p>
          <a:p>
            <a:pPr algn="l">
              <a:lnSpc>
                <a:spcPct val="100000"/>
              </a:lnSpc>
            </a:pPr>
            <a:r>
              <a:rPr sz="1300">
                <a:solidFill>
                  <a:srgbClr val="1A1A1A"/>
                </a:solidFill>
                <a:latin typeface="Courier New"/>
              </a:rPr>
              <a:t>git clone remote.git alice</a:t>
            </a:r>
          </a:p>
          <a:p>
            <a:pPr algn="l">
              <a:lnSpc>
                <a:spcPct val="100000"/>
              </a:lnSpc>
            </a:pPr>
            <a:r>
              <a:rPr sz="1300">
                <a:solidFill>
                  <a:srgbClr val="1A1A1A"/>
                </a:solidFill>
                <a:latin typeface="Courier New"/>
              </a:rPr>
              <a:t>git clone remote.git bob</a:t>
            </a:r>
          </a:p>
        </p:txBody>
      </p:sp>
      <p:sp>
        <p:nvSpPr>
          <p:cNvPr id="7" name="TextBox 6"/>
          <p:cNvSpPr txBox="1"/>
          <p:nvPr/>
        </p:nvSpPr>
        <p:spPr>
          <a:xfrm>
            <a:off x="7376464" y="2523744"/>
            <a:ext cx="4205325" cy="3621024"/>
          </a:xfrm>
          <a:prstGeom prst="rect">
            <a:avLst/>
          </a:prstGeom>
          <a:noFill/>
        </p:spPr>
        <p:txBody>
          <a:bodyPr wrap="square" lIns="0" rIns="0" tIns="0" bIns="0">
            <a:spAutoFit/>
          </a:bodyPr>
          <a:lstStyle/>
          <a:p>
            <a:pPr algn="l" marL="228600" indent="-228600">
              <a:spcAft>
                <a:spcPts val="800"/>
              </a:spcAft>
              <a:buFont typeface="Arial"/>
              <a:buChar char="•"/>
            </a:pPr>
            <a:r>
              <a:rPr sz="1400" b="0" i="0">
                <a:solidFill>
                  <a:srgbClr val="1A1A1A"/>
                </a:solidFill>
                <a:latin typeface="Arial"/>
              </a:rPr>
              <a:t>Git warns "You appear to have cloned an empty repository". That is expected.</a:t>
            </a:r>
          </a:p>
        </p:txBody>
      </p:sp>
      <p:sp>
        <p:nvSpPr>
          <p:cNvPr id="8" name="TextBox 7"/>
          <p:cNvSpPr txBox="1"/>
          <p:nvPr/>
        </p:nvSpPr>
        <p:spPr>
          <a:xfrm>
            <a:off x="609904" y="6382512"/>
            <a:ext cx="8686800" cy="274320"/>
          </a:xfrm>
          <a:prstGeom prst="rect">
            <a:avLst/>
          </a:prstGeom>
          <a:noFill/>
        </p:spPr>
        <p:txBody>
          <a:bodyPr wrap="square" anchor="t" lIns="0" rIns="0" tIns="0" bIns="0">
            <a:spAutoFit/>
          </a:bodyPr>
          <a:lstStyle/>
          <a:p>
            <a:pPr algn="l">
              <a:lnSpc>
                <a:spcPct val="110000"/>
              </a:lnSpc>
              <a:spcAft>
                <a:spcPts val="600"/>
              </a:spcAft>
            </a:pPr>
            <a:r>
              <a:rPr sz="900" b="0" i="0">
                <a:solidFill>
                  <a:srgbClr val="5A5A5A"/>
                </a:solidFill>
                <a:latin typeface="Arial"/>
              </a:rPr>
              <a:t>Collaborative Git Workflow  ·  Week 2 · Monday   |   37 / 55</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3200">
                <a:solidFill>
                  <a:srgbClr val="330066"/>
                </a:solidFill>
              </a:rPr>
              <a:t>Example 1: Alice's First Commit and Push</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CODE EXAMPLES</a:t>
            </a:r>
          </a:p>
        </p:txBody>
      </p:sp>
      <p:sp>
        <p:nvSpPr>
          <p:cNvPr id="4" name="Rounded Rectangle 3"/>
          <p:cNvSpPr/>
          <p:nvPr/>
        </p:nvSpPr>
        <p:spPr>
          <a:xfrm>
            <a:off x="609904" y="1783080"/>
            <a:ext cx="6400800" cy="1969008"/>
          </a:xfrm>
          <a:prstGeom prst="roundRect">
            <a:avLst>
              <a:gd name="adj" fmla="val 3715"/>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1072" y="1929384"/>
            <a:ext cx="5998464" cy="1676400"/>
          </a:xfrm>
          <a:prstGeom prst="rect">
            <a:avLst/>
          </a:prstGeom>
          <a:noFill/>
        </p:spPr>
        <p:txBody>
          <a:bodyPr wrap="square" lIns="0" rIns="0" tIns="0" bIns="0">
            <a:spAutoFit/>
          </a:bodyPr>
          <a:lstStyle/>
          <a:p>
            <a:pPr algn="l">
              <a:lnSpc>
                <a:spcPct val="100000"/>
              </a:lnSpc>
            </a:pPr>
            <a:r>
              <a:rPr sz="1000">
                <a:solidFill>
                  <a:srgbClr val="1A1A1A"/>
                </a:solidFill>
                <a:latin typeface="Courier New"/>
              </a:rPr>
              <a:t>cd alice</a:t>
            </a:r>
          </a:p>
          <a:p>
            <a:pPr algn="l">
              <a:lnSpc>
                <a:spcPct val="100000"/>
              </a:lnSpc>
            </a:pPr>
            <a:r>
              <a:rPr sz="1000">
                <a:solidFill>
                  <a:srgbClr val="1A1A1A"/>
                </a:solidFill>
                <a:latin typeface="Courier New"/>
              </a:rPr>
              <a:t>git config user.name "Alice"</a:t>
            </a:r>
          </a:p>
          <a:p>
            <a:pPr algn="l">
              <a:lnSpc>
                <a:spcPct val="100000"/>
              </a:lnSpc>
            </a:pPr>
            <a:r>
              <a:rPr sz="1000">
                <a:solidFill>
                  <a:srgbClr val="1A1A1A"/>
                </a:solidFill>
                <a:latin typeface="Courier New"/>
              </a:rPr>
              <a:t>git config user.email "alice@example.com"</a:t>
            </a:r>
          </a:p>
          <a:p>
            <a:pPr algn="l">
              <a:lnSpc>
                <a:spcPct val="100000"/>
              </a:lnSpc>
            </a:pPr>
            <a:r>
              <a:rPr sz="1000">
                <a:solidFill>
                  <a:srgbClr val="1A1A1A"/>
                </a:solidFill>
                <a:latin typeface="Courier New"/>
              </a:rPr>
              <a:t>git switch -c main            # the empty clone may have no branch yet; this creates 'main'</a:t>
            </a:r>
          </a:p>
          <a:p>
            <a:pPr algn="l">
              <a:lnSpc>
                <a:spcPct val="100000"/>
              </a:lnSpc>
            </a:pPr>
            <a:r>
              <a:rPr sz="1000">
                <a:solidFill>
                  <a:srgbClr val="1A1A1A"/>
                </a:solidFill>
                <a:latin typeface="Courier New"/>
              </a:rPr>
              <a:t>echo "# QE Foundations" &gt; README.md</a:t>
            </a:r>
          </a:p>
          <a:p>
            <a:pPr algn="l">
              <a:lnSpc>
                <a:spcPct val="100000"/>
              </a:lnSpc>
            </a:pPr>
            <a:r>
              <a:rPr sz="1000">
                <a:solidFill>
                  <a:srgbClr val="1A1A1A"/>
                </a:solidFill>
                <a:latin typeface="Courier New"/>
              </a:rPr>
              <a:t>git add README.md</a:t>
            </a:r>
          </a:p>
          <a:p>
            <a:pPr algn="l">
              <a:lnSpc>
                <a:spcPct val="100000"/>
              </a:lnSpc>
            </a:pPr>
            <a:r>
              <a:rPr sz="1000">
                <a:solidFill>
                  <a:srgbClr val="1A1A1A"/>
                </a:solidFill>
                <a:latin typeface="Courier New"/>
              </a:rPr>
              <a:t>git commit -m "Initial commit"</a:t>
            </a:r>
          </a:p>
          <a:p>
            <a:pPr algn="l">
              <a:lnSpc>
                <a:spcPct val="100000"/>
              </a:lnSpc>
            </a:pPr>
            <a:r>
              <a:rPr sz="1000">
                <a:solidFill>
                  <a:srgbClr val="1A1A1A"/>
                </a:solidFill>
                <a:latin typeface="Courier New"/>
              </a:rPr>
              <a:t>git push -u origin main</a:t>
            </a:r>
          </a:p>
          <a:p>
            <a:pPr algn="l">
              <a:lnSpc>
                <a:spcPct val="100000"/>
              </a:lnSpc>
            </a:pPr>
            <a:r>
              <a:rPr sz="1000">
                <a:solidFill>
                  <a:srgbClr val="1A1A1A"/>
                </a:solidFill>
                <a:latin typeface="Courier New"/>
              </a:rPr>
              <a:t>git remote -v</a:t>
            </a:r>
          </a:p>
          <a:p>
            <a:pPr algn="l">
              <a:lnSpc>
                <a:spcPct val="100000"/>
              </a:lnSpc>
            </a:pPr>
            <a:r>
              <a:rPr sz="1000">
                <a:solidFill>
                  <a:srgbClr val="1A1A1A"/>
                </a:solidFill>
                <a:latin typeface="Courier New"/>
              </a:rPr>
              <a:t>git branch -vv</a:t>
            </a:r>
          </a:p>
        </p:txBody>
      </p:sp>
      <p:sp>
        <p:nvSpPr>
          <p:cNvPr id="6" name="TextBox 5"/>
          <p:cNvSpPr txBox="1"/>
          <p:nvPr/>
        </p:nvSpPr>
        <p:spPr>
          <a:xfrm>
            <a:off x="7376464" y="1783080"/>
            <a:ext cx="4205325" cy="4361688"/>
          </a:xfrm>
          <a:prstGeom prst="rect">
            <a:avLst/>
          </a:prstGeom>
          <a:noFill/>
        </p:spPr>
        <p:txBody>
          <a:bodyPr wrap="square" lIns="0" rIns="0" tIns="0" bIns="0">
            <a:spAutoFit/>
          </a:bodyPr>
          <a:lstStyle/>
          <a:p>
            <a:pPr algn="l" marL="228600" indent="-228600">
              <a:spcAft>
                <a:spcPts val="800"/>
              </a:spcAft>
              <a:buFont typeface="Arial"/>
              <a:buChar char="•"/>
            </a:pPr>
            <a:r>
              <a:rPr sz="1350" b="0" i="0">
                <a:solidFill>
                  <a:srgbClr val="1A1A1A"/>
                </a:solidFill>
                <a:latin typeface="Arial"/>
              </a:rPr>
              <a:t>Expected from </a:t>
            </a:r>
            <a:r>
              <a:rPr sz="1300" b="0" i="0">
                <a:solidFill>
                  <a:srgbClr val="330066"/>
                </a:solidFill>
                <a:latin typeface="Courier New"/>
              </a:rPr>
              <a:t>push</a:t>
            </a:r>
            <a:r>
              <a:rPr sz="1350" b="0" i="0">
                <a:solidFill>
                  <a:srgbClr val="1A1A1A"/>
                </a:solidFill>
                <a:latin typeface="Arial"/>
              </a:rPr>
              <a:t>: </a:t>
            </a:r>
            <a:r>
              <a:rPr sz="1300" b="0" i="0">
                <a:solidFill>
                  <a:srgbClr val="330066"/>
                </a:solidFill>
                <a:latin typeface="Courier New"/>
              </a:rPr>
              <a:t>* [new branch]  main -&gt; main</a:t>
            </a:r>
            <a:r>
              <a:rPr sz="1350" b="0" i="0">
                <a:solidFill>
                  <a:srgbClr val="1A1A1A"/>
                </a:solidFill>
                <a:latin typeface="Arial"/>
              </a:rPr>
              <a:t> and </a:t>
            </a:r>
            <a:r>
              <a:rPr sz="1300" b="0" i="0">
                <a:solidFill>
                  <a:srgbClr val="330066"/>
                </a:solidFill>
                <a:latin typeface="Courier New"/>
              </a:rPr>
              <a:t>branch 'main' set up to track 'origin/main'.</a:t>
            </a:r>
          </a:p>
          <a:p>
            <a:pPr algn="l" marL="228600" indent="-228600">
              <a:spcAft>
                <a:spcPts val="800"/>
              </a:spcAft>
              <a:buFont typeface="Arial"/>
              <a:buChar char="•"/>
            </a:pPr>
            <a:r>
              <a:rPr sz="1300" b="0" i="0">
                <a:solidFill>
                  <a:srgbClr val="330066"/>
                </a:solidFill>
                <a:latin typeface="Courier New"/>
              </a:rPr>
              <a:t>branch -vv</a:t>
            </a:r>
            <a:r>
              <a:rPr sz="1350" b="0" i="0">
                <a:solidFill>
                  <a:srgbClr val="1A1A1A"/>
                </a:solidFill>
                <a:latin typeface="Arial"/>
              </a:rPr>
              <a:t> shows </a:t>
            </a:r>
            <a:r>
              <a:rPr sz="1300" b="0" i="0">
                <a:solidFill>
                  <a:srgbClr val="330066"/>
                </a:solidFill>
                <a:latin typeface="Courier New"/>
              </a:rPr>
              <a:t>[origin/main]</a:t>
            </a:r>
            <a:r>
              <a:rPr sz="1350" b="0" i="0">
                <a:solidFill>
                  <a:srgbClr val="1A1A1A"/>
                </a:solidFill>
                <a:latin typeface="Arial"/>
              </a:rPr>
              <a:t>.</a:t>
            </a:r>
          </a:p>
        </p:txBody>
      </p:sp>
      <p:sp>
        <p:nvSpPr>
          <p:cNvPr id="7" name="TextBox 6"/>
          <p:cNvSpPr txBox="1"/>
          <p:nvPr/>
        </p:nvSpPr>
        <p:spPr>
          <a:xfrm>
            <a:off x="609904" y="6382512"/>
            <a:ext cx="8686800" cy="274320"/>
          </a:xfrm>
          <a:prstGeom prst="rect">
            <a:avLst/>
          </a:prstGeom>
          <a:noFill/>
        </p:spPr>
        <p:txBody>
          <a:bodyPr wrap="square" anchor="t" lIns="0" rIns="0" tIns="0" bIns="0">
            <a:spAutoFit/>
          </a:bodyPr>
          <a:lstStyle/>
          <a:p>
            <a:pPr algn="l">
              <a:lnSpc>
                <a:spcPct val="110000"/>
              </a:lnSpc>
              <a:spcAft>
                <a:spcPts val="600"/>
              </a:spcAft>
            </a:pPr>
            <a:r>
              <a:rPr sz="900" b="0" i="0">
                <a:solidFill>
                  <a:srgbClr val="5A5A5A"/>
                </a:solidFill>
                <a:latin typeface="Arial"/>
              </a:rPr>
              <a:t>Collaborative Git Workflow  ·  Week 2 · Monday   |   38 / 55</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330066"/>
                </a:solidFill>
              </a:rPr>
              <a:t>Example 1: Bob Gets It</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CODE EXAMPLES</a:t>
            </a:r>
          </a:p>
        </p:txBody>
      </p:sp>
      <p:sp>
        <p:nvSpPr>
          <p:cNvPr id="4" name="Rounded Rectangle 3"/>
          <p:cNvSpPr/>
          <p:nvPr/>
        </p:nvSpPr>
        <p:spPr>
          <a:xfrm>
            <a:off x="609904" y="1783080"/>
            <a:ext cx="10971885" cy="1359408"/>
          </a:xfrm>
          <a:prstGeom prst="roundRect">
            <a:avLst>
              <a:gd name="adj" fmla="val 5381"/>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1072" y="1929384"/>
            <a:ext cx="10569549" cy="1066799"/>
          </a:xfrm>
          <a:prstGeom prst="rect">
            <a:avLst/>
          </a:prstGeom>
          <a:noFill/>
        </p:spPr>
        <p:txBody>
          <a:bodyPr wrap="square" lIns="0" rIns="0" tIns="0" bIns="0">
            <a:spAutoFit/>
          </a:bodyPr>
          <a:lstStyle/>
          <a:p>
            <a:pPr algn="l">
              <a:lnSpc>
                <a:spcPct val="100000"/>
              </a:lnSpc>
            </a:pPr>
            <a:r>
              <a:rPr sz="1400">
                <a:solidFill>
                  <a:srgbClr val="1A1A1A"/>
                </a:solidFill>
                <a:latin typeface="Courier New"/>
              </a:rPr>
              <a:t>cd ../bob</a:t>
            </a:r>
          </a:p>
          <a:p>
            <a:pPr algn="l">
              <a:lnSpc>
                <a:spcPct val="100000"/>
              </a:lnSpc>
            </a:pPr>
            <a:r>
              <a:rPr sz="1400">
                <a:solidFill>
                  <a:srgbClr val="1A1A1A"/>
                </a:solidFill>
                <a:latin typeface="Courier New"/>
              </a:rPr>
              <a:t>git config user.name "Bob"</a:t>
            </a:r>
          </a:p>
          <a:p>
            <a:pPr algn="l">
              <a:lnSpc>
                <a:spcPct val="100000"/>
              </a:lnSpc>
            </a:pPr>
            <a:r>
              <a:rPr sz="1400">
                <a:solidFill>
                  <a:srgbClr val="1A1A1A"/>
                </a:solidFill>
                <a:latin typeface="Courier New"/>
              </a:rPr>
              <a:t>git config user.email "bob@example.com"</a:t>
            </a:r>
          </a:p>
          <a:p>
            <a:pPr algn="l">
              <a:lnSpc>
                <a:spcPct val="100000"/>
              </a:lnSpc>
            </a:pPr>
            <a:r>
              <a:rPr sz="1400">
                <a:solidFill>
                  <a:srgbClr val="1A1A1A"/>
                </a:solidFill>
                <a:latin typeface="Courier New"/>
              </a:rPr>
              <a:t>git pull                       # first pull brings in Alice's commit</a:t>
            </a:r>
          </a:p>
          <a:p>
            <a:pPr algn="l">
              <a:lnSpc>
                <a:spcPct val="100000"/>
              </a:lnSpc>
            </a:pPr>
            <a:r>
              <a:rPr sz="1400">
                <a:solidFill>
                  <a:srgbClr val="1A1A1A"/>
                </a:solidFill>
                <a:latin typeface="Courier New"/>
              </a:rPr>
              <a:t>git log --oneline              # one commit: Initial commit</a:t>
            </a:r>
          </a:p>
        </p:txBody>
      </p:sp>
      <p:sp>
        <p:nvSpPr>
          <p:cNvPr id="6" name="TextBox 5"/>
          <p:cNvSpPr txBox="1"/>
          <p:nvPr/>
        </p:nvSpPr>
        <p:spPr>
          <a:xfrm>
            <a:off x="609904" y="6382512"/>
            <a:ext cx="8686800" cy="274320"/>
          </a:xfrm>
          <a:prstGeom prst="rect">
            <a:avLst/>
          </a:prstGeom>
          <a:noFill/>
        </p:spPr>
        <p:txBody>
          <a:bodyPr wrap="square" anchor="t" lIns="0" rIns="0" tIns="0" bIns="0">
            <a:spAutoFit/>
          </a:bodyPr>
          <a:lstStyle/>
          <a:p>
            <a:pPr algn="l">
              <a:lnSpc>
                <a:spcPct val="110000"/>
              </a:lnSpc>
              <a:spcAft>
                <a:spcPts val="600"/>
              </a:spcAft>
            </a:pPr>
            <a:r>
              <a:rPr sz="900" b="0" i="0">
                <a:solidFill>
                  <a:srgbClr val="5A5A5A"/>
                </a:solidFill>
                <a:latin typeface="Arial"/>
              </a:rPr>
              <a:t>Collaborative Git Workflow  ·  Week 2 · Monday   |   39 / 55</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3200">
                <a:solidFill>
                  <a:srgbClr val="330066"/>
                </a:solidFill>
              </a:rPr>
              <a:t>Example 2: Provoke a Rejected Push</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CODE EXAMPLES</a:t>
            </a:r>
          </a:p>
        </p:txBody>
      </p:sp>
      <p:sp>
        <p:nvSpPr>
          <p:cNvPr id="4" name="TextBox 3"/>
          <p:cNvSpPr txBox="1"/>
          <p:nvPr/>
        </p:nvSpPr>
        <p:spPr>
          <a:xfrm>
            <a:off x="609904" y="1783080"/>
            <a:ext cx="10971885" cy="457200"/>
          </a:xfrm>
          <a:prstGeom prst="rect">
            <a:avLst/>
          </a:prstGeom>
          <a:noFill/>
        </p:spPr>
        <p:txBody>
          <a:bodyPr wrap="square" anchor="t" lIns="0" rIns="0" tIns="0" bIns="0">
            <a:spAutoFit/>
          </a:bodyPr>
          <a:lstStyle/>
          <a:p>
            <a:pPr algn="l">
              <a:lnSpc>
                <a:spcPct val="110000"/>
              </a:lnSpc>
              <a:spcAft>
                <a:spcPts val="600"/>
              </a:spcAft>
            </a:pPr>
            <a:r>
              <a:rPr sz="1500" b="0" i="0">
                <a:solidFill>
                  <a:srgbClr val="1A1A1A"/>
                </a:solidFill>
                <a:latin typeface="Arial"/>
              </a:rPr>
              <a:t>Both commit different files (so no conflict) and Alice pushes first.</a:t>
            </a:r>
          </a:p>
        </p:txBody>
      </p:sp>
      <p:sp>
        <p:nvSpPr>
          <p:cNvPr id="5" name="Rounded Rectangle 4"/>
          <p:cNvSpPr/>
          <p:nvPr/>
        </p:nvSpPr>
        <p:spPr>
          <a:xfrm>
            <a:off x="609904" y="2221991"/>
            <a:ext cx="6400800" cy="2304287"/>
          </a:xfrm>
          <a:prstGeom prst="roundRect">
            <a:avLst>
              <a:gd name="adj" fmla="val 3174"/>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1072" y="2368296"/>
            <a:ext cx="5998464" cy="2011679"/>
          </a:xfrm>
          <a:prstGeom prst="rect">
            <a:avLst/>
          </a:prstGeom>
          <a:noFill/>
        </p:spPr>
        <p:txBody>
          <a:bodyPr wrap="square" lIns="0" rIns="0" tIns="0" bIns="0">
            <a:spAutoFit/>
          </a:bodyPr>
          <a:lstStyle/>
          <a:p>
            <a:pPr algn="l">
              <a:lnSpc>
                <a:spcPct val="100000"/>
              </a:lnSpc>
            </a:pPr>
            <a:r>
              <a:rPr sz="1200">
                <a:solidFill>
                  <a:srgbClr val="5C8A8A"/>
                </a:solidFill>
                <a:latin typeface="Courier New"/>
              </a:rPr>
              <a:t># Bob (still in ./bob)</a:t>
            </a:r>
          </a:p>
          <a:p>
            <a:pPr algn="l">
              <a:lnSpc>
                <a:spcPct val="100000"/>
              </a:lnSpc>
            </a:pPr>
            <a:r>
              <a:rPr sz="1200">
                <a:solidFill>
                  <a:srgbClr val="1A1A1A"/>
                </a:solidFill>
                <a:latin typeface="Courier New"/>
              </a:rPr>
              <a:t>echo "bob's notes" &gt; bob.txt</a:t>
            </a:r>
          </a:p>
          <a:p>
            <a:pPr algn="l">
              <a:lnSpc>
                <a:spcPct val="100000"/>
              </a:lnSpc>
            </a:pPr>
            <a:r>
              <a:rPr sz="1200">
                <a:solidFill>
                  <a:srgbClr val="1A1A1A"/>
                </a:solidFill>
                <a:latin typeface="Courier New"/>
              </a:rPr>
              <a:t>git add bob.txt</a:t>
            </a:r>
          </a:p>
          <a:p>
            <a:pPr algn="l">
              <a:lnSpc>
                <a:spcPct val="100000"/>
              </a:lnSpc>
            </a:pPr>
            <a:r>
              <a:rPr sz="1200">
                <a:solidFill>
                  <a:srgbClr val="1A1A1A"/>
                </a:solidFill>
                <a:latin typeface="Courier New"/>
              </a:rPr>
              <a:t>git commit -m "Bob adds notes"</a:t>
            </a:r>
          </a:p>
          <a:p>
            <a:pPr algn="l">
              <a:lnSpc>
                <a:spcPct val="100000"/>
              </a:lnSpc>
            </a:pPr>
            <a:r>
              <a:rPr sz="1200">
                <a:solidFill>
                  <a:srgbClr val="1A1A1A"/>
                </a:solidFill>
                <a:latin typeface="Courier New"/>
              </a:rPr>
              <a:t> </a:t>
            </a:r>
          </a:p>
          <a:p>
            <a:pPr algn="l">
              <a:lnSpc>
                <a:spcPct val="100000"/>
              </a:lnSpc>
            </a:pPr>
            <a:r>
              <a:rPr sz="1200">
                <a:solidFill>
                  <a:srgbClr val="5C8A8A"/>
                </a:solidFill>
                <a:latin typeface="Courier New"/>
              </a:rPr>
              <a:t># Alice</a:t>
            </a:r>
          </a:p>
          <a:p>
            <a:pPr algn="l">
              <a:lnSpc>
                <a:spcPct val="100000"/>
              </a:lnSpc>
            </a:pPr>
            <a:r>
              <a:rPr sz="1200">
                <a:solidFill>
                  <a:srgbClr val="1A1A1A"/>
                </a:solidFill>
                <a:latin typeface="Courier New"/>
              </a:rPr>
              <a:t>cd ../alice</a:t>
            </a:r>
          </a:p>
          <a:p>
            <a:pPr algn="l">
              <a:lnSpc>
                <a:spcPct val="100000"/>
              </a:lnSpc>
            </a:pPr>
            <a:r>
              <a:rPr sz="1200">
                <a:solidFill>
                  <a:srgbClr val="1A1A1A"/>
                </a:solidFill>
                <a:latin typeface="Courier New"/>
              </a:rPr>
              <a:t>echo "alice's notes" &gt; alice.txt</a:t>
            </a:r>
          </a:p>
          <a:p>
            <a:pPr algn="l">
              <a:lnSpc>
                <a:spcPct val="100000"/>
              </a:lnSpc>
            </a:pPr>
            <a:r>
              <a:rPr sz="1200">
                <a:solidFill>
                  <a:srgbClr val="1A1A1A"/>
                </a:solidFill>
                <a:latin typeface="Courier New"/>
              </a:rPr>
              <a:t>git add alice.txt</a:t>
            </a:r>
          </a:p>
          <a:p>
            <a:pPr algn="l">
              <a:lnSpc>
                <a:spcPct val="100000"/>
              </a:lnSpc>
            </a:pPr>
            <a:r>
              <a:rPr sz="1200">
                <a:solidFill>
                  <a:srgbClr val="1A1A1A"/>
                </a:solidFill>
                <a:latin typeface="Courier New"/>
              </a:rPr>
              <a:t>git commit -m "Alice adds notes"</a:t>
            </a:r>
          </a:p>
          <a:p>
            <a:pPr algn="l">
              <a:lnSpc>
                <a:spcPct val="100000"/>
              </a:lnSpc>
            </a:pPr>
            <a:r>
              <a:rPr sz="1200">
                <a:solidFill>
                  <a:srgbClr val="1A1A1A"/>
                </a:solidFill>
                <a:latin typeface="Courier New"/>
              </a:rPr>
              <a:t>git push                       # succeeds: remote moves forward</a:t>
            </a:r>
          </a:p>
        </p:txBody>
      </p:sp>
      <p:sp>
        <p:nvSpPr>
          <p:cNvPr id="7" name="TextBox 6"/>
          <p:cNvSpPr txBox="1"/>
          <p:nvPr/>
        </p:nvSpPr>
        <p:spPr>
          <a:xfrm>
            <a:off x="7376464" y="2221991"/>
            <a:ext cx="4205325" cy="3922776"/>
          </a:xfrm>
          <a:prstGeom prst="rect">
            <a:avLst/>
          </a:prstGeom>
          <a:noFill/>
        </p:spPr>
        <p:txBody>
          <a:bodyPr wrap="square" lIns="0" rIns="0" tIns="0" bIns="0">
            <a:spAutoFit/>
          </a:bodyPr>
          <a:lstStyle/>
          <a:p>
            <a:pPr algn="l" marL="228600" indent="-228600">
              <a:spcAft>
                <a:spcPts val="800"/>
              </a:spcAft>
              <a:buFont typeface="Arial"/>
              <a:buChar char="•"/>
            </a:pPr>
            <a:r>
              <a:rPr sz="1400" b="0" i="0">
                <a:solidFill>
                  <a:srgbClr val="1A1A1A"/>
                </a:solidFill>
                <a:latin typeface="Arial"/>
              </a:rPr>
              <a:t>Now Bob runs </a:t>
            </a:r>
            <a:r>
              <a:rPr sz="1350" b="0" i="0">
                <a:solidFill>
                  <a:srgbClr val="330066"/>
                </a:solidFill>
                <a:latin typeface="Courier New"/>
              </a:rPr>
              <a:t>cd ../bob</a:t>
            </a:r>
            <a:r>
              <a:rPr sz="1400" b="0" i="0">
                <a:solidFill>
                  <a:srgbClr val="1A1A1A"/>
                </a:solidFill>
                <a:latin typeface="Arial"/>
              </a:rPr>
              <a:t> and </a:t>
            </a:r>
            <a:r>
              <a:rPr sz="1350" b="0" i="0">
                <a:solidFill>
                  <a:srgbClr val="330066"/>
                </a:solidFill>
                <a:latin typeface="Courier New"/>
              </a:rPr>
              <a:t>git push</a:t>
            </a:r>
            <a:r>
              <a:rPr sz="1400" b="0" i="0">
                <a:solidFill>
                  <a:srgbClr val="1A1A1A"/>
                </a:solidFill>
                <a:latin typeface="Arial"/>
              </a:rPr>
              <a:t>.</a:t>
            </a:r>
          </a:p>
          <a:p>
            <a:pPr algn="l" marL="228600" indent="-228600">
              <a:spcAft>
                <a:spcPts val="800"/>
              </a:spcAft>
              <a:buFont typeface="Arial"/>
              <a:buChar char="•"/>
            </a:pPr>
            <a:r>
              <a:rPr sz="1400" b="0" i="0">
                <a:solidFill>
                  <a:srgbClr val="1A1A1A"/>
                </a:solidFill>
                <a:latin typeface="Arial"/>
              </a:rPr>
              <a:t>Result: </a:t>
            </a:r>
            <a:r>
              <a:rPr sz="1350" b="0" i="0">
                <a:solidFill>
                  <a:srgbClr val="330066"/>
                </a:solidFill>
                <a:latin typeface="Courier New"/>
              </a:rPr>
              <a:t>! [rejected] main -&gt; main (fetch first)</a:t>
            </a:r>
            <a:r>
              <a:rPr sz="1400" b="0" i="0">
                <a:solidFill>
                  <a:srgbClr val="1A1A1A"/>
                </a:solidFill>
                <a:latin typeface="Arial"/>
              </a:rPr>
              <a:t>.</a:t>
            </a:r>
          </a:p>
        </p:txBody>
      </p:sp>
      <p:sp>
        <p:nvSpPr>
          <p:cNvPr id="8" name="TextBox 7"/>
          <p:cNvSpPr txBox="1"/>
          <p:nvPr/>
        </p:nvSpPr>
        <p:spPr>
          <a:xfrm>
            <a:off x="609904" y="6382512"/>
            <a:ext cx="8686800" cy="274320"/>
          </a:xfrm>
          <a:prstGeom prst="rect">
            <a:avLst/>
          </a:prstGeom>
          <a:noFill/>
        </p:spPr>
        <p:txBody>
          <a:bodyPr wrap="square" anchor="t" lIns="0" rIns="0" tIns="0" bIns="0">
            <a:spAutoFit/>
          </a:bodyPr>
          <a:lstStyle/>
          <a:p>
            <a:pPr algn="l">
              <a:lnSpc>
                <a:spcPct val="110000"/>
              </a:lnSpc>
              <a:spcAft>
                <a:spcPts val="600"/>
              </a:spcAft>
            </a:pPr>
            <a:r>
              <a:rPr sz="900" b="0" i="0">
                <a:solidFill>
                  <a:srgbClr val="5A5A5A"/>
                </a:solidFill>
                <a:latin typeface="Arial"/>
              </a:rPr>
              <a:t>Collaborative Git Workflow  ·  Week 2 · Monday   |   40 / 55</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800">
                <a:solidFill>
                  <a:srgbClr val="330066"/>
                </a:solidFill>
              </a:rPr>
              <a:t>Example 2: Bob Follows the Safe Procedure</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CODE EXAMPLES</a:t>
            </a:r>
          </a:p>
        </p:txBody>
      </p:sp>
      <p:sp>
        <p:nvSpPr>
          <p:cNvPr id="4" name="Rounded Rectangle 3"/>
          <p:cNvSpPr/>
          <p:nvPr/>
        </p:nvSpPr>
        <p:spPr>
          <a:xfrm>
            <a:off x="609904" y="1783080"/>
            <a:ext cx="7223760" cy="1572768"/>
          </a:xfrm>
          <a:prstGeom prst="roundRect">
            <a:avLst>
              <a:gd name="adj" fmla="val 4651"/>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1072" y="1929384"/>
            <a:ext cx="6821424" cy="1280160"/>
          </a:xfrm>
          <a:prstGeom prst="rect">
            <a:avLst/>
          </a:prstGeom>
          <a:noFill/>
        </p:spPr>
        <p:txBody>
          <a:bodyPr wrap="square" lIns="0" rIns="0" tIns="0" bIns="0">
            <a:spAutoFit/>
          </a:bodyPr>
          <a:lstStyle/>
          <a:p>
            <a:pPr algn="l">
              <a:lnSpc>
                <a:spcPct val="100000"/>
              </a:lnSpc>
            </a:pPr>
            <a:r>
              <a:rPr sz="1050">
                <a:solidFill>
                  <a:srgbClr val="1A1A1A"/>
                </a:solidFill>
                <a:latin typeface="Courier New"/>
              </a:rPr>
              <a:t>git fetch                              # download Alice's commit; origin/main moves</a:t>
            </a:r>
          </a:p>
          <a:p>
            <a:pPr algn="l">
              <a:lnSpc>
                <a:spcPct val="100000"/>
              </a:lnSpc>
            </a:pPr>
            <a:r>
              <a:rPr sz="1050">
                <a:solidFill>
                  <a:srgbClr val="1A1A1A"/>
                </a:solidFill>
                <a:latin typeface="Courier New"/>
              </a:rPr>
              <a:t>git status -sb                         # ## main...origin/main [ahead 1, behind 1]</a:t>
            </a:r>
          </a:p>
          <a:p>
            <a:pPr algn="l">
              <a:lnSpc>
                <a:spcPct val="100000"/>
              </a:lnSpc>
            </a:pPr>
            <a:r>
              <a:rPr sz="1050">
                <a:solidFill>
                  <a:srgbClr val="1A1A1A"/>
                </a:solidFill>
                <a:latin typeface="Courier New"/>
              </a:rPr>
              <a:t>git log --oneline HEAD..origin/main    # shows: Alice adds notes</a:t>
            </a:r>
          </a:p>
          <a:p>
            <a:pPr algn="l">
              <a:lnSpc>
                <a:spcPct val="100000"/>
              </a:lnSpc>
            </a:pPr>
            <a:r>
              <a:rPr sz="1050">
                <a:solidFill>
                  <a:srgbClr val="1A1A1A"/>
                </a:solidFill>
                <a:latin typeface="Courier New"/>
              </a:rPr>
              <a:t>git diff --stat HEAD...origin/main     # alice.txt | 1 +</a:t>
            </a:r>
          </a:p>
          <a:p>
            <a:pPr algn="l">
              <a:lnSpc>
                <a:spcPct val="100000"/>
              </a:lnSpc>
            </a:pPr>
            <a:r>
              <a:rPr sz="1050">
                <a:solidFill>
                  <a:srgbClr val="1A1A1A"/>
                </a:solidFill>
                <a:latin typeface="Courier New"/>
              </a:rPr>
              <a:t>git log --oneline --graph --all        # shows the fork in history</a:t>
            </a:r>
          </a:p>
          <a:p>
            <a:pPr algn="l">
              <a:lnSpc>
                <a:spcPct val="100000"/>
              </a:lnSpc>
            </a:pPr>
            <a:r>
              <a:rPr sz="1050">
                <a:solidFill>
                  <a:srgbClr val="1A1A1A"/>
                </a:solidFill>
                <a:latin typeface="Courier New"/>
              </a:rPr>
              <a:t>git pull --rebase                      # replay Bob's commit on top of Alice's</a:t>
            </a:r>
          </a:p>
          <a:p>
            <a:pPr algn="l">
              <a:lnSpc>
                <a:spcPct val="100000"/>
              </a:lnSpc>
            </a:pPr>
            <a:r>
              <a:rPr sz="1050">
                <a:solidFill>
                  <a:srgbClr val="1A1A1A"/>
                </a:solidFill>
                <a:latin typeface="Courier New"/>
              </a:rPr>
              <a:t>git log --oneline --graph              # now a straight line</a:t>
            </a:r>
          </a:p>
          <a:p>
            <a:pPr algn="l">
              <a:lnSpc>
                <a:spcPct val="100000"/>
              </a:lnSpc>
            </a:pPr>
            <a:r>
              <a:rPr sz="1050">
                <a:solidFill>
                  <a:srgbClr val="1A1A1A"/>
                </a:solidFill>
                <a:latin typeface="Courier New"/>
              </a:rPr>
              <a:t>git push                               # succeeds</a:t>
            </a:r>
          </a:p>
        </p:txBody>
      </p:sp>
      <p:sp>
        <p:nvSpPr>
          <p:cNvPr id="6" name="Oval 5"/>
          <p:cNvSpPr/>
          <p:nvPr/>
        </p:nvSpPr>
        <p:spPr>
          <a:xfrm>
            <a:off x="8199424" y="17830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Arial"/>
              </a:rPr>
              <a:t>1</a:t>
            </a:r>
          </a:p>
        </p:txBody>
      </p:sp>
      <p:sp>
        <p:nvSpPr>
          <p:cNvPr id="7" name="TextBox 6"/>
          <p:cNvSpPr txBox="1"/>
          <p:nvPr/>
        </p:nvSpPr>
        <p:spPr>
          <a:xfrm>
            <a:off x="8748064" y="1819656"/>
            <a:ext cx="2833725" cy="1045845"/>
          </a:xfrm>
          <a:prstGeom prst="rect">
            <a:avLst/>
          </a:prstGeom>
          <a:noFill/>
        </p:spPr>
        <p:txBody>
          <a:bodyPr wrap="square" anchor="t" lIns="0" rIns="0" tIns="0" bIns="0">
            <a:spAutoFit/>
          </a:bodyPr>
          <a:lstStyle/>
          <a:p>
            <a:pPr algn="l">
              <a:lnSpc>
                <a:spcPct val="110000"/>
              </a:lnSpc>
              <a:spcAft>
                <a:spcPts val="200"/>
              </a:spcAft>
            </a:pPr>
            <a:r>
              <a:rPr sz="1250" b="1" i="0">
                <a:solidFill>
                  <a:srgbClr val="330066"/>
                </a:solidFill>
                <a:latin typeface="Courier New"/>
              </a:rPr>
              <a:t>fetch</a:t>
            </a:r>
          </a:p>
          <a:p>
            <a:pPr algn="l">
              <a:lnSpc>
                <a:spcPct val="110000"/>
              </a:lnSpc>
              <a:spcAft>
                <a:spcPts val="600"/>
              </a:spcAft>
            </a:pPr>
            <a:r>
              <a:rPr sz="1250" b="0" i="0">
                <a:solidFill>
                  <a:srgbClr val="1A1A1A"/>
                </a:solidFill>
                <a:latin typeface="Arial"/>
              </a:rPr>
              <a:t>Changed nothing in Bob's folder (no </a:t>
            </a:r>
            <a:r>
              <a:rPr sz="1200" b="0" i="0">
                <a:solidFill>
                  <a:srgbClr val="330066"/>
                </a:solidFill>
                <a:latin typeface="Courier New"/>
              </a:rPr>
              <a:t>alice.txt</a:t>
            </a:r>
            <a:r>
              <a:rPr sz="1250" b="0" i="0">
                <a:solidFill>
                  <a:srgbClr val="1A1A1A"/>
                </a:solidFill>
                <a:latin typeface="Arial"/>
              </a:rPr>
              <a:t>) but moved </a:t>
            </a:r>
            <a:r>
              <a:rPr sz="1200" b="0" i="0">
                <a:solidFill>
                  <a:srgbClr val="330066"/>
                </a:solidFill>
                <a:latin typeface="Courier New"/>
              </a:rPr>
              <a:t>origin/main</a:t>
            </a:r>
            <a:r>
              <a:rPr sz="1250" b="0" i="0">
                <a:solidFill>
                  <a:srgbClr val="1A1A1A"/>
                </a:solidFill>
                <a:latin typeface="Arial"/>
              </a:rPr>
              <a:t>; only </a:t>
            </a:r>
            <a:r>
              <a:rPr sz="1200" b="0" i="0">
                <a:solidFill>
                  <a:srgbClr val="330066"/>
                </a:solidFill>
                <a:latin typeface="Courier New"/>
              </a:rPr>
              <a:t>pull</a:t>
            </a:r>
            <a:r>
              <a:rPr sz="1250" b="0" i="0">
                <a:solidFill>
                  <a:srgbClr val="1A1A1A"/>
                </a:solidFill>
                <a:latin typeface="Arial"/>
              </a:rPr>
              <a:t> changed his files.</a:t>
            </a:r>
          </a:p>
        </p:txBody>
      </p:sp>
      <p:sp>
        <p:nvSpPr>
          <p:cNvPr id="8" name="Oval 7"/>
          <p:cNvSpPr/>
          <p:nvPr/>
        </p:nvSpPr>
        <p:spPr>
          <a:xfrm>
            <a:off x="8199424" y="3030093"/>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Arial"/>
              </a:rPr>
              <a:t>2</a:t>
            </a:r>
          </a:p>
        </p:txBody>
      </p:sp>
      <p:sp>
        <p:nvSpPr>
          <p:cNvPr id="9" name="TextBox 8"/>
          <p:cNvSpPr txBox="1"/>
          <p:nvPr/>
        </p:nvSpPr>
        <p:spPr>
          <a:xfrm>
            <a:off x="8748064" y="3066669"/>
            <a:ext cx="2833725" cy="847407"/>
          </a:xfrm>
          <a:prstGeom prst="rect">
            <a:avLst/>
          </a:prstGeom>
          <a:noFill/>
        </p:spPr>
        <p:txBody>
          <a:bodyPr wrap="square" anchor="t" lIns="0" rIns="0" tIns="0" bIns="0">
            <a:spAutoFit/>
          </a:bodyPr>
          <a:lstStyle/>
          <a:p>
            <a:pPr algn="l">
              <a:lnSpc>
                <a:spcPct val="110000"/>
              </a:lnSpc>
              <a:spcAft>
                <a:spcPts val="200"/>
              </a:spcAft>
            </a:pPr>
            <a:r>
              <a:rPr sz="1300" b="1" i="0">
                <a:solidFill>
                  <a:srgbClr val="330066"/>
                </a:solidFill>
                <a:latin typeface="Arial"/>
              </a:rPr>
              <a:t>New commit ID</a:t>
            </a:r>
          </a:p>
          <a:p>
            <a:pPr algn="l">
              <a:lnSpc>
                <a:spcPct val="110000"/>
              </a:lnSpc>
              <a:spcAft>
                <a:spcPts val="600"/>
              </a:spcAft>
            </a:pPr>
            <a:r>
              <a:rPr sz="1250" b="0" i="0">
                <a:solidFill>
                  <a:srgbClr val="1A1A1A"/>
                </a:solidFill>
                <a:latin typeface="Arial"/>
              </a:rPr>
              <a:t>After </a:t>
            </a:r>
            <a:r>
              <a:rPr sz="1200" b="0" i="0">
                <a:solidFill>
                  <a:srgbClr val="330066"/>
                </a:solidFill>
                <a:latin typeface="Courier New"/>
              </a:rPr>
              <a:t>pull --rebase</a:t>
            </a:r>
            <a:r>
              <a:rPr sz="1250" b="0" i="0">
                <a:solidFill>
                  <a:srgbClr val="1A1A1A"/>
                </a:solidFill>
                <a:latin typeface="Arial"/>
              </a:rPr>
              <a:t>, Bob's commit was replayed; the history is linear.</a:t>
            </a:r>
          </a:p>
        </p:txBody>
      </p:sp>
      <p:sp>
        <p:nvSpPr>
          <p:cNvPr id="10" name="Oval 9"/>
          <p:cNvSpPr/>
          <p:nvPr/>
        </p:nvSpPr>
        <p:spPr>
          <a:xfrm>
            <a:off x="8199424" y="4078668"/>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Arial"/>
              </a:rPr>
              <a:t>3</a:t>
            </a:r>
          </a:p>
        </p:txBody>
      </p:sp>
      <p:sp>
        <p:nvSpPr>
          <p:cNvPr id="11" name="TextBox 10"/>
          <p:cNvSpPr txBox="1"/>
          <p:nvPr/>
        </p:nvSpPr>
        <p:spPr>
          <a:xfrm>
            <a:off x="8748064" y="4115244"/>
            <a:ext cx="2833725" cy="1045845"/>
          </a:xfrm>
          <a:prstGeom prst="rect">
            <a:avLst/>
          </a:prstGeom>
          <a:noFill/>
        </p:spPr>
        <p:txBody>
          <a:bodyPr wrap="square" anchor="t" lIns="0" rIns="0" tIns="0" bIns="0">
            <a:spAutoFit/>
          </a:bodyPr>
          <a:lstStyle/>
          <a:p>
            <a:pPr algn="l">
              <a:lnSpc>
                <a:spcPct val="110000"/>
              </a:lnSpc>
              <a:spcAft>
                <a:spcPts val="200"/>
              </a:spcAft>
            </a:pPr>
            <a:r>
              <a:rPr sz="1300" b="1" i="0">
                <a:solidFill>
                  <a:srgbClr val="330066"/>
                </a:solidFill>
                <a:latin typeface="Arial"/>
              </a:rPr>
              <a:t>No configuration?</a:t>
            </a:r>
          </a:p>
          <a:p>
            <a:pPr algn="l">
              <a:lnSpc>
                <a:spcPct val="110000"/>
              </a:lnSpc>
              <a:spcAft>
                <a:spcPts val="600"/>
              </a:spcAft>
            </a:pPr>
            <a:r>
              <a:rPr sz="1250" b="0" i="0">
                <a:solidFill>
                  <a:srgbClr val="1A1A1A"/>
                </a:solidFill>
                <a:latin typeface="Arial"/>
              </a:rPr>
              <a:t>Git 2.27+ would stop with "need to specify how to reconcile divergent branches"; add </a:t>
            </a:r>
            <a:r>
              <a:rPr sz="1200" b="0" i="0">
                <a:solidFill>
                  <a:srgbClr val="330066"/>
                </a:solidFill>
                <a:latin typeface="Courier New"/>
              </a:rPr>
              <a:t>--rebase</a:t>
            </a:r>
            <a:r>
              <a:rPr sz="1250" b="0" i="0">
                <a:solidFill>
                  <a:srgbClr val="1A1A1A"/>
                </a:solidFill>
                <a:latin typeface="Arial"/>
              </a:rPr>
              <a:t>, </a:t>
            </a:r>
            <a:r>
              <a:rPr sz="1200" b="0" i="0">
                <a:solidFill>
                  <a:srgbClr val="330066"/>
                </a:solidFill>
                <a:latin typeface="Courier New"/>
              </a:rPr>
              <a:t>--no-rebase</a:t>
            </a:r>
            <a:r>
              <a:rPr sz="1250" b="0" i="0">
                <a:solidFill>
                  <a:srgbClr val="1A1A1A"/>
                </a:solidFill>
                <a:latin typeface="Arial"/>
              </a:rPr>
              <a:t> or </a:t>
            </a:r>
            <a:r>
              <a:rPr sz="1200" b="0" i="0">
                <a:solidFill>
                  <a:srgbClr val="330066"/>
                </a:solidFill>
                <a:latin typeface="Courier New"/>
              </a:rPr>
              <a:t>--ff-only</a:t>
            </a:r>
            <a:r>
              <a:rPr sz="1250" b="0" i="0">
                <a:solidFill>
                  <a:srgbClr val="1A1A1A"/>
                </a:solidFill>
                <a:latin typeface="Arial"/>
              </a:rPr>
              <a:t>.</a:t>
            </a:r>
          </a:p>
        </p:txBody>
      </p:sp>
      <p:sp>
        <p:nvSpPr>
          <p:cNvPr id="12" name="TextBox 11"/>
          <p:cNvSpPr txBox="1"/>
          <p:nvPr/>
        </p:nvSpPr>
        <p:spPr>
          <a:xfrm>
            <a:off x="609904" y="6382512"/>
            <a:ext cx="8686800" cy="274320"/>
          </a:xfrm>
          <a:prstGeom prst="rect">
            <a:avLst/>
          </a:prstGeom>
          <a:noFill/>
        </p:spPr>
        <p:txBody>
          <a:bodyPr wrap="square" anchor="t" lIns="0" rIns="0" tIns="0" bIns="0">
            <a:spAutoFit/>
          </a:bodyPr>
          <a:lstStyle/>
          <a:p>
            <a:pPr algn="l">
              <a:lnSpc>
                <a:spcPct val="110000"/>
              </a:lnSpc>
              <a:spcAft>
                <a:spcPts val="600"/>
              </a:spcAft>
            </a:pPr>
            <a:r>
              <a:rPr sz="900" b="0" i="0">
                <a:solidFill>
                  <a:srgbClr val="5A5A5A"/>
                </a:solidFill>
                <a:latin typeface="Arial"/>
              </a:rPr>
              <a:t>Collaborative Git Workflow  ·  Week 2 · Monday   |   41 / 55</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3200">
                <a:solidFill>
                  <a:srgbClr val="330066"/>
                </a:solidFill>
              </a:rPr>
              <a:t>Example 3: Try the Merge Strategy</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CODE EXAMPLES</a:t>
            </a:r>
          </a:p>
        </p:txBody>
      </p:sp>
      <p:sp>
        <p:nvSpPr>
          <p:cNvPr id="4" name="TextBox 3"/>
          <p:cNvSpPr txBox="1"/>
          <p:nvPr/>
        </p:nvSpPr>
        <p:spPr>
          <a:xfrm>
            <a:off x="609904" y="1783080"/>
            <a:ext cx="10971885" cy="365760"/>
          </a:xfrm>
          <a:prstGeom prst="rect">
            <a:avLst/>
          </a:prstGeom>
          <a:noFill/>
        </p:spPr>
        <p:txBody>
          <a:bodyPr wrap="square" anchor="t" lIns="0" rIns="0" tIns="0" bIns="0">
            <a:spAutoFit/>
          </a:bodyPr>
          <a:lstStyle/>
          <a:p>
            <a:pPr algn="l">
              <a:lnSpc>
                <a:spcPct val="110000"/>
              </a:lnSpc>
              <a:spcAft>
                <a:spcPts val="600"/>
              </a:spcAft>
            </a:pPr>
            <a:r>
              <a:rPr sz="1600" b="0" i="0">
                <a:solidFill>
                  <a:srgbClr val="1A1A1A"/>
                </a:solidFill>
                <a:latin typeface="Arial"/>
              </a:rPr>
              <a:t>Repeat the scenario (new commits by both) but have Bob run:</a:t>
            </a:r>
          </a:p>
        </p:txBody>
      </p:sp>
      <p:sp>
        <p:nvSpPr>
          <p:cNvPr id="5" name="Rounded Rectangle 4"/>
          <p:cNvSpPr/>
          <p:nvPr/>
        </p:nvSpPr>
        <p:spPr>
          <a:xfrm>
            <a:off x="609904" y="2240280"/>
            <a:ext cx="4206240" cy="457200"/>
          </a:xfrm>
          <a:prstGeom prst="roundRect">
            <a:avLst>
              <a:gd name="adj" fmla="val 18000"/>
            </a:avLst>
          </a:prstGeom>
          <a:solidFill>
            <a:srgbClr val="EDE6F5"/>
          </a:solidFill>
          <a:ln w="12700">
            <a:solidFill>
              <a:srgbClr val="EDE6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2784" y="2240280"/>
            <a:ext cx="3931920" cy="457200"/>
          </a:xfrm>
          <a:prstGeom prst="rect">
            <a:avLst/>
          </a:prstGeom>
          <a:noFill/>
        </p:spPr>
        <p:txBody>
          <a:bodyPr wrap="square" anchor="ctr" lIns="0" rIns="0" tIns="0" bIns="0">
            <a:spAutoFit/>
          </a:bodyPr>
          <a:lstStyle/>
          <a:p>
            <a:pPr algn="l"/>
            <a:r>
              <a:rPr sz="1400" b="1">
                <a:solidFill>
                  <a:srgbClr val="330066"/>
                </a:solidFill>
                <a:latin typeface="Courier New"/>
              </a:rPr>
              <a:t>git pull --no-rebase --no-edit</a:t>
            </a:r>
          </a:p>
        </p:txBody>
      </p:sp>
      <p:sp>
        <p:nvSpPr>
          <p:cNvPr id="7" name="TextBox 6"/>
          <p:cNvSpPr txBox="1"/>
          <p:nvPr/>
        </p:nvSpPr>
        <p:spPr>
          <a:xfrm>
            <a:off x="609904" y="2971800"/>
            <a:ext cx="10971885" cy="2743200"/>
          </a:xfrm>
          <a:prstGeom prst="rect">
            <a:avLst/>
          </a:prstGeom>
          <a:noFill/>
        </p:spPr>
        <p:txBody>
          <a:bodyPr wrap="square" lIns="0" rIns="0" tIns="0" bIns="0">
            <a:spAutoFit/>
          </a:bodyPr>
          <a:lstStyle/>
          <a:p>
            <a:pPr algn="l" marL="228600" indent="-228600">
              <a:spcAft>
                <a:spcPts val="1000"/>
              </a:spcAft>
              <a:buFont typeface="Arial"/>
              <a:buChar char="•"/>
            </a:pPr>
            <a:r>
              <a:rPr sz="1600" b="0" i="0">
                <a:solidFill>
                  <a:srgbClr val="1A1A1A"/>
                </a:solidFill>
                <a:latin typeface="Arial"/>
              </a:rPr>
              <a:t>Output: </a:t>
            </a:r>
            <a:r>
              <a:rPr sz="1550" b="0" i="0">
                <a:solidFill>
                  <a:srgbClr val="330066"/>
                </a:solidFill>
                <a:latin typeface="Courier New"/>
              </a:rPr>
              <a:t>Merge made by the 'ort' strategy.</a:t>
            </a:r>
            <a:r>
              <a:rPr sz="1600" b="0" i="0">
                <a:solidFill>
                  <a:srgbClr val="1A1A1A"/>
                </a:solidFill>
                <a:latin typeface="Arial"/>
              </a:rPr>
              <a:t> and a diffstat.</a:t>
            </a:r>
          </a:p>
          <a:p>
            <a:pPr algn="l" marL="228600" indent="-228600">
              <a:spcAft>
                <a:spcPts val="1000"/>
              </a:spcAft>
              <a:buFont typeface="Arial"/>
              <a:buChar char="•"/>
            </a:pPr>
            <a:r>
              <a:rPr sz="1550" b="0" i="0">
                <a:solidFill>
                  <a:srgbClr val="330066"/>
                </a:solidFill>
                <a:latin typeface="Courier New"/>
              </a:rPr>
              <a:t>git log --oneline --graph</a:t>
            </a:r>
            <a:r>
              <a:rPr sz="1600" b="0" i="0">
                <a:solidFill>
                  <a:srgbClr val="1A1A1A"/>
                </a:solidFill>
                <a:latin typeface="Arial"/>
              </a:rPr>
              <a:t> now shows a diamond shape with a merge commit.</a:t>
            </a:r>
          </a:p>
          <a:p>
            <a:pPr algn="l" marL="228600" indent="-228600">
              <a:spcAft>
                <a:spcPts val="1000"/>
              </a:spcAft>
              <a:buFont typeface="Arial"/>
              <a:buChar char="•"/>
            </a:pPr>
            <a:r>
              <a:rPr sz="1550" b="0" i="0">
                <a:solidFill>
                  <a:srgbClr val="330066"/>
                </a:solidFill>
                <a:latin typeface="Courier New"/>
              </a:rPr>
              <a:t>--no-edit</a:t>
            </a:r>
            <a:r>
              <a:rPr sz="1600" b="0" i="0">
                <a:solidFill>
                  <a:srgbClr val="1A1A1A"/>
                </a:solidFill>
                <a:latin typeface="Arial"/>
              </a:rPr>
              <a:t> accepts the default merge message without opening an editor.</a:t>
            </a:r>
          </a:p>
          <a:p>
            <a:pPr algn="l" marL="228600" indent="-228600">
              <a:spcAft>
                <a:spcPts val="1000"/>
              </a:spcAft>
              <a:buFont typeface="Arial"/>
              <a:buChar char="•"/>
            </a:pPr>
            <a:r>
              <a:rPr sz="1600" b="0" i="0">
                <a:solidFill>
                  <a:srgbClr val="1A1A1A"/>
                </a:solidFill>
                <a:latin typeface="Arial"/>
              </a:rPr>
              <a:t>Compare with the linear graph from Example 2. Both are correct; they differ in style.</a:t>
            </a:r>
          </a:p>
        </p:txBody>
      </p:sp>
      <p:sp>
        <p:nvSpPr>
          <p:cNvPr id="8" name="TextBox 7"/>
          <p:cNvSpPr txBox="1"/>
          <p:nvPr/>
        </p:nvSpPr>
        <p:spPr>
          <a:xfrm>
            <a:off x="609904" y="6382512"/>
            <a:ext cx="8686800" cy="274320"/>
          </a:xfrm>
          <a:prstGeom prst="rect">
            <a:avLst/>
          </a:prstGeom>
          <a:noFill/>
        </p:spPr>
        <p:txBody>
          <a:bodyPr wrap="square" anchor="t" lIns="0" rIns="0" tIns="0" bIns="0">
            <a:spAutoFit/>
          </a:bodyPr>
          <a:lstStyle/>
          <a:p>
            <a:pPr algn="l">
              <a:lnSpc>
                <a:spcPct val="110000"/>
              </a:lnSpc>
              <a:spcAft>
                <a:spcPts val="600"/>
              </a:spcAft>
            </a:pPr>
            <a:r>
              <a:rPr sz="900" b="0" i="0">
                <a:solidFill>
                  <a:srgbClr val="5A5A5A"/>
                </a:solidFill>
                <a:latin typeface="Arial"/>
              </a:rPr>
              <a:t>Collaborative Git Workflow  ·  Week 2 · Monday   |   42 / 55</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800">
                <a:solidFill>
                  <a:srgbClr val="330066"/>
                </a:solidFill>
              </a:rPr>
              <a:t>Example 4: Feature Branch Publish and Clean-up</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CODE EXAMPLES</a:t>
            </a:r>
          </a:p>
        </p:txBody>
      </p:sp>
      <p:sp>
        <p:nvSpPr>
          <p:cNvPr id="4" name="Rounded Rectangle 3"/>
          <p:cNvSpPr/>
          <p:nvPr/>
        </p:nvSpPr>
        <p:spPr>
          <a:xfrm>
            <a:off x="609904" y="1783080"/>
            <a:ext cx="10971885" cy="3142488"/>
          </a:xfrm>
          <a:prstGeom prst="roundRect">
            <a:avLst>
              <a:gd name="adj" fmla="val 2327"/>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1072" y="1929384"/>
            <a:ext cx="10569549" cy="2849880"/>
          </a:xfrm>
          <a:prstGeom prst="rect">
            <a:avLst/>
          </a:prstGeom>
          <a:noFill/>
        </p:spPr>
        <p:txBody>
          <a:bodyPr wrap="square" lIns="0" rIns="0" tIns="0" bIns="0">
            <a:spAutoFit/>
          </a:bodyPr>
          <a:lstStyle/>
          <a:p>
            <a:pPr algn="l">
              <a:lnSpc>
                <a:spcPct val="100000"/>
              </a:lnSpc>
            </a:pPr>
            <a:r>
              <a:rPr sz="1100">
                <a:solidFill>
                  <a:srgbClr val="1A1A1A"/>
                </a:solidFill>
                <a:latin typeface="Courier New"/>
              </a:rPr>
              <a:t>cd bob</a:t>
            </a:r>
          </a:p>
          <a:p>
            <a:pPr algn="l">
              <a:lnSpc>
                <a:spcPct val="100000"/>
              </a:lnSpc>
            </a:pPr>
            <a:r>
              <a:rPr sz="1100">
                <a:solidFill>
                  <a:srgbClr val="1A1A1A"/>
                </a:solidFill>
                <a:latin typeface="Courier New"/>
              </a:rPr>
              <a:t>git switch -c feature/login-tests</a:t>
            </a:r>
          </a:p>
          <a:p>
            <a:pPr algn="l">
              <a:lnSpc>
                <a:spcPct val="100000"/>
              </a:lnSpc>
            </a:pPr>
            <a:r>
              <a:rPr sz="1100">
                <a:solidFill>
                  <a:srgbClr val="1A1A1A"/>
                </a:solidFill>
                <a:latin typeface="Courier New"/>
              </a:rPr>
              <a:t>echo "def test_login(): pass" &gt; test_login.py</a:t>
            </a:r>
          </a:p>
          <a:p>
            <a:pPr algn="l">
              <a:lnSpc>
                <a:spcPct val="100000"/>
              </a:lnSpc>
            </a:pPr>
            <a:r>
              <a:rPr sz="1100">
                <a:solidFill>
                  <a:srgbClr val="1A1A1A"/>
                </a:solidFill>
                <a:latin typeface="Courier New"/>
              </a:rPr>
              <a:t>git add test_login.py</a:t>
            </a:r>
          </a:p>
          <a:p>
            <a:pPr algn="l">
              <a:lnSpc>
                <a:spcPct val="100000"/>
              </a:lnSpc>
            </a:pPr>
            <a:r>
              <a:rPr sz="1100">
                <a:solidFill>
                  <a:srgbClr val="1A1A1A"/>
                </a:solidFill>
                <a:latin typeface="Courier New"/>
              </a:rPr>
              <a:t>git commit -m "Add login test placeholder"</a:t>
            </a:r>
          </a:p>
          <a:p>
            <a:pPr algn="l">
              <a:lnSpc>
                <a:spcPct val="100000"/>
              </a:lnSpc>
            </a:pPr>
            <a:r>
              <a:rPr sz="1100">
                <a:solidFill>
                  <a:srgbClr val="1A1A1A"/>
                </a:solidFill>
                <a:latin typeface="Courier New"/>
              </a:rPr>
              <a:t> </a:t>
            </a:r>
          </a:p>
          <a:p>
            <a:pPr algn="l">
              <a:lnSpc>
                <a:spcPct val="100000"/>
              </a:lnSpc>
            </a:pPr>
            <a:r>
              <a:rPr sz="1100">
                <a:solidFill>
                  <a:srgbClr val="1A1A1A"/>
                </a:solidFill>
                <a:latin typeface="Courier New"/>
              </a:rPr>
              <a:t>git push                              # fails: no upstream branch (Git prints the exact command to use)</a:t>
            </a:r>
          </a:p>
          <a:p>
            <a:pPr algn="l">
              <a:lnSpc>
                <a:spcPct val="100000"/>
              </a:lnSpc>
            </a:pPr>
            <a:r>
              <a:rPr sz="1100">
                <a:solidFill>
                  <a:srgbClr val="1A1A1A"/>
                </a:solidFill>
                <a:latin typeface="Courier New"/>
              </a:rPr>
              <a:t>git push -u origin feature/login-tests   # works and sets the upstream</a:t>
            </a:r>
          </a:p>
          <a:p>
            <a:pPr algn="l">
              <a:lnSpc>
                <a:spcPct val="100000"/>
              </a:lnSpc>
            </a:pPr>
            <a:r>
              <a:rPr sz="1100">
                <a:solidFill>
                  <a:srgbClr val="1A1A1A"/>
                </a:solidFill>
                <a:latin typeface="Courier New"/>
              </a:rPr>
              <a:t>git branch -vv                        # shows [origin/feature/login-tests]</a:t>
            </a:r>
          </a:p>
          <a:p>
            <a:pPr algn="l">
              <a:lnSpc>
                <a:spcPct val="100000"/>
              </a:lnSpc>
            </a:pPr>
            <a:r>
              <a:rPr sz="1100">
                <a:solidFill>
                  <a:srgbClr val="1A1A1A"/>
                </a:solidFill>
                <a:latin typeface="Courier New"/>
              </a:rPr>
              <a:t>git branch -r                         # remote-tracking branches</a:t>
            </a:r>
          </a:p>
          <a:p>
            <a:pPr algn="l">
              <a:lnSpc>
                <a:spcPct val="100000"/>
              </a:lnSpc>
            </a:pPr>
            <a:r>
              <a:rPr sz="1100">
                <a:solidFill>
                  <a:srgbClr val="1A1A1A"/>
                </a:solidFill>
                <a:latin typeface="Courier New"/>
              </a:rPr>
              <a:t> </a:t>
            </a:r>
          </a:p>
          <a:p>
            <a:pPr algn="l">
              <a:lnSpc>
                <a:spcPct val="100000"/>
              </a:lnSpc>
            </a:pPr>
            <a:r>
              <a:rPr sz="1100">
                <a:solidFill>
                  <a:srgbClr val="5C8A8A"/>
                </a:solidFill>
                <a:latin typeface="Courier New"/>
              </a:rPr>
              <a:t># later, after the work is merged on the hosting service:</a:t>
            </a:r>
          </a:p>
          <a:p>
            <a:pPr algn="l">
              <a:lnSpc>
                <a:spcPct val="100000"/>
              </a:lnSpc>
            </a:pPr>
            <a:r>
              <a:rPr sz="1100">
                <a:solidFill>
                  <a:srgbClr val="1A1A1A"/>
                </a:solidFill>
                <a:latin typeface="Courier New"/>
              </a:rPr>
              <a:t>git switch main</a:t>
            </a:r>
          </a:p>
          <a:p>
            <a:pPr algn="l">
              <a:lnSpc>
                <a:spcPct val="100000"/>
              </a:lnSpc>
            </a:pPr>
            <a:r>
              <a:rPr sz="1100">
                <a:solidFill>
                  <a:srgbClr val="1A1A1A"/>
                </a:solidFill>
                <a:latin typeface="Courier New"/>
              </a:rPr>
              <a:t>git pull --ff-only</a:t>
            </a:r>
          </a:p>
          <a:p>
            <a:pPr algn="l">
              <a:lnSpc>
                <a:spcPct val="100000"/>
              </a:lnSpc>
            </a:pPr>
            <a:r>
              <a:rPr sz="1100">
                <a:solidFill>
                  <a:srgbClr val="1A1A1A"/>
                </a:solidFill>
                <a:latin typeface="Courier New"/>
              </a:rPr>
              <a:t>git branch -d feature/login-tests                 # delete the local branch</a:t>
            </a:r>
          </a:p>
          <a:p>
            <a:pPr algn="l">
              <a:lnSpc>
                <a:spcPct val="100000"/>
              </a:lnSpc>
            </a:pPr>
            <a:r>
              <a:rPr sz="1100">
                <a:solidFill>
                  <a:srgbClr val="1A1A1A"/>
                </a:solidFill>
                <a:latin typeface="Courier New"/>
              </a:rPr>
              <a:t>git push origin --delete feature/login-tests      # delete the remote branch</a:t>
            </a:r>
          </a:p>
          <a:p>
            <a:pPr algn="l">
              <a:lnSpc>
                <a:spcPct val="100000"/>
              </a:lnSpc>
            </a:pPr>
            <a:r>
              <a:rPr sz="1100">
                <a:solidFill>
                  <a:srgbClr val="1A1A1A"/>
                </a:solidFill>
                <a:latin typeface="Courier New"/>
              </a:rPr>
              <a:t>git fetch --prune                                 # (teammates) remove stale origin/feature/login-tests</a:t>
            </a:r>
          </a:p>
        </p:txBody>
      </p:sp>
      <p:sp>
        <p:nvSpPr>
          <p:cNvPr id="6" name="TextBox 5"/>
          <p:cNvSpPr txBox="1"/>
          <p:nvPr/>
        </p:nvSpPr>
        <p:spPr>
          <a:xfrm>
            <a:off x="609904" y="5596128"/>
            <a:ext cx="10971885" cy="548640"/>
          </a:xfrm>
          <a:prstGeom prst="rect">
            <a:avLst/>
          </a:prstGeom>
          <a:noFill/>
        </p:spPr>
        <p:txBody>
          <a:bodyPr wrap="square" anchor="t" lIns="0" rIns="0" tIns="0" bIns="0">
            <a:spAutoFit/>
          </a:bodyPr>
          <a:lstStyle/>
          <a:p>
            <a:pPr algn="l">
              <a:lnSpc>
                <a:spcPct val="110000"/>
              </a:lnSpc>
              <a:spcAft>
                <a:spcPts val="600"/>
              </a:spcAft>
            </a:pPr>
            <a:r>
              <a:rPr sz="1250" b="0" i="0">
                <a:solidFill>
                  <a:srgbClr val="5A5A5A"/>
                </a:solidFill>
                <a:latin typeface="Courier New"/>
              </a:rPr>
              <a:t>git branch -d</a:t>
            </a:r>
            <a:r>
              <a:rPr sz="1300" b="0" i="0">
                <a:solidFill>
                  <a:srgbClr val="5A5A5A"/>
                </a:solidFill>
                <a:latin typeface="Arial"/>
              </a:rPr>
              <a:t> refuses to delete a branch whose work is not merged into your current branch. In this simulation, merge into </a:t>
            </a:r>
            <a:r>
              <a:rPr sz="1250" b="0" i="0">
                <a:solidFill>
                  <a:srgbClr val="5A5A5A"/>
                </a:solidFill>
                <a:latin typeface="Courier New"/>
              </a:rPr>
              <a:t>main</a:t>
            </a:r>
            <a:r>
              <a:rPr sz="1300" b="0" i="0">
                <a:solidFill>
                  <a:srgbClr val="5A5A5A"/>
                </a:solidFill>
                <a:latin typeface="Arial"/>
              </a:rPr>
              <a:t> first.</a:t>
            </a:r>
          </a:p>
        </p:txBody>
      </p:sp>
      <p:sp>
        <p:nvSpPr>
          <p:cNvPr id="7" name="TextBox 6"/>
          <p:cNvSpPr txBox="1"/>
          <p:nvPr/>
        </p:nvSpPr>
        <p:spPr>
          <a:xfrm>
            <a:off x="609904" y="6382512"/>
            <a:ext cx="8686800" cy="274320"/>
          </a:xfrm>
          <a:prstGeom prst="rect">
            <a:avLst/>
          </a:prstGeom>
          <a:noFill/>
        </p:spPr>
        <p:txBody>
          <a:bodyPr wrap="square" anchor="t" lIns="0" rIns="0" tIns="0" bIns="0">
            <a:spAutoFit/>
          </a:bodyPr>
          <a:lstStyle/>
          <a:p>
            <a:pPr algn="l">
              <a:lnSpc>
                <a:spcPct val="110000"/>
              </a:lnSpc>
              <a:spcAft>
                <a:spcPts val="600"/>
              </a:spcAft>
            </a:pPr>
            <a:r>
              <a:rPr sz="900" b="0" i="0">
                <a:solidFill>
                  <a:srgbClr val="5A5A5A"/>
                </a:solidFill>
                <a:latin typeface="Arial"/>
              </a:rPr>
              <a:t>Collaborative Git Workflow  ·  Week 2 · Monday   |   43 / 55</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800">
                <a:solidFill>
                  <a:srgbClr val="330066"/>
                </a:solidFill>
              </a:rPr>
              <a:t>Example 5: Sharing Today's Python Project</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CODE EXAMPLES</a:t>
            </a:r>
          </a:p>
        </p:txBody>
      </p:sp>
      <p:sp>
        <p:nvSpPr>
          <p:cNvPr id="4" name="Rounded Rectangle 3"/>
          <p:cNvSpPr/>
          <p:nvPr/>
        </p:nvSpPr>
        <p:spPr>
          <a:xfrm>
            <a:off x="609904" y="1783080"/>
            <a:ext cx="6400800" cy="2212848"/>
          </a:xfrm>
          <a:prstGeom prst="roundRect">
            <a:avLst>
              <a:gd name="adj" fmla="val 3305"/>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1072" y="1929384"/>
            <a:ext cx="5998464" cy="1920240"/>
          </a:xfrm>
          <a:prstGeom prst="rect">
            <a:avLst/>
          </a:prstGeom>
          <a:noFill/>
        </p:spPr>
        <p:txBody>
          <a:bodyPr wrap="square" lIns="0" rIns="0" tIns="0" bIns="0">
            <a:spAutoFit/>
          </a:bodyPr>
          <a:lstStyle/>
          <a:p>
            <a:pPr algn="l">
              <a:lnSpc>
                <a:spcPct val="100000"/>
              </a:lnSpc>
            </a:pPr>
            <a:r>
              <a:rPr sz="1050">
                <a:solidFill>
                  <a:srgbClr val="1A1A1A"/>
                </a:solidFill>
                <a:latin typeface="Courier New"/>
              </a:rPr>
              <a:t>mkdir qe-foundations &amp;&amp; cd qe-foundations</a:t>
            </a:r>
          </a:p>
          <a:p>
            <a:pPr algn="l">
              <a:lnSpc>
                <a:spcPct val="100000"/>
              </a:lnSpc>
            </a:pPr>
            <a:r>
              <a:rPr sz="1050">
                <a:solidFill>
                  <a:srgbClr val="1A1A1A"/>
                </a:solidFill>
                <a:latin typeface="Courier New"/>
              </a:rPr>
              <a:t>git init -b main</a:t>
            </a:r>
          </a:p>
          <a:p>
            <a:pPr algn="l">
              <a:lnSpc>
                <a:spcPct val="100000"/>
              </a:lnSpc>
            </a:pPr>
            <a:r>
              <a:rPr sz="1050">
                <a:solidFill>
                  <a:srgbClr val="1A1A1A"/>
                </a:solidFill>
                <a:latin typeface="Courier New"/>
              </a:rPr>
              <a:t>python -m venv .venv</a:t>
            </a:r>
          </a:p>
          <a:p>
            <a:pPr algn="l">
              <a:lnSpc>
                <a:spcPct val="100000"/>
              </a:lnSpc>
            </a:pPr>
            <a:r>
              <a:rPr sz="1050">
                <a:solidFill>
                  <a:srgbClr val="5C8A8A"/>
                </a:solidFill>
                <a:latin typeface="Courier New"/>
              </a:rPr>
              <a:t># .gitignore must exist BEFORE the first commit so .venv is never tracked</a:t>
            </a:r>
          </a:p>
          <a:p>
            <a:pPr algn="l">
              <a:lnSpc>
                <a:spcPct val="100000"/>
              </a:lnSpc>
            </a:pPr>
            <a:r>
              <a:rPr sz="1050">
                <a:solidFill>
                  <a:srgbClr val="1A1A1A"/>
                </a:solidFill>
                <a:latin typeface="Courier New"/>
              </a:rPr>
              <a:t>printf ".venv/\n__pycache__/\n*.pyc\n" &gt; .gitignore</a:t>
            </a:r>
          </a:p>
          <a:p>
            <a:pPr algn="l">
              <a:lnSpc>
                <a:spcPct val="100000"/>
              </a:lnSpc>
            </a:pPr>
            <a:r>
              <a:rPr sz="1050">
                <a:solidFill>
                  <a:srgbClr val="1A1A1A"/>
                </a:solidFill>
                <a:latin typeface="Courier New"/>
              </a:rPr>
              <a:t>mkdir -p src/qa_toolkit tests</a:t>
            </a:r>
          </a:p>
          <a:p>
            <a:pPr algn="l">
              <a:lnSpc>
                <a:spcPct val="100000"/>
              </a:lnSpc>
            </a:pPr>
            <a:r>
              <a:rPr sz="1050">
                <a:solidFill>
                  <a:srgbClr val="1A1A1A"/>
                </a:solidFill>
                <a:latin typeface="Courier New"/>
              </a:rPr>
              <a:t>touch src/qa_toolkit/__init__.py</a:t>
            </a:r>
          </a:p>
          <a:p>
            <a:pPr algn="l">
              <a:lnSpc>
                <a:spcPct val="100000"/>
              </a:lnSpc>
            </a:pPr>
            <a:r>
              <a:rPr sz="1050">
                <a:solidFill>
                  <a:srgbClr val="1A1A1A"/>
                </a:solidFill>
                <a:latin typeface="Courier New"/>
              </a:rPr>
              <a:t>printf "requests&gt;=2.31,&lt;3\n" &gt; requirements.txt</a:t>
            </a:r>
          </a:p>
          <a:p>
            <a:pPr algn="l">
              <a:lnSpc>
                <a:spcPct val="100000"/>
              </a:lnSpc>
            </a:pPr>
            <a:r>
              <a:rPr sz="1050">
                <a:solidFill>
                  <a:srgbClr val="1A1A1A"/>
                </a:solidFill>
                <a:latin typeface="Courier New"/>
              </a:rPr>
              <a:t>git add .gitignore requirements.txt src</a:t>
            </a:r>
          </a:p>
          <a:p>
            <a:pPr algn="l">
              <a:lnSpc>
                <a:spcPct val="100000"/>
              </a:lnSpc>
            </a:pPr>
            <a:r>
              <a:rPr sz="1050">
                <a:solidFill>
                  <a:srgbClr val="1A1A1A"/>
                </a:solidFill>
                <a:latin typeface="Courier New"/>
              </a:rPr>
              <a:t>git commit -m "Project skeleton: package, requirements, gitignore"</a:t>
            </a:r>
          </a:p>
          <a:p>
            <a:pPr algn="l">
              <a:lnSpc>
                <a:spcPct val="100000"/>
              </a:lnSpc>
            </a:pPr>
            <a:r>
              <a:rPr sz="1050">
                <a:solidFill>
                  <a:srgbClr val="1A1A1A"/>
                </a:solidFill>
                <a:latin typeface="Courier New"/>
              </a:rPr>
              <a:t>git remote add origin &lt;your-empty-repository-url&gt;</a:t>
            </a:r>
          </a:p>
          <a:p>
            <a:pPr algn="l">
              <a:lnSpc>
                <a:spcPct val="100000"/>
              </a:lnSpc>
            </a:pPr>
            <a:r>
              <a:rPr sz="1050">
                <a:solidFill>
                  <a:srgbClr val="1A1A1A"/>
                </a:solidFill>
                <a:latin typeface="Courier New"/>
              </a:rPr>
              <a:t>git push -u origin main</a:t>
            </a:r>
          </a:p>
        </p:txBody>
      </p:sp>
      <p:sp>
        <p:nvSpPr>
          <p:cNvPr id="6" name="TextBox 5"/>
          <p:cNvSpPr txBox="1"/>
          <p:nvPr/>
        </p:nvSpPr>
        <p:spPr>
          <a:xfrm>
            <a:off x="7376464" y="1783080"/>
            <a:ext cx="4205325" cy="4361688"/>
          </a:xfrm>
          <a:prstGeom prst="rect">
            <a:avLst/>
          </a:prstGeom>
          <a:noFill/>
        </p:spPr>
        <p:txBody>
          <a:bodyPr wrap="square" lIns="0" rIns="0" tIns="0" bIns="0">
            <a:spAutoFit/>
          </a:bodyPr>
          <a:lstStyle/>
          <a:p>
            <a:pPr algn="l" marL="228600" indent="-228600">
              <a:spcAft>
                <a:spcPts val="800"/>
              </a:spcAft>
              <a:buFont typeface="Arial"/>
              <a:buChar char="•"/>
            </a:pPr>
            <a:r>
              <a:rPr sz="1300" b="0" i="0">
                <a:solidFill>
                  <a:srgbClr val="1A1A1A"/>
                </a:solidFill>
                <a:latin typeface="Arial"/>
              </a:rPr>
              <a:t>Project 1's kickoff sequence; the exercise gives full details.</a:t>
            </a:r>
          </a:p>
          <a:p>
            <a:pPr algn="l" marL="228600" indent="-228600">
              <a:spcAft>
                <a:spcPts val="800"/>
              </a:spcAft>
              <a:buFont typeface="Arial"/>
              <a:buChar char="•"/>
            </a:pPr>
            <a:r>
              <a:rPr sz="1250" b="0" i="0">
                <a:solidFill>
                  <a:srgbClr val="330066"/>
                </a:solidFill>
                <a:latin typeface="Courier New"/>
              </a:rPr>
              <a:t>.gitignore</a:t>
            </a:r>
            <a:r>
              <a:rPr sz="1300" b="0" i="0">
                <a:solidFill>
                  <a:srgbClr val="1A1A1A"/>
                </a:solidFill>
                <a:latin typeface="Arial"/>
              </a:rPr>
              <a:t> must exist before the first commit, so </a:t>
            </a:r>
            <a:r>
              <a:rPr sz="1250" b="0" i="0">
                <a:solidFill>
                  <a:srgbClr val="330066"/>
                </a:solidFill>
                <a:latin typeface="Courier New"/>
              </a:rPr>
              <a:t>.venv</a:t>
            </a:r>
            <a:r>
              <a:rPr sz="1300" b="0" i="0">
                <a:solidFill>
                  <a:srgbClr val="1A1A1A"/>
                </a:solidFill>
                <a:latin typeface="Arial"/>
              </a:rPr>
              <a:t> is never tracked.</a:t>
            </a:r>
          </a:p>
          <a:p>
            <a:pPr algn="l" marL="228600" indent="-228600">
              <a:spcAft>
                <a:spcPts val="800"/>
              </a:spcAft>
              <a:buFont typeface="Arial"/>
              <a:buChar char="•"/>
            </a:pPr>
            <a:r>
              <a:rPr sz="1300" b="0" i="0">
                <a:solidFill>
                  <a:srgbClr val="1A1A1A"/>
                </a:solidFill>
                <a:latin typeface="Arial"/>
              </a:rPr>
              <a:t>PowerShell: create files with an editor or </a:t>
            </a:r>
            <a:r>
              <a:rPr sz="1250" b="0" i="0">
                <a:solidFill>
                  <a:srgbClr val="330066"/>
                </a:solidFill>
                <a:latin typeface="Courier New"/>
              </a:rPr>
              <a:t>Set-Content</a:t>
            </a:r>
            <a:r>
              <a:rPr sz="1300" b="0" i="0">
                <a:solidFill>
                  <a:srgbClr val="1A1A1A"/>
                </a:solidFill>
                <a:latin typeface="Arial"/>
              </a:rPr>
              <a:t> (</a:t>
            </a:r>
            <a:r>
              <a:rPr sz="1250" b="0" i="0">
                <a:solidFill>
                  <a:srgbClr val="330066"/>
                </a:solidFill>
                <a:latin typeface="Courier New"/>
              </a:rPr>
              <a:t>printf</a:t>
            </a:r>
            <a:r>
              <a:rPr sz="1300" b="0" i="0">
                <a:solidFill>
                  <a:srgbClr val="1A1A1A"/>
                </a:solidFill>
                <a:latin typeface="Arial"/>
              </a:rPr>
              <a:t>, </a:t>
            </a:r>
            <a:r>
              <a:rPr sz="1250" b="0" i="0">
                <a:solidFill>
                  <a:srgbClr val="330066"/>
                </a:solidFill>
                <a:latin typeface="Courier New"/>
              </a:rPr>
              <a:t>touch</a:t>
            </a:r>
            <a:r>
              <a:rPr sz="1300" b="0" i="0">
                <a:solidFill>
                  <a:srgbClr val="1A1A1A"/>
                </a:solidFill>
                <a:latin typeface="Arial"/>
              </a:rPr>
              <a:t> are Unix tools; Git Bash supports them).</a:t>
            </a:r>
          </a:p>
          <a:p>
            <a:pPr algn="l" marL="228600" indent="-228600">
              <a:spcAft>
                <a:spcPts val="800"/>
              </a:spcAft>
              <a:buFont typeface="Arial"/>
              <a:buChar char="•"/>
            </a:pPr>
            <a:r>
              <a:rPr sz="1300" b="0" i="0">
                <a:solidFill>
                  <a:srgbClr val="1A1A1A"/>
                </a:solidFill>
                <a:latin typeface="Arial"/>
              </a:rPr>
              <a:t>An empty </a:t>
            </a:r>
            <a:r>
              <a:rPr sz="1250" b="0" i="0">
                <a:solidFill>
                  <a:srgbClr val="330066"/>
                </a:solidFill>
                <a:latin typeface="Courier New"/>
              </a:rPr>
              <a:t>tests/</a:t>
            </a:r>
            <a:r>
              <a:rPr sz="1300" b="0" i="0">
                <a:solidFill>
                  <a:srgbClr val="1A1A1A"/>
                </a:solidFill>
                <a:latin typeface="Arial"/>
              </a:rPr>
              <a:t> folder is not tracked until it contains a file (convention: a placeholder </a:t>
            </a:r>
            <a:r>
              <a:rPr sz="1250" b="0" i="0">
                <a:solidFill>
                  <a:srgbClr val="330066"/>
                </a:solidFill>
                <a:latin typeface="Courier New"/>
              </a:rPr>
              <a:t>.gitkeep</a:t>
            </a:r>
            <a:r>
              <a:rPr sz="1300" b="0" i="0">
                <a:solidFill>
                  <a:srgbClr val="1A1A1A"/>
                </a:solidFill>
                <a:latin typeface="Arial"/>
              </a:rPr>
              <a:t>).</a:t>
            </a:r>
          </a:p>
        </p:txBody>
      </p:sp>
      <p:sp>
        <p:nvSpPr>
          <p:cNvPr id="7" name="TextBox 6"/>
          <p:cNvSpPr txBox="1"/>
          <p:nvPr/>
        </p:nvSpPr>
        <p:spPr>
          <a:xfrm>
            <a:off x="609904" y="6382512"/>
            <a:ext cx="8686800" cy="274320"/>
          </a:xfrm>
          <a:prstGeom prst="rect">
            <a:avLst/>
          </a:prstGeom>
          <a:noFill/>
        </p:spPr>
        <p:txBody>
          <a:bodyPr wrap="square" anchor="t" lIns="0" rIns="0" tIns="0" bIns="0">
            <a:spAutoFit/>
          </a:bodyPr>
          <a:lstStyle/>
          <a:p>
            <a:pPr algn="l">
              <a:lnSpc>
                <a:spcPct val="110000"/>
              </a:lnSpc>
              <a:spcAft>
                <a:spcPts val="600"/>
              </a:spcAft>
            </a:pPr>
            <a:r>
              <a:rPr sz="900" b="0" i="0">
                <a:solidFill>
                  <a:srgbClr val="5A5A5A"/>
                </a:solidFill>
                <a:latin typeface="Arial"/>
              </a:rPr>
              <a:t>Collaborative Git Workflow  ·  Week 2 · Monday   |   44 / 55</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330066"/>
                </a:solidFill>
              </a:rPr>
              <a:t>Practice</a:t>
            </a:r>
          </a:p>
        </p:txBody>
      </p:sp>
      <p:sp>
        <p:nvSpPr>
          <p:cNvPr id="3" name="Text Placeholder 2"/>
          <p:cNvSpPr>
            <a:spLocks noGrp="1"/>
          </p:cNvSpPr>
          <p:nvPr>
            <p:ph type="body" idx="1"/>
          </p:nvPr>
        </p:nvSpPr>
        <p:spPr/>
        <p:txBody>
          <a:bodyPr/>
          <a:lstStyle/>
          <a:p>
            <a:r>
              <a:rPr sz="1800">
                <a:solidFill>
                  <a:srgbClr val="5A5A5A"/>
                </a:solidFill>
              </a:rPr>
              <a:t>Try each one yourself before looking at the answers</a:t>
            </a:r>
          </a:p>
        </p:txBody>
      </p:sp>
      <p:sp>
        <p:nvSpPr>
          <p:cNvPr id="4" name="TextBox 3"/>
          <p:cNvSpPr txBox="1"/>
          <p:nvPr/>
        </p:nvSpPr>
        <p:spPr>
          <a:xfrm>
            <a:off x="832104" y="1600200"/>
            <a:ext cx="3657600" cy="1097280"/>
          </a:xfrm>
          <a:prstGeom prst="rect">
            <a:avLst/>
          </a:prstGeom>
          <a:noFill/>
        </p:spPr>
        <p:txBody>
          <a:bodyPr wrap="square" anchor="t" lIns="0" rIns="0" tIns="0" bIns="0">
            <a:spAutoFit/>
          </a:bodyPr>
          <a:lstStyle/>
          <a:p>
            <a:pPr algn="l">
              <a:lnSpc>
                <a:spcPct val="110000"/>
              </a:lnSpc>
              <a:spcAft>
                <a:spcPts val="600"/>
              </a:spcAft>
            </a:pPr>
            <a:r>
              <a:rPr sz="6600" b="1" i="0">
                <a:solidFill>
                  <a:srgbClr val="669999"/>
                </a:solidFill>
                <a:latin typeface="Arial"/>
              </a:rPr>
              <a:t>03</a:t>
            </a:r>
          </a:p>
        </p:txBody>
      </p:sp>
      <p:sp>
        <p:nvSpPr>
          <p:cNvPr id="5" name="TextBox 4"/>
          <p:cNvSpPr txBox="1"/>
          <p:nvPr/>
        </p:nvSpPr>
        <p:spPr>
          <a:xfrm>
            <a:off x="609904" y="6382512"/>
            <a:ext cx="8686800" cy="274320"/>
          </a:xfrm>
          <a:prstGeom prst="rect">
            <a:avLst/>
          </a:prstGeom>
          <a:noFill/>
        </p:spPr>
        <p:txBody>
          <a:bodyPr wrap="square" anchor="t" lIns="0" rIns="0" tIns="0" bIns="0">
            <a:spAutoFit/>
          </a:bodyPr>
          <a:lstStyle/>
          <a:p>
            <a:pPr algn="l">
              <a:lnSpc>
                <a:spcPct val="110000"/>
              </a:lnSpc>
              <a:spcAft>
                <a:spcPts val="600"/>
              </a:spcAft>
            </a:pPr>
            <a:r>
              <a:rPr sz="900" b="0" i="0">
                <a:solidFill>
                  <a:srgbClr val="5A5A5A"/>
                </a:solidFill>
                <a:latin typeface="Arial"/>
              </a:rPr>
              <a:t>Collaborative Git Workflow  ·  Week 2 · Monday   |   45 / 55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330066"/>
                </a:solidFill>
              </a:rPr>
              <a:t>Practice Questions (1 of 3)</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PRACTICE</a:t>
            </a:r>
          </a:p>
        </p:txBody>
      </p:sp>
      <p:sp>
        <p:nvSpPr>
          <p:cNvPr id="4" name="Oval 3"/>
          <p:cNvSpPr/>
          <p:nvPr/>
        </p:nvSpPr>
        <p:spPr>
          <a:xfrm>
            <a:off x="609904" y="17830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Arial"/>
              </a:rPr>
              <a:t>Q1</a:t>
            </a:r>
          </a:p>
        </p:txBody>
      </p:sp>
      <p:sp>
        <p:nvSpPr>
          <p:cNvPr id="5" name="TextBox 4"/>
          <p:cNvSpPr txBox="1"/>
          <p:nvPr/>
        </p:nvSpPr>
        <p:spPr>
          <a:xfrm>
            <a:off x="1158544" y="1856231"/>
            <a:ext cx="10423245" cy="384048"/>
          </a:xfrm>
          <a:prstGeom prst="rect">
            <a:avLst/>
          </a:prstGeom>
          <a:noFill/>
        </p:spPr>
        <p:txBody>
          <a:bodyPr wrap="square" anchor="t" lIns="0" rIns="0" tIns="0" bIns="0">
            <a:spAutoFit/>
          </a:bodyPr>
          <a:lstStyle/>
          <a:p>
            <a:pPr algn="l">
              <a:lnSpc>
                <a:spcPct val="110000"/>
              </a:lnSpc>
              <a:spcAft>
                <a:spcPts val="600"/>
              </a:spcAft>
            </a:pPr>
            <a:r>
              <a:rPr sz="1500" b="0" i="0">
                <a:solidFill>
                  <a:srgbClr val="1A1A1A"/>
                </a:solidFill>
                <a:latin typeface="Arial"/>
              </a:rPr>
              <a:t>What is </a:t>
            </a:r>
            <a:r>
              <a:rPr sz="1450" b="0" i="0">
                <a:solidFill>
                  <a:srgbClr val="330066"/>
                </a:solidFill>
                <a:latin typeface="Courier New"/>
              </a:rPr>
              <a:t>origin</a:t>
            </a:r>
            <a:r>
              <a:rPr sz="1500" b="0" i="0">
                <a:solidFill>
                  <a:srgbClr val="1A1A1A"/>
                </a:solidFill>
                <a:latin typeface="Arial"/>
              </a:rPr>
              <a:t>? Is it special to Git, or just a name?</a:t>
            </a:r>
          </a:p>
        </p:txBody>
      </p:sp>
      <p:sp>
        <p:nvSpPr>
          <p:cNvPr id="6" name="Oval 5"/>
          <p:cNvSpPr/>
          <p:nvPr/>
        </p:nvSpPr>
        <p:spPr>
          <a:xfrm>
            <a:off x="609904" y="2368296"/>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Arial"/>
              </a:rPr>
              <a:t>Q2</a:t>
            </a:r>
          </a:p>
        </p:txBody>
      </p:sp>
      <p:sp>
        <p:nvSpPr>
          <p:cNvPr id="7" name="TextBox 6"/>
          <p:cNvSpPr txBox="1"/>
          <p:nvPr/>
        </p:nvSpPr>
        <p:spPr>
          <a:xfrm>
            <a:off x="1158544" y="2441448"/>
            <a:ext cx="10423245" cy="384048"/>
          </a:xfrm>
          <a:prstGeom prst="rect">
            <a:avLst/>
          </a:prstGeom>
          <a:noFill/>
        </p:spPr>
        <p:txBody>
          <a:bodyPr wrap="square" anchor="t" lIns="0" rIns="0" tIns="0" bIns="0">
            <a:spAutoFit/>
          </a:bodyPr>
          <a:lstStyle/>
          <a:p>
            <a:pPr algn="l">
              <a:lnSpc>
                <a:spcPct val="110000"/>
              </a:lnSpc>
              <a:spcAft>
                <a:spcPts val="600"/>
              </a:spcAft>
            </a:pPr>
            <a:r>
              <a:rPr sz="1500" b="0" i="0">
                <a:solidFill>
                  <a:srgbClr val="1A1A1A"/>
                </a:solidFill>
                <a:latin typeface="Arial"/>
              </a:rPr>
              <a:t>Explain the difference between </a:t>
            </a:r>
            <a:r>
              <a:rPr sz="1450" b="0" i="0">
                <a:solidFill>
                  <a:srgbClr val="330066"/>
                </a:solidFill>
                <a:latin typeface="Courier New"/>
              </a:rPr>
              <a:t>main</a:t>
            </a:r>
            <a:r>
              <a:rPr sz="1500" b="0" i="0">
                <a:solidFill>
                  <a:srgbClr val="1A1A1A"/>
                </a:solidFill>
                <a:latin typeface="Arial"/>
              </a:rPr>
              <a:t> and </a:t>
            </a:r>
            <a:r>
              <a:rPr sz="1450" b="0" i="0">
                <a:solidFill>
                  <a:srgbClr val="330066"/>
                </a:solidFill>
                <a:latin typeface="Courier New"/>
              </a:rPr>
              <a:t>origin/main</a:t>
            </a:r>
            <a:r>
              <a:rPr sz="1500" b="0" i="0">
                <a:solidFill>
                  <a:srgbClr val="1A1A1A"/>
                </a:solidFill>
                <a:latin typeface="Arial"/>
              </a:rPr>
              <a:t>.</a:t>
            </a:r>
          </a:p>
        </p:txBody>
      </p:sp>
      <p:sp>
        <p:nvSpPr>
          <p:cNvPr id="8" name="Oval 7"/>
          <p:cNvSpPr/>
          <p:nvPr/>
        </p:nvSpPr>
        <p:spPr>
          <a:xfrm>
            <a:off x="609904" y="2953512"/>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Arial"/>
              </a:rPr>
              <a:t>Q3</a:t>
            </a:r>
          </a:p>
        </p:txBody>
      </p:sp>
      <p:sp>
        <p:nvSpPr>
          <p:cNvPr id="9" name="TextBox 8"/>
          <p:cNvSpPr txBox="1"/>
          <p:nvPr/>
        </p:nvSpPr>
        <p:spPr>
          <a:xfrm>
            <a:off x="1158544" y="3026664"/>
            <a:ext cx="10423245" cy="521970"/>
          </a:xfrm>
          <a:prstGeom prst="rect">
            <a:avLst/>
          </a:prstGeom>
          <a:noFill/>
        </p:spPr>
        <p:txBody>
          <a:bodyPr wrap="square" anchor="t" lIns="0" rIns="0" tIns="0" bIns="0">
            <a:spAutoFit/>
          </a:bodyPr>
          <a:lstStyle/>
          <a:p>
            <a:pPr algn="l">
              <a:lnSpc>
                <a:spcPct val="110000"/>
              </a:lnSpc>
              <a:spcAft>
                <a:spcPts val="600"/>
              </a:spcAft>
            </a:pPr>
            <a:r>
              <a:rPr sz="1450" b="0" i="0">
                <a:solidFill>
                  <a:srgbClr val="330066"/>
                </a:solidFill>
                <a:latin typeface="Courier New"/>
              </a:rPr>
              <a:t>git branch -vv</a:t>
            </a:r>
            <a:r>
              <a:rPr sz="1500" b="0" i="0">
                <a:solidFill>
                  <a:srgbClr val="1A1A1A"/>
                </a:solidFill>
                <a:latin typeface="Arial"/>
              </a:rPr>
              <a:t> shows </a:t>
            </a:r>
            <a:r>
              <a:rPr sz="1450" b="0" i="0">
                <a:solidFill>
                  <a:srgbClr val="330066"/>
                </a:solidFill>
                <a:latin typeface="Courier New"/>
              </a:rPr>
              <a:t>[origin/main: ahead 2, behind 3]</a:t>
            </a:r>
            <a:r>
              <a:rPr sz="1500" b="0" i="0">
                <a:solidFill>
                  <a:srgbClr val="1A1A1A"/>
                </a:solidFill>
                <a:latin typeface="Arial"/>
              </a:rPr>
              <a:t>. What does each number mean, and what are the next steps?</a:t>
            </a:r>
          </a:p>
        </p:txBody>
      </p:sp>
      <p:sp>
        <p:nvSpPr>
          <p:cNvPr id="10" name="Oval 9"/>
          <p:cNvSpPr/>
          <p:nvPr/>
        </p:nvSpPr>
        <p:spPr>
          <a:xfrm>
            <a:off x="609904" y="3676649"/>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Arial"/>
              </a:rPr>
              <a:t>Q4</a:t>
            </a:r>
          </a:p>
        </p:txBody>
      </p:sp>
      <p:sp>
        <p:nvSpPr>
          <p:cNvPr id="11" name="TextBox 10"/>
          <p:cNvSpPr txBox="1"/>
          <p:nvPr/>
        </p:nvSpPr>
        <p:spPr>
          <a:xfrm>
            <a:off x="1158544" y="3749802"/>
            <a:ext cx="10423245" cy="384048"/>
          </a:xfrm>
          <a:prstGeom prst="rect">
            <a:avLst/>
          </a:prstGeom>
          <a:noFill/>
        </p:spPr>
        <p:txBody>
          <a:bodyPr wrap="square" anchor="t" lIns="0" rIns="0" tIns="0" bIns="0">
            <a:spAutoFit/>
          </a:bodyPr>
          <a:lstStyle/>
          <a:p>
            <a:pPr algn="l">
              <a:lnSpc>
                <a:spcPct val="110000"/>
              </a:lnSpc>
              <a:spcAft>
                <a:spcPts val="600"/>
              </a:spcAft>
            </a:pPr>
            <a:r>
              <a:rPr sz="1500" b="0" i="0">
                <a:solidFill>
                  <a:srgbClr val="1A1A1A"/>
                </a:solidFill>
                <a:latin typeface="Arial"/>
              </a:rPr>
              <a:t>Why is </a:t>
            </a:r>
            <a:r>
              <a:rPr sz="1450" b="0" i="0">
                <a:solidFill>
                  <a:srgbClr val="330066"/>
                </a:solidFill>
                <a:latin typeface="Courier New"/>
              </a:rPr>
              <a:t>git fetch</a:t>
            </a:r>
            <a:r>
              <a:rPr sz="1500" b="0" i="0">
                <a:solidFill>
                  <a:srgbClr val="1A1A1A"/>
                </a:solidFill>
                <a:latin typeface="Arial"/>
              </a:rPr>
              <a:t> considered safe? Name two commands to inspect what it brought in.</a:t>
            </a:r>
          </a:p>
        </p:txBody>
      </p:sp>
      <p:sp>
        <p:nvSpPr>
          <p:cNvPr id="12" name="Oval 11"/>
          <p:cNvSpPr/>
          <p:nvPr/>
        </p:nvSpPr>
        <p:spPr>
          <a:xfrm>
            <a:off x="609904" y="4261865"/>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Arial"/>
              </a:rPr>
              <a:t>Q5</a:t>
            </a:r>
          </a:p>
        </p:txBody>
      </p:sp>
      <p:sp>
        <p:nvSpPr>
          <p:cNvPr id="13" name="TextBox 12"/>
          <p:cNvSpPr txBox="1"/>
          <p:nvPr/>
        </p:nvSpPr>
        <p:spPr>
          <a:xfrm>
            <a:off x="1158544" y="4335017"/>
            <a:ext cx="10423245" cy="384048"/>
          </a:xfrm>
          <a:prstGeom prst="rect">
            <a:avLst/>
          </a:prstGeom>
          <a:noFill/>
        </p:spPr>
        <p:txBody>
          <a:bodyPr wrap="square" anchor="t" lIns="0" rIns="0" tIns="0" bIns="0">
            <a:spAutoFit/>
          </a:bodyPr>
          <a:lstStyle/>
          <a:p>
            <a:pPr algn="l">
              <a:lnSpc>
                <a:spcPct val="110000"/>
              </a:lnSpc>
              <a:spcAft>
                <a:spcPts val="600"/>
              </a:spcAft>
            </a:pPr>
            <a:r>
              <a:rPr sz="1450" b="0" i="0">
                <a:solidFill>
                  <a:srgbClr val="330066"/>
                </a:solidFill>
                <a:latin typeface="Courier New"/>
              </a:rPr>
              <a:t>git pull</a:t>
            </a:r>
            <a:r>
              <a:rPr sz="1500" b="0" i="0">
                <a:solidFill>
                  <a:srgbClr val="1A1A1A"/>
                </a:solidFill>
                <a:latin typeface="Arial"/>
              </a:rPr>
              <a:t> equals which two operations? What difference does </a:t>
            </a:r>
            <a:r>
              <a:rPr sz="1450" b="0" i="0">
                <a:solidFill>
                  <a:srgbClr val="330066"/>
                </a:solidFill>
                <a:latin typeface="Courier New"/>
              </a:rPr>
              <a:t>--rebase</a:t>
            </a:r>
            <a:r>
              <a:rPr sz="1500" b="0" i="0">
                <a:solidFill>
                  <a:srgbClr val="1A1A1A"/>
                </a:solidFill>
                <a:latin typeface="Arial"/>
              </a:rPr>
              <a:t> make?</a:t>
            </a:r>
          </a:p>
        </p:txBody>
      </p:sp>
      <p:sp>
        <p:nvSpPr>
          <p:cNvPr id="14" name="TextBox 13"/>
          <p:cNvSpPr txBox="1"/>
          <p:nvPr/>
        </p:nvSpPr>
        <p:spPr>
          <a:xfrm>
            <a:off x="609904" y="6382512"/>
            <a:ext cx="8686800" cy="274320"/>
          </a:xfrm>
          <a:prstGeom prst="rect">
            <a:avLst/>
          </a:prstGeom>
          <a:noFill/>
        </p:spPr>
        <p:txBody>
          <a:bodyPr wrap="square" anchor="t" lIns="0" rIns="0" tIns="0" bIns="0">
            <a:spAutoFit/>
          </a:bodyPr>
          <a:lstStyle/>
          <a:p>
            <a:pPr algn="l">
              <a:lnSpc>
                <a:spcPct val="110000"/>
              </a:lnSpc>
              <a:spcAft>
                <a:spcPts val="600"/>
              </a:spcAft>
            </a:pPr>
            <a:r>
              <a:rPr sz="900" b="0" i="0">
                <a:solidFill>
                  <a:srgbClr val="5A5A5A"/>
                </a:solidFill>
                <a:latin typeface="Arial"/>
              </a:rPr>
              <a:t>Collaborative Git Workflow  ·  Week 2 · Monday   |   46 / 55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330066"/>
                </a:solidFill>
              </a:rPr>
              <a:t>Practice Questions (2 of 3)</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PRACTICE</a:t>
            </a:r>
          </a:p>
        </p:txBody>
      </p:sp>
      <p:sp>
        <p:nvSpPr>
          <p:cNvPr id="4" name="Oval 3"/>
          <p:cNvSpPr/>
          <p:nvPr/>
        </p:nvSpPr>
        <p:spPr>
          <a:xfrm>
            <a:off x="609904" y="17830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Arial"/>
              </a:rPr>
              <a:t>Q6</a:t>
            </a:r>
          </a:p>
        </p:txBody>
      </p:sp>
      <p:sp>
        <p:nvSpPr>
          <p:cNvPr id="5" name="TextBox 4"/>
          <p:cNvSpPr txBox="1"/>
          <p:nvPr/>
        </p:nvSpPr>
        <p:spPr>
          <a:xfrm>
            <a:off x="1158544" y="1856231"/>
            <a:ext cx="10423245" cy="506095"/>
          </a:xfrm>
          <a:prstGeom prst="rect">
            <a:avLst/>
          </a:prstGeom>
          <a:noFill/>
        </p:spPr>
        <p:txBody>
          <a:bodyPr wrap="square" anchor="t" lIns="0" rIns="0" tIns="0" bIns="0">
            <a:spAutoFit/>
          </a:bodyPr>
          <a:lstStyle/>
          <a:p>
            <a:pPr algn="l">
              <a:lnSpc>
                <a:spcPct val="110000"/>
              </a:lnSpc>
              <a:spcAft>
                <a:spcPts val="600"/>
              </a:spcAft>
            </a:pPr>
            <a:r>
              <a:rPr sz="1450" b="0" i="0">
                <a:solidFill>
                  <a:srgbClr val="1A1A1A"/>
                </a:solidFill>
                <a:latin typeface="Arial"/>
              </a:rPr>
              <a:t>You get </a:t>
            </a:r>
            <a:r>
              <a:rPr sz="1400" b="0" i="0">
                <a:solidFill>
                  <a:srgbClr val="330066"/>
                </a:solidFill>
                <a:latin typeface="Courier New"/>
              </a:rPr>
              <a:t>! [rejected] main -&gt; main (fetch first)</a:t>
            </a:r>
            <a:r>
              <a:rPr sz="1450" b="0" i="0">
                <a:solidFill>
                  <a:srgbClr val="1A1A1A"/>
                </a:solidFill>
                <a:latin typeface="Arial"/>
              </a:rPr>
              <a:t>. Write the commands to resolve it and explain why </a:t>
            </a:r>
            <a:r>
              <a:rPr sz="1400" b="0" i="0">
                <a:solidFill>
                  <a:srgbClr val="330066"/>
                </a:solidFill>
                <a:latin typeface="Courier New"/>
              </a:rPr>
              <a:t>git push --force</a:t>
            </a:r>
            <a:r>
              <a:rPr sz="1450" b="0" i="0">
                <a:solidFill>
                  <a:srgbClr val="1A1A1A"/>
                </a:solidFill>
                <a:latin typeface="Arial"/>
              </a:rPr>
              <a:t> is wrong.</a:t>
            </a:r>
          </a:p>
        </p:txBody>
      </p:sp>
      <p:sp>
        <p:nvSpPr>
          <p:cNvPr id="6" name="Oval 5"/>
          <p:cNvSpPr/>
          <p:nvPr/>
        </p:nvSpPr>
        <p:spPr>
          <a:xfrm>
            <a:off x="609904" y="2490343"/>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Arial"/>
              </a:rPr>
              <a:t>Q7</a:t>
            </a:r>
          </a:p>
        </p:txBody>
      </p:sp>
      <p:sp>
        <p:nvSpPr>
          <p:cNvPr id="7" name="TextBox 6"/>
          <p:cNvSpPr txBox="1"/>
          <p:nvPr/>
        </p:nvSpPr>
        <p:spPr>
          <a:xfrm>
            <a:off x="1158544" y="2563495"/>
            <a:ext cx="10423245" cy="384048"/>
          </a:xfrm>
          <a:prstGeom prst="rect">
            <a:avLst/>
          </a:prstGeom>
          <a:noFill/>
        </p:spPr>
        <p:txBody>
          <a:bodyPr wrap="square" anchor="t" lIns="0" rIns="0" tIns="0" bIns="0">
            <a:spAutoFit/>
          </a:bodyPr>
          <a:lstStyle/>
          <a:p>
            <a:pPr algn="l">
              <a:lnSpc>
                <a:spcPct val="110000"/>
              </a:lnSpc>
              <a:spcAft>
                <a:spcPts val="600"/>
              </a:spcAft>
            </a:pPr>
            <a:r>
              <a:rPr sz="1450" b="0" i="0">
                <a:solidFill>
                  <a:srgbClr val="1A1A1A"/>
                </a:solidFill>
                <a:latin typeface="Arial"/>
              </a:rPr>
              <a:t>What does </a:t>
            </a:r>
            <a:r>
              <a:rPr sz="1400" b="0" i="0">
                <a:solidFill>
                  <a:srgbClr val="330066"/>
                </a:solidFill>
                <a:latin typeface="Courier New"/>
              </a:rPr>
              <a:t>git push -u origin feature/x</a:t>
            </a:r>
            <a:r>
              <a:rPr sz="1450" b="0" i="0">
                <a:solidFill>
                  <a:srgbClr val="1A1A1A"/>
                </a:solidFill>
                <a:latin typeface="Arial"/>
              </a:rPr>
              <a:t> do that </a:t>
            </a:r>
            <a:r>
              <a:rPr sz="1400" b="0" i="0">
                <a:solidFill>
                  <a:srgbClr val="330066"/>
                </a:solidFill>
                <a:latin typeface="Courier New"/>
              </a:rPr>
              <a:t>git push origin feature/x</a:t>
            </a:r>
            <a:r>
              <a:rPr sz="1450" b="0" i="0">
                <a:solidFill>
                  <a:srgbClr val="1A1A1A"/>
                </a:solidFill>
                <a:latin typeface="Arial"/>
              </a:rPr>
              <a:t> does not?</a:t>
            </a:r>
          </a:p>
        </p:txBody>
      </p:sp>
      <p:sp>
        <p:nvSpPr>
          <p:cNvPr id="8" name="Oval 7"/>
          <p:cNvSpPr/>
          <p:nvPr/>
        </p:nvSpPr>
        <p:spPr>
          <a:xfrm>
            <a:off x="609904" y="3075559"/>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Arial"/>
              </a:rPr>
              <a:t>Q8</a:t>
            </a:r>
          </a:p>
        </p:txBody>
      </p:sp>
      <p:sp>
        <p:nvSpPr>
          <p:cNvPr id="9" name="TextBox 8"/>
          <p:cNvSpPr txBox="1"/>
          <p:nvPr/>
        </p:nvSpPr>
        <p:spPr>
          <a:xfrm>
            <a:off x="1158544" y="3148711"/>
            <a:ext cx="10423245" cy="384048"/>
          </a:xfrm>
          <a:prstGeom prst="rect">
            <a:avLst/>
          </a:prstGeom>
          <a:noFill/>
        </p:spPr>
        <p:txBody>
          <a:bodyPr wrap="square" anchor="t" lIns="0" rIns="0" tIns="0" bIns="0">
            <a:spAutoFit/>
          </a:bodyPr>
          <a:lstStyle/>
          <a:p>
            <a:pPr algn="l">
              <a:lnSpc>
                <a:spcPct val="110000"/>
              </a:lnSpc>
              <a:spcAft>
                <a:spcPts val="600"/>
              </a:spcAft>
            </a:pPr>
            <a:r>
              <a:rPr sz="1450" b="0" i="0">
                <a:solidFill>
                  <a:srgbClr val="1A1A1A"/>
                </a:solidFill>
                <a:latin typeface="Arial"/>
              </a:rPr>
              <a:t>Name two situations where </a:t>
            </a:r>
            <a:r>
              <a:rPr sz="1400" b="0" i="0">
                <a:solidFill>
                  <a:srgbClr val="330066"/>
                </a:solidFill>
                <a:latin typeface="Courier New"/>
              </a:rPr>
              <a:t>git pull --ff-only</a:t>
            </a:r>
            <a:r>
              <a:rPr sz="1450" b="0" i="0">
                <a:solidFill>
                  <a:srgbClr val="1A1A1A"/>
                </a:solidFill>
                <a:latin typeface="Arial"/>
              </a:rPr>
              <a:t> would refuse. Why might a beginner prefer it?</a:t>
            </a:r>
          </a:p>
        </p:txBody>
      </p:sp>
      <p:sp>
        <p:nvSpPr>
          <p:cNvPr id="10" name="Oval 9"/>
          <p:cNvSpPr/>
          <p:nvPr/>
        </p:nvSpPr>
        <p:spPr>
          <a:xfrm>
            <a:off x="609904" y="3660775"/>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Arial"/>
              </a:rPr>
              <a:t>Q9</a:t>
            </a:r>
          </a:p>
        </p:txBody>
      </p:sp>
      <p:sp>
        <p:nvSpPr>
          <p:cNvPr id="11" name="TextBox 10"/>
          <p:cNvSpPr txBox="1"/>
          <p:nvPr/>
        </p:nvSpPr>
        <p:spPr>
          <a:xfrm>
            <a:off x="1158544" y="3697351"/>
            <a:ext cx="10423245" cy="974407"/>
          </a:xfrm>
          <a:prstGeom prst="rect">
            <a:avLst/>
          </a:prstGeom>
          <a:noFill/>
        </p:spPr>
        <p:txBody>
          <a:bodyPr wrap="square" anchor="t" lIns="0" rIns="0" tIns="0" bIns="0">
            <a:spAutoFit/>
          </a:bodyPr>
          <a:lstStyle/>
          <a:p>
            <a:pPr algn="l">
              <a:lnSpc>
                <a:spcPct val="110000"/>
              </a:lnSpc>
              <a:spcAft>
                <a:spcPts val="200"/>
              </a:spcAft>
            </a:pPr>
            <a:r>
              <a:rPr sz="1500" b="1" i="0">
                <a:solidFill>
                  <a:srgbClr val="330066"/>
                </a:solidFill>
                <a:latin typeface="Arial"/>
              </a:rPr>
              <a:t>Hands-on</a:t>
            </a:r>
          </a:p>
          <a:p>
            <a:pPr algn="l">
              <a:lnSpc>
                <a:spcPct val="110000"/>
              </a:lnSpc>
              <a:spcAft>
                <a:spcPts val="600"/>
              </a:spcAft>
            </a:pPr>
            <a:r>
              <a:rPr sz="1450" b="0" i="0">
                <a:solidFill>
                  <a:srgbClr val="1A1A1A"/>
                </a:solidFill>
                <a:latin typeface="Arial"/>
              </a:rPr>
              <a:t>With Example 1's bare repo: (a) Alice and Bob clone; (b) Alice pushes </a:t>
            </a:r>
            <a:r>
              <a:rPr sz="1400" b="0" i="0">
                <a:solidFill>
                  <a:srgbClr val="330066"/>
                </a:solidFill>
                <a:latin typeface="Courier New"/>
              </a:rPr>
              <a:t>validators.py</a:t>
            </a:r>
            <a:r>
              <a:rPr sz="1450" b="0" i="0">
                <a:solidFill>
                  <a:srgbClr val="1A1A1A"/>
                </a:solidFill>
                <a:latin typeface="Arial"/>
              </a:rPr>
              <a:t>; (c) Bob pulls it; (d) Bob adds </a:t>
            </a:r>
            <a:r>
              <a:rPr sz="1400" b="0" i="0">
                <a:solidFill>
                  <a:srgbClr val="330066"/>
                </a:solidFill>
                <a:latin typeface="Courier New"/>
              </a:rPr>
              <a:t>formatters.py</a:t>
            </a:r>
            <a:r>
              <a:rPr sz="1450" b="0" i="0">
                <a:solidFill>
                  <a:srgbClr val="1A1A1A"/>
                </a:solidFill>
                <a:latin typeface="Arial"/>
              </a:rPr>
              <a:t> while Alice pushes </a:t>
            </a:r>
            <a:r>
              <a:rPr sz="1400" b="0" i="0">
                <a:solidFill>
                  <a:srgbClr val="330066"/>
                </a:solidFill>
                <a:latin typeface="Courier New"/>
              </a:rPr>
              <a:t>README.md</a:t>
            </a:r>
            <a:r>
              <a:rPr sz="1450" b="0" i="0">
                <a:solidFill>
                  <a:srgbClr val="1A1A1A"/>
                </a:solidFill>
                <a:latin typeface="Arial"/>
              </a:rPr>
              <a:t> first; (e) Bob resolves the rejection with </a:t>
            </a:r>
            <a:r>
              <a:rPr sz="1400" b="0" i="0">
                <a:solidFill>
                  <a:srgbClr val="330066"/>
                </a:solidFill>
                <a:latin typeface="Courier New"/>
              </a:rPr>
              <a:t>fetch</a:t>
            </a:r>
            <a:r>
              <a:rPr sz="1450" b="0" i="0">
                <a:solidFill>
                  <a:srgbClr val="1A1A1A"/>
                </a:solidFill>
                <a:latin typeface="Arial"/>
              </a:rPr>
              <a:t>, inspection and </a:t>
            </a:r>
            <a:r>
              <a:rPr sz="1400" b="0" i="0">
                <a:solidFill>
                  <a:srgbClr val="330066"/>
                </a:solidFill>
                <a:latin typeface="Courier New"/>
              </a:rPr>
              <a:t>pull --rebase</a:t>
            </a:r>
            <a:r>
              <a:rPr sz="1450" b="0" i="0">
                <a:solidFill>
                  <a:srgbClr val="1A1A1A"/>
                </a:solidFill>
                <a:latin typeface="Arial"/>
              </a:rPr>
              <a:t>; (f) show </a:t>
            </a:r>
            <a:r>
              <a:rPr sz="1400" b="0" i="0">
                <a:solidFill>
                  <a:srgbClr val="330066"/>
                </a:solidFill>
                <a:latin typeface="Courier New"/>
              </a:rPr>
              <a:t>git log --oneline --graph</a:t>
            </a:r>
            <a:r>
              <a:rPr sz="1450" b="0" i="0">
                <a:solidFill>
                  <a:srgbClr val="1A1A1A"/>
                </a:solidFill>
                <a:latin typeface="Arial"/>
              </a:rPr>
              <a:t>.</a:t>
            </a:r>
          </a:p>
        </p:txBody>
      </p:sp>
      <p:sp>
        <p:nvSpPr>
          <p:cNvPr id="12" name="TextBox 11"/>
          <p:cNvSpPr txBox="1"/>
          <p:nvPr/>
        </p:nvSpPr>
        <p:spPr>
          <a:xfrm>
            <a:off x="609904" y="6382512"/>
            <a:ext cx="8686800" cy="274320"/>
          </a:xfrm>
          <a:prstGeom prst="rect">
            <a:avLst/>
          </a:prstGeom>
          <a:noFill/>
        </p:spPr>
        <p:txBody>
          <a:bodyPr wrap="square" anchor="t" lIns="0" rIns="0" tIns="0" bIns="0">
            <a:spAutoFit/>
          </a:bodyPr>
          <a:lstStyle/>
          <a:p>
            <a:pPr algn="l">
              <a:lnSpc>
                <a:spcPct val="110000"/>
              </a:lnSpc>
              <a:spcAft>
                <a:spcPts val="600"/>
              </a:spcAft>
            </a:pPr>
            <a:r>
              <a:rPr sz="900" b="0" i="0">
                <a:solidFill>
                  <a:srgbClr val="5A5A5A"/>
                </a:solidFill>
                <a:latin typeface="Arial"/>
              </a:rPr>
              <a:t>Collaborative Git Workflow  ·  Week 2 · Monday   |   47 / 55</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330066"/>
                </a:solidFill>
              </a:rPr>
              <a:t>Practice Questions (3 of 3)</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PRACTICE</a:t>
            </a:r>
          </a:p>
        </p:txBody>
      </p:sp>
      <p:sp>
        <p:nvSpPr>
          <p:cNvPr id="4" name="Oval 3"/>
          <p:cNvSpPr/>
          <p:nvPr/>
        </p:nvSpPr>
        <p:spPr>
          <a:xfrm>
            <a:off x="609904" y="17830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Q10</a:t>
            </a:r>
          </a:p>
        </p:txBody>
      </p:sp>
      <p:sp>
        <p:nvSpPr>
          <p:cNvPr id="5" name="TextBox 4"/>
          <p:cNvSpPr txBox="1"/>
          <p:nvPr/>
        </p:nvSpPr>
        <p:spPr>
          <a:xfrm>
            <a:off x="1158544" y="1819656"/>
            <a:ext cx="10423245" cy="768032"/>
          </a:xfrm>
          <a:prstGeom prst="rect">
            <a:avLst/>
          </a:prstGeom>
          <a:noFill/>
        </p:spPr>
        <p:txBody>
          <a:bodyPr wrap="square" anchor="t" lIns="0" rIns="0" tIns="0" bIns="0">
            <a:spAutoFit/>
          </a:bodyPr>
          <a:lstStyle/>
          <a:p>
            <a:pPr algn="l">
              <a:lnSpc>
                <a:spcPct val="110000"/>
              </a:lnSpc>
              <a:spcAft>
                <a:spcPts val="200"/>
              </a:spcAft>
            </a:pPr>
            <a:r>
              <a:rPr sz="1550" b="1" i="0">
                <a:solidFill>
                  <a:srgbClr val="330066"/>
                </a:solidFill>
                <a:latin typeface="Arial"/>
              </a:rPr>
              <a:t>Scenario</a:t>
            </a:r>
          </a:p>
          <a:p>
            <a:pPr algn="l">
              <a:lnSpc>
                <a:spcPct val="110000"/>
              </a:lnSpc>
              <a:spcAft>
                <a:spcPts val="600"/>
              </a:spcAft>
            </a:pPr>
            <a:r>
              <a:rPr sz="1500" b="0" i="0">
                <a:solidFill>
                  <a:srgbClr val="1A1A1A"/>
                </a:solidFill>
                <a:latin typeface="Arial"/>
              </a:rPr>
              <a:t>"I fixed the failing test and pushed, but you can't see it on my machine's </a:t>
            </a:r>
            <a:r>
              <a:rPr sz="1450" b="0" i="0">
                <a:solidFill>
                  <a:srgbClr val="330066"/>
                </a:solidFill>
                <a:latin typeface="Courier New"/>
              </a:rPr>
              <a:t>main</a:t>
            </a:r>
            <a:r>
              <a:rPr sz="1500" b="0" i="0">
                <a:solidFill>
                  <a:srgbClr val="1A1A1A"/>
                </a:solidFill>
                <a:latin typeface="Arial"/>
              </a:rPr>
              <a:t> because I only committed, not pushed." What mistake is this, and how do they verify what is on the remote?</a:t>
            </a:r>
          </a:p>
        </p:txBody>
      </p:sp>
      <p:sp>
        <p:nvSpPr>
          <p:cNvPr id="6" name="Oval 5"/>
          <p:cNvSpPr/>
          <p:nvPr/>
        </p:nvSpPr>
        <p:spPr>
          <a:xfrm>
            <a:off x="609904" y="27522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Q11</a:t>
            </a:r>
          </a:p>
        </p:txBody>
      </p:sp>
      <p:sp>
        <p:nvSpPr>
          <p:cNvPr id="7" name="TextBox 6"/>
          <p:cNvSpPr txBox="1"/>
          <p:nvPr/>
        </p:nvSpPr>
        <p:spPr>
          <a:xfrm>
            <a:off x="1158544" y="2788856"/>
            <a:ext cx="10423245" cy="768032"/>
          </a:xfrm>
          <a:prstGeom prst="rect">
            <a:avLst/>
          </a:prstGeom>
          <a:noFill/>
        </p:spPr>
        <p:txBody>
          <a:bodyPr wrap="square" anchor="t" lIns="0" rIns="0" tIns="0" bIns="0">
            <a:spAutoFit/>
          </a:bodyPr>
          <a:lstStyle/>
          <a:p>
            <a:pPr algn="l">
              <a:lnSpc>
                <a:spcPct val="110000"/>
              </a:lnSpc>
              <a:spcAft>
                <a:spcPts val="200"/>
              </a:spcAft>
            </a:pPr>
            <a:r>
              <a:rPr sz="1550" b="1" i="0">
                <a:solidFill>
                  <a:srgbClr val="330066"/>
                </a:solidFill>
                <a:latin typeface="Arial"/>
              </a:rPr>
              <a:t>Design</a:t>
            </a:r>
          </a:p>
          <a:p>
            <a:pPr algn="l">
              <a:lnSpc>
                <a:spcPct val="110000"/>
              </a:lnSpc>
              <a:spcAft>
                <a:spcPts val="600"/>
              </a:spcAft>
            </a:pPr>
            <a:r>
              <a:rPr sz="1500" b="0" i="0">
                <a:solidFill>
                  <a:srgbClr val="1A1A1A"/>
                </a:solidFill>
                <a:latin typeface="Arial"/>
              </a:rPr>
              <a:t>Your team protects </a:t>
            </a:r>
            <a:r>
              <a:rPr sz="1450" b="0" i="0">
                <a:solidFill>
                  <a:srgbClr val="330066"/>
                </a:solidFill>
                <a:latin typeface="Courier New"/>
              </a:rPr>
              <a:t>main</a:t>
            </a:r>
            <a:r>
              <a:rPr sz="1500" b="0" i="0">
                <a:solidFill>
                  <a:srgbClr val="1A1A1A"/>
                </a:solidFill>
                <a:latin typeface="Arial"/>
              </a:rPr>
              <a:t>. Describe the end-to-end flow for adding one new test helper from your laptop to </a:t>
            </a:r>
            <a:r>
              <a:rPr sz="1450" b="0" i="0">
                <a:solidFill>
                  <a:srgbClr val="330066"/>
                </a:solidFill>
                <a:latin typeface="Courier New"/>
              </a:rPr>
              <a:t>main</a:t>
            </a:r>
            <a:r>
              <a:rPr sz="1500" b="0" i="0">
                <a:solidFill>
                  <a:srgbClr val="1A1A1A"/>
                </a:solidFill>
                <a:latin typeface="Arial"/>
              </a:rPr>
              <a:t>.</a:t>
            </a:r>
          </a:p>
        </p:txBody>
      </p:sp>
      <p:sp>
        <p:nvSpPr>
          <p:cNvPr id="8" name="Oval 7"/>
          <p:cNvSpPr/>
          <p:nvPr/>
        </p:nvSpPr>
        <p:spPr>
          <a:xfrm>
            <a:off x="609904" y="3721481"/>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Q12</a:t>
            </a:r>
          </a:p>
        </p:txBody>
      </p:sp>
      <p:sp>
        <p:nvSpPr>
          <p:cNvPr id="9" name="TextBox 8"/>
          <p:cNvSpPr txBox="1"/>
          <p:nvPr/>
        </p:nvSpPr>
        <p:spPr>
          <a:xfrm>
            <a:off x="1158544" y="3758057"/>
            <a:ext cx="10423245" cy="529907"/>
          </a:xfrm>
          <a:prstGeom prst="rect">
            <a:avLst/>
          </a:prstGeom>
          <a:noFill/>
        </p:spPr>
        <p:txBody>
          <a:bodyPr wrap="square" anchor="t" lIns="0" rIns="0" tIns="0" bIns="0">
            <a:spAutoFit/>
          </a:bodyPr>
          <a:lstStyle/>
          <a:p>
            <a:pPr algn="l">
              <a:lnSpc>
                <a:spcPct val="110000"/>
              </a:lnSpc>
              <a:spcAft>
                <a:spcPts val="200"/>
              </a:spcAft>
            </a:pPr>
            <a:r>
              <a:rPr sz="1550" b="1" i="0">
                <a:solidFill>
                  <a:srgbClr val="330066"/>
                </a:solidFill>
                <a:latin typeface="Arial"/>
              </a:rPr>
              <a:t>Safety</a:t>
            </a:r>
          </a:p>
          <a:p>
            <a:pPr algn="l">
              <a:lnSpc>
                <a:spcPct val="110000"/>
              </a:lnSpc>
              <a:spcAft>
                <a:spcPts val="600"/>
              </a:spcAft>
            </a:pPr>
            <a:r>
              <a:rPr sz="1500" b="0" i="0">
                <a:solidFill>
                  <a:srgbClr val="1A1A1A"/>
                </a:solidFill>
                <a:latin typeface="Arial"/>
              </a:rPr>
              <a:t>You accidentally committed an API token and pushed. List your actions in order.</a:t>
            </a:r>
          </a:p>
        </p:txBody>
      </p:sp>
      <p:sp>
        <p:nvSpPr>
          <p:cNvPr id="10" name="TextBox 9"/>
          <p:cNvSpPr txBox="1"/>
          <p:nvPr/>
        </p:nvSpPr>
        <p:spPr>
          <a:xfrm>
            <a:off x="609904" y="6382512"/>
            <a:ext cx="8686800" cy="274320"/>
          </a:xfrm>
          <a:prstGeom prst="rect">
            <a:avLst/>
          </a:prstGeom>
          <a:noFill/>
        </p:spPr>
        <p:txBody>
          <a:bodyPr wrap="square" anchor="t" lIns="0" rIns="0" tIns="0" bIns="0">
            <a:spAutoFit/>
          </a:bodyPr>
          <a:lstStyle/>
          <a:p>
            <a:pPr algn="l">
              <a:lnSpc>
                <a:spcPct val="110000"/>
              </a:lnSpc>
              <a:spcAft>
                <a:spcPts val="600"/>
              </a:spcAft>
            </a:pPr>
            <a:r>
              <a:rPr sz="900" b="0" i="0">
                <a:solidFill>
                  <a:srgbClr val="5A5A5A"/>
                </a:solidFill>
                <a:latin typeface="Arial"/>
              </a:rPr>
              <a:t>Collaborative Git Workflow  ·  Week 2 · Monday   |   48 / 55</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330066"/>
                </a:solidFill>
              </a:rPr>
              <a:t>Answers (1 of 4)</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PRACTICE</a:t>
            </a:r>
          </a:p>
        </p:txBody>
      </p:sp>
      <p:sp>
        <p:nvSpPr>
          <p:cNvPr id="4" name="Oval 3"/>
          <p:cNvSpPr/>
          <p:nvPr/>
        </p:nvSpPr>
        <p:spPr>
          <a:xfrm>
            <a:off x="609904" y="17830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Arial"/>
              </a:rPr>
              <a:t>A1</a:t>
            </a:r>
          </a:p>
        </p:txBody>
      </p:sp>
      <p:sp>
        <p:nvSpPr>
          <p:cNvPr id="5" name="TextBox 4"/>
          <p:cNvSpPr txBox="1"/>
          <p:nvPr/>
        </p:nvSpPr>
        <p:spPr>
          <a:xfrm>
            <a:off x="1158544" y="1856231"/>
            <a:ext cx="10423245" cy="384048"/>
          </a:xfrm>
          <a:prstGeom prst="rect">
            <a:avLst/>
          </a:prstGeom>
          <a:noFill/>
        </p:spPr>
        <p:txBody>
          <a:bodyPr wrap="square" anchor="t" lIns="0" rIns="0" tIns="0" bIns="0">
            <a:spAutoFit/>
          </a:bodyPr>
          <a:lstStyle/>
          <a:p>
            <a:pPr algn="l">
              <a:lnSpc>
                <a:spcPct val="110000"/>
              </a:lnSpc>
              <a:spcAft>
                <a:spcPts val="600"/>
              </a:spcAft>
            </a:pPr>
            <a:r>
              <a:rPr sz="1400" b="0" i="0">
                <a:solidFill>
                  <a:srgbClr val="1A1A1A"/>
                </a:solidFill>
                <a:latin typeface="Arial"/>
              </a:rPr>
              <a:t>The default name for the remote you cloned from: just a nickname for a URL. Rename it or add others.</a:t>
            </a:r>
          </a:p>
        </p:txBody>
      </p:sp>
      <p:sp>
        <p:nvSpPr>
          <p:cNvPr id="6" name="Oval 5"/>
          <p:cNvSpPr/>
          <p:nvPr/>
        </p:nvSpPr>
        <p:spPr>
          <a:xfrm>
            <a:off x="609904" y="2313432"/>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Arial"/>
              </a:rPr>
              <a:t>A2</a:t>
            </a:r>
          </a:p>
        </p:txBody>
      </p:sp>
      <p:sp>
        <p:nvSpPr>
          <p:cNvPr id="7" name="TextBox 6"/>
          <p:cNvSpPr txBox="1"/>
          <p:nvPr/>
        </p:nvSpPr>
        <p:spPr>
          <a:xfrm>
            <a:off x="1158544" y="2386584"/>
            <a:ext cx="10423245" cy="490220"/>
          </a:xfrm>
          <a:prstGeom prst="rect">
            <a:avLst/>
          </a:prstGeom>
          <a:noFill/>
        </p:spPr>
        <p:txBody>
          <a:bodyPr wrap="square" anchor="t" lIns="0" rIns="0" tIns="0" bIns="0">
            <a:spAutoFit/>
          </a:bodyPr>
          <a:lstStyle/>
          <a:p>
            <a:pPr algn="l">
              <a:lnSpc>
                <a:spcPct val="110000"/>
              </a:lnSpc>
              <a:spcAft>
                <a:spcPts val="600"/>
              </a:spcAft>
            </a:pPr>
            <a:r>
              <a:rPr sz="1350" b="0" i="0">
                <a:solidFill>
                  <a:srgbClr val="330066"/>
                </a:solidFill>
                <a:latin typeface="Courier New"/>
              </a:rPr>
              <a:t>main</a:t>
            </a:r>
            <a:r>
              <a:rPr sz="1400" b="0" i="0">
                <a:solidFill>
                  <a:srgbClr val="1A1A1A"/>
                </a:solidFill>
                <a:latin typeface="Arial"/>
              </a:rPr>
              <a:t> is your local branch, moved by committing. </a:t>
            </a:r>
            <a:r>
              <a:rPr sz="1350" b="0" i="0">
                <a:solidFill>
                  <a:srgbClr val="330066"/>
                </a:solidFill>
                <a:latin typeface="Courier New"/>
              </a:rPr>
              <a:t>origin/main</a:t>
            </a:r>
            <a:r>
              <a:rPr sz="1400" b="0" i="0">
                <a:solidFill>
                  <a:srgbClr val="1A1A1A"/>
                </a:solidFill>
                <a:latin typeface="Arial"/>
              </a:rPr>
              <a:t> is a remote-tracking branch: where the remote </a:t>
            </a:r>
            <a:r>
              <a:rPr sz="1350" b="0" i="0">
                <a:solidFill>
                  <a:srgbClr val="330066"/>
                </a:solidFill>
                <a:latin typeface="Courier New"/>
              </a:rPr>
              <a:t>main</a:t>
            </a:r>
            <a:r>
              <a:rPr sz="1400" b="0" i="0">
                <a:solidFill>
                  <a:srgbClr val="1A1A1A"/>
                </a:solidFill>
                <a:latin typeface="Arial"/>
              </a:rPr>
              <a:t> was at your last fetch/pull/push. You do not commit on it.</a:t>
            </a:r>
          </a:p>
        </p:txBody>
      </p:sp>
      <p:sp>
        <p:nvSpPr>
          <p:cNvPr id="8" name="Oval 7"/>
          <p:cNvSpPr/>
          <p:nvPr/>
        </p:nvSpPr>
        <p:spPr>
          <a:xfrm>
            <a:off x="609904" y="2949956"/>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Arial"/>
              </a:rPr>
              <a:t>A3</a:t>
            </a:r>
          </a:p>
        </p:txBody>
      </p:sp>
      <p:sp>
        <p:nvSpPr>
          <p:cNvPr id="9" name="TextBox 8"/>
          <p:cNvSpPr txBox="1"/>
          <p:nvPr/>
        </p:nvSpPr>
        <p:spPr>
          <a:xfrm>
            <a:off x="1158544" y="3023108"/>
            <a:ext cx="10423245" cy="490220"/>
          </a:xfrm>
          <a:prstGeom prst="rect">
            <a:avLst/>
          </a:prstGeom>
          <a:noFill/>
        </p:spPr>
        <p:txBody>
          <a:bodyPr wrap="square" anchor="t" lIns="0" rIns="0" tIns="0" bIns="0">
            <a:spAutoFit/>
          </a:bodyPr>
          <a:lstStyle/>
          <a:p>
            <a:pPr algn="l">
              <a:lnSpc>
                <a:spcPct val="110000"/>
              </a:lnSpc>
              <a:spcAft>
                <a:spcPts val="600"/>
              </a:spcAft>
            </a:pPr>
            <a:r>
              <a:rPr sz="1400" b="0" i="0">
                <a:solidFill>
                  <a:srgbClr val="1A1A1A"/>
                </a:solidFill>
                <a:latin typeface="Arial"/>
              </a:rPr>
              <a:t>2 local commits the remote lacks (ahead 2), 3 remote commits you lack (behind 3): diverged. Integrate (</a:t>
            </a:r>
            <a:r>
              <a:rPr sz="1350" b="0" i="0">
                <a:solidFill>
                  <a:srgbClr val="330066"/>
                </a:solidFill>
                <a:latin typeface="Courier New"/>
              </a:rPr>
              <a:t>git pull --rebase</a:t>
            </a:r>
            <a:r>
              <a:rPr sz="1400" b="0" i="0">
                <a:solidFill>
                  <a:srgbClr val="1A1A1A"/>
                </a:solidFill>
                <a:latin typeface="Arial"/>
              </a:rPr>
              <a:t>, or </a:t>
            </a:r>
            <a:r>
              <a:rPr sz="1350" b="0" i="0">
                <a:solidFill>
                  <a:srgbClr val="330066"/>
                </a:solidFill>
                <a:latin typeface="Courier New"/>
              </a:rPr>
              <a:t>git pull</a:t>
            </a:r>
            <a:r>
              <a:rPr sz="1400" b="0" i="0">
                <a:solidFill>
                  <a:srgbClr val="1A1A1A"/>
                </a:solidFill>
                <a:latin typeface="Arial"/>
              </a:rPr>
              <a:t> with a merge), then </a:t>
            </a:r>
            <a:r>
              <a:rPr sz="1350" b="0" i="0">
                <a:solidFill>
                  <a:srgbClr val="330066"/>
                </a:solidFill>
                <a:latin typeface="Courier New"/>
              </a:rPr>
              <a:t>git push</a:t>
            </a:r>
            <a:r>
              <a:rPr sz="1400" b="0" i="0">
                <a:solidFill>
                  <a:srgbClr val="1A1A1A"/>
                </a:solidFill>
                <a:latin typeface="Arial"/>
              </a:rPr>
              <a:t>.</a:t>
            </a:r>
          </a:p>
        </p:txBody>
      </p:sp>
      <p:sp>
        <p:nvSpPr>
          <p:cNvPr id="10" name="Oval 9"/>
          <p:cNvSpPr/>
          <p:nvPr/>
        </p:nvSpPr>
        <p:spPr>
          <a:xfrm>
            <a:off x="609904" y="35864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Arial"/>
              </a:rPr>
              <a:t>A4</a:t>
            </a:r>
          </a:p>
        </p:txBody>
      </p:sp>
      <p:sp>
        <p:nvSpPr>
          <p:cNvPr id="11" name="TextBox 10"/>
          <p:cNvSpPr txBox="1"/>
          <p:nvPr/>
        </p:nvSpPr>
        <p:spPr>
          <a:xfrm>
            <a:off x="1158544" y="3659631"/>
            <a:ext cx="10423245" cy="712470"/>
          </a:xfrm>
          <a:prstGeom prst="rect">
            <a:avLst/>
          </a:prstGeom>
          <a:noFill/>
        </p:spPr>
        <p:txBody>
          <a:bodyPr wrap="square" anchor="t" lIns="0" rIns="0" tIns="0" bIns="0">
            <a:spAutoFit/>
          </a:bodyPr>
          <a:lstStyle/>
          <a:p>
            <a:pPr algn="l">
              <a:lnSpc>
                <a:spcPct val="110000"/>
              </a:lnSpc>
              <a:spcAft>
                <a:spcPts val="600"/>
              </a:spcAft>
            </a:pPr>
            <a:r>
              <a:rPr sz="1400" b="0" i="0">
                <a:solidFill>
                  <a:srgbClr val="1A1A1A"/>
                </a:solidFill>
                <a:latin typeface="Arial"/>
              </a:rPr>
              <a:t>It only downloads data and updates remote-tracking branches; never your local branches or files. Inspect: </a:t>
            </a:r>
            <a:r>
              <a:rPr sz="1350" b="0" i="0">
                <a:solidFill>
                  <a:srgbClr val="330066"/>
                </a:solidFill>
                <a:latin typeface="Courier New"/>
              </a:rPr>
              <a:t>git log --oneline HEAD..origin/main</a:t>
            </a:r>
            <a:r>
              <a:rPr sz="1400" b="0" i="0">
                <a:solidFill>
                  <a:srgbClr val="1A1A1A"/>
                </a:solidFill>
                <a:latin typeface="Arial"/>
              </a:rPr>
              <a:t>, </a:t>
            </a:r>
            <a:r>
              <a:rPr sz="1350" b="0" i="0">
                <a:solidFill>
                  <a:srgbClr val="330066"/>
                </a:solidFill>
                <a:latin typeface="Courier New"/>
              </a:rPr>
              <a:t>git diff --stat HEAD...origin/main</a:t>
            </a:r>
            <a:r>
              <a:rPr sz="1400" b="0" i="0">
                <a:solidFill>
                  <a:srgbClr val="1A1A1A"/>
                </a:solidFill>
                <a:latin typeface="Arial"/>
              </a:rPr>
              <a:t> (also </a:t>
            </a:r>
            <a:r>
              <a:rPr sz="1350" b="0" i="0">
                <a:solidFill>
                  <a:srgbClr val="330066"/>
                </a:solidFill>
                <a:latin typeface="Courier New"/>
              </a:rPr>
              <a:t>git status -sb</a:t>
            </a:r>
            <a:r>
              <a:rPr sz="1400" b="0" i="0">
                <a:solidFill>
                  <a:srgbClr val="1A1A1A"/>
                </a:solidFill>
                <a:latin typeface="Arial"/>
              </a:rPr>
              <a:t>, </a:t>
            </a:r>
            <a:r>
              <a:rPr sz="1350" b="0" i="0">
                <a:solidFill>
                  <a:srgbClr val="330066"/>
                </a:solidFill>
                <a:latin typeface="Courier New"/>
              </a:rPr>
              <a:t>git log --oneline --graph --all</a:t>
            </a:r>
            <a:r>
              <a:rPr sz="1400" b="0" i="0">
                <a:solidFill>
                  <a:srgbClr val="1A1A1A"/>
                </a:solidFill>
                <a:latin typeface="Arial"/>
              </a:rPr>
              <a:t>).</a:t>
            </a:r>
          </a:p>
        </p:txBody>
      </p:sp>
      <p:sp>
        <p:nvSpPr>
          <p:cNvPr id="12" name="TextBox 11"/>
          <p:cNvSpPr txBox="1"/>
          <p:nvPr/>
        </p:nvSpPr>
        <p:spPr>
          <a:xfrm>
            <a:off x="609904" y="6382512"/>
            <a:ext cx="8686800" cy="274320"/>
          </a:xfrm>
          <a:prstGeom prst="rect">
            <a:avLst/>
          </a:prstGeom>
          <a:noFill/>
        </p:spPr>
        <p:txBody>
          <a:bodyPr wrap="square" anchor="t" lIns="0" rIns="0" tIns="0" bIns="0">
            <a:spAutoFit/>
          </a:bodyPr>
          <a:lstStyle/>
          <a:p>
            <a:pPr algn="l">
              <a:lnSpc>
                <a:spcPct val="110000"/>
              </a:lnSpc>
              <a:spcAft>
                <a:spcPts val="600"/>
              </a:spcAft>
            </a:pPr>
            <a:r>
              <a:rPr sz="900" b="0" i="0">
                <a:solidFill>
                  <a:srgbClr val="5A5A5A"/>
                </a:solidFill>
                <a:latin typeface="Arial"/>
              </a:rPr>
              <a:t>Collaborative Git Workflow  ·  Week 2 · Monday   |   49 / 55</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330066"/>
                </a:solidFill>
              </a:rPr>
              <a:t>Answers (2 of 4): A5, A6</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PRACTICE</a:t>
            </a:r>
          </a:p>
        </p:txBody>
      </p:sp>
      <p:sp>
        <p:nvSpPr>
          <p:cNvPr id="4" name="TextBox 3"/>
          <p:cNvSpPr txBox="1"/>
          <p:nvPr/>
        </p:nvSpPr>
        <p:spPr>
          <a:xfrm>
            <a:off x="609904" y="1783080"/>
            <a:ext cx="10971885" cy="457200"/>
          </a:xfrm>
          <a:prstGeom prst="rect">
            <a:avLst/>
          </a:prstGeom>
          <a:noFill/>
        </p:spPr>
        <p:txBody>
          <a:bodyPr wrap="square" anchor="t" lIns="0" rIns="0" tIns="0" bIns="0">
            <a:spAutoFit/>
          </a:bodyPr>
          <a:lstStyle/>
          <a:p>
            <a:pPr algn="l">
              <a:lnSpc>
                <a:spcPct val="110000"/>
              </a:lnSpc>
              <a:spcAft>
                <a:spcPts val="600"/>
              </a:spcAft>
            </a:pPr>
            <a:r>
              <a:rPr sz="1500" b="0" i="0">
                <a:solidFill>
                  <a:srgbClr val="1A1A1A"/>
                </a:solidFill>
                <a:latin typeface="Arial"/>
              </a:rPr>
              <a:t>A6:</a:t>
            </a:r>
          </a:p>
        </p:txBody>
      </p:sp>
      <p:sp>
        <p:nvSpPr>
          <p:cNvPr id="5" name="Rounded Rectangle 4"/>
          <p:cNvSpPr/>
          <p:nvPr/>
        </p:nvSpPr>
        <p:spPr>
          <a:xfrm>
            <a:off x="609904" y="2221991"/>
            <a:ext cx="6400800" cy="1130808"/>
          </a:xfrm>
          <a:prstGeom prst="roundRect">
            <a:avLst>
              <a:gd name="adj" fmla="val 6469"/>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1072" y="2368296"/>
            <a:ext cx="5998464" cy="838200"/>
          </a:xfrm>
          <a:prstGeom prst="rect">
            <a:avLst/>
          </a:prstGeom>
          <a:noFill/>
        </p:spPr>
        <p:txBody>
          <a:bodyPr wrap="square" lIns="0" rIns="0" tIns="0" bIns="0">
            <a:spAutoFit/>
          </a:bodyPr>
          <a:lstStyle/>
          <a:p>
            <a:pPr algn="l">
              <a:lnSpc>
                <a:spcPct val="100000"/>
              </a:lnSpc>
            </a:pPr>
            <a:r>
              <a:rPr sz="1100">
                <a:solidFill>
                  <a:srgbClr val="1A1A1A"/>
                </a:solidFill>
                <a:latin typeface="Courier New"/>
              </a:rPr>
              <a:t>git fetch</a:t>
            </a:r>
          </a:p>
          <a:p>
            <a:pPr algn="l">
              <a:lnSpc>
                <a:spcPct val="100000"/>
              </a:lnSpc>
            </a:pPr>
            <a:r>
              <a:rPr sz="1100">
                <a:solidFill>
                  <a:srgbClr val="1A1A1A"/>
                </a:solidFill>
                <a:latin typeface="Courier New"/>
              </a:rPr>
              <a:t>git log --oneline HEAD..origin/main     # review what you're missing</a:t>
            </a:r>
          </a:p>
          <a:p>
            <a:pPr algn="l">
              <a:lnSpc>
                <a:spcPct val="100000"/>
              </a:lnSpc>
            </a:pPr>
            <a:r>
              <a:rPr sz="1100">
                <a:solidFill>
                  <a:srgbClr val="1A1A1A"/>
                </a:solidFill>
                <a:latin typeface="Courier New"/>
              </a:rPr>
              <a:t>git pull --rebase                        # or: git pull --no-rebase</a:t>
            </a:r>
          </a:p>
          <a:p>
            <a:pPr algn="l">
              <a:lnSpc>
                <a:spcPct val="100000"/>
              </a:lnSpc>
            </a:pPr>
            <a:r>
              <a:rPr sz="1100">
                <a:solidFill>
                  <a:srgbClr val="5C8A8A"/>
                </a:solidFill>
                <a:latin typeface="Courier New"/>
              </a:rPr>
              <a:t># run the tests; resolve conflicts if any</a:t>
            </a:r>
          </a:p>
          <a:p>
            <a:pPr algn="l">
              <a:lnSpc>
                <a:spcPct val="100000"/>
              </a:lnSpc>
            </a:pPr>
            <a:r>
              <a:rPr sz="1100">
                <a:solidFill>
                  <a:srgbClr val="1A1A1A"/>
                </a:solidFill>
                <a:latin typeface="Courier New"/>
              </a:rPr>
              <a:t>git push</a:t>
            </a:r>
          </a:p>
        </p:txBody>
      </p:sp>
      <p:sp>
        <p:nvSpPr>
          <p:cNvPr id="7" name="TextBox 6"/>
          <p:cNvSpPr txBox="1"/>
          <p:nvPr/>
        </p:nvSpPr>
        <p:spPr>
          <a:xfrm>
            <a:off x="7376464" y="2221991"/>
            <a:ext cx="4205325" cy="3922776"/>
          </a:xfrm>
          <a:prstGeom prst="rect">
            <a:avLst/>
          </a:prstGeom>
          <a:noFill/>
        </p:spPr>
        <p:txBody>
          <a:bodyPr wrap="square" lIns="0" rIns="0" tIns="0" bIns="0">
            <a:spAutoFit/>
          </a:bodyPr>
          <a:lstStyle/>
          <a:p>
            <a:pPr algn="l" marL="228600" indent="-228600">
              <a:spcAft>
                <a:spcPts val="800"/>
              </a:spcAft>
              <a:buFont typeface="Arial"/>
              <a:buChar char="•"/>
            </a:pPr>
            <a:r>
              <a:rPr sz="1400" b="0" i="0">
                <a:solidFill>
                  <a:srgbClr val="1A1A1A"/>
                </a:solidFill>
                <a:latin typeface="Arial"/>
              </a:rPr>
              <a:t>A5: </a:t>
            </a:r>
            <a:r>
              <a:rPr sz="1350" b="0" i="0">
                <a:solidFill>
                  <a:srgbClr val="330066"/>
                </a:solidFill>
                <a:latin typeface="Courier New"/>
              </a:rPr>
              <a:t>git fetch</a:t>
            </a:r>
            <a:r>
              <a:rPr sz="1400" b="0" i="0">
                <a:solidFill>
                  <a:srgbClr val="1A1A1A"/>
                </a:solidFill>
                <a:latin typeface="Arial"/>
              </a:rPr>
              <a:t> then integrating </a:t>
            </a:r>
            <a:r>
              <a:rPr sz="1350" b="0" i="0">
                <a:solidFill>
                  <a:srgbClr val="330066"/>
                </a:solidFill>
                <a:latin typeface="Courier New"/>
              </a:rPr>
              <a:t>origin/&lt;branch&gt;</a:t>
            </a:r>
            <a:r>
              <a:rPr sz="1400" b="0" i="0">
                <a:solidFill>
                  <a:srgbClr val="1A1A1A"/>
                </a:solidFill>
                <a:latin typeface="Arial"/>
              </a:rPr>
              <a:t> into the current branch. Default is a merge; </a:t>
            </a:r>
            <a:r>
              <a:rPr sz="1350" b="0" i="0">
                <a:solidFill>
                  <a:srgbClr val="330066"/>
                </a:solidFill>
                <a:latin typeface="Courier New"/>
              </a:rPr>
              <a:t>--rebase</a:t>
            </a:r>
            <a:r>
              <a:rPr sz="1400" b="0" i="0">
                <a:solidFill>
                  <a:srgbClr val="1A1A1A"/>
                </a:solidFill>
                <a:latin typeface="Arial"/>
              </a:rPr>
              <a:t> replays local commits on top: linear history.</a:t>
            </a:r>
          </a:p>
          <a:p>
            <a:pPr algn="l" marL="228600" indent="-228600">
              <a:spcAft>
                <a:spcPts val="800"/>
              </a:spcAft>
              <a:buFont typeface="Arial"/>
              <a:buChar char="•"/>
            </a:pPr>
            <a:r>
              <a:rPr sz="1400" b="0" i="0">
                <a:solidFill>
                  <a:srgbClr val="1A1A1A"/>
                </a:solidFill>
                <a:latin typeface="Arial"/>
              </a:rPr>
              <a:t>A6: a forced push would overwrite the remote branch and delete your teammate's commits from it.</a:t>
            </a:r>
          </a:p>
        </p:txBody>
      </p:sp>
      <p:sp>
        <p:nvSpPr>
          <p:cNvPr id="8" name="TextBox 7"/>
          <p:cNvSpPr txBox="1"/>
          <p:nvPr/>
        </p:nvSpPr>
        <p:spPr>
          <a:xfrm>
            <a:off x="609904" y="6382512"/>
            <a:ext cx="8686800" cy="274320"/>
          </a:xfrm>
          <a:prstGeom prst="rect">
            <a:avLst/>
          </a:prstGeom>
          <a:noFill/>
        </p:spPr>
        <p:txBody>
          <a:bodyPr wrap="square" anchor="t" lIns="0" rIns="0" tIns="0" bIns="0">
            <a:spAutoFit/>
          </a:bodyPr>
          <a:lstStyle/>
          <a:p>
            <a:pPr algn="l">
              <a:lnSpc>
                <a:spcPct val="110000"/>
              </a:lnSpc>
              <a:spcAft>
                <a:spcPts val="600"/>
              </a:spcAft>
            </a:pPr>
            <a:r>
              <a:rPr sz="900" b="0" i="0">
                <a:solidFill>
                  <a:srgbClr val="5A5A5A"/>
                </a:solidFill>
                <a:latin typeface="Arial"/>
              </a:rPr>
              <a:t>Collaborative Git Workflow  ·  Week 2 · Monday   |   50 / 55</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330066"/>
                </a:solidFill>
              </a:rPr>
              <a:t>Answers (3 of 4)</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PRACTICE</a:t>
            </a:r>
          </a:p>
        </p:txBody>
      </p:sp>
      <p:sp>
        <p:nvSpPr>
          <p:cNvPr id="4" name="Oval 3"/>
          <p:cNvSpPr/>
          <p:nvPr/>
        </p:nvSpPr>
        <p:spPr>
          <a:xfrm>
            <a:off x="609904" y="17830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Arial"/>
              </a:rPr>
              <a:t>A7</a:t>
            </a:r>
          </a:p>
        </p:txBody>
      </p:sp>
      <p:sp>
        <p:nvSpPr>
          <p:cNvPr id="5" name="TextBox 4"/>
          <p:cNvSpPr txBox="1"/>
          <p:nvPr/>
        </p:nvSpPr>
        <p:spPr>
          <a:xfrm>
            <a:off x="1158544" y="1856231"/>
            <a:ext cx="10423245" cy="474345"/>
          </a:xfrm>
          <a:prstGeom prst="rect">
            <a:avLst/>
          </a:prstGeom>
          <a:noFill/>
        </p:spPr>
        <p:txBody>
          <a:bodyPr wrap="square" anchor="t" lIns="0" rIns="0" tIns="0" bIns="0">
            <a:spAutoFit/>
          </a:bodyPr>
          <a:lstStyle/>
          <a:p>
            <a:pPr algn="l">
              <a:lnSpc>
                <a:spcPct val="110000"/>
              </a:lnSpc>
              <a:spcAft>
                <a:spcPts val="600"/>
              </a:spcAft>
            </a:pPr>
            <a:r>
              <a:rPr sz="1300" b="0" i="0">
                <a:solidFill>
                  <a:srgbClr val="330066"/>
                </a:solidFill>
                <a:latin typeface="Courier New"/>
              </a:rPr>
              <a:t>-u</a:t>
            </a:r>
            <a:r>
              <a:rPr sz="1350" b="0" i="0">
                <a:solidFill>
                  <a:srgbClr val="1A1A1A"/>
                </a:solidFill>
                <a:latin typeface="Arial"/>
              </a:rPr>
              <a:t> also records that the branch tracks </a:t>
            </a:r>
            <a:r>
              <a:rPr sz="1300" b="0" i="0">
                <a:solidFill>
                  <a:srgbClr val="330066"/>
                </a:solidFill>
                <a:latin typeface="Courier New"/>
              </a:rPr>
              <a:t>origin/feature/x</a:t>
            </a:r>
            <a:r>
              <a:rPr sz="1350" b="0" i="0">
                <a:solidFill>
                  <a:srgbClr val="1A1A1A"/>
                </a:solidFill>
                <a:latin typeface="Arial"/>
              </a:rPr>
              <a:t>: later </a:t>
            </a:r>
            <a:r>
              <a:rPr sz="1300" b="0" i="0">
                <a:solidFill>
                  <a:srgbClr val="330066"/>
                </a:solidFill>
                <a:latin typeface="Courier New"/>
              </a:rPr>
              <a:t>git push</a:t>
            </a:r>
            <a:r>
              <a:rPr sz="1350" b="0" i="0">
                <a:solidFill>
                  <a:srgbClr val="1A1A1A"/>
                </a:solidFill>
                <a:latin typeface="Arial"/>
              </a:rPr>
              <a:t>/</a:t>
            </a:r>
            <a:r>
              <a:rPr sz="1300" b="0" i="0">
                <a:solidFill>
                  <a:srgbClr val="330066"/>
                </a:solidFill>
                <a:latin typeface="Courier New"/>
              </a:rPr>
              <a:t>git pull</a:t>
            </a:r>
            <a:r>
              <a:rPr sz="1350" b="0" i="0">
                <a:solidFill>
                  <a:srgbClr val="1A1A1A"/>
                </a:solidFill>
                <a:latin typeface="Arial"/>
              </a:rPr>
              <a:t> need no arguments and </a:t>
            </a:r>
            <a:r>
              <a:rPr sz="1300" b="0" i="0">
                <a:solidFill>
                  <a:srgbClr val="330066"/>
                </a:solidFill>
                <a:latin typeface="Courier New"/>
              </a:rPr>
              <a:t>git status</a:t>
            </a:r>
            <a:r>
              <a:rPr sz="1350" b="0" i="0">
                <a:solidFill>
                  <a:srgbClr val="1A1A1A"/>
                </a:solidFill>
                <a:latin typeface="Arial"/>
              </a:rPr>
              <a:t> reports ahead/behind. Without it, a new branch's plain </a:t>
            </a:r>
            <a:r>
              <a:rPr sz="1300" b="0" i="0">
                <a:solidFill>
                  <a:srgbClr val="330066"/>
                </a:solidFill>
                <a:latin typeface="Courier New"/>
              </a:rPr>
              <a:t>git push</a:t>
            </a:r>
            <a:r>
              <a:rPr sz="1350" b="0" i="0">
                <a:solidFill>
                  <a:srgbClr val="1A1A1A"/>
                </a:solidFill>
                <a:latin typeface="Arial"/>
              </a:rPr>
              <a:t> fails with "no upstream branch".</a:t>
            </a:r>
          </a:p>
        </p:txBody>
      </p:sp>
      <p:sp>
        <p:nvSpPr>
          <p:cNvPr id="6" name="Oval 5"/>
          <p:cNvSpPr/>
          <p:nvPr/>
        </p:nvSpPr>
        <p:spPr>
          <a:xfrm>
            <a:off x="609904" y="2385441"/>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Arial"/>
              </a:rPr>
              <a:t>A8</a:t>
            </a:r>
          </a:p>
        </p:txBody>
      </p:sp>
      <p:sp>
        <p:nvSpPr>
          <p:cNvPr id="7" name="TextBox 6"/>
          <p:cNvSpPr txBox="1"/>
          <p:nvPr/>
        </p:nvSpPr>
        <p:spPr>
          <a:xfrm>
            <a:off x="1158544" y="2458593"/>
            <a:ext cx="10423245" cy="474345"/>
          </a:xfrm>
          <a:prstGeom prst="rect">
            <a:avLst/>
          </a:prstGeom>
          <a:noFill/>
        </p:spPr>
        <p:txBody>
          <a:bodyPr wrap="square" anchor="t" lIns="0" rIns="0" tIns="0" bIns="0">
            <a:spAutoFit/>
          </a:bodyPr>
          <a:lstStyle/>
          <a:p>
            <a:pPr algn="l">
              <a:lnSpc>
                <a:spcPct val="110000"/>
              </a:lnSpc>
              <a:spcAft>
                <a:spcPts val="600"/>
              </a:spcAft>
            </a:pPr>
            <a:r>
              <a:rPr sz="1350" b="0" i="0">
                <a:solidFill>
                  <a:srgbClr val="1A1A1A"/>
                </a:solidFill>
                <a:latin typeface="Arial"/>
              </a:rPr>
              <a:t>When your branch has diverged (local commits plus new remote ones), and other cases where a fast-forward is impossible. It never creates surprise merges or rewrites: it stops, and you choose.</a:t>
            </a:r>
          </a:p>
        </p:txBody>
      </p:sp>
      <p:sp>
        <p:nvSpPr>
          <p:cNvPr id="8" name="Oval 7"/>
          <p:cNvSpPr/>
          <p:nvPr/>
        </p:nvSpPr>
        <p:spPr>
          <a:xfrm>
            <a:off x="609904" y="2987802"/>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Arial"/>
              </a:rPr>
              <a:t>A9</a:t>
            </a:r>
          </a:p>
        </p:txBody>
      </p:sp>
      <p:sp>
        <p:nvSpPr>
          <p:cNvPr id="9" name="TextBox 8"/>
          <p:cNvSpPr txBox="1"/>
          <p:nvPr/>
        </p:nvSpPr>
        <p:spPr>
          <a:xfrm>
            <a:off x="1158544" y="3060954"/>
            <a:ext cx="10423245" cy="474345"/>
          </a:xfrm>
          <a:prstGeom prst="rect">
            <a:avLst/>
          </a:prstGeom>
          <a:noFill/>
        </p:spPr>
        <p:txBody>
          <a:bodyPr wrap="square" anchor="t" lIns="0" rIns="0" tIns="0" bIns="0">
            <a:spAutoFit/>
          </a:bodyPr>
          <a:lstStyle/>
          <a:p>
            <a:pPr algn="l">
              <a:lnSpc>
                <a:spcPct val="110000"/>
              </a:lnSpc>
              <a:spcAft>
                <a:spcPts val="600"/>
              </a:spcAft>
            </a:pPr>
            <a:r>
              <a:rPr sz="1350" b="0" i="0">
                <a:solidFill>
                  <a:srgbClr val="1A1A1A"/>
                </a:solidFill>
                <a:latin typeface="Arial"/>
              </a:rPr>
              <a:t>Follow Examples 1 and 2 with </a:t>
            </a:r>
            <a:r>
              <a:rPr sz="1300" b="0" i="0">
                <a:solidFill>
                  <a:srgbClr val="330066"/>
                </a:solidFill>
                <a:latin typeface="Courier New"/>
              </a:rPr>
              <a:t>validators.py</a:t>
            </a:r>
            <a:r>
              <a:rPr sz="1350" b="0" i="0">
                <a:solidFill>
                  <a:srgbClr val="1A1A1A"/>
                </a:solidFill>
                <a:latin typeface="Arial"/>
              </a:rPr>
              <a:t>, </a:t>
            </a:r>
            <a:r>
              <a:rPr sz="1300" b="0" i="0">
                <a:solidFill>
                  <a:srgbClr val="330066"/>
                </a:solidFill>
                <a:latin typeface="Courier New"/>
              </a:rPr>
              <a:t>formatters.py</a:t>
            </a:r>
            <a:r>
              <a:rPr sz="1350" b="0" i="0">
                <a:solidFill>
                  <a:srgbClr val="1A1A1A"/>
                </a:solidFill>
                <a:latin typeface="Arial"/>
              </a:rPr>
              <a:t>, </a:t>
            </a:r>
            <a:r>
              <a:rPr sz="1300" b="0" i="0">
                <a:solidFill>
                  <a:srgbClr val="330066"/>
                </a:solidFill>
                <a:latin typeface="Courier New"/>
              </a:rPr>
              <a:t>README.md</a:t>
            </a:r>
            <a:r>
              <a:rPr sz="1350" b="0" i="0">
                <a:solidFill>
                  <a:srgbClr val="1A1A1A"/>
                </a:solidFill>
                <a:latin typeface="Arial"/>
              </a:rPr>
              <a:t>. The final graph is a straight line: Initial/validators, Alice's README, Bob's formatters.</a:t>
            </a:r>
          </a:p>
        </p:txBody>
      </p:sp>
      <p:sp>
        <p:nvSpPr>
          <p:cNvPr id="10" name="Oval 9"/>
          <p:cNvSpPr/>
          <p:nvPr/>
        </p:nvSpPr>
        <p:spPr>
          <a:xfrm>
            <a:off x="609904" y="3590163"/>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A10</a:t>
            </a:r>
          </a:p>
        </p:txBody>
      </p:sp>
      <p:sp>
        <p:nvSpPr>
          <p:cNvPr id="11" name="TextBox 10"/>
          <p:cNvSpPr txBox="1"/>
          <p:nvPr/>
        </p:nvSpPr>
        <p:spPr>
          <a:xfrm>
            <a:off x="1158544" y="3663314"/>
            <a:ext cx="10423245" cy="474345"/>
          </a:xfrm>
          <a:prstGeom prst="rect">
            <a:avLst/>
          </a:prstGeom>
          <a:noFill/>
        </p:spPr>
        <p:txBody>
          <a:bodyPr wrap="square" anchor="t" lIns="0" rIns="0" tIns="0" bIns="0">
            <a:spAutoFit/>
          </a:bodyPr>
          <a:lstStyle/>
          <a:p>
            <a:pPr algn="l">
              <a:lnSpc>
                <a:spcPct val="110000"/>
              </a:lnSpc>
              <a:spcAft>
                <a:spcPts val="600"/>
              </a:spcAft>
            </a:pPr>
            <a:r>
              <a:rPr sz="1350" b="0" i="0">
                <a:solidFill>
                  <a:srgbClr val="1A1A1A"/>
                </a:solidFill>
                <a:latin typeface="Arial"/>
              </a:rPr>
              <a:t>They committed but never pushed: committing records history locally. Run </a:t>
            </a:r>
            <a:r>
              <a:rPr sz="1300" b="0" i="0">
                <a:solidFill>
                  <a:srgbClr val="330066"/>
                </a:solidFill>
                <a:latin typeface="Courier New"/>
              </a:rPr>
              <a:t>git push</a:t>
            </a:r>
            <a:r>
              <a:rPr sz="1350" b="0" i="0">
                <a:solidFill>
                  <a:srgbClr val="1A1A1A"/>
                </a:solidFill>
                <a:latin typeface="Arial"/>
              </a:rPr>
              <a:t>, then check </a:t>
            </a:r>
            <a:r>
              <a:rPr sz="1300" b="0" i="0">
                <a:solidFill>
                  <a:srgbClr val="330066"/>
                </a:solidFill>
                <a:latin typeface="Courier New"/>
              </a:rPr>
              <a:t>git status -sb</a:t>
            </a:r>
            <a:r>
              <a:rPr sz="1350" b="0" i="0">
                <a:solidFill>
                  <a:srgbClr val="1A1A1A"/>
                </a:solidFill>
                <a:latin typeface="Arial"/>
              </a:rPr>
              <a:t> (no </a:t>
            </a:r>
            <a:r>
              <a:rPr sz="1300" b="0" i="0">
                <a:solidFill>
                  <a:srgbClr val="330066"/>
                </a:solidFill>
                <a:latin typeface="Courier New"/>
              </a:rPr>
              <a:t>ahead</a:t>
            </a:r>
            <a:r>
              <a:rPr sz="1350" b="0" i="0">
                <a:solidFill>
                  <a:srgbClr val="1A1A1A"/>
                </a:solidFill>
                <a:latin typeface="Arial"/>
              </a:rPr>
              <a:t>), </a:t>
            </a:r>
            <a:r>
              <a:rPr sz="1300" b="0" i="0">
                <a:solidFill>
                  <a:srgbClr val="330066"/>
                </a:solidFill>
                <a:latin typeface="Courier New"/>
              </a:rPr>
              <a:t>git log origin/main --oneline</a:t>
            </a:r>
            <a:r>
              <a:rPr sz="1350" b="0" i="0">
                <a:solidFill>
                  <a:srgbClr val="1A1A1A"/>
                </a:solidFill>
                <a:latin typeface="Arial"/>
              </a:rPr>
              <a:t>, or the hosting website.</a:t>
            </a:r>
          </a:p>
        </p:txBody>
      </p:sp>
      <p:sp>
        <p:nvSpPr>
          <p:cNvPr id="12" name="TextBox 11"/>
          <p:cNvSpPr txBox="1"/>
          <p:nvPr/>
        </p:nvSpPr>
        <p:spPr>
          <a:xfrm>
            <a:off x="609904" y="6382512"/>
            <a:ext cx="8686800" cy="274320"/>
          </a:xfrm>
          <a:prstGeom prst="rect">
            <a:avLst/>
          </a:prstGeom>
          <a:noFill/>
        </p:spPr>
        <p:txBody>
          <a:bodyPr wrap="square" anchor="t" lIns="0" rIns="0" tIns="0" bIns="0">
            <a:spAutoFit/>
          </a:bodyPr>
          <a:lstStyle/>
          <a:p>
            <a:pPr algn="l">
              <a:lnSpc>
                <a:spcPct val="110000"/>
              </a:lnSpc>
              <a:spcAft>
                <a:spcPts val="600"/>
              </a:spcAft>
            </a:pPr>
            <a:r>
              <a:rPr sz="900" b="0" i="0">
                <a:solidFill>
                  <a:srgbClr val="5A5A5A"/>
                </a:solidFill>
                <a:latin typeface="Arial"/>
              </a:rPr>
              <a:t>Collaborative Git Workflow  ·  Week 2 · Monday   |   51 / 55</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330066"/>
                </a:solidFill>
              </a:rPr>
              <a:t>Answers (4 of 4)</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PRACTICE</a:t>
            </a:r>
          </a:p>
        </p:txBody>
      </p:sp>
      <p:sp>
        <p:nvSpPr>
          <p:cNvPr id="4" name="Oval 3"/>
          <p:cNvSpPr/>
          <p:nvPr/>
        </p:nvSpPr>
        <p:spPr>
          <a:xfrm>
            <a:off x="609904" y="17830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A11</a:t>
            </a:r>
          </a:p>
        </p:txBody>
      </p:sp>
      <p:sp>
        <p:nvSpPr>
          <p:cNvPr id="5" name="TextBox 4"/>
          <p:cNvSpPr txBox="1"/>
          <p:nvPr/>
        </p:nvSpPr>
        <p:spPr>
          <a:xfrm>
            <a:off x="1158544" y="1856231"/>
            <a:ext cx="10423245" cy="934719"/>
          </a:xfrm>
          <a:prstGeom prst="rect">
            <a:avLst/>
          </a:prstGeom>
          <a:noFill/>
        </p:spPr>
        <p:txBody>
          <a:bodyPr wrap="square" anchor="t" lIns="0" rIns="0" tIns="0" bIns="0">
            <a:spAutoFit/>
          </a:bodyPr>
          <a:lstStyle/>
          <a:p>
            <a:pPr algn="l">
              <a:lnSpc>
                <a:spcPct val="110000"/>
              </a:lnSpc>
              <a:spcAft>
                <a:spcPts val="600"/>
              </a:spcAft>
            </a:pPr>
            <a:r>
              <a:rPr sz="1400" b="0" i="0">
                <a:solidFill>
                  <a:srgbClr val="1A1A1A"/>
                </a:solidFill>
                <a:latin typeface="Arial"/>
              </a:rPr>
              <a:t>(1) </a:t>
            </a:r>
            <a:r>
              <a:rPr sz="1350" b="0" i="0">
                <a:solidFill>
                  <a:srgbClr val="330066"/>
                </a:solidFill>
                <a:latin typeface="Courier New"/>
              </a:rPr>
              <a:t>git switch main &amp;&amp; git pull --ff-only</a:t>
            </a:r>
            <a:r>
              <a:rPr sz="1400" b="0" i="0">
                <a:solidFill>
                  <a:srgbClr val="1A1A1A"/>
                </a:solidFill>
                <a:latin typeface="Arial"/>
              </a:rPr>
              <a:t> (2) </a:t>
            </a:r>
            <a:r>
              <a:rPr sz="1350" b="0" i="0">
                <a:solidFill>
                  <a:srgbClr val="330066"/>
                </a:solidFill>
                <a:latin typeface="Courier New"/>
              </a:rPr>
              <a:t>git switch -c feature/new-helper</a:t>
            </a:r>
            <a:r>
              <a:rPr sz="1400" b="0" i="0">
                <a:solidFill>
                  <a:srgbClr val="1A1A1A"/>
                </a:solidFill>
                <a:latin typeface="Arial"/>
              </a:rPr>
              <a:t> (3) write helper and tests, commit small (4) </a:t>
            </a:r>
            <a:r>
              <a:rPr sz="1350" b="0" i="0">
                <a:solidFill>
                  <a:srgbClr val="330066"/>
                </a:solidFill>
                <a:latin typeface="Courier New"/>
              </a:rPr>
              <a:t>git fetch</a:t>
            </a:r>
            <a:r>
              <a:rPr sz="1400" b="0" i="0">
                <a:solidFill>
                  <a:srgbClr val="1A1A1A"/>
                </a:solidFill>
                <a:latin typeface="Arial"/>
              </a:rPr>
              <a:t>, </a:t>
            </a:r>
            <a:r>
              <a:rPr sz="1350" b="0" i="0">
                <a:solidFill>
                  <a:srgbClr val="330066"/>
                </a:solidFill>
                <a:latin typeface="Courier New"/>
              </a:rPr>
              <a:t>git pull --rebase origin main</a:t>
            </a:r>
            <a:r>
              <a:rPr sz="1400" b="0" i="0">
                <a:solidFill>
                  <a:srgbClr val="1A1A1A"/>
                </a:solidFill>
                <a:latin typeface="Arial"/>
              </a:rPr>
              <a:t>, re-run tests (5) </a:t>
            </a:r>
            <a:r>
              <a:rPr sz="1350" b="0" i="0">
                <a:solidFill>
                  <a:srgbClr val="330066"/>
                </a:solidFill>
                <a:latin typeface="Courier New"/>
              </a:rPr>
              <a:t>git push -u origin feature/new-helper</a:t>
            </a:r>
            <a:r>
              <a:rPr sz="1400" b="0" i="0">
                <a:solidFill>
                  <a:srgbClr val="1A1A1A"/>
                </a:solidFill>
                <a:latin typeface="Arial"/>
              </a:rPr>
              <a:t> (6) open a PR, respond with more commits, wait for CI (7) a reviewer merges; </a:t>
            </a:r>
            <a:r>
              <a:rPr sz="1350" b="0" i="0">
                <a:solidFill>
                  <a:srgbClr val="330066"/>
                </a:solidFill>
                <a:latin typeface="Courier New"/>
              </a:rPr>
              <a:t>git switch main</a:t>
            </a:r>
            <a:r>
              <a:rPr sz="1400" b="0" i="0">
                <a:solidFill>
                  <a:srgbClr val="1A1A1A"/>
                </a:solidFill>
                <a:latin typeface="Arial"/>
              </a:rPr>
              <a:t>, </a:t>
            </a:r>
            <a:r>
              <a:rPr sz="1350" b="0" i="0">
                <a:solidFill>
                  <a:srgbClr val="330066"/>
                </a:solidFill>
                <a:latin typeface="Courier New"/>
              </a:rPr>
              <a:t>git pull</a:t>
            </a:r>
            <a:r>
              <a:rPr sz="1400" b="0" i="0">
                <a:solidFill>
                  <a:srgbClr val="1A1A1A"/>
                </a:solidFill>
                <a:latin typeface="Arial"/>
              </a:rPr>
              <a:t>, delete the branch locally and remotely.</a:t>
            </a:r>
          </a:p>
        </p:txBody>
      </p:sp>
      <p:sp>
        <p:nvSpPr>
          <p:cNvPr id="6" name="Oval 5"/>
          <p:cNvSpPr/>
          <p:nvPr/>
        </p:nvSpPr>
        <p:spPr>
          <a:xfrm>
            <a:off x="609904" y="2918968"/>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A12</a:t>
            </a:r>
          </a:p>
        </p:txBody>
      </p:sp>
      <p:sp>
        <p:nvSpPr>
          <p:cNvPr id="7" name="TextBox 6"/>
          <p:cNvSpPr txBox="1"/>
          <p:nvPr/>
        </p:nvSpPr>
        <p:spPr>
          <a:xfrm>
            <a:off x="1158544" y="2992120"/>
            <a:ext cx="10423245" cy="934719"/>
          </a:xfrm>
          <a:prstGeom prst="rect">
            <a:avLst/>
          </a:prstGeom>
          <a:noFill/>
        </p:spPr>
        <p:txBody>
          <a:bodyPr wrap="square" anchor="t" lIns="0" rIns="0" tIns="0" bIns="0">
            <a:spAutoFit/>
          </a:bodyPr>
          <a:lstStyle/>
          <a:p>
            <a:pPr algn="l">
              <a:lnSpc>
                <a:spcPct val="110000"/>
              </a:lnSpc>
              <a:spcAft>
                <a:spcPts val="600"/>
              </a:spcAft>
            </a:pPr>
            <a:r>
              <a:rPr sz="1400" b="0" i="0">
                <a:solidFill>
                  <a:srgbClr val="1A1A1A"/>
                </a:solidFill>
                <a:latin typeface="Arial"/>
              </a:rPr>
              <a:t>(1) Revoke/rotate the token immediately: the essential step. (2) Remove it from code; use an environment variable or untracked config; add the file to </a:t>
            </a:r>
            <a:r>
              <a:rPr sz="1350" b="0" i="0">
                <a:solidFill>
                  <a:srgbClr val="330066"/>
                </a:solidFill>
                <a:latin typeface="Courier New"/>
              </a:rPr>
              <a:t>.gitignore</a:t>
            </a:r>
            <a:r>
              <a:rPr sz="1400" b="0" i="0">
                <a:solidFill>
                  <a:srgbClr val="1A1A1A"/>
                </a:solidFill>
                <a:latin typeface="Arial"/>
              </a:rPr>
              <a:t>. (3) Inform your team/security contact per policy. (4) Optionally rewrite history to purge it (specialised; seek help). Deleting it in a new commit does not remove it from earlier commits.</a:t>
            </a:r>
          </a:p>
        </p:txBody>
      </p:sp>
      <p:sp>
        <p:nvSpPr>
          <p:cNvPr id="8" name="TextBox 7"/>
          <p:cNvSpPr txBox="1"/>
          <p:nvPr/>
        </p:nvSpPr>
        <p:spPr>
          <a:xfrm>
            <a:off x="609904" y="6382512"/>
            <a:ext cx="8686800" cy="274320"/>
          </a:xfrm>
          <a:prstGeom prst="rect">
            <a:avLst/>
          </a:prstGeom>
          <a:noFill/>
        </p:spPr>
        <p:txBody>
          <a:bodyPr wrap="square" anchor="t" lIns="0" rIns="0" tIns="0" bIns="0">
            <a:spAutoFit/>
          </a:bodyPr>
          <a:lstStyle/>
          <a:p>
            <a:pPr algn="l">
              <a:lnSpc>
                <a:spcPct val="110000"/>
              </a:lnSpc>
              <a:spcAft>
                <a:spcPts val="600"/>
              </a:spcAft>
            </a:pPr>
            <a:r>
              <a:rPr sz="900" b="0" i="0">
                <a:solidFill>
                  <a:srgbClr val="5A5A5A"/>
                </a:solidFill>
                <a:latin typeface="Arial"/>
              </a:rPr>
              <a:t>Collaborative Git Workflow  ·  Week 2 · Monday   |   52 / 55</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330066"/>
                </a:solidFill>
              </a:rPr>
              <a:t>Key Takeaways (1 of 2)</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SUMMARY</a:t>
            </a:r>
          </a:p>
        </p:txBody>
      </p:sp>
      <p:sp>
        <p:nvSpPr>
          <p:cNvPr id="4" name="Oval 3"/>
          <p:cNvSpPr/>
          <p:nvPr/>
        </p:nvSpPr>
        <p:spPr>
          <a:xfrm>
            <a:off x="609904" y="17830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Arial"/>
              </a:rPr>
              <a:t>1</a:t>
            </a:r>
          </a:p>
        </p:txBody>
      </p:sp>
      <p:sp>
        <p:nvSpPr>
          <p:cNvPr id="5" name="TextBox 4"/>
          <p:cNvSpPr txBox="1"/>
          <p:nvPr/>
        </p:nvSpPr>
        <p:spPr>
          <a:xfrm>
            <a:off x="1158544" y="1856231"/>
            <a:ext cx="10423245" cy="490220"/>
          </a:xfrm>
          <a:prstGeom prst="rect">
            <a:avLst/>
          </a:prstGeom>
          <a:noFill/>
        </p:spPr>
        <p:txBody>
          <a:bodyPr wrap="square" anchor="t" lIns="0" rIns="0" tIns="0" bIns="0">
            <a:spAutoFit/>
          </a:bodyPr>
          <a:lstStyle/>
          <a:p>
            <a:pPr algn="l">
              <a:lnSpc>
                <a:spcPct val="110000"/>
              </a:lnSpc>
              <a:spcAft>
                <a:spcPts val="600"/>
              </a:spcAft>
            </a:pPr>
            <a:r>
              <a:rPr sz="1400" b="0" i="0">
                <a:solidFill>
                  <a:srgbClr val="1A1A1A"/>
                </a:solidFill>
                <a:latin typeface="Arial"/>
              </a:rPr>
              <a:t>Git is distributed: each clone is a full repository. The remote (default </a:t>
            </a:r>
            <a:r>
              <a:rPr sz="1350" b="0" i="0">
                <a:solidFill>
                  <a:srgbClr val="330066"/>
                </a:solidFill>
                <a:latin typeface="Courier New"/>
              </a:rPr>
              <a:t>origin</a:t>
            </a:r>
            <a:r>
              <a:rPr sz="1400" b="0" i="0">
                <a:solidFill>
                  <a:srgbClr val="1A1A1A"/>
                </a:solidFill>
                <a:latin typeface="Arial"/>
              </a:rPr>
              <a:t>) is the shared copy; </a:t>
            </a:r>
            <a:r>
              <a:rPr sz="1350" b="0" i="0">
                <a:solidFill>
                  <a:srgbClr val="330066"/>
                </a:solidFill>
                <a:latin typeface="Courier New"/>
              </a:rPr>
              <a:t>git clone</a:t>
            </a:r>
            <a:r>
              <a:rPr sz="1400" b="0" i="0">
                <a:solidFill>
                  <a:srgbClr val="1A1A1A"/>
                </a:solidFill>
                <a:latin typeface="Arial"/>
              </a:rPr>
              <a:t> sets it up, </a:t>
            </a:r>
            <a:r>
              <a:rPr sz="1350" b="0" i="0">
                <a:solidFill>
                  <a:srgbClr val="330066"/>
                </a:solidFill>
                <a:latin typeface="Courier New"/>
              </a:rPr>
              <a:t>git remote -v</a:t>
            </a:r>
            <a:r>
              <a:rPr sz="1400" b="0" i="0">
                <a:solidFill>
                  <a:srgbClr val="1A1A1A"/>
                </a:solidFill>
                <a:latin typeface="Arial"/>
              </a:rPr>
              <a:t> shows it.</a:t>
            </a:r>
          </a:p>
        </p:txBody>
      </p:sp>
      <p:sp>
        <p:nvSpPr>
          <p:cNvPr id="6" name="Oval 5"/>
          <p:cNvSpPr/>
          <p:nvPr/>
        </p:nvSpPr>
        <p:spPr>
          <a:xfrm>
            <a:off x="609904" y="2437892"/>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Arial"/>
              </a:rPr>
              <a:t>2</a:t>
            </a:r>
          </a:p>
        </p:txBody>
      </p:sp>
      <p:sp>
        <p:nvSpPr>
          <p:cNvPr id="7" name="TextBox 6"/>
          <p:cNvSpPr txBox="1"/>
          <p:nvPr/>
        </p:nvSpPr>
        <p:spPr>
          <a:xfrm>
            <a:off x="1158544" y="2511044"/>
            <a:ext cx="10423245" cy="490220"/>
          </a:xfrm>
          <a:prstGeom prst="rect">
            <a:avLst/>
          </a:prstGeom>
          <a:noFill/>
        </p:spPr>
        <p:txBody>
          <a:bodyPr wrap="square" anchor="t" lIns="0" rIns="0" tIns="0" bIns="0">
            <a:spAutoFit/>
          </a:bodyPr>
          <a:lstStyle/>
          <a:p>
            <a:pPr algn="l">
              <a:lnSpc>
                <a:spcPct val="110000"/>
              </a:lnSpc>
              <a:spcAft>
                <a:spcPts val="600"/>
              </a:spcAft>
            </a:pPr>
            <a:r>
              <a:rPr sz="1400" b="0" i="0">
                <a:solidFill>
                  <a:srgbClr val="1A1A1A"/>
                </a:solidFill>
                <a:latin typeface="Arial"/>
              </a:rPr>
              <a:t>Remote-tracking branches (</a:t>
            </a:r>
            <a:r>
              <a:rPr sz="1350" b="0" i="0">
                <a:solidFill>
                  <a:srgbClr val="330066"/>
                </a:solidFill>
                <a:latin typeface="Courier New"/>
              </a:rPr>
              <a:t>origin/main</a:t>
            </a:r>
            <a:r>
              <a:rPr sz="1400" b="0" i="0">
                <a:solidFill>
                  <a:srgbClr val="1A1A1A"/>
                </a:solidFill>
                <a:latin typeface="Arial"/>
              </a:rPr>
              <a:t>) record where the remote was at your last contact. </a:t>
            </a:r>
            <a:r>
              <a:rPr sz="1350" b="0" i="0">
                <a:solidFill>
                  <a:srgbClr val="330066"/>
                </a:solidFill>
                <a:latin typeface="Courier New"/>
              </a:rPr>
              <a:t>git branch -vv</a:t>
            </a:r>
            <a:r>
              <a:rPr sz="1400" b="0" i="0">
                <a:solidFill>
                  <a:srgbClr val="1A1A1A"/>
                </a:solidFill>
                <a:latin typeface="Arial"/>
              </a:rPr>
              <a:t> and </a:t>
            </a:r>
            <a:r>
              <a:rPr sz="1350" b="0" i="0">
                <a:solidFill>
                  <a:srgbClr val="330066"/>
                </a:solidFill>
                <a:latin typeface="Courier New"/>
              </a:rPr>
              <a:t>git status -sb</a:t>
            </a:r>
            <a:r>
              <a:rPr sz="1400" b="0" i="0">
                <a:solidFill>
                  <a:srgbClr val="1A1A1A"/>
                </a:solidFill>
                <a:latin typeface="Arial"/>
              </a:rPr>
              <a:t> show ahead/behind.</a:t>
            </a:r>
          </a:p>
        </p:txBody>
      </p:sp>
      <p:sp>
        <p:nvSpPr>
          <p:cNvPr id="8" name="Oval 7"/>
          <p:cNvSpPr/>
          <p:nvPr/>
        </p:nvSpPr>
        <p:spPr>
          <a:xfrm>
            <a:off x="609904" y="3092704"/>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Arial"/>
              </a:rPr>
              <a:t>3</a:t>
            </a:r>
          </a:p>
        </p:txBody>
      </p:sp>
      <p:sp>
        <p:nvSpPr>
          <p:cNvPr id="9" name="TextBox 8"/>
          <p:cNvSpPr txBox="1"/>
          <p:nvPr/>
        </p:nvSpPr>
        <p:spPr>
          <a:xfrm>
            <a:off x="1158544" y="3165856"/>
            <a:ext cx="10423245" cy="490220"/>
          </a:xfrm>
          <a:prstGeom prst="rect">
            <a:avLst/>
          </a:prstGeom>
          <a:noFill/>
        </p:spPr>
        <p:txBody>
          <a:bodyPr wrap="square" anchor="t" lIns="0" rIns="0" tIns="0" bIns="0">
            <a:spAutoFit/>
          </a:bodyPr>
          <a:lstStyle/>
          <a:p>
            <a:pPr algn="l">
              <a:lnSpc>
                <a:spcPct val="110000"/>
              </a:lnSpc>
              <a:spcAft>
                <a:spcPts val="600"/>
              </a:spcAft>
            </a:pPr>
            <a:r>
              <a:rPr sz="1350" b="0" i="0">
                <a:solidFill>
                  <a:srgbClr val="330066"/>
                </a:solidFill>
                <a:latin typeface="Courier New"/>
              </a:rPr>
              <a:t>git fetch</a:t>
            </a:r>
            <a:r>
              <a:rPr sz="1400" b="0" i="0">
                <a:solidFill>
                  <a:srgbClr val="1A1A1A"/>
                </a:solidFill>
                <a:latin typeface="Arial"/>
              </a:rPr>
              <a:t> downloads without touching your files. Inspect with </a:t>
            </a:r>
            <a:r>
              <a:rPr sz="1350" b="0" i="0">
                <a:solidFill>
                  <a:srgbClr val="330066"/>
                </a:solidFill>
                <a:latin typeface="Courier New"/>
              </a:rPr>
              <a:t>git log HEAD..origin/main</a:t>
            </a:r>
            <a:r>
              <a:rPr sz="1400" b="0" i="0">
                <a:solidFill>
                  <a:srgbClr val="1A1A1A"/>
                </a:solidFill>
                <a:latin typeface="Arial"/>
              </a:rPr>
              <a:t>, </a:t>
            </a:r>
            <a:r>
              <a:rPr sz="1350" b="0" i="0">
                <a:solidFill>
                  <a:srgbClr val="330066"/>
                </a:solidFill>
                <a:latin typeface="Courier New"/>
              </a:rPr>
              <a:t>git diff HEAD...origin/main</a:t>
            </a:r>
            <a:r>
              <a:rPr sz="1400" b="0" i="0">
                <a:solidFill>
                  <a:srgbClr val="1A1A1A"/>
                </a:solidFill>
                <a:latin typeface="Arial"/>
              </a:rPr>
              <a:t>, </a:t>
            </a:r>
            <a:r>
              <a:rPr sz="1350" b="0" i="0">
                <a:solidFill>
                  <a:srgbClr val="330066"/>
                </a:solidFill>
                <a:latin typeface="Courier New"/>
              </a:rPr>
              <a:t>git log --graph --all</a:t>
            </a:r>
            <a:r>
              <a:rPr sz="1400" b="0" i="0">
                <a:solidFill>
                  <a:srgbClr val="1A1A1A"/>
                </a:solidFill>
                <a:latin typeface="Arial"/>
              </a:rPr>
              <a:t>.</a:t>
            </a:r>
          </a:p>
        </p:txBody>
      </p:sp>
      <p:sp>
        <p:nvSpPr>
          <p:cNvPr id="10" name="Oval 9"/>
          <p:cNvSpPr/>
          <p:nvPr/>
        </p:nvSpPr>
        <p:spPr>
          <a:xfrm>
            <a:off x="609904" y="3747516"/>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Arial"/>
              </a:rPr>
              <a:t>4</a:t>
            </a:r>
          </a:p>
        </p:txBody>
      </p:sp>
      <p:sp>
        <p:nvSpPr>
          <p:cNvPr id="11" name="TextBox 10"/>
          <p:cNvSpPr txBox="1"/>
          <p:nvPr/>
        </p:nvSpPr>
        <p:spPr>
          <a:xfrm>
            <a:off x="1158544" y="3820668"/>
            <a:ext cx="10423245" cy="490220"/>
          </a:xfrm>
          <a:prstGeom prst="rect">
            <a:avLst/>
          </a:prstGeom>
          <a:noFill/>
        </p:spPr>
        <p:txBody>
          <a:bodyPr wrap="square" anchor="t" lIns="0" rIns="0" tIns="0" bIns="0">
            <a:spAutoFit/>
          </a:bodyPr>
          <a:lstStyle/>
          <a:p>
            <a:pPr algn="l">
              <a:lnSpc>
                <a:spcPct val="110000"/>
              </a:lnSpc>
              <a:spcAft>
                <a:spcPts val="600"/>
              </a:spcAft>
            </a:pPr>
            <a:r>
              <a:rPr sz="1350" b="0" i="0">
                <a:solidFill>
                  <a:srgbClr val="330066"/>
                </a:solidFill>
                <a:latin typeface="Courier New"/>
              </a:rPr>
              <a:t>git pull</a:t>
            </a:r>
            <a:r>
              <a:rPr sz="1400" b="0" i="0">
                <a:solidFill>
                  <a:srgbClr val="1A1A1A"/>
                </a:solidFill>
                <a:latin typeface="Arial"/>
              </a:rPr>
              <a:t> = fetch + integrate (merge by default; </a:t>
            </a:r>
            <a:r>
              <a:rPr sz="1350" b="0" i="0">
                <a:solidFill>
                  <a:srgbClr val="330066"/>
                </a:solidFill>
                <a:latin typeface="Courier New"/>
              </a:rPr>
              <a:t>--rebase</a:t>
            </a:r>
            <a:r>
              <a:rPr sz="1400" b="0" i="0">
                <a:solidFill>
                  <a:srgbClr val="1A1A1A"/>
                </a:solidFill>
                <a:latin typeface="Arial"/>
              </a:rPr>
              <a:t> linear; </a:t>
            </a:r>
            <a:r>
              <a:rPr sz="1350" b="0" i="0">
                <a:solidFill>
                  <a:srgbClr val="330066"/>
                </a:solidFill>
                <a:latin typeface="Courier New"/>
              </a:rPr>
              <a:t>--ff-only</a:t>
            </a:r>
            <a:r>
              <a:rPr sz="1400" b="0" i="0">
                <a:solidFill>
                  <a:srgbClr val="1A1A1A"/>
                </a:solidFill>
                <a:latin typeface="Arial"/>
              </a:rPr>
              <a:t> fast-forward only). Set a team-consistent strategy. Abort conflicts with </a:t>
            </a:r>
            <a:r>
              <a:rPr sz="1350" b="0" i="0">
                <a:solidFill>
                  <a:srgbClr val="330066"/>
                </a:solidFill>
                <a:latin typeface="Courier New"/>
              </a:rPr>
              <a:t>git merge --abort</a:t>
            </a:r>
            <a:r>
              <a:rPr sz="1400" b="0" i="0">
                <a:solidFill>
                  <a:srgbClr val="1A1A1A"/>
                </a:solidFill>
                <a:latin typeface="Arial"/>
              </a:rPr>
              <a:t> / </a:t>
            </a:r>
            <a:r>
              <a:rPr sz="1350" b="0" i="0">
                <a:solidFill>
                  <a:srgbClr val="330066"/>
                </a:solidFill>
                <a:latin typeface="Courier New"/>
              </a:rPr>
              <a:t>git rebase --abort</a:t>
            </a:r>
            <a:r>
              <a:rPr sz="1400" b="0" i="0">
                <a:solidFill>
                  <a:srgbClr val="1A1A1A"/>
                </a:solidFill>
                <a:latin typeface="Arial"/>
              </a:rPr>
              <a:t>.</a:t>
            </a:r>
          </a:p>
        </p:txBody>
      </p:sp>
      <p:sp>
        <p:nvSpPr>
          <p:cNvPr id="12" name="TextBox 11"/>
          <p:cNvSpPr txBox="1"/>
          <p:nvPr/>
        </p:nvSpPr>
        <p:spPr>
          <a:xfrm>
            <a:off x="609904" y="6382512"/>
            <a:ext cx="8686800" cy="274320"/>
          </a:xfrm>
          <a:prstGeom prst="rect">
            <a:avLst/>
          </a:prstGeom>
          <a:noFill/>
        </p:spPr>
        <p:txBody>
          <a:bodyPr wrap="square" anchor="t" lIns="0" rIns="0" tIns="0" bIns="0">
            <a:spAutoFit/>
          </a:bodyPr>
          <a:lstStyle/>
          <a:p>
            <a:pPr algn="l">
              <a:lnSpc>
                <a:spcPct val="110000"/>
              </a:lnSpc>
              <a:spcAft>
                <a:spcPts val="600"/>
              </a:spcAft>
            </a:pPr>
            <a:r>
              <a:rPr sz="900" b="0" i="0">
                <a:solidFill>
                  <a:srgbClr val="5A5A5A"/>
                </a:solidFill>
                <a:latin typeface="Arial"/>
              </a:rPr>
              <a:t>Collaborative Git Workflow  ·  Week 2 · Monday   |   53 / 55</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330066"/>
                </a:solidFill>
              </a:rPr>
              <a:t>Key Takeaways (2 of 2)</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SUMMARY</a:t>
            </a:r>
          </a:p>
        </p:txBody>
      </p:sp>
      <p:sp>
        <p:nvSpPr>
          <p:cNvPr id="4" name="Oval 3"/>
          <p:cNvSpPr/>
          <p:nvPr/>
        </p:nvSpPr>
        <p:spPr>
          <a:xfrm>
            <a:off x="609904" y="17830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Arial"/>
              </a:rPr>
              <a:t>1</a:t>
            </a:r>
          </a:p>
        </p:txBody>
      </p:sp>
      <p:sp>
        <p:nvSpPr>
          <p:cNvPr id="5" name="TextBox 4"/>
          <p:cNvSpPr txBox="1"/>
          <p:nvPr/>
        </p:nvSpPr>
        <p:spPr>
          <a:xfrm>
            <a:off x="1158544" y="1856231"/>
            <a:ext cx="10423245" cy="490220"/>
          </a:xfrm>
          <a:prstGeom prst="rect">
            <a:avLst/>
          </a:prstGeom>
          <a:noFill/>
        </p:spPr>
        <p:txBody>
          <a:bodyPr wrap="square" anchor="t" lIns="0" rIns="0" tIns="0" bIns="0">
            <a:spAutoFit/>
          </a:bodyPr>
          <a:lstStyle/>
          <a:p>
            <a:pPr algn="l">
              <a:lnSpc>
                <a:spcPct val="110000"/>
              </a:lnSpc>
              <a:spcAft>
                <a:spcPts val="600"/>
              </a:spcAft>
            </a:pPr>
            <a:r>
              <a:rPr sz="1350" b="0" i="0">
                <a:solidFill>
                  <a:srgbClr val="330066"/>
                </a:solidFill>
                <a:latin typeface="Courier New"/>
              </a:rPr>
              <a:t>git push</a:t>
            </a:r>
            <a:r>
              <a:rPr sz="1400" b="0" i="0">
                <a:solidFill>
                  <a:srgbClr val="1A1A1A"/>
                </a:solidFill>
                <a:latin typeface="Arial"/>
              </a:rPr>
              <a:t> publishes commits. Use </a:t>
            </a:r>
            <a:r>
              <a:rPr sz="1350" b="0" i="0">
                <a:solidFill>
                  <a:srgbClr val="330066"/>
                </a:solidFill>
                <a:latin typeface="Courier New"/>
              </a:rPr>
              <a:t>-u</a:t>
            </a:r>
            <a:r>
              <a:rPr sz="1400" b="0" i="0">
                <a:solidFill>
                  <a:srgbClr val="1A1A1A"/>
                </a:solidFill>
                <a:latin typeface="Arial"/>
              </a:rPr>
              <a:t> on a branch's first push. Rejected means integrate first: fetch/pull, then push. Do not force-push shared branches.</a:t>
            </a:r>
          </a:p>
        </p:txBody>
      </p:sp>
      <p:sp>
        <p:nvSpPr>
          <p:cNvPr id="6" name="Oval 5"/>
          <p:cNvSpPr/>
          <p:nvPr/>
        </p:nvSpPr>
        <p:spPr>
          <a:xfrm>
            <a:off x="609904" y="2437892"/>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Arial"/>
              </a:rPr>
              <a:t>2</a:t>
            </a:r>
          </a:p>
        </p:txBody>
      </p:sp>
      <p:sp>
        <p:nvSpPr>
          <p:cNvPr id="7" name="TextBox 6"/>
          <p:cNvSpPr txBox="1"/>
          <p:nvPr/>
        </p:nvSpPr>
        <p:spPr>
          <a:xfrm>
            <a:off x="1158544" y="2511044"/>
            <a:ext cx="10423245" cy="490220"/>
          </a:xfrm>
          <a:prstGeom prst="rect">
            <a:avLst/>
          </a:prstGeom>
          <a:noFill/>
        </p:spPr>
        <p:txBody>
          <a:bodyPr wrap="square" anchor="t" lIns="0" rIns="0" tIns="0" bIns="0">
            <a:spAutoFit/>
          </a:bodyPr>
          <a:lstStyle/>
          <a:p>
            <a:pPr algn="l">
              <a:lnSpc>
                <a:spcPct val="110000"/>
              </a:lnSpc>
              <a:spcAft>
                <a:spcPts val="600"/>
              </a:spcAft>
            </a:pPr>
            <a:r>
              <a:rPr sz="1400" b="0" i="0">
                <a:solidFill>
                  <a:srgbClr val="1A1A1A"/>
                </a:solidFill>
                <a:latin typeface="Arial"/>
              </a:rPr>
              <a:t>Work on feature branches, pull often, commit small, publish through pull requests. Keep secrets and </a:t>
            </a:r>
            <a:r>
              <a:rPr sz="1350" b="0" i="0">
                <a:solidFill>
                  <a:srgbClr val="330066"/>
                </a:solidFill>
                <a:latin typeface="Courier New"/>
              </a:rPr>
              <a:t>.venv</a:t>
            </a:r>
            <a:r>
              <a:rPr sz="1400" b="0" i="0">
                <a:solidFill>
                  <a:srgbClr val="1A1A1A"/>
                </a:solidFill>
                <a:latin typeface="Arial"/>
              </a:rPr>
              <a:t> out of Git with </a:t>
            </a:r>
            <a:r>
              <a:rPr sz="1350" b="0" i="0">
                <a:solidFill>
                  <a:srgbClr val="330066"/>
                </a:solidFill>
                <a:latin typeface="Courier New"/>
              </a:rPr>
              <a:t>.gitignore</a:t>
            </a:r>
            <a:r>
              <a:rPr sz="1400" b="0" i="0">
                <a:solidFill>
                  <a:srgbClr val="1A1A1A"/>
                </a:solidFill>
                <a:latin typeface="Arial"/>
              </a:rPr>
              <a:t>.</a:t>
            </a:r>
          </a:p>
        </p:txBody>
      </p:sp>
      <p:sp>
        <p:nvSpPr>
          <p:cNvPr id="8" name="Oval 7"/>
          <p:cNvSpPr/>
          <p:nvPr/>
        </p:nvSpPr>
        <p:spPr>
          <a:xfrm>
            <a:off x="609904" y="3092704"/>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Arial"/>
              </a:rPr>
              <a:t>3</a:t>
            </a:r>
          </a:p>
        </p:txBody>
      </p:sp>
      <p:sp>
        <p:nvSpPr>
          <p:cNvPr id="9" name="TextBox 8"/>
          <p:cNvSpPr txBox="1"/>
          <p:nvPr/>
        </p:nvSpPr>
        <p:spPr>
          <a:xfrm>
            <a:off x="1158544" y="3165856"/>
            <a:ext cx="10423245" cy="384048"/>
          </a:xfrm>
          <a:prstGeom prst="rect">
            <a:avLst/>
          </a:prstGeom>
          <a:noFill/>
        </p:spPr>
        <p:txBody>
          <a:bodyPr wrap="square" anchor="t" lIns="0" rIns="0" tIns="0" bIns="0">
            <a:spAutoFit/>
          </a:bodyPr>
          <a:lstStyle/>
          <a:p>
            <a:pPr algn="l">
              <a:lnSpc>
                <a:spcPct val="110000"/>
              </a:lnSpc>
              <a:spcAft>
                <a:spcPts val="600"/>
              </a:spcAft>
            </a:pPr>
            <a:r>
              <a:rPr sz="1400" b="0" i="0">
                <a:solidFill>
                  <a:srgbClr val="1A1A1A"/>
                </a:solidFill>
                <a:latin typeface="Arial"/>
              </a:rPr>
              <a:t>Authenticate with a personal access token (HTTPS) or SSH keys.</a:t>
            </a:r>
          </a:p>
        </p:txBody>
      </p:sp>
      <p:sp>
        <p:nvSpPr>
          <p:cNvPr id="10" name="TextBox 9"/>
          <p:cNvSpPr txBox="1"/>
          <p:nvPr/>
        </p:nvSpPr>
        <p:spPr>
          <a:xfrm>
            <a:off x="609904" y="6382512"/>
            <a:ext cx="8686800" cy="274320"/>
          </a:xfrm>
          <a:prstGeom prst="rect">
            <a:avLst/>
          </a:prstGeom>
          <a:noFill/>
        </p:spPr>
        <p:txBody>
          <a:bodyPr wrap="square" anchor="t" lIns="0" rIns="0" tIns="0" bIns="0">
            <a:spAutoFit/>
          </a:bodyPr>
          <a:lstStyle/>
          <a:p>
            <a:pPr algn="l">
              <a:lnSpc>
                <a:spcPct val="110000"/>
              </a:lnSpc>
              <a:spcAft>
                <a:spcPts val="600"/>
              </a:spcAft>
            </a:pPr>
            <a:r>
              <a:rPr sz="900" b="0" i="0">
                <a:solidFill>
                  <a:srgbClr val="5A5A5A"/>
                </a:solidFill>
                <a:latin typeface="Arial"/>
              </a:rPr>
              <a:t>Collaborative Git Workflow  ·  Week 2 · Monday   |   54 / 55</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solidFill>
                  <a:srgbClr val="330066"/>
                </a:solidFill>
              </a:rPr>
              <a:t>Additional Resources</a:t>
            </a:r>
          </a:p>
        </p:txBody>
      </p:sp>
      <p:sp>
        <p:nvSpPr>
          <p:cNvPr id="3" name="Oval 2"/>
          <p:cNvSpPr/>
          <p:nvPr/>
        </p:nvSpPr>
        <p:spPr>
          <a:xfrm>
            <a:off x="609904" y="17830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Arial"/>
              </a:rPr>
              <a:t>1</a:t>
            </a:r>
          </a:p>
        </p:txBody>
      </p:sp>
      <p:sp>
        <p:nvSpPr>
          <p:cNvPr id="4" name="TextBox 3"/>
          <p:cNvSpPr txBox="1"/>
          <p:nvPr/>
        </p:nvSpPr>
        <p:spPr>
          <a:xfrm>
            <a:off x="1158544" y="1819656"/>
            <a:ext cx="10423245" cy="450532"/>
          </a:xfrm>
          <a:prstGeom prst="rect">
            <a:avLst/>
          </a:prstGeom>
          <a:noFill/>
        </p:spPr>
        <p:txBody>
          <a:bodyPr wrap="square" anchor="t" lIns="0" rIns="0" tIns="0" bIns="0">
            <a:spAutoFit/>
          </a:bodyPr>
          <a:lstStyle/>
          <a:p>
            <a:pPr algn="l">
              <a:lnSpc>
                <a:spcPct val="110000"/>
              </a:lnSpc>
              <a:spcAft>
                <a:spcPts val="200"/>
              </a:spcAft>
            </a:pPr>
            <a:r>
              <a:rPr sz="1300" b="1" i="0">
                <a:solidFill>
                  <a:srgbClr val="330066"/>
                </a:solidFill>
                <a:latin typeface="Arial"/>
              </a:rPr>
              <a:t>Pro Git book - Working with Remotes</a:t>
            </a:r>
          </a:p>
          <a:p>
            <a:pPr algn="l">
              <a:lnSpc>
                <a:spcPct val="110000"/>
              </a:lnSpc>
              <a:spcAft>
                <a:spcPts val="600"/>
              </a:spcAft>
            </a:pPr>
            <a:r>
              <a:rPr sz="1200" b="0" i="0">
                <a:solidFill>
                  <a:srgbClr val="330066"/>
                </a:solidFill>
                <a:latin typeface="Courier New"/>
              </a:rPr>
              <a:t>https://git-scm.com/book/en/v2/Git-Basics-Working-with-Remotes</a:t>
            </a:r>
          </a:p>
        </p:txBody>
      </p:sp>
      <p:sp>
        <p:nvSpPr>
          <p:cNvPr id="5" name="Oval 4"/>
          <p:cNvSpPr/>
          <p:nvPr/>
        </p:nvSpPr>
        <p:spPr>
          <a:xfrm>
            <a:off x="609904" y="24347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Arial"/>
              </a:rPr>
              <a:t>2</a:t>
            </a:r>
          </a:p>
        </p:txBody>
      </p:sp>
      <p:sp>
        <p:nvSpPr>
          <p:cNvPr id="6" name="TextBox 5"/>
          <p:cNvSpPr txBox="1"/>
          <p:nvPr/>
        </p:nvSpPr>
        <p:spPr>
          <a:xfrm>
            <a:off x="1158544" y="2471356"/>
            <a:ext cx="10423245" cy="450532"/>
          </a:xfrm>
          <a:prstGeom prst="rect">
            <a:avLst/>
          </a:prstGeom>
          <a:noFill/>
        </p:spPr>
        <p:txBody>
          <a:bodyPr wrap="square" anchor="t" lIns="0" rIns="0" tIns="0" bIns="0">
            <a:spAutoFit/>
          </a:bodyPr>
          <a:lstStyle/>
          <a:p>
            <a:pPr algn="l">
              <a:lnSpc>
                <a:spcPct val="110000"/>
              </a:lnSpc>
              <a:spcAft>
                <a:spcPts val="200"/>
              </a:spcAft>
            </a:pPr>
            <a:r>
              <a:rPr sz="1300" b="1" i="0">
                <a:solidFill>
                  <a:srgbClr val="330066"/>
                </a:solidFill>
                <a:latin typeface="Arial"/>
              </a:rPr>
              <a:t>Git documentation - git pull</a:t>
            </a:r>
          </a:p>
          <a:p>
            <a:pPr algn="l">
              <a:lnSpc>
                <a:spcPct val="110000"/>
              </a:lnSpc>
              <a:spcAft>
                <a:spcPts val="600"/>
              </a:spcAft>
            </a:pPr>
            <a:r>
              <a:rPr sz="1200" b="0" i="0">
                <a:solidFill>
                  <a:srgbClr val="330066"/>
                </a:solidFill>
                <a:latin typeface="Courier New"/>
              </a:rPr>
              <a:t>https://git-scm.com/docs/git-pull</a:t>
            </a:r>
          </a:p>
        </p:txBody>
      </p:sp>
      <p:sp>
        <p:nvSpPr>
          <p:cNvPr id="7" name="Oval 6"/>
          <p:cNvSpPr/>
          <p:nvPr/>
        </p:nvSpPr>
        <p:spPr>
          <a:xfrm>
            <a:off x="609904" y="3086481"/>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Arial"/>
              </a:rPr>
              <a:t>3</a:t>
            </a:r>
          </a:p>
        </p:txBody>
      </p:sp>
      <p:sp>
        <p:nvSpPr>
          <p:cNvPr id="8" name="TextBox 7"/>
          <p:cNvSpPr txBox="1"/>
          <p:nvPr/>
        </p:nvSpPr>
        <p:spPr>
          <a:xfrm>
            <a:off x="1158544" y="3123057"/>
            <a:ext cx="10423245" cy="450532"/>
          </a:xfrm>
          <a:prstGeom prst="rect">
            <a:avLst/>
          </a:prstGeom>
          <a:noFill/>
        </p:spPr>
        <p:txBody>
          <a:bodyPr wrap="square" anchor="t" lIns="0" rIns="0" tIns="0" bIns="0">
            <a:spAutoFit/>
          </a:bodyPr>
          <a:lstStyle/>
          <a:p>
            <a:pPr algn="l">
              <a:lnSpc>
                <a:spcPct val="110000"/>
              </a:lnSpc>
              <a:spcAft>
                <a:spcPts val="200"/>
              </a:spcAft>
            </a:pPr>
            <a:r>
              <a:rPr sz="1300" b="1" i="0">
                <a:solidFill>
                  <a:srgbClr val="330066"/>
                </a:solidFill>
                <a:latin typeface="Arial"/>
              </a:rPr>
              <a:t>Git documentation - git push</a:t>
            </a:r>
          </a:p>
          <a:p>
            <a:pPr algn="l">
              <a:lnSpc>
                <a:spcPct val="110000"/>
              </a:lnSpc>
              <a:spcAft>
                <a:spcPts val="600"/>
              </a:spcAft>
            </a:pPr>
            <a:r>
              <a:rPr sz="1200" b="0" i="0">
                <a:solidFill>
                  <a:srgbClr val="330066"/>
                </a:solidFill>
                <a:latin typeface="Courier New"/>
              </a:rPr>
              <a:t>https://git-scm.com/docs/git-push</a:t>
            </a:r>
          </a:p>
        </p:txBody>
      </p:sp>
      <p:sp>
        <p:nvSpPr>
          <p:cNvPr id="9" name="TextBox 8"/>
          <p:cNvSpPr txBox="1"/>
          <p:nvPr/>
        </p:nvSpPr>
        <p:spPr>
          <a:xfrm>
            <a:off x="609904" y="6382512"/>
            <a:ext cx="8686800" cy="274320"/>
          </a:xfrm>
          <a:prstGeom prst="rect">
            <a:avLst/>
          </a:prstGeom>
          <a:noFill/>
        </p:spPr>
        <p:txBody>
          <a:bodyPr wrap="square" anchor="t" lIns="0" rIns="0" tIns="0" bIns="0">
            <a:spAutoFit/>
          </a:bodyPr>
          <a:lstStyle/>
          <a:p>
            <a:pPr algn="l">
              <a:lnSpc>
                <a:spcPct val="110000"/>
              </a:lnSpc>
              <a:spcAft>
                <a:spcPts val="600"/>
              </a:spcAft>
            </a:pPr>
            <a:r>
              <a:rPr sz="900" b="0" i="0">
                <a:solidFill>
                  <a:srgbClr val="5A5A5A"/>
                </a:solidFill>
                <a:latin typeface="Arial"/>
              </a:rPr>
              <a:t>Collaborative Git Workflow  ·  Week 2 · Monday   |   55 / 55</a:t>
            </a:r>
          </a:p>
        </p:txBody>
      </p:sp>
    </p:spTree>
  </p:cSld>
  <p:clrMapOvr>
    <a:masterClrMapping/>
  </p:clrMapOvr>
</p:sld>
</file>

<file path=ppt/theme/theme1.xml><?xml version="1.0" encoding="utf-8"?>
<a:theme xmlns:a="http://schemas.openxmlformats.org/drawingml/2006/main" name="Learners Point">
  <a:themeElements>
    <a:clrScheme name="1_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1_Networ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IN" alt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IN" alt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1_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1_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1_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1_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1_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1_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1_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1_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1_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1_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Learners Point" id="{5ABB7BE2-076F-42C1-9907-FD58862889C1}" vid="{2565D177-60C2-4381-BEC4-E0C09BB79CBA}"/>
    </a:ext>
  </a:extLst>
</a:theme>
</file>

<file path=docProps/app.xml><?xml version="1.0" encoding="utf-8"?>
<Properties xmlns="http://schemas.openxmlformats.org/officeDocument/2006/extended-properties" xmlns:vt="http://schemas.openxmlformats.org/officeDocument/2006/docPropsVTypes">
  <Application>Learners Point Template</Application>
  <PresentationFormat>Widescreen</PresentationFormat>
  <Slides>0</Slid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Learners Point Template</dc:title>
  <dc:creator>Learners Point</dc:creator>
</cp:coreProperties>
</file>