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10/17/2026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10/17/2026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pip and Package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Install, pin, record and reproduce the third-party packages your test suites depend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PyPI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3860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04364" y="3520439"/>
            <a:ext cx="81724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pip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130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78809" y="3520439"/>
            <a:ext cx="201739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site-packages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8764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53404" y="3520439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requirements.txt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Explain what pip and PyPI are, and how installing a third-party package works.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50008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258568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install, upgrade, inspect, list and uninstall packages.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82549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2734056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Read and write version specifiers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&gt;=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~=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&lt;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and explain why pinning matters.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30098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20954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Create and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 freeze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 install -r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377647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368503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Understand direct vs transitive dependencies and why conflicts happen.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" y="425196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6832" y="41605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Install from other sources (local folder, Git URL, requirements file), including editable mode.</a:t>
            </a:r>
          </a:p>
        </p:txBody>
      </p:sp>
      <p:sp>
        <p:nvSpPr>
          <p:cNvPr id="15" name="Oval 14"/>
          <p:cNvSpPr/>
          <p:nvPr/>
        </p:nvSpPr>
        <p:spPr>
          <a:xfrm>
            <a:off x="609904" y="4727448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32" y="4636008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Diagnose common pip errors (command not found, externally-managed-environment, permissions, conflicts).</a:t>
            </a:r>
          </a:p>
        </p:txBody>
      </p:sp>
      <p:sp>
        <p:nvSpPr>
          <p:cNvPr id="17" name="Oval 16"/>
          <p:cNvSpPr/>
          <p:nvPr/>
        </p:nvSpPr>
        <p:spPr>
          <a:xfrm>
            <a:off x="609904" y="520293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6832" y="5111496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Follow safe practices when installing third-party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Python's power for QE comes from its ecosystem: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(API testing),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pytest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(test running),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selenium</a:t>
            </a:r>
            <a:r>
              <a:rPr sz="1600" b="0" i="0">
                <a:solidFill>
                  <a:srgbClr val="1A1A1A"/>
                </a:solidFill>
                <a:latin typeface="Arial"/>
              </a:rPr>
              <a:t>/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playwright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(browser automation),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faker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(test data), and database drivers. Almost every framework begins with dependencies installed through pip.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project that cannot be installed identically on a teammate's laptop and the CI server is a "works on my machine" story. Package management makes suites reproducible: "run these tests" means the same thing everywhere, today and in six months.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4434840"/>
            <a:ext cx="10971885" cy="1362456"/>
          </a:xfrm>
          <a:prstGeom prst="roundRect">
            <a:avLst>
              <a:gd name="adj" fmla="val 604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4572000"/>
            <a:ext cx="1051468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pip is a supermarket delivery service for code. You write a shopping list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); pip fetches each item, and every ingredient those items need, from the warehouse (PyPI) and shelves it in your kitchen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 The list lets a colleague stock an identical kitchen.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Installing, versioning, inspecting, recording and troubleshooting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645920"/>
          <a:ext cx="10971884" cy="3858768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Package / distribution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A bundle of Python code that can be installed (for example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requests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PyPI (Python Package Index)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The public online repository of Python packages at pypi.org; pip downloads from here by default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pip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The standard tool that downloads and installs packages ("pip installs packages")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site-packages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The folder inside a Python installation or virtual environment where installed packages live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Wheel (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.whl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 pre-built package file; the fast, common format pip prefers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Source distribution (sdist)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 package as source code that must be built on your machine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Dependency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 package your code needs in order to work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Transitive dependency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 dependency of a dependency (you did not ask for it directly)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Version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A label like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2.31.0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typically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MAJOR.MINOR.PATCH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Requirement specifier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A rule describing acceptable versions, such as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requests&gt;=2.31,&lt;3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Standard Library vs Installed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662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 dirty="0">
                <a:solidFill>
                  <a:srgbClr val="1A1A1A"/>
                </a:solidFill>
                <a:latin typeface="Arial"/>
              </a:rPr>
              <a:t>You have already used the standard library: modules shipped with Python such as </a:t>
            </a:r>
            <a:r>
              <a:rPr sz="1750" b="0" i="0" dirty="0" err="1">
                <a:solidFill>
                  <a:srgbClr val="330066"/>
                </a:solidFill>
                <a:latin typeface="Courier New"/>
              </a:rPr>
              <a:t>os</a:t>
            </a:r>
            <a:r>
              <a:rPr sz="1800" b="0" i="0" dirty="0">
                <a:solidFill>
                  <a:srgbClr val="1A1A1A"/>
                </a:solidFill>
                <a:latin typeface="Arial"/>
              </a:rPr>
              <a:t> and </a:t>
            </a:r>
            <a:r>
              <a:rPr sz="1750" b="0" i="0" dirty="0" err="1">
                <a:solidFill>
                  <a:srgbClr val="330066"/>
                </a:solidFill>
                <a:latin typeface="Courier New"/>
              </a:rPr>
              <a:t>json</a:t>
            </a:r>
            <a:r>
              <a:rPr sz="1800" b="0" i="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 dirty="0">
                <a:solidFill>
                  <a:srgbClr val="1A1A1A"/>
                </a:solidFill>
                <a:latin typeface="Arial"/>
              </a:rPr>
              <a:t>Anything not in the standard library must be installed. That is where pip comes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Check That pip Is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pip ships with modern Python installers. Check: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94560"/>
            <a:ext cx="384048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784" y="21945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python -m pip --version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880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Example output (your numbers will differ)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154680"/>
            <a:ext cx="10971885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00984"/>
            <a:ext cx="10569549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pip 24.0 from /path/to/site-packages/pip (python 3.12)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977639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macOS/Linux may need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python3 -m pip --version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on Windows,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 -m pip --version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also 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4709160"/>
            <a:ext cx="10971885" cy="1362456"/>
          </a:xfrm>
          <a:prstGeom prst="roundRect">
            <a:avLst>
              <a:gd name="adj" fmla="val 604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504" y="4846320"/>
            <a:ext cx="1051468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ALWAYS INSTALL INTO A VIRTUAL ENVIRONMENT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Everything here assumes an active environment. If you have not yet done the virtual environments lesson, at least run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venv 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activate it first. Installing project packages into the system Python is the number one source of beginner trouble.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Why python -m pip Instead of pip?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Both work in many setups, but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 -m pip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guarantees the pip that belongs to the exact interpreter you typed.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23744"/>
            <a:ext cx="640080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670048"/>
            <a:ext cx="5998464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python -c "import sys; print(sys.executable)"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python -m pip --version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523744"/>
            <a:ext cx="420532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Many machines have several Pythons; a bare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might be attached to a different one than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classic bug: "I installed it, but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says it is not installed".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Both lines shown should point into the same Python (and later into your project's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This course uses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throughout.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Installing the Latest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 · INSTALLING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20624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2784" y="17830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python -m pip install requests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14600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" y="2423160"/>
            <a:ext cx="6236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pip contacts PyPI and finds the newest release of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compatible with your Python.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227832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" y="3136392"/>
            <a:ext cx="6236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It reads the metadata to learn its dependencies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urllib3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idna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certifi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charset-normalizer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941064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0256" y="3849624"/>
            <a:ext cx="6236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It resolves a set of versions that satisfies everyone.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654296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256" y="4562856"/>
            <a:ext cx="6236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It downloads wheels (or builds sdists) and unpacks them into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42224" y="2514600"/>
            <a:ext cx="3839565" cy="1920240"/>
          </a:xfrm>
          <a:prstGeom prst="roundRect">
            <a:avLst>
              <a:gd name="adj" fmla="val 4285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70824" y="2651760"/>
            <a:ext cx="338236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ONE ASKED, FIVE INSTALLED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Output ends like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Successfully installed certifi-... charset-normalizer-... idna-... requests-... urllib3-...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You asked for one package; pip installed five. The other four are transitive dependencies.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2224" y="4617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Check that it 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2224" y="4892040"/>
            <a:ext cx="3839565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43392" y="5038344"/>
            <a:ext cx="3437229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requests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print(requests.__version__)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0066"/>
                </a:solidFill>
              </a:rPr>
              <a:t>Specific Versions, Several Packages, Upgrades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Install a specific 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install requests==2.31.0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233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Install several at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97708"/>
            <a:ext cx="640080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44012"/>
            <a:ext cx="5998464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install requests pytest faker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6636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Upgrade an installed package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3938016"/>
            <a:ext cx="640080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4084320"/>
            <a:ext cx="5998464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install --upgrade requests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short form: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install -U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49850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Upgrade pip itself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" y="5259323"/>
            <a:ext cx="640080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" y="5405628"/>
            <a:ext cx="5998464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install --upgrade pip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means "exactly this version": use it for a precise, known-good release.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Already newest? pip says "Requirement already satisfied".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Upgrading pip inside a virtual environment is safe and often useful: new environments sometimes ship an older pip.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Uninstall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521208"/>
          </a:xfrm>
          <a:prstGeom prst="roundRect">
            <a:avLst>
              <a:gd name="adj" fmla="val 140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python -m pip uninstall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pip asks for confirmation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y/n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 Add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skip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Uninstalling a package does not uninstall its dependencies automatically.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pip does not track "who asked for whom" well enough to be sure they are unneeded.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Version Specifiers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 · CONTROLLING WHICH VERSIONS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944368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9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Specifier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 matches for 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==2.31.0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Exactly this version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only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2.31.0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&gt;=2.31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This or newer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2.31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2.32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3.0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&lt;3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Older than this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2.99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but not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3.0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&gt;=2.31,&lt;3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range (comma = AND)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2.31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through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!=2.32.0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Anything except this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skip a known-bad release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~=2.31.0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"Compatible release":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&gt;=2.31.0, ==2.31.*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2.31.0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2.31.5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not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2.32.0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~=2.31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&gt;=2.31, ==2.*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2.31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2.40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not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3.0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5687568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A new version can fix bugs, but it can also break your tests. Specifiers let you control the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Quote Specifiers in the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Quote specifiers containing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&lt;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&gt;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or other special characters, otherwise the shell treats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&gt;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as "redirect output to a file".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python -m pip install "requests&gt;=2.31,&lt;3"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python -m pip install "pytest~=8.0"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Semantic Versioning (SemVer)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common convention: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MAJOR.MINOR.PATCH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42316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E9F1F1"/>
          </a:solidFill>
          <a:ln w="12700">
            <a:solidFill>
              <a:srgbClr val="E9F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256032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5C8A8A"/>
                </a:solidFill>
                <a:latin typeface="Arial"/>
              </a:rPr>
              <a:t>PATCH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50" b="1" i="0">
                <a:solidFill>
                  <a:srgbClr val="330066"/>
                </a:solidFill>
                <a:latin typeface="Courier New"/>
              </a:rPr>
              <a:t>2.31.1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Bug fixes only; safe.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944" y="242316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7544" y="256032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5C8A8A"/>
                </a:solidFill>
                <a:latin typeface="Arial"/>
              </a:rPr>
              <a:t>MINOR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50" b="1" i="0">
                <a:solidFill>
                  <a:srgbClr val="330066"/>
                </a:solidFill>
                <a:latin typeface="Courier New"/>
              </a:rPr>
              <a:t>2.32.0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New features, supposed to be backward compatible.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7984" y="242316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36584" y="256032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5C8A8A"/>
                </a:solidFill>
                <a:latin typeface="Arial"/>
              </a:rPr>
              <a:t>MAJOR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50" b="1" i="0">
                <a:solidFill>
                  <a:srgbClr val="330066"/>
                </a:solidFill>
                <a:latin typeface="Courier New"/>
              </a:rPr>
              <a:t>3.0.0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May break existing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452628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Many (not all!) packages follow it. A common safe range is "same major version, at least the minor you tested with", such as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&gt;=2.31,&lt;3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Pinning Matters for QE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874519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0256" y="1783079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Friday: your nightly UI test suite passes.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41448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" y="2350008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Saturday: the browser-automation library publishes a release with a changed default timeout.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08376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" y="2916936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Monday: CI installs "the latest" and 40 tests fail.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794760"/>
            <a:ext cx="1097188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Nobody changed the tests. If the version had been pinned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selenium==4.x.y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), Monday would have matched Friday.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Your goal is to make failures meaningful: they should mean "the application changed", not "the tooling shifted underneath us".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Inspecting What Is Installed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List everything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python -m pip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31007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Sample output (versions vary)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05327"/>
            <a:ext cx="5486400" cy="1877568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51631"/>
            <a:ext cx="5084064" cy="158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Package            Version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------------------ ---------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certifi            2026.7.22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charset-normalizer 3.5.2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idna               3.20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pip                26.2.1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requests           2.31.0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urllib3            2.8.0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python -m pip show requests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version, summary, home page, license, install location,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Requires: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Required-by: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Requires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Required-by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are the quickest way to understand why a package is present.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Outdated, Broken and Available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See which are outdated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python -m pip list --outdated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31007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Check for broken dependencies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05327"/>
            <a:ext cx="64008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51631"/>
            <a:ext cx="59984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python -m pip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678935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Available versions of a package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3953255"/>
            <a:ext cx="64008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4099559"/>
            <a:ext cx="59984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python -m pip index versions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--outdated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shows packages with newer versions available; it changes nothing.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pip check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prints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 broken requirements found.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when all dependency rules are satisfied. Run it when you suspect a conflict.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pip index versions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flagged "experimental"; the PyPI website is a reliable alternative.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Requirements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 · RECORDING AN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plain text file listing packages, one per line: the shopping list. Commit it to Git with your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requirements.txt, written by hand (recommended for direct dependencies)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694944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6547103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requirements.txt - direct dependencies of the QE Foundations project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requests&gt;=2.31,&lt;3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pytest~=8.0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faker==24.0.0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005071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Install everything in the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279391"/>
            <a:ext cx="694944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425695"/>
            <a:ext cx="6547103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python -m pip install -r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5104" y="2523744"/>
            <a:ext cx="365668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Lines starting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#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are comments.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Blank lines are ignored.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other line is a requirement specifier.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-r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means "read requirements from this file".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Generating One with pip freeze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python -m pip freeze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4566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Prints every installed package pinned exactly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2731007"/>
            <a:ext cx="548640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2877312"/>
            <a:ext cx="508406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certifi==2026.7.22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charset-normalizer==3.5.2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idna==3.20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requests==2.31.0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urllib3==2.8.0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41970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Redirect into a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471416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072" y="4617720"/>
            <a:ext cx="50840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python -m pip freeze &gt; requirements.txt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writes the command's output into the file, replacing previous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2064" y="3246120"/>
            <a:ext cx="5119725" cy="1737360"/>
          </a:xfrm>
          <a:prstGeom prst="roundRect">
            <a:avLst>
              <a:gd name="adj" fmla="val 4736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0664" y="3383279"/>
            <a:ext cx="4662525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WINDOWS POWERSHELL NOTE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some older PowerShell versions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writes UTF-16, which pip may fail to read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UnicodeDecodeError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 freeze | Out-File -Encoding utf8 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or Command Prompt or Git Bash.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Two Styles of Requirements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964434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4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Style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How made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19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Loose (direct dependencies, ranges)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Written by hand: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requests&gt;=2.31,&lt;3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Easy to read; you see what you chose; allows bug-fix upgrades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Two installs on different days may give different transitive versions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19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Pinned (frozen, exact versions)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pip freeze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Reproducible down to every 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Long; includes transitive dependencies you did not choose; harder to upgrade deliberately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4910327"/>
            <a:ext cx="10971885" cy="1188720"/>
          </a:xfrm>
          <a:prstGeom prst="roundRect">
            <a:avLst>
              <a:gd name="adj" fmla="val 692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5047488"/>
            <a:ext cx="105146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KEEP BOTH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Many teams keep both: loose direct dependencies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and a frozen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requirements.lock.txt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constraints.txt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from a known-good environment, used by CI. For Project 1 one hand-maintained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sensible pins is fine: be consistent and know the trade-off.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Useful Requirements-File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-r base.txt                  # include another requirements file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requests==2.31.0             # exact pin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pytest&gt;=8,&lt;9                 # range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colorama; sys_platform == "win32"    # environment marker: only on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Environment markers (after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install a package only on certain platforms or Python versions: useful for mixed Windows/macOS/Linux teams.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common split: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runtime packages;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requirements-dev.txt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starts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-r 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adds test-only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A Critical Caution about pip freeze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815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Cluttered environment, cluttered file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pip freeze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in an environment with unrelated packages (e.g. global Python)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fills with things your project does not need.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9990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836481"/>
            <a:ext cx="10423245" cy="561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One virtual environment per project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main reason for it: the freeze output then reflects only that project.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5627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-e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599307"/>
            <a:ext cx="10423245" cy="815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Editable installs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Your own editable package shows up 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freeze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as a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-e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line; for a shared requirements file you may need to remove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Dependency Conflicts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 · HOW PIP RESOLVES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Your project needs libraries A and B: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784" y="2240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A requires shared&gt;=2,&lt;3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304" y="2240280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9184" y="2240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B requires shared&gt;=3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297180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 single version of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shared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satisfies both. Modern pip's resolver tries to find a working combination; if there is none it stops: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3794760"/>
            <a:ext cx="10971885" cy="490727"/>
          </a:xfrm>
          <a:prstGeom prst="roundRect">
            <a:avLst>
              <a:gd name="adj" fmla="val 14906"/>
            </a:avLst>
          </a:prstGeom>
          <a:solidFill>
            <a:srgbClr val="FBEDE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072" y="3941064"/>
            <a:ext cx="10569549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ERROR: Cannot install A and B because these package versions have conflicting dependencies.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461772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pip does not analyse conflicts between packages installed in different commands until the next install; use </a:t>
            </a:r>
            <a:r>
              <a:rPr sz="1450" b="0" i="0">
                <a:solidFill>
                  <a:srgbClr val="5A5A5A"/>
                </a:solidFill>
                <a:latin typeface="Courier New"/>
              </a:rPr>
              <a:t>python -m pip check</a:t>
            </a:r>
            <a:r>
              <a:rPr sz="1500" b="0" i="0">
                <a:solidFill>
                  <a:srgbClr val="5A5A5A"/>
                </a:solidFill>
                <a:latin typeface="Arial"/>
              </a:rPr>
              <a:t> to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Handling a Dependency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874519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20" y="1783079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Read the message: it names the conflicting packages and the constraints.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60320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5120" y="2468879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Try relaxing your own pins (an old pin may block the upgrade).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246120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5120" y="3154679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Check whether a newer or older version of A or B changes its requirement.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931920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5120" y="3840480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If two tools genuinely cannot coexist, put them in separate virtual environments.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617720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5120" y="4526280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As a last resort, ask: do I really need both?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Other Places to Install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3712464"/>
        </p:xfrm>
        <a:graphic>
          <a:graphicData uri="http://schemas.openxmlformats.org/drawingml/2006/table">
            <a:tbl>
              <a:tblPr/>
              <a:tblGrid>
                <a:gridCol w="2413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Command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When used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PyPI (default)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python -m pip install requests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Normal case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Requirements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python -m pip install -r requirements.txt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Reproducing an environment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Local project folder (editable)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python -m pip install -e 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Developing your own package (see packages lesson)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Local project folder (regular)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python -m pip install ./qa-toolkit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Install a snapshot of a local 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Wheel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python -m pip install qa_toolkit-0.1.0-py3-none-any.whl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Offline or internal distribution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Git repository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python -m pip install "git+https://github.com/user/repo.git@v1.0"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Internal libraries or unreleased fixes;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@v1.0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selects a tag/branch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Private package index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python -m pip install --index-url https://my.company/simple pkg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Companies hosting internal packages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5733288"/>
            <a:ext cx="1097188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Teams often share an internal QE library via a Git URL: tag a release (</a:t>
            </a:r>
            <a:r>
              <a:rPr sz="1250" b="0" i="0">
                <a:solidFill>
                  <a:srgbClr val="5A5A5A"/>
                </a:solidFill>
                <a:latin typeface="Courier New"/>
              </a:rPr>
              <a:t>v1.0</a:t>
            </a:r>
            <a:r>
              <a:rPr sz="1300" b="0" i="0">
                <a:solidFill>
                  <a:srgbClr val="5A5A5A"/>
                </a:solidFill>
                <a:latin typeface="Arial"/>
              </a:rPr>
              <a:t>); every project installs </a:t>
            </a:r>
            <a:r>
              <a:rPr sz="1250" b="0" i="0">
                <a:solidFill>
                  <a:srgbClr val="5A5A5A"/>
                </a:solidFill>
                <a:latin typeface="Courier New"/>
              </a:rPr>
              <a:t>git+https://...@v1.0</a:t>
            </a:r>
            <a:r>
              <a:rPr sz="1300" b="0" i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Extras and Optional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Some packages offer optional feature sets called extras, written in square brackets: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521208"/>
          </a:xfrm>
          <a:prstGeom prst="roundRect">
            <a:avLst>
              <a:gd name="adj" fmla="val 140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python -m pip install "requests[socks]"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Installs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plus the dependencies for SOCKS proxy support.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Mostly met in documentation: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 install "something[all]"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Quote them: square brackets are special in some shells (notably zsh).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Are Packages Stored?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 · CACHES AND WHEELS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Installed packages live in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of the active interpreter/environment. Find it with: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import site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print(site.getsitepackages())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 a virtual environment this prints the environment's own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pip keeps a download cache: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 cache dir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shows it,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 cache purge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clears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Prefer wheels. Building from source without a compiler can fail; upgrading pip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 install -U pip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often helps it find a wheel.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Troubleshooting Guide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3316222"/>
        </p:xfrm>
        <a:graphic>
          <a:graphicData uri="http://schemas.openxmlformats.org/drawingml/2006/table">
            <a:tbl>
              <a:tblPr/>
              <a:tblGrid>
                <a:gridCol w="3620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0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Message / Symptom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pip: command not found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'pip' is not recognized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pip's script is not on your PATH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Use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python -m pip ...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; make sure Python is installed and on PATH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No module named pip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pip not installed for this Python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python -m ensurepip --upgrade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ModuleNotFoundError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after a successful install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Installed into a different Python/environment than the one running your code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Use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python -m pip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; activate the correct virtual environment; verify with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sys.executable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error: externally-managed-environment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Your OS-managed Python (common on recent Debian/Ubuntu/macOS Homebrew) blocks system-wide pip installs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Create and activate a virtual environment, then install there. Do not use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--break-system-packages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as a habit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PermissionError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Access is denied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Trying to write to a protected system location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Use a virtual environment; avoid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sudo pip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Troubleshooting Guide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4035548"/>
        </p:xfrm>
        <a:graphic>
          <a:graphicData uri="http://schemas.openxmlformats.org/drawingml/2006/table">
            <a:tbl>
              <a:tblPr/>
              <a:tblGrid>
                <a:gridCol w="3620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0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Message / Symptom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ERROR: Could not find a version that satisfies the requirement ...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Typo in the name, the version does not exist, or your Python version is unsupported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Check spelling and available versions (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pip index versions name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ERROR: No matching distribution found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Often network/proxy issues or unsupported platform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Check connectivity; corporate proxies may require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--proxy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or configuration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ERROR: Cannot install X and Y because these package versions have conflicting dependencies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Dependency conflict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See section 7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SSL: CERTIFICATE_VERIFY_FAILED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Corporate network intercepting HTTPS, or outdated certificates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Ask IT for the corporate CA bundle; never disable verification as a habit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Wrong version imported after an upgrade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Old Python session still running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Restart the interpreter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UnicodeDecodeError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reading requirements.txt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File saved in UTF-16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Re-save as UTF-8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Safe Practices for Third-Party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Installing a package means running someone else's code on your computer, including install scripts.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Check the name carefully. Look-alike names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requets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reqeusts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 are typosquatting.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84378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2916936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Prefer well-known, actively maintained packages: check release history, project links, maintainers, popularity on PyPI.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47789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551047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Pin versions so you do not silently receive a compromised or broken release.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398995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06311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Do not run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sudo pip install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or install to system Python.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" y="450202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544" y="4575175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Do not install packages you do not need: every dependency must be kept updated.</a:t>
            </a:r>
          </a:p>
        </p:txBody>
      </p:sp>
      <p:sp>
        <p:nvSpPr>
          <p:cNvPr id="15" name="Oval 14"/>
          <p:cNvSpPr/>
          <p:nvPr/>
        </p:nvSpPr>
        <p:spPr>
          <a:xfrm>
            <a:off x="609904" y="501408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8544" y="5087239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Review upgrades deliberately (read changelogs) rather than upgrading everything blindly.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A Standard Workflow for a New QE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188207"/>
          </a:xfrm>
          <a:prstGeom prst="roundRect">
            <a:avLst>
              <a:gd name="adj" fmla="val 22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89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1. Create a project folder and enter it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mkdir qe-foundations &amp;&amp; cd qe-foundations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2. Create and activate a virtual environment (next lesson explains this fully)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python -m venv .venv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macOS/Linux:  source .venv/bin/activate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Windows PowerShell:  .venv\Scripts\Activate.ps1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3. Upgrade pip inside the environment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python -m pip install --upgrade pip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4. Install what you need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python -m pip install requests pytest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5. Record it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python -m pip freeze &gt; requirements.txt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6. Commit requirements.txt (but NOT .venv/) to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Practised in today's demo and exercise.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teammate clones the repo, creates their own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and runs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 install -r 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get the same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Code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Using an installed package, checking versions, a preflight script, and split requirements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1: Using requests (Offline)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2639568"/>
          </a:xfrm>
          <a:prstGeom prst="roundRect">
            <a:avLst>
              <a:gd name="adj" fmla="val 277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2346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requests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request = requests.Request(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"GET",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"https://example.com/api/users",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params={"page": 2, "limit": 10},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headers={"Accept": "application/json"},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prepared = request.prepare()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print(prepared.method)    # GET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print(prepared.url)       # https://example.com/api/users?page=2&amp;limit=10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print(prepared.headers["Accept"])   # application/json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print(requests.__version__)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requests.Request(...)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Describes a request (method, URL, query parameters, headers) without sending it.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2868231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.prepare()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exact request that would be sent, including URL encoding of parameters.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38802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3916807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Why QE cares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Check how your code constructs requests before running them against a real server.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2: Checking Versions from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importlib import metadata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for name in ("requests", "pip"):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   print(name, metadata.version(name))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except metadata.PackageNotFoundError: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   print(name, "is NOT installed")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importlib.metadata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in the standard library.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metadata.version(name)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reads the installed version.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PackageNotFoundError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raised if the package is missing;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try/except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catches it (covered fully tomorrow).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3: check_env.py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PREFLIGHT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check_env.py › read_pins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142488"/>
          </a:xfrm>
          <a:prstGeom prst="roundRect">
            <a:avLst>
              <a:gd name="adj" fmla="val 232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2849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"""check_env.py - verify installed packages match pinned requirements."""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importlib import metadata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read_pins(path):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"""Return {package_name: version} for lines like 'name==1.2.3'."""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pins = {}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with open(path, encoding="utf-8") as handle: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for line in handle: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line = line.strip()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if not line or line.startswith("#") or "==" not in line: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    continue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name, version = line.split("==", 1)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pins[name.strip()] = version.strip()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pins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with open(...)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Opens the file and guarantees it is closed afterwards (files: tomorrow).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868231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line.strip()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Removes surrounding whitespace and newlines.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6817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718369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continue</a:t>
            </a:r>
            <a:r>
              <a:rPr sz="1300" b="1" i="0">
                <a:solidFill>
                  <a:srgbClr val="330066"/>
                </a:solidFill>
                <a:latin typeface="Arial"/>
              </a:rPr>
              <a:t> condition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Skips blank lines, comments and non-pinned 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8199424" y="45319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64" y="4568507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split("==", 1)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Splits at the first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only: name and version.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3: check_env.py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PREFLIGHT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check_env.py ›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477768"/>
          </a:xfrm>
          <a:prstGeom prst="roundRect">
            <a:avLst>
              <a:gd name="adj" fmla="val 210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3185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main(path="requirements.txt"):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problems = 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for name, wanted in read_pins(path).items():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try: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found = metadata.version(name)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except metadata.PackageNotFoundError: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print(f"MISSING  {name} (wanted {wanted})")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problems += 1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continue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if found != wanted: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print(f"MISMATCH {name}: installed {found}, wanted {wanted}")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problems += 1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else: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print(f"OK       {name}=={found}")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1 if problems else 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sys.exit(main(*sys.argv[1:]))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Exit code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main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returns 1 on problems, 0 otherwise;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sys.exit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passes it on. CI treats non-zero as failure.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30300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3066669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sys.argv[1:]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Arguments after the script name: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python check_env.py other.txt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checks another file.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407866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4115244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Caveat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Name matching is exact; keep your file's spelling consistent.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3: Running the Preflight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2784" y="1783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python check_env.py requirements.txt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468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Sample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2743200"/>
            <a:ext cx="640080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2889504"/>
            <a:ext cx="5998464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OK       requests==2.31.0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MISMATCH urllib3: installed 2.8.0, wanted 1.26.18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379476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QE teams often add a small check like this that fails fast with a helpful message if the environment is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0066"/>
                </a:solidFill>
              </a:rPr>
              <a:t>Example 4: requirements.txt and requirements-dev.txt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requirements.txt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Runtime libraries for the QE Foundations toolkit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requests&gt;=2.31,&lt;3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59607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requirements-dev.txt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33927"/>
            <a:ext cx="64008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80231"/>
            <a:ext cx="59984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-r requirements.txt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Tools only needed while developing/testing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pytest&gt;=8,&lt;9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Install everything for development: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python -m pip install -r requirements-dev.txt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What is the difference between pip and PyPI?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6829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4144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Why do we prefer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python -m pip install x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over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pip install x</a:t>
            </a:r>
            <a:r>
              <a:rPr sz="155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5351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26664"/>
            <a:ext cx="10423245" cy="53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Interpret each in plain English: (a)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pytest==8.1.1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(b)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requests&gt;=2.31,&lt;3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(c)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faker~=24.0.0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(d)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urllib3!=2.0.0</a:t>
            </a:r>
            <a:r>
              <a:rPr sz="15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9252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65677"/>
            <a:ext cx="10423245" cy="53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You run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python -m pip install requests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and pip installs five packages. Why? Which did you ask for directly?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teammate ran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 -m pip install -r requirements.txt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but gets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ModuleNotFoundError: No module named 'pytest'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running tests. Give three possible causes.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06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42794"/>
            <a:ext cx="10423245" cy="1006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Hands-on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In a fresh virtual environment: (a) install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requests==2.31.0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(b)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pip show requests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note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Requires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(c)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pip freeze &gt; requirements.txt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(d) uninstall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(e) restore from the file; (f) verify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pip list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71354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750119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Predict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Why might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 -m pip install requests&gt;=2.31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create a file named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=2.31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? How do you fix the command?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Debug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Output: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error: externally-managed-environment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What does it mean, and what is the right fix?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141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50731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Design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Your suite uses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Write a loose requirement line you are comfortable with, and explain why you would also keep a pinned (frozen) file for CI.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83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Q10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519932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Challenge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Extend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check_env.py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to report packages that 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&gt;=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rather than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as "SKIPPED (not pinned)". Hint: look at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read_pins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condition.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(1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pip is the tool that installs packages. PyPI is the online repository pip downloads from by default.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9034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63495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python -m pip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runs the pip of exactly the interpreter you invoked, so packages go into the environment you intend. A bare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pip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might belong to a different Python.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19760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270758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(a) exactly 8.1.1. (b) 2.31 or newer but below 3. (c) compatible release: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&gt;=24.0.0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&lt;24.1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so 24.0.x only. (d) any version except 2.0.0.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90486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978021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pip also installs the transitive dependencies of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urllib3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idna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certifi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charset-normalizer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). You asked directly only for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(2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A6: one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669280" cy="1435607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266944" cy="1142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install requests==2.31.0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show requests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freeze &gt; requirements.txt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uninstall -y requests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install -r requirements.txt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pip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A5: (1) virtual environment not activated, or a different one; (2)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pytest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not listed in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(e.g. only in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requirements-dev.txt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); (3) installed with a different Python, or the install failed partway. Also possible: wrong file encoding.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A6: uninstalling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leaves its dependencies behind; the final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install -r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succeeds either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(3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shell treats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&gt;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as redirection: the command becomes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pip install requests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with output redirected into a file named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=2.31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 Quote it: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python -m pip install "requests&gt;=2.31"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9034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63495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OS manages that Python and refuses system-wide installs to avoid breaking OS tools. Create a virtual environment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python -m venv .venv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), activate it, and install there.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19760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270758"/>
            <a:ext cx="10423245" cy="736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For example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requests&gt;=2.31,&lt;3</a:t>
            </a:r>
            <a:r>
              <a:rPr sz="1450" b="0" i="0">
                <a:solidFill>
                  <a:srgbClr val="1A1A1A"/>
                </a:solidFill>
                <a:latin typeface="Arial"/>
              </a:rPr>
              <a:t>: allows compatible upgrades but blocks a breaking major release. A frozen file for CI gives every run identical versions, including transitive dependencies, so failures trace to your tests or the application, not a changed library.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(4 of 4): A10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868168"/>
          </a:xfrm>
          <a:prstGeom prst="roundRect">
            <a:avLst>
              <a:gd name="adj" fmla="val 255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575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read_pins(path):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pins, skipped = {}, []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with open(path, encoding="utf-8") as handle: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for line in handle: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line = line.strip()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if not line or line.startswith("#"):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    continue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if "==" in line: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    name, version = line.split("==", 1)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    pins[name.strip()] = version.strip()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else: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    skipped.append(line)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pins, skipped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Record non-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lines separately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read_pins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unpack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pins, skipped = read_pins(path)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Print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SKIPPED (not pinned)  &lt;line&gt;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each item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skipped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pip installs packages from PyPI into the active environment's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so you always target the right interpreter.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Core commands: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install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install -U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uninstall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show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freeze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check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list --outdated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Version specifiers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&gt;=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&lt;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~=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!=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comma-combined) control what is acceptable; quote them in the shell. Pinning makes runs reproducible.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4134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1449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Record your environment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(loose ranges by hand;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 freeze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exact pins) and rebuild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 install -r 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pip also installs transitive dependencies; conflicts are resolved by relaxing pins, or by separating environments.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can install from PyPI, local folders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-e 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wheels and Git URLs.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Install into a virtual environment (next lesson), never the system Python, and treat third-party code with caution (watch for typosquatting).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pip documentation - User Guide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https://pip.pypa.io/en/stable/user_guide/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pip documentation - Requirements File Format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https://pip.pypa.io/en/stable/reference/requirements-file-format/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Packaging User Guide - Installing Packages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https://packaging.python.org/en/latest/tutorials/installing-packages/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5314</Words>
  <Application>Microsoft Office PowerPoint</Application>
  <PresentationFormat>Widescreen</PresentationFormat>
  <Paragraphs>679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Courier New</vt:lpstr>
      <vt:lpstr>Wingdings</vt:lpstr>
      <vt:lpstr>Learners Point</vt:lpstr>
      <vt:lpstr>pip and Package Management</vt:lpstr>
      <vt:lpstr>Learning Objectives</vt:lpstr>
      <vt:lpstr>Why This Matters</vt:lpstr>
      <vt:lpstr>The Concept</vt:lpstr>
      <vt:lpstr>Key Vocabulary</vt:lpstr>
      <vt:lpstr>Standard Library vs Installed Packages</vt:lpstr>
      <vt:lpstr>Check That pip Is Available</vt:lpstr>
      <vt:lpstr>Why python -m pip Instead of pip?</vt:lpstr>
      <vt:lpstr>Installing the Latest Version</vt:lpstr>
      <vt:lpstr>Specific Versions, Several Packages, Upgrades</vt:lpstr>
      <vt:lpstr>Uninstall</vt:lpstr>
      <vt:lpstr>Version Specifiers</vt:lpstr>
      <vt:lpstr>Quote Specifiers in the Shell</vt:lpstr>
      <vt:lpstr>Semantic Versioning (SemVer)</vt:lpstr>
      <vt:lpstr>Why Pinning Matters for QE</vt:lpstr>
      <vt:lpstr>Inspecting What Is Installed</vt:lpstr>
      <vt:lpstr>Outdated, Broken and Available Versions</vt:lpstr>
      <vt:lpstr>Requirements Files</vt:lpstr>
      <vt:lpstr>Generating One with pip freeze</vt:lpstr>
      <vt:lpstr>Two Styles of Requirements File</vt:lpstr>
      <vt:lpstr>Useful Requirements-File Features</vt:lpstr>
      <vt:lpstr>A Critical Caution about pip freeze</vt:lpstr>
      <vt:lpstr>Dependency Conflicts</vt:lpstr>
      <vt:lpstr>Handling a Dependency Conflict</vt:lpstr>
      <vt:lpstr>Other Places to Install From</vt:lpstr>
      <vt:lpstr>Extras and Optional Dependencies</vt:lpstr>
      <vt:lpstr>Where Are Packages Stored?</vt:lpstr>
      <vt:lpstr>Troubleshooting Guide (1 of 2)</vt:lpstr>
      <vt:lpstr>Troubleshooting Guide (2 of 2)</vt:lpstr>
      <vt:lpstr>Safe Practices for Third-Party Code</vt:lpstr>
      <vt:lpstr>A Standard Workflow for a New QE Project</vt:lpstr>
      <vt:lpstr>Code Examples</vt:lpstr>
      <vt:lpstr>Example 1: Using requests (Offline)</vt:lpstr>
      <vt:lpstr>Example 2: Checking Versions from Python</vt:lpstr>
      <vt:lpstr>Example 3: check_env.py (1 of 2)</vt:lpstr>
      <vt:lpstr>Example 3: check_env.py (2 of 2)</vt:lpstr>
      <vt:lpstr>Example 3: Running the Preflight</vt:lpstr>
      <vt:lpstr>Example 4: requirements.txt and requirements-dev.txt</vt:lpstr>
      <vt:lpstr>Practice</vt:lpstr>
      <vt:lpstr>Practice Questions (1 of 3)</vt:lpstr>
      <vt:lpstr>Practice Questions (2 of 3)</vt:lpstr>
      <vt:lpstr>Practice Questions (3 of 3)</vt:lpstr>
      <vt:lpstr>Answers (1 of 4)</vt:lpstr>
      <vt:lpstr>Answers (2 of 4)</vt:lpstr>
      <vt:lpstr>Answers (3 of 4)</vt:lpstr>
      <vt:lpstr>Answers (4 of 4): A10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2026-10-17T07:32:48Z</dcterms:modified>
</cp:coreProperties>
</file>