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10/20/2026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10/20/2026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INSERT, UPDATE and DELETE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Change data safely: seed, fix and clean up test data, and meet the QA Shop practice database used in every lesson today.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3520439"/>
            <a:ext cx="817245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DML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51858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884349" y="3520439"/>
            <a:ext cx="117729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INSERT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5307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518839" y="3520439"/>
            <a:ext cx="117729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UPDATE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78756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153329" y="3520439"/>
            <a:ext cx="117729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DELETE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42205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787819" y="3520439"/>
            <a:ext cx="189738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transactions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77663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142399" y="3520439"/>
            <a:ext cx="129730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QA Shop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053114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896904" y="3520439"/>
            <a:ext cx="189738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planted bugs</a:t>
            </a:r>
          </a:p>
        </p:txBody>
      </p:sp>
      <p:sp>
        <p:nvSpPr>
          <p:cNvPr id="18" name="Oval 17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(1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Explain what DML is and how it differs from the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queries you wrote on Thursday.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Add rows with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INSERT INTO ... VALUES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including multi-row inserts and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INSERT ... SELECT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Change rows safely with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UPDATE ... SET ... WHERE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and explain why a missing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is dangerous.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84962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758184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Remove rows with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DELETE FROM ... WHERE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; describe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DELETE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DROP TABLE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soft deletes.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 / 48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(2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Use the "SELECT first, then change" habit and simple transactions (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BEGIN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ROLLBACK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COMMIT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Apply INSERT/UPDATE/DELETE to QA tasks such as seeding, fixing and cleaning up test data.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Read the practice database used for every lesson today, including the deliberate data problems.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 / 48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Thursday you learned to read data. Real test automation constantly needs to change it.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Test set-up: a known customer, product and order so the test is repeatable.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Test tear-down: remove or reset the rows a test created so the next run starts clean.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Reproducing bugs: insert exactly the broken data that triggers a defect. Environment hygiene: test databases accumulate duplicates and stale rows that cause flaky failures.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Power brings risk: an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UPDATE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without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changes every row; a careless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DELETE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can wipe a 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 / 48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What Is DML?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SQL statement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 / 48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SQL Statement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2529459"/>
        </p:xfrm>
        <a:graphic>
          <a:graphicData uri="http://schemas.openxmlformats.org/drawingml/2006/table">
            <a:tbl>
              <a:tblPr/>
              <a:tblGrid>
                <a:gridCol w="1097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04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304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Family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Stands for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Purpose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Examples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DDL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Data Definition Language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Create or change the structure of the database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CREATE TABLE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ALTER TABLE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DROP TABLE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DML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Data Manipulation Language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Add, change or remove the rows inside tables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INSERT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UPDATE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DELETE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189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DQL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Data Query Language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Read data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SELECT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TCL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Transaction Control Language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Group changes so they succeed or fail together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BEGIN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COMMIT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ROLLBACK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 / 48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Filing Cabinet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SELECT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Looking at the sheet. It never changes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640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7240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INSERT and UPDATE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INSERT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writes a new line at the bottom.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UPDATE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crosses out and rewrites values in existing 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375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5975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DELETE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Rips lines out. Once committed there is usually no undo button, which is why we build safe habits.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7 / 48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QA Shop Database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One practice database for all ten lessons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8 / 48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Six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5" cy="3267837"/>
        </p:xfrm>
        <a:graphic>
          <a:graphicData uri="http://schemas.openxmlformats.org/drawingml/2006/table">
            <a:tbl>
              <a:tblPr/>
              <a:tblGrid>
                <a:gridCol w="1974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2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4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Table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What it stores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Key columns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18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0066"/>
                          </a:solidFill>
                          <a:latin typeface="Courier New"/>
                        </a:rPr>
                        <a:t>customers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People who buy things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customer_id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full_name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email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country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created_date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18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0066"/>
                          </a:solidFill>
                          <a:latin typeface="Courier New"/>
                        </a:rPr>
                        <a:t>products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Things for sale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product_id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product_name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category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unit_price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0066"/>
                          </a:solidFill>
                          <a:latin typeface="Courier New"/>
                        </a:rPr>
                        <a:t>orders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One row per purchase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order_id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customer_id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 (FK),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order_date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status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total_amount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0066"/>
                          </a:solidFill>
                          <a:latin typeface="Courier New"/>
                        </a:rPr>
                        <a:t>order_items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The lines inside an order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item_id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order_id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 (FK),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product_id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 (FK),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quantity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unit_price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18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0066"/>
                          </a:solidFill>
                          <a:latin typeface="Courier New"/>
                        </a:rPr>
                        <a:t>payments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Money received for orders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payment_id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order_id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 (FK),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amount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method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status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0066"/>
                          </a:solidFill>
                          <a:latin typeface="Courier New"/>
                        </a:rPr>
                        <a:t>defects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Bugs QA has logged against products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defect_id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product_id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 (FK, may be NULL),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title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severity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status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found_date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9 / 48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How the Tables Relate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7132320" cy="864107"/>
          </a:xfrm>
          <a:prstGeom prst="roundRect">
            <a:avLst>
              <a:gd name="adj" fmla="val 846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729983" cy="571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customers 1 ──&lt; orders 1 ──&lt; order_items &gt;── 1 products 1 ──&lt; defects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           │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           └──&lt; payments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07984" y="1783080"/>
            <a:ext cx="347380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PK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= primary key,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FK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= foreign key; studied properly in the constraints lesson.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Read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1 ──&lt;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as one-to-many: one customer, many orders; one order, many items; one product, many order items.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10 / 48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Setup Script: 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Save as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qa_shop_setup.sql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and run with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sqlite3 qa_shop.db &lt; qa_shop_setup.sql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Full script: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qa_shop_setup.sql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in the lesson.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523744"/>
            <a:ext cx="7315200" cy="2487168"/>
          </a:xfrm>
          <a:prstGeom prst="roundRect">
            <a:avLst>
              <a:gd name="adj" fmla="val 29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670048"/>
            <a:ext cx="6912864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CREATE TABLE orders (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order_id     INTEGER PRIMARY KEY,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customer_id  INTEGER,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order_date   TEXT,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status       TEXT,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total_amount REAL,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FOREIGN KEY (customer_id) REFERENCES customers(customer_id)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-- ...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INSERT INTO customers VALUES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(1,'Alice Johnson','alice@example.com','US','2025-01-10'),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(2,'Bob Smith','bob@example.com','US','2025-01-15'),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90864" y="2523744"/>
            <a:ext cx="3290925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Everything shown today was run against exactly this script on SQLite 3.45.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FOREIGN KEY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declares the link to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customers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11 / 48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Setup Script: order_items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7315200" cy="2670047"/>
          </a:xfrm>
          <a:prstGeom prst="roundRect">
            <a:avLst>
              <a:gd name="adj" fmla="val 273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912864" cy="2377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CREATE TABLE order_items (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item_id    INTEGER PRIMARY KEY,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order_id   INTEGER NOT NULL,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product_id INTEGER NOT NULL,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quantity   INTEGER NOT NULL,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unit_price REAL NOT NULL,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FOREIGN KEY (order_id)   REFERENCES orders(order_id),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FOREIGN KEY (product_id) REFERENCES products(product_id)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-- ...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INSERT INTO order_items VALUES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(1,101,1,1,1200.00),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(2,101,2,1,25.00),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90864" y="1783080"/>
            <a:ext cx="32909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Two foreign keys: to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orders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and to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products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Item 16 has quantity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-1</a:t>
            </a:r>
            <a:r>
              <a:rPr sz="1300" b="0" i="0">
                <a:solidFill>
                  <a:srgbClr val="1A1A1A"/>
                </a:solidFill>
                <a:latin typeface="Arial"/>
              </a:rPr>
              <a:t>; item 14 points at order 999 and item 15 at product 999 (see the planted bugs).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12 / 48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the Data Is Messy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Real test databases are messy, so ours is too: problems are planted on purpose so joins and validation queries have something to find.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Typical real causes: a bulk CSV import that bypassed checks, a bug in a checkout service, a test that crashed halfway and left rows behind, or a deleted parent record.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QA engineers are often the people who discover such problems.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13 / 48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Planted Problems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3729734"/>
        </p:xfrm>
        <a:graphic>
          <a:graphicData uri="http://schemas.openxmlformats.org/drawingml/2006/table">
            <a:tbl>
              <a:tblPr/>
              <a:tblGrid>
                <a:gridCol w="658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5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7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Planted problem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Where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Duplicate customer (same name and email, different ID)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customers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2 and 8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NULL email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customers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6 (Frank Lee)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Customers who never ordered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customers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6, 8, 9, 10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Orphan order (customer 99 does not exist)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orders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107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Guest order (customer is NULL)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orders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108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Order with no items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orders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109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Order total does not match its items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orders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103 (duplicate item row), 109 (no items), 110, 112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Duplicate item row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order_items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5 and 13 (same order, same product, same price)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14 / 48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Planted Problems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3519931"/>
        </p:xfrm>
        <a:graphic>
          <a:graphicData uri="http://schemas.openxmlformats.org/drawingml/2006/table">
            <a:tbl>
              <a:tblPr/>
              <a:tblGrid>
                <a:gridCol w="658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5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7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Planted problem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Where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Orphan order item (order 999 does not exist)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order_items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14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Item pointing at a missing product (product 999)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order_items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15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Negative quantity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order_items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16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Orphan payment (order 888 does not exist)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payments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10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Double payment (same order, same amount, twice)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payments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2 and 11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Products never sold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products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7, 8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Completed orders with no payment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orders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109 (pending, fine), 112 (completed, suspicious)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Defect with no product (NULL product)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defects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3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15 / 48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What Orders Alone Hide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In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orders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order 108 has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customer_id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NULL and order 107 has customer 99, which does not exist in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customers</a:t>
            </a:r>
            <a:r>
              <a:rPr sz="17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Neither is visible as a problem from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orders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alone.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That is exactly why we need joins.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16 / 48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INSERT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Adding rows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17 / 48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INSERT 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719328"/>
          </a:xfrm>
          <a:prstGeom prst="roundRect">
            <a:avLst>
              <a:gd name="adj" fmla="val 1016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426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INSERT INTO table_name (column1, column2, ...)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VALUES (value1, value2, ...);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INSERT INTO table_name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says where the new row goes.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column list says which columns you supply;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VALUES (...)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supplies values in the same order.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Always write the column list: without it SQL assumes every column in defined order, which breaks (or silently misplaces values) when a column is added.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18 / 48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Inserting One 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new customer, Jordan Rivera from Canada.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7680960" cy="1024127"/>
          </a:xfrm>
          <a:prstGeom prst="roundRect">
            <a:avLst>
              <a:gd name="adj" fmla="val 714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7278624" cy="731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INSERT INTO customers (customer_id, full_name, email, country, created_date)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VALUES (11, 'Jordan Rivera', 'jordan@example.com', 'CA', '2025-08-01');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SELECT * FROM customers WHERE customer_id = 11;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624" y="2221991"/>
            <a:ext cx="292516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Text and dates are in single quotes; numbers are not.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database replies with the number of rows affected (1).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Immediately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to confirm: verify after you write.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19 / 48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Letting the Database Generate the 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583680" cy="993648"/>
          </a:xfrm>
          <a:prstGeom prst="roundRect">
            <a:avLst>
              <a:gd name="adj" fmla="val 736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181344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INSERT INTO customers (full_name, email, country, created_date)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VALUES ('Kai Nakamura', 'kai@example.com', 'JP', '2025-08-02');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SELECT customer_id, full_name FROM customers WHERE customer_id &gt; 10;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9344" y="1783080"/>
            <a:ext cx="402244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customer_id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INTEGER PRIMARY KEY</a:t>
            </a:r>
            <a:r>
              <a:rPr sz="1300" b="0" i="0">
                <a:solidFill>
                  <a:srgbClr val="1A1A1A"/>
                </a:solidFill>
                <a:latin typeface="Arial"/>
              </a:rPr>
              <a:t>: SQLite picks the next free number. Kai receives ID 12.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MySQL uses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AUTO_INCREMENT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; SQL Server and PostgreSQL use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IDENTITY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or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SERIAL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 Same idea.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20 / 48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Omitted Columns Become NULL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822960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782726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INSERT INTO customers (full_name, created_date)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VALUES ('Lena Fischer', '2025-08-03');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SELECT customer_id, full_name, email, country FROM customers WHERE full_name = 'Lena Fischer';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05264" y="1783080"/>
            <a:ext cx="23765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An unlisted column with no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DEFAULT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becomes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NULL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provided it allows NULL. Here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email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country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NULL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means unknown or not applicable; it is not an empty string or zero.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21 / 48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Inserting Several Rows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7315200" cy="1298448"/>
          </a:xfrm>
          <a:prstGeom prst="roundRect">
            <a:avLst>
              <a:gd name="adj" fmla="val 563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912864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INSERT INTO products (product_id, product_name, category, unit_price) VALUES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(9,  'Keyboard',   'Electronics', 70.00),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(10, 'Mouse Pad',  'Accessories',  8.00),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(11, 'Headphones', 'Electronics', 89.50);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SELECT product_id, product_name, unit_price FROM products WHERE product_id &gt;= 9;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90864" y="1783080"/>
            <a:ext cx="32909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List several value groups separated by commas: faster, and the operation is all-or-nothing.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3 rows affected (products 9, 10, 11).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22 / 48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INSERT ... SELECT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Copy rows from another query into a throw-away archive 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6035040" cy="1816608"/>
          </a:xfrm>
          <a:prstGeom prst="roundRect">
            <a:avLst>
              <a:gd name="adj" fmla="val 402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5632703" cy="1523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CREATE TABLE completed_orders_archive (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order_id     INTEGER PRIMARY KEY,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customer_id  INTEGER,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total_amount REAL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INSERT INTO completed_orders_archive (order_id, customer_id, total_amount)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 order_id, customer_id, total_amount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FROM 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0704" y="2221991"/>
            <a:ext cx="457108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The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runs first; each row of its result is inserted. Column lists must match in count and order.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Result: 8 rows copied (the completed orders).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QA use: copy a subset of production-like rows into a scratch table before experimenting.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23 / 48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When INSERT Fails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7680960" cy="1168908"/>
          </a:xfrm>
          <a:prstGeom prst="roundRect">
            <a:avLst>
              <a:gd name="adj" fmla="val 625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7278624" cy="8762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-- 1. Primary key already used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INSERT INTO customers (customer_id, full_name) VALUES (1, 'Duplicate Id Person');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-- 2. NOT NULL column left out (full_name is required)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INSERT INTO customers (customer_id, email) VALUES (50, 'noname@example.com');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624" y="1783080"/>
            <a:ext cx="29251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UNIQUE constraint failed: customers.customer_id</a:t>
            </a:r>
            <a:r>
              <a:rPr sz="1300" b="0" i="0">
                <a:solidFill>
                  <a:srgbClr val="1A1A1A"/>
                </a:solidFill>
                <a:latin typeface="Arial"/>
              </a:rPr>
              <a:t>: the key is already taken.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NOT NULL constraint failed: customers.full_name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: a required value is missing.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Both rows were rejected; nothing was inserted. Constraints are explored in the next lesson.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24 / 48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UPDATE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Changing existing rows, safely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25 / 48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UPDATE 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08406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UPDATE table_name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SET column1 = value1, column2 = value2, ...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condition;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62064" y="1783080"/>
            <a:ext cx="51197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SET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lists each column and its new value.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chooses which rows to change, with the same conditions as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26 / 48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SELECT Before You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Fixing the NULL email of customer 6 (Frank Lee).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221991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Preview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496311"/>
            <a:ext cx="6766560" cy="460248"/>
          </a:xfrm>
          <a:prstGeom prst="roundRect">
            <a:avLst>
              <a:gd name="adj" fmla="val 1589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2642615"/>
            <a:ext cx="6364224" cy="16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SELECT customer_id, full_name, email FROM customers WHERE customer_id = 6;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3139439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Update, then verify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" y="3413759"/>
            <a:ext cx="6766560" cy="1130808"/>
          </a:xfrm>
          <a:prstGeom prst="roundRect">
            <a:avLst>
              <a:gd name="adj" fmla="val 646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1072" y="3560063"/>
            <a:ext cx="6364224" cy="838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UPDATE customers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SET email = 'frank@example.com'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WHERE customer_id = 6;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SELECT customer_id, full_name, email FROM customers WHERE customer_id = 6;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2224" y="2221991"/>
            <a:ext cx="383956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Run a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with the same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first. If it shows the rows you expected, change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SELECT ...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to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UPDATE ... SET ...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Note "1 row(s) affected". If you expected one and the database says 37, stop.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27 / 48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Using the Old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10% price rise for Accessories, rounded to cents.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7315200" cy="1207008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691286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UPDATE products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SET unit_price = ROUND(unit_price * 1.10, 2)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WHERE category = 'Accessories';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 product_id, product_name, category, unit_price FROM products WHERE category = 'Accessories';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90864" y="2221991"/>
            <a:ext cx="329092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unit_price * 1.10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uses the old price on the right of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=</a:t>
            </a:r>
            <a:r>
              <a:rPr sz="1300" b="0" i="0">
                <a:solidFill>
                  <a:srgbClr val="1A1A1A"/>
                </a:solidFill>
                <a:latin typeface="Arial"/>
              </a:rPr>
              <a:t>: 9.99 becomes 10.99, 8.00 becomes 8.8.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ROUND(x, 2)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avoids artefacts like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10.989000000000001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28 / 48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Updating Two Columns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486400" cy="1207008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08406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UPDATE orders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SET status = 'completed', total_amount = 34.99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WHERE order_id = 105;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 order_id, status, total_amount FROM orders WHERE order_id = 105;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62064" y="1783080"/>
            <a:ext cx="51197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Order 105 becomes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completed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total_amount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34.99.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29 / 48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The Disaster: UPDATE Without 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Wrapped in a transaction so we can undo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6949440" cy="1732788"/>
          </a:xfrm>
          <a:prstGeom prst="roundRect">
            <a:avLst>
              <a:gd name="adj" fmla="val 422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6547103" cy="14401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BEGIN;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UPDATE orders SET status = 'cancelled';   -- no WHERE: every row changes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SELECT status, COUNT(*) AS how_many FROM orders GROUP BY status;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ROLLBACK;   -- undo everything since BEGIN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SELECT status, COUNT(*) AS how_many FROM orders GROUP BY status ORDER BY status;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5104" y="2221991"/>
            <a:ext cx="365668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Inside the transaction all 12 orders became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cancelled</a:t>
            </a:r>
            <a:r>
              <a:rPr sz="125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After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ROLLBACK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the original statuses were restored: 1 cancelled, 9 completed, 1 pending, 1 shipped.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Without the transaction you would have destroyed the test data. Forgetting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is among the most famous mistakes in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30 / 48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UPDATE With a Subquery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Previewed with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first: orders whose payment was refunded.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7315200" cy="818388"/>
          </a:xfrm>
          <a:prstGeom prst="roundRect">
            <a:avLst>
              <a:gd name="adj" fmla="val 893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6912864" cy="5257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SELECT order_id, status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WHERE order_id IN (SELECT order_id FROM payments WHERE status = 'refunded');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90864" y="2221991"/>
            <a:ext cx="329092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inner query finds order IDs with a refunded payment; the outer query returns matching orders (order 106).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same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WHERE order_id IN (...)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can follow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UPDATE orders SET ...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 Subqueries have their own lesson later today.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31 / 48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DELETE and Transactions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Removing rows, and a safety 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32 / 48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DELETE 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486400" cy="719328"/>
          </a:xfrm>
          <a:prstGeom prst="roundRect">
            <a:avLst>
              <a:gd name="adj" fmla="val 1016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084064" cy="426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DELETE FROM table_name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condition;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62064" y="1783080"/>
            <a:ext cx="51197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No column list: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DELETE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removes whole rows.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No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means every row in the 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33 / 48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Preview, Delete,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duplicate customer 8 ("Bob Smith", same email as customer 2) has no orders.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221991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Preview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496311"/>
            <a:ext cx="7315200" cy="475488"/>
          </a:xfrm>
          <a:prstGeom prst="roundRect">
            <a:avLst>
              <a:gd name="adj" fmla="val 1538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2642615"/>
            <a:ext cx="691286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SELECT customer_id, full_name, email FROM customers WHERE customer_id = 8;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3154679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Delete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" y="3428999"/>
            <a:ext cx="7315200" cy="772668"/>
          </a:xfrm>
          <a:prstGeom prst="roundRect">
            <a:avLst>
              <a:gd name="adj" fmla="val 946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1072" y="3575303"/>
            <a:ext cx="6912864" cy="4800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DELETE FROM customers WHERE customer_id = 8;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SELECT customer_id, full_name, email FROM customers WHERE email = 'bob@example.com';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0864" y="2221991"/>
            <a:ext cx="329092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Only the original Bob (customer 2) remains afterwards.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34 / 48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Deleting Several Rows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Remove the scratch customers created earlier (IDs above 10).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5852160" cy="909827"/>
          </a:xfrm>
          <a:prstGeom prst="roundRect">
            <a:avLst>
              <a:gd name="adj" fmla="val 804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5449824" cy="6172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DELETE FROM customers WHERE customer_id &gt; 10;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SELECT COUNT(*) AS customers_left FROM customers;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27824" y="2221991"/>
            <a:ext cx="475396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Result: 3 rows affected; 9 customers left.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35 / 48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DELETE vs TRUNCATE vs DROP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1937385"/>
        </p:xfrm>
        <a:graphic>
          <a:graphicData uri="http://schemas.openxmlformats.org/drawingml/2006/table">
            <a:tbl>
              <a:tblPr/>
              <a:tblGrid>
                <a:gridCol w="3291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3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3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Statement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What it removes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Table still exists?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Can use WHERE?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DELETE FROM t WHERE ...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Chosen rows (or all rows if no WHERE)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TRUNCATE TABLE t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 (MySQL, PostgreSQL, SQL Server, Oracle)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All rows, quickly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189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DROP TABLE 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The table's data and structure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36 / 48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TRUNCATE, DROP and Deleting Parents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SQLite has no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TRUNCATE</a:t>
            </a:r>
            <a:r>
              <a:rPr sz="1700" b="0" i="0">
                <a:solidFill>
                  <a:srgbClr val="1A1A1A"/>
                </a:solidFill>
                <a:latin typeface="Arial"/>
              </a:rPr>
              <a:t>;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DELETE FROM t;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empties a table there.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DROP TABLE completed_orders_archive;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removes the scratch table.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If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order_items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rows point to an order and you delete that order, the items become orphans, like items 14 and 15.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Databases can prevent this with enforced foreign keys (the constraints lesson). Delete children (items) before parents (orders).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37 / 48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Soft Delete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828800"/>
          </a:xfrm>
          <a:prstGeom prst="roundRect">
            <a:avLst>
              <a:gd name="adj" fmla="val 45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20240"/>
            <a:ext cx="10514685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PATTERN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Many real applications never run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DELETE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They add a column such as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is_deleted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or set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status = 'cancelled'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or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'inactive'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keeping history for audits. "Delete a customer" in the UI may map to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UPDATE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in the database, and your automated test should validate the correct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38 / 48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Transactions: A Safety 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949440" cy="1085087"/>
          </a:xfrm>
          <a:prstGeom prst="roundRect">
            <a:avLst>
              <a:gd name="adj" fmla="val 67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547103" cy="792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BEGIN;          -- start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... INSERT / UPDATE / DELETE statements ...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... SELECT to check the result ...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COMMIT;         -- keep it   (or)   ROLLBACK;  -- undo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5104" y="1783080"/>
            <a:ext cx="36566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A transaction groups statements so they all take effect (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COMMIT</a:t>
            </a:r>
            <a:r>
              <a:rPr sz="1250" b="0" i="0">
                <a:solidFill>
                  <a:srgbClr val="1A1A1A"/>
                </a:solidFill>
                <a:latin typeface="Arial"/>
              </a:rPr>
              <a:t>) or not at all (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ROLLBACK</a:t>
            </a:r>
            <a:r>
              <a:rPr sz="1250" b="0" i="0">
                <a:solidFill>
                  <a:srgbClr val="1A1A1A"/>
                </a:solidFill>
                <a:latin typeface="Arial"/>
              </a:rPr>
              <a:t>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Analogy: a bank transfer subtracts from A and adds to B; both happen or neither.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Testers use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ROLLBACK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to experiment without permanent damage; many frameworks wrap each test in a transaction and roll it back.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Isolation levels and locking are for a later 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39 / 48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QA Scenarios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Seeding, fixing and cleaning up test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40 / 48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Scenario A: Seeding a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Test: "an order with a negative quantity must be rejected."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7315200" cy="2212848"/>
          </a:xfrm>
          <a:prstGeom prst="roundRect">
            <a:avLst>
              <a:gd name="adj" fmla="val 330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6912864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BEGIN;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INSERT INTO customers (customer_id, full_name, email, country, created_date)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VALUES (9001, 'TEST_USER_neg_qty', 'test_neg@example.com', 'US', '2025-09-01');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INSERT INTO orders (order_id, customer_id, order_date, status, total_amount)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VALUES (9001, 9001, '2025-09-01', 'pending', 0);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INSERT INTO order_items (order_id, product_id, quantity, unit_price)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VALUES (9001, 3, -5, 9.99);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SELECT i.item_id, i.order_id, i.quantity FROM order_items i WHERE i.order_id = 9001;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90864" y="2221991"/>
            <a:ext cx="329092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Insert exactly the data you need, with a recognisable marker (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TEST_USER_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ID range 9001) so you can find and remove it later.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item_id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(17) was generated automatically.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41 / 48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Scenario A: Tear-Down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7315200" cy="1207008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91286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DELETE FROM order_items WHERE order_id = 9001;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DELETE FROM orders      WHERE order_id = 9001;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DELETE FROM customers   WHERE customer_id = 9001;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COMMIT;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 COUNT(*) AS leftover_test_rows FROM customers WHERE full_name LIKE 'TEST_USER%';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90864" y="1783080"/>
            <a:ext cx="32909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Delete in child-to-parent order, then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COMMIT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0 leftover test rows. The prefix and ID range make cleanup safe: you never clean up by guessing.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42 / 48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Scenario B: Fixing a Data Bug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7680960" cy="1054608"/>
          </a:xfrm>
          <a:prstGeom prst="roundRect">
            <a:avLst>
              <a:gd name="adj" fmla="val 69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7278624" cy="76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UPDATE orders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SET total_amount = (SELECT SUM(quantity * unit_price) FROM order_items WHERE order_id = 110)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WHERE order_id = 110;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 order_id, total_amount FROM orders WHERE order_id = 110;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624" y="1783080"/>
            <a:ext cx="29251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Order 110 has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total_amount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55.00 but its items add up to 50.00. Once the team agrees the items are right, correct the header.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A subquery calculates the new total (50.0).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In a real project, investigate which side is wrong before editing; validation's job is to find the discrepancy.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43 / 48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Scenario C: Removing a Duplicate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Order 103 has two identical item rows (IDs 5 and 13). Keep the lowest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item_id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6766560" cy="1054608"/>
          </a:xfrm>
          <a:prstGeom prst="roundRect">
            <a:avLst>
              <a:gd name="adj" fmla="val 69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6364224" cy="76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DELETE FROM order_items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WHERE item_id = 13;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 item_id, order_id, product_id, quantity FROM order_items WHERE order_id = 103;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42224" y="2221991"/>
            <a:ext cx="383956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only item 5 remains for order 103.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For many duplicates, use a rule with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GROUP BY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MIN(item_id)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(validation lessons).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44 / 48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Forgetting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on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UPDATE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or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DELETE</a:t>
            </a:r>
            <a:r>
              <a:rPr sz="17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Not previewing with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first.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Omitting the column list in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INSERT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; putting values in a different order from the columns.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Using double quotes for text (use single quotes for string values).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Deleting parent rows before child rows when constraints are enforced.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Running destructive statements on the wrong environment: always check which database you are connected to.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Not checking the rows-affected count.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45 / 48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Summary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INSERT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adds rows,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UPDATE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changes rows,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DELETE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removes rows. All are DML and permanent once committed.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33172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404872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Always list columns in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INSERT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; use multi-row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VALUES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INSERT ... SELECT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for efficiency.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88036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2953512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UPDATE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DELETE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need a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clause; without it they affect every row.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42900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502152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Preview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change, verify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again. Check the rows-affected count.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46 / 48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Summary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Wrap risky work in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BEGIN ... ROLLBACK/COMMIT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33172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404872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DELETE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removes rows,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DROP TABLE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removes the table,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TRUNCATE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(not in SQLite) empties a table quickly.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88036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2953512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Delete children before parents; consider soft deletes for audit history.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42900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502152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"QA Shop" intentionally contains duplicates, NULLs and orphans so later joins and validation queries have real work to 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47 / 48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SQLite documentation, INSERT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https://www.sqlite.org/lang_insert.html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SQLite documentation, UPDATE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https://www.sqlite.org/lang_update.html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SQLite documentation, DELETE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https://www.sqlite.org/lang_delete.html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48 / 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4044</Words>
  <Application>Microsoft Office PowerPoint</Application>
  <PresentationFormat>Widescreen</PresentationFormat>
  <Paragraphs>533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Arial</vt:lpstr>
      <vt:lpstr>Courier New</vt:lpstr>
      <vt:lpstr>Wingdings</vt:lpstr>
      <vt:lpstr>Learners Point</vt:lpstr>
      <vt:lpstr>INSERT, UPDATE and DELETE</vt:lpstr>
      <vt:lpstr>Learning Objectives (1 of 2)</vt:lpstr>
      <vt:lpstr>Learning Objectives (2 of 2)</vt:lpstr>
      <vt:lpstr>Why This Matters</vt:lpstr>
      <vt:lpstr>What Is DML?</vt:lpstr>
      <vt:lpstr>SQL Statement Families</vt:lpstr>
      <vt:lpstr>The Filing Cabinet Analogy</vt:lpstr>
      <vt:lpstr>The QA Shop Database</vt:lpstr>
      <vt:lpstr>The Six Tables</vt:lpstr>
      <vt:lpstr>How the Tables Relate</vt:lpstr>
      <vt:lpstr>Setup Script: orders</vt:lpstr>
      <vt:lpstr>Setup Script: order_items</vt:lpstr>
      <vt:lpstr>Why the Data Is Messy</vt:lpstr>
      <vt:lpstr>Planted Problems (1 of 2)</vt:lpstr>
      <vt:lpstr>Planted Problems (2 of 2)</vt:lpstr>
      <vt:lpstr>What Orders Alone Hide</vt:lpstr>
      <vt:lpstr>INSERT</vt:lpstr>
      <vt:lpstr>INSERT Syntax</vt:lpstr>
      <vt:lpstr>Inserting One Row</vt:lpstr>
      <vt:lpstr>Letting the Database Generate the ID</vt:lpstr>
      <vt:lpstr>Omitted Columns Become NULL</vt:lpstr>
      <vt:lpstr>Inserting Several Rows</vt:lpstr>
      <vt:lpstr>INSERT ... SELECT</vt:lpstr>
      <vt:lpstr>When INSERT Fails</vt:lpstr>
      <vt:lpstr>UPDATE</vt:lpstr>
      <vt:lpstr>UPDATE Syntax</vt:lpstr>
      <vt:lpstr>SELECT Before You UPDATE</vt:lpstr>
      <vt:lpstr>Using the Old Value</vt:lpstr>
      <vt:lpstr>Updating Two Columns</vt:lpstr>
      <vt:lpstr>The Disaster: UPDATE Without WHERE</vt:lpstr>
      <vt:lpstr>UPDATE With a Subquery</vt:lpstr>
      <vt:lpstr>DELETE and Transactions</vt:lpstr>
      <vt:lpstr>DELETE Syntax</vt:lpstr>
      <vt:lpstr>Preview, Delete, Verify</vt:lpstr>
      <vt:lpstr>Deleting Several Rows</vt:lpstr>
      <vt:lpstr>DELETE vs TRUNCATE vs DROP</vt:lpstr>
      <vt:lpstr>TRUNCATE, DROP and Deleting Parents</vt:lpstr>
      <vt:lpstr>Soft Delete</vt:lpstr>
      <vt:lpstr>Transactions: A Safety Net</vt:lpstr>
      <vt:lpstr>QA Scenarios</vt:lpstr>
      <vt:lpstr>Scenario A: Seeding a Test</vt:lpstr>
      <vt:lpstr>Scenario A: Tear-Down</vt:lpstr>
      <vt:lpstr>Scenario B: Fixing a Data Bug</vt:lpstr>
      <vt:lpstr>Scenario C: Removing a Duplicate</vt:lpstr>
      <vt:lpstr>Common Mistakes</vt:lpstr>
      <vt:lpstr>Summary (1 of 2)</vt:lpstr>
      <vt:lpstr>Summary (2 of 2)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2</cp:revision>
  <dcterms:modified xsi:type="dcterms:W3CDTF">2026-10-20T11:33:34Z</dcterms:modified>
</cp:coreProperties>
</file>