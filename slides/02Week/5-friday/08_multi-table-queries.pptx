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10/20/2026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10/20/2026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10/20/2026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10/20/2026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10/20/2026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10/20/2026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10/20/2026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10/20/2026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10/20/2026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Multi-Table Queries</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Scale joins up safely: find the join path, add one table at a time, control what disappears and avoid inflating your numbers.</a:t>
            </a:r>
          </a:p>
        </p:txBody>
      </p:sp>
      <p:sp>
        <p:nvSpPr>
          <p:cNvPr id="5" name="Rounded Rectangle 4"/>
          <p:cNvSpPr/>
          <p:nvPr/>
        </p:nvSpPr>
        <p:spPr>
          <a:xfrm>
            <a:off x="609904" y="3520439"/>
            <a:ext cx="1537335"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join path</a:t>
            </a:r>
          </a:p>
        </p:txBody>
      </p:sp>
      <p:sp>
        <p:nvSpPr>
          <p:cNvPr id="6" name="Right Arrow 5"/>
          <p:cNvSpPr/>
          <p:nvPr/>
        </p:nvSpPr>
        <p:spPr>
          <a:xfrm>
            <a:off x="223867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04439" y="3520439"/>
            <a:ext cx="249745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incremental build</a:t>
            </a:r>
          </a:p>
        </p:txBody>
      </p:sp>
      <p:sp>
        <p:nvSpPr>
          <p:cNvPr id="8" name="Right Arrow 7"/>
          <p:cNvSpPr/>
          <p:nvPr/>
        </p:nvSpPr>
        <p:spPr>
          <a:xfrm>
            <a:off x="51933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559094" y="3520439"/>
            <a:ext cx="177736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LEFT chains</a:t>
            </a:r>
          </a:p>
        </p:txBody>
      </p:sp>
      <p:sp>
        <p:nvSpPr>
          <p:cNvPr id="10" name="Right Arrow 9"/>
          <p:cNvSpPr/>
          <p:nvPr/>
        </p:nvSpPr>
        <p:spPr>
          <a:xfrm>
            <a:off x="742789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93659" y="3520439"/>
            <a:ext cx="129730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fan-out</a:t>
            </a:r>
          </a:p>
        </p:txBody>
      </p:sp>
      <p:sp>
        <p:nvSpPr>
          <p:cNvPr id="12" name="Right Arrow 11"/>
          <p:cNvSpPr/>
          <p:nvPr/>
        </p:nvSpPr>
        <p:spPr>
          <a:xfrm>
            <a:off x="918240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548164" y="3520439"/>
            <a:ext cx="273748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multi-table reports</a:t>
            </a:r>
          </a:p>
        </p:txBody>
      </p:sp>
      <p:sp>
        <p:nvSpPr>
          <p:cNvPr id="14" name="Right Arrow 13"/>
          <p:cNvSpPr/>
          <p:nvPr/>
        </p:nvSpPr>
        <p:spPr>
          <a:xfrm>
            <a:off x="1237708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2742849" y="3520439"/>
            <a:ext cx="153733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self join</a:t>
            </a:r>
          </a:p>
        </p:txBody>
      </p:sp>
      <p:sp>
        <p:nvSpPr>
          <p:cNvPr id="16" name="Oval 15"/>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7" name="Oval 16"/>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 name="Oval 17"/>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(1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Read a schema diagram and find the join path between two tables that are not directly related.</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Build a query across three, four or five tables incrementally, checking row counts at each step.</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Mix </a:t>
            </a:r>
            <a:r>
              <a:rPr sz="1550" b="0" i="0">
                <a:solidFill>
                  <a:srgbClr val="330066"/>
                </a:solidFill>
                <a:latin typeface="Courier New"/>
              </a:rPr>
              <a:t>INNER JOIN</a:t>
            </a:r>
            <a:r>
              <a:rPr sz="1600" b="0" i="0">
                <a:solidFill>
                  <a:srgbClr val="1A1A1A"/>
                </a:solidFill>
                <a:latin typeface="Arial"/>
              </a:rPr>
              <a:t> and </a:t>
            </a:r>
            <a:r>
              <a:rPr sz="1550" b="0" i="0">
                <a:solidFill>
                  <a:srgbClr val="330066"/>
                </a:solidFill>
                <a:latin typeface="Courier New"/>
              </a:rPr>
              <a:t>LEFT JOIN</a:t>
            </a:r>
            <a:r>
              <a:rPr sz="1600" b="0" i="0">
                <a:solidFill>
                  <a:srgbClr val="1A1A1A"/>
                </a:solidFill>
                <a:latin typeface="Arial"/>
              </a:rPr>
              <a:t> in one query and predict the effect of their order.</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Recognise and fix fan-out (row multiplication) when joining two "many" tables to the same parent.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 /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(2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Combine joins with </a:t>
            </a:r>
            <a:r>
              <a:rPr sz="1550" b="0" i="0">
                <a:solidFill>
                  <a:srgbClr val="330066"/>
                </a:solidFill>
                <a:latin typeface="Courier New"/>
              </a:rPr>
              <a:t>GROUP BY</a:t>
            </a:r>
            <a:r>
              <a:rPr sz="1600" b="0" i="0">
                <a:solidFill>
                  <a:srgbClr val="1A1A1A"/>
                </a:solidFill>
                <a:latin typeface="Arial"/>
              </a:rPr>
              <a:t> and aggregates to build multi-table reports.</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a self join (a table joined to itself) to compare rows within the same table.</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Apply multi-table queries to QA checks such as "an order must agree with its customer, items, products and payments".</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 / 40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Practice Database Recap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graphicFrame>
        <p:nvGraphicFramePr>
          <p:cNvPr id="4" name="Table 3"/>
          <p:cNvGraphicFramePr>
            <a:graphicFrameLocks noGrp="1"/>
          </p:cNvGraphicFramePr>
          <p:nvPr/>
        </p:nvGraphicFramePr>
        <p:xfrm>
          <a:off x="609904" y="1783080"/>
          <a:ext cx="10971885" cy="2648712"/>
        </p:xfrm>
        <a:graphic>
          <a:graphicData uri="http://schemas.openxmlformats.org/drawingml/2006/table">
            <a:tbl>
              <a:tblPr/>
              <a:tblGrid>
                <a:gridCol w="2742971">
                  <a:extLst>
                    <a:ext uri="{9D8B030D-6E8A-4147-A177-3AD203B41FA5}">
                      <a16:colId xmlns:a16="http://schemas.microsoft.com/office/drawing/2014/main" val="20000"/>
                    </a:ext>
                  </a:extLst>
                </a:gridCol>
                <a:gridCol w="8228914">
                  <a:extLst>
                    <a:ext uri="{9D8B030D-6E8A-4147-A177-3AD203B41FA5}">
                      <a16:colId xmlns:a16="http://schemas.microsoft.com/office/drawing/2014/main" val="20001"/>
                    </a:ext>
                  </a:extLst>
                </a:gridCol>
              </a:tblGrid>
              <a:tr h="384048">
                <a:tc>
                  <a:txBody>
                    <a:bodyPr/>
                    <a:lstStyle/>
                    <a:p>
                      <a:r>
                        <a:rPr sz="1400" b="1">
                          <a:solidFill>
                            <a:srgbClr val="FFFFFF"/>
                          </a:solidFill>
                          <a:latin typeface="Arial"/>
                        </a:rPr>
                        <a:t>Table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400" b="1">
                          <a:solidFill>
                            <a:srgbClr val="FFFFFF"/>
                          </a:solidFill>
                          <a:latin typeface="Arial"/>
                        </a:rPr>
                        <a:t>Columns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77444">
                <a:tc>
                  <a:txBody>
                    <a:bodyPr/>
                    <a:lstStyle/>
                    <a:p>
                      <a:r>
                        <a:rPr sz="1350" b="1">
                          <a:solidFill>
                            <a:srgbClr val="330066"/>
                          </a:solidFill>
                          <a:latin typeface="Courier New"/>
                        </a:rPr>
                        <a:t>customers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i="0">
                          <a:solidFill>
                            <a:srgbClr val="330066"/>
                          </a:solidFill>
                          <a:latin typeface="Courier New"/>
                        </a:rPr>
                        <a:t>customer_id</a:t>
                      </a:r>
                      <a:r>
                        <a:rPr sz="1400" b="0" i="0">
                          <a:solidFill>
                            <a:srgbClr val="1A1A1A"/>
                          </a:solidFill>
                          <a:latin typeface="Arial"/>
                        </a:rPr>
                        <a:t> (PK), </a:t>
                      </a:r>
                      <a:r>
                        <a:rPr sz="1350" b="0" i="0">
                          <a:solidFill>
                            <a:srgbClr val="330066"/>
                          </a:solidFill>
                          <a:latin typeface="Courier New"/>
                        </a:rPr>
                        <a:t>full_name</a:t>
                      </a:r>
                      <a:r>
                        <a:rPr sz="1400" b="0" i="0">
                          <a:solidFill>
                            <a:srgbClr val="1A1A1A"/>
                          </a:solidFill>
                          <a:latin typeface="Arial"/>
                        </a:rPr>
                        <a:t>, </a:t>
                      </a:r>
                      <a:r>
                        <a:rPr sz="1350" b="0" i="0">
                          <a:solidFill>
                            <a:srgbClr val="330066"/>
                          </a:solidFill>
                          <a:latin typeface="Courier New"/>
                        </a:rPr>
                        <a:t>email</a:t>
                      </a:r>
                      <a:r>
                        <a:rPr sz="1400" b="0" i="0">
                          <a:solidFill>
                            <a:srgbClr val="1A1A1A"/>
                          </a:solidFill>
                          <a:latin typeface="Arial"/>
                        </a:rPr>
                        <a:t>, </a:t>
                      </a:r>
                      <a:r>
                        <a:rPr sz="1350" b="0" i="0">
                          <a:solidFill>
                            <a:srgbClr val="330066"/>
                          </a:solidFill>
                          <a:latin typeface="Courier New"/>
                        </a:rPr>
                        <a:t>country</a:t>
                      </a:r>
                      <a:r>
                        <a:rPr sz="1400" b="0" i="0">
                          <a:solidFill>
                            <a:srgbClr val="1A1A1A"/>
                          </a:solidFill>
                          <a:latin typeface="Arial"/>
                        </a:rPr>
                        <a:t>, </a:t>
                      </a:r>
                      <a:r>
                        <a:rPr sz="1350" b="0" i="0">
                          <a:solidFill>
                            <a:srgbClr val="330066"/>
                          </a:solidFill>
                          <a:latin typeface="Courier New"/>
                        </a:rPr>
                        <a:t>created_date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77444">
                <a:tc>
                  <a:txBody>
                    <a:bodyPr/>
                    <a:lstStyle/>
                    <a:p>
                      <a:r>
                        <a:rPr sz="1350" b="1">
                          <a:solidFill>
                            <a:srgbClr val="330066"/>
                          </a:solidFill>
                          <a:latin typeface="Courier New"/>
                        </a:rPr>
                        <a:t>products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330066"/>
                          </a:solidFill>
                          <a:latin typeface="Courier New"/>
                        </a:rPr>
                        <a:t>product_id</a:t>
                      </a:r>
                      <a:r>
                        <a:rPr sz="1400" b="0" i="0">
                          <a:solidFill>
                            <a:srgbClr val="1A1A1A"/>
                          </a:solidFill>
                          <a:latin typeface="Arial"/>
                        </a:rPr>
                        <a:t> (PK), </a:t>
                      </a:r>
                      <a:r>
                        <a:rPr sz="1350" b="0" i="0">
                          <a:solidFill>
                            <a:srgbClr val="330066"/>
                          </a:solidFill>
                          <a:latin typeface="Courier New"/>
                        </a:rPr>
                        <a:t>product_name</a:t>
                      </a:r>
                      <a:r>
                        <a:rPr sz="1400" b="0" i="0">
                          <a:solidFill>
                            <a:srgbClr val="1A1A1A"/>
                          </a:solidFill>
                          <a:latin typeface="Arial"/>
                        </a:rPr>
                        <a:t>, </a:t>
                      </a:r>
                      <a:r>
                        <a:rPr sz="1350" b="0" i="0">
                          <a:solidFill>
                            <a:srgbClr val="330066"/>
                          </a:solidFill>
                          <a:latin typeface="Courier New"/>
                        </a:rPr>
                        <a:t>category</a:t>
                      </a:r>
                      <a:r>
                        <a:rPr sz="1400" b="0" i="0">
                          <a:solidFill>
                            <a:srgbClr val="1A1A1A"/>
                          </a:solidFill>
                          <a:latin typeface="Arial"/>
                        </a:rPr>
                        <a:t>, </a:t>
                      </a:r>
                      <a:r>
                        <a:rPr sz="1350" b="0" i="0">
                          <a:solidFill>
                            <a:srgbClr val="330066"/>
                          </a:solidFill>
                          <a:latin typeface="Courier New"/>
                        </a:rPr>
                        <a:t>unit_price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77444">
                <a:tc>
                  <a:txBody>
                    <a:bodyPr/>
                    <a:lstStyle/>
                    <a:p>
                      <a:r>
                        <a:rPr sz="1350" b="1">
                          <a:solidFill>
                            <a:srgbClr val="330066"/>
                          </a:solidFill>
                          <a:latin typeface="Courier New"/>
                        </a:rPr>
                        <a:t>orders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i="0">
                          <a:solidFill>
                            <a:srgbClr val="330066"/>
                          </a:solidFill>
                          <a:latin typeface="Courier New"/>
                        </a:rPr>
                        <a:t>order_id</a:t>
                      </a:r>
                      <a:r>
                        <a:rPr sz="1400" b="0" i="0">
                          <a:solidFill>
                            <a:srgbClr val="1A1A1A"/>
                          </a:solidFill>
                          <a:latin typeface="Arial"/>
                        </a:rPr>
                        <a:t> (PK), </a:t>
                      </a:r>
                      <a:r>
                        <a:rPr sz="1350" b="0" i="0">
                          <a:solidFill>
                            <a:srgbClr val="330066"/>
                          </a:solidFill>
                          <a:latin typeface="Courier New"/>
                        </a:rPr>
                        <a:t>customer_id</a:t>
                      </a:r>
                      <a:r>
                        <a:rPr sz="1400" b="0" i="0">
                          <a:solidFill>
                            <a:srgbClr val="1A1A1A"/>
                          </a:solidFill>
                          <a:latin typeface="Arial"/>
                        </a:rPr>
                        <a:t> (FK), </a:t>
                      </a:r>
                      <a:r>
                        <a:rPr sz="1350" b="0" i="0">
                          <a:solidFill>
                            <a:srgbClr val="330066"/>
                          </a:solidFill>
                          <a:latin typeface="Courier New"/>
                        </a:rPr>
                        <a:t>order_date</a:t>
                      </a:r>
                      <a:r>
                        <a:rPr sz="1400" b="0" i="0">
                          <a:solidFill>
                            <a:srgbClr val="1A1A1A"/>
                          </a:solidFill>
                          <a:latin typeface="Arial"/>
                        </a:rPr>
                        <a:t>, </a:t>
                      </a:r>
                      <a:r>
                        <a:rPr sz="1350" b="0" i="0">
                          <a:solidFill>
                            <a:srgbClr val="330066"/>
                          </a:solidFill>
                          <a:latin typeface="Courier New"/>
                        </a:rPr>
                        <a:t>status</a:t>
                      </a:r>
                      <a:r>
                        <a:rPr sz="1400" b="0" i="0">
                          <a:solidFill>
                            <a:srgbClr val="1A1A1A"/>
                          </a:solidFill>
                          <a:latin typeface="Arial"/>
                        </a:rPr>
                        <a:t>, </a:t>
                      </a:r>
                      <a:r>
                        <a:rPr sz="1350" b="0" i="0">
                          <a:solidFill>
                            <a:srgbClr val="330066"/>
                          </a:solidFill>
                          <a:latin typeface="Courier New"/>
                        </a:rPr>
                        <a:t>total_amount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77444">
                <a:tc>
                  <a:txBody>
                    <a:bodyPr/>
                    <a:lstStyle/>
                    <a:p>
                      <a:r>
                        <a:rPr sz="1350" b="1">
                          <a:solidFill>
                            <a:srgbClr val="330066"/>
                          </a:solidFill>
                          <a:latin typeface="Courier New"/>
                        </a:rPr>
                        <a:t>order_items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330066"/>
                          </a:solidFill>
                          <a:latin typeface="Courier New"/>
                        </a:rPr>
                        <a:t>item_id</a:t>
                      </a:r>
                      <a:r>
                        <a:rPr sz="1400" b="0" i="0">
                          <a:solidFill>
                            <a:srgbClr val="1A1A1A"/>
                          </a:solidFill>
                          <a:latin typeface="Arial"/>
                        </a:rPr>
                        <a:t> (PK), </a:t>
                      </a:r>
                      <a:r>
                        <a:rPr sz="1350" b="0" i="0">
                          <a:solidFill>
                            <a:srgbClr val="330066"/>
                          </a:solidFill>
                          <a:latin typeface="Courier New"/>
                        </a:rPr>
                        <a:t>order_id</a:t>
                      </a:r>
                      <a:r>
                        <a:rPr sz="1400" b="0" i="0">
                          <a:solidFill>
                            <a:srgbClr val="1A1A1A"/>
                          </a:solidFill>
                          <a:latin typeface="Arial"/>
                        </a:rPr>
                        <a:t> (FK), </a:t>
                      </a:r>
                      <a:r>
                        <a:rPr sz="1350" b="0" i="0">
                          <a:solidFill>
                            <a:srgbClr val="330066"/>
                          </a:solidFill>
                          <a:latin typeface="Courier New"/>
                        </a:rPr>
                        <a:t>product_id</a:t>
                      </a:r>
                      <a:r>
                        <a:rPr sz="1400" b="0" i="0">
                          <a:solidFill>
                            <a:srgbClr val="1A1A1A"/>
                          </a:solidFill>
                          <a:latin typeface="Arial"/>
                        </a:rPr>
                        <a:t> (FK), </a:t>
                      </a:r>
                      <a:r>
                        <a:rPr sz="1350" b="0" i="0">
                          <a:solidFill>
                            <a:srgbClr val="330066"/>
                          </a:solidFill>
                          <a:latin typeface="Courier New"/>
                        </a:rPr>
                        <a:t>quantity</a:t>
                      </a:r>
                      <a:r>
                        <a:rPr sz="1400" b="0" i="0">
                          <a:solidFill>
                            <a:srgbClr val="1A1A1A"/>
                          </a:solidFill>
                          <a:latin typeface="Arial"/>
                        </a:rPr>
                        <a:t>, </a:t>
                      </a:r>
                      <a:r>
                        <a:rPr sz="1350" b="0" i="0">
                          <a:solidFill>
                            <a:srgbClr val="330066"/>
                          </a:solidFill>
                          <a:latin typeface="Courier New"/>
                        </a:rPr>
                        <a:t>unit_price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77444">
                <a:tc>
                  <a:txBody>
                    <a:bodyPr/>
                    <a:lstStyle/>
                    <a:p>
                      <a:r>
                        <a:rPr sz="1350" b="1">
                          <a:solidFill>
                            <a:srgbClr val="330066"/>
                          </a:solidFill>
                          <a:latin typeface="Courier New"/>
                        </a:rPr>
                        <a:t>payments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i="0">
                          <a:solidFill>
                            <a:srgbClr val="330066"/>
                          </a:solidFill>
                          <a:latin typeface="Courier New"/>
                        </a:rPr>
                        <a:t>payment_id</a:t>
                      </a:r>
                      <a:r>
                        <a:rPr sz="1400" b="0" i="0">
                          <a:solidFill>
                            <a:srgbClr val="1A1A1A"/>
                          </a:solidFill>
                          <a:latin typeface="Arial"/>
                        </a:rPr>
                        <a:t> (PK), </a:t>
                      </a:r>
                      <a:r>
                        <a:rPr sz="1350" b="0" i="0">
                          <a:solidFill>
                            <a:srgbClr val="330066"/>
                          </a:solidFill>
                          <a:latin typeface="Courier New"/>
                        </a:rPr>
                        <a:t>order_id</a:t>
                      </a:r>
                      <a:r>
                        <a:rPr sz="1400" b="0" i="0">
                          <a:solidFill>
                            <a:srgbClr val="1A1A1A"/>
                          </a:solidFill>
                          <a:latin typeface="Arial"/>
                        </a:rPr>
                        <a:t> (FK), </a:t>
                      </a:r>
                      <a:r>
                        <a:rPr sz="1350" b="0" i="0">
                          <a:solidFill>
                            <a:srgbClr val="330066"/>
                          </a:solidFill>
                          <a:latin typeface="Courier New"/>
                        </a:rPr>
                        <a:t>amount</a:t>
                      </a:r>
                      <a:r>
                        <a:rPr sz="1400" b="0" i="0">
                          <a:solidFill>
                            <a:srgbClr val="1A1A1A"/>
                          </a:solidFill>
                          <a:latin typeface="Arial"/>
                        </a:rPr>
                        <a:t>, </a:t>
                      </a:r>
                      <a:r>
                        <a:rPr sz="1350" b="0" i="0">
                          <a:solidFill>
                            <a:srgbClr val="330066"/>
                          </a:solidFill>
                          <a:latin typeface="Courier New"/>
                        </a:rPr>
                        <a:t>method</a:t>
                      </a:r>
                      <a:r>
                        <a:rPr sz="1400" b="0" i="0">
                          <a:solidFill>
                            <a:srgbClr val="1A1A1A"/>
                          </a:solidFill>
                          <a:latin typeface="Arial"/>
                        </a:rPr>
                        <a:t>, </a:t>
                      </a:r>
                      <a:r>
                        <a:rPr sz="1350" b="0" i="0">
                          <a:solidFill>
                            <a:srgbClr val="330066"/>
                          </a:solidFill>
                          <a:latin typeface="Courier New"/>
                        </a:rPr>
                        <a:t>status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377444">
                <a:tc>
                  <a:txBody>
                    <a:bodyPr/>
                    <a:lstStyle/>
                    <a:p>
                      <a:r>
                        <a:rPr sz="1350" b="1">
                          <a:solidFill>
                            <a:srgbClr val="330066"/>
                          </a:solidFill>
                          <a:latin typeface="Courier New"/>
                        </a:rPr>
                        <a:t>defects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330066"/>
                          </a:solidFill>
                          <a:latin typeface="Courier New"/>
                        </a:rPr>
                        <a:t>defect_id</a:t>
                      </a:r>
                      <a:r>
                        <a:rPr sz="1400" b="0" i="0">
                          <a:solidFill>
                            <a:srgbClr val="1A1A1A"/>
                          </a:solidFill>
                          <a:latin typeface="Arial"/>
                        </a:rPr>
                        <a:t> (PK), </a:t>
                      </a:r>
                      <a:r>
                        <a:rPr sz="1350" b="0" i="0">
                          <a:solidFill>
                            <a:srgbClr val="330066"/>
                          </a:solidFill>
                          <a:latin typeface="Courier New"/>
                        </a:rPr>
                        <a:t>product_id</a:t>
                      </a:r>
                      <a:r>
                        <a:rPr sz="1400" b="0" i="0">
                          <a:solidFill>
                            <a:srgbClr val="1A1A1A"/>
                          </a:solidFill>
                          <a:latin typeface="Arial"/>
                        </a:rPr>
                        <a:t> (FK, nullable), </a:t>
                      </a:r>
                      <a:r>
                        <a:rPr sz="1350" b="0" i="0">
                          <a:solidFill>
                            <a:srgbClr val="330066"/>
                          </a:solidFill>
                          <a:latin typeface="Courier New"/>
                        </a:rPr>
                        <a:t>title</a:t>
                      </a:r>
                      <a:r>
                        <a:rPr sz="1400" b="0" i="0">
                          <a:solidFill>
                            <a:srgbClr val="1A1A1A"/>
                          </a:solidFill>
                          <a:latin typeface="Arial"/>
                        </a:rPr>
                        <a:t>, </a:t>
                      </a:r>
                      <a:r>
                        <a:rPr sz="1350" b="0" i="0">
                          <a:solidFill>
                            <a:srgbClr val="330066"/>
                          </a:solidFill>
                          <a:latin typeface="Courier New"/>
                        </a:rPr>
                        <a:t>severity</a:t>
                      </a:r>
                      <a:r>
                        <a:rPr sz="1400" b="0" i="0">
                          <a:solidFill>
                            <a:srgbClr val="1A1A1A"/>
                          </a:solidFill>
                          <a:latin typeface="Arial"/>
                        </a:rPr>
                        <a:t>, </a:t>
                      </a:r>
                      <a:r>
                        <a:rPr sz="1350" b="0" i="0">
                          <a:solidFill>
                            <a:srgbClr val="330066"/>
                          </a:solidFill>
                          <a:latin typeface="Courier New"/>
                        </a:rPr>
                        <a:t>status</a:t>
                      </a:r>
                      <a:r>
                        <a:rPr sz="1400" b="0" i="0">
                          <a:solidFill>
                            <a:srgbClr val="1A1A1A"/>
                          </a:solidFill>
                          <a:latin typeface="Arial"/>
                        </a:rPr>
                        <a:t>, </a:t>
                      </a:r>
                      <a:r>
                        <a:rPr sz="1350" b="0" i="0">
                          <a:solidFill>
                            <a:srgbClr val="330066"/>
                          </a:solidFill>
                          <a:latin typeface="Courier New"/>
                        </a:rPr>
                        <a:t>found_date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 / 40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Planted Data Problems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Duplicate customer (IDs 2 and 8, same email); NULL email (customer 6).</a:t>
            </a:r>
          </a:p>
          <a:p>
            <a:pPr marL="228600" indent="-228600" algn="l">
              <a:spcAft>
                <a:spcPts val="1000"/>
              </a:spcAft>
              <a:buFont typeface="Arial"/>
              <a:buChar char="•"/>
            </a:pPr>
            <a:r>
              <a:rPr sz="1700" b="0" i="0">
                <a:solidFill>
                  <a:srgbClr val="1A1A1A"/>
                </a:solidFill>
                <a:latin typeface="Arial"/>
              </a:rPr>
              <a:t>Customers 6, 8, 9, 10 never ordered.</a:t>
            </a:r>
          </a:p>
          <a:p>
            <a:pPr marL="228600" indent="-228600" algn="l">
              <a:spcAft>
                <a:spcPts val="1000"/>
              </a:spcAft>
              <a:buFont typeface="Arial"/>
              <a:buChar char="•"/>
            </a:pPr>
            <a:r>
              <a:rPr sz="1700" b="0" i="0">
                <a:solidFill>
                  <a:srgbClr val="1A1A1A"/>
                </a:solidFill>
                <a:latin typeface="Arial"/>
              </a:rPr>
              <a:t>Order 107 has customer 99 who does not exist; order 108 has a NULL customer (guest).</a:t>
            </a:r>
          </a:p>
          <a:p>
            <a:pPr marL="228600" indent="-228600" algn="l">
              <a:spcAft>
                <a:spcPts val="1000"/>
              </a:spcAft>
              <a:buFont typeface="Arial"/>
              <a:buChar char="•"/>
            </a:pPr>
            <a:r>
              <a:rPr sz="1700" b="0" i="0">
                <a:solidFill>
                  <a:srgbClr val="1A1A1A"/>
                </a:solidFill>
                <a:latin typeface="Arial"/>
              </a:rPr>
              <a:t>Order 109 has no items.</a:t>
            </a:r>
          </a:p>
          <a:p>
            <a:pPr marL="228600" indent="-228600" algn="l">
              <a:spcAft>
                <a:spcPts val="1000"/>
              </a:spcAft>
              <a:buFont typeface="Arial"/>
              <a:buChar char="•"/>
            </a:pPr>
            <a:r>
              <a:rPr sz="1700" b="0" i="0">
                <a:solidFill>
                  <a:srgbClr val="1A1A1A"/>
                </a:solidFill>
                <a:latin typeface="Arial"/>
              </a:rPr>
              <a:t>Order totals that do not match their items (103, 110, 112; 109 also fails, having no items).</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 / 40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Planted Data Problems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Duplicate item rows (IDs 5 and 13); item 14 points to missing order 999; item 15 points to missing product 999; item 16 has quantity -1.</a:t>
            </a:r>
          </a:p>
          <a:p>
            <a:pPr marL="228600" indent="-228600" algn="l">
              <a:spcAft>
                <a:spcPts val="1000"/>
              </a:spcAft>
              <a:buFont typeface="Arial"/>
              <a:buChar char="•"/>
            </a:pPr>
            <a:r>
              <a:rPr sz="1700" b="0" i="0">
                <a:solidFill>
                  <a:srgbClr val="1A1A1A"/>
                </a:solidFill>
                <a:latin typeface="Arial"/>
              </a:rPr>
              <a:t>Payment 10 points to missing order 888; payments 2 and 11 are duplicates.</a:t>
            </a:r>
          </a:p>
          <a:p>
            <a:pPr marL="228600" indent="-228600" algn="l">
              <a:spcAft>
                <a:spcPts val="1000"/>
              </a:spcAft>
              <a:buFont typeface="Arial"/>
              <a:buChar char="•"/>
            </a:pPr>
            <a:r>
              <a:rPr sz="1700" b="0" i="0">
                <a:solidFill>
                  <a:srgbClr val="1A1A1A"/>
                </a:solidFill>
                <a:latin typeface="Arial"/>
              </a:rPr>
              <a:t>Products 7 and 8 were never sold; defect 3 has no product.</a:t>
            </a:r>
          </a:p>
          <a:p>
            <a:pPr marL="228600" indent="-228600" algn="l">
              <a:spcAft>
                <a:spcPts val="1000"/>
              </a:spcAft>
              <a:buFont typeface="Arial"/>
              <a:buChar char="•"/>
            </a:pPr>
            <a:r>
              <a:rPr sz="1700" b="0" i="0">
                <a:solidFill>
                  <a:srgbClr val="1A1A1A"/>
                </a:solidFill>
                <a:latin typeface="Arial"/>
              </a:rPr>
              <a:t>Full </a:t>
            </a:r>
            <a:r>
              <a:rPr sz="1650" b="0" i="0">
                <a:solidFill>
                  <a:srgbClr val="330066"/>
                </a:solidFill>
                <a:latin typeface="Courier New"/>
              </a:rPr>
              <a:t>CREATE TABLE</a:t>
            </a:r>
            <a:r>
              <a:rPr sz="1700" b="0" i="0">
                <a:solidFill>
                  <a:srgbClr val="1A1A1A"/>
                </a:solidFill>
                <a:latin typeface="Arial"/>
              </a:rPr>
              <a:t> and </a:t>
            </a:r>
            <a:r>
              <a:rPr sz="1650" b="0" i="0">
                <a:solidFill>
                  <a:srgbClr val="330066"/>
                </a:solidFill>
                <a:latin typeface="Courier New"/>
              </a:rPr>
              <a:t>INSERT</a:t>
            </a:r>
            <a:r>
              <a:rPr sz="1700" b="0" i="0">
                <a:solidFill>
                  <a:srgbClr val="1A1A1A"/>
                </a:solidFill>
                <a:latin typeface="Arial"/>
              </a:rPr>
              <a:t> script: see the lesson "INSERT, UPDATE and DELETE".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 / 40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This Matters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Real business rules rarely involve just two tables.</a:t>
            </a:r>
          </a:p>
          <a:p>
            <a:pPr marL="228600" indent="-228600" algn="l">
              <a:spcAft>
                <a:spcPts val="1000"/>
              </a:spcAft>
              <a:buFont typeface="Arial"/>
              <a:buChar char="•"/>
            </a:pPr>
            <a:r>
              <a:rPr sz="1700" b="0" i="0">
                <a:solidFill>
                  <a:srgbClr val="1A1A1A"/>
                </a:solidFill>
                <a:latin typeface="Arial"/>
              </a:rPr>
              <a:t>"The customer's name on the invoice must match the customer record, the product names the catalogue, and the amount charged the payment." That is four or five tables in one assertion.</a:t>
            </a:r>
          </a:p>
          <a:p>
            <a:pPr marL="228600" indent="-228600" algn="l">
              <a:spcAft>
                <a:spcPts val="1000"/>
              </a:spcAft>
              <a:buFont typeface="Arial"/>
              <a:buChar char="•"/>
            </a:pPr>
            <a:r>
              <a:rPr sz="1700" b="0" i="0">
                <a:solidFill>
                  <a:srgbClr val="1A1A1A"/>
                </a:solidFill>
                <a:latin typeface="Arial"/>
              </a:rPr>
              <a:t>"Which products with open defects were sold to which customers?" crosses </a:t>
            </a:r>
            <a:r>
              <a:rPr sz="1650" b="0" i="0">
                <a:solidFill>
                  <a:srgbClr val="330066"/>
                </a:solidFill>
                <a:latin typeface="Courier New"/>
              </a:rPr>
              <a:t>defects</a:t>
            </a:r>
            <a:r>
              <a:rPr sz="1700" b="0" i="0">
                <a:solidFill>
                  <a:srgbClr val="1A1A1A"/>
                </a:solidFill>
                <a:latin typeface="Arial"/>
              </a:rPr>
              <a:t>, </a:t>
            </a:r>
            <a:r>
              <a:rPr sz="1650" b="0" i="0">
                <a:solidFill>
                  <a:srgbClr val="330066"/>
                </a:solidFill>
                <a:latin typeface="Courier New"/>
              </a:rPr>
              <a:t>products</a:t>
            </a:r>
            <a:r>
              <a:rPr sz="1700" b="0" i="0">
                <a:solidFill>
                  <a:srgbClr val="1A1A1A"/>
                </a:solidFill>
                <a:latin typeface="Arial"/>
              </a:rPr>
              <a:t>, </a:t>
            </a:r>
            <a:r>
              <a:rPr sz="1650" b="0" i="0">
                <a:solidFill>
                  <a:srgbClr val="330066"/>
                </a:solidFill>
                <a:latin typeface="Courier New"/>
              </a:rPr>
              <a:t>order_items</a:t>
            </a:r>
            <a:r>
              <a:rPr sz="1700" b="0" i="0">
                <a:solidFill>
                  <a:srgbClr val="1A1A1A"/>
                </a:solidFill>
                <a:latin typeface="Arial"/>
              </a:rPr>
              <a:t>, </a:t>
            </a:r>
            <a:r>
              <a:rPr sz="1650" b="0" i="0">
                <a:solidFill>
                  <a:srgbClr val="330066"/>
                </a:solidFill>
                <a:latin typeface="Courier New"/>
              </a:rPr>
              <a:t>orders</a:t>
            </a:r>
            <a:r>
              <a:rPr sz="1700" b="0" i="0">
                <a:solidFill>
                  <a:srgbClr val="1A1A1A"/>
                </a:solidFill>
                <a:latin typeface="Arial"/>
              </a:rPr>
              <a:t> and </a:t>
            </a:r>
            <a:r>
              <a:rPr sz="1650" b="0" i="0">
                <a:solidFill>
                  <a:srgbClr val="330066"/>
                </a:solidFill>
                <a:latin typeface="Courier New"/>
              </a:rPr>
              <a:t>customers</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Today's skill is scaling joins up safely: finding the path, adding tables one at a time, controlling what disappears, and not inflating your numbers.</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7 / 40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Join Path</a:t>
            </a:r>
          </a:p>
        </p:txBody>
      </p:sp>
      <p:sp>
        <p:nvSpPr>
          <p:cNvPr id="3" name="Text Placeholder 2"/>
          <p:cNvSpPr>
            <a:spLocks noGrp="1"/>
          </p:cNvSpPr>
          <p:nvPr>
            <p:ph type="body" idx="1"/>
          </p:nvPr>
        </p:nvSpPr>
        <p:spPr/>
        <p:txBody>
          <a:bodyPr/>
          <a:lstStyle/>
          <a:p>
            <a:r>
              <a:rPr sz="1800">
                <a:solidFill>
                  <a:srgbClr val="5A5A5A"/>
                </a:solidFill>
              </a:rPr>
              <a:t>Walking the arrows between tables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8 / 40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Reading the Map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Arrows point from the child's foreign key to the parent's primary key.</a:t>
            </a:r>
          </a:p>
        </p:txBody>
      </p:sp>
      <p:sp>
        <p:nvSpPr>
          <p:cNvPr id="5" name="Rounded Rectangle 4"/>
          <p:cNvSpPr/>
          <p:nvPr/>
        </p:nvSpPr>
        <p:spPr>
          <a:xfrm>
            <a:off x="609904" y="2221991"/>
            <a:ext cx="6949440" cy="1024127"/>
          </a:xfrm>
          <a:prstGeom prst="roundRect">
            <a:avLst>
              <a:gd name="adj" fmla="val 714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6547103" cy="731519"/>
          </a:xfrm>
          <a:prstGeom prst="rect">
            <a:avLst/>
          </a:prstGeom>
          <a:noFill/>
        </p:spPr>
        <p:txBody>
          <a:bodyPr wrap="square" lIns="0" tIns="0" rIns="0" bIns="0">
            <a:spAutoFit/>
          </a:bodyPr>
          <a:lstStyle/>
          <a:p>
            <a:pPr algn="l">
              <a:lnSpc>
                <a:spcPct val="100000"/>
              </a:lnSpc>
            </a:pPr>
            <a:r>
              <a:rPr sz="1200">
                <a:solidFill>
                  <a:srgbClr val="1A1A1A"/>
                </a:solidFill>
                <a:latin typeface="Courier New"/>
              </a:rPr>
              <a:t>customers &lt;---- orders &lt;---- order_items ----&gt; products &lt;---- defects</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                payments</a:t>
            </a:r>
          </a:p>
        </p:txBody>
      </p:sp>
      <p:sp>
        <p:nvSpPr>
          <p:cNvPr id="7" name="TextBox 6"/>
          <p:cNvSpPr txBox="1"/>
          <p:nvPr/>
        </p:nvSpPr>
        <p:spPr>
          <a:xfrm>
            <a:off x="7925104" y="2221991"/>
            <a:ext cx="365668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To connect two tables that are not directly linked, walk the arrows between them.</a:t>
            </a:r>
          </a:p>
          <a:p>
            <a:pPr marL="228600" indent="-228600" algn="l">
              <a:spcAft>
                <a:spcPts val="800"/>
              </a:spcAft>
              <a:buFont typeface="Arial"/>
              <a:buChar char="•"/>
            </a:pPr>
            <a:r>
              <a:rPr sz="1300" b="0" i="0">
                <a:solidFill>
                  <a:srgbClr val="1A1A1A"/>
                </a:solidFill>
                <a:latin typeface="Arial"/>
              </a:rPr>
              <a:t>Each arrow in the path becomes one </a:t>
            </a:r>
            <a:r>
              <a:rPr sz="1250" b="0" i="0">
                <a:solidFill>
                  <a:srgbClr val="330066"/>
                </a:solidFill>
                <a:latin typeface="Courier New"/>
              </a:rPr>
              <a:t>JOIN ... ON child.fk = parent.pk</a:t>
            </a:r>
            <a:r>
              <a:rPr sz="1300" b="0" i="0">
                <a:solidFill>
                  <a:srgbClr val="1A1A1A"/>
                </a:solidFill>
                <a:latin typeface="Arial"/>
              </a:rPr>
              <a:t>. Five tables means four joins.</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9 / 40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Join Paths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5" cy="1959864"/>
        </p:xfrm>
        <a:graphic>
          <a:graphicData uri="http://schemas.openxmlformats.org/drawingml/2006/table">
            <a:tbl>
              <a:tblPr/>
              <a:tblGrid>
                <a:gridCol w="4388754">
                  <a:extLst>
                    <a:ext uri="{9D8B030D-6E8A-4147-A177-3AD203B41FA5}">
                      <a16:colId xmlns:a16="http://schemas.microsoft.com/office/drawing/2014/main" val="20000"/>
                    </a:ext>
                  </a:extLst>
                </a:gridCol>
                <a:gridCol w="6583131">
                  <a:extLst>
                    <a:ext uri="{9D8B030D-6E8A-4147-A177-3AD203B41FA5}">
                      <a16:colId xmlns:a16="http://schemas.microsoft.com/office/drawing/2014/main" val="20001"/>
                    </a:ext>
                  </a:extLst>
                </a:gridCol>
              </a:tblGrid>
              <a:tr h="384048">
                <a:tc>
                  <a:txBody>
                    <a:bodyPr/>
                    <a:lstStyle/>
                    <a:p>
                      <a:r>
                        <a:rPr sz="1500" b="1">
                          <a:solidFill>
                            <a:srgbClr val="FFFFFF"/>
                          </a:solidFill>
                          <a:latin typeface="Arial"/>
                        </a:rPr>
                        <a:t>You want to connect...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Join path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93954">
                <a:tc>
                  <a:txBody>
                    <a:bodyPr/>
                    <a:lstStyle/>
                    <a:p>
                      <a:r>
                        <a:rPr sz="1500" b="0">
                          <a:solidFill>
                            <a:srgbClr val="1A1A1A"/>
                          </a:solidFill>
                          <a:latin typeface="Arial"/>
                        </a:rPr>
                        <a:t>customers and products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customers -&gt; orders -&gt; order_items -&gt; products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93954">
                <a:tc>
                  <a:txBody>
                    <a:bodyPr/>
                    <a:lstStyle/>
                    <a:p>
                      <a:r>
                        <a:rPr sz="1500" b="0">
                          <a:solidFill>
                            <a:srgbClr val="1A1A1A"/>
                          </a:solidFill>
                          <a:latin typeface="Arial"/>
                        </a:rPr>
                        <a:t>customers and payments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customers -&gt; orders -&gt; payments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93954">
                <a:tc>
                  <a:txBody>
                    <a:bodyPr/>
                    <a:lstStyle/>
                    <a:p>
                      <a:r>
                        <a:rPr sz="1500" b="0">
                          <a:solidFill>
                            <a:srgbClr val="1A1A1A"/>
                          </a:solidFill>
                          <a:latin typeface="Arial"/>
                        </a:rPr>
                        <a:t>defects and customers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defects -&gt; products -&gt; order_items -&gt; orders -&gt; customers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93954">
                <a:tc>
                  <a:txBody>
                    <a:bodyPr/>
                    <a:lstStyle/>
                    <a:p>
                      <a:r>
                        <a:rPr sz="1500" b="0">
                          <a:solidFill>
                            <a:srgbClr val="1A1A1A"/>
                          </a:solidFill>
                          <a:latin typeface="Arial"/>
                        </a:rPr>
                        <a:t>payments and products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payments -&gt; orders -&gt; order_items -&gt; products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10 / 40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Join Along Real Keys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Always join along real foreign key relationships.</a:t>
            </a:r>
          </a:p>
          <a:p>
            <a:pPr marL="228600" indent="-228600" algn="l">
              <a:spcAft>
                <a:spcPts val="1000"/>
              </a:spcAft>
              <a:buFont typeface="Arial"/>
              <a:buChar char="•"/>
            </a:pPr>
            <a:r>
              <a:rPr sz="1700" b="0" i="0">
                <a:solidFill>
                  <a:srgbClr val="1A1A1A"/>
                </a:solidFill>
                <a:latin typeface="Arial"/>
              </a:rPr>
              <a:t>Joining unrelated columns (for example </a:t>
            </a:r>
            <a:r>
              <a:rPr sz="1650" b="0" i="0">
                <a:solidFill>
                  <a:srgbClr val="330066"/>
                </a:solidFill>
                <a:latin typeface="Courier New"/>
              </a:rPr>
              <a:t>payments.amount = products.unit_price</a:t>
            </a:r>
            <a:r>
              <a:rPr sz="1700" b="0" i="0">
                <a:solidFill>
                  <a:srgbClr val="1A1A1A"/>
                </a:solidFill>
                <a:latin typeface="Arial"/>
              </a:rPr>
              <a:t>) runs but produces coincidental, meaningless matches.</a:t>
            </a:r>
          </a:p>
          <a:p>
            <a:pPr marL="228600" indent="-228600" algn="l">
              <a:spcAft>
                <a:spcPts val="1000"/>
              </a:spcAft>
              <a:buFont typeface="Arial"/>
              <a:buChar char="•"/>
            </a:pPr>
            <a:r>
              <a:rPr sz="1650" b="0" i="0">
                <a:solidFill>
                  <a:srgbClr val="330066"/>
                </a:solidFill>
                <a:latin typeface="Courier New"/>
              </a:rPr>
              <a:t>order_items</a:t>
            </a:r>
            <a:r>
              <a:rPr sz="1700" b="0" i="0">
                <a:solidFill>
                  <a:srgbClr val="1A1A1A"/>
                </a:solidFill>
                <a:latin typeface="Arial"/>
              </a:rPr>
              <a:t> is a bridge (junction) table: an order can contain many products and a product can appear on many orders (many-to-many); it records each pairing with quantity and price.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11 / 40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Build Incrementally</a:t>
            </a:r>
          </a:p>
        </p:txBody>
      </p:sp>
      <p:sp>
        <p:nvSpPr>
          <p:cNvPr id="3" name="Text Placeholder 2"/>
          <p:cNvSpPr>
            <a:spLocks noGrp="1"/>
          </p:cNvSpPr>
          <p:nvPr>
            <p:ph type="body" idx="1"/>
          </p:nvPr>
        </p:nvSpPr>
        <p:spPr/>
        <p:txBody>
          <a:bodyPr/>
          <a:lstStyle/>
          <a:p>
            <a:r>
              <a:rPr sz="1800">
                <a:solidFill>
                  <a:srgbClr val="5A5A5A"/>
                </a:solidFill>
              </a:rPr>
              <a:t>One join at a time, counting rows at each step</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12 / 40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Professional Way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Write a big query one join at a time, checking the result after each step.</a:t>
            </a:r>
          </a:p>
          <a:p>
            <a:pPr marL="228600" indent="-228600" algn="l">
              <a:spcAft>
                <a:spcPts val="1000"/>
              </a:spcAft>
              <a:buFont typeface="Arial"/>
              <a:buChar char="•"/>
            </a:pPr>
            <a:r>
              <a:rPr sz="1700" b="0" i="0">
                <a:solidFill>
                  <a:srgbClr val="1A1A1A"/>
                </a:solidFill>
                <a:latin typeface="Arial"/>
              </a:rPr>
              <a:t>It turns a scary query into several small, verifiable steps and reveals where rows disappear or multiply.</a:t>
            </a:r>
          </a:p>
          <a:p>
            <a:pPr marL="228600" indent="-228600" algn="l">
              <a:spcAft>
                <a:spcPts val="1000"/>
              </a:spcAft>
              <a:buFont typeface="Arial"/>
              <a:buChar char="•"/>
            </a:pPr>
            <a:r>
              <a:rPr sz="1700" b="0" i="0">
                <a:solidFill>
                  <a:srgbClr val="1A1A1A"/>
                </a:solidFill>
                <a:latin typeface="Arial"/>
              </a:rPr>
              <a:t>Step 0: base table </a:t>
            </a:r>
            <a:r>
              <a:rPr sz="1650" b="0" i="0">
                <a:solidFill>
                  <a:srgbClr val="330066"/>
                </a:solidFill>
                <a:latin typeface="Courier New"/>
              </a:rPr>
              <a:t>orders</a:t>
            </a:r>
            <a:r>
              <a:rPr sz="1700" b="0" i="0">
                <a:solidFill>
                  <a:srgbClr val="1A1A1A"/>
                </a:solidFill>
                <a:latin typeface="Arial"/>
              </a:rPr>
              <a:t>, 12 rows.</a:t>
            </a:r>
          </a:p>
          <a:p>
            <a:pPr marL="228600" indent="-228600" algn="l">
              <a:spcAft>
                <a:spcPts val="1000"/>
              </a:spcAft>
              <a:buFont typeface="Arial"/>
              <a:buChar char="•"/>
            </a:pPr>
            <a:r>
              <a:rPr sz="1700" b="0" i="0">
                <a:solidFill>
                  <a:srgbClr val="1A1A1A"/>
                </a:solidFill>
                <a:latin typeface="Arial"/>
              </a:rPr>
              <a:t>Step 1: add </a:t>
            </a:r>
            <a:r>
              <a:rPr sz="1650" b="0" i="0">
                <a:solidFill>
                  <a:srgbClr val="330066"/>
                </a:solidFill>
                <a:latin typeface="Courier New"/>
              </a:rPr>
              <a:t>customers</a:t>
            </a:r>
            <a:r>
              <a:rPr sz="1700" b="0" i="0">
                <a:solidFill>
                  <a:srgbClr val="1A1A1A"/>
                </a:solidFill>
                <a:latin typeface="Arial"/>
              </a:rPr>
              <a:t> with </a:t>
            </a:r>
            <a:r>
              <a:rPr sz="1650" b="0" i="0">
                <a:solidFill>
                  <a:srgbClr val="330066"/>
                </a:solidFill>
                <a:latin typeface="Courier New"/>
              </a:rPr>
              <a:t>INNER JOIN</a:t>
            </a:r>
            <a:r>
              <a:rPr sz="1700" b="0" i="0">
                <a:solidFill>
                  <a:srgbClr val="1A1A1A"/>
                </a:solidFill>
                <a:latin typeface="Arial"/>
              </a:rPr>
              <a:t>: 10 rows. Orders 107 and 108 dropped out.</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13 / 40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Steps 0 to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TextBox 3"/>
          <p:cNvSpPr txBox="1"/>
          <p:nvPr/>
        </p:nvSpPr>
        <p:spPr>
          <a:xfrm>
            <a:off x="609904" y="1783080"/>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Step 1: add customers</a:t>
            </a:r>
          </a:p>
        </p:txBody>
      </p:sp>
      <p:sp>
        <p:nvSpPr>
          <p:cNvPr id="5" name="Rounded Rectangle 4"/>
          <p:cNvSpPr/>
          <p:nvPr/>
        </p:nvSpPr>
        <p:spPr>
          <a:xfrm>
            <a:off x="609904" y="2057400"/>
            <a:ext cx="6400800" cy="841247"/>
          </a:xfrm>
          <a:prstGeom prst="roundRect">
            <a:avLst>
              <a:gd name="adj" fmla="val 86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998464" cy="548639"/>
          </a:xfrm>
          <a:prstGeom prst="rect">
            <a:avLst/>
          </a:prstGeom>
          <a:noFill/>
        </p:spPr>
        <p:txBody>
          <a:bodyPr wrap="square" lIns="0" tIns="0" rIns="0" bIns="0">
            <a:spAutoFit/>
          </a:bodyPr>
          <a:lstStyle/>
          <a:p>
            <a:pPr algn="l">
              <a:lnSpc>
                <a:spcPct val="100000"/>
              </a:lnSpc>
            </a:pPr>
            <a:r>
              <a:rPr sz="1200">
                <a:solidFill>
                  <a:srgbClr val="1A1A1A"/>
                </a:solidFill>
                <a:latin typeface="Courier New"/>
              </a:rPr>
              <a:t>SELECT COUNT(*) AS rows_now</a:t>
            </a:r>
          </a:p>
          <a:p>
            <a:pPr algn="l">
              <a:lnSpc>
                <a:spcPct val="100000"/>
              </a:lnSpc>
            </a:pPr>
            <a:r>
              <a:rPr sz="1200">
                <a:solidFill>
                  <a:srgbClr val="1A1A1A"/>
                </a:solidFill>
                <a:latin typeface="Courier New"/>
              </a:rPr>
              <a:t>FROM orders AS o</a:t>
            </a:r>
          </a:p>
          <a:p>
            <a:pPr algn="l">
              <a:lnSpc>
                <a:spcPct val="100000"/>
              </a:lnSpc>
            </a:pPr>
            <a:r>
              <a:rPr sz="1200">
                <a:solidFill>
                  <a:srgbClr val="1A1A1A"/>
                </a:solidFill>
                <a:latin typeface="Courier New"/>
              </a:rPr>
              <a:t>INNER JOIN customers AS c ON c.customer_id = o.customer_id;</a:t>
            </a:r>
          </a:p>
        </p:txBody>
      </p:sp>
      <p:sp>
        <p:nvSpPr>
          <p:cNvPr id="7" name="TextBox 6"/>
          <p:cNvSpPr txBox="1"/>
          <p:nvPr/>
        </p:nvSpPr>
        <p:spPr>
          <a:xfrm>
            <a:off x="609904" y="3081528"/>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Step 2: add order items</a:t>
            </a:r>
          </a:p>
        </p:txBody>
      </p:sp>
      <p:sp>
        <p:nvSpPr>
          <p:cNvPr id="8" name="Rounded Rectangle 7"/>
          <p:cNvSpPr/>
          <p:nvPr/>
        </p:nvSpPr>
        <p:spPr>
          <a:xfrm>
            <a:off x="609904" y="3355848"/>
            <a:ext cx="6400800" cy="1024127"/>
          </a:xfrm>
          <a:prstGeom prst="roundRect">
            <a:avLst>
              <a:gd name="adj" fmla="val 714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02152"/>
            <a:ext cx="5998464" cy="731519"/>
          </a:xfrm>
          <a:prstGeom prst="rect">
            <a:avLst/>
          </a:prstGeom>
          <a:noFill/>
        </p:spPr>
        <p:txBody>
          <a:bodyPr wrap="square" lIns="0" tIns="0" rIns="0" bIns="0">
            <a:spAutoFit/>
          </a:bodyPr>
          <a:lstStyle/>
          <a:p>
            <a:pPr algn="l">
              <a:lnSpc>
                <a:spcPct val="100000"/>
              </a:lnSpc>
            </a:pPr>
            <a:r>
              <a:rPr sz="1200">
                <a:solidFill>
                  <a:srgbClr val="1A1A1A"/>
                </a:solidFill>
                <a:latin typeface="Courier New"/>
              </a:rPr>
              <a:t>SELECT COUNT(*) AS rows_now</a:t>
            </a:r>
          </a:p>
          <a:p>
            <a:pPr algn="l">
              <a:lnSpc>
                <a:spcPct val="100000"/>
              </a:lnSpc>
            </a:pPr>
            <a:r>
              <a:rPr sz="1200">
                <a:solidFill>
                  <a:srgbClr val="1A1A1A"/>
                </a:solidFill>
                <a:latin typeface="Courier New"/>
              </a:rPr>
              <a:t>FROM orders AS o</a:t>
            </a:r>
          </a:p>
          <a:p>
            <a:pPr algn="l">
              <a:lnSpc>
                <a:spcPct val="100000"/>
              </a:lnSpc>
            </a:pPr>
            <a:r>
              <a:rPr sz="1200">
                <a:solidFill>
                  <a:srgbClr val="1A1A1A"/>
                </a:solidFill>
                <a:latin typeface="Courier New"/>
              </a:rPr>
              <a:t>INNER JOIN customers   AS c ON c.customer_id = o.customer_id</a:t>
            </a:r>
          </a:p>
          <a:p>
            <a:pPr algn="l">
              <a:lnSpc>
                <a:spcPct val="100000"/>
              </a:lnSpc>
            </a:pPr>
            <a:r>
              <a:rPr sz="1200">
                <a:solidFill>
                  <a:srgbClr val="1A1A1A"/>
                </a:solidFill>
                <a:latin typeface="Courier New"/>
              </a:rPr>
              <a:t>INNER JOIN order_items AS i ON i.order_id    = o.order_id;</a:t>
            </a:r>
          </a:p>
        </p:txBody>
      </p:sp>
      <p:sp>
        <p:nvSpPr>
          <p:cNvPr id="10" name="TextBox 9"/>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Step 0: </a:t>
            </a:r>
            <a:r>
              <a:rPr sz="1200" b="0" i="0">
                <a:solidFill>
                  <a:srgbClr val="330066"/>
                </a:solidFill>
                <a:latin typeface="Courier New"/>
              </a:rPr>
              <a:t>SELECT COUNT(*) FROM orders</a:t>
            </a:r>
            <a:r>
              <a:rPr sz="1250" b="0" i="0">
                <a:solidFill>
                  <a:srgbClr val="1A1A1A"/>
                </a:solidFill>
                <a:latin typeface="Arial"/>
              </a:rPr>
              <a:t> gives 12.</a:t>
            </a:r>
          </a:p>
          <a:p>
            <a:pPr marL="228600" indent="-228600" algn="l">
              <a:spcAft>
                <a:spcPts val="800"/>
              </a:spcAft>
              <a:buFont typeface="Arial"/>
              <a:buChar char="•"/>
            </a:pPr>
            <a:r>
              <a:rPr sz="1250" b="0" i="0">
                <a:solidFill>
                  <a:srgbClr val="1A1A1A"/>
                </a:solidFill>
                <a:latin typeface="Arial"/>
              </a:rPr>
              <a:t>Step 1 gives 10: orders 107 and 108 dropped out.</a:t>
            </a:r>
          </a:p>
          <a:p>
            <a:pPr marL="228600" indent="-228600" algn="l">
              <a:spcAft>
                <a:spcPts val="800"/>
              </a:spcAft>
              <a:buFont typeface="Arial"/>
              <a:buChar char="•"/>
            </a:pPr>
            <a:r>
              <a:rPr sz="1250" b="0" i="0">
                <a:solidFill>
                  <a:srgbClr val="1A1A1A"/>
                </a:solidFill>
                <a:latin typeface="Arial"/>
              </a:rPr>
              <a:t>Step 2 gives 13: the count went up. Orders 101, 102, 103 and 105 have two item rows each and repeat; order 109 (no items) vanished.</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14 / 40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Step 3: Add Products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Rounded Rectangle 3"/>
          <p:cNvSpPr/>
          <p:nvPr/>
        </p:nvSpPr>
        <p:spPr>
          <a:xfrm>
            <a:off x="609904" y="1783080"/>
            <a:ext cx="6400800" cy="1283208"/>
          </a:xfrm>
          <a:prstGeom prst="roundRect">
            <a:avLst>
              <a:gd name="adj" fmla="val 570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990599"/>
          </a:xfrm>
          <a:prstGeom prst="rect">
            <a:avLst/>
          </a:prstGeom>
          <a:noFill/>
        </p:spPr>
        <p:txBody>
          <a:bodyPr wrap="square" lIns="0" tIns="0" rIns="0" bIns="0">
            <a:spAutoFit/>
          </a:bodyPr>
          <a:lstStyle/>
          <a:p>
            <a:pPr algn="l">
              <a:lnSpc>
                <a:spcPct val="100000"/>
              </a:lnSpc>
            </a:pPr>
            <a:r>
              <a:rPr sz="1300">
                <a:solidFill>
                  <a:srgbClr val="1A1A1A"/>
                </a:solidFill>
                <a:latin typeface="Courier New"/>
              </a:rPr>
              <a:t>SELECT COUNT(*) AS rows_now</a:t>
            </a:r>
          </a:p>
          <a:p>
            <a:pPr algn="l">
              <a:lnSpc>
                <a:spcPct val="100000"/>
              </a:lnSpc>
            </a:pPr>
            <a:r>
              <a:rPr sz="1300">
                <a:solidFill>
                  <a:srgbClr val="1A1A1A"/>
                </a:solidFill>
                <a:latin typeface="Courier New"/>
              </a:rPr>
              <a:t>FROM orders AS o</a:t>
            </a:r>
          </a:p>
          <a:p>
            <a:pPr algn="l">
              <a:lnSpc>
                <a:spcPct val="100000"/>
              </a:lnSpc>
            </a:pPr>
            <a:r>
              <a:rPr sz="1300">
                <a:solidFill>
                  <a:srgbClr val="1A1A1A"/>
                </a:solidFill>
                <a:latin typeface="Courier New"/>
              </a:rPr>
              <a:t>INNER JOIN customers   AS c ON c.customer_id = o.customer_id</a:t>
            </a:r>
          </a:p>
          <a:p>
            <a:pPr algn="l">
              <a:lnSpc>
                <a:spcPct val="100000"/>
              </a:lnSpc>
            </a:pPr>
            <a:r>
              <a:rPr sz="1300">
                <a:solidFill>
                  <a:srgbClr val="1A1A1A"/>
                </a:solidFill>
                <a:latin typeface="Courier New"/>
              </a:rPr>
              <a:t>INNER JOIN order_items AS i ON i.order_id    = o.order_id</a:t>
            </a:r>
          </a:p>
          <a:p>
            <a:pPr algn="l">
              <a:lnSpc>
                <a:spcPct val="100000"/>
              </a:lnSpc>
            </a:pPr>
            <a:r>
              <a:rPr sz="1300">
                <a:solidFill>
                  <a:srgbClr val="1A1A1A"/>
                </a:solidFill>
                <a:latin typeface="Courier New"/>
              </a:rPr>
              <a:t>INNER JOIN products    AS p ON p.product_id  = i.product_id;</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Result: 12. One more row dropped: item 15 (product 999 does not exist, order 111).</a:t>
            </a:r>
          </a:p>
          <a:p>
            <a:pPr marL="228600" indent="-228600" algn="l">
              <a:spcAft>
                <a:spcPts val="800"/>
              </a:spcAft>
              <a:buFont typeface="Arial"/>
              <a:buChar char="•"/>
            </a:pPr>
            <a:r>
              <a:rPr sz="1250" b="0" i="0">
                <a:solidFill>
                  <a:srgbClr val="1A1A1A"/>
                </a:solidFill>
                <a:latin typeface="Arial"/>
              </a:rPr>
              <a:t>The counts 12, 10, 13, 12 explain every row in the final result and every row absent.</a:t>
            </a:r>
          </a:p>
          <a:p>
            <a:pPr marL="228600" indent="-228600" algn="l">
              <a:spcAft>
                <a:spcPts val="800"/>
              </a:spcAft>
              <a:buFont typeface="Arial"/>
              <a:buChar char="•"/>
            </a:pPr>
            <a:r>
              <a:rPr sz="1250" b="0" i="0">
                <a:solidFill>
                  <a:srgbClr val="1A1A1A"/>
                </a:solidFill>
                <a:latin typeface="Arial"/>
              </a:rPr>
              <a:t>When a test fails because "the report is missing orders", this finds the exact join that dropped them.</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15 / 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Order Detail Report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Rounded Rectangle 3"/>
          <p:cNvSpPr/>
          <p:nvPr/>
        </p:nvSpPr>
        <p:spPr>
          <a:xfrm>
            <a:off x="609904" y="1783080"/>
            <a:ext cx="5852160" cy="2220467"/>
          </a:xfrm>
          <a:prstGeom prst="roundRect">
            <a:avLst>
              <a:gd name="adj" fmla="val 329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449824" cy="1927859"/>
          </a:xfrm>
          <a:prstGeom prst="rect">
            <a:avLst/>
          </a:prstGeom>
          <a:noFill/>
        </p:spPr>
        <p:txBody>
          <a:bodyPr wrap="square" lIns="0" tIns="0" rIns="0" bIns="0">
            <a:spAutoFit/>
          </a:bodyPr>
          <a:lstStyle/>
          <a:p>
            <a:pPr algn="l">
              <a:lnSpc>
                <a:spcPct val="100000"/>
              </a:lnSpc>
            </a:pPr>
            <a:r>
              <a:rPr sz="1150">
                <a:solidFill>
                  <a:srgbClr val="1A1A1A"/>
                </a:solidFill>
                <a:latin typeface="Courier New"/>
              </a:rPr>
              <a:t>SELECT o.order_id,</a:t>
            </a:r>
          </a:p>
          <a:p>
            <a:pPr algn="l">
              <a:lnSpc>
                <a:spcPct val="100000"/>
              </a:lnSpc>
            </a:pPr>
            <a:r>
              <a:rPr sz="1150">
                <a:solidFill>
                  <a:srgbClr val="1A1A1A"/>
                </a:solidFill>
                <a:latin typeface="Courier New"/>
              </a:rPr>
              <a:t>       c.full_name         AS customer,</a:t>
            </a:r>
          </a:p>
          <a:p>
            <a:pPr algn="l">
              <a:lnSpc>
                <a:spcPct val="100000"/>
              </a:lnSpc>
            </a:pPr>
            <a:r>
              <a:rPr sz="1150">
                <a:solidFill>
                  <a:srgbClr val="1A1A1A"/>
                </a:solidFill>
                <a:latin typeface="Courier New"/>
              </a:rPr>
              <a:t>       p.product_name      AS product,</a:t>
            </a:r>
          </a:p>
          <a:p>
            <a:pPr algn="l">
              <a:lnSpc>
                <a:spcPct val="100000"/>
              </a:lnSpc>
            </a:pPr>
            <a:r>
              <a:rPr sz="1150">
                <a:solidFill>
                  <a:srgbClr val="1A1A1A"/>
                </a:solidFill>
                <a:latin typeface="Courier New"/>
              </a:rPr>
              <a:t>       i.quantity,</a:t>
            </a:r>
          </a:p>
          <a:p>
            <a:pPr algn="l">
              <a:lnSpc>
                <a:spcPct val="100000"/>
              </a:lnSpc>
            </a:pPr>
            <a:r>
              <a:rPr sz="1150">
                <a:solidFill>
                  <a:srgbClr val="1A1A1A"/>
                </a:solidFill>
                <a:latin typeface="Courier New"/>
              </a:rPr>
              <a:t>       i.unit_price,</a:t>
            </a:r>
          </a:p>
          <a:p>
            <a:pPr algn="l">
              <a:lnSpc>
                <a:spcPct val="100000"/>
              </a:lnSpc>
            </a:pPr>
            <a:r>
              <a:rPr sz="1150">
                <a:solidFill>
                  <a:srgbClr val="1A1A1A"/>
                </a:solidFill>
                <a:latin typeface="Courier New"/>
              </a:rPr>
              <a:t>       i.quantity * i.unit_price AS line_total</a:t>
            </a:r>
          </a:p>
          <a:p>
            <a:pPr algn="l">
              <a:lnSpc>
                <a:spcPct val="100000"/>
              </a:lnSpc>
            </a:pPr>
            <a:r>
              <a:rPr sz="1150">
                <a:solidFill>
                  <a:srgbClr val="1A1A1A"/>
                </a:solidFill>
                <a:latin typeface="Courier New"/>
              </a:rPr>
              <a:t>FROM orders AS o</a:t>
            </a:r>
          </a:p>
          <a:p>
            <a:pPr algn="l">
              <a:lnSpc>
                <a:spcPct val="100000"/>
              </a:lnSpc>
            </a:pPr>
            <a:r>
              <a:rPr sz="1150">
                <a:solidFill>
                  <a:srgbClr val="1A1A1A"/>
                </a:solidFill>
                <a:latin typeface="Courier New"/>
              </a:rPr>
              <a:t>INNER JOIN customers   AS c ON c.customer_id = o.customer_id</a:t>
            </a:r>
          </a:p>
          <a:p>
            <a:pPr algn="l">
              <a:lnSpc>
                <a:spcPct val="100000"/>
              </a:lnSpc>
            </a:pPr>
            <a:r>
              <a:rPr sz="1150">
                <a:solidFill>
                  <a:srgbClr val="1A1A1A"/>
                </a:solidFill>
                <a:latin typeface="Courier New"/>
              </a:rPr>
              <a:t>INNER JOIN order_items AS i ON i.order_id    = o.order_id</a:t>
            </a:r>
          </a:p>
          <a:p>
            <a:pPr algn="l">
              <a:lnSpc>
                <a:spcPct val="100000"/>
              </a:lnSpc>
            </a:pPr>
            <a:r>
              <a:rPr sz="1150">
                <a:solidFill>
                  <a:srgbClr val="1A1A1A"/>
                </a:solidFill>
                <a:latin typeface="Courier New"/>
              </a:rPr>
              <a:t>INNER JOIN products    AS p ON p.product_id  = i.product_id</a:t>
            </a:r>
          </a:p>
          <a:p>
            <a:pPr algn="l">
              <a:lnSpc>
                <a:spcPct val="100000"/>
              </a:lnSpc>
            </a:pPr>
            <a:r>
              <a:rPr sz="1150">
                <a:solidFill>
                  <a:srgbClr val="1A1A1A"/>
                </a:solidFill>
                <a:latin typeface="Courier New"/>
              </a:rPr>
              <a:t>ORDER BY o.order_id, i.item_id;</a:t>
            </a:r>
          </a:p>
        </p:txBody>
      </p:sp>
      <p:sp>
        <p:nvSpPr>
          <p:cNvPr id="6" name="TextBox 5"/>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Result: 12 rows: customer, product, quantity, unit price and line total per order line.</a:t>
            </a:r>
          </a:p>
          <a:p>
            <a:pPr marL="228600" indent="-228600" algn="l">
              <a:spcAft>
                <a:spcPts val="800"/>
              </a:spcAft>
              <a:buFont typeface="Arial"/>
              <a:buChar char="•"/>
            </a:pPr>
            <a:r>
              <a:rPr sz="1300" b="0" i="0">
                <a:solidFill>
                  <a:srgbClr val="1A1A1A"/>
                </a:solidFill>
                <a:latin typeface="Arial"/>
              </a:rPr>
              <a:t>Row 103 appears twice (the duplicate item) and order 112 shows a line total of -9.99.</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16 / 40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Mixing INNER and LEFT</a:t>
            </a:r>
          </a:p>
        </p:txBody>
      </p:sp>
      <p:sp>
        <p:nvSpPr>
          <p:cNvPr id="3" name="Text Placeholder 2"/>
          <p:cNvSpPr>
            <a:spLocks noGrp="1"/>
          </p:cNvSpPr>
          <p:nvPr>
            <p:ph type="body" idx="1"/>
          </p:nvPr>
        </p:nvSpPr>
        <p:spPr/>
        <p:txBody>
          <a:bodyPr/>
          <a:lstStyle/>
          <a:p>
            <a:r>
              <a:rPr sz="1800">
                <a:solidFill>
                  <a:srgbClr val="5A5A5A"/>
                </a:solidFill>
              </a:rPr>
              <a:t>Join order matters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03</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17 / 40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Keep Every Order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Start from the table you want to keep in full; use </a:t>
            </a:r>
            <a:r>
              <a:rPr sz="1450" b="0" i="0">
                <a:solidFill>
                  <a:srgbClr val="330066"/>
                </a:solidFill>
                <a:latin typeface="Courier New"/>
              </a:rPr>
              <a:t>LEFT JOIN</a:t>
            </a:r>
            <a:r>
              <a:rPr sz="1500" b="0" i="0">
                <a:solidFill>
                  <a:srgbClr val="1A1A1A"/>
                </a:solidFill>
                <a:latin typeface="Arial"/>
              </a:rPr>
              <a:t> for optional children or parents.</a:t>
            </a:r>
          </a:p>
        </p:txBody>
      </p:sp>
      <p:sp>
        <p:nvSpPr>
          <p:cNvPr id="5" name="Rounded Rectangle 4"/>
          <p:cNvSpPr/>
          <p:nvPr/>
        </p:nvSpPr>
        <p:spPr>
          <a:xfrm>
            <a:off x="609904" y="2221991"/>
            <a:ext cx="5852160" cy="1938527"/>
          </a:xfrm>
          <a:prstGeom prst="roundRect">
            <a:avLst>
              <a:gd name="adj" fmla="val 377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449824" cy="1645919"/>
          </a:xfrm>
          <a:prstGeom prst="rect">
            <a:avLst/>
          </a:prstGeom>
          <a:noFill/>
        </p:spPr>
        <p:txBody>
          <a:bodyPr wrap="square" lIns="0" tIns="0" rIns="0" bIns="0">
            <a:spAutoFit/>
          </a:bodyPr>
          <a:lstStyle/>
          <a:p>
            <a:pPr algn="l">
              <a:lnSpc>
                <a:spcPct val="100000"/>
              </a:lnSpc>
            </a:pPr>
            <a:r>
              <a:rPr sz="1200">
                <a:solidFill>
                  <a:srgbClr val="1A1A1A"/>
                </a:solidFill>
                <a:latin typeface="Courier New"/>
              </a:rPr>
              <a:t>SELECT o.order_id,</a:t>
            </a:r>
          </a:p>
          <a:p>
            <a:pPr algn="l">
              <a:lnSpc>
                <a:spcPct val="100000"/>
              </a:lnSpc>
            </a:pPr>
            <a:r>
              <a:rPr sz="1200">
                <a:solidFill>
                  <a:srgbClr val="1A1A1A"/>
                </a:solidFill>
                <a:latin typeface="Courier New"/>
              </a:rPr>
              <a:t>       COALESCE(c.full_name, '(no customer)') AS customer,</a:t>
            </a:r>
          </a:p>
          <a:p>
            <a:pPr algn="l">
              <a:lnSpc>
                <a:spcPct val="100000"/>
              </a:lnSpc>
            </a:pPr>
            <a:r>
              <a:rPr sz="1200">
                <a:solidFill>
                  <a:srgbClr val="1A1A1A"/>
                </a:solidFill>
                <a:latin typeface="Courier New"/>
              </a:rPr>
              <a:t>       o.status,</a:t>
            </a:r>
          </a:p>
          <a:p>
            <a:pPr algn="l">
              <a:lnSpc>
                <a:spcPct val="100000"/>
              </a:lnSpc>
            </a:pPr>
            <a:r>
              <a:rPr sz="1200">
                <a:solidFill>
                  <a:srgbClr val="1A1A1A"/>
                </a:solidFill>
                <a:latin typeface="Courier New"/>
              </a:rPr>
              <a:t>       COUNT(i.item_id)  AS item_rows</a:t>
            </a:r>
          </a:p>
          <a:p>
            <a:pPr algn="l">
              <a:lnSpc>
                <a:spcPct val="100000"/>
              </a:lnSpc>
            </a:pPr>
            <a:r>
              <a:rPr sz="1200">
                <a:solidFill>
                  <a:srgbClr val="1A1A1A"/>
                </a:solidFill>
                <a:latin typeface="Courier New"/>
              </a:rPr>
              <a:t>FROM orders AS o</a:t>
            </a:r>
          </a:p>
          <a:p>
            <a:pPr algn="l">
              <a:lnSpc>
                <a:spcPct val="100000"/>
              </a:lnSpc>
            </a:pPr>
            <a:r>
              <a:rPr sz="1200">
                <a:solidFill>
                  <a:srgbClr val="1A1A1A"/>
                </a:solidFill>
                <a:latin typeface="Courier New"/>
              </a:rPr>
              <a:t>LEFT JOIN customers   AS c ON c.customer_id = o.customer_id</a:t>
            </a:r>
          </a:p>
          <a:p>
            <a:pPr algn="l">
              <a:lnSpc>
                <a:spcPct val="100000"/>
              </a:lnSpc>
            </a:pPr>
            <a:r>
              <a:rPr sz="1200">
                <a:solidFill>
                  <a:srgbClr val="1A1A1A"/>
                </a:solidFill>
                <a:latin typeface="Courier New"/>
              </a:rPr>
              <a:t>LEFT JOIN order_items AS i ON i.order_id    = o.order_id</a:t>
            </a:r>
          </a:p>
          <a:p>
            <a:pPr algn="l">
              <a:lnSpc>
                <a:spcPct val="100000"/>
              </a:lnSpc>
            </a:pPr>
            <a:r>
              <a:rPr sz="1200">
                <a:solidFill>
                  <a:srgbClr val="1A1A1A"/>
                </a:solidFill>
                <a:latin typeface="Courier New"/>
              </a:rPr>
              <a:t>GROUP BY o.order_id, c.full_name, o.status</a:t>
            </a:r>
          </a:p>
          <a:p>
            <a:pPr algn="l">
              <a:lnSpc>
                <a:spcPct val="100000"/>
              </a:lnSpc>
            </a:pPr>
            <a:r>
              <a:rPr sz="1200">
                <a:solidFill>
                  <a:srgbClr val="1A1A1A"/>
                </a:solidFill>
                <a:latin typeface="Courier New"/>
              </a:rPr>
              <a:t>ORDER BY o.order_id;</a:t>
            </a:r>
          </a:p>
        </p:txBody>
      </p:sp>
      <p:sp>
        <p:nvSpPr>
          <p:cNvPr id="7" name="TextBox 6"/>
          <p:cNvSpPr txBox="1"/>
          <p:nvPr/>
        </p:nvSpPr>
        <p:spPr>
          <a:xfrm>
            <a:off x="6827824" y="2221991"/>
            <a:ext cx="475396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All 12 orders are present.</a:t>
            </a:r>
          </a:p>
          <a:p>
            <a:pPr marL="228600" indent="-228600" algn="l">
              <a:spcAft>
                <a:spcPts val="800"/>
              </a:spcAft>
              <a:buFont typeface="Arial"/>
              <a:buChar char="•"/>
            </a:pPr>
            <a:r>
              <a:rPr sz="1300" b="0" i="0">
                <a:solidFill>
                  <a:srgbClr val="1A1A1A"/>
                </a:solidFill>
                <a:latin typeface="Arial"/>
              </a:rPr>
              <a:t>Orders 107 and 108 show </a:t>
            </a:r>
            <a:r>
              <a:rPr sz="1250" b="0" i="0">
                <a:solidFill>
                  <a:srgbClr val="330066"/>
                </a:solidFill>
                <a:latin typeface="Courier New"/>
              </a:rPr>
              <a:t>(no customer)</a:t>
            </a:r>
            <a:r>
              <a:rPr sz="1300" b="0" i="0">
                <a:solidFill>
                  <a:srgbClr val="1A1A1A"/>
                </a:solidFill>
                <a:latin typeface="Arial"/>
              </a:rPr>
              <a:t>; order 109 shows </a:t>
            </a:r>
            <a:r>
              <a:rPr sz="1250" b="0" i="0">
                <a:solidFill>
                  <a:srgbClr val="330066"/>
                </a:solidFill>
                <a:latin typeface="Courier New"/>
              </a:rPr>
              <a:t>0</a:t>
            </a:r>
            <a:r>
              <a:rPr sz="1300" b="0" i="0">
                <a:solidFill>
                  <a:srgbClr val="1A1A1A"/>
                </a:solidFill>
                <a:latin typeface="Arial"/>
              </a:rPr>
              <a:t> item rows because we used </a:t>
            </a:r>
            <a:r>
              <a:rPr sz="1250" b="0" i="0">
                <a:solidFill>
                  <a:srgbClr val="330066"/>
                </a:solidFill>
                <a:latin typeface="Courier New"/>
              </a:rPr>
              <a:t>COUNT(i.item_id)</a:t>
            </a:r>
            <a:r>
              <a:rPr sz="1300" b="0" i="0">
                <a:solidFill>
                  <a:srgbClr val="1A1A1A"/>
                </a:solidFill>
                <a:latin typeface="Arial"/>
              </a:rPr>
              <a:t>, not </a:t>
            </a:r>
            <a:r>
              <a:rPr sz="1250" b="0" i="0">
                <a:solidFill>
                  <a:srgbClr val="330066"/>
                </a:solidFill>
                <a:latin typeface="Courier New"/>
              </a:rPr>
              <a:t>COUNT(*)</a:t>
            </a:r>
            <a:r>
              <a:rPr sz="1300" b="0" i="0">
                <a:solidFill>
                  <a:srgbClr val="1A1A1A"/>
                </a:solidFill>
                <a:latin typeface="Arial"/>
              </a:rPr>
              <a: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18 / 40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INNER JOIN After LEFT JOIN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6217920" cy="1245108"/>
          </a:xfrm>
          <a:prstGeom prst="roundRect">
            <a:avLst>
              <a:gd name="adj" fmla="val 587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815583" cy="952500"/>
          </a:xfrm>
          <a:prstGeom prst="rect">
            <a:avLst/>
          </a:prstGeom>
          <a:noFill/>
        </p:spPr>
        <p:txBody>
          <a:bodyPr wrap="square" lIns="0" tIns="0" rIns="0" bIns="0">
            <a:spAutoFit/>
          </a:bodyPr>
          <a:lstStyle/>
          <a:p>
            <a:pPr algn="l">
              <a:lnSpc>
                <a:spcPct val="100000"/>
              </a:lnSpc>
            </a:pPr>
            <a:r>
              <a:rPr sz="1250">
                <a:solidFill>
                  <a:srgbClr val="1A1A1A"/>
                </a:solidFill>
                <a:latin typeface="Courier New"/>
              </a:rPr>
              <a:t>SELECT o.order_id, c.full_name, i.item_id</a:t>
            </a:r>
          </a:p>
          <a:p>
            <a:pPr algn="l">
              <a:lnSpc>
                <a:spcPct val="100000"/>
              </a:lnSpc>
            </a:pPr>
            <a:r>
              <a:rPr sz="1250">
                <a:solidFill>
                  <a:srgbClr val="1A1A1A"/>
                </a:solidFill>
                <a:latin typeface="Courier New"/>
              </a:rPr>
              <a:t>FROM orders AS o</a:t>
            </a:r>
          </a:p>
          <a:p>
            <a:pPr algn="l">
              <a:lnSpc>
                <a:spcPct val="100000"/>
              </a:lnSpc>
            </a:pPr>
            <a:r>
              <a:rPr sz="1250">
                <a:solidFill>
                  <a:srgbClr val="1A1A1A"/>
                </a:solidFill>
                <a:latin typeface="Courier New"/>
              </a:rPr>
              <a:t>LEFT JOIN customers   AS c ON c.customer_id = o.customer_id</a:t>
            </a:r>
          </a:p>
          <a:p>
            <a:pPr algn="l">
              <a:lnSpc>
                <a:spcPct val="100000"/>
              </a:lnSpc>
            </a:pPr>
            <a:r>
              <a:rPr sz="1250">
                <a:solidFill>
                  <a:srgbClr val="1A1A1A"/>
                </a:solidFill>
                <a:latin typeface="Courier New"/>
              </a:rPr>
              <a:t>INNER JOIN order_items AS i ON i.order_id    = o.order_id</a:t>
            </a:r>
          </a:p>
          <a:p>
            <a:pPr algn="l">
              <a:lnSpc>
                <a:spcPct val="100000"/>
              </a:lnSpc>
            </a:pPr>
            <a:r>
              <a:rPr sz="1250">
                <a:solidFill>
                  <a:srgbClr val="1A1A1A"/>
                </a:solidFill>
                <a:latin typeface="Courier New"/>
              </a:rPr>
              <a:t>WHERE o.order_id IN (107, 108, 109);</a:t>
            </a:r>
          </a:p>
        </p:txBody>
      </p:sp>
      <p:sp>
        <p:nvSpPr>
          <p:cNvPr id="6" name="TextBox 5"/>
          <p:cNvSpPr txBox="1"/>
          <p:nvPr/>
        </p:nvSpPr>
        <p:spPr>
          <a:xfrm>
            <a:off x="7193584" y="1783080"/>
            <a:ext cx="438820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Result: only orders 107 and 108. Order 109 vanished.</a:t>
            </a:r>
          </a:p>
          <a:p>
            <a:pPr marL="228600" indent="-228600" algn="l">
              <a:spcAft>
                <a:spcPts val="800"/>
              </a:spcAft>
              <a:buFont typeface="Arial"/>
              <a:buChar char="•"/>
            </a:pPr>
            <a:r>
              <a:rPr sz="1300" b="0" i="0">
                <a:solidFill>
                  <a:srgbClr val="1A1A1A"/>
                </a:solidFill>
                <a:latin typeface="Arial"/>
              </a:rPr>
              <a:t>The later </a:t>
            </a:r>
            <a:r>
              <a:rPr sz="1250" b="0" i="0">
                <a:solidFill>
                  <a:srgbClr val="330066"/>
                </a:solidFill>
                <a:latin typeface="Courier New"/>
              </a:rPr>
              <a:t>INNER JOIN order_items</a:t>
            </a:r>
            <a:r>
              <a:rPr sz="1300" b="0" i="0">
                <a:solidFill>
                  <a:srgbClr val="1A1A1A"/>
                </a:solidFill>
                <a:latin typeface="Arial"/>
              </a:rPr>
              <a:t> removed it because it has no items.</a:t>
            </a:r>
          </a:p>
          <a:p>
            <a:pPr marL="228600" indent="-228600" algn="l">
              <a:spcAft>
                <a:spcPts val="800"/>
              </a:spcAft>
              <a:buFont typeface="Arial"/>
              <a:buChar char="•"/>
            </a:pPr>
            <a:r>
              <a:rPr sz="1300" b="0" i="0">
                <a:solidFill>
                  <a:srgbClr val="1A1A1A"/>
                </a:solidFill>
                <a:latin typeface="Arial"/>
              </a:rPr>
              <a:t>An inner join anywhere in the chain can cancel the protection earlier left joins gave you.</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19 / 40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LEFT JOINs All the Way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6217920" cy="1245108"/>
          </a:xfrm>
          <a:prstGeom prst="roundRect">
            <a:avLst>
              <a:gd name="adj" fmla="val 587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815583" cy="952500"/>
          </a:xfrm>
          <a:prstGeom prst="rect">
            <a:avLst/>
          </a:prstGeom>
          <a:noFill/>
        </p:spPr>
        <p:txBody>
          <a:bodyPr wrap="square" lIns="0" tIns="0" rIns="0" bIns="0">
            <a:spAutoFit/>
          </a:bodyPr>
          <a:lstStyle/>
          <a:p>
            <a:pPr algn="l">
              <a:lnSpc>
                <a:spcPct val="100000"/>
              </a:lnSpc>
            </a:pPr>
            <a:r>
              <a:rPr sz="1250">
                <a:solidFill>
                  <a:srgbClr val="1A1A1A"/>
                </a:solidFill>
                <a:latin typeface="Courier New"/>
              </a:rPr>
              <a:t>SELECT o.order_id, c.full_name, i.item_id</a:t>
            </a:r>
          </a:p>
          <a:p>
            <a:pPr algn="l">
              <a:lnSpc>
                <a:spcPct val="100000"/>
              </a:lnSpc>
            </a:pPr>
            <a:r>
              <a:rPr sz="1250">
                <a:solidFill>
                  <a:srgbClr val="1A1A1A"/>
                </a:solidFill>
                <a:latin typeface="Courier New"/>
              </a:rPr>
              <a:t>FROM orders AS o</a:t>
            </a:r>
          </a:p>
          <a:p>
            <a:pPr algn="l">
              <a:lnSpc>
                <a:spcPct val="100000"/>
              </a:lnSpc>
            </a:pPr>
            <a:r>
              <a:rPr sz="1250">
                <a:solidFill>
                  <a:srgbClr val="1A1A1A"/>
                </a:solidFill>
                <a:latin typeface="Courier New"/>
              </a:rPr>
              <a:t>LEFT JOIN customers   AS c ON c.customer_id = o.customer_id</a:t>
            </a:r>
          </a:p>
          <a:p>
            <a:pPr algn="l">
              <a:lnSpc>
                <a:spcPct val="100000"/>
              </a:lnSpc>
            </a:pPr>
            <a:r>
              <a:rPr sz="1250">
                <a:solidFill>
                  <a:srgbClr val="1A1A1A"/>
                </a:solidFill>
                <a:latin typeface="Courier New"/>
              </a:rPr>
              <a:t>LEFT JOIN order_items AS i ON i.order_id    = o.order_id</a:t>
            </a:r>
          </a:p>
          <a:p>
            <a:pPr algn="l">
              <a:lnSpc>
                <a:spcPct val="100000"/>
              </a:lnSpc>
            </a:pPr>
            <a:r>
              <a:rPr sz="1250">
                <a:solidFill>
                  <a:srgbClr val="1A1A1A"/>
                </a:solidFill>
                <a:latin typeface="Courier New"/>
              </a:rPr>
              <a:t>WHERE o.order_id IN (107, 108, 109);</a:t>
            </a:r>
          </a:p>
        </p:txBody>
      </p:sp>
      <p:sp>
        <p:nvSpPr>
          <p:cNvPr id="6" name="TextBox 5"/>
          <p:cNvSpPr txBox="1"/>
          <p:nvPr/>
        </p:nvSpPr>
        <p:spPr>
          <a:xfrm>
            <a:off x="7193584" y="1783080"/>
            <a:ext cx="438820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Result: all three orders survive; order 109 shows Grace Kim with a NULL item.</a:t>
            </a:r>
          </a:p>
          <a:p>
            <a:pPr marL="228600" indent="-228600" algn="l">
              <a:spcAft>
                <a:spcPts val="800"/>
              </a:spcAft>
              <a:buFont typeface="Arial"/>
              <a:buChar char="•"/>
            </a:pPr>
            <a:r>
              <a:rPr sz="1300" b="0" i="0">
                <a:solidFill>
                  <a:srgbClr val="1A1A1A"/>
                </a:solidFill>
                <a:latin typeface="Arial"/>
              </a:rPr>
              <a:t>Rule: once you start with LEFT JOINs to keep unmatched rows, continue with LEFT JOINs for the rest of the chain, unless you deliberately want to drop rows.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20 / 40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Fan-Out Trap</a:t>
            </a:r>
          </a:p>
        </p:txBody>
      </p:sp>
      <p:sp>
        <p:nvSpPr>
          <p:cNvPr id="3" name="Text Placeholder 2"/>
          <p:cNvSpPr>
            <a:spLocks noGrp="1"/>
          </p:cNvSpPr>
          <p:nvPr>
            <p:ph type="body" idx="1"/>
          </p:nvPr>
        </p:nvSpPr>
        <p:spPr/>
        <p:txBody>
          <a:bodyPr/>
          <a:lstStyle/>
          <a:p>
            <a:r>
              <a:rPr sz="1800">
                <a:solidFill>
                  <a:srgbClr val="5A5A5A"/>
                </a:solidFill>
              </a:rPr>
              <a:t>Two many-tables on the same parent</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04</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21 / 40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Fan-Out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Order 102 has 2 item rows and, because of the double payment, 2 payment rows.</a:t>
            </a:r>
          </a:p>
        </p:txBody>
      </p:sp>
      <p:sp>
        <p:nvSpPr>
          <p:cNvPr id="5" name="Rounded Rectangle 4"/>
          <p:cNvSpPr/>
          <p:nvPr/>
        </p:nvSpPr>
        <p:spPr>
          <a:xfrm>
            <a:off x="609904" y="2221991"/>
            <a:ext cx="6035040" cy="1435607"/>
          </a:xfrm>
          <a:prstGeom prst="roundRect">
            <a:avLst>
              <a:gd name="adj" fmla="val 50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632703" cy="1142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SELECT o.order_id, i.item_id, pay.payment_id</a:t>
            </a:r>
          </a:p>
          <a:p>
            <a:pPr algn="l">
              <a:lnSpc>
                <a:spcPct val="100000"/>
              </a:lnSpc>
            </a:pPr>
            <a:r>
              <a:rPr sz="1250">
                <a:solidFill>
                  <a:srgbClr val="1A1A1A"/>
                </a:solidFill>
                <a:latin typeface="Courier New"/>
              </a:rPr>
              <a:t>FROM orders AS o</a:t>
            </a:r>
          </a:p>
          <a:p>
            <a:pPr algn="l">
              <a:lnSpc>
                <a:spcPct val="100000"/>
              </a:lnSpc>
            </a:pPr>
            <a:r>
              <a:rPr sz="1250">
                <a:solidFill>
                  <a:srgbClr val="1A1A1A"/>
                </a:solidFill>
                <a:latin typeface="Courier New"/>
              </a:rPr>
              <a:t>INNER JOIN order_items AS i   ON i.order_id   = o.order_id</a:t>
            </a:r>
          </a:p>
          <a:p>
            <a:pPr algn="l">
              <a:lnSpc>
                <a:spcPct val="100000"/>
              </a:lnSpc>
            </a:pPr>
            <a:r>
              <a:rPr sz="1250">
                <a:solidFill>
                  <a:srgbClr val="1A1A1A"/>
                </a:solidFill>
                <a:latin typeface="Courier New"/>
              </a:rPr>
              <a:t>INNER JOIN payments    AS pay ON pay.order_id = o.order_id</a:t>
            </a:r>
          </a:p>
          <a:p>
            <a:pPr algn="l">
              <a:lnSpc>
                <a:spcPct val="100000"/>
              </a:lnSpc>
            </a:pPr>
            <a:r>
              <a:rPr sz="1250">
                <a:solidFill>
                  <a:srgbClr val="1A1A1A"/>
                </a:solidFill>
                <a:latin typeface="Courier New"/>
              </a:rPr>
              <a:t>WHERE o.order_id = 102</a:t>
            </a:r>
          </a:p>
          <a:p>
            <a:pPr algn="l">
              <a:lnSpc>
                <a:spcPct val="100000"/>
              </a:lnSpc>
            </a:pPr>
            <a:r>
              <a:rPr sz="1250">
                <a:solidFill>
                  <a:srgbClr val="1A1A1A"/>
                </a:solidFill>
                <a:latin typeface="Courier New"/>
              </a:rPr>
              <a:t>ORDER BY i.item_id, pay.payment_id;</a:t>
            </a:r>
          </a:p>
        </p:txBody>
      </p:sp>
      <p:sp>
        <p:nvSpPr>
          <p:cNvPr id="7" name="TextBox 6"/>
          <p:cNvSpPr txBox="1"/>
          <p:nvPr/>
        </p:nvSpPr>
        <p:spPr>
          <a:xfrm>
            <a:off x="7010704" y="2221991"/>
            <a:ext cx="457108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Result: 2 items x 2 payments = 4 rows. Each item is paired with each payment though they are unrelated.</a:t>
            </a:r>
          </a:p>
          <a:p>
            <a:pPr marL="228600" indent="-228600" algn="l">
              <a:spcAft>
                <a:spcPts val="800"/>
              </a:spcAft>
              <a:buFont typeface="Arial"/>
              <a:buChar char="•"/>
            </a:pPr>
            <a:r>
              <a:rPr sz="1300" b="0" i="0">
                <a:solidFill>
                  <a:srgbClr val="1A1A1A"/>
                </a:solidFill>
                <a:latin typeface="Arial"/>
              </a:rPr>
              <a:t>A fan-out is row multiplication from joining two independent one-to-many tables to the same parent.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22 / 40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Fan-Out Inflates Sums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6035040" cy="1816608"/>
          </a:xfrm>
          <a:prstGeom prst="roundRect">
            <a:avLst>
              <a:gd name="adj" fmla="val 402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632703" cy="1523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SELECT o.order_id,</a:t>
            </a:r>
          </a:p>
          <a:p>
            <a:pPr algn="l">
              <a:lnSpc>
                <a:spcPct val="100000"/>
              </a:lnSpc>
            </a:pPr>
            <a:r>
              <a:rPr sz="1250">
                <a:solidFill>
                  <a:srgbClr val="1A1A1A"/>
                </a:solidFill>
                <a:latin typeface="Courier New"/>
              </a:rPr>
              <a:t>       SUM(pay.amount) AS payments_total_wrong,</a:t>
            </a:r>
          </a:p>
          <a:p>
            <a:pPr algn="l">
              <a:lnSpc>
                <a:spcPct val="100000"/>
              </a:lnSpc>
            </a:pPr>
            <a:r>
              <a:rPr sz="1250">
                <a:solidFill>
                  <a:srgbClr val="1A1A1A"/>
                </a:solidFill>
                <a:latin typeface="Courier New"/>
              </a:rPr>
              <a:t>       SUM(i.quantity * i.unit_price) AS items_total_wrong</a:t>
            </a:r>
          </a:p>
          <a:p>
            <a:pPr algn="l">
              <a:lnSpc>
                <a:spcPct val="100000"/>
              </a:lnSpc>
            </a:pPr>
            <a:r>
              <a:rPr sz="1250">
                <a:solidFill>
                  <a:srgbClr val="1A1A1A"/>
                </a:solidFill>
                <a:latin typeface="Courier New"/>
              </a:rPr>
              <a:t>FROM orders AS o</a:t>
            </a:r>
          </a:p>
          <a:p>
            <a:pPr algn="l">
              <a:lnSpc>
                <a:spcPct val="100000"/>
              </a:lnSpc>
            </a:pPr>
            <a:r>
              <a:rPr sz="1250">
                <a:solidFill>
                  <a:srgbClr val="1A1A1A"/>
                </a:solidFill>
                <a:latin typeface="Courier New"/>
              </a:rPr>
              <a:t>INNER JOIN order_items AS i   ON i.order_id   = o.order_id</a:t>
            </a:r>
          </a:p>
          <a:p>
            <a:pPr algn="l">
              <a:lnSpc>
                <a:spcPct val="100000"/>
              </a:lnSpc>
            </a:pPr>
            <a:r>
              <a:rPr sz="1250">
                <a:solidFill>
                  <a:srgbClr val="1A1A1A"/>
                </a:solidFill>
                <a:latin typeface="Courier New"/>
              </a:rPr>
              <a:t>INNER JOIN payments    AS pay ON pay.order_id = o.order_id</a:t>
            </a:r>
          </a:p>
          <a:p>
            <a:pPr algn="l">
              <a:lnSpc>
                <a:spcPct val="100000"/>
              </a:lnSpc>
            </a:pPr>
            <a:r>
              <a:rPr sz="1250">
                <a:solidFill>
                  <a:srgbClr val="1A1A1A"/>
                </a:solidFill>
                <a:latin typeface="Courier New"/>
              </a:rPr>
              <a:t>WHERE o.order_id = 102</a:t>
            </a:r>
          </a:p>
          <a:p>
            <a:pPr algn="l">
              <a:lnSpc>
                <a:spcPct val="100000"/>
              </a:lnSpc>
            </a:pPr>
            <a:r>
              <a:rPr sz="1250">
                <a:solidFill>
                  <a:srgbClr val="1A1A1A"/>
                </a:solidFill>
                <a:latin typeface="Courier New"/>
              </a:rPr>
              <a:t>GROUP BY o.order_id;</a:t>
            </a:r>
          </a:p>
        </p:txBody>
      </p:sp>
      <p:sp>
        <p:nvSpPr>
          <p:cNvPr id="6" name="TextBox 5"/>
          <p:cNvSpPr txBox="1"/>
          <p:nvPr/>
        </p:nvSpPr>
        <p:spPr>
          <a:xfrm>
            <a:off x="7010704" y="1783080"/>
            <a:ext cx="457108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Result: </a:t>
            </a:r>
            <a:r>
              <a:rPr sz="1200" b="0" i="0">
                <a:solidFill>
                  <a:srgbClr val="330066"/>
                </a:solidFill>
                <a:latin typeface="Courier New"/>
              </a:rPr>
              <a:t>payments_total_wrong</a:t>
            </a:r>
            <a:r>
              <a:rPr sz="1250" b="0" i="0">
                <a:solidFill>
                  <a:srgbClr val="1A1A1A"/>
                </a:solidFill>
                <a:latin typeface="Arial"/>
              </a:rPr>
              <a:t> 121.92 and </a:t>
            </a:r>
            <a:r>
              <a:rPr sz="1200" b="0" i="0">
                <a:solidFill>
                  <a:srgbClr val="330066"/>
                </a:solidFill>
                <a:latin typeface="Courier New"/>
              </a:rPr>
              <a:t>items_total_wrong</a:t>
            </a:r>
            <a:r>
              <a:rPr sz="1250" b="0" i="0">
                <a:solidFill>
                  <a:srgbClr val="1A1A1A"/>
                </a:solidFill>
                <a:latin typeface="Arial"/>
              </a:rPr>
              <a:t> 60.96.</a:t>
            </a:r>
          </a:p>
          <a:p>
            <a:pPr marL="228600" indent="-228600" algn="l">
              <a:spcAft>
                <a:spcPts val="800"/>
              </a:spcAft>
              <a:buFont typeface="Arial"/>
              <a:buChar char="•"/>
            </a:pPr>
            <a:r>
              <a:rPr sz="1250" b="0" i="0">
                <a:solidFill>
                  <a:srgbClr val="1A1A1A"/>
                </a:solidFill>
                <a:latin typeface="Arial"/>
              </a:rPr>
              <a:t>True payments total is 60.96 (two rows of 30.48); true items total is 30.48. Both doubled: every row is repeated twice.</a:t>
            </a:r>
          </a:p>
          <a:p>
            <a:pPr marL="228600" indent="-228600" algn="l">
              <a:spcAft>
                <a:spcPts val="800"/>
              </a:spcAft>
              <a:buFont typeface="Arial"/>
              <a:buChar char="•"/>
            </a:pPr>
            <a:r>
              <a:rPr sz="1250" b="0" i="0">
                <a:solidFill>
                  <a:srgbClr val="1A1A1A"/>
                </a:solidFill>
                <a:latin typeface="Arial"/>
              </a:rPr>
              <a:t>Fix: aggregate each child table separately first (as a subquery), then join the one-row-per-order results.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23 / 40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Fix: Pre-Aggregate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10424160" cy="1969008"/>
          </a:xfrm>
          <a:prstGeom prst="roundRect">
            <a:avLst>
              <a:gd name="adj" fmla="val 371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10021824" cy="1676400"/>
          </a:xfrm>
          <a:prstGeom prst="rect">
            <a:avLst/>
          </a:prstGeom>
          <a:noFill/>
        </p:spPr>
        <p:txBody>
          <a:bodyPr wrap="square" lIns="0" tIns="0" rIns="0" bIns="0">
            <a:spAutoFit/>
          </a:bodyPr>
          <a:lstStyle/>
          <a:p>
            <a:pPr algn="l">
              <a:lnSpc>
                <a:spcPct val="100000"/>
              </a:lnSpc>
            </a:pPr>
            <a:r>
              <a:rPr sz="1100">
                <a:solidFill>
                  <a:srgbClr val="1A1A1A"/>
                </a:solidFill>
                <a:latin typeface="Courier New"/>
              </a:rPr>
              <a:t>SELECT o.order_id,</a:t>
            </a:r>
          </a:p>
          <a:p>
            <a:pPr algn="l">
              <a:lnSpc>
                <a:spcPct val="100000"/>
              </a:lnSpc>
            </a:pPr>
            <a:r>
              <a:rPr sz="1100">
                <a:solidFill>
                  <a:srgbClr val="1A1A1A"/>
                </a:solidFill>
                <a:latin typeface="Courier New"/>
              </a:rPr>
              <a:t>       o.total_amount        AS header_total,</a:t>
            </a:r>
          </a:p>
          <a:p>
            <a:pPr algn="l">
              <a:lnSpc>
                <a:spcPct val="100000"/>
              </a:lnSpc>
            </a:pPr>
            <a:r>
              <a:rPr sz="1100">
                <a:solidFill>
                  <a:srgbClr val="1A1A1A"/>
                </a:solidFill>
                <a:latin typeface="Courier New"/>
              </a:rPr>
              <a:t>       it.items_total,</a:t>
            </a:r>
          </a:p>
          <a:p>
            <a:pPr algn="l">
              <a:lnSpc>
                <a:spcPct val="100000"/>
              </a:lnSpc>
            </a:pPr>
            <a:r>
              <a:rPr sz="1100">
                <a:solidFill>
                  <a:srgbClr val="1A1A1A"/>
                </a:solidFill>
                <a:latin typeface="Courier New"/>
              </a:rPr>
              <a:t>       pa.paid_total</a:t>
            </a:r>
          </a:p>
          <a:p>
            <a:pPr algn="l">
              <a:lnSpc>
                <a:spcPct val="100000"/>
              </a:lnSpc>
            </a:pPr>
            <a:r>
              <a:rPr sz="1100">
                <a:solidFill>
                  <a:srgbClr val="1A1A1A"/>
                </a:solidFill>
                <a:latin typeface="Courier New"/>
              </a:rPr>
              <a:t>FROM orders AS o</a:t>
            </a:r>
          </a:p>
          <a:p>
            <a:pPr algn="l">
              <a:lnSpc>
                <a:spcPct val="100000"/>
              </a:lnSpc>
            </a:pPr>
            <a:r>
              <a:rPr sz="1100">
                <a:solidFill>
                  <a:srgbClr val="1A1A1A"/>
                </a:solidFill>
                <a:latin typeface="Courier New"/>
              </a:rPr>
              <a:t>LEFT JOIN (SELECT order_id, SUM(quantity * unit_price) AS items_total</a:t>
            </a:r>
          </a:p>
          <a:p>
            <a:pPr algn="l">
              <a:lnSpc>
                <a:spcPct val="100000"/>
              </a:lnSpc>
            </a:pPr>
            <a:r>
              <a:rPr sz="1100">
                <a:solidFill>
                  <a:srgbClr val="1A1A1A"/>
                </a:solidFill>
                <a:latin typeface="Courier New"/>
              </a:rPr>
              <a:t>           FROM order_items GROUP BY order_id) AS it ON it.order_id = o.order_id</a:t>
            </a:r>
          </a:p>
          <a:p>
            <a:pPr algn="l">
              <a:lnSpc>
                <a:spcPct val="100000"/>
              </a:lnSpc>
            </a:pPr>
            <a:r>
              <a:rPr sz="1100">
                <a:solidFill>
                  <a:srgbClr val="1A1A1A"/>
                </a:solidFill>
                <a:latin typeface="Courier New"/>
              </a:rPr>
              <a:t>LEFT JOIN (SELECT order_id, SUM(amount) AS paid_total</a:t>
            </a:r>
          </a:p>
          <a:p>
            <a:pPr algn="l">
              <a:lnSpc>
                <a:spcPct val="100000"/>
              </a:lnSpc>
            </a:pPr>
            <a:r>
              <a:rPr sz="1100">
                <a:solidFill>
                  <a:srgbClr val="1A1A1A"/>
                </a:solidFill>
                <a:latin typeface="Courier New"/>
              </a:rPr>
              <a:t>           FROM payments WHERE status = 'paid' GROUP BY order_id) AS pa ON pa.order_id = o.order_id</a:t>
            </a:r>
          </a:p>
          <a:p>
            <a:pPr algn="l">
              <a:lnSpc>
                <a:spcPct val="100000"/>
              </a:lnSpc>
            </a:pPr>
            <a:r>
              <a:rPr sz="1100">
                <a:solidFill>
                  <a:srgbClr val="1A1A1A"/>
                </a:solidFill>
                <a:latin typeface="Courier New"/>
              </a:rPr>
              <a:t>ORDER BY o.order_id;</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24 / 40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Reading the Integrity Report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Each derived table has exactly one row per order, so no multiplication can happen.</a:t>
            </a:r>
          </a:p>
          <a:p>
            <a:pPr marL="228600" indent="-228600" algn="l">
              <a:spcAft>
                <a:spcPts val="1000"/>
              </a:spcAft>
              <a:buFont typeface="Arial"/>
              <a:buChar char="•"/>
            </a:pPr>
            <a:r>
              <a:rPr sz="1700" b="0" i="0">
                <a:solidFill>
                  <a:srgbClr val="1A1A1A"/>
                </a:solidFill>
                <a:latin typeface="Arial"/>
              </a:rPr>
              <a:t>101, 104: header, items and paid all agree.</a:t>
            </a:r>
          </a:p>
          <a:p>
            <a:pPr marL="228600" indent="-228600" algn="l">
              <a:spcAft>
                <a:spcPts val="1000"/>
              </a:spcAft>
              <a:buFont typeface="Arial"/>
              <a:buChar char="•"/>
            </a:pPr>
            <a:r>
              <a:rPr sz="1700" b="0" i="0">
                <a:solidFill>
                  <a:srgbClr val="1A1A1A"/>
                </a:solidFill>
                <a:latin typeface="Arial"/>
              </a:rPr>
              <a:t>102: items 30.48 but paid 60.96, the double payment.</a:t>
            </a:r>
          </a:p>
          <a:p>
            <a:pPr marL="228600" indent="-228600" algn="l">
              <a:spcAft>
                <a:spcPts val="1000"/>
              </a:spcAft>
              <a:buFont typeface="Arial"/>
              <a:buChar char="•"/>
            </a:pPr>
            <a:r>
              <a:rPr sz="1700" b="0" i="0">
                <a:solidFill>
                  <a:srgbClr val="1A1A1A"/>
                </a:solidFill>
                <a:latin typeface="Arial"/>
              </a:rPr>
              <a:t>103: header 150, items 300 (the duplicate item row).</a:t>
            </a:r>
          </a:p>
          <a:p>
            <a:pPr marL="228600" indent="-228600" algn="l">
              <a:spcAft>
                <a:spcPts val="1000"/>
              </a:spcAft>
              <a:buFont typeface="Arial"/>
              <a:buChar char="•"/>
            </a:pPr>
            <a:r>
              <a:rPr sz="1700" b="0" i="0">
                <a:solidFill>
                  <a:srgbClr val="1A1A1A"/>
                </a:solidFill>
                <a:latin typeface="Arial"/>
              </a:rPr>
              <a:t>105: items match the header, no payment (pending, probably fine). 106: items match, no </a:t>
            </a:r>
            <a:r>
              <a:rPr sz="1650" b="0" i="0">
                <a:solidFill>
                  <a:srgbClr val="330066"/>
                </a:solidFill>
                <a:latin typeface="Courier New"/>
              </a:rPr>
              <a:t>paid</a:t>
            </a:r>
            <a:r>
              <a:rPr sz="1700" b="0" i="0">
                <a:solidFill>
                  <a:srgbClr val="1A1A1A"/>
                </a:solidFill>
                <a:latin typeface="Arial"/>
              </a:rPr>
              <a:t> payment because it was refunded (cancelled order).</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25 / 40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Reading the Integrity Report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107 and 108: numbers internally consistent, but the customer is missing (found by other checks).</a:t>
            </a:r>
          </a:p>
          <a:p>
            <a:pPr marL="228600" indent="-228600" algn="l">
              <a:spcAft>
                <a:spcPts val="1000"/>
              </a:spcAft>
              <a:buFont typeface="Arial"/>
              <a:buChar char="•"/>
            </a:pPr>
            <a:r>
              <a:rPr sz="1700" b="0" i="0">
                <a:solidFill>
                  <a:srgbClr val="1A1A1A"/>
                </a:solidFill>
                <a:latin typeface="Arial"/>
              </a:rPr>
              <a:t>109: header 80 but no items.</a:t>
            </a:r>
          </a:p>
          <a:p>
            <a:pPr marL="228600" indent="-228600" algn="l">
              <a:spcAft>
                <a:spcPts val="1000"/>
              </a:spcAft>
              <a:buFont typeface="Arial"/>
              <a:buChar char="•"/>
            </a:pPr>
            <a:r>
              <a:rPr sz="1700" b="0" i="0">
                <a:solidFill>
                  <a:srgbClr val="1A1A1A"/>
                </a:solidFill>
                <a:latin typeface="Arial"/>
              </a:rPr>
              <a:t>110: header 55, items 50, paid 55.</a:t>
            </a:r>
          </a:p>
          <a:p>
            <a:pPr marL="228600" indent="-228600" algn="l">
              <a:spcAft>
                <a:spcPts val="1000"/>
              </a:spcAft>
              <a:buFont typeface="Arial"/>
              <a:buChar char="•"/>
            </a:pPr>
            <a:r>
              <a:rPr sz="1700" b="0" i="0">
                <a:solidFill>
                  <a:srgbClr val="1A1A1A"/>
                </a:solidFill>
                <a:latin typeface="Arial"/>
              </a:rPr>
              <a:t>111: all three agree, but the item's product does not exist. 112: negative items total, no payment.</a:t>
            </a:r>
          </a:p>
          <a:p>
            <a:pPr marL="228600" indent="-228600" algn="l">
              <a:spcAft>
                <a:spcPts val="1000"/>
              </a:spcAft>
              <a:buFont typeface="Arial"/>
              <a:buChar char="•"/>
            </a:pPr>
            <a:r>
              <a:rPr sz="1700" b="0" i="0">
                <a:solidFill>
                  <a:srgbClr val="1A1A1A"/>
                </a:solidFill>
                <a:latin typeface="Arial"/>
              </a:rPr>
              <a:t>This single table is a miniature order integrity report built from four tables; similar queries appear in the validation lesson and Project 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26 /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Reports and Self Joins</a:t>
            </a:r>
          </a:p>
        </p:txBody>
      </p:sp>
      <p:sp>
        <p:nvSpPr>
          <p:cNvPr id="3" name="Text Placeholder 2"/>
          <p:cNvSpPr>
            <a:spLocks noGrp="1"/>
          </p:cNvSpPr>
          <p:nvPr>
            <p:ph type="body" idx="1"/>
          </p:nvPr>
        </p:nvSpPr>
        <p:spPr/>
        <p:txBody>
          <a:bodyPr/>
          <a:lstStyle/>
          <a:p>
            <a:r>
              <a:rPr sz="1800">
                <a:solidFill>
                  <a:srgbClr val="5A5A5A"/>
                </a:solidFill>
              </a:rPr>
              <a:t>Aggregating across tables and comparing rows within one table</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05</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27 / 40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Revenue per Customer per Category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customers -&gt; orders -&gt; items -&gt; products.</a:t>
            </a:r>
          </a:p>
        </p:txBody>
      </p:sp>
      <p:sp>
        <p:nvSpPr>
          <p:cNvPr id="5" name="Rounded Rectangle 4"/>
          <p:cNvSpPr/>
          <p:nvPr/>
        </p:nvSpPr>
        <p:spPr>
          <a:xfrm>
            <a:off x="609904" y="2221991"/>
            <a:ext cx="5852160" cy="2045207"/>
          </a:xfrm>
          <a:prstGeom prst="roundRect">
            <a:avLst>
              <a:gd name="adj" fmla="val 357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449824" cy="1752599"/>
          </a:xfrm>
          <a:prstGeom prst="rect">
            <a:avLst/>
          </a:prstGeom>
          <a:noFill/>
        </p:spPr>
        <p:txBody>
          <a:bodyPr wrap="square" lIns="0" tIns="0" rIns="0" bIns="0">
            <a:spAutoFit/>
          </a:bodyPr>
          <a:lstStyle/>
          <a:p>
            <a:pPr algn="l">
              <a:lnSpc>
                <a:spcPct val="100000"/>
              </a:lnSpc>
            </a:pPr>
            <a:r>
              <a:rPr sz="1150">
                <a:solidFill>
                  <a:srgbClr val="1A1A1A"/>
                </a:solidFill>
                <a:latin typeface="Courier New"/>
              </a:rPr>
              <a:t>SELECT c.full_name,</a:t>
            </a:r>
          </a:p>
          <a:p>
            <a:pPr algn="l">
              <a:lnSpc>
                <a:spcPct val="100000"/>
              </a:lnSpc>
            </a:pPr>
            <a:r>
              <a:rPr sz="1150">
                <a:solidFill>
                  <a:srgbClr val="1A1A1A"/>
                </a:solidFill>
                <a:latin typeface="Courier New"/>
              </a:rPr>
              <a:t>       p.category,</a:t>
            </a:r>
          </a:p>
          <a:p>
            <a:pPr algn="l">
              <a:lnSpc>
                <a:spcPct val="100000"/>
              </a:lnSpc>
            </a:pPr>
            <a:r>
              <a:rPr sz="1150">
                <a:solidFill>
                  <a:srgbClr val="1A1A1A"/>
                </a:solidFill>
                <a:latin typeface="Courier New"/>
              </a:rPr>
              <a:t>       SUM(i.quantity * i.unit_price) AS revenue</a:t>
            </a:r>
          </a:p>
          <a:p>
            <a:pPr algn="l">
              <a:lnSpc>
                <a:spcPct val="100000"/>
              </a:lnSpc>
            </a:pPr>
            <a:r>
              <a:rPr sz="1150">
                <a:solidFill>
                  <a:srgbClr val="1A1A1A"/>
                </a:solidFill>
                <a:latin typeface="Courier New"/>
              </a:rPr>
              <a:t>FROM customers   AS c</a:t>
            </a:r>
          </a:p>
          <a:p>
            <a:pPr algn="l">
              <a:lnSpc>
                <a:spcPct val="100000"/>
              </a:lnSpc>
            </a:pPr>
            <a:r>
              <a:rPr sz="1150">
                <a:solidFill>
                  <a:srgbClr val="1A1A1A"/>
                </a:solidFill>
                <a:latin typeface="Courier New"/>
              </a:rPr>
              <a:t>INNER JOIN orders      AS o ON o.customer_id = c.customer_id</a:t>
            </a:r>
          </a:p>
          <a:p>
            <a:pPr algn="l">
              <a:lnSpc>
                <a:spcPct val="100000"/>
              </a:lnSpc>
            </a:pPr>
            <a:r>
              <a:rPr sz="1150">
                <a:solidFill>
                  <a:srgbClr val="1A1A1A"/>
                </a:solidFill>
                <a:latin typeface="Courier New"/>
              </a:rPr>
              <a:t>INNER JOIN order_items AS i ON i.order_id    = o.order_id</a:t>
            </a:r>
          </a:p>
          <a:p>
            <a:pPr algn="l">
              <a:lnSpc>
                <a:spcPct val="100000"/>
              </a:lnSpc>
            </a:pPr>
            <a:r>
              <a:rPr sz="1150">
                <a:solidFill>
                  <a:srgbClr val="1A1A1A"/>
                </a:solidFill>
                <a:latin typeface="Courier New"/>
              </a:rPr>
              <a:t>INNER JOIN products    AS p ON p.product_id  = i.product_id</a:t>
            </a:r>
          </a:p>
          <a:p>
            <a:pPr algn="l">
              <a:lnSpc>
                <a:spcPct val="100000"/>
              </a:lnSpc>
            </a:pPr>
            <a:r>
              <a:rPr sz="1150">
                <a:solidFill>
                  <a:srgbClr val="1A1A1A"/>
                </a:solidFill>
                <a:latin typeface="Courier New"/>
              </a:rPr>
              <a:t>WHERE o.status &lt;&gt; 'cancelled'</a:t>
            </a:r>
          </a:p>
          <a:p>
            <a:pPr algn="l">
              <a:lnSpc>
                <a:spcPct val="100000"/>
              </a:lnSpc>
            </a:pPr>
            <a:r>
              <a:rPr sz="1150">
                <a:solidFill>
                  <a:srgbClr val="1A1A1A"/>
                </a:solidFill>
                <a:latin typeface="Courier New"/>
              </a:rPr>
              <a:t>GROUP BY c.customer_id, c.full_name, p.category</a:t>
            </a:r>
          </a:p>
          <a:p>
            <a:pPr algn="l">
              <a:lnSpc>
                <a:spcPct val="100000"/>
              </a:lnSpc>
            </a:pPr>
            <a:r>
              <a:rPr sz="1150">
                <a:solidFill>
                  <a:srgbClr val="1A1A1A"/>
                </a:solidFill>
                <a:latin typeface="Courier New"/>
              </a:rPr>
              <a:t>ORDER BY c.full_name, p.category;</a:t>
            </a:r>
          </a:p>
        </p:txBody>
      </p:sp>
      <p:sp>
        <p:nvSpPr>
          <p:cNvPr id="7" name="TextBox 6"/>
          <p:cNvSpPr txBox="1"/>
          <p:nvPr/>
        </p:nvSpPr>
        <p:spPr>
          <a:xfrm>
            <a:off x="6827824" y="2221991"/>
            <a:ext cx="4753965" cy="3922776"/>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Result: 9 rows, for example Alice Johnson: Accessories 19.98, Electronics 1225.0, Stationery 10.5.</a:t>
            </a:r>
          </a:p>
          <a:p>
            <a:pPr marL="228600" indent="-228600" algn="l">
              <a:spcAft>
                <a:spcPts val="800"/>
              </a:spcAft>
              <a:buFont typeface="Arial"/>
              <a:buChar char="•"/>
            </a:pPr>
            <a:r>
              <a:rPr sz="1250" b="0" i="0">
                <a:solidFill>
                  <a:srgbClr val="1A1A1A"/>
                </a:solidFill>
                <a:latin typeface="Arial"/>
              </a:rPr>
              <a:t>Cancelled orders are excluded with a </a:t>
            </a:r>
            <a:r>
              <a:rPr sz="1200" b="0" i="0">
                <a:solidFill>
                  <a:srgbClr val="330066"/>
                </a:solidFill>
                <a:latin typeface="Courier New"/>
              </a:rPr>
              <a:t>WHERE</a:t>
            </a:r>
            <a:r>
              <a:rPr sz="1250" b="0" i="0">
                <a:solidFill>
                  <a:srgbClr val="1A1A1A"/>
                </a:solidFill>
                <a:latin typeface="Arial"/>
              </a:rPr>
              <a:t> condition on </a:t>
            </a:r>
            <a:r>
              <a:rPr sz="1200" b="0" i="0">
                <a:solidFill>
                  <a:srgbClr val="330066"/>
                </a:solidFill>
                <a:latin typeface="Courier New"/>
              </a:rPr>
              <a:t>orders</a:t>
            </a:r>
            <a:r>
              <a:rPr sz="1250" b="0" i="0">
                <a:solidFill>
                  <a:srgbClr val="1A1A1A"/>
                </a:solidFill>
                <a:latin typeface="Arial"/>
              </a:rPr>
              <a:t>.</a:t>
            </a:r>
          </a:p>
          <a:p>
            <a:pPr marL="228600" indent="-228600" algn="l">
              <a:spcAft>
                <a:spcPts val="800"/>
              </a:spcAft>
              <a:buFont typeface="Arial"/>
              <a:buChar char="•"/>
            </a:pPr>
            <a:r>
              <a:rPr sz="1250" b="0" i="0">
                <a:solidFill>
                  <a:srgbClr val="1A1A1A"/>
                </a:solidFill>
                <a:latin typeface="Arial"/>
              </a:rPr>
              <a:t>Grouping by </a:t>
            </a:r>
            <a:r>
              <a:rPr sz="1200" b="0" i="0">
                <a:solidFill>
                  <a:srgbClr val="330066"/>
                </a:solidFill>
                <a:latin typeface="Courier New"/>
              </a:rPr>
              <a:t>customer_id</a:t>
            </a:r>
            <a:r>
              <a:rPr sz="1250" b="0" i="0">
                <a:solidFill>
                  <a:srgbClr val="1A1A1A"/>
                </a:solidFill>
                <a:latin typeface="Arial"/>
              </a:rPr>
              <a:t> and name keeps the two Bob Smiths apart (customer 8 has no orders anyway).</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28 / 40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Open Defects and Who Bought Them</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Five tables.</a:t>
            </a:r>
          </a:p>
        </p:txBody>
      </p:sp>
      <p:sp>
        <p:nvSpPr>
          <p:cNvPr id="5" name="Rounded Rectangle 4"/>
          <p:cNvSpPr/>
          <p:nvPr/>
        </p:nvSpPr>
        <p:spPr>
          <a:xfrm>
            <a:off x="609904" y="2221991"/>
            <a:ext cx="5852160" cy="2045207"/>
          </a:xfrm>
          <a:prstGeom prst="roundRect">
            <a:avLst>
              <a:gd name="adj" fmla="val 357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449824" cy="1752599"/>
          </a:xfrm>
          <a:prstGeom prst="rect">
            <a:avLst/>
          </a:prstGeom>
          <a:noFill/>
        </p:spPr>
        <p:txBody>
          <a:bodyPr wrap="square" lIns="0" tIns="0" rIns="0" bIns="0">
            <a:spAutoFit/>
          </a:bodyPr>
          <a:lstStyle/>
          <a:p>
            <a:pPr algn="l">
              <a:lnSpc>
                <a:spcPct val="100000"/>
              </a:lnSpc>
            </a:pPr>
            <a:r>
              <a:rPr sz="1150">
                <a:solidFill>
                  <a:srgbClr val="1A1A1A"/>
                </a:solidFill>
                <a:latin typeface="Courier New"/>
              </a:rPr>
              <a:t>SELECT d.defect_id, d.title, d.severity,</a:t>
            </a:r>
          </a:p>
          <a:p>
            <a:pPr algn="l">
              <a:lnSpc>
                <a:spcPct val="100000"/>
              </a:lnSpc>
            </a:pPr>
            <a:r>
              <a:rPr sz="1150">
                <a:solidFill>
                  <a:srgbClr val="1A1A1A"/>
                </a:solidFill>
                <a:latin typeface="Courier New"/>
              </a:rPr>
              <a:t>       p.product_name,</a:t>
            </a:r>
          </a:p>
          <a:p>
            <a:pPr algn="l">
              <a:lnSpc>
                <a:spcPct val="100000"/>
              </a:lnSpc>
            </a:pPr>
            <a:r>
              <a:rPr sz="1150">
                <a:solidFill>
                  <a:srgbClr val="1A1A1A"/>
                </a:solidFill>
                <a:latin typeface="Courier New"/>
              </a:rPr>
              <a:t>       o.order_id, c.full_name</a:t>
            </a:r>
          </a:p>
          <a:p>
            <a:pPr algn="l">
              <a:lnSpc>
                <a:spcPct val="100000"/>
              </a:lnSpc>
            </a:pPr>
            <a:r>
              <a:rPr sz="1150">
                <a:solidFill>
                  <a:srgbClr val="1A1A1A"/>
                </a:solidFill>
                <a:latin typeface="Courier New"/>
              </a:rPr>
              <a:t>FROM defects AS d</a:t>
            </a:r>
          </a:p>
          <a:p>
            <a:pPr algn="l">
              <a:lnSpc>
                <a:spcPct val="100000"/>
              </a:lnSpc>
            </a:pPr>
            <a:r>
              <a:rPr sz="1150">
                <a:solidFill>
                  <a:srgbClr val="1A1A1A"/>
                </a:solidFill>
                <a:latin typeface="Courier New"/>
              </a:rPr>
              <a:t>INNER JOIN products    AS p ON p.product_id  = d.product_id</a:t>
            </a:r>
          </a:p>
          <a:p>
            <a:pPr algn="l">
              <a:lnSpc>
                <a:spcPct val="100000"/>
              </a:lnSpc>
            </a:pPr>
            <a:r>
              <a:rPr sz="1150">
                <a:solidFill>
                  <a:srgbClr val="1A1A1A"/>
                </a:solidFill>
                <a:latin typeface="Courier New"/>
              </a:rPr>
              <a:t>INNER JOIN order_items AS i ON i.product_id  = p.product_id</a:t>
            </a:r>
          </a:p>
          <a:p>
            <a:pPr algn="l">
              <a:lnSpc>
                <a:spcPct val="100000"/>
              </a:lnSpc>
            </a:pPr>
            <a:r>
              <a:rPr sz="1150">
                <a:solidFill>
                  <a:srgbClr val="1A1A1A"/>
                </a:solidFill>
                <a:latin typeface="Courier New"/>
              </a:rPr>
              <a:t>INNER JOIN orders      AS o ON o.order_id    = i.order_id</a:t>
            </a:r>
          </a:p>
          <a:p>
            <a:pPr algn="l">
              <a:lnSpc>
                <a:spcPct val="100000"/>
              </a:lnSpc>
            </a:pPr>
            <a:r>
              <a:rPr sz="1150">
                <a:solidFill>
                  <a:srgbClr val="1A1A1A"/>
                </a:solidFill>
                <a:latin typeface="Courier New"/>
              </a:rPr>
              <a:t>INNER JOIN customers   AS c ON c.customer_id = o.customer_id</a:t>
            </a:r>
          </a:p>
          <a:p>
            <a:pPr algn="l">
              <a:lnSpc>
                <a:spcPct val="100000"/>
              </a:lnSpc>
            </a:pPr>
            <a:r>
              <a:rPr sz="1150">
                <a:solidFill>
                  <a:srgbClr val="1A1A1A"/>
                </a:solidFill>
                <a:latin typeface="Courier New"/>
              </a:rPr>
              <a:t>WHERE d.status = 'open'</a:t>
            </a:r>
          </a:p>
          <a:p>
            <a:pPr algn="l">
              <a:lnSpc>
                <a:spcPct val="100000"/>
              </a:lnSpc>
            </a:pPr>
            <a:r>
              <a:rPr sz="1150">
                <a:solidFill>
                  <a:srgbClr val="1A1A1A"/>
                </a:solidFill>
                <a:latin typeface="Courier New"/>
              </a:rPr>
              <a:t>ORDER BY d.defect_id, o.order_id;</a:t>
            </a:r>
          </a:p>
        </p:txBody>
      </p:sp>
      <p:sp>
        <p:nvSpPr>
          <p:cNvPr id="7" name="TextBox 6"/>
          <p:cNvSpPr txBox="1"/>
          <p:nvPr/>
        </p:nvSpPr>
        <p:spPr>
          <a:xfrm>
            <a:off x="6827824" y="2221991"/>
            <a:ext cx="4753965" cy="3922776"/>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Answers a real triage question: who is impacted by each open defect?</a:t>
            </a:r>
          </a:p>
          <a:p>
            <a:pPr marL="228600" indent="-228600" algn="l">
              <a:spcAft>
                <a:spcPts val="800"/>
              </a:spcAft>
              <a:buFont typeface="Arial"/>
              <a:buChar char="•"/>
            </a:pPr>
            <a:r>
              <a:rPr sz="1250" b="0" i="0">
                <a:solidFill>
                  <a:srgbClr val="1A1A1A"/>
                </a:solidFill>
                <a:latin typeface="Arial"/>
              </a:rPr>
              <a:t>Result: 7 rows. Defect 6 (desk chair) lists Bob Smith twice because of the duplicated item row.</a:t>
            </a:r>
          </a:p>
          <a:p>
            <a:pPr marL="228600" indent="-228600" algn="l">
              <a:spcAft>
                <a:spcPts val="800"/>
              </a:spcAft>
              <a:buFont typeface="Arial"/>
              <a:buChar char="•"/>
            </a:pPr>
            <a:r>
              <a:rPr sz="1250" b="0" i="0">
                <a:solidFill>
                  <a:srgbClr val="1A1A1A"/>
                </a:solidFill>
                <a:latin typeface="Arial"/>
              </a:rPr>
              <a:t>Defect 3 (no product) cannot be connected to any customer and is absent.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29 / 40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Self Join: Same Email</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A self join joins a table to another copy of itself with two aliases.</a:t>
            </a:r>
          </a:p>
        </p:txBody>
      </p:sp>
      <p:sp>
        <p:nvSpPr>
          <p:cNvPr id="5" name="Rounded Rectangle 4"/>
          <p:cNvSpPr/>
          <p:nvPr/>
        </p:nvSpPr>
        <p:spPr>
          <a:xfrm>
            <a:off x="609904" y="2221991"/>
            <a:ext cx="585216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44982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SELECT a.customer_id AS id_a, b.customer_id AS id_b, a.full_name, a.email</a:t>
            </a:r>
          </a:p>
          <a:p>
            <a:pPr algn="l">
              <a:lnSpc>
                <a:spcPct val="100000"/>
              </a:lnSpc>
            </a:pPr>
            <a:r>
              <a:rPr sz="1000">
                <a:solidFill>
                  <a:srgbClr val="1A1A1A"/>
                </a:solidFill>
                <a:latin typeface="Courier New"/>
              </a:rPr>
              <a:t>FROM customers AS a</a:t>
            </a:r>
          </a:p>
          <a:p>
            <a:pPr algn="l">
              <a:lnSpc>
                <a:spcPct val="100000"/>
              </a:lnSpc>
            </a:pPr>
            <a:r>
              <a:rPr sz="1000">
                <a:solidFill>
                  <a:srgbClr val="1A1A1A"/>
                </a:solidFill>
                <a:latin typeface="Courier New"/>
              </a:rPr>
              <a:t>INNER JOIN customers AS b</a:t>
            </a:r>
          </a:p>
          <a:p>
            <a:pPr algn="l">
              <a:lnSpc>
                <a:spcPct val="100000"/>
              </a:lnSpc>
            </a:pPr>
            <a:r>
              <a:rPr sz="1000">
                <a:solidFill>
                  <a:srgbClr val="1A1A1A"/>
                </a:solidFill>
                <a:latin typeface="Courier New"/>
              </a:rPr>
              <a:t>        ON a.email = b.email</a:t>
            </a:r>
          </a:p>
          <a:p>
            <a:pPr algn="l">
              <a:lnSpc>
                <a:spcPct val="100000"/>
              </a:lnSpc>
            </a:pPr>
            <a:r>
              <a:rPr sz="1000">
                <a:solidFill>
                  <a:srgbClr val="1A1A1A"/>
                </a:solidFill>
                <a:latin typeface="Courier New"/>
              </a:rPr>
              <a:t>       AND a.customer_id &lt; b.customer_id</a:t>
            </a:r>
          </a:p>
          <a:p>
            <a:pPr algn="l">
              <a:lnSpc>
                <a:spcPct val="100000"/>
              </a:lnSpc>
            </a:pPr>
            <a:r>
              <a:rPr sz="1000">
                <a:solidFill>
                  <a:srgbClr val="1A1A1A"/>
                </a:solidFill>
                <a:latin typeface="Courier New"/>
              </a:rPr>
              <a:t>ORDER BY a.customer_id;</a:t>
            </a:r>
          </a:p>
        </p:txBody>
      </p:sp>
      <p:sp>
        <p:nvSpPr>
          <p:cNvPr id="7" name="TextBox 6"/>
          <p:cNvSpPr txBox="1"/>
          <p:nvPr/>
        </p:nvSpPr>
        <p:spPr>
          <a:xfrm>
            <a:off x="6827824" y="2221991"/>
            <a:ext cx="4753965" cy="3922776"/>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Result: customers 2 and 8, Bob Smith.</a:t>
            </a:r>
          </a:p>
          <a:p>
            <a:pPr marL="228600" indent="-228600" algn="l">
              <a:spcAft>
                <a:spcPts val="800"/>
              </a:spcAft>
              <a:buFont typeface="Arial"/>
              <a:buChar char="•"/>
            </a:pPr>
            <a:r>
              <a:rPr sz="1200" b="0" i="0">
                <a:solidFill>
                  <a:srgbClr val="330066"/>
                </a:solidFill>
                <a:latin typeface="Courier New"/>
              </a:rPr>
              <a:t>a.customer_id &lt; b.customer_id</a:t>
            </a:r>
            <a:r>
              <a:rPr sz="1250" b="0" i="0">
                <a:solidFill>
                  <a:srgbClr val="1A1A1A"/>
                </a:solidFill>
                <a:latin typeface="Arial"/>
              </a:rPr>
              <a:t> removes self-pairs and mirror pairs: each pair appears once.</a:t>
            </a:r>
          </a:p>
          <a:p>
            <a:pPr marL="228600" indent="-228600" algn="l">
              <a:spcAft>
                <a:spcPts val="800"/>
              </a:spcAft>
              <a:buFont typeface="Arial"/>
              <a:buChar char="•"/>
            </a:pPr>
            <a:r>
              <a:rPr sz="1250" b="0" i="0">
                <a:solidFill>
                  <a:srgbClr val="1A1A1A"/>
                </a:solidFill>
                <a:latin typeface="Arial"/>
              </a:rPr>
              <a:t>Another way to detect duplicates besides </a:t>
            </a:r>
            <a:r>
              <a:rPr sz="1200" b="0" i="0">
                <a:solidFill>
                  <a:srgbClr val="330066"/>
                </a:solidFill>
                <a:latin typeface="Courier New"/>
              </a:rPr>
              <a:t>GROUP BY ... HAVING</a:t>
            </a:r>
            <a:r>
              <a:rPr sz="1250" b="0" i="0">
                <a:solidFill>
                  <a:srgbClr val="1A1A1A"/>
                </a:solidFill>
                <a:latin typeface="Arial"/>
              </a:rPr>
              <a:t>. Customer 6 (NULL email) is not matched: </a:t>
            </a:r>
            <a:r>
              <a:rPr sz="1200" b="0" i="0">
                <a:solidFill>
                  <a:srgbClr val="330066"/>
                </a:solidFill>
                <a:latin typeface="Courier New"/>
              </a:rPr>
              <a:t>NULL = NULL</a:t>
            </a:r>
            <a:r>
              <a:rPr sz="1250" b="0" i="0">
                <a:solidFill>
                  <a:srgbClr val="1A1A1A"/>
                </a:solidFill>
                <a:latin typeface="Arial"/>
              </a:rPr>
              <a:t> is not true.</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30 / 40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Self Join: Earlier and Later Orders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658368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18134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SELECT o1.customer_id, o1.order_id AS earlier_order, o2.order_id AS later_order,</a:t>
            </a:r>
          </a:p>
          <a:p>
            <a:pPr algn="l">
              <a:lnSpc>
                <a:spcPct val="100000"/>
              </a:lnSpc>
            </a:pPr>
            <a:r>
              <a:rPr sz="1000">
                <a:solidFill>
                  <a:srgbClr val="1A1A1A"/>
                </a:solidFill>
                <a:latin typeface="Courier New"/>
              </a:rPr>
              <a:t>       o1.order_date, o2.order_date AS later_date</a:t>
            </a:r>
          </a:p>
          <a:p>
            <a:pPr algn="l">
              <a:lnSpc>
                <a:spcPct val="100000"/>
              </a:lnSpc>
            </a:pPr>
            <a:r>
              <a:rPr sz="1000">
                <a:solidFill>
                  <a:srgbClr val="1A1A1A"/>
                </a:solidFill>
                <a:latin typeface="Courier New"/>
              </a:rPr>
              <a:t>FROM orders AS o1</a:t>
            </a:r>
          </a:p>
          <a:p>
            <a:pPr algn="l">
              <a:lnSpc>
                <a:spcPct val="100000"/>
              </a:lnSpc>
            </a:pPr>
            <a:r>
              <a:rPr sz="1000">
                <a:solidFill>
                  <a:srgbClr val="1A1A1A"/>
                </a:solidFill>
                <a:latin typeface="Courier New"/>
              </a:rPr>
              <a:t>INNER JOIN orders AS o2</a:t>
            </a:r>
          </a:p>
          <a:p>
            <a:pPr algn="l">
              <a:lnSpc>
                <a:spcPct val="100000"/>
              </a:lnSpc>
            </a:pPr>
            <a:r>
              <a:rPr sz="1000">
                <a:solidFill>
                  <a:srgbClr val="1A1A1A"/>
                </a:solidFill>
                <a:latin typeface="Courier New"/>
              </a:rPr>
              <a:t>        ON o1.customer_id = o2.customer_id</a:t>
            </a:r>
          </a:p>
          <a:p>
            <a:pPr algn="l">
              <a:lnSpc>
                <a:spcPct val="100000"/>
              </a:lnSpc>
            </a:pPr>
            <a:r>
              <a:rPr sz="1000">
                <a:solidFill>
                  <a:srgbClr val="1A1A1A"/>
                </a:solidFill>
                <a:latin typeface="Courier New"/>
              </a:rPr>
              <a:t>       AND o1.order_date &lt; o2.order_date</a:t>
            </a:r>
          </a:p>
          <a:p>
            <a:pPr algn="l">
              <a:lnSpc>
                <a:spcPct val="100000"/>
              </a:lnSpc>
            </a:pPr>
            <a:r>
              <a:rPr sz="1000">
                <a:solidFill>
                  <a:srgbClr val="1A1A1A"/>
                </a:solidFill>
                <a:latin typeface="Courier New"/>
              </a:rPr>
              <a:t>ORDER BY o1.customer_id, o1.order_date;</a:t>
            </a:r>
          </a:p>
        </p:txBody>
      </p:sp>
      <p:sp>
        <p:nvSpPr>
          <p:cNvPr id="6" name="TextBox 5"/>
          <p:cNvSpPr txBox="1"/>
          <p:nvPr/>
        </p:nvSpPr>
        <p:spPr>
          <a:xfrm>
            <a:off x="7559344" y="1783080"/>
            <a:ext cx="402244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Pairs of orders by one customer, earlier then later.</a:t>
            </a:r>
          </a:p>
          <a:p>
            <a:pPr marL="228600" indent="-228600" algn="l">
              <a:spcAft>
                <a:spcPts val="800"/>
              </a:spcAft>
              <a:buFont typeface="Arial"/>
              <a:buChar char="•"/>
            </a:pPr>
            <a:r>
              <a:rPr sz="1300" b="0" i="0">
                <a:solidFill>
                  <a:srgbClr val="1A1A1A"/>
                </a:solidFill>
                <a:latin typeface="Arial"/>
              </a:rPr>
              <a:t>Result: 4 pairs: (101, 102), (103, 110), (104, 111), (109, 112).</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31 / 40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Order Integrity Validation</a:t>
            </a:r>
          </a:p>
        </p:txBody>
      </p:sp>
      <p:sp>
        <p:nvSpPr>
          <p:cNvPr id="3" name="Text Placeholder 2"/>
          <p:cNvSpPr>
            <a:spLocks noGrp="1"/>
          </p:cNvSpPr>
          <p:nvPr>
            <p:ph type="body" idx="1"/>
          </p:nvPr>
        </p:nvSpPr>
        <p:spPr/>
        <p:txBody>
          <a:bodyPr/>
          <a:lstStyle/>
          <a:p>
            <a:r>
              <a:rPr sz="1800">
                <a:solidFill>
                  <a:srgbClr val="5A5A5A"/>
                </a:solidFill>
              </a:rPr>
              <a:t>A QA scenario that combines everything</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06</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32 / 40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Order Integrity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Lists every order with a problem and a plain-language reason. Full script: see the lesson.</a:t>
            </a:r>
          </a:p>
        </p:txBody>
      </p:sp>
      <p:sp>
        <p:nvSpPr>
          <p:cNvPr id="5" name="Rounded Rectangle 4"/>
          <p:cNvSpPr/>
          <p:nvPr/>
        </p:nvSpPr>
        <p:spPr>
          <a:xfrm>
            <a:off x="609904" y="2221991"/>
            <a:ext cx="7680960" cy="2731007"/>
          </a:xfrm>
          <a:prstGeom prst="roundRect">
            <a:avLst>
              <a:gd name="adj" fmla="val 267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7278624" cy="24384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SELECT o.order_id,</a:t>
            </a:r>
          </a:p>
          <a:p>
            <a:pPr algn="l">
              <a:lnSpc>
                <a:spcPct val="100000"/>
              </a:lnSpc>
            </a:pPr>
            <a:r>
              <a:rPr sz="1000">
                <a:solidFill>
                  <a:srgbClr val="1A1A1A"/>
                </a:solidFill>
                <a:latin typeface="Courier New"/>
              </a:rPr>
              <a:t>       CASE</a:t>
            </a:r>
          </a:p>
          <a:p>
            <a:pPr algn="l">
              <a:lnSpc>
                <a:spcPct val="100000"/>
              </a:lnSpc>
            </a:pPr>
            <a:r>
              <a:rPr sz="1000">
                <a:solidFill>
                  <a:srgbClr val="1A1A1A"/>
                </a:solidFill>
                <a:latin typeface="Courier New"/>
              </a:rPr>
              <a:t>         WHEN c.customer_id IS NULL AND o.customer_id IS NOT NULL THEN 'customer does not exist'</a:t>
            </a:r>
          </a:p>
          <a:p>
            <a:pPr algn="l">
              <a:lnSpc>
                <a:spcPct val="100000"/>
              </a:lnSpc>
            </a:pPr>
            <a:r>
              <a:rPr sz="1000">
                <a:solidFill>
                  <a:srgbClr val="1A1A1A"/>
                </a:solidFill>
                <a:latin typeface="Courier New"/>
              </a:rPr>
              <a:t>         WHEN o.customer_id IS NULL                              THEN 'no customer on order'</a:t>
            </a:r>
          </a:p>
          <a:p>
            <a:pPr algn="l">
              <a:lnSpc>
                <a:spcPct val="100000"/>
              </a:lnSpc>
            </a:pPr>
            <a:r>
              <a:rPr sz="1000">
                <a:solidFill>
                  <a:srgbClr val="1A1A1A"/>
                </a:solidFill>
                <a:latin typeface="Courier New"/>
              </a:rPr>
              <a:t>         WHEN it.items_total IS NULL                             THEN 'order has no items'</a:t>
            </a:r>
          </a:p>
          <a:p>
            <a:pPr algn="l">
              <a:lnSpc>
                <a:spcPct val="100000"/>
              </a:lnSpc>
            </a:pPr>
            <a:r>
              <a:rPr sz="1000">
                <a:solidFill>
                  <a:srgbClr val="1A1A1A"/>
                </a:solidFill>
                <a:latin typeface="Courier New"/>
              </a:rPr>
              <a:t>         WHEN ROUND(it.items_total,2) &lt;&gt; ROUND(o.total_amount,2) THEN 'header total differs from items'</a:t>
            </a:r>
          </a:p>
          <a:p>
            <a:pPr algn="l">
              <a:lnSpc>
                <a:spcPct val="100000"/>
              </a:lnSpc>
            </a:pPr>
            <a:r>
              <a:rPr sz="1000">
                <a:solidFill>
                  <a:srgbClr val="1A1A1A"/>
                </a:solidFill>
                <a:latin typeface="Courier New"/>
              </a:rPr>
              <a:t>         WHEN o.status = 'completed' AND pa.paid_total IS NULL   THEN 'completed but unpaid'</a:t>
            </a:r>
          </a:p>
          <a:p>
            <a:pPr algn="l">
              <a:lnSpc>
                <a:spcPct val="100000"/>
              </a:lnSpc>
            </a:pPr>
            <a:r>
              <a:rPr sz="1000">
                <a:solidFill>
                  <a:srgbClr val="1A1A1A"/>
                </a:solidFill>
                <a:latin typeface="Courier New"/>
              </a:rPr>
              <a:t>         ELSE 'ok'</a:t>
            </a:r>
          </a:p>
          <a:p>
            <a:pPr algn="l">
              <a:lnSpc>
                <a:spcPct val="100000"/>
              </a:lnSpc>
            </a:pPr>
            <a:r>
              <a:rPr sz="1000">
                <a:solidFill>
                  <a:srgbClr val="1A1A1A"/>
                </a:solidFill>
                <a:latin typeface="Courier New"/>
              </a:rPr>
              <a:t>       END AS finding,</a:t>
            </a:r>
          </a:p>
          <a:p>
            <a:pPr algn="l">
              <a:lnSpc>
                <a:spcPct val="100000"/>
              </a:lnSpc>
            </a:pPr>
            <a:r>
              <a:rPr sz="1000">
                <a:solidFill>
                  <a:srgbClr val="1A1A1A"/>
                </a:solidFill>
                <a:latin typeface="Courier New"/>
              </a:rPr>
              <a:t>       o.total_amount, it.items_total, pa.paid_total</a:t>
            </a:r>
          </a:p>
          <a:p>
            <a:pPr algn="l">
              <a:lnSpc>
                <a:spcPct val="100000"/>
              </a:lnSpc>
            </a:pPr>
            <a:r>
              <a:rPr sz="1000">
                <a:solidFill>
                  <a:srgbClr val="1A1A1A"/>
                </a:solidFill>
                <a:latin typeface="Courier New"/>
              </a:rPr>
              <a:t>FROM orders AS o</a:t>
            </a:r>
          </a:p>
          <a:p>
            <a:pPr algn="l">
              <a:lnSpc>
                <a:spcPct val="100000"/>
              </a:lnSpc>
            </a:pPr>
            <a:r>
              <a:rPr sz="1000">
                <a:solidFill>
                  <a:srgbClr val="1A1A1A"/>
                </a:solidFill>
                <a:latin typeface="Courier New"/>
              </a:rPr>
              <a:t>LEFT JOIN customers AS c ON c.customer_id = o.customer_id</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ORDER BY o.order_id;</a:t>
            </a:r>
          </a:p>
        </p:txBody>
      </p:sp>
      <p:sp>
        <p:nvSpPr>
          <p:cNvPr id="7" name="TextBox 6"/>
          <p:cNvSpPr txBox="1"/>
          <p:nvPr/>
        </p:nvSpPr>
        <p:spPr>
          <a:xfrm>
            <a:off x="8656624" y="2221991"/>
            <a:ext cx="292516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LEFT JOINs to one-row-per-order summaries (section 4), so no fan-out occurs.</a:t>
            </a:r>
          </a:p>
          <a:p>
            <a:pPr marL="228600" indent="-228600" algn="l">
              <a:spcAft>
                <a:spcPts val="800"/>
              </a:spcAft>
              <a:buFont typeface="Arial"/>
              <a:buChar char="•"/>
            </a:pPr>
            <a:r>
              <a:rPr sz="1250" b="0" i="0">
                <a:solidFill>
                  <a:srgbClr val="330066"/>
                </a:solidFill>
                <a:latin typeface="Courier New"/>
              </a:rPr>
              <a:t>CASE</a:t>
            </a:r>
            <a:r>
              <a:rPr sz="1300" b="0" i="0">
                <a:solidFill>
                  <a:srgbClr val="1A1A1A"/>
                </a:solidFill>
                <a:latin typeface="Arial"/>
              </a:rPr>
              <a:t> returns the first matching reason, so order matters: the most fundamental problem first.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33 / 40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Integrity Findings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103, 110 and 112: header total differs from items. 107: customer does not exist. 108: no customer on order. 109: order has no items.</a:t>
            </a:r>
          </a:p>
          <a:p>
            <a:pPr marL="228600" indent="-228600" algn="l">
              <a:spcAft>
                <a:spcPts val="1000"/>
              </a:spcAft>
              <a:buFont typeface="Arial"/>
              <a:buChar char="•"/>
            </a:pPr>
            <a:r>
              <a:rPr sz="1700" b="0" i="0">
                <a:solidFill>
                  <a:srgbClr val="1A1A1A"/>
                </a:solidFill>
                <a:latin typeface="Arial"/>
              </a:rPr>
              <a:t>Orders 101, 104, 111 and others show </a:t>
            </a:r>
            <a:r>
              <a:rPr sz="1650" b="0" i="0">
                <a:solidFill>
                  <a:srgbClr val="330066"/>
                </a:solidFill>
                <a:latin typeface="Courier New"/>
              </a:rPr>
              <a:t>ok</a:t>
            </a:r>
            <a:r>
              <a:rPr sz="1700" b="0" i="0">
                <a:solidFill>
                  <a:srgbClr val="1A1A1A"/>
                </a:solidFill>
                <a:latin typeface="Arial"/>
              </a:rPr>
              <a:t> as far as these rules go.</a:t>
            </a:r>
          </a:p>
          <a:p>
            <a:pPr marL="228600" indent="-228600" algn="l">
              <a:spcAft>
                <a:spcPts val="1000"/>
              </a:spcAft>
              <a:buFont typeface="Arial"/>
              <a:buChar char="•"/>
            </a:pPr>
            <a:r>
              <a:rPr sz="1700" b="0" i="0">
                <a:solidFill>
                  <a:srgbClr val="1A1A1A"/>
                </a:solidFill>
                <a:latin typeface="Arial"/>
              </a:rPr>
              <a:t>The double payment on order 102 is not caught: we only test for a missing payment. "Paid more than the total" would be another </a:t>
            </a:r>
            <a:r>
              <a:rPr sz="1650" b="0" i="0">
                <a:solidFill>
                  <a:srgbClr val="330066"/>
                </a:solidFill>
                <a:latin typeface="Courier New"/>
              </a:rPr>
              <a:t>WHEN</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Validation rules are only as good as the rules you write.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34 / 40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Tips for Multi-Table Queries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Draw the join path first, then write the query.</a:t>
            </a:r>
          </a:p>
          <a:p>
            <a:pPr marL="228600" indent="-228600" algn="l">
              <a:spcAft>
                <a:spcPts val="1000"/>
              </a:spcAft>
              <a:buFont typeface="Arial"/>
              <a:buChar char="•"/>
            </a:pPr>
            <a:r>
              <a:rPr sz="1700" b="0" i="0">
                <a:solidFill>
                  <a:srgbClr val="1A1A1A"/>
                </a:solidFill>
                <a:latin typeface="Arial"/>
              </a:rPr>
              <a:t>Add one table at a time and check the row count and a few rows.</a:t>
            </a:r>
          </a:p>
          <a:p>
            <a:pPr marL="228600" indent="-228600" algn="l">
              <a:spcAft>
                <a:spcPts val="1000"/>
              </a:spcAft>
              <a:buFont typeface="Arial"/>
              <a:buChar char="•"/>
            </a:pPr>
            <a:r>
              <a:rPr sz="1700" b="0" i="0">
                <a:solidFill>
                  <a:srgbClr val="1A1A1A"/>
                </a:solidFill>
                <a:latin typeface="Arial"/>
              </a:rPr>
              <a:t>Alias every table with a short consistent name (</a:t>
            </a:r>
            <a:r>
              <a:rPr sz="1650" b="0" i="0">
                <a:solidFill>
                  <a:srgbClr val="330066"/>
                </a:solidFill>
                <a:latin typeface="Courier New"/>
              </a:rPr>
              <a:t>c</a:t>
            </a:r>
            <a:r>
              <a:rPr sz="1700" b="0" i="0">
                <a:solidFill>
                  <a:srgbClr val="1A1A1A"/>
                </a:solidFill>
                <a:latin typeface="Arial"/>
              </a:rPr>
              <a:t>, </a:t>
            </a:r>
            <a:r>
              <a:rPr sz="1650" b="0" i="0">
                <a:solidFill>
                  <a:srgbClr val="330066"/>
                </a:solidFill>
                <a:latin typeface="Courier New"/>
              </a:rPr>
              <a:t>o</a:t>
            </a:r>
            <a:r>
              <a:rPr sz="1700" b="0" i="0">
                <a:solidFill>
                  <a:srgbClr val="1A1A1A"/>
                </a:solidFill>
                <a:latin typeface="Arial"/>
              </a:rPr>
              <a:t>, </a:t>
            </a:r>
            <a:r>
              <a:rPr sz="1650" b="0" i="0">
                <a:solidFill>
                  <a:srgbClr val="330066"/>
                </a:solidFill>
                <a:latin typeface="Courier New"/>
              </a:rPr>
              <a:t>i</a:t>
            </a:r>
            <a:r>
              <a:rPr sz="1700" b="0" i="0">
                <a:solidFill>
                  <a:srgbClr val="1A1A1A"/>
                </a:solidFill>
                <a:latin typeface="Arial"/>
              </a:rPr>
              <a:t>, </a:t>
            </a:r>
            <a:r>
              <a:rPr sz="1650" b="0" i="0">
                <a:solidFill>
                  <a:srgbClr val="330066"/>
                </a:solidFill>
                <a:latin typeface="Courier New"/>
              </a:rPr>
              <a:t>p</a:t>
            </a:r>
            <a:r>
              <a:rPr sz="1700" b="0" i="0">
                <a:solidFill>
                  <a:srgbClr val="1A1A1A"/>
                </a:solidFill>
                <a:latin typeface="Arial"/>
              </a:rPr>
              <a:t>, </a:t>
            </a:r>
            <a:r>
              <a:rPr sz="1650" b="0" i="0">
                <a:solidFill>
                  <a:srgbClr val="330066"/>
                </a:solidFill>
                <a:latin typeface="Courier New"/>
              </a:rPr>
              <a:t>pay</a:t>
            </a:r>
            <a:r>
              <a:rPr sz="1700" b="0" i="0">
                <a:solidFill>
                  <a:srgbClr val="1A1A1A"/>
                </a:solidFill>
                <a:latin typeface="Arial"/>
              </a:rPr>
              <a:t>) and qualify every column.</a:t>
            </a:r>
          </a:p>
          <a:p>
            <a:pPr marL="228600" indent="-228600" algn="l">
              <a:spcAft>
                <a:spcPts val="1000"/>
              </a:spcAft>
              <a:buFont typeface="Arial"/>
              <a:buChar char="•"/>
            </a:pPr>
            <a:r>
              <a:rPr sz="1700" b="0" i="0">
                <a:solidFill>
                  <a:srgbClr val="1A1A1A"/>
                </a:solidFill>
                <a:latin typeface="Arial"/>
              </a:rPr>
              <a:t>Name the key you test for NULL in anti-joins: the primary key of the table that might be missing.</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35 / 40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Tips for Multi-Table Queries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Beware fan-out whenever two one-to-many tables hang off the same parent; pre-aggregate in subqueries.</a:t>
            </a:r>
          </a:p>
          <a:p>
            <a:pPr marL="228600" indent="-228600" algn="l">
              <a:spcAft>
                <a:spcPts val="1000"/>
              </a:spcAft>
              <a:buFont typeface="Arial"/>
              <a:buChar char="•"/>
            </a:pPr>
            <a:r>
              <a:rPr sz="1700" b="0" i="0">
                <a:solidFill>
                  <a:srgbClr val="1A1A1A"/>
                </a:solidFill>
                <a:latin typeface="Arial"/>
              </a:rPr>
              <a:t>Use LEFT JOIN chains when you need to keep the base rows; mix in INNER JOIN only on purpose.</a:t>
            </a:r>
          </a:p>
          <a:p>
            <a:pPr marL="228600" indent="-228600" algn="l">
              <a:spcAft>
                <a:spcPts val="1000"/>
              </a:spcAft>
              <a:buFont typeface="Arial"/>
              <a:buChar char="•"/>
            </a:pPr>
            <a:r>
              <a:rPr sz="1700" b="0" i="0">
                <a:solidFill>
                  <a:srgbClr val="1A1A1A"/>
                </a:solidFill>
                <a:latin typeface="Arial"/>
              </a:rPr>
              <a:t>Write the expected row count before running the query. A mismatch means a misunderstanding of the data, or a bug.</a:t>
            </a:r>
          </a:p>
          <a:p>
            <a:pPr marL="228600" indent="-228600" algn="l">
              <a:spcAft>
                <a:spcPts val="1000"/>
              </a:spcAft>
              <a:buFont typeface="Arial"/>
              <a:buChar char="•"/>
            </a:pPr>
            <a:r>
              <a:rPr sz="1700" b="0" i="0">
                <a:solidFill>
                  <a:srgbClr val="1A1A1A"/>
                </a:solidFill>
                <a:latin typeface="Arial"/>
              </a:rPr>
              <a:t>Keep it readable: one join per line, </a:t>
            </a:r>
            <a:r>
              <a:rPr sz="1650" b="0" i="0">
                <a:solidFill>
                  <a:srgbClr val="330066"/>
                </a:solidFill>
                <a:latin typeface="Courier New"/>
              </a:rPr>
              <a:t>ON</a:t>
            </a:r>
            <a:r>
              <a:rPr sz="1700" b="0" i="0">
                <a:solidFill>
                  <a:srgbClr val="1A1A1A"/>
                </a:solidFill>
                <a:latin typeface="Arial"/>
              </a:rPr>
              <a:t> aligned, short comments for tricky logic.</a:t>
            </a:r>
          </a:p>
          <a:p>
            <a:pPr marL="228600" indent="-228600" algn="l">
              <a:spcAft>
                <a:spcPts val="1000"/>
              </a:spcAft>
              <a:buFont typeface="Arial"/>
              <a:buChar char="•"/>
            </a:pPr>
            <a:r>
              <a:rPr sz="1700" b="0" i="0">
                <a:solidFill>
                  <a:srgbClr val="1A1A1A"/>
                </a:solidFill>
                <a:latin typeface="Arial"/>
              </a:rPr>
              <a:t>Performance (indexes, execution plans) is covered in a later week; for now, correctness is the goal.</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36 / 40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Common Mistakes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COMMON MISTAKES</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Joining two child tables to the same parent and summing (fan-out).</a:t>
            </a:r>
          </a:p>
          <a:p>
            <a:pPr marL="228600" indent="-228600" algn="l">
              <a:spcAft>
                <a:spcPts val="1000"/>
              </a:spcAft>
              <a:buFont typeface="Arial"/>
              <a:buChar char="•"/>
            </a:pPr>
            <a:r>
              <a:rPr sz="1700" b="0" i="0">
                <a:solidFill>
                  <a:srgbClr val="1A1A1A"/>
                </a:solidFill>
                <a:latin typeface="Arial"/>
              </a:rPr>
              <a:t>Following an early </a:t>
            </a:r>
            <a:r>
              <a:rPr sz="1650" b="0" i="0">
                <a:solidFill>
                  <a:srgbClr val="330066"/>
                </a:solidFill>
                <a:latin typeface="Courier New"/>
              </a:rPr>
              <a:t>LEFT JOIN</a:t>
            </a:r>
            <a:r>
              <a:rPr sz="1700" b="0" i="0">
                <a:solidFill>
                  <a:srgbClr val="1A1A1A"/>
                </a:solidFill>
                <a:latin typeface="Arial"/>
              </a:rPr>
              <a:t> with an </a:t>
            </a:r>
            <a:r>
              <a:rPr sz="1650" b="0" i="0">
                <a:solidFill>
                  <a:srgbClr val="330066"/>
                </a:solidFill>
                <a:latin typeface="Courier New"/>
              </a:rPr>
              <a:t>INNER JOIN</a:t>
            </a:r>
            <a:r>
              <a:rPr sz="1700" b="0" i="0">
                <a:solidFill>
                  <a:srgbClr val="1A1A1A"/>
                </a:solidFill>
                <a:latin typeface="Arial"/>
              </a:rPr>
              <a:t> that removes the preserved rows.</a:t>
            </a:r>
          </a:p>
          <a:p>
            <a:pPr marL="228600" indent="-228600" algn="l">
              <a:spcAft>
                <a:spcPts val="1000"/>
              </a:spcAft>
              <a:buFont typeface="Arial"/>
              <a:buChar char="•"/>
            </a:pPr>
            <a:r>
              <a:rPr sz="1700" b="0" i="0">
                <a:solidFill>
                  <a:srgbClr val="1A1A1A"/>
                </a:solidFill>
                <a:latin typeface="Arial"/>
              </a:rPr>
              <a:t>Joining along a wrong or non-key column.</a:t>
            </a:r>
          </a:p>
          <a:p>
            <a:pPr marL="228600" indent="-228600" algn="l">
              <a:spcAft>
                <a:spcPts val="1000"/>
              </a:spcAft>
              <a:buFont typeface="Arial"/>
              <a:buChar char="•"/>
            </a:pPr>
            <a:r>
              <a:rPr sz="1700" b="0" i="0">
                <a:solidFill>
                  <a:srgbClr val="1A1A1A"/>
                </a:solidFill>
                <a:latin typeface="Arial"/>
              </a:rPr>
              <a:t>Forgetting a join condition between one of the tables (accidental Cartesian product).</a:t>
            </a:r>
          </a:p>
          <a:p>
            <a:pPr marL="228600" indent="-228600" algn="l">
              <a:spcAft>
                <a:spcPts val="1000"/>
              </a:spcAft>
              <a:buFont typeface="Arial"/>
              <a:buChar char="•"/>
            </a:pPr>
            <a:r>
              <a:rPr sz="1700" b="0" i="0">
                <a:solidFill>
                  <a:srgbClr val="1A1A1A"/>
                </a:solidFill>
                <a:latin typeface="Arial"/>
              </a:rPr>
              <a:t>Selecting </a:t>
            </a:r>
            <a:r>
              <a:rPr sz="1650" b="0" i="0">
                <a:solidFill>
                  <a:srgbClr val="330066"/>
                </a:solidFill>
                <a:latin typeface="Courier New"/>
              </a:rPr>
              <a:t>*</a:t>
            </a:r>
            <a:r>
              <a:rPr sz="1700" b="0" i="0">
                <a:solidFill>
                  <a:srgbClr val="1A1A1A"/>
                </a:solidFill>
                <a:latin typeface="Arial"/>
              </a:rPr>
              <a:t> from many tables and ending up with duplicate column names (use explicit columns).</a:t>
            </a:r>
          </a:p>
          <a:p>
            <a:pPr marL="228600" indent="-228600" algn="l">
              <a:spcAft>
                <a:spcPts val="1000"/>
              </a:spcAft>
              <a:buFont typeface="Arial"/>
              <a:buChar char="•"/>
            </a:pPr>
            <a:r>
              <a:rPr sz="1700" b="0" i="0">
                <a:solidFill>
                  <a:srgbClr val="1A1A1A"/>
                </a:solidFill>
                <a:latin typeface="Arial"/>
              </a:rPr>
              <a:t>Grouping by a non-unique column such as a name.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37 / 40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Summary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Find the join path by walking primary-key/foreign-key arrows; </a:t>
            </a:r>
            <a:r>
              <a:rPr sz="1350" b="0" i="0">
                <a:solidFill>
                  <a:srgbClr val="330066"/>
                </a:solidFill>
                <a:latin typeface="Courier New"/>
              </a:rPr>
              <a:t>n</a:t>
            </a:r>
            <a:r>
              <a:rPr sz="1400" b="0" i="0">
                <a:solidFill>
                  <a:srgbClr val="1A1A1A"/>
                </a:solidFill>
                <a:latin typeface="Arial"/>
              </a:rPr>
              <a:t> tables need </a:t>
            </a:r>
            <a:r>
              <a:rPr sz="1350" b="0" i="0">
                <a:solidFill>
                  <a:srgbClr val="330066"/>
                </a:solidFill>
                <a:latin typeface="Courier New"/>
              </a:rPr>
              <a:t>n-1</a:t>
            </a:r>
            <a:r>
              <a:rPr sz="1400" b="0" i="0">
                <a:solidFill>
                  <a:srgbClr val="1A1A1A"/>
                </a:solidFill>
                <a:latin typeface="Arial"/>
              </a:rPr>
              <a:t> joins.</a:t>
            </a:r>
          </a:p>
        </p:txBody>
      </p:sp>
      <p:sp>
        <p:nvSpPr>
          <p:cNvPr id="6" name="Oval 5"/>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04872"/>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Build queries incrementally and count rows after each join to see where rows vanish or multiply.</a:t>
            </a:r>
          </a:p>
        </p:txBody>
      </p:sp>
      <p:sp>
        <p:nvSpPr>
          <p:cNvPr id="8" name="Oval 7"/>
          <p:cNvSpPr/>
          <p:nvPr/>
        </p:nvSpPr>
        <p:spPr>
          <a:xfrm>
            <a:off x="609904" y="288036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2953512"/>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Start with the table to preserve and use </a:t>
            </a:r>
            <a:r>
              <a:rPr sz="1350" b="0" i="0">
                <a:solidFill>
                  <a:srgbClr val="330066"/>
                </a:solidFill>
                <a:latin typeface="Courier New"/>
              </a:rPr>
              <a:t>LEFT JOIN</a:t>
            </a:r>
            <a:r>
              <a:rPr sz="1400" b="0" i="0">
                <a:solidFill>
                  <a:srgbClr val="1A1A1A"/>
                </a:solidFill>
                <a:latin typeface="Arial"/>
              </a:rPr>
              <a:t> along the chain; a later </a:t>
            </a:r>
            <a:r>
              <a:rPr sz="1350" b="0" i="0">
                <a:solidFill>
                  <a:srgbClr val="330066"/>
                </a:solidFill>
                <a:latin typeface="Courier New"/>
              </a:rPr>
              <a:t>INNER JOIN</a:t>
            </a:r>
            <a:r>
              <a:rPr sz="1400" b="0" i="0">
                <a:solidFill>
                  <a:srgbClr val="1A1A1A"/>
                </a:solidFill>
                <a:latin typeface="Arial"/>
              </a:rPr>
              <a:t> can silently cancel earlier left joins.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38 / 40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Summary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Fan-out: two one-to-many tables joined to the same parent multiply rows and inflate sums; pre-aggregate each child in a subquery.</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self join compares rows within one table using two aliases (and </a:t>
            </a:r>
            <a:r>
              <a:rPr sz="1350" b="0" i="0">
                <a:solidFill>
                  <a:srgbClr val="330066"/>
                </a:solidFill>
                <a:latin typeface="Courier New"/>
              </a:rPr>
              <a:t>a.id &lt; b.id</a:t>
            </a:r>
            <a:r>
              <a:rPr sz="1400" b="0" i="0">
                <a:solidFill>
                  <a:srgbClr val="1A1A1A"/>
                </a:solidFill>
                <a:latin typeface="Arial"/>
              </a:rPr>
              <a:t> to avoid self-pairs and mirror pairs).</a:t>
            </a:r>
          </a:p>
        </p:txBody>
      </p:sp>
      <p:sp>
        <p:nvSpPr>
          <p:cNvPr id="8" name="Oval 7"/>
          <p:cNvSpPr/>
          <p:nvPr/>
        </p:nvSpPr>
        <p:spPr>
          <a:xfrm>
            <a:off x="609904" y="30927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165856"/>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Multi-table queries are the backbone of data-integrity reports: header totals vs items vs payments, orphans, missing links.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39 / 40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SQLite documentation, SELECT (join-clause details)</a:t>
            </a:r>
          </a:p>
          <a:p>
            <a:pPr algn="l">
              <a:lnSpc>
                <a:spcPct val="110000"/>
              </a:lnSpc>
              <a:spcAft>
                <a:spcPts val="600"/>
              </a:spcAft>
            </a:pPr>
            <a:r>
              <a:rPr sz="1200" b="0" i="0">
                <a:solidFill>
                  <a:srgbClr val="330066"/>
                </a:solidFill>
                <a:latin typeface="Courier New"/>
              </a:rPr>
              <a:t>https://www.sqlite.org/lang_select.html</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PostgreSQL documentation, Joins Between Tables (includes self joins)</a:t>
            </a:r>
          </a:p>
          <a:p>
            <a:pPr algn="l">
              <a:lnSpc>
                <a:spcPct val="110000"/>
              </a:lnSpc>
              <a:spcAft>
                <a:spcPts val="600"/>
              </a:spcAft>
            </a:pPr>
            <a:r>
              <a:rPr sz="1200" b="0" i="0">
                <a:solidFill>
                  <a:srgbClr val="330066"/>
                </a:solidFill>
                <a:latin typeface="Courier New"/>
              </a:rPr>
              <a:t>https://www.postgresql.org/docs/current/tutorial-join.html</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MySQL Reference Manual, Join Syntax</a:t>
            </a:r>
          </a:p>
          <a:p>
            <a:pPr algn="l">
              <a:lnSpc>
                <a:spcPct val="110000"/>
              </a:lnSpc>
              <a:spcAft>
                <a:spcPts val="600"/>
              </a:spcAft>
            </a:pPr>
            <a:r>
              <a:rPr sz="1200" b="0" i="0">
                <a:solidFill>
                  <a:srgbClr val="330066"/>
                </a:solidFill>
                <a:latin typeface="Courier New"/>
              </a:rPr>
              <a:t>https://dev.mysql.com/doc/refman/8.0/en/join.html</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40 / 40</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TotalTime>0</TotalTime>
  <Words>4046</Words>
  <Application>Microsoft Office PowerPoint</Application>
  <PresentationFormat>Widescreen</PresentationFormat>
  <Paragraphs>397</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Courier New</vt:lpstr>
      <vt:lpstr>Wingdings</vt:lpstr>
      <vt:lpstr>Learners Point</vt:lpstr>
      <vt:lpstr>Multi-Table Queries</vt:lpstr>
      <vt:lpstr>Learning Objectives (1 of 2)</vt:lpstr>
      <vt:lpstr>Learning Objectives (2 of 2)</vt:lpstr>
      <vt:lpstr>Practice Database Recap</vt:lpstr>
      <vt:lpstr>Planted Data Problems (1 of 2)</vt:lpstr>
      <vt:lpstr>Planted Data Problems (2 of 2)</vt:lpstr>
      <vt:lpstr>Why This Matters</vt:lpstr>
      <vt:lpstr>The Join Path</vt:lpstr>
      <vt:lpstr>Reading the Map</vt:lpstr>
      <vt:lpstr>Join Paths</vt:lpstr>
      <vt:lpstr>Join Along Real Keys</vt:lpstr>
      <vt:lpstr>Build Incrementally</vt:lpstr>
      <vt:lpstr>The Professional Way</vt:lpstr>
      <vt:lpstr>Steps 0 to 2</vt:lpstr>
      <vt:lpstr>Step 3: Add Products</vt:lpstr>
      <vt:lpstr>The Order Detail Report</vt:lpstr>
      <vt:lpstr>Mixing INNER and LEFT</vt:lpstr>
      <vt:lpstr>Keep Every Order</vt:lpstr>
      <vt:lpstr>INNER JOIN After LEFT JOIN</vt:lpstr>
      <vt:lpstr>LEFT JOINs All the Way</vt:lpstr>
      <vt:lpstr>The Fan-Out Trap</vt:lpstr>
      <vt:lpstr>Fan-Out</vt:lpstr>
      <vt:lpstr>Fan-Out Inflates Sums</vt:lpstr>
      <vt:lpstr>The Fix: Pre-Aggregate</vt:lpstr>
      <vt:lpstr>Reading the Integrity Report (1 of 2)</vt:lpstr>
      <vt:lpstr>Reading the Integrity Report (2 of 2)</vt:lpstr>
      <vt:lpstr>Reports and Self Joins</vt:lpstr>
      <vt:lpstr>Revenue per Customer per Category</vt:lpstr>
      <vt:lpstr>Open Defects and Who Bought Them</vt:lpstr>
      <vt:lpstr>Self Join: Same Email</vt:lpstr>
      <vt:lpstr>Self Join: Earlier and Later Orders</vt:lpstr>
      <vt:lpstr>Order Integrity Validation</vt:lpstr>
      <vt:lpstr>The Order Integrity Query</vt:lpstr>
      <vt:lpstr>Integrity Findings</vt:lpstr>
      <vt:lpstr>Tips for Multi-Table Queries (1 of 2)</vt:lpstr>
      <vt:lpstr>Tips for Multi-Table Queries (2 of 2)</vt:lpstr>
      <vt:lpstr>Common Mistakes</vt:lpstr>
      <vt:lpstr>Summary (1 of 2)</vt:lpstr>
      <vt:lpstr>Summary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2</cp:revision>
  <dcterms:modified xsi:type="dcterms:W3CDTF">2026-10-20T11:37:02Z</dcterms:modified>
</cp:coreProperties>
</file>