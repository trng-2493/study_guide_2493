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Aggregate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Summarise many rows into one value, understand exactly how NULLs behave, and turn aggregates into repeatable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86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2437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SUM / AVG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5315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891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MIN / MAX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476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1344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NULL rules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22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7999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CASE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5669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2245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profiling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12512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61699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assertions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an aggregate function is and how it differs from a row-by-row function.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COUNT(column)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COUNT(DISTINCT column)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Predict how each aggregate treats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values and empty sets.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Avoid the integer-division and floating-point rounding traps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CAST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GROUP_CONCAT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list values,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SUM(CASE WHEN ...)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count categories in one pass.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a data-profiling query that summarises a table's size, NULLs, duplicates and value ranges.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aggregates to write simple, repeatable validation assertions.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You often cannot (and should not) look at every record; you ask summarising questions.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Is the number of rows loaded equal to the number in the source file?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the sum of order lines equal the order total?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Is the smallest quantity at least 1 and the largest below a sensible maximum?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many customers are missing an email?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COUNT(*) - COUNT(email)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Is any value far from the average?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Aggregates are the building blocks of data profiling and of automated checks such as "assert that this count is 0".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an Aggregate?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Many rows in, one value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Scalar vs Aggregate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scalar (row) function takes one row's values and returns one value per row, for example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ROUND(price, 1)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UPPER(name)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 aggregate function takes the values from many rows and returns one value.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Without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 BY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the many rows are all rows that survive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and the result is a single row.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Analogy: scanning all till receipts at day's end and writing down number of receipts, total takings, biggest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Aggregate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rows in  ---&gt;  [ COUNT / SUM / AVG / MIN / MAX ]  ---&gt;  one value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Rows in, one value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Aggregate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3141726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Works 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COUNT(*)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 of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COUNT(col)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 of non-NULL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any 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COUNT(DISTINCT 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 of different non-NULL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any 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SUM(col)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AVG(col)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MIN(col)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MAX(col)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smallest / largest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numbers, text, dates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GROUP_CONCAT(col)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values joined into one string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any (SQLite/MySQL)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Three forms of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COUNT(*)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COUNT(*) AS total_customers FROM 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Counts rows regardless of what the columns contain, NULLs included. Use it for "how many rows are there?".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COUNT(column)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09827"/>
          </a:xfrm>
          <a:prstGeom prst="roundRect">
            <a:avLst>
              <a:gd name="adj" fmla="val 8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17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COUNT(*)     AS all_rows,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COUNT(email) AS customers_with_email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10 rows, 9 emails; Frank Lee (customer 6) has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COUNT(email)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skips NULLs,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COUNT(*) - COUNT(email)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number of missing emails (here 1): a standard validation expression.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COUNT(DISTINCT 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COUNT(email)          AS non_null_emails,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COUNT(DISTINCT email) AS unique_emails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9 non-NULL emails, 8 unique: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bob@example.com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duplicated.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If "email is unique" is a rule,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COUNT(email) = COUNT(DISTINCT email)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should hold. A one-line duplicate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 Counts on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COUNT(*) AS orders,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COUNT(customer_id) AS orders_with_customer,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COUNT(DISTINCT customer_id) AS distinct_customers_ordering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12 orders, 11 with a customer ID (108 is NULL), 7 distinct IDs (1, 2, 3, 4, 5, 7 and the orphan 99).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SUM, AVG and Rounding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Arithmetic, filters and floating-point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 and AVG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SUM(total_amount)  AS sum_totals,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AVG(total_amount)  AS avg_total,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COUNT(total_amount) AS 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adds the non-NULL values;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sum divided by the count of non-NULL values.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3450.44, 287.5366666666667, n = 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Arithmetic Inside Aggregates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SUM(quantity * unit_price) AS items_value FROM order_items;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quantity * unit_price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computed for each row, then summed: 3520.46.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 differs from the sum of order header totals (3450.44), proving headers and lines disagree somewhere.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Aggregates With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SUM(total_amount) AS completed_revenue, COUNT(*) AS completed_orders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status = 'completed';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applied first; the aggregate sees only the surviving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completed revenue 1535.45 over 8 orders.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AVG(total_amount)           AS raw_avg,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ROUND(AVG(total_amount), 2) AS rounded_avg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Floating-point numbers cannot represent every decimal exactly, so sums and averages show trailing digits.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ROUND(value, digits)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display and comparison: 287.5366666666667 becomes 287.54.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Never Compare Money With 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Compare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ROUND(a, 2) = ROUND(b, 2)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or in real systems store money as integer cents.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460248"/>
          </a:xfrm>
          <a:prstGeom prst="roundRect">
            <a:avLst>
              <a:gd name="adj" fmla="val 158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0.1 + 0.2 AS sum_raw, (0.1 + 0.2) = 0.3 AS equals_point_three, ROUND(0.1 + 0.2, 2) = 0.3 AS equals_after_round;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0.1 + 0.2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0.1 + 0.2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gives 0.30000000000000004.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(0.1 + 0.2) = 0.3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0 (false);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ROUND(0.1 + 0.2, 2) = 0.3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1 (true).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Important for QA: never compare money values with a bare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after arithmetic.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MIN and MAX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Ranges on numbers, text and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MIN and MAX Work on Many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work on numbers, text (alphabetical order) and dates.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ISO date strings like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2025-07-25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sort chronologically.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Range checks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/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are very effective in data validation: they spot impossible values without scanning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MIN and MAX on Orders and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8229600" cy="460248"/>
          </a:xfrm>
          <a:prstGeom prst="roundRect">
            <a:avLst>
              <a:gd name="adj" fmla="val 158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7827264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MIN(order_date) AS first_order, MAX(order_date) AS last_order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0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74847"/>
            <a:ext cx="8229600" cy="445008"/>
          </a:xfrm>
          <a:prstGeom prst="roundRect">
            <a:avLst>
              <a:gd name="adj" fmla="val 164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21152"/>
            <a:ext cx="7827264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MIN(full_name) AS first_alphabetically, MAX(full_name) AS last_alphabetically FROM customers;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Date and Text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First and last order dates: 2025-06-01 and 2025-07-25.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Alphabetical first and last customer names: Alice Johnson and Ian Brooks.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Combined price-and-date example (prices 3.5 to 1200.0) used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trick only to show product and order columns in one result; normally run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/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on a single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Range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772668"/>
          </a:xfrm>
          <a:prstGeom prst="roundRect">
            <a:avLst>
              <a:gd name="adj" fmla="val 946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480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MIN(quantity) AS min_qty, MAX(quantity) AS max_qty,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MIN(unit_price) AS min_price, MAX(unit_price) AS max_price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order_items;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min_qty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-1,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max_qty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10,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min_price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3.5,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max_price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1200.0.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min_qty = -1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immediately exposes the negative-quantity bug (item 16).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max_qty = 10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can be compared with the business maximum.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and Empty Sets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rules behind most "my total looks wrong"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Aggregates Treat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1" cy="1674622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COUNT(*)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COUNT(col)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SUM(col)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AVG(col)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MIN/MAX(col)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NULL values in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col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counted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ignored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ignored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ignored (not counted in the divisor)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ignored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 rows at all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All values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rows counted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NULLs Are Ignored, Not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tiny inline table of three rows: 10, 20, NULL.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035040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632703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COUNT(*)  AS count_star,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COUNT(x)  AS count_x,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SUM(x)    AS sum_x,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AVG(x)    AS avg_x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(SELECT 10 AS x UNION ALL SELECT 20 UNION ALL SELECT NULL);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704" y="2221991"/>
            <a:ext cx="45710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count_star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3,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count_x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2,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sum_x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30,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avg_x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15.0.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average is 15 (30 / 2), not 10 (30 / 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Missing Means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627888"/>
          </a:xfrm>
          <a:prstGeom prst="roundRect">
            <a:avLst>
              <a:gd name="adj" fmla="val 1165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335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AVG(COALESCE(x, 0)) AS avg_missing_as_zero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(SELECT 10 AS x UNION ALL SELECT 20 UNION ALL SELECT NULL);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the business rule says missing means zero,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AVG(COALESCE(x, 0))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10.0.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Empty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424160" cy="772668"/>
          </a:xfrm>
          <a:prstGeom prst="roundRect">
            <a:avLst>
              <a:gd name="adj" fmla="val 946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021824" cy="480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COUNT(*) AS n, SUM(total_amount) AS total, AVG(total_amount) AS average, MAX(total_amount) AS biggest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WHERE status = 'returned';      -- no such status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Empty-Set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0,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for total, average and biggest.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gives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but the others give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test code, handle it (for example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COALESCE(SUM(...), 0)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 before comparing.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SQLite also has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TOTAL()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which returns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0.0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for an empty set; SQLite-only, so not relied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Integer Division and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hidden trap, and counting categories in one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Integer 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7 / 2      AS integer_division,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7 / 2.0    AS decimal_division,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CAST(7 AS REAL) / 2 AS cast_division;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 SQLite (and PostgreSQL, SQL Server) dividing two integers gives an integer, discarding the fraction. MySQL's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gives a decimal.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7 / 2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3;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7 / 2.0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3.5;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CAST(7 AS REAL) / 2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3.5.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For ratios from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force decimal division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1.0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CAST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Percentage Done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Percentage of orders that are completed: result 66.7.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100.0 *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first makes everything decimal.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10424160" cy="627888"/>
          </a:xfrm>
          <a:prstGeom prst="roundRect">
            <a:avLst>
              <a:gd name="adj" fmla="val 1165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10021824" cy="335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ROUND(100.0 * SUM(CASE WHEN status = 'completed' THEN 1 ELSE 0 END) / COUNT(*), 1) AS pct_completed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Conditional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1252728"/>
          </a:xfrm>
          <a:prstGeom prst="roundRect">
            <a:avLst>
              <a:gd name="adj" fmla="val 58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COUNT(*) AS total_orders,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status = 'completed' THEN 1 ELSE 0 END) AS completed,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status = 'pending'   THEN 1 ELSE 0 END) AS pending,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status = 'shipped'   THEN 1 ELSE 0 END) AS shipped,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SUM(CASE WHEN status = 'cancelled' THEN 1 ELSE 0 END) AS cancelled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CASE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yields 1 if the status matches and 0 otherwise;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adds them, counting matching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12 total, 8 completed, 2 pending, 1 shipped, 1 cancelled.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compact summary a test can compare against a dashboard's tiles.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Conditional Sums of Amounts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SUM(CASE WHEN method = 'card'   THEN amount ELSE 0 END) AS card_total,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SUM(CASE WHEN method = 'paypal' THEN amount ELSE 0 END) AS paypal_total,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SUM(amount) AS all_total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payments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status = 'paid';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same trick with amounts, for paid payments.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card 2005.95, paypal 159.99, all 2165.94.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GROUP_CONCAT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GROUP_CONCAT(full_name, ', ') AS us_customers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country = 'US';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Joins values from many rows into one string. SQLite and MySQL; PostgreSQL and SQL Server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STRING_AGG(column, separator)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Alice Johnson, Bob Smith, Grace Kim, Bob Smith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Handy for readable evidence in a failure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Profiling and Assertions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Aggregates with joins, then as repeatable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Aggregates With GROUP BY and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Highest spenders: a quick revision of join, grouping and several aggregates.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486400" cy="1938527"/>
          </a:xfrm>
          <a:prstGeom prst="roundRect">
            <a:avLst>
              <a:gd name="adj" fmla="val 377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084064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c.full_name,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COUNT(o.order_id)    AS orders,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SUM(o.total_amount)  AS total,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ROUND(AVG(o.total_amount), 2) AS avg_order,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MAX(o.total_amount)  AS biggest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c.customer_id, c.full_name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total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064" y="2221991"/>
            <a:ext cx="51197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Alice Johnson 1255.48 (2 orders, average 627.74, biggest 1225.0), then Eve Muller 1200.0, Carla Gomez 619.99, and so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Aggregates Cannot Be Nested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412748"/>
          </a:xfrm>
          <a:prstGeom prst="roundRect">
            <a:avLst>
              <a:gd name="adj" fmla="val 517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ROUND(AVG(customer_total), 2) AS avg_spend_per_customer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SELECT customer_id, SUM(total_amount) AS customer_total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FROM orders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WHERE customer_id IS NOT NULL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GROUP BY 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AVG(SUM(x))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an error in most databases.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Use a subquery: first compute per-group sums, then average them.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491.49.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Data Profiling?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Data profiling means measuring a table's basic properties before you trust it.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query can report many facts: row count, distinct IDs, NULL counts, duplicate counts, earliest and latest dates.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Read a profile like a doctor reads a blood test: the numbers that are not as expected become the starting point for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Profiling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1633728"/>
          </a:xfrm>
          <a:prstGeom prst="roundRect">
            <a:avLst>
              <a:gd name="adj" fmla="val 447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1341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COUNT(*)                                  AS row_count,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COUNT(DISTINCT customer_id)               AS distinct_ids,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COUNT(*) - COUNT(email)                   AS null_emails,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COUNT(email) - COUNT(DISTINCT email)      AS duplicate_email_rows,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COUNT(*) - COUNT(country)                 AS null_countries,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MIN(created_date)                         AS earliest_created,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MAX(created_date)                         AS latest_created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customers;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10 rows, 10 distinct IDs, 1 NULL email, 1 duplicate email row, 0 NULL countries, created 2025-01-10 to 2025-05-09.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Profiling Order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949440" cy="1298448"/>
          </a:xfrm>
          <a:prstGeom prst="roundRect">
            <a:avLst>
              <a:gd name="adj" fmla="val 563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547103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COUNT(*)                                    AS row_count,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SUM(CASE WHEN quantity &lt;= 0 THEN 1 ELSE 0 END)  AS bad_quantity_rows,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SUM(CASE WHEN unit_price &lt;= 0 THEN 1 ELSE 0 END) AS bad_price_rows,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MIN(quantity) AS min_qty,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MAX(quantity) AS max_qty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order_items;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16 rows, 1 bad quantity row, 0 bad price rows, min quantity -1, max 10.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These numbers (1 NULL email, 1 duplicate email, 1 bad quantity) are formalised into reusable checks in the last lesson of the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Aggregates as 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083689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Query that should return 0 (or the expected value)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No negative quantities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COUNT(*) FROM order_items WHERE quantity &lt;= 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Row counts match after load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COUNT(*) FROM customers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equals 10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Revenue matches report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ROUND(SUM(total_amount),2) FROM orders WHERE status='completed'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equals the dashboard figure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Emails unique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COUNT(email) - COUNT(DISTINCT email) FROM customers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equals 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Run the First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460248"/>
          </a:xfrm>
          <a:prstGeom prst="roundRect">
            <a:avLst>
              <a:gd name="adj" fmla="val 158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COUNT(*) AS bad_rows FROM order_items WHERE quantity &lt;= 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005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With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74847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21152"/>
            <a:ext cx="563270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COUNT(*) AS bad_rows, GROUP_CONCAT(item_id) AS offending_item_ids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quantity &lt;= 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aggregate returning a single number can be compared with an expected value.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bad_rows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1. A non-zero result fails the check.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GROUP_CONCAT(item_id)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puts the offending ID (16) in the test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work the same in all major databases.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of an integer column returns an integer in SQL Server; cast to decimal if needed.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Integer division differs by database.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String aggregation: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GROUP_CONCAT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(SQLite, MySQL);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STRING_AGG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(PostgreSQL, SQL Server 2017+).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Statistical aggregates and window functions vary by database and are covered in a later 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Assuming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COUNT(column)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counts NULLs (it does not).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Averaging when NULLs should have been counted as zero (or the reverse).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integer division and getting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for a percentage.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Comparing floating-point sums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without rounding.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that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over no rows is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an aggregate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(use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HAVING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a subquery).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Summing a column after a join that multiplied the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Aggregate functions collapse many rows into one value: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(plus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GROUP_CONCAT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STRING_AGG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counts rows;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COUNT(col)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skips NULLs;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COUNT(DISTINCT col)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counts unique non-NULL values.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ignore NULLs; over an empty set they return NULL, not 0.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517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0832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Beware integer division and floating-point rounding;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100.0 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CAST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SUM(CASE WHEN ... THEN 1 ELSE 0 END)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several conditional counts in one pass.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Profile tables with one aggregate query: row counts, NULL counts, duplicate counts, min/max ranges.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single-number aggregate is an ideal test assertion, as in "this count must be 0".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Built-in Aggregate Functions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https://www.sqlite.org/lang_aggfunc.html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Core functions (ROUND, COALESCE and others)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https://www.sqlite.org/lang_corefunc.html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Aggregate Functions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https://www.postgresql.org/docs/current/functions-aggregate.html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3895</Words>
  <Application>Microsoft Office PowerPoint</Application>
  <PresentationFormat>Widescreen</PresentationFormat>
  <Paragraphs>469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Courier New</vt:lpstr>
      <vt:lpstr>Wingdings</vt:lpstr>
      <vt:lpstr>Learners Point</vt:lpstr>
      <vt:lpstr>Aggregate Functions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What Is an Aggregate?</vt:lpstr>
      <vt:lpstr>Scalar vs Aggregate Functions</vt:lpstr>
      <vt:lpstr>The Aggregate Pipeline</vt:lpstr>
      <vt:lpstr>The Aggregate Functions</vt:lpstr>
      <vt:lpstr>COUNT</vt:lpstr>
      <vt:lpstr>COUNT(*)</vt:lpstr>
      <vt:lpstr>COUNT(column)</vt:lpstr>
      <vt:lpstr>COUNT(DISTINCT column)</vt:lpstr>
      <vt:lpstr>Three Counts on Orders</vt:lpstr>
      <vt:lpstr>SUM, AVG and Rounding</vt:lpstr>
      <vt:lpstr>SUM and AVG</vt:lpstr>
      <vt:lpstr>Arithmetic Inside Aggregates</vt:lpstr>
      <vt:lpstr>Aggregates With WHERE</vt:lpstr>
      <vt:lpstr>Rounding</vt:lpstr>
      <vt:lpstr>Never Compare Money With =</vt:lpstr>
      <vt:lpstr>The 0.1 + 0.2 Result</vt:lpstr>
      <vt:lpstr>MIN and MAX</vt:lpstr>
      <vt:lpstr>MIN and MAX Work on Many Types</vt:lpstr>
      <vt:lpstr>MIN and MAX on Orders and Names</vt:lpstr>
      <vt:lpstr>Date and Text Results</vt:lpstr>
      <vt:lpstr>Range Check</vt:lpstr>
      <vt:lpstr>NULL and Empty Sets</vt:lpstr>
      <vt:lpstr>How Aggregates Treat NULL</vt:lpstr>
      <vt:lpstr>NULLs Are Ignored, Not Zero</vt:lpstr>
      <vt:lpstr>Missing Means Zero</vt:lpstr>
      <vt:lpstr>Empty Sets</vt:lpstr>
      <vt:lpstr>Empty-Set Behaviour</vt:lpstr>
      <vt:lpstr>Integer Division and CASE</vt:lpstr>
      <vt:lpstr>Integer Division</vt:lpstr>
      <vt:lpstr>A Percentage Done Right</vt:lpstr>
      <vt:lpstr>Conditional Aggregation</vt:lpstr>
      <vt:lpstr>Conditional Sums of Amounts</vt:lpstr>
      <vt:lpstr>GROUP_CONCAT</vt:lpstr>
      <vt:lpstr>Profiling and Assertions</vt:lpstr>
      <vt:lpstr>Aggregates With GROUP BY and Joins</vt:lpstr>
      <vt:lpstr>Aggregates Cannot Be Nested</vt:lpstr>
      <vt:lpstr>What Is Data Profiling?</vt:lpstr>
      <vt:lpstr>Profiling Customers</vt:lpstr>
      <vt:lpstr>Profiling Order Items</vt:lpstr>
      <vt:lpstr>Aggregates as Assertions</vt:lpstr>
      <vt:lpstr>Run the First Assertion</vt:lpstr>
      <vt:lpstr>Dialect Notes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2026-10-20T11:37:38Z</dcterms:modified>
</cp:coreProperties>
</file>