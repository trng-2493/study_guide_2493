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sldSz cx="12192000" cy="6858000"/>
  <p:notesSz cx="6858000" cy="9144000"/>
  <p:defaultTextStyle>
    <a:defPPr>
      <a:defRPr lang="en-I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Line 2"/>
          <p:cNvSpPr>
            <a:spLocks noChangeShapeType="1"/>
          </p:cNvSpPr>
          <p:nvPr/>
        </p:nvSpPr>
        <p:spPr bwMode="auto">
          <a:xfrm>
            <a:off x="9753600" y="1066800"/>
            <a:ext cx="0" cy="17526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016000" y="457200"/>
            <a:ext cx="8519584" cy="2133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6656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132417" y="3049588"/>
            <a:ext cx="8331200" cy="2362200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66565" name="Rectangle 5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fld id="{F304A9D6-1313-4D51-A62E-402D441D9A7B}" type="datetime1">
              <a:rPr lang="en-US" smtClean="0"/>
              <a:t>10/20/2026</a:t>
            </a:fld>
            <a:endParaRPr lang="en-US"/>
          </a:p>
        </p:txBody>
      </p:sp>
      <p:sp>
        <p:nvSpPr>
          <p:cNvPr id="66566" name="Rectangle 6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6567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sp>
        <p:nvSpPr>
          <p:cNvPr id="66568" name="Line 8"/>
          <p:cNvSpPr>
            <a:spLocks noChangeShapeType="1"/>
          </p:cNvSpPr>
          <p:nvPr/>
        </p:nvSpPr>
        <p:spPr bwMode="auto">
          <a:xfrm>
            <a:off x="1117600" y="2819400"/>
            <a:ext cx="8636000" cy="0"/>
          </a:xfrm>
          <a:prstGeom prst="line">
            <a:avLst/>
          </a:prstGeom>
          <a:noFill/>
          <a:ln w="63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grpSp>
        <p:nvGrpSpPr>
          <p:cNvPr id="66569" name="Group 9" descr="decorative graphic made up of dots"/>
          <p:cNvGrpSpPr>
            <a:grpSpLocks/>
          </p:cNvGrpSpPr>
          <p:nvPr/>
        </p:nvGrpSpPr>
        <p:grpSpPr bwMode="auto">
          <a:xfrm>
            <a:off x="9956801" y="1219200"/>
            <a:ext cx="1056217" cy="1295400"/>
            <a:chOff x="5136" y="960"/>
            <a:chExt cx="528" cy="864"/>
          </a:xfrm>
        </p:grpSpPr>
        <p:sp>
          <p:nvSpPr>
            <p:cNvPr id="66570" name="Oval 10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1" name="Oval 11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2" name="Oval 12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3" name="Oval 13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4" name="Oval 14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5" name="Oval 15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6" name="Oval 16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7" name="Oval 17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8" name="Oval 18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9" name="Oval 19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0" name="Oval 20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1" name="Oval 21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2" name="Oval 22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3" name="Oval 23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4" name="Oval 24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5" name="Oval 25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6" name="Oval 26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7" name="Oval 27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8" name="Oval 28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9" name="Oval 29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0" name="Oval 30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1" name="Oval 31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2" name="Oval 32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3" name="Oval 33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4" name="Oval 34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5" name="Oval 35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6" name="Oval 36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7" name="Oval 37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8" name="Oval 38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9" name="Oval 39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0" name="Oval 40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grpSp>
        <p:nvGrpSpPr>
          <p:cNvPr id="66601" name="Group 41" descr="decorative graphic made up of dots"/>
          <p:cNvGrpSpPr>
            <a:grpSpLocks/>
          </p:cNvGrpSpPr>
          <p:nvPr/>
        </p:nvGrpSpPr>
        <p:grpSpPr bwMode="auto">
          <a:xfrm>
            <a:off x="9956801" y="1219200"/>
            <a:ext cx="1056217" cy="1295400"/>
            <a:chOff x="5136" y="960"/>
            <a:chExt cx="528" cy="864"/>
          </a:xfrm>
        </p:grpSpPr>
        <p:sp>
          <p:nvSpPr>
            <p:cNvPr id="66602" name="Oval 42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3" name="Oval 43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4" name="Oval 44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5" name="Oval 45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6" name="Oval 46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7" name="Oval 47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8" name="Oval 48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9" name="Oval 49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0" name="Oval 50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1" name="Oval 51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2" name="Oval 52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3" name="Oval 53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4" name="Oval 54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5" name="Oval 55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6" name="Oval 56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7" name="Oval 57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8" name="Oval 58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9" name="Oval 59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0" name="Oval 60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1" name="Oval 61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2" name="Oval 62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3" name="Oval 63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4" name="Oval 64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5" name="Oval 65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6" name="Oval 66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7" name="Oval 67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8" name="Oval 68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9" name="Oval 69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0" name="Oval 70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1" name="Oval 71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2" name="Oval 72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8955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256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44A8556-2F07-416B-A81B-5F1C3AFD01EF}" type="datetime1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7954" y="6261305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722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6729637-7636-4388-949A-FC8BFDAA4705}" type="datetime1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092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0F5DED8-6456-47A2-A5CC-BE8BEC6BD892}" type="datetime1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174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7595759-8665-4708-8376-28A90FA13BDD}" type="datetime1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97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3B0C243-4A55-4741-8265-C0A2FA769F7B}" type="datetime1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546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99A12F7-971D-41C1-A2B7-EBB58FF381A3}" type="datetime1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112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E3C3D28-2E0C-4F8B-A45D-9E87921943BF}" type="datetime1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995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020A2-9D30-48AD-A70D-69AD2B027FCA}" type="datetime1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103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01F6343-4644-43E3-AA07-6869EC7CEA0D}" type="datetime1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150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22239"/>
            <a:ext cx="2743200" cy="6008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22239"/>
            <a:ext cx="8026400" cy="6008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CA0A126-F3CA-45B4-970B-597BE67A203E}" type="datetime1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4651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22238"/>
            <a:ext cx="100584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16815F9B-CAFE-4C37-897A-C6403744783F}" type="datetime1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879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Line 2"/>
          <p:cNvSpPr>
            <a:spLocks noChangeShapeType="1"/>
          </p:cNvSpPr>
          <p:nvPr/>
        </p:nvSpPr>
        <p:spPr bwMode="auto">
          <a:xfrm>
            <a:off x="10668000" y="0"/>
            <a:ext cx="0" cy="15240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122238"/>
            <a:ext cx="100584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6554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719263"/>
            <a:ext cx="10972800" cy="4411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65541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/>
            </a:lvl1pPr>
          </a:lstStyle>
          <a:p>
            <a:fld id="{C569D4A1-8BB6-4430-9601-3FBC79908E8C}" type="datetime1">
              <a:rPr lang="en-US" smtClean="0"/>
              <a:t>10/20/2026</a:t>
            </a:fld>
            <a:endParaRPr lang="en-US"/>
          </a:p>
        </p:txBody>
      </p:sp>
      <p:sp>
        <p:nvSpPr>
          <p:cNvPr id="65542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/>
            </a:lvl1pPr>
          </a:lstStyle>
          <a:p>
            <a:endParaRPr lang="en-US"/>
          </a:p>
        </p:txBody>
      </p:sp>
      <p:sp>
        <p:nvSpPr>
          <p:cNvPr id="6554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grpSp>
        <p:nvGrpSpPr>
          <p:cNvPr id="65544" name="Group 8" descr="decorative graphic made up of dots"/>
          <p:cNvGrpSpPr>
            <a:grpSpLocks/>
          </p:cNvGrpSpPr>
          <p:nvPr/>
        </p:nvGrpSpPr>
        <p:grpSpPr bwMode="auto">
          <a:xfrm>
            <a:off x="10871201" y="152400"/>
            <a:ext cx="1056217" cy="1295400"/>
            <a:chOff x="5136" y="960"/>
            <a:chExt cx="528" cy="864"/>
          </a:xfrm>
        </p:grpSpPr>
        <p:sp>
          <p:nvSpPr>
            <p:cNvPr id="65545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6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7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8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9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0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1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2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3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4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5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6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7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8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9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0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1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2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3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4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5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6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7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8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9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0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1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2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3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4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5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sp>
        <p:nvSpPr>
          <p:cNvPr id="65576" name="Line 40"/>
          <p:cNvSpPr>
            <a:spLocks noChangeShapeType="1"/>
          </p:cNvSpPr>
          <p:nvPr/>
        </p:nvSpPr>
        <p:spPr bwMode="auto">
          <a:xfrm>
            <a:off x="609600" y="1524000"/>
            <a:ext cx="100584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</p:spTree>
    <p:extLst>
      <p:ext uri="{BB962C8B-B14F-4D97-AF65-F5344CB8AC3E}">
        <p14:creationId xmlns:p14="http://schemas.microsoft.com/office/powerpoint/2010/main" val="2634220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9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87425" indent="-293688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281113" indent="-2921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986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GROUP BY and HAVING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2057400"/>
            <a:ext cx="8777508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 i="0">
                <a:solidFill>
                  <a:srgbClr val="5A5A5A"/>
                </a:solidFill>
                <a:latin typeface="Arial"/>
              </a:rPr>
              <a:t>Collapse many rows into one summary row per group, filter groups with HAVING, and detect duplicates.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3520439"/>
            <a:ext cx="1417320" cy="402336"/>
          </a:xfrm>
          <a:prstGeom prst="roundRect">
            <a:avLst>
              <a:gd name="adj" fmla="val 50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Arial"/>
              </a:rPr>
              <a:t>GROUP BY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118664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484424" y="3520439"/>
            <a:ext cx="1657350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330066"/>
                </a:solidFill>
                <a:latin typeface="Arial"/>
              </a:rPr>
              <a:t>aggregates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233214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598974" y="3520439"/>
            <a:ext cx="1177290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330066"/>
                </a:solidFill>
                <a:latin typeface="Arial"/>
              </a:rPr>
              <a:t>HAVING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867704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233464" y="3520439"/>
            <a:ext cx="2377440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330066"/>
                </a:solidFill>
                <a:latin typeface="Arial"/>
              </a:rPr>
              <a:t>processing order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702344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068104" y="3520439"/>
            <a:ext cx="2377440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330066"/>
                </a:solidFill>
                <a:latin typeface="Arial"/>
              </a:rPr>
              <a:t>joins + grouping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11536984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1902744" y="3520439"/>
            <a:ext cx="1657350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330066"/>
                </a:solidFill>
                <a:latin typeface="Arial"/>
              </a:rPr>
              <a:t>duplicates</a:t>
            </a:r>
          </a:p>
        </p:txBody>
      </p:sp>
      <p:sp>
        <p:nvSpPr>
          <p:cNvPr id="16" name="Oval 15"/>
          <p:cNvSpPr/>
          <p:nvPr/>
        </p:nvSpPr>
        <p:spPr>
          <a:xfrm>
            <a:off x="609904" y="5596128"/>
            <a:ext cx="292608" cy="29260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67104" y="5596128"/>
            <a:ext cx="292608" cy="292608"/>
          </a:xfrm>
          <a:prstGeom prst="ellipse">
            <a:avLst/>
          </a:prstGeom>
          <a:solidFill>
            <a:srgbClr val="66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524304" y="5596128"/>
            <a:ext cx="292608" cy="292608"/>
          </a:xfrm>
          <a:prstGeom prst="ellipse">
            <a:avLst/>
          </a:prstGeom>
          <a:solidFill>
            <a:srgbClr val="CC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Learning Objectives (1 of 2)</a:t>
            </a:r>
          </a:p>
        </p:txBody>
      </p:sp>
      <p:sp>
        <p:nvSpPr>
          <p:cNvPr id="3" name="Oval 2"/>
          <p:cNvSpPr/>
          <p:nvPr/>
        </p:nvSpPr>
        <p:spPr>
          <a:xfrm>
            <a:off x="609904" y="1874519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6832" y="1783079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Explain what grouping does: it collapses many rows into one summary row per group.</a:t>
            </a:r>
          </a:p>
        </p:txBody>
      </p:sp>
      <p:sp>
        <p:nvSpPr>
          <p:cNvPr id="5" name="Oval 4"/>
          <p:cNvSpPr/>
          <p:nvPr/>
        </p:nvSpPr>
        <p:spPr>
          <a:xfrm>
            <a:off x="609904" y="2532887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6832" y="2441447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Write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GROUP BY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queries with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COUNT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SUM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AVG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MIN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and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MAX</a:t>
            </a:r>
            <a:r>
              <a:rPr sz="16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7" name="Oval 6"/>
          <p:cNvSpPr/>
          <p:nvPr/>
        </p:nvSpPr>
        <p:spPr>
          <a:xfrm>
            <a:off x="609904" y="3191256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6832" y="3099815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Group by one column and by several columns.</a:t>
            </a:r>
          </a:p>
        </p:txBody>
      </p:sp>
      <p:sp>
        <p:nvSpPr>
          <p:cNvPr id="9" name="Oval 8"/>
          <p:cNvSpPr/>
          <p:nvPr/>
        </p:nvSpPr>
        <p:spPr>
          <a:xfrm>
            <a:off x="609904" y="3849624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6832" y="3758184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State the difference between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WHERE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(filters rows before grouping) and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HAVING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(filters groups after).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 / 43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Learning Objectives (2 of 2)</a:t>
            </a:r>
          </a:p>
        </p:txBody>
      </p:sp>
      <p:sp>
        <p:nvSpPr>
          <p:cNvPr id="3" name="Oval 2"/>
          <p:cNvSpPr/>
          <p:nvPr/>
        </p:nvSpPr>
        <p:spPr>
          <a:xfrm>
            <a:off x="609904" y="1874519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6832" y="1783079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Describe the logical order in which SQL processes the clauses of a query.</a:t>
            </a:r>
          </a:p>
        </p:txBody>
      </p:sp>
      <p:sp>
        <p:nvSpPr>
          <p:cNvPr id="5" name="Oval 4"/>
          <p:cNvSpPr/>
          <p:nvPr/>
        </p:nvSpPr>
        <p:spPr>
          <a:xfrm>
            <a:off x="609904" y="2532887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6832" y="2441447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Know the rule "every selected column is either in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GROUP BY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or inside an aggregate", and what SQLite does differently.</a:t>
            </a:r>
          </a:p>
        </p:txBody>
      </p:sp>
      <p:sp>
        <p:nvSpPr>
          <p:cNvPr id="7" name="Oval 6"/>
          <p:cNvSpPr/>
          <p:nvPr/>
        </p:nvSpPr>
        <p:spPr>
          <a:xfrm>
            <a:off x="609904" y="3191256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6832" y="3099815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Combine joins with grouping to produce per-customer or per-category reports.</a:t>
            </a:r>
          </a:p>
        </p:txBody>
      </p:sp>
      <p:sp>
        <p:nvSpPr>
          <p:cNvPr id="9" name="Oval 8"/>
          <p:cNvSpPr/>
          <p:nvPr/>
        </p:nvSpPr>
        <p:spPr>
          <a:xfrm>
            <a:off x="609904" y="3849624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6832" y="3758184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Use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GROUP BY ... HAVING COUNT(*) &gt; 1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to detect duplicates, a core QA technique.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 / 43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Practice Database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INTRODUCTION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783080"/>
          <a:ext cx="10971885" cy="2648712"/>
        </p:xfrm>
        <a:graphic>
          <a:graphicData uri="http://schemas.openxmlformats.org/drawingml/2006/table">
            <a:tbl>
              <a:tblPr/>
              <a:tblGrid>
                <a:gridCol w="27429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89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Table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Columns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30066"/>
                          </a:solidFill>
                          <a:latin typeface="Courier New"/>
                        </a:rPr>
                        <a:t>customers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customer_id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 (PK),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full_name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email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country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created_date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30066"/>
                          </a:solidFill>
                          <a:latin typeface="Courier New"/>
                        </a:rPr>
                        <a:t>products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product_id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 (PK),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product_name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category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unit_price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30066"/>
                          </a:solidFill>
                          <a:latin typeface="Courier New"/>
                        </a:rPr>
                        <a:t>orders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order_id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 (PK),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customer_id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 (FK),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order_date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status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total_amount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30066"/>
                          </a:solidFill>
                          <a:latin typeface="Courier New"/>
                        </a:rPr>
                        <a:t>order_items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item_id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 (PK),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order_id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 (FK),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product_id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 (FK),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quantity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unit_price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30066"/>
                          </a:solidFill>
                          <a:latin typeface="Courier New"/>
                        </a:rPr>
                        <a:t>payments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payment_id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 (PK),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order_id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 (FK),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amount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method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status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30066"/>
                          </a:solidFill>
                          <a:latin typeface="Courier New"/>
                        </a:rPr>
                        <a:t>defects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defect_id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 (PK),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product_id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 (FK, nullable),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title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severity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status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found_date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 / 43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Planted Data Problems (1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Duplicate customer (IDs 2 and 8, same email); NULL email (customer 6).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Customers 6, 8, 9, 10 never ordered.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Order 107 has customer 99 who does not exist; order 108 has a NULL customer (guest).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Order 109 has no items.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Order totals that do not match their items (103, 110, 112; 109 also fails, having no items).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5 / 43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Planted Data Problems (2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Duplicate item rows (IDs 5 and 13); item 14 points to missing order 999; item 15 points to missing product 999; item 16 has quantity -1.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Payment 10 points to missing order 888; payments 2 and 11 are duplicates.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Products 7 and 8 were never sold; defect 3 has no product.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Full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CREATE TABLE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and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INSERT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script: see the lesson "INSERT, UPDATE and DELETE".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6 / 43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Why This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Thursday's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SELECT</a:t>
            </a:r>
            <a:r>
              <a:rPr sz="17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WHERE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and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ORDER BY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show individual rows. Many testing questions are about groups of rows.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How many orders are in each status? Does the count match the dashboard?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What is the total revenue per product category?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Do any two customers share the same email? Duplicate data is a classic bug.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Which orders contain more than one line for the same product?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650" b="0" i="0">
                <a:solidFill>
                  <a:srgbClr val="330066"/>
                </a:solidFill>
                <a:latin typeface="Courier New"/>
              </a:rPr>
              <a:t>GROUP BY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and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HAVING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let the database summarise for you, and automate checks such as "no duplicate emails exist".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7 / 43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Grouping Basics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Piles of receipts: one summary row per group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8 / 43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The Idea of Grouping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10971885" cy="2011680"/>
          </a:xfrm>
          <a:prstGeom prst="roundRect">
            <a:avLst>
              <a:gd name="adj" fmla="val 4090"/>
            </a:avLst>
          </a:prstGeom>
          <a:solidFill>
            <a:srgbClr val="F5F5C2"/>
          </a:solidFill>
          <a:ln w="12700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38504" y="1920240"/>
            <a:ext cx="10514685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ANALOGY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Imagine a shoebox of shop receipts. Asked "how much did we sell per day?", you sort the receipts into piles, one pile per day, then add up each pile.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GROUP BY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does exactly this: it sorts rows into groups based on the value of one or more columns, then lets you calculate one summary value per group.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9 / 43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Without and With GROUP BY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6766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No grouping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6766560" cy="445008"/>
          </a:xfrm>
          <a:prstGeom prst="roundRect">
            <a:avLst>
              <a:gd name="adj" fmla="val 16438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6364224" cy="152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SELECT COUNT(*) AS number_of_orders, SUM(total_amount) AS all_totals FROM orders;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2685288"/>
            <a:ext cx="6766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Grouped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2959607"/>
            <a:ext cx="6766560" cy="993648"/>
          </a:xfrm>
          <a:prstGeom prst="roundRect">
            <a:avLst>
              <a:gd name="adj" fmla="val 7361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1072" y="3105912"/>
            <a:ext cx="6364224" cy="701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SELECT status, COUNT(*) AS number_of_orders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FROM orders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GROUP BY status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ORDER BY status;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42224" y="1783080"/>
            <a:ext cx="383956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Without grouping, an aggregate summarises the entire table into one row: 12 orders, total 3450.44.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With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GROUP BY status</a:t>
            </a:r>
            <a:r>
              <a:rPr sz="1300" b="0" i="0">
                <a:solidFill>
                  <a:srgbClr val="1A1A1A"/>
                </a:solidFill>
                <a:latin typeface="Arial"/>
              </a:rPr>
              <a:t>: cancelled 1, completed 8, pending 2, shipped 1 (adds up to 12).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10 / 43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How GROUP BY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650" b="0" i="0">
                <a:solidFill>
                  <a:srgbClr val="330066"/>
                </a:solidFill>
                <a:latin typeface="Courier New"/>
              </a:rPr>
              <a:t>FROM orders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supplies all 12 rows.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650" b="0" i="0">
                <a:solidFill>
                  <a:srgbClr val="330066"/>
                </a:solidFill>
                <a:latin typeface="Courier New"/>
              </a:rPr>
              <a:t>GROUP BY status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puts rows with the same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status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into the same group.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650" b="0" i="0">
                <a:solidFill>
                  <a:srgbClr val="330066"/>
                </a:solidFill>
                <a:latin typeface="Courier New"/>
              </a:rPr>
              <a:t>COUNT(*)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is calculated once per group.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650" b="0" i="0">
                <a:solidFill>
                  <a:srgbClr val="330066"/>
                </a:solidFill>
                <a:latin typeface="Courier New"/>
              </a:rPr>
              <a:t>SELECT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returns one row per group: the group's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status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plus its count.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11 / 43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The Basic Aggregate 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783080"/>
          <a:ext cx="10971884" cy="2747772"/>
        </p:xfrm>
        <a:graphic>
          <a:graphicData uri="http://schemas.openxmlformats.org/drawingml/2006/table">
            <a:tbl>
              <a:tblPr/>
              <a:tblGrid>
                <a:gridCol w="3291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803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Function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Meaning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954"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330066"/>
                          </a:solidFill>
                          <a:latin typeface="Courier New"/>
                        </a:rPr>
                        <a:t>COUNT(*)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number of rows in the group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954"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330066"/>
                          </a:solidFill>
                          <a:latin typeface="Courier New"/>
                        </a:rPr>
                        <a:t>COUNT(col)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Arial"/>
                        </a:rPr>
                        <a:t>number of rows where </a:t>
                      </a:r>
                      <a:r>
                        <a:rPr sz="1450" b="0" i="0">
                          <a:solidFill>
                            <a:srgbClr val="330066"/>
                          </a:solidFill>
                          <a:latin typeface="Courier New"/>
                        </a:rPr>
                        <a:t>col</a:t>
                      </a:r>
                      <a:r>
                        <a:rPr sz="1500" b="0" i="0">
                          <a:solidFill>
                            <a:srgbClr val="1A1A1A"/>
                          </a:solidFill>
                          <a:latin typeface="Arial"/>
                        </a:rPr>
                        <a:t> is not NULL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954"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330066"/>
                          </a:solidFill>
                          <a:latin typeface="Courier New"/>
                        </a:rPr>
                        <a:t>SUM(col)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total of the values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954"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330066"/>
                          </a:solidFill>
                          <a:latin typeface="Courier New"/>
                        </a:rPr>
                        <a:t>AVG(col)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average of the values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954"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330066"/>
                          </a:solidFill>
                          <a:latin typeface="Courier New"/>
                        </a:rPr>
                        <a:t>MIN(col)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smallest value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3954"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330066"/>
                          </a:solidFill>
                          <a:latin typeface="Courier New"/>
                        </a:rPr>
                        <a:t>MAX(col)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largest value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12 / 43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All Aggregates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Grouped by product category; we join to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products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because the category lives there.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221991"/>
            <a:ext cx="5852160" cy="2121408"/>
          </a:xfrm>
          <a:prstGeom prst="roundRect">
            <a:avLst>
              <a:gd name="adj" fmla="val 3448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368296"/>
            <a:ext cx="5449824" cy="18287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SELECT p.category,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   COUNT(*)                     AS order_lines,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   SUM(i.quantity)              AS units_sold,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   SUM(i.quantity * i.unit_price) AS revenue,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   MIN(i.unit_price)            AS cheapest,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   MAX(i.unit_price)            AS dearest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FROM order_items AS i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INNER JOIN products AS p ON p.product_id = i.product_id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GROUP BY p.category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ORDER BY revenue DESC;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27824" y="2221991"/>
            <a:ext cx="4753965" cy="3922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i.quantity * i.unit_price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is a per-row line total;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SUM(...)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adds them per category.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1A1A1A"/>
                </a:solidFill>
                <a:latin typeface="Arial"/>
              </a:rPr>
              <a:t>Result: Electronics 3125.0, Furniture 300.0, Stationery 45.5, Accessories 29.97.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INNER JOIN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drops item 15 (product 999) and its revenue: a data-quality issue the report hides.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ORDER BY revenue DESC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can use an alias defined in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SELECT</a:t>
            </a:r>
            <a:r>
              <a:rPr sz="125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13 / 43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The Golden Rule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What may appear in SELECT, grouping on several columns, and NULL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14 / 43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The Golden Rule of GROUP BY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10971885" cy="2011680"/>
          </a:xfrm>
          <a:prstGeom prst="roundRect">
            <a:avLst>
              <a:gd name="adj" fmla="val 4090"/>
            </a:avLst>
          </a:prstGeom>
          <a:solidFill>
            <a:srgbClr val="F5F5C2"/>
          </a:solidFill>
          <a:ln w="12700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38504" y="1920240"/>
            <a:ext cx="10514685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RULE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Every column in the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SELECT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list must either appear in the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GROUP BY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clause or be inside an aggregate function. After grouping there is only one row per group: if you select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order_id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while grouping by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status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which of the 8 order IDs should the single "completed" row show? The question has no answer.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15 / 43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SQLite Breaks the Rule Silently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Query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4389120" cy="1085087"/>
          </a:xfrm>
          <a:prstGeom prst="roundRect">
            <a:avLst>
              <a:gd name="adj" fmla="val 6741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3986783" cy="7924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SELECT status, order_id, COUNT(*) AS n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FROM orders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GROUP BY status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ORDER BY status;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3325368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Result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3599688"/>
            <a:ext cx="4389120" cy="1679448"/>
          </a:xfrm>
          <a:prstGeom prst="roundRect">
            <a:avLst>
              <a:gd name="adj" fmla="val 4355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1072" y="3745992"/>
            <a:ext cx="3986783" cy="1386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status    | order_id | n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----------+----------+--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cancelled | 106      | 1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completed | 101      | 8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pending   | 105      | 2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shipped   | 104      | 1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(4 rows)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64784" y="1783080"/>
            <a:ext cx="621700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PostgreSQL, SQL Server, Oracle and MySQL (strict default) reject this query.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SQLite does not: it silently picks a value from an arbitrary row.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The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order_id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column is meaningless. Treat it as a bug; the same query would fail elsewhere.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16 / 43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Grouping by Several Columns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5669280" cy="1207007"/>
          </a:xfrm>
          <a:prstGeom prst="roundRect">
            <a:avLst>
              <a:gd name="adj" fmla="val 6060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266944" cy="9143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SELECT p.category, i.quantity, COUNT(*) AS lines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FROM order_items AS i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INNER JOIN products AS p ON p.product_id = i.product_id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GROUP BY p.category, i.quantity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ORDER BY p.category, i.quantity;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44944" y="1783080"/>
            <a:ext cx="493684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A group is a unique combination of values: each result row is one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(category, quantity)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pair.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8 rows. The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-1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quantity line (item 16, the negative-quantity bug) shows up as its own group.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Grouping is a good way to spot odd values.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17 / 43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Grouping and NULL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766560" cy="932688"/>
          </a:xfrm>
          <a:prstGeom prst="roundRect">
            <a:avLst>
              <a:gd name="adj" fmla="val 7843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6364224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SELECT customer_id, COUNT(*) AS orders_in_group, SUM(total_amount) AS revenue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FROM orders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GROUP BY customer_id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ORDER BY customer_id;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2224" y="1783080"/>
            <a:ext cx="383956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All rows with NULL in the grouping column form one group (NULLs are the same for grouping, unlike in comparisons).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The NULL group is the single guest order 108; the customer 99 group is the orphan order.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Both become visible when you group, but are easy to miss in a plain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SELECT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of a big table.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18 / 43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HAVING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Filtering groups, and the logical order of 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19 / 43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WHERE Cannot Filter on COUNT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Query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4572000" cy="1024127"/>
          </a:xfrm>
          <a:prstGeom prst="roundRect">
            <a:avLst>
              <a:gd name="adj" fmla="val 7142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4169663" cy="7315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SELECT customer_id, COUNT(*) AS orders_placed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FROM orders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WHERE COUNT(*) &gt; 1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GROUP BY customer_id;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326440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Result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3538727"/>
            <a:ext cx="4572000" cy="490727"/>
          </a:xfrm>
          <a:prstGeom prst="roundRect">
            <a:avLst>
              <a:gd name="adj" fmla="val 14906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1072" y="3685031"/>
            <a:ext cx="4169663" cy="1981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Error: misuse of aggregate: COUNT()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47664" y="1783080"/>
            <a:ext cx="60341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Goal: only customers with more than one order.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It fails: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WHERE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is evaluated before groups exist, so there is no count yet.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20 / 43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HAVING Filters Groups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4937760" cy="1283208"/>
          </a:xfrm>
          <a:prstGeom prst="roundRect">
            <a:avLst>
              <a:gd name="adj" fmla="val 5700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4535424" cy="9905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SELECT customer_id, COUNT(*) AS orders_placed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FROM orders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GROUP BY customer_id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HAVING COUNT(*) &gt; 1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ORDER BY customer_id;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13424" y="1783080"/>
            <a:ext cx="566836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HAVING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is evaluated after grouping.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Result: customers 1, 2, 3 and 7, two orders each.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21 / 43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WHERE vs HAVING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783080"/>
          <a:ext cx="10971884" cy="1171956"/>
        </p:xfrm>
        <a:graphic>
          <a:graphicData uri="http://schemas.openxmlformats.org/drawingml/2006/table">
            <a:tbl>
              <a:tblPr/>
              <a:tblGrid>
                <a:gridCol w="19749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721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624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624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Clause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Filters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Runs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Can use aggregates?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954"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330066"/>
                          </a:solidFill>
                          <a:latin typeface="Courier New"/>
                        </a:rPr>
                        <a:t>WHERE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individual rows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before grouping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954"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330066"/>
                          </a:solidFill>
                          <a:latin typeface="Courier New"/>
                        </a:rPr>
                        <a:t>HAVING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whole groups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after grouping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22 / 43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WHERE and HAVING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Among completed orders only, which customers have more than one, and what is their total?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221991"/>
            <a:ext cx="6400800" cy="1694688"/>
          </a:xfrm>
          <a:prstGeom prst="roundRect">
            <a:avLst>
              <a:gd name="adj" fmla="val 4316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368296"/>
            <a:ext cx="5998464" cy="1402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SELECT customer_id,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   COUNT(*)          AS completed_orders,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   SUM(total_amount) AS completed_total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FROM orders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WHERE status = 'completed'          -- row filter, applied first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GROUP BY customer_id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HAVING COUNT(*) &gt; 1                 -- group filter, applied second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ORDER BY completed_total DESC;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76464" y="2221991"/>
            <a:ext cx="4205325" cy="3922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1A1A1A"/>
                </a:solidFill>
                <a:latin typeface="Arial"/>
              </a:rPr>
              <a:t>(1)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WHERE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discards non-completed orders; (2) rows are grouped by customer; (3)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HAVING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keeps customers with more than one.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1A1A1A"/>
                </a:solidFill>
                <a:latin typeface="Arial"/>
              </a:rPr>
              <a:t>Result: customers 1 (1255.48) and 2 (205.0). Customer 3's second order is shipped, customer 7's other is pending.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1A1A1A"/>
                </a:solidFill>
                <a:latin typeface="Arial"/>
              </a:rPr>
              <a:t>Put every condition that can go in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WHERE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in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WHERE</a:t>
            </a:r>
            <a:r>
              <a:rPr sz="1250" b="0" i="0">
                <a:solidFill>
                  <a:srgbClr val="1A1A1A"/>
                </a:solidFill>
                <a:latin typeface="Arial"/>
              </a:rPr>
              <a:t>; use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HAVING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only for conditions on aggregates.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23 / 43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Logical Order of 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766560" cy="1633728"/>
          </a:xfrm>
          <a:prstGeom prst="roundRect">
            <a:avLst>
              <a:gd name="adj" fmla="val 4477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6364224" cy="1341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Written order:                 Logical execution order: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1. SELECT                      1. FROM / JOIN   (build the row set)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2. FROM                        2. WHERE         (filter rows)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3. JOIN                        3. GROUP BY      (make groups)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4. WHERE                       4. HAVING        (filter groups)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5. GROUP BY                    5. SELECT        (compute columns, aliases)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6. HAVING                      6. ORDER BY      (sort the result)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7. ORDER BY                    7. LIMIT         (cut the result)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2224" y="1783080"/>
            <a:ext cx="383956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SQL is written in one order but conceptually executed in another.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330066"/>
                </a:solidFill>
                <a:latin typeface="Courier New"/>
              </a:rPr>
              <a:t>WHERE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cannot use aggregates: groups do not exist yet.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330066"/>
                </a:solidFill>
                <a:latin typeface="Courier New"/>
              </a:rPr>
              <a:t>WHERE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cannot use a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SELECT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alias in most databases (aliases are created at step 5);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ORDER BY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can, because it runs after.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330066"/>
                </a:solidFill>
                <a:latin typeface="Courier New"/>
              </a:rPr>
              <a:t>HAVING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is used for conditions on aggregates.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24 / 43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Joins Plus Grouping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Per-customer reports and the row multiplication warning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25 / 43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Revenue per Customer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Join first, then group.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221991"/>
            <a:ext cx="5486400" cy="1755648"/>
          </a:xfrm>
          <a:prstGeom prst="roundRect">
            <a:avLst>
              <a:gd name="adj" fmla="val 4166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368296"/>
            <a:ext cx="5084064" cy="1463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SELECT c.customer_id,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   c.full_name,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   COUNT(o.order_id)  AS orders_placed,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   SUM(o.total_amount) AS total_spent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FROM customers AS c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INNER JOIN orders AS o ON o.customer_id = c.customer_id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GROUP BY c.customer_id, c.full_name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ORDER BY total_spent DESC;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2064" y="2221991"/>
            <a:ext cx="5119725" cy="3922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Result: 6 customers; Alice Johnson 1255.48, Eve Muller 1200.0, Carla Gomez 619.99 at the top.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Group by both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customer_id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and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full_name</a:t>
            </a:r>
            <a:r>
              <a:rPr sz="1300" b="0" i="0">
                <a:solidFill>
                  <a:srgbClr val="1A1A1A"/>
                </a:solidFill>
                <a:latin typeface="Arial"/>
              </a:rPr>
              <a:t>: portable and safe. Names are not unique (the two Bob Smiths), so the ID must be in the key.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26 / 43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Include Customers With No Orders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5486400" cy="1694688"/>
          </a:xfrm>
          <a:prstGeom prst="roundRect">
            <a:avLst>
              <a:gd name="adj" fmla="val 4316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084064" cy="1402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SELECT c.customer_id,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   c.full_name,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   COUNT(o.order_id)               AS orders_placed,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   COALESCE(SUM(o.total_amount),0) AS total_spent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FROM customers AS c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LEFT JOIN orders AS o ON o.customer_id = c.customer_id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GROUP BY c.customer_id, c.full_name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ORDER BY c.customer_id;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62064" y="1783080"/>
            <a:ext cx="51197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330066"/>
                </a:solidFill>
                <a:latin typeface="Courier New"/>
              </a:rPr>
              <a:t>LEFT JOIN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plus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COUNT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on the right-hand key.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Result: all 10 customers; customers 6, 8, 9, 10 show 0 orders and 0 spent.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330066"/>
                </a:solidFill>
                <a:latin typeface="Courier New"/>
              </a:rPr>
              <a:t>SUM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over no rows returns NULL, so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COALESCE(..., 0)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displays zero.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27 / 43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Row Multiplication Warning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7132320" cy="1054608"/>
          </a:xfrm>
          <a:prstGeom prst="roundRect">
            <a:avLst>
              <a:gd name="adj" fmla="val 6936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6729983" cy="761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SELECT SUM(o.total_amount)            AS wrong_sum_after_join,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   (SELECT SUM(total_amount) FROM orders WHERE order_id IN (SELECT order_id FROM order_items)) AS correct_sum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FROM orders AS o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INNER JOIN order_items AS i ON i.order_id = o.order_id;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07984" y="1783080"/>
            <a:ext cx="347380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A join to a "many" table repeats the parent's values; summing the parent's column afterwards inflates it.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Result: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wrong_sum_after_join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4810.91 vs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correct_sum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3370.44.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Sum the parent's amounts in a query that does not join to its children, or sum the children's line totals.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28 / 43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Detecting Duplicates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The most important QA use of grouping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29 / 43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The Duplicate-Detection Recipe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Decide which column(s) define "the same" (the natural key: the combination that should be unique).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650" b="0" i="0">
                <a:solidFill>
                  <a:srgbClr val="330066"/>
                </a:solidFill>
                <a:latin typeface="Courier New"/>
              </a:rPr>
              <a:t>GROUP BY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those columns.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650" b="0" i="0">
                <a:solidFill>
                  <a:srgbClr val="330066"/>
                </a:solidFill>
                <a:latin typeface="Courier New"/>
              </a:rPr>
              <a:t>HAVING COUNT(*) &gt; 1</a:t>
            </a:r>
            <a:r>
              <a:rPr sz="17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30 / 43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Duplicate Customer Emails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Ignoring NULL, since a missing email is a different problem.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221991"/>
            <a:ext cx="4937760" cy="1359408"/>
          </a:xfrm>
          <a:prstGeom prst="roundRect">
            <a:avLst>
              <a:gd name="adj" fmla="val 5381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368296"/>
            <a:ext cx="4535424" cy="10667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SELECT email, COUNT(*) AS occurrences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FROM customers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WHERE email IS NOT NULL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GROUP BY email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HAVING COUNT(*) &gt; 1;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13424" y="2221991"/>
            <a:ext cx="5668365" cy="3922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Result: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bob@example.com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2 occurrences (customers 2 and 8).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31 / 43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Which Rows Are Duplicates?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5852160" cy="2121408"/>
          </a:xfrm>
          <a:prstGeom prst="roundRect">
            <a:avLst>
              <a:gd name="adj" fmla="val 3448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449824" cy="18287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SELECT c.customer_id, c.full_name, c.email, c.created_date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FROM customers AS c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INNER JOIN (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SELECT email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FROM customers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WHERE email IS NOT NULL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GROUP BY email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HAVING COUNT(*) &gt; 1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) AS dup ON dup.email = c.email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ORDER BY c.email, c.customer_id;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27824" y="1783080"/>
            <a:ext cx="475396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Join the duplicate list back to the table to see which rows.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Result: customers 2 and 8, both Bob Smith,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bob@example.com</a:t>
            </a:r>
            <a:r>
              <a:rPr sz="1300" b="0" i="0">
                <a:solidFill>
                  <a:srgbClr val="1A1A1A"/>
                </a:solidFill>
                <a:latin typeface="Arial"/>
              </a:rPr>
              <a:t>, created 2025-01-15 and 2025-04-10.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32 / 43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Duplicate Order 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Same order and same product twice.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221991"/>
            <a:ext cx="6949440" cy="1054608"/>
          </a:xfrm>
          <a:prstGeom prst="roundRect">
            <a:avLst>
              <a:gd name="adj" fmla="val 6936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368296"/>
            <a:ext cx="6547103" cy="761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SELECT order_id, product_id, COUNT(*) AS occurrences, GROUP_CONCAT(item_id) AS item_ids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FROM order_items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GROUP BY order_id, product_id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HAVING COUNT(*) &gt; 1;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5104" y="2221991"/>
            <a:ext cx="3656685" cy="3922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Result: order 103, product 4, 2 occurrences, items 5 and 13.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330066"/>
                </a:solidFill>
                <a:latin typeface="Courier New"/>
              </a:rPr>
              <a:t>GROUP_CONCAT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joins the item IDs into one text value (SQLite/MySQL; PostgreSQL and SQL Server use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STRING_AGG</a:t>
            </a:r>
            <a:r>
              <a:rPr sz="1300" b="0" i="0">
                <a:solidFill>
                  <a:srgbClr val="1A1A1A"/>
                </a:solidFill>
                <a:latin typeface="Arial"/>
              </a:rPr>
              <a:t>). It makes the finding actionable.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33 / 43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Double Payments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Same order and same amount more than once.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221991"/>
            <a:ext cx="6949440" cy="1054608"/>
          </a:xfrm>
          <a:prstGeom prst="roundRect">
            <a:avLst>
              <a:gd name="adj" fmla="val 6936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368296"/>
            <a:ext cx="6547103" cy="761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SELECT order_id, amount, COUNT(*) AS payment_rows, GROUP_CONCAT(payment_id) AS payment_ids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FROM payments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GROUP BY order_id, amount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HAVING COUNT(*) &gt; 1;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5104" y="2221991"/>
            <a:ext cx="3656685" cy="3922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Result: order 102, amount 30.48, 2 payment rows (2 and 11): a potential double charge.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Whether it is a bug depends on whether two payments were genuinely expected; QA reports it with evidence.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34 / 43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More Patterns and Pitfalls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Group sizes, HAVING with other aggregates, dialects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35 / 43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Group Sizes, Largest First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4937760" cy="1146048"/>
          </a:xfrm>
          <a:prstGeom prst="roundRect">
            <a:avLst>
              <a:gd name="adj" fmla="val 6382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4535424" cy="853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SELECT country, COUNT(*) AS customers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FROM customers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GROUP BY country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ORDER BY customers DESC, country;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13424" y="1783080"/>
            <a:ext cx="566836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Result: US 4; DE, GB, IN, JP, KR, MX 1 each (7 rows).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36 / 43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Orders With 2 or More 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4937760" cy="1054608"/>
          </a:xfrm>
          <a:prstGeom prst="roundRect">
            <a:avLst>
              <a:gd name="adj" fmla="val 6936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4535424" cy="761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SELECT order_id, COUNT(*) AS lines, SUM(quantity) AS units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FROM order_items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GROUP BY order_id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HAVING COUNT(*) &gt;= 2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ORDER BY order_id;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13424" y="1783080"/>
            <a:ext cx="566836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Result: orders 101, 102, 103, 105 (4 rows); lines 2 each, units 2, 5, 2, 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37 / 43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HAVING on a Hidden Aggregate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 i="0">
                <a:solidFill>
                  <a:srgbClr val="330066"/>
                </a:solidFill>
                <a:latin typeface="Courier New"/>
              </a:rPr>
              <a:t>HAVING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can use any aggregate, not just those in the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SELECT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list.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221991"/>
            <a:ext cx="4937760" cy="902207"/>
          </a:xfrm>
          <a:prstGeom prst="roundRect">
            <a:avLst>
              <a:gd name="adj" fmla="val 8108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368296"/>
            <a:ext cx="4535424" cy="6095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SELECT order_id, SUM(quantity * unit_price) AS items_total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FROM order_items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GROUP BY order_id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HAVING MIN(quantity) &lt; 1;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13424" y="2221991"/>
            <a:ext cx="5668365" cy="3922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Result: order 112,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items_total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-9.99.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Only order 112 has a line with quantity below 1: a one-line validation rule for the negative-quantity bug.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38 / 43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Dialect 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650" b="0" i="0">
                <a:solidFill>
                  <a:srgbClr val="330066"/>
                </a:solidFill>
                <a:latin typeface="Courier New"/>
              </a:rPr>
              <a:t>GROUP BY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and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HAVING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work in every major database.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SQLite allows non-aggregated, non-grouped columns in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SELECT</a:t>
            </a:r>
            <a:r>
              <a:rPr sz="1700" b="0" i="0">
                <a:solidFill>
                  <a:srgbClr val="1A1A1A"/>
                </a:solidFill>
                <a:latin typeface="Arial"/>
              </a:rPr>
              <a:t>; PostgreSQL, SQL Server, Oracle (and MySQL with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ONLY_FULL_GROUP_BY</a:t>
            </a:r>
            <a:r>
              <a:rPr sz="1700" b="0" i="0">
                <a:solidFill>
                  <a:srgbClr val="1A1A1A"/>
                </a:solidFill>
                <a:latin typeface="Arial"/>
              </a:rPr>
              <a:t>, default since 5.7) reject them.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String aggregation differs: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GROUP_CONCAT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(SQLite, MySQL),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STRING_AGG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(PostgreSQL, SQL Server 2017+).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Some databases let you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GROUP BY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an output alias or column position; others do not. Portable queries repeat the real expression.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Advanced grouping and window functions are covered in a later week.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39 / 43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Common Mistakes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COMMON MISTAKES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Putting an aggregate in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WHERE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instead of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HAVING</a:t>
            </a:r>
            <a:r>
              <a:rPr sz="17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Selecting a non-grouped, non-aggregated column (silently accepted by SQLite, an error elsewhere).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Grouping by a non-unique column such as a name when the ID is needed.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Summing a parent column after joining to a child table (row multiplication).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Using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COUNT(*)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after a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LEFT JOIN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when you mean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COUNT(right.pk)</a:t>
            </a:r>
            <a:r>
              <a:rPr sz="17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Forgetting that NULLs form their own group.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40 / 43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Summary (1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SUMMARY</a:t>
            </a:r>
          </a:p>
        </p:txBody>
      </p:sp>
      <p:sp>
        <p:nvSpPr>
          <p:cNvPr id="4" name="Oval 3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8544" y="1856231"/>
            <a:ext cx="10423245" cy="490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GROUP BY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sorts rows into groups and returns one row per group; aggregates calculate a value per group.</a:t>
            </a:r>
          </a:p>
        </p:txBody>
      </p:sp>
      <p:sp>
        <p:nvSpPr>
          <p:cNvPr id="6" name="Oval 5"/>
          <p:cNvSpPr/>
          <p:nvPr/>
        </p:nvSpPr>
        <p:spPr>
          <a:xfrm>
            <a:off x="609904" y="2437892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8544" y="2511044"/>
            <a:ext cx="10423245" cy="490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Every selected column must be grouped or aggregated; SQLite lets you break this silently, other databases do not.</a:t>
            </a:r>
          </a:p>
        </p:txBody>
      </p:sp>
      <p:sp>
        <p:nvSpPr>
          <p:cNvPr id="8" name="Oval 7"/>
          <p:cNvSpPr/>
          <p:nvPr/>
        </p:nvSpPr>
        <p:spPr>
          <a:xfrm>
            <a:off x="609904" y="3092704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8544" y="3165856"/>
            <a:ext cx="10423245" cy="490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WHERE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filters rows before grouping;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HAVING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filters groups after and is the only place for conditions on aggregates.</a:t>
            </a:r>
          </a:p>
        </p:txBody>
      </p:sp>
      <p:sp>
        <p:nvSpPr>
          <p:cNvPr id="10" name="Oval 9"/>
          <p:cNvSpPr/>
          <p:nvPr/>
        </p:nvSpPr>
        <p:spPr>
          <a:xfrm>
            <a:off x="609904" y="3747516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8544" y="3820668"/>
            <a:ext cx="1042324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Logical order: FROM/JOIN, WHERE, GROUP BY, HAVING, SELECT, ORDER BY, LIMIT.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41 / 43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Summary (2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SUMMARY</a:t>
            </a:r>
          </a:p>
        </p:txBody>
      </p:sp>
      <p:sp>
        <p:nvSpPr>
          <p:cNvPr id="4" name="Oval 3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8544" y="1856231"/>
            <a:ext cx="1042324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NULLs form one group of their own, which helps reveal missing keys.</a:t>
            </a:r>
          </a:p>
        </p:txBody>
      </p:sp>
      <p:sp>
        <p:nvSpPr>
          <p:cNvPr id="6" name="Oval 5"/>
          <p:cNvSpPr/>
          <p:nvPr/>
        </p:nvSpPr>
        <p:spPr>
          <a:xfrm>
            <a:off x="609904" y="233172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8544" y="2404872"/>
            <a:ext cx="10423245" cy="490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GROUP BY key HAVING COUNT(*) &gt; 1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is the standard duplicate detector and the basis for many automated checks.</a:t>
            </a:r>
          </a:p>
        </p:txBody>
      </p:sp>
      <p:sp>
        <p:nvSpPr>
          <p:cNvPr id="8" name="Oval 7"/>
          <p:cNvSpPr/>
          <p:nvPr/>
        </p:nvSpPr>
        <p:spPr>
          <a:xfrm>
            <a:off x="609904" y="2986532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8544" y="3059684"/>
            <a:ext cx="1042324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Joining before grouping multiplies parent rows; sum the right column.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42 / 43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Additional Resources</a:t>
            </a:r>
          </a:p>
        </p:txBody>
      </p:sp>
      <p:sp>
        <p:nvSpPr>
          <p:cNvPr id="3" name="Oval 2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8544" y="1819656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SQLite documentation, Aggregate Functions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https://www.sqlite.org/lang_aggfunc.html</a:t>
            </a:r>
          </a:p>
        </p:txBody>
      </p:sp>
      <p:sp>
        <p:nvSpPr>
          <p:cNvPr id="5" name="Oval 4"/>
          <p:cNvSpPr/>
          <p:nvPr/>
        </p:nvSpPr>
        <p:spPr>
          <a:xfrm>
            <a:off x="609904" y="24347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8544" y="2471356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SQLite documentation, SELECT (GROUP BY and HAVING clauses)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https://www.sqlite.org/lang_select.html</a:t>
            </a:r>
          </a:p>
        </p:txBody>
      </p:sp>
      <p:sp>
        <p:nvSpPr>
          <p:cNvPr id="7" name="Oval 6"/>
          <p:cNvSpPr/>
          <p:nvPr/>
        </p:nvSpPr>
        <p:spPr>
          <a:xfrm>
            <a:off x="609904" y="3086481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8544" y="3123057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PostgreSQL documentation, Aggregate Functions and GROUP BY/HAVING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https://www.postgresql.org/docs/current/tutorial-agg.html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43 / 43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arners Point">
  <a:themeElements>
    <a:clrScheme name="1_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1_Networ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I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I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1_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Learners Point" id="{5ABB7BE2-076F-42C1-9907-FD58862889C1}" vid="{2565D177-60C2-4381-BEC4-E0C09BB79CB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3541</Words>
  <Application>Microsoft Office PowerPoint</Application>
  <PresentationFormat>Widescreen</PresentationFormat>
  <Paragraphs>428</Paragraphs>
  <Slides>43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7" baseType="lpstr">
      <vt:lpstr>Arial</vt:lpstr>
      <vt:lpstr>Courier New</vt:lpstr>
      <vt:lpstr>Wingdings</vt:lpstr>
      <vt:lpstr>Learners Point</vt:lpstr>
      <vt:lpstr>GROUP BY and HAVING</vt:lpstr>
      <vt:lpstr>Learning Objectives (1 of 2)</vt:lpstr>
      <vt:lpstr>Learning Objectives (2 of 2)</vt:lpstr>
      <vt:lpstr>Practice Database Recap</vt:lpstr>
      <vt:lpstr>Planted Data Problems (1 of 2)</vt:lpstr>
      <vt:lpstr>Planted Data Problems (2 of 2)</vt:lpstr>
      <vt:lpstr>Why This Matters</vt:lpstr>
      <vt:lpstr>Grouping Basics</vt:lpstr>
      <vt:lpstr>The Idea of Grouping</vt:lpstr>
      <vt:lpstr>Without and With GROUP BY</vt:lpstr>
      <vt:lpstr>How GROUP BY Works</vt:lpstr>
      <vt:lpstr>The Basic Aggregate Functions</vt:lpstr>
      <vt:lpstr>All Aggregates Together</vt:lpstr>
      <vt:lpstr>The Golden Rule</vt:lpstr>
      <vt:lpstr>The Golden Rule of GROUP BY</vt:lpstr>
      <vt:lpstr>SQLite Breaks the Rule Silently</vt:lpstr>
      <vt:lpstr>Grouping by Several Columns</vt:lpstr>
      <vt:lpstr>Grouping and NULL</vt:lpstr>
      <vt:lpstr>HAVING</vt:lpstr>
      <vt:lpstr>WHERE Cannot Filter on COUNT</vt:lpstr>
      <vt:lpstr>HAVING Filters Groups</vt:lpstr>
      <vt:lpstr>WHERE vs HAVING</vt:lpstr>
      <vt:lpstr>WHERE and HAVING Together</vt:lpstr>
      <vt:lpstr>Logical Order of Processing</vt:lpstr>
      <vt:lpstr>Joins Plus Grouping</vt:lpstr>
      <vt:lpstr>Revenue per Customer</vt:lpstr>
      <vt:lpstr>Include Customers With No Orders</vt:lpstr>
      <vt:lpstr>Row Multiplication Warning</vt:lpstr>
      <vt:lpstr>Detecting Duplicates</vt:lpstr>
      <vt:lpstr>The Duplicate-Detection Recipe</vt:lpstr>
      <vt:lpstr>Duplicate Customer Emails</vt:lpstr>
      <vt:lpstr>Which Rows Are Duplicates?</vt:lpstr>
      <vt:lpstr>Duplicate Order Lines</vt:lpstr>
      <vt:lpstr>Double Payments</vt:lpstr>
      <vt:lpstr>More Patterns and Pitfalls</vt:lpstr>
      <vt:lpstr>Group Sizes, Largest First</vt:lpstr>
      <vt:lpstr>Orders With 2 or More Lines</vt:lpstr>
      <vt:lpstr>HAVING on a Hidden Aggregate</vt:lpstr>
      <vt:lpstr>Dialect Notes</vt:lpstr>
      <vt:lpstr>Common Mistakes</vt:lpstr>
      <vt:lpstr>Summary (1 of 2)</vt:lpstr>
      <vt:lpstr>Summary (2 of 2)</vt:lpstr>
      <vt:lpstr>Additional Resources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Learners Point Template</dc:title>
  <dc:creator>Learners Point</dc:creator>
  <cp:lastModifiedBy>Jasdhir Singh</cp:lastModifiedBy>
  <cp:revision>1</cp:revision>
  <dcterms:modified xsi:type="dcterms:W3CDTF">2026-10-20T11:36:33Z</dcterms:modified>
</cp:coreProperties>
</file>