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sldSz cx="12192000" cy="6858000"/>
  <p:notesSz cx="6858000" cy="9144000"/>
  <p:defaultTextStyle>
    <a:defPPr>
      <a:defRPr lang="en-I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Line 2"/>
          <p:cNvSpPr>
            <a:spLocks noChangeShapeType="1"/>
          </p:cNvSpPr>
          <p:nvPr/>
        </p:nvSpPr>
        <p:spPr bwMode="auto">
          <a:xfrm>
            <a:off x="9753600" y="1066800"/>
            <a:ext cx="0" cy="1752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016000" y="457200"/>
            <a:ext cx="8519584" cy="2133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132417" y="3049588"/>
            <a:ext cx="83312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66565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fld id="{F304A9D6-1313-4D51-A62E-402D441D9A7B}" type="datetime1">
              <a:rPr lang="en-US" smtClean="0"/>
              <a:t>10/20/2026</a:t>
            </a:fld>
            <a:endParaRPr lang="en-US"/>
          </a:p>
        </p:txBody>
      </p:sp>
      <p:sp>
        <p:nvSpPr>
          <p:cNvPr id="66566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6567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sp>
        <p:nvSpPr>
          <p:cNvPr id="66568" name="Line 8"/>
          <p:cNvSpPr>
            <a:spLocks noChangeShapeType="1"/>
          </p:cNvSpPr>
          <p:nvPr/>
        </p:nvSpPr>
        <p:spPr bwMode="auto">
          <a:xfrm>
            <a:off x="1117600" y="2819400"/>
            <a:ext cx="8636000" cy="0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grpSp>
        <p:nvGrpSpPr>
          <p:cNvPr id="66569" name="Group 9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570" name="Oval 10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1" name="Oval 11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2" name="Oval 12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3" name="Oval 13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4" name="Oval 14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5" name="Oval 15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6" name="Oval 16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7" name="Oval 17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8" name="Oval 18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9" name="Oval 19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0" name="Oval 20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1" name="Oval 21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2" name="Oval 22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3" name="Oval 23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4" name="Oval 24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5" name="Oval 25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6" name="Oval 26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7" name="Oval 27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8" name="Oval 28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9" name="Oval 29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0" name="Oval 30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1" name="Oval 31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2" name="Oval 32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3" name="Oval 33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4" name="Oval 34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5" name="Oval 35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6" name="Oval 36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7" name="Oval 37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8" name="Oval 38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9" name="Oval 39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0" name="Oval 40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grpSp>
        <p:nvGrpSpPr>
          <p:cNvPr id="66601" name="Group 41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602" name="Oval 42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3" name="Oval 43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4" name="Oval 44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5" name="Oval 45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6" name="Oval 46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7" name="Oval 47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8" name="Oval 48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9" name="Oval 49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0" name="Oval 50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1" name="Oval 51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2" name="Oval 52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3" name="Oval 53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4" name="Oval 54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5" name="Oval 55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6" name="Oval 56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7" name="Oval 57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8" name="Oval 58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9" name="Oval 59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0" name="Oval 60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1" name="Oval 61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2" name="Oval 62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3" name="Oval 63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4" name="Oval 64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5" name="Oval 65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6" name="Oval 66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7" name="Oval 67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8" name="Oval 68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9" name="Oval 69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0" name="Oval 70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1" name="Oval 71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2" name="Oval 72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8955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256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44A8556-2F07-416B-A81B-5F1C3AFD01EF}" type="datetime1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7954" y="6261305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722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6729637-7636-4388-949A-FC8BFDAA4705}" type="datetime1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092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0F5DED8-6456-47A2-A5CC-BE8BEC6BD892}" type="datetime1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174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7595759-8665-4708-8376-28A90FA13BDD}" type="datetime1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97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3B0C243-4A55-4741-8265-C0A2FA769F7B}" type="datetime1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546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99A12F7-971D-41C1-A2B7-EBB58FF381A3}" type="datetime1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112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E3C3D28-2E0C-4F8B-A45D-9E87921943BF}" type="datetime1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995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020A2-9D30-48AD-A70D-69AD2B027FCA}" type="datetime1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103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01F6343-4644-43E3-AA07-6869EC7CEA0D}" type="datetime1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150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22239"/>
            <a:ext cx="27432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22239"/>
            <a:ext cx="80264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A0A126-F3CA-45B4-970B-597BE67A203E}" type="datetime1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465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16815F9B-CAFE-4C37-897A-C6403744783F}" type="datetime1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879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Line 2"/>
          <p:cNvSpPr>
            <a:spLocks noChangeShapeType="1"/>
          </p:cNvSpPr>
          <p:nvPr/>
        </p:nvSpPr>
        <p:spPr bwMode="auto">
          <a:xfrm>
            <a:off x="10668000" y="0"/>
            <a:ext cx="0" cy="1524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22238"/>
            <a:ext cx="100584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554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719263"/>
            <a:ext cx="109728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554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/>
            </a:lvl1pPr>
          </a:lstStyle>
          <a:p>
            <a:fld id="{C569D4A1-8BB6-4430-9601-3FBC79908E8C}" type="datetime1">
              <a:rPr lang="en-US" smtClean="0"/>
              <a:t>10/20/2026</a:t>
            </a:fld>
            <a:endParaRPr lang="en-US"/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endParaRPr lang="en-US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grpSp>
        <p:nvGrpSpPr>
          <p:cNvPr id="65544" name="Group 8" descr="decorative graphic made up of dots"/>
          <p:cNvGrpSpPr>
            <a:grpSpLocks/>
          </p:cNvGrpSpPr>
          <p:nvPr/>
        </p:nvGrpSpPr>
        <p:grpSpPr bwMode="auto">
          <a:xfrm>
            <a:off x="10871201" y="152400"/>
            <a:ext cx="1056217" cy="1295400"/>
            <a:chOff x="5136" y="960"/>
            <a:chExt cx="528" cy="864"/>
          </a:xfrm>
        </p:grpSpPr>
        <p:sp>
          <p:nvSpPr>
            <p:cNvPr id="65545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6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7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8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9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0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1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2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3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4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5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6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7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8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9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0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1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2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3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4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5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6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7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8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9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0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1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2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3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4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5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sp>
        <p:nvSpPr>
          <p:cNvPr id="65576" name="Line 40"/>
          <p:cNvSpPr>
            <a:spLocks noChangeShapeType="1"/>
          </p:cNvSpPr>
          <p:nvPr/>
        </p:nvSpPr>
        <p:spPr bwMode="auto">
          <a:xfrm>
            <a:off x="609600" y="1524000"/>
            <a:ext cx="100584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2634220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9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87425" indent="-29368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281113" indent="-2921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986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Subqueries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2057400"/>
            <a:ext cx="877750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 i="0">
                <a:solidFill>
                  <a:srgbClr val="5A5A5A"/>
                </a:solidFill>
                <a:latin typeface="Arial"/>
              </a:rPr>
              <a:t>Put one SELECT inside another to answer two-step questions in a single, self-contained statement, and avoid the NOT IN NULL trap.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3520439"/>
            <a:ext cx="1177290" cy="402336"/>
          </a:xfrm>
          <a:prstGeom prst="roundRect">
            <a:avLst>
              <a:gd name="adj" fmla="val 50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scalar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878634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244394" y="3520439"/>
            <a:ext cx="1777365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IN / NOT IN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113199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478959" y="3520439"/>
            <a:ext cx="117729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EXISTS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747689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13449" y="3520439"/>
            <a:ext cx="165735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correlated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862239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227999" y="3520439"/>
            <a:ext cx="213741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derived tables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10456849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822609" y="3520439"/>
            <a:ext cx="237744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subquery vs join</a:t>
            </a:r>
          </a:p>
        </p:txBody>
      </p:sp>
      <p:sp>
        <p:nvSpPr>
          <p:cNvPr id="16" name="Oval 15"/>
          <p:cNvSpPr/>
          <p:nvPr/>
        </p:nvSpPr>
        <p:spPr>
          <a:xfrm>
            <a:off x="609904" y="5596128"/>
            <a:ext cx="292608" cy="29260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67104" y="5596128"/>
            <a:ext cx="292608" cy="292608"/>
          </a:xfrm>
          <a:prstGeom prst="ellipse">
            <a:avLst/>
          </a:prstGeom>
          <a:solidFill>
            <a:srgbClr val="66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524304" y="5596128"/>
            <a:ext cx="292608" cy="292608"/>
          </a:xfrm>
          <a:prstGeom prst="ellipse">
            <a:avLst/>
          </a:prstGeom>
          <a:solidFill>
            <a:srgbClr val="CC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Learning Objectives (1 of 2)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874519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6832" y="1783079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Define a subquery (nested query) and say where in a SQL statement one may appear.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532887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6832" y="2441447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Distinguish scalar, single-column (list) and table (derived) subqueries.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191256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6832" y="3099815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Use subqueries with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IN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NOT IN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EXISTS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NOT EXISTS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and comparison operators.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 / 46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Learning Objectives (2 of 2)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874519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6832" y="1783079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Explain the difference between an uncorrelated and a correlated subquery.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532887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6832" y="2441447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Avoid the dangerous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NOT IN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+ NULL trap.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191256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6832" y="3099815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Decide when a join or a subquery is the better tool, and rewrite one as the other.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 / 46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Practice Database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INTRODUCTION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5" cy="2648712"/>
        </p:xfrm>
        <a:graphic>
          <a:graphicData uri="http://schemas.openxmlformats.org/drawingml/2006/table">
            <a:tbl>
              <a:tblPr/>
              <a:tblGrid>
                <a:gridCol w="27429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89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Table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Columns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customers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customer_id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(PK),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full_name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email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country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created_date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products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product_id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(PK),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product_name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category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unit_price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orders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order_id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(PK),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customer_id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(FK),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order_date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status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total_amount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order_items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item_id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(PK),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order_id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(FK),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product_id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(FK),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quantity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unit_price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payments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payment_id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(PK),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order_id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(FK),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amount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method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status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defects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defect_id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(PK),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product_id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(FK, nullable),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title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severity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status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found_date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 / 46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Planted Data Problems (1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Duplicate customer (IDs 2 and 8, same email); NULL email (customer 6).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Customers 6, 8, 9, 10 never ordered.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Order 107 has customer 99 who does not exist; order 108 has a NULL customer (guest).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Order 109 has no items.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Order totals that do not match their items (103, 110, 112; 109 also fails, having no items).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 / 46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Planted Data Problems (2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Duplicate item rows (IDs 5 and 13); item 14 points to missing order 999; item 15 points to missing product 999; item 16 has quantity -1.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Payment 10 points to missing order 888; payments 2 and 11 are duplicates.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Products 7 and 8 were never sold; defect 3 has no product.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Full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CREATE TABLE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INSERT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script: see the lesson "INSERT, UPDATE and DELETE".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6 / 46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Why This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Many validation questions are really two-step questions.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Which orders cost more than the average order? (Compute the average, then compare.)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Which customers have not placed any order? (Find who has ordered, then exclude them.)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Which products appear in a cancelled order? (Find the cancelled orders, then look up their products.)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A subquery writes the first step inside the second, in one statement. Running two queries and copying a number between them fails the moment data changes; one query stays self-contained and repeatable.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7 / 46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What Is a Subquery?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A SELECT inside another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8 / 46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Subquery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7132320" cy="795528"/>
          </a:xfrm>
          <a:prstGeom prst="roundRect">
            <a:avLst>
              <a:gd name="adj" fmla="val 919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6729983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SELECT ...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FROM   ...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WHERE  column OPERATOR ( SELECT ... FROM ... );   &lt;-- subquery in parentheses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07984" y="1783080"/>
            <a:ext cx="347380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A subquery (inner or nested query) is a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SELECT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inside another SQL statement, wrapped in parentheses. The surrounding statement is the outer query.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Analogy: "Who sold more than the team average?" She first calculates the average (inner question), then compares each total (outer question).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9 / 46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Where a Subquery May 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4" cy="2529459"/>
        </p:xfrm>
        <a:graphic>
          <a:graphicData uri="http://schemas.openxmlformats.org/drawingml/2006/table">
            <a:tbl>
              <a:tblPr/>
              <a:tblGrid>
                <a:gridCol w="21943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3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1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Position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Typical form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Subquery must return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2074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WHERE</a:t>
                      </a:r>
                      <a:r>
                        <a:rPr sz="1350" b="0" i="0">
                          <a:solidFill>
                            <a:srgbClr val="1A1A1A"/>
                          </a:solidFill>
                          <a:latin typeface="Arial"/>
                        </a:rPr>
                        <a:t> / </a:t>
                      </a:r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HAVING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col &gt; (SELECT ...)</a:t>
                      </a:r>
                      <a:r>
                        <a:rPr sz="135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col IN (SELECT ...)</a:t>
                      </a:r>
                      <a:r>
                        <a:rPr sz="135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EXISTS (SELECT ...)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one value, one column, or rows (for EXISTS)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2074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FROM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FROM (SELECT ...) AS alias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a table (any shape); an alias is required in most databases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189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SELECT</a:t>
                      </a:r>
                      <a:r>
                        <a:rPr sz="1350" b="0" i="0">
                          <a:solidFill>
                            <a:srgbClr val="1A1A1A"/>
                          </a:solidFill>
                          <a:latin typeface="Arial"/>
                        </a:rPr>
                        <a:t> list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SELECT a, (SELECT ...) AS x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exactly one value (scalar)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2074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INSERT/UPDATE/DELETE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... WHERE id IN (SELECT ...)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as the context needs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10 / 46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Scalar Subqueries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Return exactly one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11 / 46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Scalar Subqueries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A scalar subquery returns exactly one row with one column: a single value usable anywhere a single value is allowed.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Helper question on its own: the average order total is 287.5366666666667 (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SELECT AVG(total_amount) FROM orders</a:t>
            </a:r>
            <a:r>
              <a:rPr sz="1700" b="0" i="0">
                <a:solidFill>
                  <a:srgbClr val="1A1A1A"/>
                </a:solidFill>
                <a:latin typeface="Arial"/>
              </a:rPr>
              <a:t>).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650" b="0" i="0">
                <a:solidFill>
                  <a:srgbClr val="330066"/>
                </a:solidFill>
                <a:latin typeface="Courier New"/>
              </a:rPr>
              <a:t>AVG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is an aggregate function; aggregates have their own lesson later today.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12 / 46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Orders Above the Average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852160" cy="1024127"/>
          </a:xfrm>
          <a:prstGeom prst="roundRect">
            <a:avLst>
              <a:gd name="adj" fmla="val 7142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449824" cy="731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SELECT order_id, total_amount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WHERE total_amount &gt; (SELECT AVG(total_amount) FROM orders)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ORDER BY total_amount DESC;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27824" y="1783080"/>
            <a:ext cx="475396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The database runs the inner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SELECT AVG(...)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once (about 287.54), treats it as a constant, and evaluates the comparison for every outer row.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Result: orders 101 (1225.0), 106 (1200.0) and 104 (600.0).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13 / 46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Scalar Subquery Must Return One Row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0971885" cy="1737360"/>
          </a:xfrm>
          <a:prstGeom prst="roundRect">
            <a:avLst>
              <a:gd name="adj" fmla="val 4736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8504" y="1920240"/>
            <a:ext cx="10514685" cy="14630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WARNING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If a scalar subquery returns more than one row, most databases raise an error ("subquery returns more than 1 row"). SQLite is permissive and silently uses the first row, which can hide a bug. Make scalar subqueries return exactly one row: use an aggregate or a unique key.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14 / 46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More Scalar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Most expensive product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6400800" cy="1054608"/>
          </a:xfrm>
          <a:prstGeom prst="roundRect">
            <a:avLst>
              <a:gd name="adj" fmla="val 693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5998464" cy="76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-- the most expensive product(s)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SELECT product_id, product_name, unit_price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FROM products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WHERE unit_price = (SELECT MAX(unit_price) FROM products);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329488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Most recent order date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3569208"/>
            <a:ext cx="6400800" cy="1054608"/>
          </a:xfrm>
          <a:prstGeom prst="roundRect">
            <a:avLst>
              <a:gd name="adj" fmla="val 693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3715512"/>
            <a:ext cx="5998464" cy="76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-- orders placed on the most recent order date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SELECT order_id, order_date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WHERE order_date = (SELECT MAX(order_date) FROM orders);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Most expensive: Laptop Pro (1200.0).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Most recent order date: order 112, 2025-07-25.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15 / 46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IN and NOT IN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Single-column (list) subqueries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16 / 46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Customers Who Have Ordered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852160" cy="1085087"/>
          </a:xfrm>
          <a:prstGeom prst="roundRect">
            <a:avLst>
              <a:gd name="adj" fmla="val 674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449824" cy="792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SELECT customer_id, full_name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FROM customers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WHERE customer_id IN (SELECT customer_id FROM orders)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ORDER BY customer_id;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27824" y="1783080"/>
            <a:ext cx="475396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One column and many rows is a list, usable with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IN</a:t>
            </a:r>
            <a:r>
              <a:rPr sz="13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The inner query returns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1, 1, 2, 3, 4, 5, 99, NULL, 7, 2, 3, 7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(duplicates are harmless in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IN</a:t>
            </a:r>
            <a:r>
              <a:rPr sz="1300" b="0" i="0">
                <a:solidFill>
                  <a:srgbClr val="1A1A1A"/>
                </a:solidFill>
                <a:latin typeface="Arial"/>
              </a:rPr>
              <a:t>).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Result: customers 1, 2, 3, 4, 5, 7.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17 / 46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Two-Level Nesting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Products that appear on cancelled orders.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21991"/>
            <a:ext cx="7132320" cy="1466088"/>
          </a:xfrm>
          <a:prstGeom prst="roundRect">
            <a:avLst>
              <a:gd name="adj" fmla="val 4989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368296"/>
            <a:ext cx="6729983" cy="1173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SELECT product_id, product_name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FROM products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WHERE product_id IN (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SELECT product_id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FROM order_items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WHERE order_id IN (SELECT order_id FROM orders WHERE status = 'cancelled')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07984" y="2221991"/>
            <a:ext cx="3473805" cy="3922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Read from the inside out: cancelled orders (just 106), items on those orders (product 1), the product row (Laptop Pro).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18 / 46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The NOT IN Trap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Why one NULL makes NOT IN return nothing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19 / 46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NOT IN Returns Nothing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"Customers who have never ordered" with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NOT IN</a:t>
            </a:r>
            <a:r>
              <a:rPr sz="1500" b="0" i="0">
                <a:solidFill>
                  <a:srgbClr val="1A1A1A"/>
                </a:solidFill>
                <a:latin typeface="Arial"/>
              </a:rPr>
              <a:t>: result is 0 rows.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21991"/>
            <a:ext cx="6766560" cy="886968"/>
          </a:xfrm>
          <a:prstGeom prst="roundRect">
            <a:avLst>
              <a:gd name="adj" fmla="val 8247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368296"/>
            <a:ext cx="6364224" cy="594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SELECT customer_id, full_name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FROM customers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WHERE customer_id NOT IN (SELECT customer_id FROM orders);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42224" y="2221991"/>
            <a:ext cx="3839565" cy="3922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But customers 6, 8, 9, 10 never ordered. What went wrong?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list contains a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NULL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(order 108 has no customer).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20 / 46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Why One NULL Breaks NOT 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0971885" cy="2194560"/>
          </a:xfrm>
          <a:prstGeom prst="roundRect">
            <a:avLst>
              <a:gd name="adj" fmla="val 3750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8504" y="1920240"/>
            <a:ext cx="10514685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THE TRAP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x NOT IN (1, 2, 99, NULL)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means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x &lt;&gt; 1 AND x &lt;&gt; 2 AND x &lt;&gt; 99 AND x &lt;&gt; NULL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x &lt;&gt; NULL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is unknown, never true, so the whole condition can never be true. A single NULL in the list makes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NOT IN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return nothing. A classic bug that passes review because the query looks right, and test data without NULLs hides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21 / 46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Fix 1: Filter the NULLs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8595360" cy="1207007"/>
          </a:xfrm>
          <a:prstGeom prst="roundRect">
            <a:avLst>
              <a:gd name="adj" fmla="val 6060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8193024" cy="9143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-- Fix 1: filter out NULLs in the subquery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SELECT customer_id, full_name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FROM customers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WHERE customer_id NOT IN (SELECT customer_id FROM orders WHERE customer_id IS NOT NULL)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ORDER BY customer_id;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71024" y="1783080"/>
            <a:ext cx="201076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Result: customers 6, 8, 9 and 10.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22 / 46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Fix 2 (Preferred): NOT EXISTS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8046720" cy="1207007"/>
          </a:xfrm>
          <a:prstGeom prst="roundRect">
            <a:avLst>
              <a:gd name="adj" fmla="val 6060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7644384" cy="9143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-- Fix 2 (preferred): NOT EXISTS, explained below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SELECT c.customer_id, c.full_name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FROM customers AS c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WHERE NOT EXISTS (SELECT 1 FROM orders AS o WHERE o.customer_id = c.customer_id)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ORDER BY c.customer_id;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22384" y="1783080"/>
            <a:ext cx="255940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Same result: customers 6, 8, 9, 10.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A third alternative is the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LEFT JOIN ... IS NULL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anti-join from the previous lesson.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23 / 46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Correlated Subqueries and EXISTS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Re-evaluated for each outer row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24 / 46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Uncorrelated vs Correlated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035040" cy="719328"/>
          </a:xfrm>
          <a:prstGeom prst="roundRect">
            <a:avLst>
              <a:gd name="adj" fmla="val 10169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632703" cy="4267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for each customer c in the outer query: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  run the inner query using c.customer_id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10704" y="1783080"/>
            <a:ext cx="45710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So far each subquery was uncorrelated: it can run on its own and is evaluated once.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A correlated subquery refers to a column of the outer query, so conceptually it is re-evaluated for each outer row, like a loop.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25 / 46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EXISTS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Customers who have at least one completed order.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21991"/>
            <a:ext cx="6766560" cy="1732788"/>
          </a:xfrm>
          <a:prstGeom prst="roundRect">
            <a:avLst>
              <a:gd name="adj" fmla="val 422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368296"/>
            <a:ext cx="6364224" cy="14401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SELECT c.customer_id, c.full_name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FROM customers AS c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WHERE EXISTS (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SELECT 1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FROM orders AS o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WHERE o.customer_id = c.customer_id      -- correlation: uses the OUTER c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  AND o.status = 'completed'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)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ORDER BY c.customer_id;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42224" y="2221991"/>
            <a:ext cx="3839565" cy="3922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EXISTS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is true if the subquery returns at least one row; the selected columns are irrelevant, so write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SELECT 1</a:t>
            </a:r>
            <a:r>
              <a:rPr sz="125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The inner query asks: is there a completed order with this customer's ID? It stops at the first hit, so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EXISTS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is efficient and safe with NULLs.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Result: customers 1, 2, 3, 7.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26 / 46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NOT EXISTS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Order items whose order is missing: an orphan check done with a subquery.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21991"/>
            <a:ext cx="8229600" cy="864107"/>
          </a:xfrm>
          <a:prstGeom prst="roundRect">
            <a:avLst>
              <a:gd name="adj" fmla="val 846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368296"/>
            <a:ext cx="7827264" cy="571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SELECT i.item_id, i.order_id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FROM order_items AS i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WHERE NOT EXISTS (SELECT 1 FROM orders AS o WHERE o.order_id = i.order_id);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05264" y="2221991"/>
            <a:ext cx="2376525" cy="3922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Result: item 14 (order 999) is the orphan.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27 / 46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Correlated Subquery in SELECT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8595360" cy="1168908"/>
          </a:xfrm>
          <a:prstGeom prst="roundRect">
            <a:avLst>
              <a:gd name="adj" fmla="val 6258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8193024" cy="8762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SELECT c.customer_id,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   c.full_name,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   (SELECT COUNT(*) FROM orders AS o WHERE o.customer_id = c.customer_id) AS order_count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FROM customers AS c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ORDER BY c.customer_id;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71024" y="1783080"/>
            <a:ext cx="201076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A scalar correlated subquery produces a computed column per row: how many orders each customer has.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Every customer appears, even those with 0 (customers 6, 8, 9, 10), because the subquery runs per customer row.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Another way to get the same answer as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LEFT JOIN ... GROUP BY</a:t>
            </a:r>
            <a:r>
              <a:rPr sz="13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28 / 46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Derived Tables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A subquery in FROM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29 / 46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Derived Tables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A subquery in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FROM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acts as a temporary table that exists only for that query. It must have an alias.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Useful when you need to aggregate first, then filter or join the aggregated result.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Step 1: total of order items per order (the recomputed total):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SUM(quantity * unit_price) ... GROUP BY order_id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gives 12 rows.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30 / 46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Step 2: Compare Header and Items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583680" cy="2007107"/>
          </a:xfrm>
          <a:prstGeom prst="roundRect">
            <a:avLst>
              <a:gd name="adj" fmla="val 3644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6181344" cy="1714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SELECT o.order_id, o.total_amount AS header_total, t.items_total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FROM orders AS o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INNER JOIN (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SELECT order_id, SUM(quantity * unit_price) AS items_total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FROM order_items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GROUP BY order_id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) AS t ON t.order_id = o.order_id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WHERE ROUND(o.total_amount, 2) &lt;&gt; ROUND(t.items_total, 2)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ORDER BY o.order_id;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59344" y="1783080"/>
            <a:ext cx="402244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Result: 103 (header 150.0, items 300.0), 110 (55.0 vs 50.0), 112 (9.99 vs -9.99).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ROUND(x, 2)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guards against floating-point noise such as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30.480000000000004</a:t>
            </a:r>
            <a:r>
              <a:rPr sz="13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31 / 46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Reading the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103: the duplicate item row doubles the items total to 300.00 while the header says 150.00.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110: header 55.00 versus items 50.00. 112: the negative quantity makes the items total -9.99.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Not reported: order 109 (header 80.00, no items) is dropped by the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INNER JOIN</a:t>
            </a:r>
            <a:r>
              <a:rPr sz="1700" b="0" i="0">
                <a:solidFill>
                  <a:srgbClr val="1A1A1A"/>
                </a:solidFill>
                <a:latin typeface="Arial"/>
              </a:rPr>
              <a:t>; a complete validation would add a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LEFT JOIN</a:t>
            </a:r>
            <a:r>
              <a:rPr sz="17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Not reported: order 111; its item price equals the header though its product is missing, which another check finds.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Extended in "Test-data validation using SQL".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32 / 46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Subqueries vs Joins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Choosing the right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33 / 46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Subquery or Join 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7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4" cy="1747519"/>
        </p:xfrm>
        <a:graphic>
          <a:graphicData uri="http://schemas.openxmlformats.org/drawingml/2006/table">
            <a:tbl>
              <a:tblPr/>
              <a:tblGrid>
                <a:gridCol w="27429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87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1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Task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Subquery form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Join form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8583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Customers with orders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WHERE id IN (SELECT customer_id FROM orders)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INNER JOIN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+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DISTINCT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Customers without orders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WHERE NOT EXISTS (...)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LEFT JOIN ... IS NULL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Compare to an aggregate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WHERE x &gt; (SELECT AVG(x) ...)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usually needs a subquery anyway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34 / 46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Guidelines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Use a join when you need columns from both tables in the output.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Use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EXISTS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/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IN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when you only need to test for a related row and do not want row multiplication.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Use a scalar subquery for comparing against an aggregate.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Choose whichever is more readable for your team. How the database optimises each form is a later-week performance topic.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35 / 46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Same Logic, Different Counts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0424160" cy="1732788"/>
          </a:xfrm>
          <a:prstGeom prst="roundRect">
            <a:avLst>
              <a:gd name="adj" fmla="val 422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10021824" cy="14401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SELECT 'IN subquery' AS form, COUNT(*) AS rows_returned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FROM customers WHERE customer_id IN (SELECT customer_id FROM orders)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UNION ALL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SELECT 'inner join', COUNT(*)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FROM customers AS c INNER JOIN orders AS o ON o.customer_id = c.customer_id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UNION ALL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SELECT 'inner join + DISTINCT', COUNT(*) FROM (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SELECT DISTINCT c.customer_id FROM customers AS c INNER JOIN orders AS o ON o.customer_id = c.customer_id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36 / 46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Row Counts Differ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Result: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IN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subquery 6; inner join 10; inner join +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DISTINCT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6.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The join returns one row per order; the subquery one row per customer.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Same logic, different row counts: that matters when you assert on row counts in a test.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37 / 46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Subqueries With DELETE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583680" cy="1877568"/>
          </a:xfrm>
          <a:prstGeom prst="roundRect">
            <a:avLst>
              <a:gd name="adj" fmla="val 389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6181344" cy="15849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BEGIN;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DELETE FROM order_items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WHERE order_id NOT IN (SELECT order_id FROM orders);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SELECT item_id FROM order_items WHERE item_id = 14;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ROLLBACK;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59344" y="1783080"/>
            <a:ext cx="402244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Inside a safe transaction, delete order items that point to a non-existent order.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Item 14 is gone inside the transaction; the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ROLLBACK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restored it.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NOT IN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is safe here because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orders.order_id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is a primary key and can never be NULL. Always ask: can the subquery column be NULL?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38 / 46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QA Scenarios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Real validation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39 / 46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Highest-Value Order per Customer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A top-row-per-group problem; a correlated subquery works.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21991"/>
            <a:ext cx="5669280" cy="2007107"/>
          </a:xfrm>
          <a:prstGeom prst="roundRect">
            <a:avLst>
              <a:gd name="adj" fmla="val 3644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368296"/>
            <a:ext cx="5266944" cy="1714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SELECT o.customer_id, o.order_id, o.total_amount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FROM orders AS o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WHERE o.customer_id IS NOT NULL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AND o.total_amount = (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    SELECT MAX(o2.total_amount)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    FROM orders AS o2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    WHERE o2.customer_id = o.customer_id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  )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ORDER BY o.customer_id;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44944" y="2221991"/>
            <a:ext cx="4936845" cy="3922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00" b="0" i="0">
                <a:solidFill>
                  <a:srgbClr val="1A1A1A"/>
                </a:solidFill>
                <a:latin typeface="Arial"/>
              </a:rPr>
              <a:t>The inner query uses a second alias </a:t>
            </a:r>
            <a:r>
              <a:rPr sz="1150" b="0" i="0">
                <a:solidFill>
                  <a:srgbClr val="330066"/>
                </a:solidFill>
                <a:latin typeface="Courier New"/>
              </a:rPr>
              <a:t>o2</a:t>
            </a:r>
            <a:r>
              <a:rPr sz="1200" b="0" i="0">
                <a:solidFill>
                  <a:srgbClr val="1A1A1A"/>
                </a:solidFill>
                <a:latin typeface="Arial"/>
              </a:rPr>
              <a:t> for the same table to compare each order with that customer's other orders.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00" b="0" i="0">
                <a:solidFill>
                  <a:srgbClr val="1A1A1A"/>
                </a:solidFill>
                <a:latin typeface="Arial"/>
              </a:rPr>
              <a:t>Result: 7 rows. Customer 99 appears because order 107 is the orphan order: these queries do not check key validity.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00" b="0" i="0">
                <a:solidFill>
                  <a:srgbClr val="1A1A1A"/>
                </a:solidFill>
                <a:latin typeface="Arial"/>
              </a:rPr>
              <a:t>Window functions (a later week) are the more advanced tool.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40 / 46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Laptop but Never a Mouse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Combining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EXISTS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NOT EXISTS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21991"/>
            <a:ext cx="7680960" cy="1694688"/>
          </a:xfrm>
          <a:prstGeom prst="roundRect">
            <a:avLst>
              <a:gd name="adj" fmla="val 431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368296"/>
            <a:ext cx="7278624" cy="1402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SELECT c.customer_id, c.full_name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FROM customers AS c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WHERE EXISTS (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    SELECT 1 FROM orders o JOIN order_items i ON i.order_id = o.order_id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    WHERE o.customer_id = c.customer_id AND i.product_id = 1)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AND NOT EXISTS (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    SELECT 1 FROM orders o JOIN order_items i ON i.order_id = o.order_id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    WHERE o.customer_id = c.customer_id AND i.product_id = 2);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624" y="2221991"/>
            <a:ext cx="2925165" cy="3922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Result: Eve Muller.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Alice bought both a laptop and a mouse (order 101), so she is excluded; Eve bought only a laptop (cancelled order 106).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41 / 46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Orders With No Payment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The same anti-join, written with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NOT EXISTS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21991"/>
            <a:ext cx="8229600" cy="1054608"/>
          </a:xfrm>
          <a:prstGeom prst="roundRect">
            <a:avLst>
              <a:gd name="adj" fmla="val 693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368296"/>
            <a:ext cx="7827264" cy="76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SELECT o.order_id, o.status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FROM orders AS o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WHERE NOT EXISTS (SELECT 1 FROM payments AS p WHERE p.order_id = o.order_id)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ORDER BY o.order_id;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05264" y="2221991"/>
            <a:ext cx="2376525" cy="3922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Result: orders 105 (pending), 109 (pending), 112 (completed).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42 / 46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Common Mistakes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COMMON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Using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NOT IN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against a column that can contain NULL.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Writing a scalar subquery that returns more than one row.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Forgetting the alias on a subquery in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FROM</a:t>
            </a:r>
            <a:r>
              <a:rPr sz="17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Forgetting to qualify columns inside a correlated subquery so the wrong table is used.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Using a join where a duplicate-free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EXISTS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was needed (inflated counts).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Selecting multiple columns in an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IN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subquery (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IN</a:t>
            </a:r>
            <a:r>
              <a:rPr sz="1700" b="0" i="0">
                <a:solidFill>
                  <a:srgbClr val="1A1A1A"/>
                </a:solidFill>
                <a:latin typeface="Arial"/>
              </a:rPr>
              <a:t> expects one).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43 / 46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Summary (1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SUMMARY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56231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 subquery is a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SELECT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inside parentheses nested in another statement: in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WHERE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FROM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the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SELECT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list, and in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UPDATE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/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DELETE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437892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511044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Scalar subqueries return one value; list subqueries return one column for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IN</a:t>
            </a:r>
            <a:r>
              <a:rPr sz="1400" b="0" i="0">
                <a:solidFill>
                  <a:srgbClr val="1A1A1A"/>
                </a:solidFill>
                <a:latin typeface="Arial"/>
              </a:rPr>
              <a:t>; derived tables in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FROM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need an alias.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3092704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165856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 correlated subquery refers to the outer row and is conceptually run per row;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EXISTS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/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NOT EXISTS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test for related rows and are NULL-safe.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44 / 46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Summary (2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SUMMARY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56231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NOT IN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plus a NULL in the list returns nothing: prefer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NOT EXISTS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or filter the NULLs out.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33172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404872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Joins and subqueries often solve the same problem; pick by what columns you need and what reads best, and watch the row counts.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2986532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059684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Subqueries power real validation checks, such as comparing header totals against recomputed item totals.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45 / 46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Additional Resources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8544" y="1819656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SQLite documentation, Expressions (subquery expressions, IN, EXISTS)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https://www.sqlite.org/lang_expr.html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4347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8544" y="2471356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PostgreSQL documentation, Subquery Expressions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https://www.postgresql.org/docs/current/functions-subquery.html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08648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8544" y="3123057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MySQL Reference Manual, Subqueries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https://dev.mysql.com/doc/refman/8.0/en/subqueries.html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46 / 46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arners Point">
  <a:themeElements>
    <a:clrScheme name="1_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1_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1_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earners Point" id="{5ABB7BE2-076F-42C1-9907-FD58862889C1}" vid="{2565D177-60C2-4381-BEC4-E0C09BB79CB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3555</Words>
  <Application>Microsoft Office PowerPoint</Application>
  <PresentationFormat>Widescreen</PresentationFormat>
  <Paragraphs>413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0" baseType="lpstr">
      <vt:lpstr>Arial</vt:lpstr>
      <vt:lpstr>Courier New</vt:lpstr>
      <vt:lpstr>Wingdings</vt:lpstr>
      <vt:lpstr>Learners Point</vt:lpstr>
      <vt:lpstr>Subqueries</vt:lpstr>
      <vt:lpstr>Learning Objectives (1 of 2)</vt:lpstr>
      <vt:lpstr>Learning Objectives (2 of 2)</vt:lpstr>
      <vt:lpstr>Practice Database Recap</vt:lpstr>
      <vt:lpstr>Planted Data Problems (1 of 2)</vt:lpstr>
      <vt:lpstr>Planted Data Problems (2 of 2)</vt:lpstr>
      <vt:lpstr>Why This Matters</vt:lpstr>
      <vt:lpstr>What Is a Subquery?</vt:lpstr>
      <vt:lpstr>Subquery Shape</vt:lpstr>
      <vt:lpstr>Where a Subquery May Go</vt:lpstr>
      <vt:lpstr>Scalar Subqueries</vt:lpstr>
      <vt:lpstr>Scalar Subqueries</vt:lpstr>
      <vt:lpstr>Orders Above the Average</vt:lpstr>
      <vt:lpstr>Scalar Subquery Must Return One Row</vt:lpstr>
      <vt:lpstr>More Scalar Examples</vt:lpstr>
      <vt:lpstr>IN and NOT IN</vt:lpstr>
      <vt:lpstr>Customers Who Have Ordered</vt:lpstr>
      <vt:lpstr>Two-Level Nesting</vt:lpstr>
      <vt:lpstr>The NOT IN Trap</vt:lpstr>
      <vt:lpstr>NOT IN Returns Nothing</vt:lpstr>
      <vt:lpstr>Why One NULL Breaks NOT IN</vt:lpstr>
      <vt:lpstr>Fix 1: Filter the NULLs</vt:lpstr>
      <vt:lpstr>Fix 2 (Preferred): NOT EXISTS</vt:lpstr>
      <vt:lpstr>Correlated Subqueries and EXISTS</vt:lpstr>
      <vt:lpstr>Uncorrelated vs Correlated</vt:lpstr>
      <vt:lpstr>EXISTS</vt:lpstr>
      <vt:lpstr>NOT EXISTS</vt:lpstr>
      <vt:lpstr>Correlated Subquery in SELECT</vt:lpstr>
      <vt:lpstr>Derived Tables</vt:lpstr>
      <vt:lpstr>Derived Tables</vt:lpstr>
      <vt:lpstr>Step 2: Compare Header and Items</vt:lpstr>
      <vt:lpstr>Reading the Comparison</vt:lpstr>
      <vt:lpstr>Subqueries vs Joins</vt:lpstr>
      <vt:lpstr>Subquery or Join Form</vt:lpstr>
      <vt:lpstr>Guidelines</vt:lpstr>
      <vt:lpstr>Same Logic, Different Counts</vt:lpstr>
      <vt:lpstr>Row Counts Differ</vt:lpstr>
      <vt:lpstr>Subqueries With DELETE</vt:lpstr>
      <vt:lpstr>QA Scenarios</vt:lpstr>
      <vt:lpstr>Highest-Value Order per Customer</vt:lpstr>
      <vt:lpstr>Laptop but Never a Mouse</vt:lpstr>
      <vt:lpstr>Orders With No Payment</vt:lpstr>
      <vt:lpstr>Common Mistakes</vt:lpstr>
      <vt:lpstr>Summary (1 of 2)</vt:lpstr>
      <vt:lpstr>Summary (2 of 2)</vt:lpstr>
      <vt:lpstr>Additional 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Learners Point Template</dc:title>
  <dc:creator>Learners Point</dc:creator>
  <cp:lastModifiedBy>Jasdhir Singh</cp:lastModifiedBy>
  <cp:revision>1</cp:revision>
  <dcterms:modified xsi:type="dcterms:W3CDTF">2026-10-20T11:36:07Z</dcterms:modified>
</cp:coreProperties>
</file>