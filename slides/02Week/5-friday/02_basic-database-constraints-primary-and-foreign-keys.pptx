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10/20/2026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10/20/2026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Basic Database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Primary keys, foreign keys and the rules a database enforces itself, including why orphans exist even when keys are declared.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1848" y="3520439"/>
            <a:ext cx="1411605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PRIMARY KEY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669465" y="3611881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001507" y="3502153"/>
            <a:ext cx="1329309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 dirty="0">
                <a:solidFill>
                  <a:srgbClr val="330066"/>
                </a:solidFill>
                <a:latin typeface="Arial"/>
              </a:rPr>
              <a:t>FOREIGN KEY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05682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71442" y="3520439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NOT NULL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80202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45962" y="3520439"/>
            <a:ext cx="117729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UNIQUE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914692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280452" y="3520439"/>
            <a:ext cx="105727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CHECK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429167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794927" y="3520439"/>
            <a:ext cx="153733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ON DELETE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393680" y="3611881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668000" y="3502153"/>
            <a:ext cx="143606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negative tests</a:t>
            </a:r>
          </a:p>
        </p:txBody>
      </p:sp>
      <p:sp>
        <p:nvSpPr>
          <p:cNvPr id="18" name="Oval 17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what a database constraint is and why databases enforce rules on data.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Define and use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PRIMARY KEY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FOREIGN KEY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NOT NULL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UNIQUE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CHECK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DEFAULT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Describe parent and child tables, and what referential integrity means.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Recognise an orphan row and explain how it can exist even though a foreign key is declared.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Turn on foreign key enforcement in SQLite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PRAGMA foreign_keys = ON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find violations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PRAGMA foreign_key_check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ON DELETE RESTRICT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CASCADE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SET NULL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Write negative tests that prove constraints work, and inspect a schema to see which constraints exist.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Database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648712"/>
        </p:xfrm>
        <a:graphic>
          <a:graphicData uri="http://schemas.openxmlformats.org/drawingml/2006/table">
            <a:tbl>
              <a:tblPr/>
              <a:tblGrid>
                <a:gridCol w="2742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8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Columns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customers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full_name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email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country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created_date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products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product_name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category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orders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order_date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total_amount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order_items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item_id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quantity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payments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payment_id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amount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method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defects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defect_id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(FK, nullable),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title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severity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found_date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Planted Data Problems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Duplicate customer (IDs 2 and 8, same email); NULL email (customer 6).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Customers 6, 8, 9, 10 never ordered.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107 has customer 99 who does not exist; order 108 has a NULL customer (guest).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109 has no items.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totals that do not match their items (103, 110, 112; 109 also fails, having no items).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Planted Data Problems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Duplicate item rows (IDs 5 and 13); item 14 points to missing order 999; item 15 points to missing product 999; item 16 has quantity -1.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Payment 10 points to missing order 888; payments 2 and 11 are duplicates.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Products 7 and 8 were never sold; defect 3 has no product.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Full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CREATE TABLE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INSERT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script: see the lesson "INSERT, UPDATE and DELETE".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constraint is a rule the database itself enforces. It matters to a tester for three reasons.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They are requirements you can test: "a customer's email must be unique" and "an order must belong to a real customer". If not enforced, there is a gap that lets bad data in.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They explain test failures: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FOREIGN KEY constraint failed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means the parent row was missing, or you deleted in the wrong order.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Missing constraints cause the dirty data that joins reveal (an order for customer 99, an item for order 999). Joins match primary keys to foreign keys.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a Constraint?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Rules checked on every INSERT, UPDATE and DELETE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constraint is a rule attached to a table or column that the database checks every time you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INSERT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UPDATE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DELETE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If a change would break the rule, the database rejects the statement with an error and the data stays unchanged.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Analogy: a paper form at a doctor's office. "Name" has a red asterisk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NOT NULL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); "Patient ID" comes from a numbered pad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PRIMARY KEY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); "Insurance company" is picked from an approved list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FOREIGN KEY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); "Age" cannot be negative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CHECK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database does the receptionist's job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Constraint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747772"/>
        </p:xfrm>
        <a:graphic>
          <a:graphicData uri="http://schemas.openxmlformats.org/drawingml/2006/table">
            <a:tbl>
              <a:tblPr/>
              <a:tblGrid>
                <a:gridCol w="3072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9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Constraint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Rule it enforces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PRIMARY KEY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Each row can be uniquely identified; value is unique and not 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FOREIGN KEY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Value must exist in another table's key (or be NULL)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NOT 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The column must have a value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UNIQUE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No two rows may share the same value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CHECK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A condition must be true, for example </a:t>
                      </a:r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quantity &gt; 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330066"/>
                          </a:solidFill>
                          <a:latin typeface="Courier New"/>
                        </a:rPr>
                        <a:t>DEFAULT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Not a rule exactly: the value used if you do not supply one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Primary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Identity, surrogate vs natural, and composite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Primary Key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primary key (PK) is a column (or set of columns) whose value uniquely identifies each row.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It must be unique, must be not NULL, and each table can have only one primary key.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customers.customer_id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is the primary key: customer 1 is Alice and no other customer can have ID 1.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Names are not unique: we have two different customer rows both named Bob Smith.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Surrogate vs Natural Keys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Surrogate key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An artificial identifier with no business meaning, such as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customer_id = 7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 It never changes and is easy to index. Most application databases, including ours, use these.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Natural key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A real-world value such as an email address or passport number. These can change or turn out not to be unique, so they are generally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UNIQUE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columns, not primary keys.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Composite key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A primary key made of more than one column, for example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student_course(student_id, course_id)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: the pair is unique.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How SQLite Stores the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Table definition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400800" cy="597408"/>
          </a:xfrm>
          <a:prstGeom prst="roundRect">
            <a:avLst>
              <a:gd name="adj" fmla="val 1224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998464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name, sql FROM sqlite_master WHERE type = 'table' AND name = 'customers';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8376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Column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112008"/>
            <a:ext cx="6400800" cy="483108"/>
          </a:xfrm>
          <a:prstGeom prst="roundRect">
            <a:avLst>
              <a:gd name="adj" fmla="val 151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258312"/>
            <a:ext cx="5998464" cy="190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PRAGMA table_info(customers);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sqlite_master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holds the stored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CREATE TABLE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text: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customer_id INTEGER PRIMARY KEY</a:t>
            </a:r>
            <a:r>
              <a:rPr sz="12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full_name TEXT NOT NULL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PRAGMA table_info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lists columns: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notnull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1 means NOT NULL,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pk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1 means part of the primary key.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Other databases use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DESCRIBE customers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(MySQL) or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information_schema.columns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(PostgreSQL, SQL Server).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Breaking the Primary Key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132320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729983" cy="106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-- Customer 1 already exists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INSERT INTO customers (customer_id, full_name) VALUES (1, 'Another Alice');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-- Primary key may not be NULL for a real key; an INTEGER PRIMARY KEY in SQLite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-- instead auto-generates a value when NULL is given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INSERT INTO customers (customer_id, full_name) VALUES (NULL, 'Auto Numbered Person');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customer_id, full_name FROM customers WHERE customer_id &gt; 10;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07984" y="1783080"/>
            <a:ext cx="34738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First insert is rejected: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UNIQUE constraint failed: customers.customer_id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Second: for a column declared exactly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INTEGER PRIMARY KEY</a:t>
            </a:r>
            <a:r>
              <a:rPr sz="1250" b="0" i="0">
                <a:solidFill>
                  <a:srgbClr val="1A1A1A"/>
                </a:solidFill>
                <a:latin typeface="Arial"/>
              </a:rPr>
              <a:t>, SQLite turns NULL into the next free number (customer 11). Most other databases raise an error.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Tidy the test row with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DELETE FROM customers WHERE customer_id &gt; 10;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NOT NULL, UNIQUE, CHECK, DEFAULT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Scratch tables prefixed demo_ keep the main tables untouched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demo_accounts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486400" cy="1679448"/>
          </a:xfrm>
          <a:prstGeom prst="roundRect">
            <a:avLst>
              <a:gd name="adj" fmla="val 435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084064" cy="1386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CREATE TABLE demo_accounts (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account_id INTEGER PRIMARY KEY,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username   TEXT    NOT NULL UNIQUE,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email      TEXT    UNIQUE,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age        INTEGER CHECK (age &gt;= 18),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status     TEXT    NOT NULL DEFAULT 'active'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150" b="0" i="0">
                <a:solidFill>
                  <a:srgbClr val="330066"/>
                </a:solidFill>
                <a:latin typeface="Courier New"/>
              </a:rPr>
              <a:t>account_id INTEGER PRIMARY KEY</a:t>
            </a:r>
            <a:r>
              <a:rPr sz="1200" b="0" i="0">
                <a:solidFill>
                  <a:srgbClr val="1A1A1A"/>
                </a:solidFill>
                <a:latin typeface="Arial"/>
              </a:rPr>
              <a:t>: surrogate key, auto-generated.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150" b="0" i="0">
                <a:solidFill>
                  <a:srgbClr val="330066"/>
                </a:solidFill>
                <a:latin typeface="Courier New"/>
              </a:rPr>
              <a:t>username TEXT NOT NULL UNIQUE</a:t>
            </a:r>
            <a:r>
              <a:rPr sz="1200" b="0" i="0">
                <a:solidFill>
                  <a:srgbClr val="1A1A1A"/>
                </a:solidFill>
                <a:latin typeface="Arial"/>
              </a:rPr>
              <a:t>: required, no two accounts may share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150" b="0" i="0">
                <a:solidFill>
                  <a:srgbClr val="330066"/>
                </a:solidFill>
                <a:latin typeface="Courier New"/>
              </a:rPr>
              <a:t>email TEXT UNIQUE</a:t>
            </a:r>
            <a:r>
              <a:rPr sz="1200" b="0" i="0">
                <a:solidFill>
                  <a:srgbClr val="1A1A1A"/>
                </a:solidFill>
                <a:latin typeface="Arial"/>
              </a:rPr>
              <a:t>: optional, but unique if present. Most databases allow several NULLs in a UNIQUE column.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150" b="0" i="0">
                <a:solidFill>
                  <a:srgbClr val="330066"/>
                </a:solidFill>
                <a:latin typeface="Courier New"/>
              </a:rPr>
              <a:t>age INTEGER CHECK (age &gt;= 18)</a:t>
            </a:r>
            <a:r>
              <a:rPr sz="1200" b="0" i="0">
                <a:solidFill>
                  <a:srgbClr val="1A1A1A"/>
                </a:solidFill>
                <a:latin typeface="Arial"/>
              </a:rPr>
              <a:t>: a NULL age passes (the condition is not false).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150" b="0" i="0">
                <a:solidFill>
                  <a:srgbClr val="330066"/>
                </a:solidFill>
                <a:latin typeface="Courier New"/>
              </a:rPr>
              <a:t>status TEXT NOT NULL DEFAULT 'active'</a:t>
            </a:r>
            <a:r>
              <a:rPr sz="1200" b="0" i="0">
                <a:solidFill>
                  <a:srgbClr val="1A1A1A"/>
                </a:solidFill>
                <a:latin typeface="Arial"/>
              </a:rPr>
              <a:t>: becomes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'active'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if left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Valid Inserts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132320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729983" cy="106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INSERT INTO demo_accounts (username, email, age) VALUES ('alice_qa', 'alice@qa.test', 30);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INSERT INTO demo_accounts (username, email, age, status) VALUES ('bob_qa', NULL, NULL, 'locked');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INSERT INTO demo_accounts (username, email) VALUES ('cara_qa', NULL);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* FROM demo_accounts;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07984" y="1783080"/>
            <a:ext cx="34738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Alice and Cara get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status = active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from the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DEFAULT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Two different rows have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email = NULL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without violating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UNIQUE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Negative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949440" cy="1969008"/>
          </a:xfrm>
          <a:prstGeom prst="roundRect">
            <a:avLst>
              <a:gd name="adj" fmla="val 371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547103" cy="167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-- NOT NULL violation (username missing)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INSERT INTO demo_accounts (email, age) VALUES ('x@qa.test', 40);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-- UNIQUE violation (username already used)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INSERT INTO demo_accounts (username) VALUES ('alice_qa');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-- UNIQUE violation on email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INSERT INTO demo_accounts (username, email) VALUES ('alice_two', 'alice@qa.test');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-- CHECK violation (too young)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INSERT INTO demo_accounts (username, age) VALUES ('kid_qa', 12);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5104" y="1783080"/>
            <a:ext cx="36566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Each statement is rejected: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NOT NULL constraint failed: demo_accounts.username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;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UNIQUE constraint failed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on username and on email;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CHECK constraint failed: age &gt;= 18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table still has its three valid rows.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These are negative test cases: they pass when the database refuses the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Missing Constraints Are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645920"/>
          </a:xfrm>
          <a:prstGeom prst="roundRect">
            <a:avLst>
              <a:gd name="adj" fmla="val 5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QA FINDING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Look back at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customers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email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has no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UNIQUE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constraint, which is why the duplicate Bob Smith (customers 2 and 8, same email) exists.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order_items.quantity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has no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CHECK (quantity &gt; 0)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which is how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-1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got into item 16.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Foreign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Parents, children and referential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Foreign Key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foreign key (FK) is a column in one table that refers to the primary key of another table: the value must match an existing row over there.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orders.customer_id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references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customers.customer_id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;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order_items.order_id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references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orders.order_id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;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order_items.product_id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references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products.product_id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payments.order_id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references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orders.order_id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;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defects.product_id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references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products.product_id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table with the primary key is the parent; the table holding the foreign key is the child.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46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Referential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Referential integrity means every foreign key value points to a real parent row (or is NULL).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Then you never have an order for a customer who does not exist.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Analogy: a library loan card lists a member number. An orphan row is a card with a member number that was never issued, or whose member was deleted.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Declaration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From our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order_items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766560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6364224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FOREIGN KEY (order_id) REFERENCES orders(order_id)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2224" y="2221991"/>
            <a:ext cx="383956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Read it as: the column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order_id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 this table must appear as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order_id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Orphans Exist Despite the FK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673607"/>
          </a:xfrm>
          <a:prstGeom prst="roundRect">
            <a:avLst>
              <a:gd name="adj" fmla="val 108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SELECT order_id, customer_id FROM orders WHERE order_id = 107;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SELECT customer_id FROM customers WHERE customer_id = 99;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We declared foreign keys on every child table, yet order 107 belongs to customer 99, who does not exist.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SQLite ignores foreign keys unless you switch enforcement on for each connection.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Our practice data was loaded with enforcement off, like a bulk import or legacy migration.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Result: order 107 exists; no customer 99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Enforcement Is 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PRAGMA foreign_keys;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INSERT INTO orders (order_id, customer_id, order_date, status, total_amount)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VALUES (500, 12345, '2025-08-10', 'pending', 10.00);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order_id, customer_id FROM orders WHERE order_id = 500;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PRAGMA foreign_keys;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printed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0</a:t>
            </a:r>
            <a:r>
              <a:rPr sz="1300" b="0" i="0">
                <a:solidFill>
                  <a:srgbClr val="1A1A1A"/>
                </a:solidFill>
                <a:latin typeface="Arial"/>
              </a:rPr>
              <a:t>: off. The orphan order 500 was accepted.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Clean up with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DELETE FROM orders WHERE order_id = 500;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Switching Enforcement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754880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352544" cy="85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DELETE FROM orders WHERE order_id = 500;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PRAGMA foreign_keys = ON;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PRAGMA foreign_keys;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30544" y="1783080"/>
            <a:ext cx="58512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Result: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foreign_keys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now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In SQLite run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PRAGMA foreign_keys = ON;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at the start of every connection (it cannot be changed mid-transaction).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PostgreSQL, MySQL (InnoDB) and SQL Server enforce declared foreign keys all the time.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QA lesson: always check whether the test environment actually enforces its constraints.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With Enforcement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Orphan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400800" cy="597408"/>
          </a:xfrm>
          <a:prstGeom prst="roundRect">
            <a:avLst>
              <a:gd name="adj" fmla="val 1224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998464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INSERT INTO orders (order_id, customer_id, order_date, status, total_amount)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VALUES (501, 12345, '2025-08-10', 'pending', 10.00);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8376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Valid parent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112008"/>
            <a:ext cx="6400800" cy="902207"/>
          </a:xfrm>
          <a:prstGeom prst="roundRect">
            <a:avLst>
              <a:gd name="adj" fmla="val 810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258312"/>
            <a:ext cx="5998464" cy="609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INSERT INTO orders (order_id, customer_id, order_date, status, total_amount)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VALUES (501, 10, '2025-08-10', 'pending', 10.00);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order_id, customer_id FROM orders WHERE order_id = 501;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Orphan insert is rejected: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FOREIGN KEY constraint failed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valid parent (customer 10) works: order 501 is created.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NULL Foreign Keys, Blocked Deletes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NULL is legal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400800" cy="902207"/>
          </a:xfrm>
          <a:prstGeom prst="roundRect">
            <a:avLst>
              <a:gd name="adj" fmla="val 810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998464" cy="609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INSERT INTO orders (order_id, customer_id, order_date, status, total_amount)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VALUES (502, NULL, '2025-08-11', 'pending', 5.00);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order_id, customer_id FROM orders WHERE order_id IN (501, 502);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1424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Delete parent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416807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563112"/>
            <a:ext cx="5998464" cy="365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-- Customer 10 now has order 501 attached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DELETE FROM customers WHERE customer_id = 10;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 foreign key column may be NULL unless also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NOT NULL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 NULL means no parent: that is how guest order 108 is legitimate.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Deleting customer 10, who has order 501, fails: the order would become an orphan. The default action is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NO ACTION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/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RESTRICT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Delete Children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486400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084064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DELETE FROM orders WHERE order_id IN (501, 502);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DELETE FROM customers WHERE customer_id = 10;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COUNT(*) AS customers_now FROM customers;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2 orders removed, then 1 customer; 9 customers remain.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Finding Existing Violations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48640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08406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PRAGMA foreign_key_check;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31007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005327"/>
            <a:ext cx="5486400" cy="1679448"/>
          </a:xfrm>
          <a:prstGeom prst="roundRect">
            <a:avLst>
              <a:gd name="adj" fmla="val 435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151631"/>
            <a:ext cx="5084064" cy="1386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table       | rowid | parent    | fkid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------------+-------+-----------+-----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payments    | 10    | orders    | 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order_items | 14    | orders    | 1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order_items | 15    | products  | 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orders      | 107   | customers | 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(4 rows)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Enforcement does not repair bad rows already in the tables;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PRAGMA foreign_key_check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lists them.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Each row: child table,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rowid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of the offending row, parent table, FK definition number.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15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107 lacks a customer;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order_items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14 lacks an order, 15 a product;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payments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10 lacks an order. Order 108 (NULL) is not reported.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Orphans in Other Databases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In databases other than SQLite you find orphans with join queries.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join approach is more flexible; you write it yourself in the "LEFT and RIGHT JOIN" lesson.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ON DELETE and Composite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What should happen to children?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ON DELETE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2587241"/>
        </p:xfrm>
        <a:graphic>
          <a:graphicData uri="http://schemas.openxmlformats.org/drawingml/2006/table">
            <a:tbl>
              <a:tblPr/>
              <a:tblGrid>
                <a:gridCol w="3072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9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9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Typical 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RESTRICT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NO ACTION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(default)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Refuse to delete the parent while children exist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Orders must not lose their customer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CASCADE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Delete the children automatically too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A temporary cart and its cart lines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SET 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Keep children but set their FK to 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Keep order history, detach from deleted customer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SET DEFAULT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Set FK to the column default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Rare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Cascade and Set Null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Two scratch tables with different delete 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766560" cy="1801368"/>
          </a:xfrm>
          <a:prstGeom prst="roundRect">
            <a:avLst>
              <a:gd name="adj" fmla="val 4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6364224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CREATE TABLE demo_cart_line (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line_id INTEGER PRIMARY KEY,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cart_id INTEGER,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note    TEXT,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FOREIGN KEY (cart_id) REFERENCES demo_cart(cart_id) ON DELETE CASCADE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-- ...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FOREIGN KEY (cart_id) REFERENCES demo_cart(cart_id) ON DELETE SET NULL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2224" y="2221991"/>
            <a:ext cx="383956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demo_cart_line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uses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ON DELETE CASCADE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demo_cart_gift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uses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ON DELETE SET NULL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Deleting the Parent Cart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766560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36422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INSERT INTO demo_cart VALUES (1), (2);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INSERT INTO demo_cart_line VALUES (1, 1, 'line A'), (2, 1, 'line B'), (3, 2, 'line C');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INSERT INTO demo_cart_gift VALUES (1, 1, 'gift for cart 1');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-- ...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DELETE FROM demo_cart WHERE cart_id = 1;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2224" y="1783080"/>
            <a:ext cx="38395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Deleting cart 1 removed its two lines (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CASCADE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) but kept the gift row and detached it (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SET NULL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Warning: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CASCADE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convenient for clean-up but dangerous in production; one delete can silently remove many rows.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Composite Keys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217920" cy="2852927"/>
          </a:xfrm>
          <a:prstGeom prst="roundRect">
            <a:avLst>
              <a:gd name="adj" fmla="val 256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815583" cy="2560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CREATE TABLE demo_enrolment (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student_id INTEGER,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course_id  INTEGER,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enrolled_on TEXT,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PRIMARY KEY (student_id, course_id)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INSERT INTO demo_enrolment VALUES (1, 10, '2025-09-01');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INSERT INTO demo_enrolment VALUES (1, 11, '2025-09-01');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INSERT INTO demo_enrolment VALUES (2, 10, '2025-09-01');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-- same student + same course again: rejected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INSERT INTO demo_enrolment VALUES (1, 10, '2025-09-05');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* FROM demo_enrolment;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93584" y="1783080"/>
            <a:ext cx="43882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Result: the duplicate pair (1, 10) is rejected: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UNIQUE constraint failed</a:t>
            </a:r>
            <a:r>
              <a:rPr sz="1200" b="0" i="0">
                <a:solidFill>
                  <a:srgbClr val="1A1A1A"/>
                </a:solidFill>
                <a:latin typeface="Arial"/>
              </a:rPr>
              <a:t>; 3 rows remain.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Compare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order_items</a:t>
            </a:r>
            <a:r>
              <a:rPr sz="1200" b="0" i="0">
                <a:solidFill>
                  <a:srgbClr val="1A1A1A"/>
                </a:solidFill>
                <a:latin typeface="Arial"/>
              </a:rPr>
              <a:t>: its own surrogate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item_id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means nothing stops the same product appearing twice on one order (the duplicate in order 103).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A missing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UNIQUE (order_id, product_id)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allows it. Whether duplicates should be allowed is a business decision: QA asks.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Inspecting and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A QA skill: schema review and constraint test suites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Listing Foreign Keys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03520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901183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PRAGMA foreign_key_list(order_items);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9184" y="1783080"/>
            <a:ext cx="53026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Result: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order_items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has FKs to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products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(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product_id</a:t>
            </a:r>
            <a:r>
              <a:rPr sz="1250" b="0" i="0">
                <a:solidFill>
                  <a:srgbClr val="1A1A1A"/>
                </a:solidFill>
                <a:latin typeface="Arial"/>
              </a:rPr>
              <a:t>) and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(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order_id</a:t>
            </a:r>
            <a:r>
              <a:rPr sz="1250" b="0" i="0">
                <a:solidFill>
                  <a:srgbClr val="1A1A1A"/>
                </a:solidFill>
                <a:latin typeface="Arial"/>
              </a:rPr>
              <a:t>), both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NO ACTION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A schema review: for every child table confirm the FK exists, required columns are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NOT NULL</a:t>
            </a:r>
            <a:r>
              <a:rPr sz="1250" b="0" i="0">
                <a:solidFill>
                  <a:srgbClr val="1A1A1A"/>
                </a:solidFill>
                <a:latin typeface="Arial"/>
              </a:rPr>
              <a:t>, and obvious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CHECK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rules (positive quantity, valid status) exist.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Missing ones become defects or improvement suggestions.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Clean Up Scratch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572000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169663" cy="106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DROP TABLE demo_cart_line;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DROP TABLE demo_cart_gift;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DROP TABLE demo_cart;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DROP TABLE demo_enrolment;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DROP TABLE demo_accounts;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47664" y="1783080"/>
            <a:ext cx="60341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Drop every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demo_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table when finished.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Real-World QA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Constraint test suite: for each table automate a negative test per rule (duplicate PK, NULL in NOT NULL, FK to missing parent, CHECK violation) and assert the expected error.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Teardown order: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FOREIGN KEY constraint failed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means you deleted a parent before its children. Delete from leaf tables upwards: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order_items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payments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customers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Legacy migrations: before turning enforcement on, run an orphan check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PRAGMA foreign_key_check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or an anti-join) to find rows that would violate it.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Requirement gaps: "email must be unique" is in the spec but the schema has no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UNIQUE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: a defect worth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Assuming a declared foreign key is automatically enforced (not in SQLite until you enable it).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Forgetting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PRAGMA foreign_keys = ON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on a new connection.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Treating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NULL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in a foreign key as an error; it is legal unless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NOT NULL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is also declared.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Using changeable data (email, name) as a primary key.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Testing only valid data and never testing that invalid data is rejected.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Deleting parent rows before child rows.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Dialect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ALTER TABLE ... ADD CONSTRAINT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works in PostgreSQL, MySQL and SQL Server.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SQLite cannot add a foreign key to an existing table that way (you recreate the table).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Constraint syntax in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CREATE TABLE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is otherwise very similar across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Constraints are rules the database enforces, so bad data is refused at the door.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primary key uniquely identifies each row (unique + not NULL, one per table); we use surrogate integer IDs.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foreign key links a child column to a parent's key and provides referential integrity; it may be NULL.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64134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714496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NOT NULL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UNIQUE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CHECK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DEFAULT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add further guardrails.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SQLite does not enforce foreign keys until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PRAGMA foreign_keys = 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our planted orphans exist because of that, as legacy imports do in real life.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PRAGMA foreign_key_check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lists existing violations;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ON DELETE CASCADE / SET NULL / RESTRICT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define what happens to children.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Missing constraints (no UNIQUE on email, no CHECK on quantity) explain several planted bugs and are legitimate QA findings.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4751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820668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Joins, the next topic, work by matching foreign keys to primary keys.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SQLite documentation, Foreign Key Support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https://www.sqlite.org/foreignkeys.html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SQLite documentation, CREATE TABLE (constraints)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https://www.sqlite.org/lang_createtable.html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PostgreSQL documentation, Constraints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https://www.postgresql.org/docs/current/ddl-constraints.html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46 / 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4054</Words>
  <Application>Microsoft Office PowerPoint</Application>
  <PresentationFormat>Widescreen</PresentationFormat>
  <Paragraphs>438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Courier New</vt:lpstr>
      <vt:lpstr>Wingdings</vt:lpstr>
      <vt:lpstr>Learners Point</vt:lpstr>
      <vt:lpstr>Basic Database Constraints</vt:lpstr>
      <vt:lpstr>Learning Objectives (1 of 2)</vt:lpstr>
      <vt:lpstr>Learning Objectives (2 of 2)</vt:lpstr>
      <vt:lpstr>Practice Database Recap</vt:lpstr>
      <vt:lpstr>Planted Data Problems (1 of 2)</vt:lpstr>
      <vt:lpstr>Planted Data Problems (2 of 2)</vt:lpstr>
      <vt:lpstr>Why This Matters</vt:lpstr>
      <vt:lpstr>What Is a Constraint?</vt:lpstr>
      <vt:lpstr>Constraints</vt:lpstr>
      <vt:lpstr>The Constraint Types</vt:lpstr>
      <vt:lpstr>Primary Keys</vt:lpstr>
      <vt:lpstr>Primary Key Definition</vt:lpstr>
      <vt:lpstr>Surrogate vs Natural Keys</vt:lpstr>
      <vt:lpstr>How SQLite Stores the Table</vt:lpstr>
      <vt:lpstr>Breaking the Primary Key Rule</vt:lpstr>
      <vt:lpstr>NOT NULL, UNIQUE, CHECK, DEFAULT</vt:lpstr>
      <vt:lpstr>The demo_accounts Table</vt:lpstr>
      <vt:lpstr>Valid Inserts</vt:lpstr>
      <vt:lpstr>Negative Tests</vt:lpstr>
      <vt:lpstr>Missing Constraints Are Findings</vt:lpstr>
      <vt:lpstr>Foreign Keys</vt:lpstr>
      <vt:lpstr>Foreign Key Definition</vt:lpstr>
      <vt:lpstr>Referential Integrity</vt:lpstr>
      <vt:lpstr>Declaration Syntax</vt:lpstr>
      <vt:lpstr>Orphans Exist Despite the FK</vt:lpstr>
      <vt:lpstr>Enforcement Is Off</vt:lpstr>
      <vt:lpstr>Switching Enforcement On</vt:lpstr>
      <vt:lpstr>With Enforcement ON</vt:lpstr>
      <vt:lpstr>NULL Foreign Keys, Blocked Deletes</vt:lpstr>
      <vt:lpstr>Delete Children First</vt:lpstr>
      <vt:lpstr>Finding Existing Violations</vt:lpstr>
      <vt:lpstr>Orphans in Other Databases</vt:lpstr>
      <vt:lpstr>ON DELETE and Composite Keys</vt:lpstr>
      <vt:lpstr>ON DELETE Actions</vt:lpstr>
      <vt:lpstr>Cascade and Set Null</vt:lpstr>
      <vt:lpstr>Deleting the Parent Cart</vt:lpstr>
      <vt:lpstr>Composite Keys in Practice</vt:lpstr>
      <vt:lpstr>Inspecting and Testing</vt:lpstr>
      <vt:lpstr>Listing Foreign Keys</vt:lpstr>
      <vt:lpstr>Clean Up Scratch Tables</vt:lpstr>
      <vt:lpstr>Real-World QA Scenarios</vt:lpstr>
      <vt:lpstr>Common Mistakes</vt:lpstr>
      <vt:lpstr>Dialect Note</vt:lpstr>
      <vt:lpstr>Summary (1 of 2)</vt:lpstr>
      <vt:lpstr>Summary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2</cp:revision>
  <dcterms:modified xsi:type="dcterms:W3CDTF">2026-10-20T11:34:05Z</dcterms:modified>
</cp:coreProperties>
</file>