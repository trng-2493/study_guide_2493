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CSV, JSON and 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Read, write and validate the three formats test data and results arrive in, defensively.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csv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185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84349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130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78809" y="3520439"/>
            <a:ext cx="297751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xml.etree.ElementTree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477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1352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conversion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6231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2807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messy data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CSV, JSON and XML: structure, strengths and weaknesses.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Choose the right format for a given kind of test data.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and write CSV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reader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/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writer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(lists)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DictReader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/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DictWriter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(dictionaries).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newline=""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used with CSV, and what a delimiter and quoting are.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Read, parse and write JSON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load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loads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dump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dumps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); map JSON types to Python types.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Handle malformed JSON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json.JSONDecodeError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Parse XML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xml.etree.ElementTree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elements, attributes, text,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find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/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findall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build and write XML.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Convert data between the three formats.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Validate and clean data read from these formats, handling bad input with today's exception techniques.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 aware of basic safety considerations when parsing untrusted XML.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209797"/>
        </p:xfrm>
        <a:graphic>
          <a:graphicData uri="http://schemas.openxmlformats.org/drawingml/2006/table">
            <a:tbl>
              <a:tblPr/>
              <a:tblGrid>
                <a:gridCol w="153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5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Where QEs meet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CSV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Spreadsheet exports, bulk test data (hundreds of users/orders), database exports, data-driven testing tables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JSON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REST API requests and responses, configuration files, modern test-data fixtures, test reports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XML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Older web services (SOAP), configuration files, test-result reports (a very common report format in CI tools), Android/Java ecosystem files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4160520"/>
            <a:ext cx="10971885" cy="139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Test data and results do not live inside Python code; they arrive as files and responses in these formats. A data-driven suite can run the same logic across 500 rows: reading them reliably is the data-ingestion step</a:t>
            </a:r>
            <a:r>
              <a:rPr lang="en-US" sz="1500" b="0" i="0" dirty="0">
                <a:solidFill>
                  <a:srgbClr val="1A1A1A"/>
                </a:solidFill>
                <a:latin typeface="Arial"/>
              </a:rPr>
              <a:t>.</a:t>
            </a:r>
            <a:endParaRPr sz="1500" b="0" i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Real files are messy: missing columns, blank cells, wrong types, odd characters. This lesson combines Python's tools with your exception-handling skills to read them defensively.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 dirty="0">
                <a:solidFill>
                  <a:srgbClr val="5A5A5A"/>
                </a:solidFill>
                <a:latin typeface="Courier New"/>
              </a:rPr>
              <a:t>csv</a:t>
            </a:r>
            <a:r>
              <a:rPr sz="1400" b="0" i="0" dirty="0">
                <a:solidFill>
                  <a:srgbClr val="5A5A5A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5A5A5A"/>
                </a:solidFill>
                <a:latin typeface="Courier New"/>
              </a:rPr>
              <a:t>json</a:t>
            </a:r>
            <a:r>
              <a:rPr sz="1400" b="0" i="0" dirty="0">
                <a:solidFill>
                  <a:srgbClr val="5A5A5A"/>
                </a:solidFill>
                <a:latin typeface="Arial"/>
              </a:rPr>
              <a:t> and </a:t>
            </a:r>
            <a:r>
              <a:rPr sz="1350" b="0" i="0" dirty="0" err="1">
                <a:solidFill>
                  <a:srgbClr val="5A5A5A"/>
                </a:solidFill>
                <a:latin typeface="Courier New"/>
              </a:rPr>
              <a:t>xml.etree.ElementTree</a:t>
            </a:r>
            <a:r>
              <a:rPr sz="1400" b="0" i="0" dirty="0">
                <a:solidFill>
                  <a:srgbClr val="5A5A5A"/>
                </a:solidFill>
                <a:latin typeface="Arial"/>
              </a:rPr>
              <a:t> are all built-in modules: nothing to </a:t>
            </a:r>
            <a:r>
              <a:rPr sz="1350" b="0" i="0" dirty="0">
                <a:solidFill>
                  <a:srgbClr val="5A5A5A"/>
                </a:solidFill>
                <a:latin typeface="Courier New"/>
              </a:rPr>
              <a:t>pip install</a:t>
            </a:r>
            <a:r>
              <a:rPr sz="1400" b="0" i="0" dirty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CSV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Comma-Separated Values: reader, DictReader, writer, DictWriter, messy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CSV?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users.csv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id,name,email,age,active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1,Ada Lovelace,ada@example.com,36,true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2,Grace Hopper,grace@example.com,45,true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3,Alan Turing,alan@example.com,41,false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Plain text: each line is a row; values separated by a delimiter (usually a comma).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first row is usually a header naming the columns.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Just a table: columns across, records down. Excel and Google Sheets open and save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6118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Strengths: simple, compact, universally supported, great for flat tables.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Weaknesses: no data types (all text), no nesting (no clean lists in a cell), edge cases (commas or line breaks in values, different delimiters, encodings).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Not Just Use split(",")?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780288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48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id,name,comment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1,Ada,"Loves maths, logic, and engines"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Last lesson parsed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line.split(",")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it breaks as soon as a value contains a comma. Here it would cut the comment into three pieces.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CSV quotes values containing special characters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"..."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and doubles a literal quote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 Quoted values may even contain line breaks.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csv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module understands all these rules: always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Sample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1.3 · CSV.READER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First create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users.csv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rows = [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["id", "name", "email", "age", "active"],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["1", "Ada Lovelace", "ada@example.com", "36", "true"],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["2", "Grace Hopper", "grace@example.com", "45", "true"],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["3", "Alan Turing", "alan@example.com", "41", "false"],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open("users.csv",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 = csv.writer(f)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writer.writerows(rows)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with csv.reader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217920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815583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with open("users.csv", "r",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reader = csv.reader(f)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 row in reader: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print(row)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3016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04487"/>
            <a:ext cx="621792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50791"/>
            <a:ext cx="5815583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['id', 'name', 'email', 'age', 'active']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['1', 'Ada Lovelace', 'ada@example.com', '36', 'true']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['2', 'Grace Hopper', 'grace@example.com', '45', 'true']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['3', 'Alan Turing', 'alan@example.com', '41', 'false']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newline=""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required by the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csv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docs: it stops automatic newline translation interfering with the module's line-ending handling and line breaks in quoted values.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Forget it: blank lines between rows on Windows, or corrupted multi-line values.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csv.reader(f)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yields each row as a list of strings.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Every value is a string, including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'36'</a:t>
            </a:r>
            <a:r>
              <a:rPr sz="1350" b="0" i="0">
                <a:solidFill>
                  <a:srgbClr val="1A1A1A"/>
                </a:solidFill>
                <a:latin typeface="Arial"/>
              </a:rPr>
              <a:t>: convert yourself (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int(row[3])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Skipping the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next(reader) reads the first 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open("users.csv",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reader = csv.reader(f)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header = next(reader)          # first row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for row in reader: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name = row[1]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age = int(row[3])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print(f"{name} is {age}")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9197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94048"/>
            <a:ext cx="64008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340352"/>
            <a:ext cx="59984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Ada Lovelace is 36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Grace Hopper is 45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Alan Turing is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Accessing columns by number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row[3]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is fragile.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If someone inserts a column, your code silently reads the wrong data.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That is why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DictReader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csv.DictReader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DictReader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uses the header row to give each row as a dictionary keyed by column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6583680" cy="1626108"/>
          </a:xfrm>
          <a:prstGeom prst="roundRect">
            <a:avLst>
              <a:gd name="adj" fmla="val 449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6181344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open("users.csv",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reader = csv.DictReader(f)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print("Columns:", reader.fieldnames)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for row in reader: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print(row["name"], "-", row["email"])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0530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579620"/>
            <a:ext cx="658368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725924"/>
            <a:ext cx="618134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Columns: ['id', 'name', 'email', 'age', 'active']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Ada Lovelace - ada@example.com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Grace Hopper - grace@example.com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Alan Turing - alan@example.com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9344" y="2221991"/>
            <a:ext cx="402244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Columns can be reordered and your code still works.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Each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row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a dictionary (in modern Python, a regular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dict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Values are still strings.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Converting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852927"/>
          </a:xfrm>
          <a:prstGeom prst="roundRect">
            <a:avLst>
              <a:gd name="adj" fmla="val 25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560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users = []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with open("users.csv",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 row in csv.DictReader(f):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users.append({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"id": int(row["id"]),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"name": row["name"],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"email": row["email"],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"age": int(row["age"]),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"active": row["active"].strip().lower() == "true",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})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print(users[2])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Type conversion is your responsibility.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CSV holds the text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"true"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comparing gives a real boolean.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Never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bool("false")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any non-empty string is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4589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Output: print(users[2])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733288"/>
            <a:ext cx="10971885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879592"/>
            <a:ext cx="10569549" cy="175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{'id': 3, 'name': 'Alan Turing', 'email': 'alan@example.com', 'age': 41, 'active': False}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Writing with csv.writer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writer takes lists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results = [("Login", "pass", 1.2), ("Search", "fail", 3.4)]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open("results.csv",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 = csv.writer(f)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writer.writerow(["test", "status", "seconds"])   # header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writer.writerows(results)                         # many rows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11784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results.csv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392168"/>
            <a:ext cx="1097188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538472"/>
            <a:ext cx="1056954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test,status,seconds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Login,pass,1.2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Search,fail,3.4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Writing with csv.DictWriter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DictWriter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takes dictionaries and needs the column names: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records = [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{"test": "Login", "status": "pass", "seconds": 1.2},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{"test": "Search", "status": "fail", "seconds": 3.4},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open("results2.csv",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 = csv.DictWriter(f, fieldnames=["test", "status", "seconds"])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writer.writeheader()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writer.writerows(records)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641848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Quoting is automatic: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He said "hi", then left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written 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"He said ""hi"", then left"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Delimiters and Dialects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Not every "CSV" uses commas: semicolons (European locales, where the comma is the decimal separator), tabs (TSV) or pipes. Specify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delimiter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780288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48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csv.reader(f, delimiter=";")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csv.writer(f, delimiter="\t")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9476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Other parameters: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quotechar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quoting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(for example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csv.QUOTE_ALL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skipinitialspace=True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(ignore spaces after delimiters). A bundle of such settings is called a dialect.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Handling Messy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Blank lines, missing cells, short rows. A short row gets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missing columns; extra cells go under the key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restkey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10971885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10569549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csv, io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messy = io.StringIO("id,name,age\n1,Ada,36\n2,Grace\n3,Alan,41,EXTRA\n")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row in csv.DictReader(messy):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print(row)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187951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462271"/>
            <a:ext cx="10971885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608575"/>
            <a:ext cx="10569549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{'id': '1', 'name': 'Ada', 'age': '36'}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{'id': '2', 'name': 'Grace', 'age': None}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{'id': '3', 'name': 'Alan', 'age': '41', None: ['EXTRA']}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5413248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ourier New"/>
              </a:rPr>
              <a:t>io.StringIO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treats a string like a file: handy for experiments and tests that should not touch the disk. A robust loader detects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values and reports the row number (the exercise).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JSON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JavaScript Object Notation: loads, load, dumps, dump, nested data,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72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JSON?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"id": 1,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"name": "Ada Lovelace",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"email": "ada@example.com",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"active": true,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"roles": ["admin", "tester"],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"address": {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"city": "London",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"postcode": "N1 1AA"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"manager": null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text format for structured, nested data, originally from JavaScript, now universal.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standard language of web APIs.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Strengths: nesting and basic types, human-readable, ubiquitous in APIs.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Weaknesses: no comments, no date type (dates are strings), larger than CSV for flat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JSON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648712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Python equivalent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object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{ "key": value }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array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[ ... ]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string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"text"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number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42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3.14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float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230368"/>
            <a:ext cx="10971885" cy="868680"/>
          </a:xfrm>
          <a:prstGeom prst="roundRect">
            <a:avLst>
              <a:gd name="adj" fmla="val 947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367528"/>
            <a:ext cx="10514685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STRICT SYNTAX RULES (FREQUENT SOURCES OF ERRORS)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Keys and strings use double quotes only; no trailing commas; no comments; no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(those are Python, not JSON).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Parsing Text: json.loads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loads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("load string") converts a JSON string into Python objects: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197608"/>
          </a:xfrm>
          <a:prstGeom prst="roundRect">
            <a:avLst>
              <a:gd name="adj" fmla="val 332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90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text = '{"id": 1, "name": "Ada", "active": true, "roles": ["admin", "tester"], "manager": null}'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data = json.loads(text)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print(type(data))            # &lt;class 'dict'&gt;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print(data["name"])          # Ada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print(data["roles"][0])      # admin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print(data["active"])        # True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print(data["manager"])       #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a File: json.load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load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(no "s") reads from a file object. First, create the file: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config = {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"browser": "chrome",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"timeout": 30,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"headless": False,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"urls": ["https://example.test/login", "https://example.test/search"],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open("config.json", "w",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json.dump(config, f, indent=2)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It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786128"/>
          </a:xfrm>
          <a:prstGeom prst="roundRect">
            <a:avLst>
              <a:gd name="adj" fmla="val 4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49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with open("config.json", "r", encoding="utf-8") as f: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config = json.load(f)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print(config["browser"], config["timeout"], config["headless"])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print(len(config["urls"]), "urls")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02640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300728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447032"/>
            <a:ext cx="10569549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chrome 30 False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2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5367528"/>
            <a:ext cx="10971885" cy="731520"/>
          </a:xfrm>
          <a:prstGeom prst="roundRect">
            <a:avLst>
              <a:gd name="adj" fmla="val 11249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5504688"/>
            <a:ext cx="105146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REMEMBER THE NAMES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load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dump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work with files;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loads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dumps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work with strings (the "s" = string).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Writing JSON: dump and dumps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626108"/>
          </a:xfrm>
          <a:prstGeom prst="roundRect">
            <a:avLst>
              <a:gd name="adj" fmla="val 449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report = {"total": 3, "passed": 2, "failed": 1, "tests": ["a", "b", "c"], "note": "café"}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print(json.dumps(report))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print(json.dumps(report, indent=2, sort_keys=True))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print(json.dumps(report, ensure_ascii=False))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dumps: 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769107"/>
          </a:xfrm>
          <a:prstGeom prst="roundRect">
            <a:avLst>
              <a:gd name="adj" fmla="val 26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476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{"total": 3, "passed": 2, "failed": 1, "tests": ["a", "b", "c"], "note": "café"}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"failed": 1,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"note": "café",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"passed": 2,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"tests": [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"a",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"b",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"c"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],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"total": 3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{"total": 3, "passed": 2, "failed": 1, "tests": ["a", "b", "c"], "note": "café"}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Useful dumps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1813560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indent=2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Pretty-print with 2-space indentation (readable)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sort_keys=True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Alphabetical keys (stable output, easier to compare)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60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ensure_ascii=False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Keep non-ASCII characters as they are instead of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\uXXXX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 escapes (open the file with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encoding="utf-8"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72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Objects JSON Cannot Handle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JSON only supports the types in the table; dumping others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datetime import datetime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json.dumps({"when": datetime.now()})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TypeError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print("Cannot serialise:", 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58639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632959"/>
            <a:ext cx="10971885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779263"/>
            <a:ext cx="10569549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Cannot serialise: Object of type datetime is not JSON serializable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Fixing Unsupported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Convert to a string first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datetime.now().isoformat()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), or pass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default=str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print(json.dumps({"when": datetime(2025, 1, 15, 9, 30)}, default=str))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{"when": "2025-01-15 09:30:00"}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2900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Also note: dictionary keys become strings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{1: "a"}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becomes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{"1": "a"}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), and tuples become lists.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Navigating Nested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797808"/>
          </a:xfrm>
          <a:prstGeom prst="roundRect">
            <a:avLst>
              <a:gd name="adj" fmla="val 19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505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api_response = json.loads("""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"status": "ok",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"data": {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"users": [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{"id": 1, "name": "Ada", "tags": ["admin"]},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{"id": 2, "name": "Grace", "tags": []}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],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"total": 2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""")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print(api_response["data"]["total"])               # 2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print(api_response["data"]["users"][1]["name"])    # Grace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user in api_response["data"]["users"]: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print(user["id"], user["name"], len(user["tags"]))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Chains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[...]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go one level deeper each 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 missing key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72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Optional Data: .get()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For optional data,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.get()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a default: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nickname = api_response["data"]["users"][0].get("nickname", "n/a")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print(nickname)    # n/a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Handling Invalid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Malformed JSON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json.JSONDecodeError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a subclass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852927"/>
          </a:xfrm>
          <a:prstGeom prst="roundRect">
            <a:avLst>
              <a:gd name="adj" fmla="val 25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560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bad_samples = [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"{'name': 'Ada'}",          # single quotes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'{"name": "Ada",}',         # trailing comma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'{"name": "Ada"',           # unclosed brace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"",                          # empty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text in bad_samples: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json.loads(text)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except json.JSONDecodeError as 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print(f"Invalid JSON: {error.msg} (line {error.lineno}, column {error.colno})")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Invalid JSON: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Invalid JSON: Expecting property name enclosed in double quotes (line 1, column 2)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Invalid JSON: Illegal trailing comma before end of object (line 1, column 16)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Invalid JSON: Expecting ',' delimiter (line 1, column 15)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Invalid JSON: Expecting value (line 1, column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15468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error object offers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msg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lineno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colno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so you can tell a data owner exactly where the file is broken.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Wording differs between Python versions; older versions say "Expecting property name enclosed in double quotes" for the trailing-comma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72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XML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eXtensible Markup Language with ElementTree: parse, find, build,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XML?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3.1 · TESTSUITE.XML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218687"/>
          </a:xfrm>
          <a:prstGeom prst="roundRect">
            <a:avLst>
              <a:gd name="adj" fmla="val 227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&lt;?xml version="1.0" encoding="UTF-8"?&gt;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&lt;testsuite name="LoginTests" tests="3"&gt;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&lt;testcase id="TC1" status="pass"&gt;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&lt;title&gt;Valid login&lt;/title&gt;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&lt;duration&gt;1.2&lt;/duration&gt;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&lt;testcase id="TC2" status="fail"&gt;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&lt;title&gt;Wrong password&lt;/title&gt;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&lt;duration&gt;0.8&lt;/duration&gt;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&lt;message&gt;Expected error banner not shown&lt;/message&gt;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&lt;testcase id="TC3" status="pass"&gt;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&lt;title&gt;Logout&lt;/title&gt;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&lt;duration&gt;0.5&lt;/duration&gt;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&lt;/testsuite&gt;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tree of elements written with opening and closing tags, optionally with attributes.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Element: a unit like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&lt;title&gt;Valid login&lt;/title&gt;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Root element: the single outermost element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testsuite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Attribute: name/value in an opening tag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id="TC1"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Text: content between tags. Children: elements nested inside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Well-Formed 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Documents must be well-formed: every opening tag closed, tags properly nested, one root, attribute values quoted, special characters escaped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&amp;lt;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&lt;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&amp;amp;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&amp;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971800"/>
            <a:ext cx="53035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31089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5C8A8A"/>
                </a:solidFill>
                <a:latin typeface="Arial"/>
              </a:rPr>
              <a:t>STRENGTHS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Attributes, nesting, mixed content, namespaces, schemas; widely used in enterprise systems and CI test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9184" y="2971800"/>
            <a:ext cx="53035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7784" y="31089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5C8A8A"/>
                </a:solidFill>
                <a:latin typeface="Arial"/>
              </a:rPr>
              <a:t>WEAKNESSES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Verbose, harder to read than JSON, more complex to parse. Everything is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72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 the Sample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3.2 · ELEMENTTREE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xml.etree.ElementTree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(usually imported 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turns XML into a tree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Element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objects. First, create the file: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3493008"/>
          </a:xfrm>
          <a:prstGeom prst="roundRect">
            <a:avLst>
              <a:gd name="adj" fmla="val 20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xml_text = """&lt;?xml version="1.0" encoding="UTF-8"?&gt;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&lt;testsuite name="LoginTests" tests="3"&gt;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&lt;testcase id="TC1" status="pass"&gt;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&lt;title&gt;Valid login&lt;/title&gt;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&lt;duration&gt;1.2&lt;/duration&gt;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&lt;testcase id="TC2" status="fail"&gt;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&lt;title&gt;Wrong password&lt;/title&gt;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&lt;duration&gt;0.8&lt;/duration&gt;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&lt;message&gt;Expected error banner not shown&lt;/message&gt;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&lt;testcase id="TC3" status="pass"&gt;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&lt;title&gt;Logout&lt;/title&gt;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&lt;duration&gt;0.5&lt;/duration&gt;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&lt;/testsuite&gt;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with open("testsuite.xml", "w", encoding="utf-8") as f: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f.write(xml_text)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72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Parsing with ElementTree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220467"/>
          </a:xfrm>
          <a:prstGeom prst="roundRect">
            <a:avLst>
              <a:gd name="adj" fmla="val 3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927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tree = ET.parse("testsuite.xml")      # reads and parses the file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root = tree.getroot()                  # the &lt;testsuite&gt; element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print(root.tag)                        # testsuite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print(root.attrib)                     # {'name': 'LoginTests', 'tests': '3'}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print(root.get("name"))                # LoginTests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case in root:                      # iterate over direct children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print(case.tag, case.attrib)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46074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735067"/>
            <a:ext cx="10971885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881372"/>
            <a:ext cx="1056954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testsuite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{'name': 'LoginTests', 'tests': '3'}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LoginTests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testcase {'id': 'TC1', 'status': 'pass'}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testcase {'id': 'TC2', 'status': 'fail'}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testcase {'id': 'TC3', 'status': 'pass'}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72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Members of an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312543"/>
        </p:xfrm>
        <a:graphic>
          <a:graphicData uri="http://schemas.openxmlformats.org/drawingml/2006/table">
            <a:tbl>
              <a:tblPr/>
              <a:tblGrid>
                <a:gridCol w="3511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0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99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0066"/>
                          </a:solidFill>
                          <a:latin typeface="Courier New"/>
                        </a:rPr>
                        <a:t>.tag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A1A1A"/>
                          </a:solidFill>
                          <a:latin typeface="Arial"/>
                        </a:rPr>
                        <a:t>The element's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699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0066"/>
                          </a:solidFill>
                          <a:latin typeface="Courier New"/>
                        </a:rPr>
                        <a:t>.attrib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A1A1A"/>
                          </a:solidFill>
                          <a:latin typeface="Arial"/>
                        </a:rPr>
                        <a:t>Dictionary of attributes (values are strings)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699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0066"/>
                          </a:solidFill>
                          <a:latin typeface="Courier New"/>
                        </a:rPr>
                        <a:t>.get("name", 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A1A1A"/>
                          </a:solidFill>
                          <a:latin typeface="Arial"/>
                        </a:rPr>
                        <a:t>Read one attribute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699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0066"/>
                          </a:solidFill>
                          <a:latin typeface="Courier New"/>
                        </a:rPr>
                        <a:t>.text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A1A1A"/>
                          </a:solidFill>
                          <a:latin typeface="Arial"/>
                        </a:rPr>
                        <a:t>Text directly inside the element (can be </a:t>
                      </a:r>
                      <a:r>
                        <a:rPr sz="140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  <a:r>
                        <a:rPr sz="14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699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A1A1A"/>
                          </a:solidFill>
                          <a:latin typeface="Arial"/>
                        </a:rPr>
                        <a:t>iteration / </a:t>
                      </a:r>
                      <a:r>
                        <a:rPr sz="1400" b="0" i="0">
                          <a:solidFill>
                            <a:srgbClr val="330066"/>
                          </a:solidFill>
                          <a:latin typeface="Courier New"/>
                        </a:rPr>
                        <a:t>list(elem)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A1A1A"/>
                          </a:solidFill>
                          <a:latin typeface="Arial"/>
                        </a:rPr>
                        <a:t>The direct children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687568"/>
            <a:ext cx="1097188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XML already in a string: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ET.fromstring(xml_text)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returns the root element directly.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72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Finding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find: first matching direct child; findall: all of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395727"/>
          </a:xfrm>
          <a:prstGeom prst="roundRect">
            <a:avLst>
              <a:gd name="adj" fmla="val 305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root = ET.parse("testsuite.xml").getroot()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find: first matching direct child; findall: all matching direct children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first_case = root.find("testcase")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print(first_case.get("id"))                    # TC1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case in root.findall("testcase"):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title = case.find("title").text            # text of the &lt;title&gt; child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duration = float(case.find("duration").text)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print(f"{case.get('id')}: {title} ({duration}s) -&gt; {case.get('status')}")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63600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910328"/>
            <a:ext cx="10971885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056632"/>
            <a:ext cx="10569549" cy="525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TC1: Valid login (1.2s) -&gt; pass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TC2: Wrong password (0.8s) -&gt; fail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TC3: Logout (0.5s) -&gt;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72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Ways to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iter()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all descendants,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findtext()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a default, simple XPath-style patterns: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iter(): search ALL descendants at any depth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d in root.iter("duration"):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print(d.text)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findtext(): text of a child, with a default if missing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case in root.findall("testcase"):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message = case.findtext("message", default="(no message)")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print(case.get("id"), message)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Simple XPath-style patterns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failed = root.findall(".//testcase[@status='fail']")     # any depth, attribute filter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print([c.get("id") for c in failed])                      # ['TC2']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Careful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msg = case.find("message")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if msg is not None:        # correct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print(msg.text)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Missing elements: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find("message")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when nothing matches,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None.text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AttributeError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Check for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or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findtext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a default.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if element: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Element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no children is false in a boolean test. Compare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is not 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explicitly.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72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Building and Writing 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2731007"/>
          </a:xfrm>
          <a:prstGeom prst="roundRect">
            <a:avLst>
              <a:gd name="adj" fmla="val 267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243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suite = ET.Element("testsuite", name="Demo", tests="2")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for tid, status in [("TC1", "pass"), ("TC2", "fail")]: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case = ET.SubElement(suite, "testcase", id=tid, status=status)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ET.SubElement(case, "title").text = f"Case {tid}"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tree = ET.ElementTree(suite)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ET.indent(tree, space="  ")             # pretty-print (Python 3.9+)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tree.write("demo_out.xml", encoding="utf-8", xml_declaration=True)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print(open("demo_out.xml", encoding="utf-8").read())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801368"/>
          </a:xfrm>
          <a:prstGeom prst="roundRect">
            <a:avLst>
              <a:gd name="adj" fmla="val 4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&lt;?xml version='1.0' encoding='utf-8'?&gt;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&lt;testsuite name="Demo" tests="2"&gt;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&lt;testcase id="TC1" status="pass"&gt;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&lt;title&gt;Case TC1&lt;/title&gt;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&lt;testcase id="TC2" status="fail"&gt;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&lt;title&gt;Case TC2&lt;/title&gt;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&lt;/testcase&gt;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&lt;/testsuite&gt;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72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Building XML: What Each Call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3.4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Courier New"/>
              </a:rPr>
              <a:t>ET.Element("testsuite", name="Demo")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Creates an element with attributes.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2512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61704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Courier New"/>
              </a:rPr>
              <a:t>ET.SubElement(parent, "tag", attr=...)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Creates a child attached to its parent.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6717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03753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Setting </a:t>
            </a:r>
            <a:r>
              <a:rPr sz="1450" b="1" i="0">
                <a:solidFill>
                  <a:srgbClr val="330066"/>
                </a:solidFill>
                <a:latin typeface="Courier New"/>
              </a:rPr>
              <a:t>.text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Assigns the element's text. Special characters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&lt;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&amp;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 are escaped for you.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0922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45801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Courier New"/>
              </a:rPr>
              <a:t>ET.indent(tree, space="  ")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Pretty-prints (Python 3.9+).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35127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387850"/>
            <a:ext cx="10423245" cy="514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Courier New"/>
              </a:rPr>
              <a:t>ET.tostring(element, encoding="unicode")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Gives a string rather than a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72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Handling Malformed 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bad_xml = "&lt;testsuite&gt;&lt;testcase&gt;&lt;/testsuite&gt;"      # tags not properly nested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ET.fromstring(bad_xml)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ET.ParseError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print("XML is not well-formed:", error)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8404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 (the column number can vary slightly between Python versions)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4114800"/>
            <a:ext cx="10971885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4261104"/>
            <a:ext cx="10569549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XML is not well-formed: mismatched tag: line 1, column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47548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ET.ParseError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has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.position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attribute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(line, column)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Security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3.6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64592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UNTRUSTED XML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ElementTree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fine for trusted files such as your own test data. But XML parsers can be abused with crafted documents (for example "billion laughs" entity-expansion attacks). For untrusted sources, consult the official documentation's "XML vulnerabilities" section; the third-party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defusedxml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package is the commonly recommended mitigation.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72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Comparing and Choosing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Which format for which data, and converting between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72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CSV vs JSON vs 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3330956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CSV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JSON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XML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Flat 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Nested objects/arrays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Nested tree with attributes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Data types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None (all text)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string, number, bool, null, list, object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None (all text)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Human readability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High for tables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Medium (verbose)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Smallest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Largest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Python 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csv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json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xml.etree.ElementTree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Typical QA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Bulk data-driven test input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API payloads, configs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Legacy services, test reports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Comments allowed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Yes (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&lt;!-- --&gt;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72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Many similar records with the same fields.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9572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68880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Nested data or API payloads.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0837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8152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system or tool that demands it, or data needing attributes/schemas.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72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Converting Between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142488"/>
          </a:xfrm>
          <a:prstGeom prst="roundRect">
            <a:avLst>
              <a:gd name="adj" fmla="val 232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84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csv, json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CSV -&gt; JSON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open("users.csv",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rows = list(csv.DictReader(f))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open("users.json", "w",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json.dump(rows, f, indent=2)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JSON -&gt; CSV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open("users.json",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records = json.load(f)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open("users_copy.csv",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writer = csv.DictWriter(f, fieldnames=records[0].keys())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writer.writeheader()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writer.writerows(records)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All three become ordinary Python structures (lists/dicts): read with one module, write with another.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CSV to JSON gives every value as a string, because CSV has no types.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Convert specific columns afterwards if the consumer expects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72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Real-World 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Data-driven input, API checks, XML reports, a defensive loader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72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1: Data-Driven Input from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3012948"/>
          </a:xfrm>
          <a:prstGeom prst="roundRect">
            <a:avLst>
              <a:gd name="adj" fmla="val 242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720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io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csv_data = io.StringIO(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"username,password,expected\n"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"ada,correct,success\n"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"ada,wrong,failure\n"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",correct,failure\n"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fake_login(username, password):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"success" if username and password == "correct" else "failure"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for number, row in enumerate(csv.DictReader(csv_data), start=1):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actual = fake_login(row["username"], row["password"])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verdict = "PASS" if actual == row["expected"] else "FAIL"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print(f"case {number}: user={row['username']!r:7} -&gt; {actual:8} expected {row['expected']:8} {verdict}")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864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5138927"/>
            <a:ext cx="594360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5285231"/>
            <a:ext cx="55412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case 1: user='ada'   -&gt; success  expected success  PASS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case 2: user='ada'   -&gt; failure  expected failure  PASS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case 3: user=''      -&gt; failure  expected failure 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9264" y="5138927"/>
            <a:ext cx="466252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piece of logic, many rows of data: the essence of data-driven testing. Adding a case means adding a line to the file, not editing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72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2: An API Response in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response_text = 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{"status": 201, "user": {"id": 77, "email": "new@example.com", "roles": ["tester"]}}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response = json.loads(response_text)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response["status"] == 201, f"unexpected status {response['status']}"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"@" in response["user"]["email"], "email looks invalid"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assert "tester" in response["user"]["roles"], "tester role missing"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print("API response checks passed")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Output: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API response checks passed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Uses the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statement from the previous lesson as a simple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72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An XML Test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075688"/>
          </a:xfrm>
          <a:prstGeom prst="roundRect">
            <a:avLst>
              <a:gd name="adj" fmla="val 352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report = ET.fromstring("""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&lt;testsuite name="Checkout"&gt;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&lt;testcase name="add_item" time="0.4"/&gt;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&lt;testcase name="apply_coupon" time="1.1"&gt;&lt;failure message="Coupon rejected"/&gt;&lt;/testcase&gt;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&lt;testcase name="pay" time="2.3"&gt;&lt;skipped/&gt;&lt;/testcase&gt;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&lt;/testsuite&gt;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""")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16052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This mirrors the structure of real-world JUnit-style test reports that many CI systems produce, so the same skills let you write tools that analyse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Summarising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746247"/>
          </a:xfrm>
          <a:prstGeom prst="roundRect">
            <a:avLst>
              <a:gd name="adj" fmla="val 26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2453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summary = {"passed": 0, "failed": 0, "skipped": 0}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total_time = 0.0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case in report.findall("testcase"):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total_time += float(case.get("time", 0))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if case.find("failure") is not None: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summary["failed"] += 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print("FAILED:", case.get("name"), "-", case.find("failure").get("message"))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elif case.find("skipped") is not None: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summary["skipped"] += 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summary["passed"] += 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print(summary, f"total {total_time:.1f}s")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98652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260848"/>
            <a:ext cx="10971885" cy="643128"/>
          </a:xfrm>
          <a:prstGeom prst="roundRect">
            <a:avLst>
              <a:gd name="adj" fmla="val 113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407152"/>
            <a:ext cx="10569549" cy="35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FAILED: apply_coupon - Coupon rejected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{'passed': 1, 'failed': 1, 'skipped': 1} total 3.8s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72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4: A Defensive CSV Loader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4148328"/>
          </a:xfrm>
          <a:prstGeom prst="roundRect">
            <a:avLst>
              <a:gd name="adj" fmla="val 17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3855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io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REQUIRED = ["id", "name", "age"]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load_users(file_obj):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reader = csv.DictReader(file_obj)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missing = [c for c in REQUIRED if c not in (reader.fieldnames or [])]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missing: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raise ValueError(f"missing columns: {missing}")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good, errors = [], []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 line_no, row in enumerate(reader, start=2):      # line 1 is the header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good.append({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   "id": int(row["id"]),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   "name": row["name"].strip(),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   "age": int(row["age"]),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})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except (ValueError, TypeError, AttributeError) as 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errors.append(f"line {line_no}: {type(error).__name__}: {error}")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good, errors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Structural problems raise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Missing columns: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stops everything.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66979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start=2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Line 1 is the header, so line numbers match the file.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519932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Row problems are collected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Each bad row is recorded with its line number; processing continues.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72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4: Running the Loader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data = io.StringIO("id,name,age\n1,Ada,36\n2,Grace,forty\n3,Alan,\n4,Linus,55\n")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users, problems = load_users(data)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print(users)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p in problems: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091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683508"/>
            <a:ext cx="10971885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29812"/>
            <a:ext cx="10569549" cy="525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[{'id': 1, 'name': 'Ada', 'age': 36}, {'id': 4, 'name': 'Linus', 'age': 55}]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line 3: ValueError: invalid literal for int() with base 10: 'forty'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line 4: ValueError: invalid literal for int() with base 10: ''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413248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Which failures stop everything and which are collected is a design decision you will make in the Project 1 data-ingestion milestone.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72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Putting It All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formats_roundtrip.py: one dataset, three formats,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72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formats_roundtrip.py: Data and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formats_roundtrip.py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645408"/>
          </a:xfrm>
          <a:prstGeom prst="roundRect">
            <a:avLst>
              <a:gd name="adj" fmla="val 20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352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"""formats_roundtrip.py - Write and re-read test data as CSV, JSON and XML."""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TESTS = [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{"id": "TC1", "title": "Valid login", "status": "pass"},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{"id": "TC2", "title": "Wrong password", "status": "fail"},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{"id": "TC3", "title": "Logout", "status": "pass"},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---- CSV 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open("tests.csv",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writer = csv.DictWriter(f, fieldnames=["id", "title", "status"])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writer.writeheader()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writer.writerows(TESTS)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open("tests.csv",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from_csv = list(csv.DictReader(f))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Source of truth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same list of dictionaries feeds all three formats.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1442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CSV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DictWriter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writes with a header,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DictReader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brings back dictionaries. It matches because all values are strings; a numeric field would come back as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72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formats_roundtrip.py: JSON, XML,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formats_roundtrip.py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980688"/>
          </a:xfrm>
          <a:prstGeom prst="roundRect">
            <a:avLst>
              <a:gd name="adj" fmla="val 183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688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---- JSON 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open("tests.json", "w",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json.dump(TESTS, f, indent=2)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open("tests.json",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from_json = json.load(f)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---- XML 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root = ET.Element("tests")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t in TESTS: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case = ET.SubElement(root, "test", id=t["id"], status=t["status"])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case.text = t["title"]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ET.ElementTree(root).write("tests.xml", encoding="utf-8", xml_declaration=True)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from_xml = [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{"id": e.get("id"), "title": e.text, "status": e.get("status")}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 e in ET.parse("tests.xml").getroot().findall("test")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---- Compare 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name, loaded in (("CSV", from_csv), ("JSON", from_json), ("XML", from_xml)):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print(f"{name:5} round-trip matches original:", loaded == TESTS)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JSON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dump</a:t>
            </a:r>
            <a:r>
              <a:rPr sz="1250" b="0" i="0">
                <a:solidFill>
                  <a:srgbClr val="1A1A1A"/>
                </a:solidFill>
                <a:latin typeface="Arial"/>
              </a:rPr>
              <a:t>/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load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preserve structure and types.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1244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XML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id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in attributes, title in text; read back with a list comprehension. XML has no built-in dict mapping: you define the layout.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40786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411524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Compare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final loop proves all three retained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72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formats_roundtrip.py: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Save 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formats_roundtrip.py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run it: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CSV   round-trip matches original: True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JSON  round-trip matches original: True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XML   round-trip matches original: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72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60 / 72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Create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products.csv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sku,name,price,stock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four rows). Read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DictReader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convert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price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float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stock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int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print the total inventory value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price * stock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summed).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537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26919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write_report(path, results)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takes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(test_name, status)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tuples and writes a CSV with a header. A test name containing a comma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"Login, valid"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 must survive a round trip.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2445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97606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safe_load_json(path)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returns the parsed data, or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after printing a helpful message (with line/column) for: missing file, invalid JSON.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61 / 72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 3: print each user's name and number of roles (.get() so no roles prints 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text = '{"users": [{"name": "Ada", "roles": ["a", "b"]}, {"name": "Grace"}]}'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233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 5: print the IDs of products that cost more than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7708"/>
            <a:ext cx="10971885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44012"/>
            <a:ext cx="10569549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&lt;catalog&gt;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&lt;product id="p1"&gt;&lt;price&gt;9.99&lt;/price&gt;&lt;/product&gt;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&lt;product id="p2"&gt;&lt;price&gt;24.50&lt;/price&gt;&lt;/product&gt;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&lt;product id="p3"&gt;&lt;price&gt;31.00&lt;/price&gt;&lt;/product&gt;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&lt;/catalog&gt;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62 / 72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Convert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users.csv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(from the lesson) into XML where each row becomes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&lt;user id="..."&gt;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child elements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&lt;name&gt;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&lt;email&gt;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8793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2450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Explain why each would be a 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(1)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open("data.csv", "r")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then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csv.reader(f)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on Windows, without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newline=""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(2)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bool(row["active"])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convert the text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"false"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(3)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json.loads("{'a': 1}")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(4)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root.find("missing").text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63 / 72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with open("products.csv",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f.write("sku,name,price,stock\nA1,Mouse,9.99,10\nA2,Keyboard,24.5,4\nA3,Cable,2.5,100\nA4,Monitor,150,2\n")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total = 0.0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with open("products.csv",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for row in csv.DictReader(f):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total += float(row["price"]) * int(row["stock"])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print(f"Inventory value: {total:.2f}")      # 747.90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069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9.99 x 10 + 24.5 x 4 + 2.5 x 100 + 150 x 2 = 99.9 + 98 + 250 + 300 = 747.9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64 / 72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578607"/>
          </a:xfrm>
          <a:prstGeom prst="roundRect">
            <a:avLst>
              <a:gd name="adj" fmla="val 28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285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write_report(path, results):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with open(path, "w",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writer = csv.writer(f)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writer.writerow(["test", "status"])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writer.writerows(results)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write_report("r.csv", [("Login, valid", "pass"), ("Logout", "fail")])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open("r.csv",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print(list(csv.reader(f)))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[['test', 'status'], ['Login, valid', 'pass'], ['Logout', 'fail']]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5733288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writer automatically quotes the value containing a comma.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65 / 72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Answer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text = '{"users": [{"name": "Ada", "roles": ["a", "b"]}, {"name": "Grace"}]}'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user in json.loads(text)["users"]: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print(user["name"], len(user.get("roles", [])))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Ada 2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Grace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8444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Answer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858768"/>
            <a:ext cx="10971885" cy="2220467"/>
          </a:xfrm>
          <a:prstGeom prst="roundRect">
            <a:avLst>
              <a:gd name="adj" fmla="val 3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05072"/>
            <a:ext cx="10569549" cy="1927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safe_load_json(path):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with open(path, encoding="utf-8") as f: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return json.load(f)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print("File not found:", path)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json.JSONDecodeError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print(f"Invalid JSON in {path}: {error.msg} at line {error.lineno}, column {error.colno}")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66 / 72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304287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xml = """&lt;catalog&gt;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&lt;product id="p1"&gt;&lt;price&gt;9.99&lt;/price&gt;&lt;/product&gt;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&lt;product id="p2"&gt;&lt;price&gt;24.50&lt;/price&gt;&lt;/product&gt;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&lt;product id="p3"&gt;&lt;price&gt;31.00&lt;/price&gt;&lt;/product&gt;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&lt;/catalog&gt;"""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root = ET.fromstring(xml)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print([p.get("id") for p in root.findall("product") if float(p.findtext("price")) &gt; 20])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['p2', 'p3']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67 / 72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769107"/>
          </a:xfrm>
          <a:prstGeom prst="roundRect">
            <a:avLst>
              <a:gd name="adj" fmla="val 26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476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csv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xml.etree.ElementTree as ET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root = ET.Element("users")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open("users.csv", newline="",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for row in csv.DictReader(f):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user = ET.SubElement(root, "user", id=row["id"])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ET.SubElement(user, "name").text = row["name"]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ET.SubElement(user, "email").text = row["email"]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tree = ET.ElementTree(root)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ET.indent(tree)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tree.write("users.xml", encoding="utf-8", xml_declaration=True)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68 / 72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Without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newline=""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newline translation can add blank lines between rows on Windows and corrupt line breaks inside quoted cells.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6964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4279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bool("false")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any non-empty string is truthy. Compare to the text instead.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1828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9143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JSON requires double quotes, so this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JSONDecodeError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6692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40074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find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when there is no match, so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.text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AttributeError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Check for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or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findtext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69 / 72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CSV: a flat table of text.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csv.reader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writer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preferably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DictReader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DictWriter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open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newline=""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encoding="utf-8"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convert types yourself.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JSON: objects, arrays, strings, numbers, booleans, null map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int/float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bool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load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dump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files,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loads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dumps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strings. Catch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json.JSONDecodeError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XML: a tree of elements with attributes and text.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ElementTree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parse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fromstring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findall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iter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.attrib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.text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Beware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catch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ET.ParseError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treat untrusted XML with caution.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70 / 72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 format is "best": match it to the data (flat tables, nested/API data, legacy/report formats).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Real data is messy: validate, convert types, report row/line numbers, and decide which problems stop processing and which are collected.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Next: context managers,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mechanism behind all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 open(...)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lines you have been writing.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71 / 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csv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https://docs.python.org/3/library/csv.html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json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https://docs.python.org/3/library/json.html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xml.etree.ElementTree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https://docs.python.org/3/library/xml.etree.elementtree.html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72 / 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8444</Words>
  <Application>Microsoft Office PowerPoint</Application>
  <PresentationFormat>Widescreen</PresentationFormat>
  <Paragraphs>1058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Arial</vt:lpstr>
      <vt:lpstr>Courier New</vt:lpstr>
      <vt:lpstr>Wingdings</vt:lpstr>
      <vt:lpstr>Learners Point</vt:lpstr>
      <vt:lpstr>CSV, JSON and XML</vt:lpstr>
      <vt:lpstr>Learning Objectives (1 of 2)</vt:lpstr>
      <vt:lpstr>Learning Objectives (2 of 2)</vt:lpstr>
      <vt:lpstr>Why This Matters</vt:lpstr>
      <vt:lpstr>CSV</vt:lpstr>
      <vt:lpstr>What Is CSV?</vt:lpstr>
      <vt:lpstr>Why Not Just Use split(",")?</vt:lpstr>
      <vt:lpstr>A Sample File</vt:lpstr>
      <vt:lpstr>Reading with csv.reader</vt:lpstr>
      <vt:lpstr>Skipping the Header</vt:lpstr>
      <vt:lpstr>csv.DictReader (Recommended)</vt:lpstr>
      <vt:lpstr>Converting Types</vt:lpstr>
      <vt:lpstr>Writing with csv.writer</vt:lpstr>
      <vt:lpstr>Writing with csv.DictWriter</vt:lpstr>
      <vt:lpstr>Delimiters and Dialects</vt:lpstr>
      <vt:lpstr>Handling Messy CSV</vt:lpstr>
      <vt:lpstr>JSON</vt:lpstr>
      <vt:lpstr>What Is JSON?</vt:lpstr>
      <vt:lpstr>JSON Building Blocks</vt:lpstr>
      <vt:lpstr>Parsing Text: json.loads</vt:lpstr>
      <vt:lpstr>Reading a File: json.load</vt:lpstr>
      <vt:lpstr>Reading It Back</vt:lpstr>
      <vt:lpstr>Writing JSON: dump and dumps</vt:lpstr>
      <vt:lpstr>dumps: The Output</vt:lpstr>
      <vt:lpstr>Useful dumps Options</vt:lpstr>
      <vt:lpstr>Objects JSON Cannot Handle</vt:lpstr>
      <vt:lpstr>Fixing Unsupported Types</vt:lpstr>
      <vt:lpstr>Navigating Nested JSON</vt:lpstr>
      <vt:lpstr>Optional Data: .get()</vt:lpstr>
      <vt:lpstr>Handling Invalid JSON</vt:lpstr>
      <vt:lpstr>Invalid JSON: Output</vt:lpstr>
      <vt:lpstr>XML</vt:lpstr>
      <vt:lpstr>What Is XML?</vt:lpstr>
      <vt:lpstr>Well-Formed XML</vt:lpstr>
      <vt:lpstr>Creating the Sample File</vt:lpstr>
      <vt:lpstr>Parsing with ElementTree</vt:lpstr>
      <vt:lpstr>Key Members of an Element</vt:lpstr>
      <vt:lpstr>Finding Elements</vt:lpstr>
      <vt:lpstr>More Ways to Search</vt:lpstr>
      <vt:lpstr>Two Careful Checks</vt:lpstr>
      <vt:lpstr>Building and Writing XML</vt:lpstr>
      <vt:lpstr>Building XML: What Each Call Does</vt:lpstr>
      <vt:lpstr>Handling Malformed XML</vt:lpstr>
      <vt:lpstr>Security Note</vt:lpstr>
      <vt:lpstr>Comparing and Choosing</vt:lpstr>
      <vt:lpstr>CSV vs JSON vs XML</vt:lpstr>
      <vt:lpstr>Guidelines</vt:lpstr>
      <vt:lpstr>Converting Between Formats</vt:lpstr>
      <vt:lpstr>Real-World QA Scenarios</vt:lpstr>
      <vt:lpstr>Scenario 1: Data-Driven Input from CSV</vt:lpstr>
      <vt:lpstr>Scenario 2: An API Response in JSON</vt:lpstr>
      <vt:lpstr>Scenario 3: An XML Test Report</vt:lpstr>
      <vt:lpstr>Scenario 3: Summarising It</vt:lpstr>
      <vt:lpstr>Scenario 4: A Defensive CSV Loader</vt:lpstr>
      <vt:lpstr>Scenario 4: Running the Loader</vt:lpstr>
      <vt:lpstr>Putting It All Together</vt:lpstr>
      <vt:lpstr>formats_roundtrip.py: Data and CSV</vt:lpstr>
      <vt:lpstr>formats_roundtrip.py: JSON, XML, Compare</vt:lpstr>
      <vt:lpstr>formats_roundtrip.py: Output</vt:lpstr>
      <vt:lpstr>Practice</vt:lpstr>
      <vt:lpstr>Practice Exercises (1 of 3)</vt:lpstr>
      <vt:lpstr>Practice Exercises (2 of 3)</vt:lpstr>
      <vt:lpstr>Practice Exercises (3 of 3)</vt:lpstr>
      <vt:lpstr>Answer 1</vt:lpstr>
      <vt:lpstr>Answer 2</vt:lpstr>
      <vt:lpstr>Answers 3 and 4</vt:lpstr>
      <vt:lpstr>Answer 5</vt:lpstr>
      <vt:lpstr>Answer 6</vt:lpstr>
      <vt:lpstr>Answer 7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2026-10-18T10:03:51Z</dcterms:modified>
</cp:coreProperties>
</file>