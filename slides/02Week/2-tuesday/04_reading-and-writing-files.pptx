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10/19/2026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10/19/2026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Reading and Writing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Open, read, write and locate files safely: modes, encoding, paths and the errors to expect.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3520439"/>
            <a:ext cx="1177290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open()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87863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244394" y="3520439"/>
            <a:ext cx="105727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modes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39310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758869" y="3520439"/>
            <a:ext cx="105727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utf-8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90758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273344" y="3520439"/>
            <a:ext cx="129730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os.path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66208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027849" y="3520439"/>
            <a:ext cx="129730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pathlib</a:t>
            </a:r>
          </a:p>
        </p:txBody>
      </p:sp>
      <p:sp>
        <p:nvSpPr>
          <p:cNvPr id="14" name="Oval 13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Learning Objectives (1 of 2)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87451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6832" y="1783079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Explain why file handling is essential in test automation.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532887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6832" y="2441447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Open files with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open()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and choose the correct mode (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"r"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"w"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"a"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"x"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"r+"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binary variants).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191256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6832" y="3099815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Read a file all at once (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read()</a:t>
            </a:r>
            <a:r>
              <a:rPr sz="1600" b="0" i="0">
                <a:solidFill>
                  <a:srgbClr val="1A1A1A"/>
                </a:solidFill>
                <a:latin typeface="Arial"/>
              </a:rPr>
              <a:t>), line by line (iteration,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readline()</a:t>
            </a:r>
            <a:r>
              <a:rPr sz="1600" b="0" i="0">
                <a:solidFill>
                  <a:srgbClr val="1A1A1A"/>
                </a:solidFill>
                <a:latin typeface="Arial"/>
              </a:rPr>
              <a:t>), or into a list (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readlines()</a:t>
            </a:r>
            <a:r>
              <a:rPr sz="1600" b="0" i="0">
                <a:solidFill>
                  <a:srgbClr val="1A1A1A"/>
                </a:solidFill>
                <a:latin typeface="Arial"/>
              </a:rPr>
              <a:t>).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849624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6832" y="3758184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Write and append text with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write()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writelines()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1" name="Oval 10"/>
          <p:cNvSpPr/>
          <p:nvPr/>
        </p:nvSpPr>
        <p:spPr>
          <a:xfrm>
            <a:off x="609904" y="4507992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6832" y="4416552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Explain encoding (UTF-8) and why you should always specify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 / 52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Learning Objectives (2 of 2)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87451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6832" y="1783079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Understand why files must be closed; use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with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for automatic closing (fully explored in Context Managers).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532887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6832" y="2441447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Work with file paths safely using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os.path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and the modern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pathlib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module.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191256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6832" y="3099815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Check whether files and folders exist, create folders, list contents, and delete files.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849624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6832" y="3758184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Handle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FileNotFoundError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PermissionError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IsADirectoryError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UnicodeDecodeError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1" name="Oval 10"/>
          <p:cNvSpPr/>
          <p:nvPr/>
        </p:nvSpPr>
        <p:spPr>
          <a:xfrm>
            <a:off x="609904" y="4507992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6832" y="4416552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Read very large files efficiently; understand file positions with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seek()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tell()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 / 52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Almost every real test-automation task involves files: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28600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322576"/>
            <a:ext cx="5303520" cy="720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330066"/>
                </a:solidFill>
                <a:latin typeface="Arial"/>
              </a:rPr>
              <a:t>Input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Test data (users, products, orders) in text, CSV, JSON or XML files.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116135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cfg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52711"/>
            <a:ext cx="5303520" cy="4981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330066"/>
                </a:solidFill>
                <a:latin typeface="Arial"/>
              </a:rPr>
              <a:t>Configuration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Environment settings: URLs, browsers, timeouts.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72402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8544" y="3760597"/>
            <a:ext cx="5303520" cy="720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330066"/>
                </a:solidFill>
                <a:latin typeface="Arial"/>
              </a:rPr>
              <a:t>Output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Test-result reports, logs, screenshots, exported data.</a:t>
            </a:r>
          </a:p>
        </p:txBody>
      </p:sp>
      <p:sp>
        <p:nvSpPr>
          <p:cNvPr id="11" name="Oval 10"/>
          <p:cNvSpPr/>
          <p:nvPr/>
        </p:nvSpPr>
        <p:spPr>
          <a:xfrm>
            <a:off x="609904" y="4554156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8544" y="4590732"/>
            <a:ext cx="5303520" cy="720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330066"/>
                </a:solidFill>
                <a:latin typeface="Arial"/>
              </a:rPr>
              <a:t>Evidence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Saved API responses, HTML snapshots, database dumps for investigating failures.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27824" y="2286000"/>
            <a:ext cx="4753965" cy="1920240"/>
          </a:xfrm>
          <a:prstGeom prst="roundRect">
            <a:avLst>
              <a:gd name="adj" fmla="val 4285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56424" y="2423160"/>
            <a:ext cx="4296765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YOUR PROJECT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QE Foundations: a data-ingestion module reads test data from disk, checks it, and hands clean records to the rest of the system. Everything starts with opening, reading and writing a file correctly and safely.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27824" y="4389120"/>
            <a:ext cx="4753965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5A5A5A"/>
                </a:solidFill>
                <a:latin typeface="Arial"/>
              </a:rPr>
              <a:t>Files are where things go wrong: missing, locked, an unexpected character set, enormous, half-written. Hence the pairing with today's exception lessons. Monday's </a:t>
            </a:r>
            <a:r>
              <a:rPr sz="1300" b="0" i="0">
                <a:solidFill>
                  <a:srgbClr val="5A5A5A"/>
                </a:solidFill>
                <a:latin typeface="Courier New"/>
              </a:rPr>
              <a:t>os</a:t>
            </a:r>
            <a:r>
              <a:rPr sz="1350" b="0" i="0">
                <a:solidFill>
                  <a:srgbClr val="5A5A5A"/>
                </a:solidFill>
                <a:latin typeface="Arial"/>
              </a:rPr>
              <a:t> returns here, alongside </a:t>
            </a:r>
            <a:r>
              <a:rPr sz="1300" b="0" i="0">
                <a:solidFill>
                  <a:srgbClr val="5A5A5A"/>
                </a:solidFill>
                <a:latin typeface="Courier New"/>
              </a:rPr>
              <a:t>pathlib</a:t>
            </a:r>
            <a:r>
              <a:rPr sz="1350" b="0" i="0">
                <a:solidFill>
                  <a:srgbClr val="5A5A5A"/>
                </a:solidFill>
                <a:latin typeface="Arial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 / 52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Concept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Opening, modes, closing, writing, reading, encoding, paths,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 / 52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Text Files vs Binary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All files on disk are bytes. Python distinguishes two ways of looking at them: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423160"/>
            <a:ext cx="5303520" cy="2377440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8504" y="2560320"/>
            <a:ext cx="48463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 i="0">
                <a:solidFill>
                  <a:srgbClr val="5C8A8A"/>
                </a:solidFill>
                <a:latin typeface="Arial"/>
              </a:rPr>
              <a:t>TEXT MODE (THE DEFAULT)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Bytes are decoded into strings (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str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) using an encoding, and line endings are converted for you. For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.txt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.csv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.json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.xml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.log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.py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.md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and so 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9184" y="2423160"/>
            <a:ext cx="5303520" cy="2377440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07784" y="2560320"/>
            <a:ext cx="48463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 i="0">
                <a:solidFill>
                  <a:srgbClr val="5C8A8A"/>
                </a:solidFill>
                <a:latin typeface="Arial"/>
              </a:rPr>
              <a:t>BINARY MODE (ADD b)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Raw bytes (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bytes</a:t>
            </a:r>
            <a:r>
              <a:rPr sz="1500" b="0" i="0">
                <a:solidFill>
                  <a:srgbClr val="1A1A1A"/>
                </a:solidFill>
                <a:latin typeface="Arial"/>
              </a:rPr>
              <a:t>) with no decoding. For images, PDFs, ZIP files, Excel workbooks, or anything not plain 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5029200"/>
            <a:ext cx="1097188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This lesson focuses on text files, with a short section on binary at the end.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 / 52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Opening a File with open()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5" cy="2124963"/>
        </p:xfrm>
        <a:graphic>
          <a:graphicData uri="http://schemas.openxmlformats.org/drawingml/2006/table">
            <a:tbl>
              <a:tblPr/>
              <a:tblGrid>
                <a:gridCol w="2194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75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Parameter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Meaning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file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Path to the file (a string or a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pathlib.Path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mode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What you want to do (default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"r"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read text)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encoding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How to translate between bytes and characters (e.g.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"utf-8"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858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newline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How to handle line endings (use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newline=""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when working with CSV, covered later today)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4114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open() returns a file object (a file handle) used to read or write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4389120"/>
            <a:ext cx="10971885" cy="536448"/>
          </a:xfrm>
          <a:prstGeom prst="roundRect">
            <a:avLst>
              <a:gd name="adj" fmla="val 1363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1072" y="4535424"/>
            <a:ext cx="10569549" cy="243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1A1A1A"/>
                </a:solidFill>
                <a:latin typeface="Courier New"/>
              </a:rPr>
              <a:t>file = open("results.txt", "r", encoding="utf-8")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7 / 52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File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3" cy="2667000"/>
        </p:xfrm>
        <a:graphic>
          <a:graphicData uri="http://schemas.openxmlformats.org/drawingml/2006/table">
            <a:tbl>
              <a:tblPr/>
              <a:tblGrid>
                <a:gridCol w="1536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5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46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32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526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Mode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Name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Behaviour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If the file does not exist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If the file exists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"r"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Read (default)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Read text; cannot write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FileNotFoundError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Opens at the start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"w"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Write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Write text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Creates it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Erases all content, then writes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"a"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Append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Write at the end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Creates it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Keeps content, adds to the end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"x"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Exclusive create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Write text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Creates it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FileExistsError</a:t>
                      </a:r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 (protects against overwriting)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"r+"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Read and write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Both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FileNotFoundError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Opens at the start, content kept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"rb"</a:t>
                      </a:r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"wb"</a:t>
                      </a:r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"ab"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Binary variants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Work with </a:t>
                      </a:r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bytes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as above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as above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09904" y="5321807"/>
            <a:ext cx="10971885" cy="822960"/>
          </a:xfrm>
          <a:prstGeom prst="roundRect">
            <a:avLst>
              <a:gd name="adj" fmla="val 10000"/>
            </a:avLst>
          </a:prstGeom>
          <a:solidFill>
            <a:srgbClr val="FBEDEB"/>
          </a:solidFill>
          <a:ln w="12700">
            <a:solidFill>
              <a:srgbClr val="FBE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8504" y="5458968"/>
            <a:ext cx="1051468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WARNING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Mode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"w"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destroys existing content the instant you open the file, before you write anything. To add to a results file, use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"a"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 To never overwrite by accident, use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"x"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8 / 52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Closing Files and 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Close when you are finished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5120640" cy="864107"/>
          </a:xfrm>
          <a:prstGeom prst="roundRect">
            <a:avLst>
              <a:gd name="adj" fmla="val 846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4718303" cy="571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file = open("results.txt", "w", encoding="utf-8")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file.write("hello\n")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file.close()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304" y="1783080"/>
            <a:ext cx="5485485" cy="1767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50" b="0" i="0" dirty="0">
                <a:solidFill>
                  <a:srgbClr val="1A1A1A"/>
                </a:solidFill>
                <a:latin typeface="Arial"/>
              </a:rPr>
              <a:t>Data may still sit in a memory buffer: Python and the OS batch writes for speed. </a:t>
            </a:r>
            <a:r>
              <a:rPr sz="1400" b="0" i="0" dirty="0">
                <a:solidFill>
                  <a:srgbClr val="330066"/>
                </a:solidFill>
                <a:latin typeface="Courier New"/>
              </a:rPr>
              <a:t>close()</a:t>
            </a:r>
            <a:r>
              <a:rPr sz="1450" b="0" i="0" dirty="0">
                <a:solidFill>
                  <a:srgbClr val="1A1A1A"/>
                </a:solidFill>
                <a:latin typeface="Arial"/>
              </a:rPr>
              <a:t> flushes to disk; without it the last lines may never be saved.</a:t>
            </a:r>
            <a:endParaRPr lang="en-US" sz="1450" b="0" i="0" dirty="0">
              <a:solidFill>
                <a:srgbClr val="1A1A1A"/>
              </a:solidFill>
              <a:latin typeface="Arial"/>
            </a:endParaRP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50" b="0" i="0" dirty="0">
                <a:solidFill>
                  <a:srgbClr val="1A1A1A"/>
                </a:solidFill>
                <a:latin typeface="Arial"/>
              </a:rPr>
              <a:t>Resources are limited: each open file uses an OS handle. Thousands unclosed can hit "Too many open files".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50" b="0" i="0" dirty="0">
                <a:solidFill>
                  <a:srgbClr val="1A1A1A"/>
                </a:solidFill>
                <a:latin typeface="Arial"/>
              </a:rPr>
              <a:t>Locks: on some systems (Windows especially), an open file cannot be deleted or renamed by other programs.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9 / 52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try / finally, Then with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4 - 5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try/finally guarantees cleanup, but is verbose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6766560" cy="1321308"/>
          </a:xfrm>
          <a:prstGeom prst="roundRect">
            <a:avLst>
              <a:gd name="adj" fmla="val 553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6364224" cy="1028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file = open("results.txt", "w", encoding="utf-8")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try: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    file.write("hello\n")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finally: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    file.close()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561588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The with statement (preview)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835908"/>
            <a:ext cx="6766560" cy="864107"/>
          </a:xfrm>
          <a:prstGeom prst="roundRect">
            <a:avLst>
              <a:gd name="adj" fmla="val 846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982212"/>
            <a:ext cx="6364224" cy="571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with open("results.txt", "w", encoding="utf-8") as file: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file.write("hello\n")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5C8A8A"/>
                </a:solidFill>
                <a:latin typeface="Courier New"/>
              </a:rPr>
              <a:t># the file is automatically closed here, even if an error occurred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2224" y="1783080"/>
            <a:ext cx="38395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If an exception occurs between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open()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close()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the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close()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line is skipped.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"With this file open (call it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file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), do the following; when the block ends, close it automatically."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recommended way, in nearly every case: open + guaranteed close in one neat package.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Context Managers (later today) explains how it works. All examples below use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with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10 / 52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Writing: write()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 · WRITING TEXT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330066"/>
                </a:solidFill>
                <a:latin typeface="Arial"/>
              </a:rPr>
              <a:t>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103120"/>
            <a:ext cx="5303062" cy="993648"/>
          </a:xfrm>
          <a:prstGeom prst="roundRect">
            <a:avLst>
              <a:gd name="adj" fmla="val 736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49424"/>
            <a:ext cx="4900726" cy="701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with open("greeting.txt", "w", encoding="utf-8") as f: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f.write("Hello, QA team!\n")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f.write("Second line\n")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f.write("Third line without newline at the end")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78308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330066"/>
                </a:solidFill>
                <a:latin typeface="Arial"/>
              </a:rPr>
              <a:t>FILE CONTENT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2103120"/>
            <a:ext cx="5303062" cy="864107"/>
          </a:xfrm>
          <a:prstGeom prst="roundRect">
            <a:avLst>
              <a:gd name="adj" fmla="val 846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79895" y="2249424"/>
            <a:ext cx="4900726" cy="571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Hello, QA team!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Second line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Third line without newline at the 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3794760"/>
            <a:ext cx="1097188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0" i="0">
                <a:solidFill>
                  <a:srgbClr val="330066"/>
                </a:solidFill>
                <a:latin typeface="Courier New"/>
              </a:rPr>
              <a:t>write(text)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writes a string and returns the number of characters written. It does not add a newline for you.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0" i="0">
                <a:solidFill>
                  <a:srgbClr val="330066"/>
                </a:solidFill>
                <a:latin typeface="Courier New"/>
              </a:rPr>
              <a:t>\n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is the newline character. Without it, the next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write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continues on the same line.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11 / 52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writelines() and print(file=...)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writelines: again no newlines added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10971885" cy="886968"/>
          </a:xfrm>
          <a:prstGeom prst="roundRect">
            <a:avLst>
              <a:gd name="adj" fmla="val 824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10569549" cy="594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lines = ["alpha\n", "beta\n", "gamma\n"]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with open("letters.txt", "w", encoding="utf-8") as f: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f.writelines(lines)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127248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print adds the newline automatically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401568"/>
            <a:ext cx="10971885" cy="1085087"/>
          </a:xfrm>
          <a:prstGeom prst="roundRect">
            <a:avLst>
              <a:gd name="adj" fmla="val 674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547872"/>
            <a:ext cx="10569549" cy="792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with open("report.txt", "w", encoding="utf-8") as f: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print("Test Report", file=f)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print("=" * 11, file=f)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print("Passed:", 8, file=f)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4669536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File content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904" y="4943856"/>
            <a:ext cx="10971885" cy="886968"/>
          </a:xfrm>
          <a:prstGeom prst="roundRect">
            <a:avLst>
              <a:gd name="adj" fmla="val 824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1072" y="5090160"/>
            <a:ext cx="10569549" cy="594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Test Report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===========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Passed: 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12 / 52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Non-Strings and Appending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write() accepts only strings: convert first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7132320" cy="1085087"/>
          </a:xfrm>
          <a:prstGeom prst="roundRect">
            <a:avLst>
              <a:gd name="adj" fmla="val 674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6729983" cy="792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with open("count.txt", "w", encoding="utf-8") as f: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f.write(str(42))          # f.write(42) would raise TypeError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f.write("\n")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f.write(f"pass rate: {66.6667:.1f}%\n")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325368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Appending with "a"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599688"/>
            <a:ext cx="7132320" cy="1283208"/>
          </a:xfrm>
          <a:prstGeom prst="roundRect">
            <a:avLst>
              <a:gd name="adj" fmla="val 570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745992"/>
            <a:ext cx="6729983" cy="990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with open("run_log.txt", "a", encoding="utf-8") as f: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f.write("Run started\n")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with open("run_log.txt", "a", encoding="utf-8") as f: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f.write("Run finished\n")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7984" y="1783080"/>
            <a:ext cx="347380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330066"/>
                </a:solidFill>
                <a:latin typeface="Courier New"/>
              </a:rPr>
              <a:t>f.write(42)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would raise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TypeError</a:t>
            </a:r>
            <a:r>
              <a:rPr sz="145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1A1A1A"/>
                </a:solidFill>
                <a:latin typeface="Arial"/>
              </a:rPr>
              <a:t>After both append blocks the file has two lines.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1A1A1A"/>
                </a:solidFill>
                <a:latin typeface="Arial"/>
              </a:rPr>
              <a:t>With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"w"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the second block would have erased the first line.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13 / 52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 Sample File to Read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7 · READING TEXT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First create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sample.txt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67712"/>
            <a:ext cx="10971885" cy="1435608"/>
          </a:xfrm>
          <a:prstGeom prst="roundRect">
            <a:avLst>
              <a:gd name="adj" fmla="val 509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414016"/>
            <a:ext cx="10569549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with open("sample.txt", "w", encoding="utf-8") as f: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   f.write("id,name,status\n")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   f.write("1,Login,pass\n")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   f.write("2,Search,fail\n")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   f.write("3,Checkout,pass\n")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14 / 52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read(): the Whole 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10971885" cy="1283208"/>
          </a:xfrm>
          <a:prstGeom prst="roundRect">
            <a:avLst>
              <a:gd name="adj" fmla="val 570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10569549" cy="990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with open("sample.txt", "r", encoding="utf-8") as f: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content = f.read()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print(type(content))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print(repr(content))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523488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797808"/>
            <a:ext cx="10971885" cy="688848"/>
          </a:xfrm>
          <a:prstGeom prst="roundRect">
            <a:avLst>
              <a:gd name="adj" fmla="val 1061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944112"/>
            <a:ext cx="10569549" cy="3962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&lt;class 'str'&gt;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'id,name,status\n1,Login,pass\n2,Search,fail\n3,Checkout,pass\n'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5687568"/>
            <a:ext cx="1097188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repr()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shows the hidden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\n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characters.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read(n)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reads only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n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characters.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15 / 52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readline() and readlines()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1481328"/>
          </a:xfrm>
          <a:prstGeom prst="roundRect">
            <a:avLst>
              <a:gd name="adj" fmla="val 493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11887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with open("sample.txt", "r", encoding="utf-8") as f: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first = f.readline()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second = f.readline()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print(repr(first))     # 'id,name,status\n'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print(repr(second))    # '1,Login,pass\n'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Each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readline()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call returns the next line, including its trailing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\n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At the end of the file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readline()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returns an empty string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""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7947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readlines(): all lines as a list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4069080"/>
            <a:ext cx="10971885" cy="1207007"/>
          </a:xfrm>
          <a:prstGeom prst="roundRect">
            <a:avLst>
              <a:gd name="adj" fmla="val 606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4215384"/>
            <a:ext cx="10569549" cy="9143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with open("sample.txt", "r", encoding="utf-8") as f: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lines = f.readlines()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print(lines)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5C8A8A"/>
                </a:solidFill>
                <a:latin typeface="Courier New"/>
              </a:rPr>
              <a:t># ['id,name,status\n', '1,Login,pass\n', '2,Search,fail\n', '3,Checkout,pass\n']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16 / 52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Iterating: Best for Line by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5852160" cy="909827"/>
          </a:xfrm>
          <a:prstGeom prst="roundRect">
            <a:avLst>
              <a:gd name="adj" fmla="val 804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449824" cy="6172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with open("sample.txt", "r", encoding="utf-8") as f: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    for line in f: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        print(line.strip())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150108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424427"/>
            <a:ext cx="5852160" cy="1146048"/>
          </a:xfrm>
          <a:prstGeom prst="roundRect">
            <a:avLst>
              <a:gd name="adj" fmla="val 638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570732"/>
            <a:ext cx="5449824" cy="85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id,name,status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1,Login,pass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2,Search,fail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3,Checkout,pass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27824" y="1783080"/>
            <a:ext cx="47539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1A1A1A"/>
                </a:solidFill>
                <a:latin typeface="Arial"/>
              </a:rPr>
              <a:t>A file object is iterable: the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for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loop asks for one line at a time.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1A1A1A"/>
                </a:solidFill>
                <a:latin typeface="Arial"/>
              </a:rPr>
              <a:t>Python reads in small pieces, so even a 5 GB log uses very little memory.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330066"/>
                </a:solidFill>
                <a:latin typeface="Courier New"/>
              </a:rPr>
              <a:t>line.strip()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removes whitespace including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\n</a:t>
            </a:r>
            <a:r>
              <a:rPr sz="1450" b="0" i="0">
                <a:solidFill>
                  <a:srgbClr val="1A1A1A"/>
                </a:solidFill>
                <a:latin typeface="Arial"/>
              </a:rPr>
              <a:t>; otherwise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print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adds a second newline and blank lines appear.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17 / 52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Which to Use?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3" cy="2124963"/>
        </p:xfrm>
        <a:graphic>
          <a:graphicData uri="http://schemas.openxmlformats.org/drawingml/2006/table">
            <a:tbl>
              <a:tblPr/>
              <a:tblGrid>
                <a:gridCol w="24138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442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Method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Use when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Memory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for line in f: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Processing line by line (default choice)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Very low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858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f.read()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The file is small and you need the whole text (e.g. JSON, covered next)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Whole file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f.readlines()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You need a list of lines and the file is small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Whole file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f.readline()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You need to read a header or a few lines manually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Very low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4160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Lines without trailing newlines (mode omitted defaults to "r")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4434840"/>
            <a:ext cx="10971885" cy="1245108"/>
          </a:xfrm>
          <a:prstGeom prst="roundRect">
            <a:avLst>
              <a:gd name="adj" fmla="val 587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1072" y="4581144"/>
            <a:ext cx="10569549" cy="952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with open("sample.txt", encoding="utf-8") as f: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lines = f.read().splitlines()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print(lines)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5C8A8A"/>
                </a:solidFill>
                <a:latin typeface="Courier New"/>
              </a:rPr>
              <a:t># ['id,name,status', '1,Login,pass', '2,Search,fail', '3,Checkout,pass']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18 / 52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 Mini Parser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8 · PROCESSING LINES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2974848"/>
          </a:xfrm>
          <a:prstGeom prst="roundRect">
            <a:avLst>
              <a:gd name="adj" fmla="val 245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2682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passed = 0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failed = 0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with open("sample.txt", "r", encoding="utf-8") as f: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header = f.readline()                     # skip the header row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for line in f:                            # continues from line 2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line = line.strip()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if not line:                          # skip blank lines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    continue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test_id, name, status = line.split(",")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if status == "pass":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    passed += 1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else: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    failed += 1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print(f"passed={passed} failed={failed}")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A1A1A"/>
                </a:solidFill>
                <a:latin typeface="Arial"/>
              </a:rPr>
              <a:t>Output: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passed=2 failed=1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330066"/>
                </a:solidFill>
                <a:latin typeface="Courier New"/>
              </a:rPr>
              <a:t>readline()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consumes the first line; the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for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loop carries on from the current file position.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330066"/>
                </a:solidFill>
                <a:latin typeface="Courier New"/>
              </a:rPr>
              <a:t>line.split(",")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breaks a line at each comma; we unpack into three variables.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A1A1A"/>
                </a:solidFill>
                <a:latin typeface="Arial"/>
              </a:rPr>
              <a:t>Real CSV has quoting and edge cases: the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csv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module (next lesson) handles them. This is only to understand the idea.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19 / 52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Encoding: Always Say utf-8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Write and read with UTF-8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5486400" cy="1245108"/>
          </a:xfrm>
          <a:prstGeom prst="roundRect">
            <a:avLst>
              <a:gd name="adj" fmla="val 587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084064" cy="952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with open("names.txt", "w", encoding="utf-8") as f: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f.write("José\nZoë\n日本語\n")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with open("names.txt", "r", encoding="utf-8") as f: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print(f.read())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2064" y="1783080"/>
            <a:ext cx="51197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An encoding maps characters to the numbers a computer stores. UTF-8 is the modern universal standard: every language and symbol (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é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ü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日本語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€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emoji).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Omit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encoding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and Python uses a platform-dependent default (historically often a legacy encoding on Windows). A file written on one machine may fail or garble on another.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fix: always write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encoding="utf-8"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20 / 52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Reading with the Wrong Encoding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1283208"/>
          </a:xfrm>
          <a:prstGeom prst="roundRect">
            <a:avLst>
              <a:gd name="adj" fmla="val 570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990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try: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with open("names.txt", "r", encoding="ascii") as f: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f.read()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except UnicodeDecodeError as error: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print("Decoding failed:", error)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32004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 (details may vary)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" y="3474720"/>
            <a:ext cx="10971885" cy="475488"/>
          </a:xfrm>
          <a:prstGeom prst="roundRect">
            <a:avLst>
              <a:gd name="adj" fmla="val 1538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1072" y="3621024"/>
            <a:ext cx="10569549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Decoding failed: 'ascii' codec can't decode byte 0xc3 in position 3: ordinal not in range(128)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411480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err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8544" y="4151376"/>
            <a:ext cx="10423245" cy="6965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330066"/>
                </a:solidFill>
                <a:latin typeface="Arial"/>
              </a:rPr>
              <a:t>errors=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For unknown or messy content: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errors="replace"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(placeholder) or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errors="ignore"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(drops bytes). Use deliberately: they can hide data corruption.</a:t>
            </a:r>
          </a:p>
        </p:txBody>
      </p:sp>
      <p:sp>
        <p:nvSpPr>
          <p:cNvPr id="11" name="Oval 10"/>
          <p:cNvSpPr/>
          <p:nvPr/>
        </p:nvSpPr>
        <p:spPr>
          <a:xfrm>
            <a:off x="609904" y="4921123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BOM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8544" y="4957699"/>
            <a:ext cx="10423245" cy="6965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330066"/>
                </a:solidFill>
                <a:latin typeface="Arial"/>
              </a:rPr>
              <a:t>utf-8-sig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Some Excel files begin with an invisible byte order mark.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encoding="utf-8-sig"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removes it: handy for spreadsheet CSV exports.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21 / 52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Newlines and File Paths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10 - 11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Windows ends lines with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\r\n</a:t>
            </a:r>
            <a:r>
              <a:rPr sz="1450" b="0" i="0">
                <a:solidFill>
                  <a:srgbClr val="1A1A1A"/>
                </a:solidFill>
                <a:latin typeface="Arial"/>
              </a:rPr>
              <a:t>; Linux and macOS use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\n</a:t>
            </a:r>
            <a:r>
              <a:rPr sz="1450" b="0" i="0">
                <a:solidFill>
                  <a:srgbClr val="1A1A1A"/>
                </a:solidFill>
                <a:latin typeface="Arial"/>
              </a:rPr>
              <a:t>. In text mode Python translates to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\n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when reading and to the platform convention when writing, so code stays portable. (With the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csv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module you pass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newline=""</a:t>
            </a:r>
            <a:r>
              <a:rPr sz="1450" b="0" i="0">
                <a:solidFill>
                  <a:srgbClr val="1A1A1A"/>
                </a:solidFill>
                <a:latin typeface="Arial"/>
              </a:rPr>
              <a:t>: see the CSV lesson.)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74320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779776"/>
            <a:ext cx="6217920" cy="6965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330066"/>
                </a:solidFill>
                <a:latin typeface="Arial"/>
              </a:rPr>
              <a:t>Absolute path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Full location from the root: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/home/qa/data/users.csv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or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C:\Users\qa\data\users.csv</a:t>
            </a:r>
            <a:r>
              <a:rPr sz="135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549523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rel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586099"/>
            <a:ext cx="6217920" cy="6965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330066"/>
                </a:solidFill>
                <a:latin typeface="Arial"/>
              </a:rPr>
              <a:t>Relative path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Relative to the current working directory (where the program was started):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data/users.csv</a:t>
            </a:r>
            <a:r>
              <a:rPr sz="135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4355846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cwd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8544" y="4392422"/>
            <a:ext cx="6217920" cy="6965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330066"/>
                </a:solidFill>
                <a:latin typeface="Arial"/>
              </a:rPr>
              <a:t>Works in the editor, fails elsewhere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330066"/>
                </a:solidFill>
                <a:latin typeface="Courier New"/>
              </a:rPr>
              <a:t>FileNotFoundError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because the working directory differs. Check with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os.getcwd()</a:t>
            </a:r>
            <a:r>
              <a:rPr sz="135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42224" y="2743200"/>
            <a:ext cx="3839565" cy="2377440"/>
          </a:xfrm>
          <a:prstGeom prst="roundRect">
            <a:avLst>
              <a:gd name="adj" fmla="val 3461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70824" y="2880360"/>
            <a:ext cx="3382365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WINDOWS BACKSLASHES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In a normal string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\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begins an escape: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"C:\new\test.txt"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contains a newline and a tab! Use forward slashes (accepted on Windows), a raw string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r"C:\new\test.txt"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or (best)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pathlib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22 / 52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os.path: the Classic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os.path.join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inserts the correct separator for the OS; never join paths with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+ "/" +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by hand.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67712"/>
            <a:ext cx="10971885" cy="2220467"/>
          </a:xfrm>
          <a:prstGeom prst="roundRect">
            <a:avLst>
              <a:gd name="adj" fmla="val 329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414016"/>
            <a:ext cx="10569549" cy="19278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import os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path = os.path.join("data", "users.csv")     # builds 'data/users.csv' (or data\users.csv on Windows)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print(path)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print(os.path.exists(path))                   # True / False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print(os.path.isfile(path))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print(os.path.isdir("data"))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print(os.path.basename(path))                 # users.csv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print(os.path.dirname(path))                  # data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print(os.path.splitext("report.final.txt"))   # ('report.final', '.txt')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print(os.path.abspath(path))                  # full absolute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23 / 52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Other Useful os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1283208"/>
          </a:xfrm>
          <a:prstGeom prst="roundRect">
            <a:avLst>
              <a:gd name="adj" fmla="val 570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990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os.makedirs("output/reports", exist_ok=True)   # create nested folders; no error if they exist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print(os.listdir("."))                         # names of items in a folder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os.rename("old.txt", "new.txt")                # rename or move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os.remove("temp.txt")                          # delete a file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os.path.getsize("sample.txt")                  # size in bytes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24 / 52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pathlib: the Modern 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2670047"/>
          </a:xfrm>
          <a:prstGeom prst="roundRect">
            <a:avLst>
              <a:gd name="adj" fmla="val 273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2377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from pathlib import Path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base = Path("data")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file_path = base / "users.csv"          # data/users.csv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print(file_path)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print(file_path.name)                   # users.csv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print(file_path.stem)                   # users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print(file_path.suffix)                 # .csv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print(file_path.parent)                 # data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print(file_path.exists())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print(file_path.is_file())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pathlib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represents paths as objects: neater and more readable.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The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/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operator joins parts.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.name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.stem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.suffix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.parent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.exists()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.is_file()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25 / 52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pathlib: Read, Write, Create,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74980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Small files in one call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7498079" cy="1168908"/>
          </a:xfrm>
          <a:prstGeom prst="roundRect">
            <a:avLst>
              <a:gd name="adj" fmla="val 625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7095743" cy="8762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from pathlib import Path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 = Path("note.txt")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p.write_text("Hello from pathlib\n", encoding="utf-8")   # create/overwrite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print(p.read_text(encoding="utf-8"))                      # Hello from pathlib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409188"/>
            <a:ext cx="74980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Folders, listing and searching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683508"/>
            <a:ext cx="7498079" cy="2220467"/>
          </a:xfrm>
          <a:prstGeom prst="roundRect">
            <a:avLst>
              <a:gd name="adj" fmla="val 329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829812"/>
            <a:ext cx="7095743" cy="19278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from pathlib import Path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out = Path("output") / "reports"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out.mkdir(parents=True, exist_ok=True)       # like mkdir -p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(out / "a.txt").write_text("A", encoding="utf-8")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(out / "b.txt").write_text("B", encoding="utf-8")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(out / "c.log").write_text("C", encoding="utf-8")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for item in sorted(out.glob("*.txt")):        # wildcard search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print(item.name)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3744" y="1783080"/>
            <a:ext cx="310804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write_text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creates or overwrites.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mkdir(parents=True, exist_ok=True)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like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mkdir -p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glob("*.txt")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a wildcard search; output: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a.txt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b.txt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26 / 52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Paths Anchored to Your 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A Path can be passed straight to open()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10971885" cy="688848"/>
          </a:xfrm>
          <a:prstGeom prst="roundRect">
            <a:avLst>
              <a:gd name="adj" fmla="val 1061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10569549" cy="3962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with open(out / "a.txt", encoding="utf-8") as f: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print(f.read())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929128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Independent of the working directory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203447"/>
            <a:ext cx="10971885" cy="1085087"/>
          </a:xfrm>
          <a:prstGeom prst="roundRect">
            <a:avLst>
              <a:gd name="adj" fmla="val 674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349752"/>
            <a:ext cx="10569549" cy="792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from pathlib import Path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HERE = Path(__file__).resolve().parent          # folder containing this script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DATA_FILE = HERE / "data" / "users.csv"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4297680"/>
            <a:ext cx="10971885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__file__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holds the location of the current script; combined with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Path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it finds data files next to your code. The professional way to avoid "works on my machine" path problems.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5A5A5A"/>
                </a:solidFill>
                <a:latin typeface="Courier New"/>
              </a:rPr>
              <a:t>__file__</a:t>
            </a:r>
            <a:r>
              <a:rPr sz="1400" b="0" i="0">
                <a:solidFill>
                  <a:srgbClr val="5A5A5A"/>
                </a:solidFill>
                <a:latin typeface="Arial"/>
              </a:rPr>
              <a:t> is not defined in some interactive environments, such as the plain Python prompt; it works in scripts.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27 / 52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Handling File Errors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14 · ALL SUBCLASSES OF OSERROR, EXCEPT ONE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2502407"/>
        </p:xfrm>
        <a:graphic>
          <a:graphicData uri="http://schemas.openxmlformats.org/drawingml/2006/table">
            <a:tbl>
              <a:tblPr/>
              <a:tblGrid>
                <a:gridCol w="3291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0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Exception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Cause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FileNotFoundError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The file or a folder in the path does not exist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PermissionError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No rights to read/write that path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IsADirectoryError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You tried to open a folder as a file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FileExistsError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Mode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"x"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or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mkdir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on something already existing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858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UnicodeDecodeError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File bytes do not match the encoding (this one is a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ValueError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not an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OSError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28 / 52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 Robust Reading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3447287"/>
          </a:xfrm>
          <a:prstGeom prst="roundRect">
            <a:avLst>
              <a:gd name="adj" fmla="val 212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3154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def read_text_file(path):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"""Return the text of a file, or None if it cannot be read."""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try: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with open(path, "r", encoding="utf-8") as f: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    return f.read()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except FileNotFoundError: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print(f"File not found: {path}")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except PermissionError: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print(f"No permission to read: {path}")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except IsADirectoryError: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print(f"That is a directory, not a file: {path}")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except UnicodeDecodeError as error: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print(f"File is not valid UTF-8: {path} ({error.reason})")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return None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print(read_text_file("does_not_exist.txt"))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print(read_text_file("."))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One specific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except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per failure, each with a useful message.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demo and exercise go further: raise your own custom exceptions from a file reader, so callers see consistent, meaningful errors.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29 / 52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The second line's result depends on the operating system; on Linux/macOS you see the directory message.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569464"/>
            <a:ext cx="10971885" cy="1207008"/>
          </a:xfrm>
          <a:prstGeom prst="roundRect">
            <a:avLst>
              <a:gd name="adj" fmla="val 606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715768"/>
            <a:ext cx="10569549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File not found: does_not_exist.txt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None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That is a directory, not a file: .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30 / 52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Reading Large Files Efficiently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330066"/>
                </a:solidFill>
                <a:latin typeface="Arial"/>
              </a:rPr>
              <a:t>NEVER READ() A HUGE LOG: ITERATE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103120"/>
            <a:ext cx="5303062" cy="1389888"/>
          </a:xfrm>
          <a:prstGeom prst="roundRect">
            <a:avLst>
              <a:gd name="adj" fmla="val 526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49424"/>
            <a:ext cx="4900726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error_count = 0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with open("server.log", "r", encoding="utf-8") as f: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for line in f: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    if "ERROR" in line: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        error_count += 1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print("Errors found:", error_count)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78308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330066"/>
                </a:solidFill>
                <a:latin typeface="Arial"/>
              </a:rPr>
              <a:t>OR FIXED-SIZE CHUNKS (USEFUL FOR BINARY)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2103120"/>
            <a:ext cx="5303062" cy="2075688"/>
          </a:xfrm>
          <a:prstGeom prst="roundRect">
            <a:avLst>
              <a:gd name="adj" fmla="val 352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79895" y="2249424"/>
            <a:ext cx="4900726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CHUNK = 64 * 1024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total = 0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with open("big.bin", "rb") as f: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while True: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chunk = f.read(CHUNK)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if not chunk: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    break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total += len(chunk)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print("bytes:", total)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31 / 52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Binary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Read and write bytes; never pass an encoding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10971885" cy="2197608"/>
          </a:xfrm>
          <a:prstGeom prst="roundRect">
            <a:avLst>
              <a:gd name="adj" fmla="val 332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10569549" cy="190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data = bytes([72, 101, 108, 108, 111])     # the ASCII codes for "Hello"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with open("raw.bin", "wb") as f: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f.write(data)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with open("raw.bin", "rb") as f: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content = f.read()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print(content)             # b'Hello'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print(content.decode())    # Hello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4437888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A QE use: copy a screenshot byte for byte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4712208"/>
            <a:ext cx="10971885" cy="673607"/>
          </a:xfrm>
          <a:prstGeom prst="roundRect">
            <a:avLst>
              <a:gd name="adj" fmla="val 1085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4858512"/>
            <a:ext cx="10569549" cy="380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with open("source.png", "rb") as src, open("copy.png", "wb") as dst: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dst.write(src.read())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5504688"/>
            <a:ext cx="1097188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Two files in one </a:t>
            </a:r>
            <a:r>
              <a:rPr sz="1350" b="0" i="0">
                <a:solidFill>
                  <a:srgbClr val="5A5A5A"/>
                </a:solidFill>
                <a:latin typeface="Courier New"/>
              </a:rPr>
              <a:t>with</a:t>
            </a:r>
            <a:r>
              <a:rPr sz="1400" b="0" i="0">
                <a:solidFill>
                  <a:srgbClr val="5A5A5A"/>
                </a:solidFill>
                <a:latin typeface="Arial"/>
              </a:rPr>
              <a:t>, separated by a comma, is fine. In practice, </a:t>
            </a:r>
            <a:r>
              <a:rPr sz="1350" b="0" i="0">
                <a:solidFill>
                  <a:srgbClr val="5A5A5A"/>
                </a:solidFill>
                <a:latin typeface="Courier New"/>
              </a:rPr>
              <a:t>shutil.copy("source.png", "copy.png")</a:t>
            </a:r>
            <a:r>
              <a:rPr sz="1400" b="0" i="0">
                <a:solidFill>
                  <a:srgbClr val="5A5A5A"/>
                </a:solidFill>
                <a:latin typeface="Arial"/>
              </a:rPr>
              <a:t> copies files.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32 / 52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The File Position: tell() and seek()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Reading advances the position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7863840" cy="1481328"/>
          </a:xfrm>
          <a:prstGeom prst="roundRect">
            <a:avLst>
              <a:gd name="adj" fmla="val 493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7461504" cy="11887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with open("sample.txt", "r", encoding="utf-8") as f: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print(f.tell())            # 0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f.readline()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print(f.tell())            # 15 (after the first line)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f.seek(0)                  # jump back to the beginning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print(f.readline().strip())  # id,name,status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721608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Why a second read returns nothing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995928"/>
            <a:ext cx="7863840" cy="1085087"/>
          </a:xfrm>
          <a:prstGeom prst="roundRect">
            <a:avLst>
              <a:gd name="adj" fmla="val 674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4142232"/>
            <a:ext cx="7461504" cy="792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with open("sample.txt", encoding="utf-8") as f: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first_pass = f.read()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second_pass = f.read()      # empty: position is already at the end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print(len(first_pass), len(second_pass))   # 58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39504" y="1783080"/>
            <a:ext cx="27422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A file object remembers where the next read or write happens.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seek(0)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or reopening starts again.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Exact counts depend on the sample file's contents and line endings.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33 / 52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Real-World QA Scenarios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Reports, log searches, config files, safe output folders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34 / 52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Scenario 1: A Test-Run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QA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7132320" cy="3096767"/>
          </a:xfrm>
          <a:prstGeom prst="roundRect">
            <a:avLst>
              <a:gd name="adj" fmla="val 236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6729983" cy="2804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from datetime import datetime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results = [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("Login", "pass"),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("Search", "fail"),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("Checkout", "pass"),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]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with open("run_report.txt", "w", encoding="utf-8") as f: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f.write(f"Test run at {datetime.now():%Y-%m-%d %H:%M}\n")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f.write("-" * 30 + "\n")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for name, status in results: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f.write(f"{name:&lt;12} {status.upper()}\n")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passed = sum(1 for _, status in results if status == "pass")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f.write("-" * 30 + "\n")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f.write(f"{passed}/{len(results)} passed\n")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07984" y="1783080"/>
            <a:ext cx="347380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datetime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(Monday's tour) formats the timestamp.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{name:&lt;12}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left-aligns the name in a 12-character column.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sum(1 for ... if ...)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counts the passes.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07984" y="3977639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The resulting file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7984" y="4251960"/>
            <a:ext cx="3473805" cy="1466088"/>
          </a:xfrm>
          <a:prstGeom prst="roundRect">
            <a:avLst>
              <a:gd name="adj" fmla="val 498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09152" y="4398264"/>
            <a:ext cx="3071469" cy="1173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Test run at 2025-06-03 14:05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------------------------------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Login        PASS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Search       FAIL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Checkout     PASS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------------------------------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2/3 passed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35 / 52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Scenario 2: Searching a 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QA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10971885" cy="3150107"/>
          </a:xfrm>
          <a:prstGeom prst="roundRect">
            <a:avLst>
              <a:gd name="adj" fmla="val 232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10569549" cy="2857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from pathlib import Path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Path("app.log").write_text(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"INFO start\nERROR db timeout\nINFO retry\nERROR db timeout\nWARN slow\n",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encoding="utf-8",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errors = []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with open("app.log", encoding="utf-8") as f: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for number, line in enumerate(f, start=1):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if line.startswith("ERROR"):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    errors.append((number, line.strip()))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for number, text in errors: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print(f"line {number}: {text}")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5390388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5664707"/>
            <a:ext cx="10971885" cy="597408"/>
          </a:xfrm>
          <a:prstGeom prst="roundRect">
            <a:avLst>
              <a:gd name="adj" fmla="val 1224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5811012"/>
            <a:ext cx="10569549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line 2: ERROR db timeout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line 4: ERROR db timeout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36 / 52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Scenario 3: A key=value Config 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QA SCENARIOS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3272028"/>
          </a:xfrm>
          <a:prstGeom prst="roundRect">
            <a:avLst>
              <a:gd name="adj" fmla="val 223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29794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from pathlib import Path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Path("settings.cfg").write_text(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"# test settings\nbrowser=chrome\ntimeout=30\n\nbase_url=https://example.test\n",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encoding="utf-8",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settings = {}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with open("settings.cfg", encoding="utf-8") as f: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for line in f: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line = line.strip()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if not line or line.startswith("#"):     # skip blanks and comments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    continue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key, _, value = line.partition("=")      # split at the first '='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settings[key.strip()] = value.strip()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print(settings)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37 / 52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Scenario 3: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QA SCENARIOS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505968"/>
          </a:xfrm>
          <a:prstGeom prst="roundRect">
            <a:avLst>
              <a:gd name="adj" fmla="val 1445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21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{'browser': 'chrome', 'timeout': '30', 'base_url': 'https://example.test'}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2697480"/>
            <a:ext cx="10971885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50" b="0" i="0">
                <a:solidFill>
                  <a:srgbClr val="330066"/>
                </a:solidFill>
                <a:latin typeface="Courier New"/>
              </a:rPr>
              <a:t>str.partition("=")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splits at the first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=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only and returns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(before, separator, after)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Safer than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split("=")</a:t>
            </a:r>
            <a:r>
              <a:rPr sz="1600" b="0" i="0">
                <a:solidFill>
                  <a:srgbClr val="1A1A1A"/>
                </a:solidFill>
                <a:latin typeface="Arial"/>
              </a:rPr>
              <a:t>: a URL value might itself contain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=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All values come back as strings: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timeout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would need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int(...)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before 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38 / 52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Scenario 4: Safe Output Folders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QA SCENARIOS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2570988"/>
          </a:xfrm>
          <a:prstGeom prst="roundRect">
            <a:avLst>
              <a:gd name="adj" fmla="val 284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22783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from pathlib import Path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from datetime import datetime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run_folder = Path("results") / datetime.now().strftime("run_%Y%m%d_%H%M%S")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run_folder.mkdir(parents=True, exist_ok=True)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try: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with open(run_folder / "summary.txt", "x", encoding="utf-8") as f:   # "x" refuses to overwrite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f.write("summary created\n")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except FileExistsError: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print("Summary already exists, refusing to overwrite")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else: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print("Wrote", run_folder / "summary.txt")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5687568"/>
            <a:ext cx="1097188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Each run gets its own timestamped folder and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"x"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refuses to overwrite: earlier results are never lost. A good habit for test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39 / 52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Putting It All Together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log_filter.py: error lines from a log into a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40 / 52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log_filter.py: extract_errors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CODE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37360"/>
            <a:ext cx="7223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A5A5A"/>
                </a:solidFill>
                <a:latin typeface="Arial"/>
              </a:rPr>
              <a:t>log_filter.py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75688"/>
            <a:ext cx="7223760" cy="3980688"/>
          </a:xfrm>
          <a:prstGeom prst="roundRect">
            <a:avLst>
              <a:gd name="adj" fmla="val 183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21992"/>
            <a:ext cx="6821424" cy="3688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"""log_filter.py - Extract error lines from a log file into a report."""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from pathlib import Path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def extract_errors(log_path, report_path):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"""Write every line containing 'ERROR' from log_path into report_path.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Returns (lines_read, errors_found). Raises FileNotFoundError if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the log does not exist.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"""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lines_read = 0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errors_found = 0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with open(log_path, "r", encoding="utf-8") as log, \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 open(report_path, "w", encoding="utf-8") as report: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for line in log: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    lines_read += 1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    if "ERROR" in line: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        errors_found += 1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        report.write(f"{lines_read}: {line}")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return lines_read, errors_found</a:t>
            </a:r>
          </a:p>
        </p:txBody>
      </p:sp>
      <p:sp>
        <p:nvSpPr>
          <p:cNvPr id="7" name="Oval 6"/>
          <p:cNvSpPr/>
          <p:nvPr/>
        </p:nvSpPr>
        <p:spPr>
          <a:xfrm>
            <a:off x="819942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8064" y="1819656"/>
            <a:ext cx="2833725" cy="847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Two files, one </a:t>
            </a:r>
            <a:r>
              <a:rPr sz="1250" b="1" i="0">
                <a:solidFill>
                  <a:srgbClr val="330066"/>
                </a:solidFill>
                <a:latin typeface="Courier New"/>
              </a:rPr>
              <a:t>with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The backslash continues the statement; parentheses are a modern alternative.</a:t>
            </a:r>
          </a:p>
        </p:txBody>
      </p:sp>
      <p:sp>
        <p:nvSpPr>
          <p:cNvPr id="9" name="Oval 8"/>
          <p:cNvSpPr/>
          <p:nvPr/>
        </p:nvSpPr>
        <p:spPr>
          <a:xfrm>
            <a:off x="8199424" y="2831655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48064" y="2868231"/>
            <a:ext cx="283372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Lazy loop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Reads line by line and counts.</a:t>
            </a:r>
          </a:p>
        </p:txBody>
      </p:sp>
      <p:sp>
        <p:nvSpPr>
          <p:cNvPr id="11" name="Oval 10"/>
          <p:cNvSpPr/>
          <p:nvPr/>
        </p:nvSpPr>
        <p:spPr>
          <a:xfrm>
            <a:off x="8199424" y="3483356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48064" y="3519932"/>
            <a:ext cx="2833725" cy="648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No extra newline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The line still contains its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\n</a:t>
            </a:r>
            <a:r>
              <a:rPr sz="125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3" name="Oval 12"/>
          <p:cNvSpPr/>
          <p:nvPr/>
        </p:nvSpPr>
        <p:spPr>
          <a:xfrm>
            <a:off x="8199424" y="433349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48064" y="4370070"/>
            <a:ext cx="283372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Returns, raises, never prints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Keeps it reusable.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41 / 52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log_filter.py: Demo and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CODE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Demo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7132320" cy="3447287"/>
          </a:xfrm>
          <a:prstGeom prst="roundRect">
            <a:avLst>
              <a:gd name="adj" fmla="val 212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6729983" cy="3154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5C8A8A"/>
                </a:solidFill>
                <a:latin typeface="Courier New"/>
              </a:rPr>
              <a:t># --- demo ---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sample_log = Path("sample.log")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sample_log.write_text(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"INFO boot\nERROR disk full\nINFO ok\nERROR timeout\n", encoding="utf-8"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try: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read, found = extract_errors("sample.log", "errors_report.txt")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except FileNotFoundError as error: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print("Cannot continue:", error)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else: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print(f"Read {read} lines, found {found} errors")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print(Path("errors_report.txt").read_text(encoding="utf-8"))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try: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extract_errors("missing.log", "errors_report.txt")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except FileNotFoundError as error: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print("Handled:", error.filename)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07984" y="1783080"/>
            <a:ext cx="347380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If the log does not exist,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open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raises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FileNotFoundError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before the output file is created; the caller handles it.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error.filename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names the missing file.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07984" y="3977639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7984" y="4251960"/>
            <a:ext cx="3473805" cy="1207007"/>
          </a:xfrm>
          <a:prstGeom prst="roundRect">
            <a:avLst>
              <a:gd name="adj" fmla="val 606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09152" y="4398264"/>
            <a:ext cx="3071469" cy="9143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Read 4 lines, found 2 errors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2: ERROR disk full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4: ERROR timeout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Handled: missing.log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42 / 52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Practice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Try each one yourself before looking at the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43 / 52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Practice Exercises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Ex1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Create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numbers.txt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containing 1 to 10, one per line, then read it back and print the sum.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31343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Ex2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386584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Append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"Run complete"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to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log.txt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three times, then print how many lines the file contains.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284378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Ex3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2916936"/>
            <a:ext cx="10423245" cy="521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count_words(path)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returns the number of words in a text file (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str.split()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with no arguments splits on any whitespace). A missing file returns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0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and prints a message.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512058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Ex4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3585210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Given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users.txt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with lines like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ada,36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build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{"ada": 36, ...}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skipping blank lines.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44 / 52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Practice Exercises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Ex 6: Explain what is wrong, and fix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4754880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435254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 = open("data.txt", "w")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f.write("score: " + 95)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f.close()</a:t>
            </a:r>
          </a:p>
        </p:txBody>
      </p:sp>
      <p:sp>
        <p:nvSpPr>
          <p:cNvPr id="7" name="Oval 6"/>
          <p:cNvSpPr/>
          <p:nvPr/>
        </p:nvSpPr>
        <p:spPr>
          <a:xfrm>
            <a:off x="573054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Ex5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9184" y="1856231"/>
            <a:ext cx="5302605" cy="712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pathlib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create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output/2025/reports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write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index.txt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inside, then print every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.txt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file under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output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(hint: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rglob("*.txt")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).</a:t>
            </a:r>
          </a:p>
        </p:txBody>
      </p:sp>
      <p:sp>
        <p:nvSpPr>
          <p:cNvPr id="9" name="Oval 8"/>
          <p:cNvSpPr/>
          <p:nvPr/>
        </p:nvSpPr>
        <p:spPr>
          <a:xfrm>
            <a:off x="5730544" y="266014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Ex7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9184" y="2733294"/>
            <a:ext cx="5302605" cy="712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safe_copy(src, dst)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copies a text file, refuses to overwrite an existing destination (mode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"x"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), returns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True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on success or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False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with a printed reason.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45 / 52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Answers 1 and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330066"/>
                </a:solidFill>
                <a:latin typeface="Arial"/>
              </a:rPr>
              <a:t>ANSWER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103120"/>
            <a:ext cx="5303062" cy="1938527"/>
          </a:xfrm>
          <a:prstGeom prst="roundRect">
            <a:avLst>
              <a:gd name="adj" fmla="val 377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49424"/>
            <a:ext cx="4900726" cy="16459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with open("numbers.txt", "w", encoding="utf-8") as f: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for n in range(1, 11):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    f.write(f"{n}\n")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total = 0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with open("numbers.txt", encoding="utf-8") as f: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for line in f: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    total += int(line)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print(total)    # 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78308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330066"/>
                </a:solidFill>
                <a:latin typeface="Arial"/>
              </a:rPr>
              <a:t>ANSWER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2103120"/>
            <a:ext cx="5303062" cy="1298448"/>
          </a:xfrm>
          <a:prstGeom prst="roundRect">
            <a:avLst>
              <a:gd name="adj" fmla="val 563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79895" y="2249424"/>
            <a:ext cx="4900726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for _ in range(3):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with open("log.txt", "a", encoding="utf-8") as f: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f.write("Run complete\n")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with open("log.txt", encoding="utf-8") as f: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print(len(f.readlines()))     # 3 if the file was new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3977639"/>
            <a:ext cx="530306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5A5A5A"/>
                </a:solidFill>
                <a:latin typeface="Arial"/>
              </a:rPr>
              <a:t>If </a:t>
            </a:r>
            <a:r>
              <a:rPr sz="1300" b="0" i="0">
                <a:solidFill>
                  <a:srgbClr val="5A5A5A"/>
                </a:solidFill>
                <a:latin typeface="Courier New"/>
              </a:rPr>
              <a:t>log.txt</a:t>
            </a:r>
            <a:r>
              <a:rPr sz="1350" b="0" i="0">
                <a:solidFill>
                  <a:srgbClr val="5A5A5A"/>
                </a:solidFill>
                <a:latin typeface="Arial"/>
              </a:rPr>
              <a:t> already existed, appending adds to its existing lines.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46 / 52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Answers 3 and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330066"/>
                </a:solidFill>
                <a:latin typeface="Arial"/>
              </a:rPr>
              <a:t>ANSWER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103120"/>
            <a:ext cx="5303062" cy="1626108"/>
          </a:xfrm>
          <a:prstGeom prst="roundRect">
            <a:avLst>
              <a:gd name="adj" fmla="val 449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49424"/>
            <a:ext cx="4900726" cy="1333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def count_words(path):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try: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with open(path, encoding="utf-8") as f: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    return len(f.read().split())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except FileNotFoundError: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print("File not found:", path)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return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78308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330066"/>
                </a:solidFill>
                <a:latin typeface="Arial"/>
              </a:rPr>
              <a:t>ANSWER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2103120"/>
            <a:ext cx="5303062" cy="2007107"/>
          </a:xfrm>
          <a:prstGeom prst="roundRect">
            <a:avLst>
              <a:gd name="adj" fmla="val 364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79895" y="2249424"/>
            <a:ext cx="4900726" cy="1714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ages = {}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with open("users.txt", encoding="utf-8") as f: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for line in f: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line = line.strip()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if not line: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    continue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name, age = line.split(",")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ages[name] = int(age)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print(ages)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47 / 52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Answers 5 and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Answer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6400800" cy="1816608"/>
          </a:xfrm>
          <a:prstGeom prst="roundRect">
            <a:avLst>
              <a:gd name="adj" fmla="val 402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998464" cy="1523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from pathlib import Path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folder = Path("output") / "2025" / "reports"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folder.mkdir(parents=True, exist_ok=True)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(folder / "index.txt").write_text("index\n", encoding="utf-8")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for p in Path("output").rglob("*.txt"):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print(p)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405688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Answer 6 (fixed)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4331208"/>
            <a:ext cx="6400800" cy="673607"/>
          </a:xfrm>
          <a:prstGeom prst="roundRect">
            <a:avLst>
              <a:gd name="adj" fmla="val 1085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4477512"/>
            <a:ext cx="5998464" cy="380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with open("data.txt", "w", encoding="utf-8") as f: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f.write("score: " + str(95))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1A1A1A"/>
                </a:solidFill>
                <a:latin typeface="Arial"/>
              </a:rPr>
              <a:t>Ex 6: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"score: " + 95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raises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TypeError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(cannot add a string and an integer).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1A1A1A"/>
                </a:solidFill>
                <a:latin typeface="Arial"/>
              </a:rPr>
              <a:t>The exception occurs before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f.close()</a:t>
            </a:r>
            <a:r>
              <a:rPr sz="1450" b="0" i="0">
                <a:solidFill>
                  <a:srgbClr val="1A1A1A"/>
                </a:solidFill>
                <a:latin typeface="Arial"/>
              </a:rPr>
              <a:t>, so the file is never closed.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1A1A1A"/>
                </a:solidFill>
                <a:latin typeface="Arial"/>
              </a:rPr>
              <a:t>The encoding is not given.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48 / 52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Answer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2868168"/>
          </a:xfrm>
          <a:prstGeom prst="roundRect">
            <a:avLst>
              <a:gd name="adj" fmla="val 255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2575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def safe_copy(src, dst):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try: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with open(src, "r", encoding="utf-8") as source: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    text = source.read()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with open(dst, "x", encoding="utf-8") as target: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    target.write(text)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except FileNotFoundError: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print("Source file not found:", src)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return False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except FileExistsError: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print("Destination already exists, not overwriting:", dst)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return False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return True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49 / 52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Key Takeaways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open(path, mode, encoding="utf-8")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 Modes: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"r"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read,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"w"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write (erases),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"a"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append,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"x"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create-only; add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"b"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for binary.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43789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11044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Always close files: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with open(...) as f: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closes automatically, even on errors (Context Managers later today).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09270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165856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Read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for line in f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(best for most work and large files),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read()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readline()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readlines()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 Write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write()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writelines()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or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print(..., file=f)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write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needs strings and adds no newline.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747516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3820668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Always specify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encoding="utf-8"</a:t>
            </a:r>
            <a:r>
              <a:rPr sz="1400" b="0" i="0">
                <a:solidFill>
                  <a:srgbClr val="1A1A1A"/>
                </a:solidFill>
                <a:latin typeface="Arial"/>
              </a:rPr>
              <a:t>;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"utf-8-sig"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for spreadsheet exports with a BOM.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50 / 52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Key Takeaways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Build paths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os.path.join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or, preferably,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pathlib.Path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/</a:t>
            </a:r>
            <a:r>
              <a:rPr sz="1400" b="0" i="0">
                <a:solidFill>
                  <a:srgbClr val="1A1A1A"/>
                </a:solidFill>
                <a:latin typeface="Arial"/>
              </a:rPr>
              <a:t>; anchor to your script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Path(__file__).resolve().parent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43789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11044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Expect failures: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FileNotFoundError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PermissionError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IsADirectoryError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UnicodeDecodeError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 Catch them specifically.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09270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165856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Next: CSV, JSON and XML: structured formats read through the same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open()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fundamentals, with dedicated modules.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51 / 52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Python Tutorial, "Reading and Writing Files"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https://docs.python.org/3/tutorial/inputoutput.html#reading-and-writing-files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Library Reference, pathlib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https://docs.python.org/3/library/pathlib.html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Library Reference, built-in open()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https://docs.python.org/3/library/functions.html#open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52 / 52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6724</Words>
  <Application>Microsoft Office PowerPoint</Application>
  <PresentationFormat>Widescreen</PresentationFormat>
  <Paragraphs>822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6" baseType="lpstr">
      <vt:lpstr>Arial</vt:lpstr>
      <vt:lpstr>Courier New</vt:lpstr>
      <vt:lpstr>Wingdings</vt:lpstr>
      <vt:lpstr>Learners Point</vt:lpstr>
      <vt:lpstr>Reading and Writing Files</vt:lpstr>
      <vt:lpstr>Learning Objectives (1 of 2)</vt:lpstr>
      <vt:lpstr>Learning Objectives (2 of 2)</vt:lpstr>
      <vt:lpstr>Why This Matters</vt:lpstr>
      <vt:lpstr>The Concept</vt:lpstr>
      <vt:lpstr>Text Files vs Binary Files</vt:lpstr>
      <vt:lpstr>Opening a File with open()</vt:lpstr>
      <vt:lpstr>File Modes</vt:lpstr>
      <vt:lpstr>Closing Files and Why It Matters</vt:lpstr>
      <vt:lpstr>try / finally, Then with</vt:lpstr>
      <vt:lpstr>Writing: write()</vt:lpstr>
      <vt:lpstr>writelines() and print(file=...)</vt:lpstr>
      <vt:lpstr>Non-Strings and Appending</vt:lpstr>
      <vt:lpstr>A Sample File to Read</vt:lpstr>
      <vt:lpstr>read(): the Whole File</vt:lpstr>
      <vt:lpstr>readline() and readlines()</vt:lpstr>
      <vt:lpstr>Iterating: Best for Line by Line</vt:lpstr>
      <vt:lpstr>Which to Use?</vt:lpstr>
      <vt:lpstr>A Mini Parser</vt:lpstr>
      <vt:lpstr>Encoding: Always Say utf-8</vt:lpstr>
      <vt:lpstr>Reading with the Wrong Encoding</vt:lpstr>
      <vt:lpstr>Newlines and File Paths</vt:lpstr>
      <vt:lpstr>os.path: the Classic Tools</vt:lpstr>
      <vt:lpstr>Other Useful os Functions</vt:lpstr>
      <vt:lpstr>pathlib: the Modern Way</vt:lpstr>
      <vt:lpstr>pathlib: Read, Write, Create, Search</vt:lpstr>
      <vt:lpstr>Paths Anchored to Your Script</vt:lpstr>
      <vt:lpstr>Handling File Errors</vt:lpstr>
      <vt:lpstr>A Robust Reading Function</vt:lpstr>
      <vt:lpstr>The Result</vt:lpstr>
      <vt:lpstr>Reading Large Files Efficiently</vt:lpstr>
      <vt:lpstr>Binary Files</vt:lpstr>
      <vt:lpstr>The File Position: tell() and seek()</vt:lpstr>
      <vt:lpstr>Real-World QA Scenarios</vt:lpstr>
      <vt:lpstr>Scenario 1: A Test-Run Report</vt:lpstr>
      <vt:lpstr>Scenario 2: Searching a Log</vt:lpstr>
      <vt:lpstr>Scenario 3: A key=value Config File</vt:lpstr>
      <vt:lpstr>Scenario 3: Output</vt:lpstr>
      <vt:lpstr>Scenario 4: Safe Output Folders</vt:lpstr>
      <vt:lpstr>Putting It All Together</vt:lpstr>
      <vt:lpstr>log_filter.py: extract_errors</vt:lpstr>
      <vt:lpstr>log_filter.py: Demo and Output</vt:lpstr>
      <vt:lpstr>Practice</vt:lpstr>
      <vt:lpstr>Practice Exercises (1 of 2)</vt:lpstr>
      <vt:lpstr>Practice Exercises (2 of 2)</vt:lpstr>
      <vt:lpstr>Answers 1 and 2</vt:lpstr>
      <vt:lpstr>Answers 3 and 4</vt:lpstr>
      <vt:lpstr>Answers 5 and 6</vt:lpstr>
      <vt:lpstr>Answer 7</vt:lpstr>
      <vt:lpstr>Key Takeaways (1 of 2)</vt:lpstr>
      <vt:lpstr>Key Takeaways (2 of 2)</vt:lpstr>
      <vt:lpstr>Additional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  <cp:lastModifiedBy>Jasdhir Singh</cp:lastModifiedBy>
  <cp:revision>2</cp:revision>
  <dcterms:modified xsi:type="dcterms:W3CDTF">2026-10-19T17:08:16Z</dcterms:modified>
</cp:coreProperties>
</file>