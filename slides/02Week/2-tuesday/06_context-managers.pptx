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12192000" cy="6858000"/>
  <p:notesSz cx="6858000" cy="9144000"/>
  <p:defaultTextStyle>
    <a:defPPr>
      <a:defRPr lang="en-IN"/>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66562" name="Line 2"/>
          <p:cNvSpPr>
            <a:spLocks noChangeShapeType="1"/>
          </p:cNvSpPr>
          <p:nvPr/>
        </p:nvSpPr>
        <p:spPr bwMode="auto">
          <a:xfrm>
            <a:off x="9753600" y="1066800"/>
            <a:ext cx="0" cy="17526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
        <p:nvSpPr>
          <p:cNvPr id="66563" name="Rectangle 3"/>
          <p:cNvSpPr>
            <a:spLocks noGrp="1" noChangeArrowheads="1"/>
          </p:cNvSpPr>
          <p:nvPr>
            <p:ph type="ctrTitle"/>
          </p:nvPr>
        </p:nvSpPr>
        <p:spPr>
          <a:xfrm>
            <a:off x="1016000" y="457200"/>
            <a:ext cx="8519584" cy="2133600"/>
          </a:xfrm>
        </p:spPr>
        <p:txBody>
          <a:bodyPr/>
          <a:lstStyle>
            <a:lvl1pPr>
              <a:defRPr/>
            </a:lvl1pPr>
          </a:lstStyle>
          <a:p>
            <a:pPr lvl="0"/>
            <a:r>
              <a:rPr lang="en-US" altLang="en-US" noProof="0"/>
              <a:t>Click to edit Master title style</a:t>
            </a:r>
          </a:p>
        </p:txBody>
      </p:sp>
      <p:sp>
        <p:nvSpPr>
          <p:cNvPr id="66564" name="Rectangle 4"/>
          <p:cNvSpPr>
            <a:spLocks noGrp="1" noChangeArrowheads="1"/>
          </p:cNvSpPr>
          <p:nvPr>
            <p:ph type="subTitle" idx="1"/>
          </p:nvPr>
        </p:nvSpPr>
        <p:spPr>
          <a:xfrm>
            <a:off x="1132417" y="3049588"/>
            <a:ext cx="8331200" cy="2362200"/>
          </a:xfrm>
        </p:spPr>
        <p:txBody>
          <a:bodyPr/>
          <a:lstStyle>
            <a:lvl1pPr marL="0" indent="0" algn="r">
              <a:buFont typeface="Wingdings" panose="05000000000000000000" pitchFamily="2" charset="2"/>
              <a:buNone/>
              <a:defRPr/>
            </a:lvl1pPr>
          </a:lstStyle>
          <a:p>
            <a:pPr lvl="0"/>
            <a:r>
              <a:rPr lang="en-US" altLang="en-US" noProof="0"/>
              <a:t>Click to edit Master subtitle style</a:t>
            </a:r>
          </a:p>
        </p:txBody>
      </p:sp>
      <p:sp>
        <p:nvSpPr>
          <p:cNvPr id="66565" name="Rectangle 5"/>
          <p:cNvSpPr>
            <a:spLocks noGrp="1" noChangeArrowheads="1"/>
          </p:cNvSpPr>
          <p:nvPr>
            <p:ph type="dt" sz="half" idx="2"/>
          </p:nvPr>
        </p:nvSpPr>
        <p:spPr/>
        <p:txBody>
          <a:bodyPr/>
          <a:lstStyle>
            <a:lvl1pPr>
              <a:defRPr/>
            </a:lvl1pPr>
          </a:lstStyle>
          <a:p>
            <a:fld id="{F304A9D6-1313-4D51-A62E-402D441D9A7B}" type="datetime1">
              <a:rPr lang="en-US" smtClean="0"/>
              <a:t>10/18/2026</a:t>
            </a:fld>
            <a:endParaRPr lang="en-US"/>
          </a:p>
        </p:txBody>
      </p:sp>
      <p:sp>
        <p:nvSpPr>
          <p:cNvPr id="66566" name="Rectangle 6"/>
          <p:cNvSpPr>
            <a:spLocks noGrp="1" noChangeArrowheads="1"/>
          </p:cNvSpPr>
          <p:nvPr>
            <p:ph type="ftr" sz="quarter" idx="3"/>
          </p:nvPr>
        </p:nvSpPr>
        <p:spPr/>
        <p:txBody>
          <a:bodyPr/>
          <a:lstStyle>
            <a:lvl1pPr>
              <a:defRPr/>
            </a:lvl1pPr>
          </a:lstStyle>
          <a:p>
            <a:endParaRPr lang="en-US"/>
          </a:p>
        </p:txBody>
      </p:sp>
      <p:sp>
        <p:nvSpPr>
          <p:cNvPr id="66567" name="Rectangle 7"/>
          <p:cNvSpPr>
            <a:spLocks noGrp="1" noChangeArrowheads="1"/>
          </p:cNvSpPr>
          <p:nvPr>
            <p:ph type="sldNum" sz="quarter" idx="4"/>
          </p:nvPr>
        </p:nvSpPr>
        <p:spPr/>
        <p:txBody>
          <a:bodyPr/>
          <a:lstStyle>
            <a:lvl1pPr>
              <a:defRPr/>
            </a:lvl1pPr>
          </a:lstStyle>
          <a:p>
            <a:fld id="{83385899-0B10-4821-AAA8-DC5305EDD7F2}" type="slidenum">
              <a:rPr lang="en-US" smtClean="0"/>
              <a:t>‹#›</a:t>
            </a:fld>
            <a:endParaRPr lang="en-US"/>
          </a:p>
        </p:txBody>
      </p:sp>
      <p:sp>
        <p:nvSpPr>
          <p:cNvPr id="66568" name="Line 8"/>
          <p:cNvSpPr>
            <a:spLocks noChangeShapeType="1"/>
          </p:cNvSpPr>
          <p:nvPr/>
        </p:nvSpPr>
        <p:spPr bwMode="auto">
          <a:xfrm>
            <a:off x="1117600" y="2819400"/>
            <a:ext cx="8636000" cy="0"/>
          </a:xfrm>
          <a:prstGeom prst="line">
            <a:avLst/>
          </a:prstGeom>
          <a:noFill/>
          <a:ln w="63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grpSp>
        <p:nvGrpSpPr>
          <p:cNvPr id="66569" name="Group 9" descr="decorative graphic made up of dots"/>
          <p:cNvGrpSpPr>
            <a:grpSpLocks/>
          </p:cNvGrpSpPr>
          <p:nvPr/>
        </p:nvGrpSpPr>
        <p:grpSpPr bwMode="auto">
          <a:xfrm>
            <a:off x="9956801" y="1219200"/>
            <a:ext cx="1056217" cy="1295400"/>
            <a:chOff x="5136" y="960"/>
            <a:chExt cx="528" cy="864"/>
          </a:xfrm>
        </p:grpSpPr>
        <p:sp>
          <p:nvSpPr>
            <p:cNvPr id="66570" name="Oval 10"/>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1" name="Oval 11"/>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2" name="Oval 12"/>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3" name="Oval 13"/>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4" name="Oval 14"/>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5" name="Oval 15"/>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6" name="Oval 16"/>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7" name="Oval 17"/>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8" name="Oval 18"/>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9" name="Oval 19"/>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0" name="Oval 20"/>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1" name="Oval 21"/>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2" name="Oval 22"/>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3" name="Oval 23"/>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4" name="Oval 24"/>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5" name="Oval 25"/>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6" name="Oval 26"/>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7" name="Oval 27"/>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8" name="Oval 28"/>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9" name="Oval 29"/>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0" name="Oval 30"/>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1" name="Oval 31"/>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2" name="Oval 32"/>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3" name="Oval 33"/>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4" name="Oval 34"/>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5" name="Oval 35"/>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6" name="Oval 36"/>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7" name="Oval 37"/>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8" name="Oval 38"/>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9" name="Oval 39"/>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0" name="Oval 40"/>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grpSp>
        <p:nvGrpSpPr>
          <p:cNvPr id="66601" name="Group 41" descr="decorative graphic made up of dots"/>
          <p:cNvGrpSpPr>
            <a:grpSpLocks/>
          </p:cNvGrpSpPr>
          <p:nvPr/>
        </p:nvGrpSpPr>
        <p:grpSpPr bwMode="auto">
          <a:xfrm>
            <a:off x="9956801" y="1219200"/>
            <a:ext cx="1056217" cy="1295400"/>
            <a:chOff x="5136" y="960"/>
            <a:chExt cx="528" cy="864"/>
          </a:xfrm>
        </p:grpSpPr>
        <p:sp>
          <p:nvSpPr>
            <p:cNvPr id="66602" name="Oval 42"/>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3" name="Oval 43"/>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4" name="Oval 44"/>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5" name="Oval 45"/>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6" name="Oval 46"/>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7" name="Oval 47"/>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8" name="Oval 48"/>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9" name="Oval 49"/>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0" name="Oval 50"/>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1" name="Oval 51"/>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2" name="Oval 52"/>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3" name="Oval 53"/>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4" name="Oval 54"/>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5" name="Oval 55"/>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6" name="Oval 56"/>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7" name="Oval 57"/>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8" name="Oval 58"/>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9" name="Oval 59"/>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0" name="Oval 60"/>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1" name="Oval 61"/>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2" name="Oval 62"/>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3" name="Oval 63"/>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4" name="Oval 64"/>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5" name="Oval 65"/>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6" name="Oval 66"/>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7" name="Oval 67"/>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8" name="Oval 68"/>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9" name="Oval 69"/>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0" name="Oval 70"/>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1" name="Oval 71"/>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2" name="Oval 72"/>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08955" y="6247726"/>
            <a:ext cx="499764" cy="460309"/>
          </a:xfrm>
          <a:prstGeom prst="rect">
            <a:avLst/>
          </a:prstGeom>
        </p:spPr>
      </p:pic>
    </p:spTree>
    <p:extLst>
      <p:ext uri="{BB962C8B-B14F-4D97-AF65-F5344CB8AC3E}">
        <p14:creationId xmlns:p14="http://schemas.microsoft.com/office/powerpoint/2010/main" val="3085256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F44A8556-2F07-416B-A81B-5F1C3AFD01EF}" type="datetime1">
              <a:rPr lang="en-US" smtClean="0"/>
              <a:t>10/18/2026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7954" y="6261305"/>
            <a:ext cx="499764" cy="460309"/>
          </a:xfrm>
          <a:prstGeom prst="rect">
            <a:avLst/>
          </a:prstGeom>
        </p:spPr>
      </p:pic>
    </p:spTree>
    <p:extLst>
      <p:ext uri="{BB962C8B-B14F-4D97-AF65-F5344CB8AC3E}">
        <p14:creationId xmlns:p14="http://schemas.microsoft.com/office/powerpoint/2010/main" val="673722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26729637-7636-4388-949A-FC8BFDAA4705}" type="datetime1">
              <a:rPr lang="en-US" smtClean="0"/>
              <a:t>10/18/2026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706092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lvl1pPr>
              <a:defRPr/>
            </a:lvl1pPr>
          </a:lstStyle>
          <a:p>
            <a:fld id="{A0F5DED8-6456-47A2-A5CC-BE8BEC6BD892}" type="datetime1">
              <a:rPr lang="en-US" smtClean="0"/>
              <a:t>10/18/2026</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919174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lvl1pPr>
              <a:defRPr/>
            </a:lvl1pPr>
          </a:lstStyle>
          <a:p>
            <a:fld id="{17595759-8665-4708-8376-28A90FA13BDD}" type="datetime1">
              <a:rPr lang="en-US" smtClean="0"/>
              <a:t>10/18/2026</a:t>
            </a:fld>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18297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lvl1pPr>
              <a:defRPr/>
            </a:lvl1pPr>
          </a:lstStyle>
          <a:p>
            <a:fld id="{A3B0C243-4A55-4741-8265-C0A2FA769F7B}" type="datetime1">
              <a:rPr lang="en-US" smtClean="0"/>
              <a:t>10/18/2026</a:t>
            </a:fld>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278546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A99A12F7-971D-41C1-A2B7-EBB58FF381A3}" type="datetime1">
              <a:rPr lang="en-US" smtClean="0"/>
              <a:t>10/18/2026</a:t>
            </a:fld>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381112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2E3C3D28-2E0C-4F8B-A45D-9E87921943BF}" type="datetime1">
              <a:rPr lang="en-US" smtClean="0"/>
              <a:t>10/18/2026</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480995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020A2-9D30-48AD-A70D-69AD2B027FCA}" type="datetime1">
              <a:rPr lang="en-US" smtClean="0"/>
              <a:t>10/18/2026</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121103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F01F6343-4644-43E3-AA07-6869EC7CEA0D}" type="datetime1">
              <a:rPr lang="en-US" smtClean="0"/>
              <a:t>10/18/2026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892150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22239"/>
            <a:ext cx="2743200" cy="6008687"/>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122239"/>
            <a:ext cx="80264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0CA0A126-F3CA-45B4-970B-597BE67A203E}" type="datetime1">
              <a:rPr lang="en-US" smtClean="0"/>
              <a:t>10/18/2026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40294651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10058400" cy="12954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609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609600" y="6248400"/>
            <a:ext cx="2844800" cy="457200"/>
          </a:xfrm>
        </p:spPr>
        <p:txBody>
          <a:bodyPr/>
          <a:lstStyle>
            <a:lvl1pPr>
              <a:defRPr/>
            </a:lvl1pPr>
          </a:lstStyle>
          <a:p>
            <a:fld id="{16815F9B-CAFE-4C37-897A-C6403744783F}" type="datetime1">
              <a:rPr lang="en-US" smtClean="0"/>
              <a:t>10/18/2026</a:t>
            </a:fld>
            <a:endParaRPr lang="en-US"/>
          </a:p>
        </p:txBody>
      </p:sp>
      <p:sp>
        <p:nvSpPr>
          <p:cNvPr id="6" name="Footer Placeholder 5"/>
          <p:cNvSpPr>
            <a:spLocks noGrp="1"/>
          </p:cNvSpPr>
          <p:nvPr>
            <p:ph type="ftr" sz="quarter" idx="11"/>
          </p:nvPr>
        </p:nvSpPr>
        <p:spPr>
          <a:xfrm>
            <a:off x="4165600" y="6248400"/>
            <a:ext cx="38608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8737600" y="6248400"/>
            <a:ext cx="2844800" cy="457200"/>
          </a:xfrm>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737879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5538" name="Line 2"/>
          <p:cNvSpPr>
            <a:spLocks noChangeShapeType="1"/>
          </p:cNvSpPr>
          <p:nvPr/>
        </p:nvSpPr>
        <p:spPr bwMode="auto">
          <a:xfrm>
            <a:off x="10668000" y="0"/>
            <a:ext cx="0" cy="15240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
        <p:nvSpPr>
          <p:cNvPr id="65539" name="Rectangle 3"/>
          <p:cNvSpPr>
            <a:spLocks noGrp="1" noChangeArrowheads="1"/>
          </p:cNvSpPr>
          <p:nvPr>
            <p:ph type="title"/>
          </p:nvPr>
        </p:nvSpPr>
        <p:spPr bwMode="auto">
          <a:xfrm>
            <a:off x="609600" y="122238"/>
            <a:ext cx="100584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65540" name="Rectangle 4"/>
          <p:cNvSpPr>
            <a:spLocks noGrp="1" noChangeArrowheads="1"/>
          </p:cNvSpPr>
          <p:nvPr>
            <p:ph type="body" idx="1"/>
          </p:nvPr>
        </p:nvSpPr>
        <p:spPr bwMode="auto">
          <a:xfrm>
            <a:off x="609600" y="1719263"/>
            <a:ext cx="10972800"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5541" name="Rectangle 5"/>
          <p:cNvSpPr>
            <a:spLocks noGrp="1" noChangeArrowheads="1"/>
          </p:cNvSpPr>
          <p:nvPr>
            <p:ph type="dt" sz="half" idx="2"/>
          </p:nvPr>
        </p:nvSpPr>
        <p:spPr bwMode="auto">
          <a:xfrm>
            <a:off x="609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lvl1pPr>
          </a:lstStyle>
          <a:p>
            <a:fld id="{C569D4A1-8BB6-4430-9601-3FBC79908E8C}" type="datetime1">
              <a:rPr lang="en-US" smtClean="0"/>
              <a:t>10/18/2026</a:t>
            </a:fld>
            <a:endParaRPr lang="en-US"/>
          </a:p>
        </p:txBody>
      </p:sp>
      <p:sp>
        <p:nvSpPr>
          <p:cNvPr id="65542" name="Rectangle 6"/>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lvl1pPr>
          </a:lstStyle>
          <a:p>
            <a:endParaRPr lang="en-US"/>
          </a:p>
        </p:txBody>
      </p:sp>
      <p:sp>
        <p:nvSpPr>
          <p:cNvPr id="65543" name="Rectangle 7"/>
          <p:cNvSpPr>
            <a:spLocks noGrp="1" noChangeArrowheads="1"/>
          </p:cNvSpPr>
          <p:nvPr>
            <p:ph type="sldNum" sz="quarter" idx="4"/>
          </p:nvPr>
        </p:nvSpPr>
        <p:spPr bwMode="auto">
          <a:xfrm>
            <a:off x="8737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lvl1pPr>
          </a:lstStyle>
          <a:p>
            <a:fld id="{83385899-0B10-4821-AAA8-DC5305EDD7F2}" type="slidenum">
              <a:rPr lang="en-US" smtClean="0"/>
              <a:t>‹#›</a:t>
            </a:fld>
            <a:endParaRPr lang="en-US"/>
          </a:p>
        </p:txBody>
      </p:sp>
      <p:grpSp>
        <p:nvGrpSpPr>
          <p:cNvPr id="65544" name="Group 8" descr="decorative graphic made up of dots"/>
          <p:cNvGrpSpPr>
            <a:grpSpLocks/>
          </p:cNvGrpSpPr>
          <p:nvPr/>
        </p:nvGrpSpPr>
        <p:grpSpPr bwMode="auto">
          <a:xfrm>
            <a:off x="10871201" y="152400"/>
            <a:ext cx="1056217" cy="1295400"/>
            <a:chOff x="5136" y="960"/>
            <a:chExt cx="528" cy="864"/>
          </a:xfrm>
        </p:grpSpPr>
        <p:sp>
          <p:nvSpPr>
            <p:cNvPr id="65545"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6"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7"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8"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9"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0"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1"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2"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3"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4"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5"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6"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7"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8"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9"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0"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1"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2"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3"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4"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5"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6"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7"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8"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9"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0"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1"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2"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3"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4"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5"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sp>
        <p:nvSpPr>
          <p:cNvPr id="65576" name="Line 40"/>
          <p:cNvSpPr>
            <a:spLocks noChangeShapeType="1"/>
          </p:cNvSpPr>
          <p:nvPr/>
        </p:nvSpPr>
        <p:spPr bwMode="auto">
          <a:xfrm>
            <a:off x="609600" y="1524000"/>
            <a:ext cx="1005840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Tree>
    <p:extLst>
      <p:ext uri="{BB962C8B-B14F-4D97-AF65-F5344CB8AC3E}">
        <p14:creationId xmlns:p14="http://schemas.microsoft.com/office/powerpoint/2010/main" val="26342200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spcBef>
          <a:spcPct val="0"/>
        </a:spcBef>
        <a:spcAft>
          <a:spcPct val="0"/>
        </a:spcAft>
        <a:defRPr sz="3900" b="1" kern="1200">
          <a:solidFill>
            <a:schemeClr val="tx2"/>
          </a:solidFill>
          <a:latin typeface="+mj-lt"/>
          <a:ea typeface="+mj-ea"/>
          <a:cs typeface="+mj-cs"/>
        </a:defRPr>
      </a:lvl1pPr>
      <a:lvl2pPr algn="l" rtl="0" eaLnBrk="1" fontAlgn="base" hangingPunct="1">
        <a:spcBef>
          <a:spcPct val="0"/>
        </a:spcBef>
        <a:spcAft>
          <a:spcPct val="0"/>
        </a:spcAft>
        <a:defRPr sz="3900" b="1">
          <a:solidFill>
            <a:schemeClr val="tx2"/>
          </a:solidFill>
          <a:latin typeface="Arial" panose="020B0604020202020204" pitchFamily="34" charset="0"/>
        </a:defRPr>
      </a:lvl2pPr>
      <a:lvl3pPr algn="l" rtl="0" eaLnBrk="1" fontAlgn="base" hangingPunct="1">
        <a:spcBef>
          <a:spcPct val="0"/>
        </a:spcBef>
        <a:spcAft>
          <a:spcPct val="0"/>
        </a:spcAft>
        <a:defRPr sz="3900" b="1">
          <a:solidFill>
            <a:schemeClr val="tx2"/>
          </a:solidFill>
          <a:latin typeface="Arial" panose="020B0604020202020204" pitchFamily="34" charset="0"/>
        </a:defRPr>
      </a:lvl3pPr>
      <a:lvl4pPr algn="l" rtl="0" eaLnBrk="1" fontAlgn="base" hangingPunct="1">
        <a:spcBef>
          <a:spcPct val="0"/>
        </a:spcBef>
        <a:spcAft>
          <a:spcPct val="0"/>
        </a:spcAft>
        <a:defRPr sz="3900" b="1">
          <a:solidFill>
            <a:schemeClr val="tx2"/>
          </a:solidFill>
          <a:latin typeface="Arial" panose="020B0604020202020204" pitchFamily="34" charset="0"/>
        </a:defRPr>
      </a:lvl4pPr>
      <a:lvl5pPr algn="l" rtl="0" eaLnBrk="1" fontAlgn="base" hangingPunct="1">
        <a:spcBef>
          <a:spcPct val="0"/>
        </a:spcBef>
        <a:spcAft>
          <a:spcPct val="0"/>
        </a:spcAft>
        <a:defRPr sz="3900" b="1">
          <a:solidFill>
            <a:schemeClr val="tx2"/>
          </a:solidFill>
          <a:latin typeface="Arial" panose="020B0604020202020204" pitchFamily="34" charset="0"/>
        </a:defRPr>
      </a:lvl5pPr>
      <a:lvl6pPr marL="457200" algn="l" rtl="0" eaLnBrk="1" fontAlgn="base" hangingPunct="1">
        <a:spcBef>
          <a:spcPct val="0"/>
        </a:spcBef>
        <a:spcAft>
          <a:spcPct val="0"/>
        </a:spcAft>
        <a:defRPr sz="3900" b="1">
          <a:solidFill>
            <a:schemeClr val="tx2"/>
          </a:solidFill>
          <a:latin typeface="Arial" panose="020B0604020202020204" pitchFamily="34" charset="0"/>
        </a:defRPr>
      </a:lvl6pPr>
      <a:lvl7pPr marL="914400" algn="l" rtl="0" eaLnBrk="1" fontAlgn="base" hangingPunct="1">
        <a:spcBef>
          <a:spcPct val="0"/>
        </a:spcBef>
        <a:spcAft>
          <a:spcPct val="0"/>
        </a:spcAft>
        <a:defRPr sz="3900" b="1">
          <a:solidFill>
            <a:schemeClr val="tx2"/>
          </a:solidFill>
          <a:latin typeface="Arial" panose="020B0604020202020204" pitchFamily="34" charset="0"/>
        </a:defRPr>
      </a:lvl7pPr>
      <a:lvl8pPr marL="1371600" algn="l" rtl="0" eaLnBrk="1" fontAlgn="base" hangingPunct="1">
        <a:spcBef>
          <a:spcPct val="0"/>
        </a:spcBef>
        <a:spcAft>
          <a:spcPct val="0"/>
        </a:spcAft>
        <a:defRPr sz="3900" b="1">
          <a:solidFill>
            <a:schemeClr val="tx2"/>
          </a:solidFill>
          <a:latin typeface="Arial" panose="020B0604020202020204" pitchFamily="34" charset="0"/>
        </a:defRPr>
      </a:lvl8pPr>
      <a:lvl9pPr marL="1828800" algn="l" rtl="0" eaLnBrk="1" fontAlgn="base" hangingPunct="1">
        <a:spcBef>
          <a:spcPct val="0"/>
        </a:spcBef>
        <a:spcAft>
          <a:spcPct val="0"/>
        </a:spcAft>
        <a:defRPr sz="3900" b="1">
          <a:solidFill>
            <a:schemeClr val="tx2"/>
          </a:solidFill>
          <a:latin typeface="Arial" panose="020B0604020202020204" pitchFamily="34" charset="0"/>
        </a:defRPr>
      </a:lvl9pPr>
    </p:titleStyle>
    <p:bodyStyle>
      <a:lvl1pPr marL="342900" indent="-342900" algn="l" rtl="0" eaLnBrk="1" fontAlgn="base" hangingPunct="1">
        <a:spcBef>
          <a:spcPct val="20000"/>
        </a:spcBef>
        <a:spcAft>
          <a:spcPct val="0"/>
        </a:spcAft>
        <a:buClr>
          <a:schemeClr val="tx2"/>
        </a:buClr>
        <a:buSzPct val="70000"/>
        <a:buFont typeface="Wingdings" panose="05000000000000000000" pitchFamily="2" charset="2"/>
        <a:buChar char="l"/>
        <a:defRPr sz="3000" kern="1200">
          <a:solidFill>
            <a:schemeClr val="tx1"/>
          </a:solidFill>
          <a:latin typeface="+mn-lt"/>
          <a:ea typeface="+mn-ea"/>
          <a:cs typeface="+mn-cs"/>
        </a:defRPr>
      </a:lvl1pPr>
      <a:lvl2pPr marL="692150" indent="-347663" algn="l" rtl="0" eaLnBrk="1" fontAlgn="base" hangingPunct="1">
        <a:spcBef>
          <a:spcPct val="20000"/>
        </a:spcBef>
        <a:spcAft>
          <a:spcPct val="0"/>
        </a:spcAft>
        <a:buClr>
          <a:schemeClr val="accent2"/>
        </a:buClr>
        <a:buSzPct val="70000"/>
        <a:buFont typeface="Wingdings" panose="05000000000000000000" pitchFamily="2" charset="2"/>
        <a:buChar char="l"/>
        <a:defRPr sz="2600" kern="1200">
          <a:solidFill>
            <a:schemeClr val="tx1"/>
          </a:solidFill>
          <a:latin typeface="+mn-lt"/>
          <a:ea typeface="+mn-ea"/>
          <a:cs typeface="+mn-cs"/>
        </a:defRPr>
      </a:lvl2pPr>
      <a:lvl3pPr marL="987425" indent="-293688" algn="l" rtl="0" eaLnBrk="1" fontAlgn="base" hangingPunct="1">
        <a:spcBef>
          <a:spcPct val="20000"/>
        </a:spcBef>
        <a:spcAft>
          <a:spcPct val="0"/>
        </a:spcAft>
        <a:buClr>
          <a:schemeClr val="accent1"/>
        </a:buClr>
        <a:buSzPct val="70000"/>
        <a:buFont typeface="Wingdings" panose="05000000000000000000" pitchFamily="2" charset="2"/>
        <a:buChar char="l"/>
        <a:defRPr sz="2300" kern="1200">
          <a:solidFill>
            <a:schemeClr val="tx1"/>
          </a:solidFill>
          <a:latin typeface="+mn-lt"/>
          <a:ea typeface="+mn-ea"/>
          <a:cs typeface="+mn-cs"/>
        </a:defRPr>
      </a:lvl3pPr>
      <a:lvl4pPr marL="1281113" indent="-292100" algn="l" rtl="0" eaLnBrk="1" fontAlgn="base" hangingPunct="1">
        <a:spcBef>
          <a:spcPct val="20000"/>
        </a:spcBef>
        <a:spcAft>
          <a:spcPct val="0"/>
        </a:spcAft>
        <a:buClr>
          <a:schemeClr val="tx2"/>
        </a:buClr>
        <a:buSzPct val="75000"/>
        <a:buFont typeface="Wingdings" panose="05000000000000000000" pitchFamily="2" charset="2"/>
        <a:buChar char="§"/>
        <a:defRPr sz="2000" kern="1200">
          <a:solidFill>
            <a:schemeClr val="tx1"/>
          </a:solidFill>
          <a:latin typeface="+mn-lt"/>
          <a:ea typeface="+mn-ea"/>
          <a:cs typeface="+mn-cs"/>
        </a:defRPr>
      </a:lvl4pPr>
      <a:lvl5pPr marL="1598613" indent="-315913" algn="l" rtl="0" eaLnBrk="1" fontAlgn="base" hangingPunct="1">
        <a:spcBef>
          <a:spcPct val="20000"/>
        </a:spcBef>
        <a:spcAft>
          <a:spcPct val="0"/>
        </a:spcAft>
        <a:buClr>
          <a:schemeClr val="folHlink"/>
        </a:buClr>
        <a:buSzPct val="80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Context Managers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WEEK 2 · TUESDAY</a:t>
            </a:r>
          </a:p>
        </p:txBody>
      </p:sp>
      <p:sp>
        <p:nvSpPr>
          <p:cNvPr id="4" name="TextBox 3"/>
          <p:cNvSpPr txBox="1"/>
          <p:nvPr/>
        </p:nvSpPr>
        <p:spPr>
          <a:xfrm>
            <a:off x="609904" y="2057400"/>
            <a:ext cx="8777508" cy="1097280"/>
          </a:xfrm>
          <a:prstGeom prst="rect">
            <a:avLst/>
          </a:prstGeom>
          <a:noFill/>
        </p:spPr>
        <p:txBody>
          <a:bodyPr wrap="square" lIns="0" tIns="0" rIns="0" bIns="0" anchor="t">
            <a:spAutoFit/>
          </a:bodyPr>
          <a:lstStyle/>
          <a:p>
            <a:pPr algn="l">
              <a:lnSpc>
                <a:spcPct val="110000"/>
              </a:lnSpc>
              <a:spcAft>
                <a:spcPts val="600"/>
              </a:spcAft>
            </a:pPr>
            <a:r>
              <a:rPr sz="2200" b="0" i="0">
                <a:solidFill>
                  <a:srgbClr val="5A5A5A"/>
                </a:solidFill>
                <a:latin typeface="Arial"/>
              </a:rPr>
              <a:t>Package setup and guaranteed cleanup once, then reuse it everywhere with the with statement.</a:t>
            </a:r>
          </a:p>
        </p:txBody>
      </p:sp>
      <p:sp>
        <p:nvSpPr>
          <p:cNvPr id="5" name="Rounded Rectangle 4"/>
          <p:cNvSpPr/>
          <p:nvPr/>
        </p:nvSpPr>
        <p:spPr>
          <a:xfrm>
            <a:off x="609904" y="3520439"/>
            <a:ext cx="937259" cy="402336"/>
          </a:xfrm>
          <a:prstGeom prst="roundRect">
            <a:avLst>
              <a:gd name="adj" fmla="val 50000"/>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FFFFFF"/>
                </a:solidFill>
                <a:latin typeface="Arial"/>
              </a:rPr>
              <a:t>with</a:t>
            </a:r>
          </a:p>
        </p:txBody>
      </p:sp>
      <p:sp>
        <p:nvSpPr>
          <p:cNvPr id="6" name="Right Arrow 5"/>
          <p:cNvSpPr/>
          <p:nvPr/>
        </p:nvSpPr>
        <p:spPr>
          <a:xfrm>
            <a:off x="1638604"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004364" y="3520439"/>
            <a:ext cx="2857500"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__enter__ / __exit__</a:t>
            </a:r>
          </a:p>
        </p:txBody>
      </p:sp>
      <p:sp>
        <p:nvSpPr>
          <p:cNvPr id="8" name="Right Arrow 7"/>
          <p:cNvSpPr/>
          <p:nvPr/>
        </p:nvSpPr>
        <p:spPr>
          <a:xfrm>
            <a:off x="4953304"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319064" y="3520439"/>
            <a:ext cx="2257425"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@contextmanager</a:t>
            </a:r>
          </a:p>
        </p:txBody>
      </p:sp>
      <p:sp>
        <p:nvSpPr>
          <p:cNvPr id="10" name="Right Arrow 9"/>
          <p:cNvSpPr/>
          <p:nvPr/>
        </p:nvSpPr>
        <p:spPr>
          <a:xfrm>
            <a:off x="7667929"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033689" y="3520439"/>
            <a:ext cx="1657350"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contextlib</a:t>
            </a:r>
          </a:p>
        </p:txBody>
      </p:sp>
      <p:sp>
        <p:nvSpPr>
          <p:cNvPr id="12" name="Right Arrow 11"/>
          <p:cNvSpPr/>
          <p:nvPr/>
        </p:nvSpPr>
        <p:spPr>
          <a:xfrm>
            <a:off x="9782479"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0148239" y="3520439"/>
            <a:ext cx="1417320"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tempfile</a:t>
            </a:r>
          </a:p>
        </p:txBody>
      </p:sp>
      <p:sp>
        <p:nvSpPr>
          <p:cNvPr id="14" name="Oval 13"/>
          <p:cNvSpPr/>
          <p:nvPr/>
        </p:nvSpPr>
        <p:spPr>
          <a:xfrm>
            <a:off x="609904" y="5596128"/>
            <a:ext cx="292608" cy="29260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5" name="Oval 14"/>
          <p:cNvSpPr/>
          <p:nvPr/>
        </p:nvSpPr>
        <p:spPr>
          <a:xfrm>
            <a:off x="1067104" y="5596128"/>
            <a:ext cx="292608" cy="292608"/>
          </a:xfrm>
          <a:prstGeom prst="ellipse">
            <a:avLst/>
          </a:prstGeom>
          <a:solidFill>
            <a:srgbClr val="66999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6" name="Oval 15"/>
          <p:cNvSpPr/>
          <p:nvPr/>
        </p:nvSpPr>
        <p:spPr>
          <a:xfrm>
            <a:off x="1524304" y="5596128"/>
            <a:ext cx="292608" cy="292608"/>
          </a:xfrm>
          <a:prstGeom prst="ellipse">
            <a:avLst/>
          </a:prstGeom>
          <a:solidFill>
            <a:srgbClr val="CCCC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Learning Objectives (1 of 2)</a:t>
            </a:r>
          </a:p>
        </p:txBody>
      </p:sp>
      <p:sp>
        <p:nvSpPr>
          <p:cNvPr id="3" name="Oval 2"/>
          <p:cNvSpPr/>
          <p:nvPr/>
        </p:nvSpPr>
        <p:spPr>
          <a:xfrm>
            <a:off x="609904" y="1874519"/>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4" name="TextBox 3"/>
          <p:cNvSpPr txBox="1"/>
          <p:nvPr/>
        </p:nvSpPr>
        <p:spPr>
          <a:xfrm>
            <a:off x="1176832" y="1783079"/>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Explain what a context manager is and the problem it solves (reliable setup and cleanup).</a:t>
            </a:r>
          </a:p>
        </p:txBody>
      </p:sp>
      <p:sp>
        <p:nvSpPr>
          <p:cNvPr id="5" name="Oval 4"/>
          <p:cNvSpPr/>
          <p:nvPr/>
        </p:nvSpPr>
        <p:spPr>
          <a:xfrm>
            <a:off x="609904" y="2532887"/>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6" name="TextBox 5"/>
          <p:cNvSpPr txBox="1"/>
          <p:nvPr/>
        </p:nvSpPr>
        <p:spPr>
          <a:xfrm>
            <a:off x="1176832" y="2441447"/>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Use the </a:t>
            </a:r>
            <a:r>
              <a:rPr sz="1550" b="0" i="0">
                <a:solidFill>
                  <a:srgbClr val="330066"/>
                </a:solidFill>
                <a:latin typeface="Courier New"/>
              </a:rPr>
              <a:t>with</a:t>
            </a:r>
            <a:r>
              <a:rPr sz="1600" b="0" i="0">
                <a:solidFill>
                  <a:srgbClr val="1A1A1A"/>
                </a:solidFill>
                <a:latin typeface="Arial"/>
              </a:rPr>
              <a:t> statement confidently, including with several resources at once.</a:t>
            </a:r>
          </a:p>
        </p:txBody>
      </p:sp>
      <p:sp>
        <p:nvSpPr>
          <p:cNvPr id="7" name="Oval 6"/>
          <p:cNvSpPr/>
          <p:nvPr/>
        </p:nvSpPr>
        <p:spPr>
          <a:xfrm>
            <a:off x="609904" y="3191256"/>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8" name="TextBox 7"/>
          <p:cNvSpPr txBox="1"/>
          <p:nvPr/>
        </p:nvSpPr>
        <p:spPr>
          <a:xfrm>
            <a:off x="1176832" y="3099815"/>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Describe what happens when a </a:t>
            </a:r>
            <a:r>
              <a:rPr sz="1550" b="0" i="0">
                <a:solidFill>
                  <a:srgbClr val="330066"/>
                </a:solidFill>
                <a:latin typeface="Courier New"/>
              </a:rPr>
              <a:t>with</a:t>
            </a:r>
            <a:r>
              <a:rPr sz="1600" b="0" i="0">
                <a:solidFill>
                  <a:srgbClr val="1A1A1A"/>
                </a:solidFill>
                <a:latin typeface="Arial"/>
              </a:rPr>
              <a:t> block starts, ends normally, and ends because of an exception.</a:t>
            </a:r>
          </a:p>
        </p:txBody>
      </p:sp>
      <p:sp>
        <p:nvSpPr>
          <p:cNvPr id="9" name="Oval 8"/>
          <p:cNvSpPr/>
          <p:nvPr/>
        </p:nvSpPr>
        <p:spPr>
          <a:xfrm>
            <a:off x="609904" y="3849624"/>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4</a:t>
            </a:r>
          </a:p>
        </p:txBody>
      </p:sp>
      <p:sp>
        <p:nvSpPr>
          <p:cNvPr id="10" name="TextBox 9"/>
          <p:cNvSpPr txBox="1"/>
          <p:nvPr/>
        </p:nvSpPr>
        <p:spPr>
          <a:xfrm>
            <a:off x="1176832" y="3758184"/>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Compare </a:t>
            </a:r>
            <a:r>
              <a:rPr sz="1550" b="0" i="0">
                <a:solidFill>
                  <a:srgbClr val="330066"/>
                </a:solidFill>
                <a:latin typeface="Courier New"/>
              </a:rPr>
              <a:t>with</a:t>
            </a:r>
            <a:r>
              <a:rPr sz="1600" b="0" i="0">
                <a:solidFill>
                  <a:srgbClr val="1A1A1A"/>
                </a:solidFill>
                <a:latin typeface="Arial"/>
              </a:rPr>
              <a:t> to the equivalent </a:t>
            </a:r>
            <a:r>
              <a:rPr sz="1550" b="0" i="0">
                <a:solidFill>
                  <a:srgbClr val="330066"/>
                </a:solidFill>
                <a:latin typeface="Courier New"/>
              </a:rPr>
              <a:t>try</a:t>
            </a:r>
            <a:r>
              <a:rPr sz="1600" b="0" i="0">
                <a:solidFill>
                  <a:srgbClr val="1A1A1A"/>
                </a:solidFill>
                <a:latin typeface="Arial"/>
              </a:rPr>
              <a:t>/</a:t>
            </a:r>
            <a:r>
              <a:rPr sz="1550" b="0" i="0">
                <a:solidFill>
                  <a:srgbClr val="330066"/>
                </a:solidFill>
                <a:latin typeface="Courier New"/>
              </a:rPr>
              <a:t>finally</a:t>
            </a:r>
            <a:r>
              <a:rPr sz="1600" b="0" i="0">
                <a:solidFill>
                  <a:srgbClr val="1A1A1A"/>
                </a:solidFill>
                <a:latin typeface="Arial"/>
              </a:rPr>
              <a:t> code.</a:t>
            </a:r>
          </a:p>
        </p:txBody>
      </p:sp>
      <p:sp>
        <p:nvSpPr>
          <p:cNvPr id="11" name="Oval 10"/>
          <p:cNvSpPr/>
          <p:nvPr/>
        </p:nvSpPr>
        <p:spPr>
          <a:xfrm>
            <a:off x="609904" y="4507992"/>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5</a:t>
            </a:r>
          </a:p>
        </p:txBody>
      </p:sp>
      <p:sp>
        <p:nvSpPr>
          <p:cNvPr id="12" name="TextBox 11"/>
          <p:cNvSpPr txBox="1"/>
          <p:nvPr/>
        </p:nvSpPr>
        <p:spPr>
          <a:xfrm>
            <a:off x="1176832" y="4416552"/>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Write your own context manager as a class using </a:t>
            </a:r>
            <a:r>
              <a:rPr sz="1550" b="0" i="0">
                <a:solidFill>
                  <a:srgbClr val="330066"/>
                </a:solidFill>
                <a:latin typeface="Courier New"/>
              </a:rPr>
              <a:t>__enter__</a:t>
            </a:r>
            <a:r>
              <a:rPr sz="1600" b="0" i="0">
                <a:solidFill>
                  <a:srgbClr val="1A1A1A"/>
                </a:solidFill>
                <a:latin typeface="Arial"/>
              </a:rPr>
              <a:t> and </a:t>
            </a:r>
            <a:r>
              <a:rPr sz="1550" b="0" i="0">
                <a:solidFill>
                  <a:srgbClr val="330066"/>
                </a:solidFill>
                <a:latin typeface="Courier New"/>
              </a:rPr>
              <a:t>__exit__</a:t>
            </a:r>
            <a:r>
              <a:rPr sz="1600" b="0" i="0">
                <a:solidFill>
                  <a:srgbClr val="1A1A1A"/>
                </a:solidFill>
                <a:latin typeface="Arial"/>
              </a:rPr>
              <a:t>.</a:t>
            </a:r>
          </a:p>
        </p:txBody>
      </p:sp>
      <p:sp>
        <p:nvSpPr>
          <p:cNvPr id="13" name="TextBox 12"/>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 / 49</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Learning Objectives (2 of 2)</a:t>
            </a:r>
          </a:p>
        </p:txBody>
      </p:sp>
      <p:sp>
        <p:nvSpPr>
          <p:cNvPr id="3" name="Oval 2"/>
          <p:cNvSpPr/>
          <p:nvPr/>
        </p:nvSpPr>
        <p:spPr>
          <a:xfrm>
            <a:off x="609904" y="1874519"/>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4" name="TextBox 3"/>
          <p:cNvSpPr txBox="1"/>
          <p:nvPr/>
        </p:nvSpPr>
        <p:spPr>
          <a:xfrm>
            <a:off x="1176832" y="1783079"/>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Write your own context manager as a generator function using </a:t>
            </a:r>
            <a:r>
              <a:rPr sz="1550" b="0" i="0">
                <a:solidFill>
                  <a:srgbClr val="330066"/>
                </a:solidFill>
                <a:latin typeface="Courier New"/>
              </a:rPr>
              <a:t>contextlib.contextmanager</a:t>
            </a:r>
            <a:r>
              <a:rPr sz="1600" b="0" i="0">
                <a:solidFill>
                  <a:srgbClr val="1A1A1A"/>
                </a:solidFill>
                <a:latin typeface="Arial"/>
              </a:rPr>
              <a:t>.</a:t>
            </a:r>
          </a:p>
        </p:txBody>
      </p:sp>
      <p:sp>
        <p:nvSpPr>
          <p:cNvPr id="5" name="Oval 4"/>
          <p:cNvSpPr/>
          <p:nvPr/>
        </p:nvSpPr>
        <p:spPr>
          <a:xfrm>
            <a:off x="609904" y="2532887"/>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6" name="TextBox 5"/>
          <p:cNvSpPr txBox="1"/>
          <p:nvPr/>
        </p:nvSpPr>
        <p:spPr>
          <a:xfrm>
            <a:off x="1176832" y="2441447"/>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Use ready-made tools from </a:t>
            </a:r>
            <a:r>
              <a:rPr sz="1550" b="0" i="0">
                <a:solidFill>
                  <a:srgbClr val="330066"/>
                </a:solidFill>
                <a:latin typeface="Courier New"/>
              </a:rPr>
              <a:t>contextlib</a:t>
            </a:r>
            <a:r>
              <a:rPr sz="1600" b="0" i="0">
                <a:solidFill>
                  <a:srgbClr val="1A1A1A"/>
                </a:solidFill>
                <a:latin typeface="Arial"/>
              </a:rPr>
              <a:t> (</a:t>
            </a:r>
            <a:r>
              <a:rPr sz="1550" b="0" i="0">
                <a:solidFill>
                  <a:srgbClr val="330066"/>
                </a:solidFill>
                <a:latin typeface="Courier New"/>
              </a:rPr>
              <a:t>suppress</a:t>
            </a:r>
            <a:r>
              <a:rPr sz="1600" b="0" i="0">
                <a:solidFill>
                  <a:srgbClr val="1A1A1A"/>
                </a:solidFill>
                <a:latin typeface="Arial"/>
              </a:rPr>
              <a:t>, </a:t>
            </a:r>
            <a:r>
              <a:rPr sz="1550" b="0" i="0">
                <a:solidFill>
                  <a:srgbClr val="330066"/>
                </a:solidFill>
                <a:latin typeface="Courier New"/>
              </a:rPr>
              <a:t>redirect_stdout</a:t>
            </a:r>
            <a:r>
              <a:rPr sz="1600" b="0" i="0">
                <a:solidFill>
                  <a:srgbClr val="1A1A1A"/>
                </a:solidFill>
                <a:latin typeface="Arial"/>
              </a:rPr>
              <a:t>, </a:t>
            </a:r>
            <a:r>
              <a:rPr sz="1550" b="0" i="0">
                <a:solidFill>
                  <a:srgbClr val="330066"/>
                </a:solidFill>
                <a:latin typeface="Courier New"/>
              </a:rPr>
              <a:t>ExitStack</a:t>
            </a:r>
            <a:r>
              <a:rPr sz="1600" b="0" i="0">
                <a:solidFill>
                  <a:srgbClr val="1A1A1A"/>
                </a:solidFill>
                <a:latin typeface="Arial"/>
              </a:rPr>
              <a:t>, </a:t>
            </a:r>
            <a:r>
              <a:rPr sz="1550" b="0" i="0">
                <a:solidFill>
                  <a:srgbClr val="330066"/>
                </a:solidFill>
                <a:latin typeface="Courier New"/>
              </a:rPr>
              <a:t>closing</a:t>
            </a:r>
            <a:r>
              <a:rPr sz="1600" b="0" i="0">
                <a:solidFill>
                  <a:srgbClr val="1A1A1A"/>
                </a:solidFill>
                <a:latin typeface="Arial"/>
              </a:rPr>
              <a:t>) and the standard library (temporary files and directories, </a:t>
            </a:r>
            <a:r>
              <a:rPr sz="1550" b="0" i="0">
                <a:solidFill>
                  <a:srgbClr val="330066"/>
                </a:solidFill>
                <a:latin typeface="Courier New"/>
              </a:rPr>
              <a:t>os.chdir</a:t>
            </a:r>
            <a:r>
              <a:rPr sz="1600" b="0" i="0">
                <a:solidFill>
                  <a:srgbClr val="1A1A1A"/>
                </a:solidFill>
                <a:latin typeface="Arial"/>
              </a:rPr>
              <a:t> patterns).</a:t>
            </a:r>
          </a:p>
        </p:txBody>
      </p:sp>
      <p:sp>
        <p:nvSpPr>
          <p:cNvPr id="7" name="Oval 6"/>
          <p:cNvSpPr/>
          <p:nvPr/>
        </p:nvSpPr>
        <p:spPr>
          <a:xfrm>
            <a:off x="609904" y="3191256"/>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8" name="TextBox 7"/>
          <p:cNvSpPr txBox="1"/>
          <p:nvPr/>
        </p:nvSpPr>
        <p:spPr>
          <a:xfrm>
            <a:off x="1176832" y="3099815"/>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Decide whether an </a:t>
            </a:r>
            <a:r>
              <a:rPr sz="1550" b="0" i="0">
                <a:solidFill>
                  <a:srgbClr val="330066"/>
                </a:solidFill>
                <a:latin typeface="Courier New"/>
              </a:rPr>
              <a:t>__exit__</a:t>
            </a:r>
            <a:r>
              <a:rPr sz="1600" b="0" i="0">
                <a:solidFill>
                  <a:srgbClr val="1A1A1A"/>
                </a:solidFill>
                <a:latin typeface="Arial"/>
              </a:rPr>
              <a:t> method should swallow or propagate an exception.</a:t>
            </a:r>
          </a:p>
        </p:txBody>
      </p:sp>
      <p:sp>
        <p:nvSpPr>
          <p:cNvPr id="9" name="Oval 8"/>
          <p:cNvSpPr/>
          <p:nvPr/>
        </p:nvSpPr>
        <p:spPr>
          <a:xfrm>
            <a:off x="609904" y="3849624"/>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4</a:t>
            </a:r>
          </a:p>
        </p:txBody>
      </p:sp>
      <p:sp>
        <p:nvSpPr>
          <p:cNvPr id="10" name="TextBox 9"/>
          <p:cNvSpPr txBox="1"/>
          <p:nvPr/>
        </p:nvSpPr>
        <p:spPr>
          <a:xfrm>
            <a:off x="1176832" y="3758184"/>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Apply context managers to QA tasks: timing a test, creating and cleaning up test data, temporarily changing environment variables, capturing output.</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 / 49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Why This Matters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INTRODUCTION</a:t>
            </a:r>
          </a:p>
        </p:txBody>
      </p:sp>
      <p:sp>
        <p:nvSpPr>
          <p:cNvPr id="4" name="TextBox 3"/>
          <p:cNvSpPr txBox="1"/>
          <p:nvPr/>
        </p:nvSpPr>
        <p:spPr>
          <a:xfrm>
            <a:off x="609904" y="1783080"/>
            <a:ext cx="10971885" cy="548640"/>
          </a:xfrm>
          <a:prstGeom prst="rect">
            <a:avLst/>
          </a:prstGeom>
          <a:noFill/>
        </p:spPr>
        <p:txBody>
          <a:bodyPr wrap="square" lIns="0" tIns="0" rIns="0" bIns="0" anchor="t">
            <a:spAutoFit/>
          </a:bodyPr>
          <a:lstStyle/>
          <a:p>
            <a:pPr algn="l">
              <a:lnSpc>
                <a:spcPct val="110000"/>
              </a:lnSpc>
              <a:spcAft>
                <a:spcPts val="600"/>
              </a:spcAft>
            </a:pPr>
            <a:r>
              <a:rPr sz="1500" b="0" i="0">
                <a:solidFill>
                  <a:srgbClr val="1A1A1A"/>
                </a:solidFill>
                <a:latin typeface="Arial"/>
              </a:rPr>
              <a:t>This week's theme: code that stays correct when things go wrong. Many test-automation operations follow the same three-part pattern:</a:t>
            </a:r>
          </a:p>
        </p:txBody>
      </p:sp>
      <p:sp>
        <p:nvSpPr>
          <p:cNvPr id="5" name="Oval 4"/>
          <p:cNvSpPr/>
          <p:nvPr/>
        </p:nvSpPr>
        <p:spPr>
          <a:xfrm>
            <a:off x="609904" y="24688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6" name="TextBox 5"/>
          <p:cNvSpPr txBox="1"/>
          <p:nvPr/>
        </p:nvSpPr>
        <p:spPr>
          <a:xfrm>
            <a:off x="1158544" y="2505456"/>
            <a:ext cx="5486400" cy="720407"/>
          </a:xfrm>
          <a:prstGeom prst="rect">
            <a:avLst/>
          </a:prstGeom>
          <a:noFill/>
        </p:spPr>
        <p:txBody>
          <a:bodyPr wrap="square" lIns="0" tIns="0" rIns="0" bIns="0" anchor="t">
            <a:spAutoFit/>
          </a:bodyPr>
          <a:lstStyle/>
          <a:p>
            <a:pPr algn="l">
              <a:lnSpc>
                <a:spcPct val="110000"/>
              </a:lnSpc>
              <a:spcAft>
                <a:spcPts val="200"/>
              </a:spcAft>
            </a:pPr>
            <a:r>
              <a:rPr sz="1450" b="1" i="0">
                <a:solidFill>
                  <a:srgbClr val="330066"/>
                </a:solidFill>
                <a:latin typeface="Arial"/>
              </a:rPr>
              <a:t>Set up</a:t>
            </a:r>
          </a:p>
          <a:p>
            <a:pPr algn="l">
              <a:lnSpc>
                <a:spcPct val="110000"/>
              </a:lnSpc>
              <a:spcAft>
                <a:spcPts val="600"/>
              </a:spcAft>
            </a:pPr>
            <a:r>
              <a:rPr sz="1400" b="0" i="0">
                <a:solidFill>
                  <a:srgbClr val="1A1A1A"/>
                </a:solidFill>
                <a:latin typeface="Arial"/>
              </a:rPr>
              <a:t>Open a file, connect to a database, start a mock server, create temporary test data, start a timer.</a:t>
            </a:r>
          </a:p>
        </p:txBody>
      </p:sp>
      <p:sp>
        <p:nvSpPr>
          <p:cNvPr id="7" name="Oval 6"/>
          <p:cNvSpPr/>
          <p:nvPr/>
        </p:nvSpPr>
        <p:spPr>
          <a:xfrm>
            <a:off x="609904" y="3326447"/>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8" name="TextBox 7"/>
          <p:cNvSpPr txBox="1"/>
          <p:nvPr/>
        </p:nvSpPr>
        <p:spPr>
          <a:xfrm>
            <a:off x="1158544" y="3363023"/>
            <a:ext cx="5486400" cy="498157"/>
          </a:xfrm>
          <a:prstGeom prst="rect">
            <a:avLst/>
          </a:prstGeom>
          <a:noFill/>
        </p:spPr>
        <p:txBody>
          <a:bodyPr wrap="square" lIns="0" tIns="0" rIns="0" bIns="0" anchor="t">
            <a:spAutoFit/>
          </a:bodyPr>
          <a:lstStyle/>
          <a:p>
            <a:pPr algn="l">
              <a:lnSpc>
                <a:spcPct val="110000"/>
              </a:lnSpc>
              <a:spcAft>
                <a:spcPts val="200"/>
              </a:spcAft>
            </a:pPr>
            <a:r>
              <a:rPr sz="1450" b="1" i="0">
                <a:solidFill>
                  <a:srgbClr val="330066"/>
                </a:solidFill>
                <a:latin typeface="Arial"/>
              </a:rPr>
              <a:t>Use</a:t>
            </a:r>
          </a:p>
          <a:p>
            <a:pPr algn="l">
              <a:lnSpc>
                <a:spcPct val="110000"/>
              </a:lnSpc>
              <a:spcAft>
                <a:spcPts val="600"/>
              </a:spcAft>
            </a:pPr>
            <a:r>
              <a:rPr sz="1400" b="0" i="0">
                <a:solidFill>
                  <a:srgbClr val="1A1A1A"/>
                </a:solidFill>
                <a:latin typeface="Arial"/>
              </a:rPr>
              <a:t>Do the actual work, which might fail.</a:t>
            </a:r>
          </a:p>
        </p:txBody>
      </p:sp>
      <p:sp>
        <p:nvSpPr>
          <p:cNvPr id="9" name="Oval 8"/>
          <p:cNvSpPr/>
          <p:nvPr/>
        </p:nvSpPr>
        <p:spPr>
          <a:xfrm>
            <a:off x="609904" y="3961765"/>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10" name="TextBox 9"/>
          <p:cNvSpPr txBox="1"/>
          <p:nvPr/>
        </p:nvSpPr>
        <p:spPr>
          <a:xfrm>
            <a:off x="1158544" y="3998341"/>
            <a:ext cx="5486400" cy="720407"/>
          </a:xfrm>
          <a:prstGeom prst="rect">
            <a:avLst/>
          </a:prstGeom>
          <a:noFill/>
        </p:spPr>
        <p:txBody>
          <a:bodyPr wrap="square" lIns="0" tIns="0" rIns="0" bIns="0" anchor="t">
            <a:spAutoFit/>
          </a:bodyPr>
          <a:lstStyle/>
          <a:p>
            <a:pPr algn="l">
              <a:lnSpc>
                <a:spcPct val="110000"/>
              </a:lnSpc>
              <a:spcAft>
                <a:spcPts val="200"/>
              </a:spcAft>
            </a:pPr>
            <a:r>
              <a:rPr sz="1450" b="1" i="0">
                <a:solidFill>
                  <a:srgbClr val="330066"/>
                </a:solidFill>
                <a:latin typeface="Arial"/>
              </a:rPr>
              <a:t>Tear down</a:t>
            </a:r>
          </a:p>
          <a:p>
            <a:pPr algn="l">
              <a:lnSpc>
                <a:spcPct val="110000"/>
              </a:lnSpc>
              <a:spcAft>
                <a:spcPts val="600"/>
              </a:spcAft>
            </a:pPr>
            <a:r>
              <a:rPr sz="1400" b="0" i="0">
                <a:solidFill>
                  <a:srgbClr val="1A1A1A"/>
                </a:solidFill>
                <a:latin typeface="Arial"/>
              </a:rPr>
              <a:t>Close, disconnect, stop, delete, record the time, no matter what happened in step 2.</a:t>
            </a:r>
          </a:p>
        </p:txBody>
      </p:sp>
      <p:sp>
        <p:nvSpPr>
          <p:cNvPr id="11" name="Rounded Rectangle 10"/>
          <p:cNvSpPr/>
          <p:nvPr/>
        </p:nvSpPr>
        <p:spPr>
          <a:xfrm>
            <a:off x="7010704" y="2468880"/>
            <a:ext cx="4571085" cy="2651760"/>
          </a:xfrm>
          <a:prstGeom prst="roundRect">
            <a:avLst>
              <a:gd name="adj" fmla="val 3103"/>
            </a:avLst>
          </a:prstGeom>
          <a:solidFill>
            <a:srgbClr val="FBEDEB"/>
          </a:solidFill>
          <a:ln w="12700">
            <a:solidFill>
              <a:srgbClr val="FBE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239304" y="2606040"/>
            <a:ext cx="4113885" cy="2377440"/>
          </a:xfrm>
          <a:prstGeom prst="rect">
            <a:avLst/>
          </a:prstGeom>
          <a:noFill/>
        </p:spPr>
        <p:txBody>
          <a:bodyPr wrap="square" lIns="0" tIns="0" rIns="0" bIns="0" anchor="t">
            <a:spAutoFit/>
          </a:bodyPr>
          <a:lstStyle/>
          <a:p>
            <a:pPr algn="l">
              <a:lnSpc>
                <a:spcPct val="110000"/>
              </a:lnSpc>
              <a:spcAft>
                <a:spcPts val="300"/>
              </a:spcAft>
            </a:pPr>
            <a:r>
              <a:rPr sz="1100" b="1" i="0" dirty="0">
                <a:solidFill>
                  <a:srgbClr val="5C8A8A"/>
                </a:solidFill>
                <a:latin typeface="Arial"/>
              </a:rPr>
              <a:t>LEAKS</a:t>
            </a:r>
          </a:p>
          <a:p>
            <a:pPr algn="l">
              <a:lnSpc>
                <a:spcPct val="110000"/>
              </a:lnSpc>
              <a:spcAft>
                <a:spcPts val="600"/>
              </a:spcAft>
            </a:pPr>
            <a:r>
              <a:rPr sz="1400" b="0" i="0" dirty="0">
                <a:solidFill>
                  <a:srgbClr val="1A1A1A"/>
                </a:solidFill>
                <a:latin typeface="Arial"/>
              </a:rPr>
              <a:t>Skip step 3 when step 2 fails and you leak resources: files stay open, temporary data pollutes the next run, a browser stays alive, an environment variable stays changed. The worst kind of test problem: flaky tests whose result depends on what ran before them.</a:t>
            </a:r>
          </a:p>
        </p:txBody>
      </p:sp>
      <p:sp>
        <p:nvSpPr>
          <p:cNvPr id="13" name="TextBox 12"/>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 / 49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The General Mechanism Behind with</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INTRODUCTION</a:t>
            </a:r>
          </a:p>
        </p:txBody>
      </p:sp>
      <p:sp>
        <p:nvSpPr>
          <p:cNvPr id="4" name="TextBox 3"/>
          <p:cNvSpPr txBox="1"/>
          <p:nvPr/>
        </p:nvSpPr>
        <p:spPr>
          <a:xfrm>
            <a:off x="609904" y="1783080"/>
            <a:ext cx="10971885" cy="457200"/>
          </a:xfrm>
          <a:prstGeom prst="rect">
            <a:avLst/>
          </a:prstGeom>
          <a:noFill/>
        </p:spPr>
        <p:txBody>
          <a:bodyPr wrap="square" lIns="0" tIns="0" rIns="0" bIns="0" anchor="t">
            <a:spAutoFit/>
          </a:bodyPr>
          <a:lstStyle/>
          <a:p>
            <a:pPr algn="l">
              <a:lnSpc>
                <a:spcPct val="110000"/>
              </a:lnSpc>
              <a:spcAft>
                <a:spcPts val="600"/>
              </a:spcAft>
            </a:pPr>
            <a:r>
              <a:rPr sz="1600" b="0" i="0">
                <a:solidFill>
                  <a:srgbClr val="1A1A1A"/>
                </a:solidFill>
                <a:latin typeface="Arial"/>
              </a:rPr>
              <a:t>You have already met two tools that help:</a:t>
            </a:r>
          </a:p>
        </p:txBody>
      </p:sp>
      <p:sp>
        <p:nvSpPr>
          <p:cNvPr id="5" name="Oval 4"/>
          <p:cNvSpPr/>
          <p:nvPr/>
        </p:nvSpPr>
        <p:spPr>
          <a:xfrm>
            <a:off x="609904" y="233172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6" name="TextBox 5"/>
          <p:cNvSpPr txBox="1"/>
          <p:nvPr/>
        </p:nvSpPr>
        <p:spPr>
          <a:xfrm>
            <a:off x="1158544" y="2368296"/>
            <a:ext cx="10423245" cy="529907"/>
          </a:xfrm>
          <a:prstGeom prst="rect">
            <a:avLst/>
          </a:prstGeom>
          <a:noFill/>
        </p:spPr>
        <p:txBody>
          <a:bodyPr wrap="square" lIns="0" tIns="0" rIns="0" bIns="0" anchor="t">
            <a:spAutoFit/>
          </a:bodyPr>
          <a:lstStyle/>
          <a:p>
            <a:pPr algn="l">
              <a:lnSpc>
                <a:spcPct val="110000"/>
              </a:lnSpc>
              <a:spcAft>
                <a:spcPts val="200"/>
              </a:spcAft>
            </a:pPr>
            <a:r>
              <a:rPr sz="1500" b="1" i="0">
                <a:solidFill>
                  <a:srgbClr val="330066"/>
                </a:solidFill>
                <a:latin typeface="Courier New"/>
              </a:rPr>
              <a:t>try</a:t>
            </a:r>
            <a:r>
              <a:rPr sz="1550" b="1" i="0">
                <a:solidFill>
                  <a:srgbClr val="330066"/>
                </a:solidFill>
                <a:latin typeface="Arial"/>
              </a:rPr>
              <a:t>/</a:t>
            </a:r>
            <a:r>
              <a:rPr sz="1500" b="1" i="0">
                <a:solidFill>
                  <a:srgbClr val="330066"/>
                </a:solidFill>
                <a:latin typeface="Courier New"/>
              </a:rPr>
              <a:t>finally</a:t>
            </a:r>
          </a:p>
          <a:p>
            <a:pPr algn="l">
              <a:lnSpc>
                <a:spcPct val="110000"/>
              </a:lnSpc>
              <a:spcAft>
                <a:spcPts val="600"/>
              </a:spcAft>
            </a:pPr>
            <a:r>
              <a:rPr sz="1500" b="0" i="0">
                <a:solidFill>
                  <a:srgbClr val="1A1A1A"/>
                </a:solidFill>
                <a:latin typeface="Arial"/>
              </a:rPr>
              <a:t>Earlier today: guarantees cleanup.</a:t>
            </a:r>
          </a:p>
        </p:txBody>
      </p:sp>
      <p:sp>
        <p:nvSpPr>
          <p:cNvPr id="7" name="Oval 6"/>
          <p:cNvSpPr/>
          <p:nvPr/>
        </p:nvSpPr>
        <p:spPr>
          <a:xfrm>
            <a:off x="609904" y="3026219"/>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8" name="TextBox 7"/>
          <p:cNvSpPr txBox="1"/>
          <p:nvPr/>
        </p:nvSpPr>
        <p:spPr>
          <a:xfrm>
            <a:off x="1158544" y="3062795"/>
            <a:ext cx="10423245" cy="529907"/>
          </a:xfrm>
          <a:prstGeom prst="rect">
            <a:avLst/>
          </a:prstGeom>
          <a:noFill/>
        </p:spPr>
        <p:txBody>
          <a:bodyPr wrap="square" lIns="0" tIns="0" rIns="0" bIns="0" anchor="t">
            <a:spAutoFit/>
          </a:bodyPr>
          <a:lstStyle/>
          <a:p>
            <a:pPr algn="l">
              <a:lnSpc>
                <a:spcPct val="110000"/>
              </a:lnSpc>
              <a:spcAft>
                <a:spcPts val="200"/>
              </a:spcAft>
            </a:pPr>
            <a:r>
              <a:rPr sz="1500" b="1" i="0">
                <a:solidFill>
                  <a:srgbClr val="330066"/>
                </a:solidFill>
                <a:latin typeface="Courier New"/>
              </a:rPr>
              <a:t>with open(...) as f:</a:t>
            </a:r>
          </a:p>
          <a:p>
            <a:pPr algn="l">
              <a:lnSpc>
                <a:spcPct val="110000"/>
              </a:lnSpc>
              <a:spcAft>
                <a:spcPts val="600"/>
              </a:spcAft>
            </a:pPr>
            <a:r>
              <a:rPr sz="1500" b="0" i="0">
                <a:solidFill>
                  <a:srgbClr val="1A1A1A"/>
                </a:solidFill>
                <a:latin typeface="Arial"/>
              </a:rPr>
              <a:t>The file-handling lesson: closes files automatically.</a:t>
            </a:r>
          </a:p>
        </p:txBody>
      </p:sp>
      <p:sp>
        <p:nvSpPr>
          <p:cNvPr id="9" name="TextBox 8"/>
          <p:cNvSpPr txBox="1"/>
          <p:nvPr/>
        </p:nvSpPr>
        <p:spPr>
          <a:xfrm>
            <a:off x="609904" y="3794760"/>
            <a:ext cx="10971885" cy="1188720"/>
          </a:xfrm>
          <a:prstGeom prst="rect">
            <a:avLst/>
          </a:prstGeom>
          <a:noFill/>
        </p:spPr>
        <p:txBody>
          <a:bodyPr wrap="square" lIns="0" tIns="0" rIns="0" bIns="0" anchor="t">
            <a:spAutoFit/>
          </a:bodyPr>
          <a:lstStyle/>
          <a:p>
            <a:pPr algn="l">
              <a:lnSpc>
                <a:spcPct val="110000"/>
              </a:lnSpc>
              <a:spcAft>
                <a:spcPts val="600"/>
              </a:spcAft>
            </a:pPr>
            <a:r>
              <a:rPr sz="1600" b="0" i="0">
                <a:solidFill>
                  <a:srgbClr val="1A1A1A"/>
                </a:solidFill>
                <a:latin typeface="Arial"/>
              </a:rPr>
              <a:t>A context manager is the general mechanism behind </a:t>
            </a:r>
            <a:r>
              <a:rPr sz="1550" b="0" i="0">
                <a:solidFill>
                  <a:srgbClr val="330066"/>
                </a:solidFill>
                <a:latin typeface="Courier New"/>
              </a:rPr>
              <a:t>with</a:t>
            </a:r>
            <a:r>
              <a:rPr sz="1600" b="0" i="0">
                <a:solidFill>
                  <a:srgbClr val="1A1A1A"/>
                </a:solidFill>
                <a:latin typeface="Arial"/>
              </a:rPr>
              <a:t>. Once you understand it, you can make anything clean up after itself. Test frameworks use exactly this idea to manage test setup and teardown, and you will see it throughout professional Python code.</a:t>
            </a:r>
          </a:p>
        </p:txBody>
      </p:sp>
      <p:sp>
        <p:nvSpPr>
          <p:cNvPr id="10" name="TextBox 9"/>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 / 49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The Concept</a:t>
            </a:r>
          </a:p>
        </p:txBody>
      </p:sp>
      <p:sp>
        <p:nvSpPr>
          <p:cNvPr id="3" name="Text Placeholder 2"/>
          <p:cNvSpPr>
            <a:spLocks noGrp="1"/>
          </p:cNvSpPr>
          <p:nvPr>
            <p:ph type="body" idx="1"/>
          </p:nvPr>
        </p:nvSpPr>
        <p:spPr/>
        <p:txBody>
          <a:bodyPr/>
          <a:lstStyle/>
          <a:p>
            <a:r>
              <a:rPr sz="1800">
                <a:solidFill>
                  <a:srgbClr val="5A5A5A"/>
                </a:solidFill>
              </a:rPr>
              <a:t>with, __enter__ / __exit__, @contextmanager, ready-made managers</a:t>
            </a:r>
          </a:p>
        </p:txBody>
      </p:sp>
      <p:sp>
        <p:nvSpPr>
          <p:cNvPr id="4" name="TextBox 3"/>
          <p:cNvSpPr txBox="1"/>
          <p:nvPr/>
        </p:nvSpPr>
        <p:spPr>
          <a:xfrm>
            <a:off x="832104" y="1600200"/>
            <a:ext cx="3657600" cy="1097280"/>
          </a:xfrm>
          <a:prstGeom prst="rect">
            <a:avLst/>
          </a:prstGeom>
          <a:noFill/>
        </p:spPr>
        <p:txBody>
          <a:bodyPr wrap="square" lIns="0" tIns="0" rIns="0" bIns="0" anchor="t">
            <a:spAutoFit/>
          </a:bodyPr>
          <a:lstStyle/>
          <a:p>
            <a:pPr algn="l">
              <a:lnSpc>
                <a:spcPct val="110000"/>
              </a:lnSpc>
              <a:spcAft>
                <a:spcPts val="600"/>
              </a:spcAft>
            </a:pPr>
            <a:r>
              <a:rPr sz="6600" b="1" i="0">
                <a:solidFill>
                  <a:srgbClr val="669999"/>
                </a:solidFill>
                <a:latin typeface="Arial"/>
              </a:rPr>
              <a:t>01</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6 / 49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The Problem: Cleanup Is Easy to Forget</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TextBox 3"/>
          <p:cNvSpPr txBox="1"/>
          <p:nvPr/>
        </p:nvSpPr>
        <p:spPr>
          <a:xfrm>
            <a:off x="609904" y="1783080"/>
            <a:ext cx="10971885"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Recall file handling without with</a:t>
            </a:r>
          </a:p>
        </p:txBody>
      </p:sp>
      <p:sp>
        <p:nvSpPr>
          <p:cNvPr id="5" name="Rounded Rectangle 4"/>
          <p:cNvSpPr/>
          <p:nvPr/>
        </p:nvSpPr>
        <p:spPr>
          <a:xfrm>
            <a:off x="609904" y="2057400"/>
            <a:ext cx="10971885" cy="1085087"/>
          </a:xfrm>
          <a:prstGeom prst="roundRect">
            <a:avLst>
              <a:gd name="adj" fmla="val 674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10569549" cy="792479"/>
          </a:xfrm>
          <a:prstGeom prst="rect">
            <a:avLst/>
          </a:prstGeom>
          <a:noFill/>
        </p:spPr>
        <p:txBody>
          <a:bodyPr wrap="square" lIns="0" tIns="0" rIns="0" bIns="0">
            <a:spAutoFit/>
          </a:bodyPr>
          <a:lstStyle/>
          <a:p>
            <a:pPr algn="l">
              <a:lnSpc>
                <a:spcPct val="100000"/>
              </a:lnSpc>
            </a:pPr>
            <a:r>
              <a:rPr sz="1300">
                <a:solidFill>
                  <a:srgbClr val="1A1A1A"/>
                </a:solidFill>
                <a:latin typeface="Courier New"/>
              </a:rPr>
              <a:t>f = open("data.txt", "w", encoding="utf-8")</a:t>
            </a:r>
          </a:p>
          <a:p>
            <a:pPr algn="l">
              <a:lnSpc>
                <a:spcPct val="100000"/>
              </a:lnSpc>
            </a:pPr>
            <a:r>
              <a:rPr sz="1300">
                <a:solidFill>
                  <a:srgbClr val="1A1A1A"/>
                </a:solidFill>
                <a:latin typeface="Courier New"/>
              </a:rPr>
              <a:t>f.write("important results\n")</a:t>
            </a:r>
          </a:p>
          <a:p>
            <a:pPr algn="l">
              <a:lnSpc>
                <a:spcPct val="100000"/>
              </a:lnSpc>
            </a:pPr>
            <a:r>
              <a:rPr sz="1300">
                <a:solidFill>
                  <a:srgbClr val="5C8A8A"/>
                </a:solidFill>
                <a:latin typeface="Courier New"/>
              </a:rPr>
              <a:t># ... imagine 30 lines of code here, and an exception occurs ...</a:t>
            </a:r>
          </a:p>
          <a:p>
            <a:pPr algn="l">
              <a:lnSpc>
                <a:spcPct val="100000"/>
              </a:lnSpc>
            </a:pPr>
            <a:r>
              <a:rPr sz="1300">
                <a:solidFill>
                  <a:srgbClr val="1A1A1A"/>
                </a:solidFill>
                <a:latin typeface="Courier New"/>
              </a:rPr>
              <a:t>f.close()          # never reached if an exception happens above</a:t>
            </a:r>
          </a:p>
        </p:txBody>
      </p:sp>
      <p:sp>
        <p:nvSpPr>
          <p:cNvPr id="7" name="TextBox 6"/>
          <p:cNvSpPr txBox="1"/>
          <p:nvPr/>
        </p:nvSpPr>
        <p:spPr>
          <a:xfrm>
            <a:off x="609904" y="3325368"/>
            <a:ext cx="10971885"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Fixed with try/finally</a:t>
            </a:r>
          </a:p>
        </p:txBody>
      </p:sp>
      <p:sp>
        <p:nvSpPr>
          <p:cNvPr id="8" name="Rounded Rectangle 7"/>
          <p:cNvSpPr/>
          <p:nvPr/>
        </p:nvSpPr>
        <p:spPr>
          <a:xfrm>
            <a:off x="609904" y="3599688"/>
            <a:ext cx="10971885" cy="1283208"/>
          </a:xfrm>
          <a:prstGeom prst="roundRect">
            <a:avLst>
              <a:gd name="adj" fmla="val 5700"/>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3745992"/>
            <a:ext cx="10569549" cy="990599"/>
          </a:xfrm>
          <a:prstGeom prst="rect">
            <a:avLst/>
          </a:prstGeom>
          <a:noFill/>
        </p:spPr>
        <p:txBody>
          <a:bodyPr wrap="square" lIns="0" tIns="0" rIns="0" bIns="0">
            <a:spAutoFit/>
          </a:bodyPr>
          <a:lstStyle/>
          <a:p>
            <a:pPr algn="l">
              <a:lnSpc>
                <a:spcPct val="100000"/>
              </a:lnSpc>
            </a:pPr>
            <a:r>
              <a:rPr sz="1300">
                <a:solidFill>
                  <a:srgbClr val="1A1A1A"/>
                </a:solidFill>
                <a:latin typeface="Courier New"/>
              </a:rPr>
              <a:t>f = open("data.txt", "w", encoding="utf-8")</a:t>
            </a:r>
          </a:p>
          <a:p>
            <a:pPr algn="l">
              <a:lnSpc>
                <a:spcPct val="100000"/>
              </a:lnSpc>
            </a:pPr>
            <a:r>
              <a:rPr sz="1300">
                <a:solidFill>
                  <a:srgbClr val="1A1A1A"/>
                </a:solidFill>
                <a:latin typeface="Courier New"/>
              </a:rPr>
              <a:t>try:</a:t>
            </a:r>
          </a:p>
          <a:p>
            <a:pPr algn="l">
              <a:lnSpc>
                <a:spcPct val="100000"/>
              </a:lnSpc>
            </a:pPr>
            <a:r>
              <a:rPr sz="1300">
                <a:solidFill>
                  <a:srgbClr val="1A1A1A"/>
                </a:solidFill>
                <a:latin typeface="Courier New"/>
              </a:rPr>
              <a:t>    f.write("important results\n")</a:t>
            </a:r>
          </a:p>
          <a:p>
            <a:pPr algn="l">
              <a:lnSpc>
                <a:spcPct val="100000"/>
              </a:lnSpc>
            </a:pPr>
            <a:r>
              <a:rPr sz="1300">
                <a:solidFill>
                  <a:srgbClr val="1A1A1A"/>
                </a:solidFill>
                <a:latin typeface="Courier New"/>
              </a:rPr>
              <a:t>finally:</a:t>
            </a:r>
          </a:p>
          <a:p>
            <a:pPr algn="l">
              <a:lnSpc>
                <a:spcPct val="100000"/>
              </a:lnSpc>
            </a:pPr>
            <a:r>
              <a:rPr sz="1300">
                <a:solidFill>
                  <a:srgbClr val="1A1A1A"/>
                </a:solidFill>
                <a:latin typeface="Courier New"/>
              </a:rPr>
              <a:t>    f.close()</a:t>
            </a:r>
          </a:p>
        </p:txBody>
      </p:sp>
      <p:sp>
        <p:nvSpPr>
          <p:cNvPr id="10" name="TextBox 9"/>
          <p:cNvSpPr txBox="1"/>
          <p:nvPr/>
        </p:nvSpPr>
        <p:spPr>
          <a:xfrm>
            <a:off x="609904" y="5230368"/>
            <a:ext cx="10971885" cy="914400"/>
          </a:xfrm>
          <a:prstGeom prst="rect">
            <a:avLst/>
          </a:prstGeom>
          <a:noFill/>
        </p:spPr>
        <p:txBody>
          <a:bodyPr wrap="square" lIns="0" tIns="0" rIns="0" bIns="0" anchor="t">
            <a:spAutoFit/>
          </a:bodyPr>
          <a:lstStyle/>
          <a:p>
            <a:pPr algn="l">
              <a:lnSpc>
                <a:spcPct val="110000"/>
              </a:lnSpc>
              <a:spcAft>
                <a:spcPts val="600"/>
              </a:spcAft>
            </a:pPr>
            <a:r>
              <a:rPr sz="1600" b="0" i="0">
                <a:solidFill>
                  <a:srgbClr val="1A1A1A"/>
                </a:solidFill>
                <a:latin typeface="Arial"/>
              </a:rPr>
              <a:t>Correct, but it must be written every single time, and it is easy to forget or get wrong. Programmers want to package "setup + cleanup" once and reuse it. That is precisely what a context manager is.</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7 / 49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The with Statement</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a:t>
            </a:r>
          </a:p>
        </p:txBody>
      </p:sp>
      <p:sp>
        <p:nvSpPr>
          <p:cNvPr id="4" name="TextBox 3"/>
          <p:cNvSpPr txBox="1"/>
          <p:nvPr/>
        </p:nvSpPr>
        <p:spPr>
          <a:xfrm>
            <a:off x="609904" y="1783080"/>
            <a:ext cx="58521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Example</a:t>
            </a:r>
          </a:p>
        </p:txBody>
      </p:sp>
      <p:sp>
        <p:nvSpPr>
          <p:cNvPr id="5" name="Rounded Rectangle 4"/>
          <p:cNvSpPr/>
          <p:nvPr/>
        </p:nvSpPr>
        <p:spPr>
          <a:xfrm>
            <a:off x="609904" y="2057400"/>
            <a:ext cx="5852160" cy="719328"/>
          </a:xfrm>
          <a:prstGeom prst="roundRect">
            <a:avLst>
              <a:gd name="adj" fmla="val 10169"/>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5449824" cy="426719"/>
          </a:xfrm>
          <a:prstGeom prst="rect">
            <a:avLst/>
          </a:prstGeom>
          <a:noFill/>
        </p:spPr>
        <p:txBody>
          <a:bodyPr wrap="square" lIns="0" tIns="0" rIns="0" bIns="0">
            <a:spAutoFit/>
          </a:bodyPr>
          <a:lstStyle/>
          <a:p>
            <a:pPr algn="l">
              <a:lnSpc>
                <a:spcPct val="100000"/>
              </a:lnSpc>
            </a:pPr>
            <a:r>
              <a:rPr sz="1400">
                <a:solidFill>
                  <a:srgbClr val="1A1A1A"/>
                </a:solidFill>
                <a:latin typeface="Courier New"/>
              </a:rPr>
              <a:t>with open("data.txt", "w", encoding="utf-8") as f:</a:t>
            </a:r>
          </a:p>
          <a:p>
            <a:pPr algn="l">
              <a:lnSpc>
                <a:spcPct val="100000"/>
              </a:lnSpc>
            </a:pPr>
            <a:r>
              <a:rPr sz="1400">
                <a:solidFill>
                  <a:srgbClr val="1A1A1A"/>
                </a:solidFill>
                <a:latin typeface="Courier New"/>
              </a:rPr>
              <a:t>    f.write("important results\n")</a:t>
            </a:r>
          </a:p>
        </p:txBody>
      </p:sp>
      <p:sp>
        <p:nvSpPr>
          <p:cNvPr id="7" name="TextBox 6"/>
          <p:cNvSpPr txBox="1"/>
          <p:nvPr/>
        </p:nvSpPr>
        <p:spPr>
          <a:xfrm>
            <a:off x="609904" y="2959607"/>
            <a:ext cx="58521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Syntax</a:t>
            </a:r>
          </a:p>
        </p:txBody>
      </p:sp>
      <p:sp>
        <p:nvSpPr>
          <p:cNvPr id="8" name="Rounded Rectangle 7"/>
          <p:cNvSpPr/>
          <p:nvPr/>
        </p:nvSpPr>
        <p:spPr>
          <a:xfrm>
            <a:off x="609904" y="3233927"/>
            <a:ext cx="5852160" cy="749808"/>
          </a:xfrm>
          <a:prstGeom prst="roundRect">
            <a:avLst>
              <a:gd name="adj" fmla="val 9756"/>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3380231"/>
            <a:ext cx="5449824" cy="457200"/>
          </a:xfrm>
          <a:prstGeom prst="rect">
            <a:avLst/>
          </a:prstGeom>
          <a:noFill/>
        </p:spPr>
        <p:txBody>
          <a:bodyPr wrap="square" lIns="0" tIns="0" rIns="0" bIns="0">
            <a:spAutoFit/>
          </a:bodyPr>
          <a:lstStyle/>
          <a:p>
            <a:pPr algn="l">
              <a:lnSpc>
                <a:spcPct val="100000"/>
              </a:lnSpc>
            </a:pPr>
            <a:r>
              <a:rPr sz="1500">
                <a:solidFill>
                  <a:srgbClr val="1A1A1A"/>
                </a:solidFill>
                <a:latin typeface="Courier New"/>
              </a:rPr>
              <a:t>with  &lt;expression&gt;  as  &lt;name&gt;:</a:t>
            </a:r>
          </a:p>
          <a:p>
            <a:pPr algn="l">
              <a:lnSpc>
                <a:spcPct val="100000"/>
              </a:lnSpc>
            </a:pPr>
            <a:r>
              <a:rPr sz="1500">
                <a:solidFill>
                  <a:srgbClr val="1A1A1A"/>
                </a:solidFill>
                <a:latin typeface="Courier New"/>
              </a:rPr>
              <a:t>    &lt;indented block&gt;</a:t>
            </a:r>
          </a:p>
        </p:txBody>
      </p:sp>
      <p:sp>
        <p:nvSpPr>
          <p:cNvPr id="10" name="TextBox 9"/>
          <p:cNvSpPr txBox="1"/>
          <p:nvPr/>
        </p:nvSpPr>
        <p:spPr>
          <a:xfrm>
            <a:off x="6827824" y="1783080"/>
            <a:ext cx="4753965" cy="4361688"/>
          </a:xfrm>
          <a:prstGeom prst="rect">
            <a:avLst/>
          </a:prstGeom>
          <a:noFill/>
        </p:spPr>
        <p:txBody>
          <a:bodyPr wrap="square" lIns="0" tIns="0" rIns="0" bIns="0">
            <a:spAutoFit/>
          </a:bodyPr>
          <a:lstStyle/>
          <a:p>
            <a:pPr marL="228600" indent="-228600" algn="l">
              <a:spcAft>
                <a:spcPts val="800"/>
              </a:spcAft>
              <a:buFont typeface="Arial"/>
              <a:buChar char="•"/>
            </a:pPr>
            <a:r>
              <a:rPr sz="1400" b="0" i="0">
                <a:solidFill>
                  <a:srgbClr val="330066"/>
                </a:solidFill>
                <a:latin typeface="Courier New"/>
              </a:rPr>
              <a:t>&lt;expression&gt;</a:t>
            </a:r>
            <a:r>
              <a:rPr sz="1450" b="0" i="0">
                <a:solidFill>
                  <a:srgbClr val="1A1A1A"/>
                </a:solidFill>
                <a:latin typeface="Arial"/>
              </a:rPr>
              <a:t> produces a context manager object (here, the file object returned by </a:t>
            </a:r>
            <a:r>
              <a:rPr sz="1400" b="0" i="0">
                <a:solidFill>
                  <a:srgbClr val="330066"/>
                </a:solidFill>
                <a:latin typeface="Courier New"/>
              </a:rPr>
              <a:t>open</a:t>
            </a:r>
            <a:r>
              <a:rPr sz="1450" b="0" i="0">
                <a:solidFill>
                  <a:srgbClr val="1A1A1A"/>
                </a:solidFill>
                <a:latin typeface="Arial"/>
              </a:rPr>
              <a:t>).</a:t>
            </a:r>
          </a:p>
          <a:p>
            <a:pPr marL="228600" indent="-228600" algn="l">
              <a:spcAft>
                <a:spcPts val="800"/>
              </a:spcAft>
              <a:buFont typeface="Arial"/>
              <a:buChar char="•"/>
            </a:pPr>
            <a:r>
              <a:rPr sz="1400" b="0" i="0">
                <a:solidFill>
                  <a:srgbClr val="330066"/>
                </a:solidFill>
                <a:latin typeface="Courier New"/>
              </a:rPr>
              <a:t>as &lt;name&gt;</a:t>
            </a:r>
            <a:r>
              <a:rPr sz="1450" b="0" i="0">
                <a:solidFill>
                  <a:srgbClr val="1A1A1A"/>
                </a:solidFill>
                <a:latin typeface="Arial"/>
              </a:rPr>
              <a:t> is optional; it binds the value produced when entering the context.</a:t>
            </a:r>
          </a:p>
          <a:p>
            <a:pPr marL="228600" indent="-228600" algn="l">
              <a:spcAft>
                <a:spcPts val="800"/>
              </a:spcAft>
              <a:buFont typeface="Arial"/>
              <a:buChar char="•"/>
            </a:pPr>
            <a:r>
              <a:rPr sz="1450" b="0" i="0">
                <a:solidFill>
                  <a:srgbClr val="1A1A1A"/>
                </a:solidFill>
                <a:latin typeface="Arial"/>
              </a:rPr>
              <a:t>The indented block is the "use" step.</a:t>
            </a:r>
          </a:p>
          <a:p>
            <a:pPr marL="228600" indent="-228600" algn="l">
              <a:spcAft>
                <a:spcPts val="800"/>
              </a:spcAft>
              <a:buFont typeface="Arial"/>
              <a:buChar char="•"/>
            </a:pPr>
            <a:r>
              <a:rPr sz="1450" b="0" i="0">
                <a:solidFill>
                  <a:srgbClr val="1A1A1A"/>
                </a:solidFill>
                <a:latin typeface="Arial"/>
              </a:rPr>
              <a:t>When the block finishes, in any way, cleanup happens automatically.</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8 / 49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Roughly What with Does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a:t>
            </a:r>
          </a:p>
        </p:txBody>
      </p:sp>
      <p:sp>
        <p:nvSpPr>
          <p:cNvPr id="4" name="TextBox 3"/>
          <p:cNvSpPr txBox="1"/>
          <p:nvPr/>
        </p:nvSpPr>
        <p:spPr>
          <a:xfrm>
            <a:off x="609904" y="1783080"/>
            <a:ext cx="10971885" cy="457200"/>
          </a:xfrm>
          <a:prstGeom prst="rect">
            <a:avLst/>
          </a:prstGeom>
          <a:noFill/>
        </p:spPr>
        <p:txBody>
          <a:bodyPr wrap="square" lIns="0" tIns="0" rIns="0" bIns="0" anchor="t">
            <a:spAutoFit/>
          </a:bodyPr>
          <a:lstStyle/>
          <a:p>
            <a:pPr algn="l">
              <a:lnSpc>
                <a:spcPct val="110000"/>
              </a:lnSpc>
              <a:spcAft>
                <a:spcPts val="600"/>
              </a:spcAft>
            </a:pPr>
            <a:r>
              <a:rPr sz="1500" b="0" i="0">
                <a:solidFill>
                  <a:srgbClr val="1A1A1A"/>
                </a:solidFill>
                <a:latin typeface="Arial"/>
              </a:rPr>
              <a:t>Roughly speaking, the </a:t>
            </a:r>
            <a:r>
              <a:rPr sz="1450" b="0" i="0">
                <a:solidFill>
                  <a:srgbClr val="330066"/>
                </a:solidFill>
                <a:latin typeface="Courier New"/>
              </a:rPr>
              <a:t>with</a:t>
            </a:r>
            <a:r>
              <a:rPr sz="1500" b="0" i="0">
                <a:solidFill>
                  <a:srgbClr val="1A1A1A"/>
                </a:solidFill>
                <a:latin typeface="Arial"/>
              </a:rPr>
              <a:t> statement above behaves like:</a:t>
            </a:r>
          </a:p>
        </p:txBody>
      </p:sp>
      <p:sp>
        <p:nvSpPr>
          <p:cNvPr id="5" name="Rounded Rectangle 4"/>
          <p:cNvSpPr/>
          <p:nvPr/>
        </p:nvSpPr>
        <p:spPr>
          <a:xfrm>
            <a:off x="609904" y="2267712"/>
            <a:ext cx="10971885" cy="1527048"/>
          </a:xfrm>
          <a:prstGeom prst="roundRect">
            <a:avLst>
              <a:gd name="adj" fmla="val 4790"/>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414016"/>
            <a:ext cx="10569549" cy="1234439"/>
          </a:xfrm>
          <a:prstGeom prst="rect">
            <a:avLst/>
          </a:prstGeom>
          <a:noFill/>
        </p:spPr>
        <p:txBody>
          <a:bodyPr wrap="square" lIns="0" tIns="0" rIns="0" bIns="0">
            <a:spAutoFit/>
          </a:bodyPr>
          <a:lstStyle/>
          <a:p>
            <a:pPr algn="l">
              <a:lnSpc>
                <a:spcPct val="100000"/>
              </a:lnSpc>
            </a:pPr>
            <a:r>
              <a:rPr sz="1350">
                <a:solidFill>
                  <a:srgbClr val="1A1A1A"/>
                </a:solidFill>
                <a:latin typeface="Courier New"/>
              </a:rPr>
              <a:t>manager = open("data.txt", "w", encoding="utf-8")</a:t>
            </a:r>
          </a:p>
          <a:p>
            <a:pPr algn="l">
              <a:lnSpc>
                <a:spcPct val="100000"/>
              </a:lnSpc>
            </a:pPr>
            <a:r>
              <a:rPr sz="1350">
                <a:solidFill>
                  <a:srgbClr val="1A1A1A"/>
                </a:solidFill>
                <a:latin typeface="Courier New"/>
              </a:rPr>
              <a:t>f = manager.__enter__()          # setup; the result is what 'as' receives</a:t>
            </a:r>
          </a:p>
          <a:p>
            <a:pPr algn="l">
              <a:lnSpc>
                <a:spcPct val="100000"/>
              </a:lnSpc>
            </a:pPr>
            <a:r>
              <a:rPr sz="1350">
                <a:solidFill>
                  <a:srgbClr val="1A1A1A"/>
                </a:solidFill>
                <a:latin typeface="Courier New"/>
              </a:rPr>
              <a:t>try:</a:t>
            </a:r>
          </a:p>
          <a:p>
            <a:pPr algn="l">
              <a:lnSpc>
                <a:spcPct val="100000"/>
              </a:lnSpc>
            </a:pPr>
            <a:r>
              <a:rPr sz="1350">
                <a:solidFill>
                  <a:srgbClr val="1A1A1A"/>
                </a:solidFill>
                <a:latin typeface="Courier New"/>
              </a:rPr>
              <a:t>    f.write("important results\n")</a:t>
            </a:r>
          </a:p>
          <a:p>
            <a:pPr algn="l">
              <a:lnSpc>
                <a:spcPct val="100000"/>
              </a:lnSpc>
            </a:pPr>
            <a:r>
              <a:rPr sz="1350">
                <a:solidFill>
                  <a:srgbClr val="1A1A1A"/>
                </a:solidFill>
                <a:latin typeface="Courier New"/>
              </a:rPr>
              <a:t>finally:</a:t>
            </a:r>
          </a:p>
          <a:p>
            <a:pPr algn="l">
              <a:lnSpc>
                <a:spcPct val="100000"/>
              </a:lnSpc>
            </a:pPr>
            <a:r>
              <a:rPr sz="1350">
                <a:solidFill>
                  <a:srgbClr val="1A1A1A"/>
                </a:solidFill>
                <a:latin typeface="Courier New"/>
              </a:rPr>
              <a:t>    manager.__exit__(None, None, None)   # cleanup (arguments describe any exception)</a:t>
            </a:r>
          </a:p>
        </p:txBody>
      </p:sp>
      <p:sp>
        <p:nvSpPr>
          <p:cNvPr id="7" name="Rounded Rectangle 6"/>
          <p:cNvSpPr/>
          <p:nvPr/>
        </p:nvSpPr>
        <p:spPr>
          <a:xfrm>
            <a:off x="609904" y="3931920"/>
            <a:ext cx="10971885" cy="1143000"/>
          </a:xfrm>
          <a:prstGeom prst="roundRect">
            <a:avLst>
              <a:gd name="adj" fmla="val 7199"/>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38504" y="4069080"/>
            <a:ext cx="10514685" cy="868680"/>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THE KEY INSIGHT</a:t>
            </a:r>
          </a:p>
          <a:p>
            <a:pPr algn="l">
              <a:lnSpc>
                <a:spcPct val="110000"/>
              </a:lnSpc>
              <a:spcAft>
                <a:spcPts val="600"/>
              </a:spcAft>
            </a:pPr>
            <a:r>
              <a:rPr sz="1400" b="0" i="0">
                <a:solidFill>
                  <a:srgbClr val="1A1A1A"/>
                </a:solidFill>
                <a:latin typeface="Arial"/>
              </a:rPr>
              <a:t>A context manager is any object with two special methods, </a:t>
            </a:r>
            <a:r>
              <a:rPr sz="1350" b="0" i="0">
                <a:solidFill>
                  <a:srgbClr val="330066"/>
                </a:solidFill>
                <a:latin typeface="Courier New"/>
              </a:rPr>
              <a:t>__enter__</a:t>
            </a:r>
            <a:r>
              <a:rPr sz="1400" b="0" i="0">
                <a:solidFill>
                  <a:srgbClr val="1A1A1A"/>
                </a:solidFill>
                <a:latin typeface="Arial"/>
              </a:rPr>
              <a:t> and </a:t>
            </a:r>
            <a:r>
              <a:rPr sz="1350" b="0" i="0">
                <a:solidFill>
                  <a:srgbClr val="330066"/>
                </a:solidFill>
                <a:latin typeface="Courier New"/>
              </a:rPr>
              <a:t>__exit__</a:t>
            </a:r>
            <a:r>
              <a:rPr sz="1400" b="0" i="0">
                <a:solidFill>
                  <a:srgbClr val="1A1A1A"/>
                </a:solidFill>
                <a:latin typeface="Arial"/>
              </a:rPr>
              <a:t>. Double-underscore ("dunder") methods are ones Python calls for you at specific moments. The real implementation is a little more precise about exceptions.</a:t>
            </a:r>
          </a:p>
        </p:txBody>
      </p:sp>
      <p:sp>
        <p:nvSpPr>
          <p:cNvPr id="9" name="TextBox 8"/>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9 / 49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What Happens, Step by Step</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3</a:t>
            </a:r>
          </a:p>
        </p:txBody>
      </p:sp>
      <p:sp>
        <p:nvSpPr>
          <p:cNvPr id="4" name="TextBox 3"/>
          <p:cNvSpPr txBox="1"/>
          <p:nvPr/>
        </p:nvSpPr>
        <p:spPr>
          <a:xfrm>
            <a:off x="609904" y="1783080"/>
            <a:ext cx="40233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Consider</a:t>
            </a:r>
          </a:p>
        </p:txBody>
      </p:sp>
      <p:sp>
        <p:nvSpPr>
          <p:cNvPr id="5" name="Rounded Rectangle 4"/>
          <p:cNvSpPr/>
          <p:nvPr/>
        </p:nvSpPr>
        <p:spPr>
          <a:xfrm>
            <a:off x="609904" y="2057400"/>
            <a:ext cx="4023360" cy="749808"/>
          </a:xfrm>
          <a:prstGeom prst="roundRect">
            <a:avLst>
              <a:gd name="adj" fmla="val 9756"/>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3621024" cy="457200"/>
          </a:xfrm>
          <a:prstGeom prst="rect">
            <a:avLst/>
          </a:prstGeom>
          <a:noFill/>
        </p:spPr>
        <p:txBody>
          <a:bodyPr wrap="square" lIns="0" tIns="0" rIns="0" bIns="0">
            <a:spAutoFit/>
          </a:bodyPr>
          <a:lstStyle/>
          <a:p>
            <a:pPr algn="l">
              <a:lnSpc>
                <a:spcPct val="100000"/>
              </a:lnSpc>
            </a:pPr>
            <a:r>
              <a:rPr sz="1500">
                <a:solidFill>
                  <a:srgbClr val="1A1A1A"/>
                </a:solidFill>
                <a:latin typeface="Courier New"/>
              </a:rPr>
              <a:t>with SomeManager() as value:</a:t>
            </a:r>
          </a:p>
          <a:p>
            <a:pPr algn="l">
              <a:lnSpc>
                <a:spcPct val="100000"/>
              </a:lnSpc>
            </a:pPr>
            <a:r>
              <a:rPr sz="1500">
                <a:solidFill>
                  <a:srgbClr val="1A1A1A"/>
                </a:solidFill>
                <a:latin typeface="Courier New"/>
              </a:rPr>
              <a:t>    do_work()</a:t>
            </a:r>
          </a:p>
        </p:txBody>
      </p:sp>
      <p:sp>
        <p:nvSpPr>
          <p:cNvPr id="7" name="Oval 6"/>
          <p:cNvSpPr/>
          <p:nvPr/>
        </p:nvSpPr>
        <p:spPr>
          <a:xfrm>
            <a:off x="499902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8" name="TextBox 7"/>
          <p:cNvSpPr txBox="1"/>
          <p:nvPr/>
        </p:nvSpPr>
        <p:spPr>
          <a:xfrm>
            <a:off x="5547664" y="1856231"/>
            <a:ext cx="6034125" cy="384048"/>
          </a:xfrm>
          <a:prstGeom prst="rect">
            <a:avLst/>
          </a:prstGeom>
          <a:noFill/>
        </p:spPr>
        <p:txBody>
          <a:bodyPr wrap="square" lIns="0" tIns="0" rIns="0" bIns="0" anchor="t">
            <a:spAutoFit/>
          </a:bodyPr>
          <a:lstStyle/>
          <a:p>
            <a:pPr algn="l">
              <a:lnSpc>
                <a:spcPct val="110000"/>
              </a:lnSpc>
              <a:spcAft>
                <a:spcPts val="600"/>
              </a:spcAft>
            </a:pPr>
            <a:r>
              <a:rPr sz="1300" b="0" i="0">
                <a:solidFill>
                  <a:srgbClr val="330066"/>
                </a:solidFill>
                <a:latin typeface="Courier New"/>
              </a:rPr>
              <a:t>SomeManager()</a:t>
            </a:r>
            <a:r>
              <a:rPr sz="1350" b="0" i="0">
                <a:solidFill>
                  <a:srgbClr val="1A1A1A"/>
                </a:solidFill>
                <a:latin typeface="Arial"/>
              </a:rPr>
              <a:t> is evaluated, creating the manager object.</a:t>
            </a:r>
          </a:p>
        </p:txBody>
      </p:sp>
      <p:sp>
        <p:nvSpPr>
          <p:cNvPr id="9" name="Oval 8"/>
          <p:cNvSpPr/>
          <p:nvPr/>
        </p:nvSpPr>
        <p:spPr>
          <a:xfrm>
            <a:off x="4999024" y="2295144"/>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10" name="TextBox 9"/>
          <p:cNvSpPr txBox="1"/>
          <p:nvPr/>
        </p:nvSpPr>
        <p:spPr>
          <a:xfrm>
            <a:off x="5547664" y="2368296"/>
            <a:ext cx="6034125" cy="474345"/>
          </a:xfrm>
          <a:prstGeom prst="rect">
            <a:avLst/>
          </a:prstGeom>
          <a:noFill/>
        </p:spPr>
        <p:txBody>
          <a:bodyPr wrap="square" lIns="0" tIns="0" rIns="0" bIns="0" anchor="t">
            <a:spAutoFit/>
          </a:bodyPr>
          <a:lstStyle/>
          <a:p>
            <a:pPr algn="l">
              <a:lnSpc>
                <a:spcPct val="110000"/>
              </a:lnSpc>
              <a:spcAft>
                <a:spcPts val="600"/>
              </a:spcAft>
            </a:pPr>
            <a:r>
              <a:rPr sz="1350" b="0" i="0">
                <a:solidFill>
                  <a:srgbClr val="1A1A1A"/>
                </a:solidFill>
                <a:latin typeface="Arial"/>
              </a:rPr>
              <a:t>Python calls </a:t>
            </a:r>
            <a:r>
              <a:rPr sz="1300" b="0" i="0">
                <a:solidFill>
                  <a:srgbClr val="330066"/>
                </a:solidFill>
                <a:latin typeface="Courier New"/>
              </a:rPr>
              <a:t>manager.__enter__()</a:t>
            </a:r>
            <a:r>
              <a:rPr sz="1350" b="0" i="0">
                <a:solidFill>
                  <a:srgbClr val="1A1A1A"/>
                </a:solidFill>
                <a:latin typeface="Arial"/>
              </a:rPr>
              <a:t>; whatever it returns is assigned to </a:t>
            </a:r>
            <a:r>
              <a:rPr sz="1300" b="0" i="0">
                <a:solidFill>
                  <a:srgbClr val="330066"/>
                </a:solidFill>
                <a:latin typeface="Courier New"/>
              </a:rPr>
              <a:t>value</a:t>
            </a:r>
            <a:r>
              <a:rPr sz="1350" b="0" i="0">
                <a:solidFill>
                  <a:srgbClr val="1A1A1A"/>
                </a:solidFill>
                <a:latin typeface="Arial"/>
              </a:rPr>
              <a:t>.</a:t>
            </a:r>
          </a:p>
        </p:txBody>
      </p:sp>
      <p:sp>
        <p:nvSpPr>
          <p:cNvPr id="11" name="Oval 10"/>
          <p:cNvSpPr/>
          <p:nvPr/>
        </p:nvSpPr>
        <p:spPr>
          <a:xfrm>
            <a:off x="4999024" y="2897504"/>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12" name="TextBox 11"/>
          <p:cNvSpPr txBox="1"/>
          <p:nvPr/>
        </p:nvSpPr>
        <p:spPr>
          <a:xfrm>
            <a:off x="5547664" y="2970657"/>
            <a:ext cx="6034125" cy="384048"/>
          </a:xfrm>
          <a:prstGeom prst="rect">
            <a:avLst/>
          </a:prstGeom>
          <a:noFill/>
        </p:spPr>
        <p:txBody>
          <a:bodyPr wrap="square" lIns="0" tIns="0" rIns="0" bIns="0" anchor="t">
            <a:spAutoFit/>
          </a:bodyPr>
          <a:lstStyle/>
          <a:p>
            <a:pPr algn="l">
              <a:lnSpc>
                <a:spcPct val="110000"/>
              </a:lnSpc>
              <a:spcAft>
                <a:spcPts val="600"/>
              </a:spcAft>
            </a:pPr>
            <a:r>
              <a:rPr sz="1350" b="0" i="0">
                <a:solidFill>
                  <a:srgbClr val="1A1A1A"/>
                </a:solidFill>
                <a:latin typeface="Arial"/>
              </a:rPr>
              <a:t>The block </a:t>
            </a:r>
            <a:r>
              <a:rPr sz="1300" b="0" i="0">
                <a:solidFill>
                  <a:srgbClr val="330066"/>
                </a:solidFill>
                <a:latin typeface="Courier New"/>
              </a:rPr>
              <a:t>do_work()</a:t>
            </a:r>
            <a:r>
              <a:rPr sz="1350" b="0" i="0">
                <a:solidFill>
                  <a:srgbClr val="1A1A1A"/>
                </a:solidFill>
                <a:latin typeface="Arial"/>
              </a:rPr>
              <a:t> runs.</a:t>
            </a:r>
          </a:p>
        </p:txBody>
      </p:sp>
      <p:sp>
        <p:nvSpPr>
          <p:cNvPr id="13" name="Oval 12"/>
          <p:cNvSpPr/>
          <p:nvPr/>
        </p:nvSpPr>
        <p:spPr>
          <a:xfrm>
            <a:off x="4999024" y="3409569"/>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4</a:t>
            </a:r>
          </a:p>
        </p:txBody>
      </p:sp>
      <p:sp>
        <p:nvSpPr>
          <p:cNvPr id="14" name="TextBox 13"/>
          <p:cNvSpPr txBox="1"/>
          <p:nvPr/>
        </p:nvSpPr>
        <p:spPr>
          <a:xfrm>
            <a:off x="5547664" y="3446145"/>
            <a:ext cx="6034125" cy="1125220"/>
          </a:xfrm>
          <a:prstGeom prst="rect">
            <a:avLst/>
          </a:prstGeom>
          <a:noFill/>
        </p:spPr>
        <p:txBody>
          <a:bodyPr wrap="square" lIns="0" tIns="0" rIns="0" bIns="0" anchor="t">
            <a:spAutoFit/>
          </a:bodyPr>
          <a:lstStyle/>
          <a:p>
            <a:pPr algn="l">
              <a:lnSpc>
                <a:spcPct val="110000"/>
              </a:lnSpc>
              <a:spcAft>
                <a:spcPts val="200"/>
              </a:spcAft>
            </a:pPr>
            <a:r>
              <a:rPr sz="1400" b="1" i="0">
                <a:solidFill>
                  <a:srgbClr val="330066"/>
                </a:solidFill>
                <a:latin typeface="Arial"/>
              </a:rPr>
              <a:t>Whatever happens next, </a:t>
            </a:r>
            <a:r>
              <a:rPr sz="1350" b="1" i="0">
                <a:solidFill>
                  <a:srgbClr val="330066"/>
                </a:solidFill>
                <a:latin typeface="Courier New"/>
              </a:rPr>
              <a:t>__exit__(...)</a:t>
            </a:r>
            <a:r>
              <a:rPr sz="1400" b="1" i="0">
                <a:solidFill>
                  <a:srgbClr val="330066"/>
                </a:solidFill>
                <a:latin typeface="Arial"/>
              </a:rPr>
              <a:t> is called</a:t>
            </a:r>
          </a:p>
          <a:p>
            <a:pPr algn="l">
              <a:lnSpc>
                <a:spcPct val="110000"/>
              </a:lnSpc>
              <a:spcAft>
                <a:spcPts val="600"/>
              </a:spcAft>
            </a:pPr>
            <a:r>
              <a:rPr sz="1350" b="0" i="0">
                <a:solidFill>
                  <a:srgbClr val="1A1A1A"/>
                </a:solidFill>
                <a:latin typeface="Arial"/>
              </a:rPr>
              <a:t>Normal finish: </a:t>
            </a:r>
            <a:r>
              <a:rPr sz="1300" b="0" i="0">
                <a:solidFill>
                  <a:srgbClr val="330066"/>
                </a:solidFill>
                <a:latin typeface="Courier New"/>
              </a:rPr>
              <a:t>__exit__(None, None, None)</a:t>
            </a:r>
            <a:r>
              <a:rPr sz="1350" b="0" i="0">
                <a:solidFill>
                  <a:srgbClr val="1A1A1A"/>
                </a:solidFill>
                <a:latin typeface="Arial"/>
              </a:rPr>
              <a:t>. Exception: </a:t>
            </a:r>
            <a:r>
              <a:rPr sz="1300" b="0" i="0">
                <a:solidFill>
                  <a:srgbClr val="330066"/>
                </a:solidFill>
                <a:latin typeface="Courier New"/>
              </a:rPr>
              <a:t>__exit__(exc_type, exc_value, traceback)</a:t>
            </a:r>
            <a:r>
              <a:rPr sz="1350" b="0" i="0">
                <a:solidFill>
                  <a:srgbClr val="1A1A1A"/>
                </a:solidFill>
                <a:latin typeface="Arial"/>
              </a:rPr>
              <a:t>; a true return suppresses it, false/</a:t>
            </a:r>
            <a:r>
              <a:rPr sz="1300" b="0" i="0">
                <a:solidFill>
                  <a:srgbClr val="330066"/>
                </a:solidFill>
                <a:latin typeface="Courier New"/>
              </a:rPr>
              <a:t>None</a:t>
            </a:r>
            <a:r>
              <a:rPr sz="1350" b="0" i="0">
                <a:solidFill>
                  <a:srgbClr val="1A1A1A"/>
                </a:solidFill>
                <a:latin typeface="Arial"/>
              </a:rPr>
              <a:t> lets it propagate after cleanup. </a:t>
            </a:r>
            <a:r>
              <a:rPr sz="1300" b="0" i="0">
                <a:solidFill>
                  <a:srgbClr val="330066"/>
                </a:solidFill>
                <a:latin typeface="Courier New"/>
              </a:rPr>
              <a:t>return</a:t>
            </a:r>
            <a:r>
              <a:rPr sz="1350" b="0" i="0">
                <a:solidFill>
                  <a:srgbClr val="1A1A1A"/>
                </a:solidFill>
                <a:latin typeface="Arial"/>
              </a:rPr>
              <a:t>, </a:t>
            </a:r>
            <a:r>
              <a:rPr sz="1300" b="0" i="0">
                <a:solidFill>
                  <a:srgbClr val="330066"/>
                </a:solidFill>
                <a:latin typeface="Courier New"/>
              </a:rPr>
              <a:t>break</a:t>
            </a:r>
            <a:r>
              <a:rPr sz="1350" b="0" i="0">
                <a:solidFill>
                  <a:srgbClr val="1A1A1A"/>
                </a:solidFill>
                <a:latin typeface="Arial"/>
              </a:rPr>
              <a:t> or </a:t>
            </a:r>
            <a:r>
              <a:rPr sz="1300" b="0" i="0">
                <a:solidFill>
                  <a:srgbClr val="330066"/>
                </a:solidFill>
                <a:latin typeface="Courier New"/>
              </a:rPr>
              <a:t>continue</a:t>
            </a:r>
            <a:r>
              <a:rPr sz="1350" b="0" i="0">
                <a:solidFill>
                  <a:srgbClr val="1A1A1A"/>
                </a:solidFill>
                <a:latin typeface="Arial"/>
              </a:rPr>
              <a:t>: still called.</a:t>
            </a:r>
          </a:p>
        </p:txBody>
      </p:sp>
      <p:sp>
        <p:nvSpPr>
          <p:cNvPr id="15" name="TextBox 1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10 / 49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A First Custom Manager: Announcer</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 · CLASS-BASED</a:t>
            </a:r>
          </a:p>
        </p:txBody>
      </p:sp>
      <p:sp>
        <p:nvSpPr>
          <p:cNvPr id="4" name="TextBox 3"/>
          <p:cNvSpPr txBox="1"/>
          <p:nvPr/>
        </p:nvSpPr>
        <p:spPr>
          <a:xfrm>
            <a:off x="609904" y="1737360"/>
            <a:ext cx="72237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A5A5A"/>
                </a:solidFill>
                <a:latin typeface="Arial"/>
              </a:rPr>
              <a:t>Announcer</a:t>
            </a:r>
          </a:p>
        </p:txBody>
      </p:sp>
      <p:sp>
        <p:nvSpPr>
          <p:cNvPr id="5" name="Rounded Rectangle 4"/>
          <p:cNvSpPr/>
          <p:nvPr/>
        </p:nvSpPr>
        <p:spPr>
          <a:xfrm>
            <a:off x="609904" y="2075688"/>
            <a:ext cx="7223760" cy="2731007"/>
          </a:xfrm>
          <a:prstGeom prst="roundRect">
            <a:avLst>
              <a:gd name="adj" fmla="val 2678"/>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21992"/>
            <a:ext cx="6821424" cy="2438400"/>
          </a:xfrm>
          <a:prstGeom prst="rect">
            <a:avLst/>
          </a:prstGeom>
          <a:noFill/>
        </p:spPr>
        <p:txBody>
          <a:bodyPr wrap="square" lIns="0" tIns="0" rIns="0" bIns="0">
            <a:spAutoFit/>
          </a:bodyPr>
          <a:lstStyle/>
          <a:p>
            <a:pPr algn="l">
              <a:lnSpc>
                <a:spcPct val="100000"/>
              </a:lnSpc>
            </a:pPr>
            <a:r>
              <a:rPr sz="1000">
                <a:solidFill>
                  <a:srgbClr val="1A1A1A"/>
                </a:solidFill>
                <a:latin typeface="Courier New"/>
              </a:rPr>
              <a:t>class Announcer:</a:t>
            </a:r>
          </a:p>
          <a:p>
            <a:pPr algn="l">
              <a:lnSpc>
                <a:spcPct val="100000"/>
              </a:lnSpc>
            </a:pPr>
            <a:r>
              <a:rPr sz="1000">
                <a:solidFill>
                  <a:srgbClr val="1A1A1A"/>
                </a:solidFill>
                <a:latin typeface="Courier New"/>
              </a:rPr>
              <a:t>    """A context manager that prints when it starts and stops."""</a:t>
            </a:r>
          </a:p>
          <a:p>
            <a:pPr algn="l">
              <a:lnSpc>
                <a:spcPct val="100000"/>
              </a:lnSpc>
            </a:pPr>
            <a:r>
              <a:rPr sz="1000">
                <a:solidFill>
                  <a:srgbClr val="1A1A1A"/>
                </a:solidFill>
                <a:latin typeface="Courier New"/>
              </a:rPr>
              <a:t> </a:t>
            </a:r>
          </a:p>
          <a:p>
            <a:pPr algn="l">
              <a:lnSpc>
                <a:spcPct val="100000"/>
              </a:lnSpc>
            </a:pPr>
            <a:r>
              <a:rPr sz="1000">
                <a:solidFill>
                  <a:srgbClr val="1A1A1A"/>
                </a:solidFill>
                <a:latin typeface="Courier New"/>
              </a:rPr>
              <a:t>    def __init__(self, name):</a:t>
            </a:r>
          </a:p>
          <a:p>
            <a:pPr algn="l">
              <a:lnSpc>
                <a:spcPct val="100000"/>
              </a:lnSpc>
            </a:pPr>
            <a:r>
              <a:rPr sz="1000">
                <a:solidFill>
                  <a:srgbClr val="1A1A1A"/>
                </a:solidFill>
                <a:latin typeface="Courier New"/>
              </a:rPr>
              <a:t>        self.name = name</a:t>
            </a:r>
          </a:p>
          <a:p>
            <a:pPr algn="l">
              <a:lnSpc>
                <a:spcPct val="100000"/>
              </a:lnSpc>
            </a:pPr>
            <a:r>
              <a:rPr sz="1000">
                <a:solidFill>
                  <a:srgbClr val="1A1A1A"/>
                </a:solidFill>
                <a:latin typeface="Courier New"/>
              </a:rPr>
              <a:t> </a:t>
            </a:r>
          </a:p>
          <a:p>
            <a:pPr algn="l">
              <a:lnSpc>
                <a:spcPct val="100000"/>
              </a:lnSpc>
            </a:pPr>
            <a:r>
              <a:rPr sz="1000">
                <a:solidFill>
                  <a:srgbClr val="1A1A1A"/>
                </a:solidFill>
                <a:latin typeface="Courier New"/>
              </a:rPr>
              <a:t>    def __enter__(self):</a:t>
            </a:r>
          </a:p>
          <a:p>
            <a:pPr algn="l">
              <a:lnSpc>
                <a:spcPct val="100000"/>
              </a:lnSpc>
            </a:pPr>
            <a:r>
              <a:rPr sz="1000">
                <a:solidFill>
                  <a:srgbClr val="1A1A1A"/>
                </a:solidFill>
                <a:latin typeface="Courier New"/>
              </a:rPr>
              <a:t>        print(f"[enter] {self.name} starting")</a:t>
            </a:r>
          </a:p>
          <a:p>
            <a:pPr algn="l">
              <a:lnSpc>
                <a:spcPct val="100000"/>
              </a:lnSpc>
            </a:pPr>
            <a:r>
              <a:rPr sz="1000">
                <a:solidFill>
                  <a:srgbClr val="1A1A1A"/>
                </a:solidFill>
                <a:latin typeface="Courier New"/>
              </a:rPr>
              <a:t>        return self                      # this becomes the 'as' variable</a:t>
            </a:r>
          </a:p>
          <a:p>
            <a:pPr algn="l">
              <a:lnSpc>
                <a:spcPct val="100000"/>
              </a:lnSpc>
            </a:pPr>
            <a:r>
              <a:rPr sz="1000">
                <a:solidFill>
                  <a:srgbClr val="1A1A1A"/>
                </a:solidFill>
                <a:latin typeface="Courier New"/>
              </a:rPr>
              <a:t> </a:t>
            </a:r>
          </a:p>
          <a:p>
            <a:pPr algn="l">
              <a:lnSpc>
                <a:spcPct val="100000"/>
              </a:lnSpc>
            </a:pPr>
            <a:r>
              <a:rPr sz="1000">
                <a:solidFill>
                  <a:srgbClr val="1A1A1A"/>
                </a:solidFill>
                <a:latin typeface="Courier New"/>
              </a:rPr>
              <a:t>    def __exit__(self, exc_type, exc_value, traceback):</a:t>
            </a:r>
          </a:p>
          <a:p>
            <a:pPr algn="l">
              <a:lnSpc>
                <a:spcPct val="100000"/>
              </a:lnSpc>
            </a:pPr>
            <a:r>
              <a:rPr sz="1000">
                <a:solidFill>
                  <a:srgbClr val="1A1A1A"/>
                </a:solidFill>
                <a:latin typeface="Courier New"/>
              </a:rPr>
              <a:t>        if exc_type is None:</a:t>
            </a:r>
          </a:p>
          <a:p>
            <a:pPr algn="l">
              <a:lnSpc>
                <a:spcPct val="100000"/>
              </a:lnSpc>
            </a:pPr>
            <a:r>
              <a:rPr sz="1000">
                <a:solidFill>
                  <a:srgbClr val="1A1A1A"/>
                </a:solidFill>
                <a:latin typeface="Courier New"/>
              </a:rPr>
              <a:t>            print(f"[exit]  {self.name} finished cleanly")</a:t>
            </a:r>
          </a:p>
          <a:p>
            <a:pPr algn="l">
              <a:lnSpc>
                <a:spcPct val="100000"/>
              </a:lnSpc>
            </a:pPr>
            <a:r>
              <a:rPr sz="1000">
                <a:solidFill>
                  <a:srgbClr val="1A1A1A"/>
                </a:solidFill>
                <a:latin typeface="Courier New"/>
              </a:rPr>
              <a:t>        else:</a:t>
            </a:r>
          </a:p>
          <a:p>
            <a:pPr algn="l">
              <a:lnSpc>
                <a:spcPct val="100000"/>
              </a:lnSpc>
            </a:pPr>
            <a:r>
              <a:rPr sz="1000">
                <a:solidFill>
                  <a:srgbClr val="1A1A1A"/>
                </a:solidFill>
                <a:latin typeface="Courier New"/>
              </a:rPr>
              <a:t>            print(f"[exit]  {self.name} failed with {exc_type.__name__}: {exc_value}")</a:t>
            </a:r>
          </a:p>
          <a:p>
            <a:pPr algn="l">
              <a:lnSpc>
                <a:spcPct val="100000"/>
              </a:lnSpc>
            </a:pPr>
            <a:r>
              <a:rPr sz="1000">
                <a:solidFill>
                  <a:srgbClr val="1A1A1A"/>
                </a:solidFill>
                <a:latin typeface="Courier New"/>
              </a:rPr>
              <a:t>        return False                     # do not swallow exceptions</a:t>
            </a:r>
          </a:p>
        </p:txBody>
      </p:sp>
      <p:sp>
        <p:nvSpPr>
          <p:cNvPr id="7" name="Oval 6"/>
          <p:cNvSpPr/>
          <p:nvPr/>
        </p:nvSpPr>
        <p:spPr>
          <a:xfrm>
            <a:off x="819942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8" name="TextBox 7"/>
          <p:cNvSpPr txBox="1"/>
          <p:nvPr/>
        </p:nvSpPr>
        <p:spPr>
          <a:xfrm>
            <a:off x="8748064" y="1819656"/>
            <a:ext cx="2833725" cy="847407"/>
          </a:xfrm>
          <a:prstGeom prst="rect">
            <a:avLst/>
          </a:prstGeom>
          <a:noFill/>
        </p:spPr>
        <p:txBody>
          <a:bodyPr wrap="square" lIns="0" tIns="0" rIns="0" bIns="0" anchor="t">
            <a:spAutoFit/>
          </a:bodyPr>
          <a:lstStyle/>
          <a:p>
            <a:pPr algn="l">
              <a:lnSpc>
                <a:spcPct val="110000"/>
              </a:lnSpc>
              <a:spcAft>
                <a:spcPts val="200"/>
              </a:spcAft>
            </a:pPr>
            <a:r>
              <a:rPr sz="1250" b="1" i="0">
                <a:solidFill>
                  <a:srgbClr val="330066"/>
                </a:solidFill>
                <a:latin typeface="Courier New"/>
              </a:rPr>
              <a:t>__init__</a:t>
            </a:r>
          </a:p>
          <a:p>
            <a:pPr algn="l">
              <a:lnSpc>
                <a:spcPct val="110000"/>
              </a:lnSpc>
              <a:spcAft>
                <a:spcPts val="600"/>
              </a:spcAft>
            </a:pPr>
            <a:r>
              <a:rPr sz="1250" b="0" i="0">
                <a:solidFill>
                  <a:srgbClr val="1A1A1A"/>
                </a:solidFill>
                <a:latin typeface="Arial"/>
              </a:rPr>
              <a:t>Runs when </a:t>
            </a:r>
            <a:r>
              <a:rPr sz="1200" b="0" i="0">
                <a:solidFill>
                  <a:srgbClr val="330066"/>
                </a:solidFill>
                <a:latin typeface="Courier New"/>
              </a:rPr>
              <a:t>Announcer("demo task")</a:t>
            </a:r>
            <a:r>
              <a:rPr sz="1250" b="0" i="0">
                <a:solidFill>
                  <a:srgbClr val="1A1A1A"/>
                </a:solidFill>
                <a:latin typeface="Arial"/>
              </a:rPr>
              <a:t> creates the object; stores the name.</a:t>
            </a:r>
          </a:p>
        </p:txBody>
      </p:sp>
      <p:sp>
        <p:nvSpPr>
          <p:cNvPr id="9" name="Oval 8"/>
          <p:cNvSpPr/>
          <p:nvPr/>
        </p:nvSpPr>
        <p:spPr>
          <a:xfrm>
            <a:off x="8199424" y="2831655"/>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10" name="TextBox 9"/>
          <p:cNvSpPr txBox="1"/>
          <p:nvPr/>
        </p:nvSpPr>
        <p:spPr>
          <a:xfrm>
            <a:off x="8748064" y="2868231"/>
            <a:ext cx="2833725" cy="1244282"/>
          </a:xfrm>
          <a:prstGeom prst="rect">
            <a:avLst/>
          </a:prstGeom>
          <a:noFill/>
        </p:spPr>
        <p:txBody>
          <a:bodyPr wrap="square" lIns="0" tIns="0" rIns="0" bIns="0" anchor="t">
            <a:spAutoFit/>
          </a:bodyPr>
          <a:lstStyle/>
          <a:p>
            <a:pPr algn="l">
              <a:lnSpc>
                <a:spcPct val="110000"/>
              </a:lnSpc>
              <a:spcAft>
                <a:spcPts val="200"/>
              </a:spcAft>
            </a:pPr>
            <a:r>
              <a:rPr sz="1250" b="1" i="0">
                <a:solidFill>
                  <a:srgbClr val="330066"/>
                </a:solidFill>
                <a:latin typeface="Courier New"/>
              </a:rPr>
              <a:t>__enter__(self)</a:t>
            </a:r>
          </a:p>
          <a:p>
            <a:pPr algn="l">
              <a:lnSpc>
                <a:spcPct val="110000"/>
              </a:lnSpc>
              <a:spcAft>
                <a:spcPts val="600"/>
              </a:spcAft>
            </a:pPr>
            <a:r>
              <a:rPr sz="1250" b="0" i="0">
                <a:solidFill>
                  <a:srgbClr val="1A1A1A"/>
                </a:solidFill>
                <a:latin typeface="Arial"/>
              </a:rPr>
              <a:t>Runs as the block starts; returns </a:t>
            </a:r>
            <a:r>
              <a:rPr sz="1200" b="0" i="0">
                <a:solidFill>
                  <a:srgbClr val="330066"/>
                </a:solidFill>
                <a:latin typeface="Courier New"/>
              </a:rPr>
              <a:t>self</a:t>
            </a:r>
            <a:r>
              <a:rPr sz="1250" b="0" i="0">
                <a:solidFill>
                  <a:srgbClr val="1A1A1A"/>
                </a:solidFill>
                <a:latin typeface="Arial"/>
              </a:rPr>
              <a:t>, so </a:t>
            </a:r>
            <a:r>
              <a:rPr sz="1200" b="0" i="0">
                <a:solidFill>
                  <a:srgbClr val="330066"/>
                </a:solidFill>
                <a:latin typeface="Courier New"/>
              </a:rPr>
              <a:t>as a</a:t>
            </a:r>
            <a:r>
              <a:rPr sz="1250" b="0" i="0">
                <a:solidFill>
                  <a:srgbClr val="1A1A1A"/>
                </a:solidFill>
                <a:latin typeface="Arial"/>
              </a:rPr>
              <a:t> is the manager. Often it returns another resource, such as an open connection.</a:t>
            </a:r>
          </a:p>
        </p:txBody>
      </p:sp>
      <p:sp>
        <p:nvSpPr>
          <p:cNvPr id="11" name="Oval 10"/>
          <p:cNvSpPr/>
          <p:nvPr/>
        </p:nvSpPr>
        <p:spPr>
          <a:xfrm>
            <a:off x="8199424" y="4277106"/>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12" name="TextBox 11"/>
          <p:cNvSpPr txBox="1"/>
          <p:nvPr/>
        </p:nvSpPr>
        <p:spPr>
          <a:xfrm>
            <a:off x="8748064" y="4313682"/>
            <a:ext cx="2833725" cy="648970"/>
          </a:xfrm>
          <a:prstGeom prst="rect">
            <a:avLst/>
          </a:prstGeom>
          <a:noFill/>
        </p:spPr>
        <p:txBody>
          <a:bodyPr wrap="square" lIns="0" tIns="0" rIns="0" bIns="0" anchor="t">
            <a:spAutoFit/>
          </a:bodyPr>
          <a:lstStyle/>
          <a:p>
            <a:pPr algn="l">
              <a:lnSpc>
                <a:spcPct val="110000"/>
              </a:lnSpc>
              <a:spcAft>
                <a:spcPts val="200"/>
              </a:spcAft>
            </a:pPr>
            <a:r>
              <a:rPr sz="1250" b="1" i="0">
                <a:solidFill>
                  <a:srgbClr val="330066"/>
                </a:solidFill>
                <a:latin typeface="Courier New"/>
              </a:rPr>
              <a:t>__exit__(...)</a:t>
            </a:r>
          </a:p>
          <a:p>
            <a:pPr algn="l">
              <a:lnSpc>
                <a:spcPct val="110000"/>
              </a:lnSpc>
              <a:spcAft>
                <a:spcPts val="600"/>
              </a:spcAft>
            </a:pPr>
            <a:r>
              <a:rPr sz="1200" b="0" i="0">
                <a:solidFill>
                  <a:srgbClr val="330066"/>
                </a:solidFill>
                <a:latin typeface="Courier New"/>
              </a:rPr>
              <a:t>exc_type</a:t>
            </a:r>
            <a:r>
              <a:rPr sz="1250" b="0" i="0">
                <a:solidFill>
                  <a:srgbClr val="1A1A1A"/>
                </a:solidFill>
                <a:latin typeface="Arial"/>
              </a:rPr>
              <a:t>, </a:t>
            </a:r>
            <a:r>
              <a:rPr sz="1200" b="0" i="0">
                <a:solidFill>
                  <a:srgbClr val="330066"/>
                </a:solidFill>
                <a:latin typeface="Courier New"/>
              </a:rPr>
              <a:t>exc_value</a:t>
            </a:r>
            <a:r>
              <a:rPr sz="1250" b="0" i="0">
                <a:solidFill>
                  <a:srgbClr val="1A1A1A"/>
                </a:solidFill>
                <a:latin typeface="Arial"/>
              </a:rPr>
              <a:t>, </a:t>
            </a:r>
            <a:r>
              <a:rPr sz="1200" b="0" i="0">
                <a:solidFill>
                  <a:srgbClr val="330066"/>
                </a:solidFill>
                <a:latin typeface="Courier New"/>
              </a:rPr>
              <a:t>traceback</a:t>
            </a:r>
            <a:r>
              <a:rPr sz="1250" b="0" i="0">
                <a:solidFill>
                  <a:srgbClr val="1A1A1A"/>
                </a:solidFill>
                <a:latin typeface="Arial"/>
              </a:rPr>
              <a:t>: each </a:t>
            </a:r>
            <a:r>
              <a:rPr sz="1200" b="0" i="0">
                <a:solidFill>
                  <a:srgbClr val="330066"/>
                </a:solidFill>
                <a:latin typeface="Courier New"/>
              </a:rPr>
              <a:t>None</a:t>
            </a:r>
            <a:r>
              <a:rPr sz="1250" b="0" i="0">
                <a:solidFill>
                  <a:srgbClr val="1A1A1A"/>
                </a:solidFill>
                <a:latin typeface="Arial"/>
              </a:rPr>
              <a:t> if no error.</a:t>
            </a:r>
          </a:p>
        </p:txBody>
      </p:sp>
      <p:sp>
        <p:nvSpPr>
          <p:cNvPr id="13" name="Oval 12"/>
          <p:cNvSpPr/>
          <p:nvPr/>
        </p:nvSpPr>
        <p:spPr>
          <a:xfrm>
            <a:off x="8199424" y="5127244"/>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4</a:t>
            </a:r>
          </a:p>
        </p:txBody>
      </p:sp>
      <p:sp>
        <p:nvSpPr>
          <p:cNvPr id="14" name="TextBox 13"/>
          <p:cNvSpPr txBox="1"/>
          <p:nvPr/>
        </p:nvSpPr>
        <p:spPr>
          <a:xfrm>
            <a:off x="8748064" y="5163820"/>
            <a:ext cx="2833725" cy="648970"/>
          </a:xfrm>
          <a:prstGeom prst="rect">
            <a:avLst/>
          </a:prstGeom>
          <a:noFill/>
        </p:spPr>
        <p:txBody>
          <a:bodyPr wrap="square" lIns="0" tIns="0" rIns="0" bIns="0" anchor="t">
            <a:spAutoFit/>
          </a:bodyPr>
          <a:lstStyle/>
          <a:p>
            <a:pPr algn="l">
              <a:lnSpc>
                <a:spcPct val="110000"/>
              </a:lnSpc>
              <a:spcAft>
                <a:spcPts val="200"/>
              </a:spcAft>
            </a:pPr>
            <a:r>
              <a:rPr sz="1250" b="1" i="0">
                <a:solidFill>
                  <a:srgbClr val="330066"/>
                </a:solidFill>
                <a:latin typeface="Courier New"/>
              </a:rPr>
              <a:t>return False</a:t>
            </a:r>
          </a:p>
          <a:p>
            <a:pPr algn="l">
              <a:lnSpc>
                <a:spcPct val="110000"/>
              </a:lnSpc>
              <a:spcAft>
                <a:spcPts val="600"/>
              </a:spcAft>
            </a:pPr>
            <a:r>
              <a:rPr sz="1250" b="0" i="0">
                <a:solidFill>
                  <a:srgbClr val="1A1A1A"/>
                </a:solidFill>
                <a:latin typeface="Arial"/>
              </a:rPr>
              <a:t>"I did my cleanup; let the exception continue."</a:t>
            </a:r>
          </a:p>
        </p:txBody>
      </p:sp>
      <p:sp>
        <p:nvSpPr>
          <p:cNvPr id="15" name="TextBox 1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11 / 49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Announcer in Action</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TextBox 3"/>
          <p:cNvSpPr txBox="1"/>
          <p:nvPr/>
        </p:nvSpPr>
        <p:spPr>
          <a:xfrm>
            <a:off x="609904" y="1783080"/>
            <a:ext cx="3657600" cy="256032"/>
          </a:xfrm>
          <a:prstGeom prst="rect">
            <a:avLst/>
          </a:prstGeom>
          <a:noFill/>
        </p:spPr>
        <p:txBody>
          <a:bodyPr wrap="square" lIns="0" tIns="0" rIns="0" bIns="0">
            <a:spAutoFit/>
          </a:bodyPr>
          <a:lstStyle/>
          <a:p>
            <a:pPr algn="l"/>
            <a:r>
              <a:rPr sz="1100" b="1">
                <a:solidFill>
                  <a:srgbClr val="330066"/>
                </a:solidFill>
                <a:latin typeface="Arial"/>
              </a:rPr>
              <a:t>USAGE</a:t>
            </a:r>
          </a:p>
        </p:txBody>
      </p:sp>
      <p:sp>
        <p:nvSpPr>
          <p:cNvPr id="5" name="Rounded Rectangle 4"/>
          <p:cNvSpPr/>
          <p:nvPr/>
        </p:nvSpPr>
        <p:spPr>
          <a:xfrm>
            <a:off x="609904" y="2103120"/>
            <a:ext cx="5303062" cy="2304288"/>
          </a:xfrm>
          <a:prstGeom prst="roundRect">
            <a:avLst>
              <a:gd name="adj" fmla="val 3174"/>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49424"/>
            <a:ext cx="4900726" cy="2011680"/>
          </a:xfrm>
          <a:prstGeom prst="rect">
            <a:avLst/>
          </a:prstGeom>
          <a:noFill/>
        </p:spPr>
        <p:txBody>
          <a:bodyPr wrap="square" lIns="0" tIns="0" rIns="0" bIns="0">
            <a:spAutoFit/>
          </a:bodyPr>
          <a:lstStyle/>
          <a:p>
            <a:pPr algn="l">
              <a:lnSpc>
                <a:spcPct val="100000"/>
              </a:lnSpc>
            </a:pPr>
            <a:r>
              <a:rPr sz="1100">
                <a:solidFill>
                  <a:srgbClr val="1A1A1A"/>
                </a:solidFill>
                <a:latin typeface="Courier New"/>
              </a:rPr>
              <a:t>with Announcer("demo task") as a:</a:t>
            </a:r>
          </a:p>
          <a:p>
            <a:pPr algn="l">
              <a:lnSpc>
                <a:spcPct val="100000"/>
              </a:lnSpc>
            </a:pPr>
            <a:r>
              <a:rPr sz="1100">
                <a:solidFill>
                  <a:srgbClr val="1A1A1A"/>
                </a:solidFill>
                <a:latin typeface="Courier New"/>
              </a:rPr>
              <a:t>    print("  working inside the block, a.name =", a.name)</a:t>
            </a:r>
          </a:p>
          <a:p>
            <a:pPr algn="l">
              <a:lnSpc>
                <a:spcPct val="100000"/>
              </a:lnSpc>
            </a:pPr>
            <a:r>
              <a:rPr sz="1100">
                <a:solidFill>
                  <a:srgbClr val="1A1A1A"/>
                </a:solidFill>
                <a:latin typeface="Courier New"/>
              </a:rPr>
              <a:t> </a:t>
            </a:r>
          </a:p>
          <a:p>
            <a:pPr algn="l">
              <a:lnSpc>
                <a:spcPct val="100000"/>
              </a:lnSpc>
            </a:pPr>
            <a:r>
              <a:rPr sz="1100">
                <a:solidFill>
                  <a:srgbClr val="1A1A1A"/>
                </a:solidFill>
                <a:latin typeface="Courier New"/>
              </a:rPr>
              <a:t>print()</a:t>
            </a:r>
          </a:p>
          <a:p>
            <a:pPr algn="l">
              <a:lnSpc>
                <a:spcPct val="100000"/>
              </a:lnSpc>
            </a:pPr>
            <a:r>
              <a:rPr sz="1100">
                <a:solidFill>
                  <a:srgbClr val="1A1A1A"/>
                </a:solidFill>
                <a:latin typeface="Courier New"/>
              </a:rPr>
              <a:t> </a:t>
            </a:r>
          </a:p>
          <a:p>
            <a:pPr algn="l">
              <a:lnSpc>
                <a:spcPct val="100000"/>
              </a:lnSpc>
            </a:pPr>
            <a:r>
              <a:rPr sz="1100">
                <a:solidFill>
                  <a:srgbClr val="1A1A1A"/>
                </a:solidFill>
                <a:latin typeface="Courier New"/>
              </a:rPr>
              <a:t>try:</a:t>
            </a:r>
          </a:p>
          <a:p>
            <a:pPr algn="l">
              <a:lnSpc>
                <a:spcPct val="100000"/>
              </a:lnSpc>
            </a:pPr>
            <a:r>
              <a:rPr sz="1100">
                <a:solidFill>
                  <a:srgbClr val="1A1A1A"/>
                </a:solidFill>
                <a:latin typeface="Courier New"/>
              </a:rPr>
              <a:t>    with Announcer("risky task"):</a:t>
            </a:r>
          </a:p>
          <a:p>
            <a:pPr algn="l">
              <a:lnSpc>
                <a:spcPct val="100000"/>
              </a:lnSpc>
            </a:pPr>
            <a:r>
              <a:rPr sz="1100">
                <a:solidFill>
                  <a:srgbClr val="1A1A1A"/>
                </a:solidFill>
                <a:latin typeface="Courier New"/>
              </a:rPr>
              <a:t>        print("  about to fail")</a:t>
            </a:r>
          </a:p>
          <a:p>
            <a:pPr algn="l">
              <a:lnSpc>
                <a:spcPct val="100000"/>
              </a:lnSpc>
            </a:pPr>
            <a:r>
              <a:rPr sz="1100">
                <a:solidFill>
                  <a:srgbClr val="1A1A1A"/>
                </a:solidFill>
                <a:latin typeface="Courier New"/>
              </a:rPr>
              <a:t>        raise ValueError("something broke")</a:t>
            </a:r>
          </a:p>
          <a:p>
            <a:pPr algn="l">
              <a:lnSpc>
                <a:spcPct val="100000"/>
              </a:lnSpc>
            </a:pPr>
            <a:r>
              <a:rPr sz="1100">
                <a:solidFill>
                  <a:srgbClr val="1A1A1A"/>
                </a:solidFill>
                <a:latin typeface="Courier New"/>
              </a:rPr>
              <a:t>        print("  this line is never reached")</a:t>
            </a:r>
          </a:p>
          <a:p>
            <a:pPr algn="l">
              <a:lnSpc>
                <a:spcPct val="100000"/>
              </a:lnSpc>
            </a:pPr>
            <a:r>
              <a:rPr sz="1100">
                <a:solidFill>
                  <a:srgbClr val="1A1A1A"/>
                </a:solidFill>
                <a:latin typeface="Courier New"/>
              </a:rPr>
              <a:t>except ValueError as error:</a:t>
            </a:r>
          </a:p>
          <a:p>
            <a:pPr algn="l">
              <a:lnSpc>
                <a:spcPct val="100000"/>
              </a:lnSpc>
            </a:pPr>
            <a:r>
              <a:rPr sz="1100">
                <a:solidFill>
                  <a:srgbClr val="1A1A1A"/>
                </a:solidFill>
                <a:latin typeface="Courier New"/>
              </a:rPr>
              <a:t>    print("Caught outside the with block:", error)</a:t>
            </a:r>
          </a:p>
        </p:txBody>
      </p:sp>
      <p:sp>
        <p:nvSpPr>
          <p:cNvPr id="7" name="TextBox 6"/>
          <p:cNvSpPr txBox="1"/>
          <p:nvPr/>
        </p:nvSpPr>
        <p:spPr>
          <a:xfrm>
            <a:off x="6278727" y="1783080"/>
            <a:ext cx="3657600" cy="256032"/>
          </a:xfrm>
          <a:prstGeom prst="rect">
            <a:avLst/>
          </a:prstGeom>
          <a:noFill/>
        </p:spPr>
        <p:txBody>
          <a:bodyPr wrap="square" lIns="0" tIns="0" rIns="0" bIns="0">
            <a:spAutoFit/>
          </a:bodyPr>
          <a:lstStyle/>
          <a:p>
            <a:pPr algn="l"/>
            <a:r>
              <a:rPr sz="1100" b="1">
                <a:solidFill>
                  <a:srgbClr val="330066"/>
                </a:solidFill>
                <a:latin typeface="Arial"/>
              </a:rPr>
              <a:t>OUTPUT</a:t>
            </a:r>
          </a:p>
        </p:txBody>
      </p:sp>
      <p:sp>
        <p:nvSpPr>
          <p:cNvPr id="8" name="Rounded Rectangle 7"/>
          <p:cNvSpPr/>
          <p:nvPr/>
        </p:nvSpPr>
        <p:spPr>
          <a:xfrm>
            <a:off x="6278727" y="2103120"/>
            <a:ext cx="5303062" cy="1633728"/>
          </a:xfrm>
          <a:prstGeom prst="roundRect">
            <a:avLst>
              <a:gd name="adj" fmla="val 4477"/>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79895" y="2249424"/>
            <a:ext cx="4900726" cy="1341120"/>
          </a:xfrm>
          <a:prstGeom prst="rect">
            <a:avLst/>
          </a:prstGeom>
          <a:noFill/>
        </p:spPr>
        <p:txBody>
          <a:bodyPr wrap="square" lIns="0" tIns="0" rIns="0" bIns="0">
            <a:spAutoFit/>
          </a:bodyPr>
          <a:lstStyle/>
          <a:p>
            <a:pPr algn="l">
              <a:lnSpc>
                <a:spcPct val="100000"/>
              </a:lnSpc>
            </a:pPr>
            <a:r>
              <a:rPr sz="1100">
                <a:solidFill>
                  <a:srgbClr val="1A1A1A"/>
                </a:solidFill>
                <a:latin typeface="Courier New"/>
              </a:rPr>
              <a:t>[enter] demo task starting</a:t>
            </a:r>
          </a:p>
          <a:p>
            <a:pPr algn="l">
              <a:lnSpc>
                <a:spcPct val="100000"/>
              </a:lnSpc>
            </a:pPr>
            <a:r>
              <a:rPr sz="1100">
                <a:solidFill>
                  <a:srgbClr val="1A1A1A"/>
                </a:solidFill>
                <a:latin typeface="Courier New"/>
              </a:rPr>
              <a:t>  working inside the block, a.name = demo task</a:t>
            </a:r>
          </a:p>
          <a:p>
            <a:pPr algn="l">
              <a:lnSpc>
                <a:spcPct val="100000"/>
              </a:lnSpc>
            </a:pPr>
            <a:r>
              <a:rPr sz="1100">
                <a:solidFill>
                  <a:srgbClr val="1A1A1A"/>
                </a:solidFill>
                <a:latin typeface="Courier New"/>
              </a:rPr>
              <a:t>[exit]  demo task finished cleanly</a:t>
            </a:r>
          </a:p>
          <a:p>
            <a:pPr algn="l">
              <a:lnSpc>
                <a:spcPct val="100000"/>
              </a:lnSpc>
            </a:pPr>
            <a:r>
              <a:rPr sz="1100">
                <a:solidFill>
                  <a:srgbClr val="1A1A1A"/>
                </a:solidFill>
                <a:latin typeface="Courier New"/>
              </a:rPr>
              <a:t> </a:t>
            </a:r>
          </a:p>
          <a:p>
            <a:pPr algn="l">
              <a:lnSpc>
                <a:spcPct val="100000"/>
              </a:lnSpc>
            </a:pPr>
            <a:r>
              <a:rPr sz="1100">
                <a:solidFill>
                  <a:srgbClr val="1A1A1A"/>
                </a:solidFill>
                <a:latin typeface="Courier New"/>
              </a:rPr>
              <a:t>[enter] risky task starting</a:t>
            </a:r>
          </a:p>
          <a:p>
            <a:pPr algn="l">
              <a:lnSpc>
                <a:spcPct val="100000"/>
              </a:lnSpc>
            </a:pPr>
            <a:r>
              <a:rPr sz="1100">
                <a:solidFill>
                  <a:srgbClr val="1A1A1A"/>
                </a:solidFill>
                <a:latin typeface="Courier New"/>
              </a:rPr>
              <a:t>  about to fail</a:t>
            </a:r>
          </a:p>
          <a:p>
            <a:pPr algn="l">
              <a:lnSpc>
                <a:spcPct val="100000"/>
              </a:lnSpc>
            </a:pPr>
            <a:r>
              <a:rPr sz="1100">
                <a:solidFill>
                  <a:srgbClr val="1A1A1A"/>
                </a:solidFill>
                <a:latin typeface="Courier New"/>
              </a:rPr>
              <a:t>[exit]  risky task failed with ValueError: something broke</a:t>
            </a:r>
          </a:p>
          <a:p>
            <a:pPr algn="l">
              <a:lnSpc>
                <a:spcPct val="100000"/>
              </a:lnSpc>
            </a:pPr>
            <a:r>
              <a:rPr sz="1100">
                <a:solidFill>
                  <a:srgbClr val="1A1A1A"/>
                </a:solidFill>
                <a:latin typeface="Courier New"/>
              </a:rPr>
              <a:t>Caught outside the with block: something broke</a:t>
            </a:r>
          </a:p>
        </p:txBody>
      </p:sp>
      <p:sp>
        <p:nvSpPr>
          <p:cNvPr id="10" name="TextBox 9"/>
          <p:cNvSpPr txBox="1"/>
          <p:nvPr/>
        </p:nvSpPr>
        <p:spPr>
          <a:xfrm>
            <a:off x="609904" y="5367528"/>
            <a:ext cx="10971885" cy="777240"/>
          </a:xfrm>
          <a:prstGeom prst="rect">
            <a:avLst/>
          </a:prstGeom>
          <a:noFill/>
        </p:spPr>
        <p:txBody>
          <a:bodyPr wrap="square" lIns="0" tIns="0" rIns="0" bIns="0" anchor="t">
            <a:spAutoFit/>
          </a:bodyPr>
          <a:lstStyle/>
          <a:p>
            <a:pPr algn="l">
              <a:lnSpc>
                <a:spcPct val="110000"/>
              </a:lnSpc>
              <a:spcAft>
                <a:spcPts val="600"/>
              </a:spcAft>
            </a:pPr>
            <a:r>
              <a:rPr sz="1500" b="0" i="0">
                <a:solidFill>
                  <a:srgbClr val="1A1A1A"/>
                </a:solidFill>
                <a:latin typeface="Arial"/>
              </a:rPr>
              <a:t>The </a:t>
            </a:r>
            <a:r>
              <a:rPr sz="1450" b="0" i="0">
                <a:solidFill>
                  <a:srgbClr val="330066"/>
                </a:solidFill>
                <a:latin typeface="Courier New"/>
              </a:rPr>
              <a:t>ValueError</a:t>
            </a:r>
            <a:r>
              <a:rPr sz="1500" b="0" i="0">
                <a:solidFill>
                  <a:srgbClr val="1A1A1A"/>
                </a:solidFill>
                <a:latin typeface="Arial"/>
              </a:rPr>
              <a:t> reached the outer </a:t>
            </a:r>
            <a:r>
              <a:rPr sz="1450" b="0" i="0">
                <a:solidFill>
                  <a:srgbClr val="330066"/>
                </a:solidFill>
                <a:latin typeface="Courier New"/>
              </a:rPr>
              <a:t>except</a:t>
            </a:r>
            <a:r>
              <a:rPr sz="1500" b="0" i="0">
                <a:solidFill>
                  <a:srgbClr val="1A1A1A"/>
                </a:solidFill>
                <a:latin typeface="Arial"/>
              </a:rPr>
              <a:t>. In the failing case the cleanup message printed before the outer handler ran: cleanup is guaranteed.</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12 / 49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Suppressing Exceptions from __exit__</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5</a:t>
            </a:r>
          </a:p>
        </p:txBody>
      </p:sp>
      <p:sp>
        <p:nvSpPr>
          <p:cNvPr id="4" name="TextBox 3"/>
          <p:cNvSpPr txBox="1"/>
          <p:nvPr/>
        </p:nvSpPr>
        <p:spPr>
          <a:xfrm>
            <a:off x="609904" y="1783080"/>
            <a:ext cx="621792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Code</a:t>
            </a:r>
          </a:p>
        </p:txBody>
      </p:sp>
      <p:sp>
        <p:nvSpPr>
          <p:cNvPr id="5" name="Rounded Rectangle 4"/>
          <p:cNvSpPr/>
          <p:nvPr/>
        </p:nvSpPr>
        <p:spPr>
          <a:xfrm>
            <a:off x="609904" y="2057400"/>
            <a:ext cx="6217920" cy="3447287"/>
          </a:xfrm>
          <a:prstGeom prst="roundRect">
            <a:avLst>
              <a:gd name="adj" fmla="val 2122"/>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5815583" cy="3154679"/>
          </a:xfrm>
          <a:prstGeom prst="rect">
            <a:avLst/>
          </a:prstGeom>
          <a:noFill/>
        </p:spPr>
        <p:txBody>
          <a:bodyPr wrap="square" lIns="0" tIns="0" rIns="0" bIns="0">
            <a:spAutoFit/>
          </a:bodyPr>
          <a:lstStyle/>
          <a:p>
            <a:pPr algn="l">
              <a:lnSpc>
                <a:spcPct val="100000"/>
              </a:lnSpc>
            </a:pPr>
            <a:r>
              <a:rPr sz="1150">
                <a:solidFill>
                  <a:srgbClr val="1A1A1A"/>
                </a:solidFill>
                <a:latin typeface="Courier New"/>
              </a:rPr>
              <a:t>class IgnoreKeyErrors:</a:t>
            </a:r>
          </a:p>
          <a:p>
            <a:pPr algn="l">
              <a:lnSpc>
                <a:spcPct val="100000"/>
              </a:lnSpc>
            </a:pPr>
            <a:r>
              <a:rPr sz="1150">
                <a:solidFill>
                  <a:srgbClr val="1A1A1A"/>
                </a:solidFill>
                <a:latin typeface="Courier New"/>
              </a:rPr>
              <a:t>    def __enter__(self):</a:t>
            </a:r>
          </a:p>
          <a:p>
            <a:pPr algn="l">
              <a:lnSpc>
                <a:spcPct val="100000"/>
              </a:lnSpc>
            </a:pPr>
            <a:r>
              <a:rPr sz="1150">
                <a:solidFill>
                  <a:srgbClr val="1A1A1A"/>
                </a:solidFill>
                <a:latin typeface="Courier New"/>
              </a:rPr>
              <a:t>        return self</a:t>
            </a:r>
          </a:p>
          <a:p>
            <a:pPr algn="l">
              <a:lnSpc>
                <a:spcPct val="100000"/>
              </a:lnSpc>
            </a:pPr>
            <a:r>
              <a:rPr sz="1150">
                <a:solidFill>
                  <a:srgbClr val="1A1A1A"/>
                </a:solidFill>
                <a:latin typeface="Courier New"/>
              </a:rPr>
              <a:t> </a:t>
            </a:r>
          </a:p>
          <a:p>
            <a:pPr algn="l">
              <a:lnSpc>
                <a:spcPct val="100000"/>
              </a:lnSpc>
            </a:pPr>
            <a:r>
              <a:rPr sz="1150">
                <a:solidFill>
                  <a:srgbClr val="1A1A1A"/>
                </a:solidFill>
                <a:latin typeface="Courier New"/>
              </a:rPr>
              <a:t>    def __exit__(self, exc_type, exc_value, traceback):</a:t>
            </a:r>
          </a:p>
          <a:p>
            <a:pPr algn="l">
              <a:lnSpc>
                <a:spcPct val="100000"/>
              </a:lnSpc>
            </a:pPr>
            <a:r>
              <a:rPr sz="1150">
                <a:solidFill>
                  <a:srgbClr val="1A1A1A"/>
                </a:solidFill>
                <a:latin typeface="Courier New"/>
              </a:rPr>
              <a:t>        if exc_type is KeyError:</a:t>
            </a:r>
          </a:p>
          <a:p>
            <a:pPr algn="l">
              <a:lnSpc>
                <a:spcPct val="100000"/>
              </a:lnSpc>
            </a:pPr>
            <a:r>
              <a:rPr sz="1150">
                <a:solidFill>
                  <a:srgbClr val="1A1A1A"/>
                </a:solidFill>
                <a:latin typeface="Courier New"/>
              </a:rPr>
              <a:t>            print("(ignoring a missing key:", exc_value, ")")</a:t>
            </a:r>
          </a:p>
          <a:p>
            <a:pPr algn="l">
              <a:lnSpc>
                <a:spcPct val="100000"/>
              </a:lnSpc>
            </a:pPr>
            <a:r>
              <a:rPr sz="1150">
                <a:solidFill>
                  <a:srgbClr val="1A1A1A"/>
                </a:solidFill>
                <a:latin typeface="Courier New"/>
              </a:rPr>
              <a:t>            return True          # swallow KeyError only</a:t>
            </a:r>
          </a:p>
          <a:p>
            <a:pPr algn="l">
              <a:lnSpc>
                <a:spcPct val="100000"/>
              </a:lnSpc>
            </a:pPr>
            <a:r>
              <a:rPr sz="1150">
                <a:solidFill>
                  <a:srgbClr val="1A1A1A"/>
                </a:solidFill>
                <a:latin typeface="Courier New"/>
              </a:rPr>
              <a:t>        return False             # everything else propagates</a:t>
            </a:r>
          </a:p>
          <a:p>
            <a:pPr algn="l">
              <a:lnSpc>
                <a:spcPct val="100000"/>
              </a:lnSpc>
            </a:pPr>
            <a:r>
              <a:rPr sz="1150">
                <a:solidFill>
                  <a:srgbClr val="1A1A1A"/>
                </a:solidFill>
                <a:latin typeface="Courier New"/>
              </a:rPr>
              <a:t> </a:t>
            </a:r>
          </a:p>
          <a:p>
            <a:pPr algn="l">
              <a:lnSpc>
                <a:spcPct val="100000"/>
              </a:lnSpc>
            </a:pPr>
            <a:r>
              <a:rPr sz="1150">
                <a:solidFill>
                  <a:srgbClr val="1A1A1A"/>
                </a:solidFill>
                <a:latin typeface="Courier New"/>
              </a:rPr>
              <a:t> </a:t>
            </a:r>
          </a:p>
          <a:p>
            <a:pPr algn="l">
              <a:lnSpc>
                <a:spcPct val="100000"/>
              </a:lnSpc>
            </a:pPr>
            <a:r>
              <a:rPr sz="1150">
                <a:solidFill>
                  <a:srgbClr val="1A1A1A"/>
                </a:solidFill>
                <a:latin typeface="Courier New"/>
              </a:rPr>
              <a:t>data = {"a": 1}</a:t>
            </a:r>
          </a:p>
          <a:p>
            <a:pPr algn="l">
              <a:lnSpc>
                <a:spcPct val="100000"/>
              </a:lnSpc>
            </a:pPr>
            <a:r>
              <a:rPr sz="1150">
                <a:solidFill>
                  <a:srgbClr val="1A1A1A"/>
                </a:solidFill>
                <a:latin typeface="Courier New"/>
              </a:rPr>
              <a:t>with IgnoreKeyErrors():</a:t>
            </a:r>
          </a:p>
          <a:p>
            <a:pPr algn="l">
              <a:lnSpc>
                <a:spcPct val="100000"/>
              </a:lnSpc>
            </a:pPr>
            <a:r>
              <a:rPr sz="1150">
                <a:solidFill>
                  <a:srgbClr val="1A1A1A"/>
                </a:solidFill>
                <a:latin typeface="Courier New"/>
              </a:rPr>
              <a:t>    print(data["a"])</a:t>
            </a:r>
          </a:p>
          <a:p>
            <a:pPr algn="l">
              <a:lnSpc>
                <a:spcPct val="100000"/>
              </a:lnSpc>
            </a:pPr>
            <a:r>
              <a:rPr sz="1150">
                <a:solidFill>
                  <a:srgbClr val="1A1A1A"/>
                </a:solidFill>
                <a:latin typeface="Courier New"/>
              </a:rPr>
              <a:t>    print(data["b"])             # KeyError -&gt; swallowed</a:t>
            </a:r>
          </a:p>
          <a:p>
            <a:pPr algn="l">
              <a:lnSpc>
                <a:spcPct val="100000"/>
              </a:lnSpc>
            </a:pPr>
            <a:r>
              <a:rPr sz="1150">
                <a:solidFill>
                  <a:srgbClr val="1A1A1A"/>
                </a:solidFill>
                <a:latin typeface="Courier New"/>
              </a:rPr>
              <a:t>    print("not reached")</a:t>
            </a:r>
          </a:p>
          <a:p>
            <a:pPr algn="l">
              <a:lnSpc>
                <a:spcPct val="100000"/>
              </a:lnSpc>
            </a:pPr>
            <a:r>
              <a:rPr sz="1150">
                <a:solidFill>
                  <a:srgbClr val="1A1A1A"/>
                </a:solidFill>
                <a:latin typeface="Courier New"/>
              </a:rPr>
              <a:t> </a:t>
            </a:r>
          </a:p>
          <a:p>
            <a:pPr algn="l">
              <a:lnSpc>
                <a:spcPct val="100000"/>
              </a:lnSpc>
            </a:pPr>
            <a:r>
              <a:rPr sz="1150">
                <a:solidFill>
                  <a:srgbClr val="1A1A1A"/>
                </a:solidFill>
                <a:latin typeface="Courier New"/>
              </a:rPr>
              <a:t>print("execution continues here")</a:t>
            </a:r>
          </a:p>
        </p:txBody>
      </p:sp>
      <p:sp>
        <p:nvSpPr>
          <p:cNvPr id="7" name="TextBox 6"/>
          <p:cNvSpPr txBox="1"/>
          <p:nvPr/>
        </p:nvSpPr>
        <p:spPr>
          <a:xfrm>
            <a:off x="7193584" y="1783080"/>
            <a:ext cx="4388205" cy="4361688"/>
          </a:xfrm>
          <a:prstGeom prst="rect">
            <a:avLst/>
          </a:prstGeom>
          <a:noFill/>
        </p:spPr>
        <p:txBody>
          <a:bodyPr wrap="square" lIns="0" tIns="0" rIns="0" bIns="0">
            <a:spAutoFit/>
          </a:bodyPr>
          <a:lstStyle/>
          <a:p>
            <a:pPr marL="228600" indent="-228600" algn="l">
              <a:spcAft>
                <a:spcPts val="800"/>
              </a:spcAft>
              <a:buFont typeface="Arial"/>
              <a:buChar char="•"/>
            </a:pPr>
            <a:r>
              <a:rPr sz="1400" b="0" i="0">
                <a:solidFill>
                  <a:srgbClr val="1A1A1A"/>
                </a:solidFill>
                <a:latin typeface="Arial"/>
              </a:rPr>
              <a:t>Returning </a:t>
            </a:r>
            <a:r>
              <a:rPr sz="1350" b="0" i="0">
                <a:solidFill>
                  <a:srgbClr val="330066"/>
                </a:solidFill>
                <a:latin typeface="Courier New"/>
              </a:rPr>
              <a:t>True</a:t>
            </a:r>
            <a:r>
              <a:rPr sz="1400" b="0" i="0">
                <a:solidFill>
                  <a:srgbClr val="1A1A1A"/>
                </a:solidFill>
                <a:latin typeface="Arial"/>
              </a:rPr>
              <a:t> swallows the exception; execution continues after the </a:t>
            </a:r>
            <a:r>
              <a:rPr sz="1350" b="0" i="0">
                <a:solidFill>
                  <a:srgbClr val="330066"/>
                </a:solidFill>
                <a:latin typeface="Courier New"/>
              </a:rPr>
              <a:t>with</a:t>
            </a:r>
            <a:r>
              <a:rPr sz="1400" b="0" i="0">
                <a:solidFill>
                  <a:srgbClr val="1A1A1A"/>
                </a:solidFill>
                <a:latin typeface="Arial"/>
              </a:rPr>
              <a:t> block.</a:t>
            </a:r>
          </a:p>
          <a:p>
            <a:pPr marL="228600" indent="-228600" algn="l">
              <a:spcAft>
                <a:spcPts val="800"/>
              </a:spcAft>
              <a:buFont typeface="Arial"/>
              <a:buChar char="•"/>
            </a:pPr>
            <a:r>
              <a:rPr sz="1400" b="0" i="0">
                <a:solidFill>
                  <a:srgbClr val="1A1A1A"/>
                </a:solidFill>
                <a:latin typeface="Arial"/>
              </a:rPr>
              <a:t>"not reached" is never printed: the block is abandoned at the point of failure. Only the exception is swallowed, not the skipped code.</a:t>
            </a:r>
          </a:p>
        </p:txBody>
      </p:sp>
      <p:sp>
        <p:nvSpPr>
          <p:cNvPr id="8" name="TextBox 7"/>
          <p:cNvSpPr txBox="1"/>
          <p:nvPr/>
        </p:nvSpPr>
        <p:spPr>
          <a:xfrm>
            <a:off x="7193584" y="3383280"/>
            <a:ext cx="438912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Output</a:t>
            </a:r>
          </a:p>
        </p:txBody>
      </p:sp>
      <p:sp>
        <p:nvSpPr>
          <p:cNvPr id="9" name="Rounded Rectangle 8"/>
          <p:cNvSpPr/>
          <p:nvPr/>
        </p:nvSpPr>
        <p:spPr>
          <a:xfrm>
            <a:off x="7193584" y="3657600"/>
            <a:ext cx="4388205" cy="795528"/>
          </a:xfrm>
          <a:prstGeom prst="roundRect">
            <a:avLst>
              <a:gd name="adj" fmla="val 919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94752" y="3803904"/>
            <a:ext cx="3985869" cy="502920"/>
          </a:xfrm>
          <a:prstGeom prst="rect">
            <a:avLst/>
          </a:prstGeom>
          <a:noFill/>
        </p:spPr>
        <p:txBody>
          <a:bodyPr wrap="square" lIns="0" tIns="0" rIns="0" bIns="0">
            <a:spAutoFit/>
          </a:bodyPr>
          <a:lstStyle/>
          <a:p>
            <a:pPr algn="l">
              <a:lnSpc>
                <a:spcPct val="100000"/>
              </a:lnSpc>
            </a:pPr>
            <a:r>
              <a:rPr sz="1100">
                <a:solidFill>
                  <a:srgbClr val="1A1A1A"/>
                </a:solidFill>
                <a:latin typeface="Courier New"/>
              </a:rPr>
              <a:t>1</a:t>
            </a:r>
          </a:p>
          <a:p>
            <a:pPr algn="l">
              <a:lnSpc>
                <a:spcPct val="100000"/>
              </a:lnSpc>
            </a:pPr>
            <a:r>
              <a:rPr sz="1100">
                <a:solidFill>
                  <a:srgbClr val="1A1A1A"/>
                </a:solidFill>
                <a:latin typeface="Courier New"/>
              </a:rPr>
              <a:t>(ignoring a missing key: 'b' )</a:t>
            </a:r>
          </a:p>
          <a:p>
            <a:pPr algn="l">
              <a:lnSpc>
                <a:spcPct val="100000"/>
              </a:lnSpc>
            </a:pPr>
            <a:r>
              <a:rPr sz="1100">
                <a:solidFill>
                  <a:srgbClr val="1A1A1A"/>
                </a:solidFill>
                <a:latin typeface="Courier New"/>
              </a:rPr>
              <a:t>execution continues here</a:t>
            </a:r>
          </a:p>
        </p:txBody>
      </p:sp>
      <p:sp>
        <p:nvSpPr>
          <p:cNvPr id="11" name="Rounded Rectangle 10"/>
          <p:cNvSpPr/>
          <p:nvPr/>
        </p:nvSpPr>
        <p:spPr>
          <a:xfrm>
            <a:off x="7193584" y="4590288"/>
            <a:ext cx="4388205" cy="1508760"/>
          </a:xfrm>
          <a:prstGeom prst="roundRect">
            <a:avLst>
              <a:gd name="adj" fmla="val 5454"/>
            </a:avLst>
          </a:prstGeom>
          <a:solidFill>
            <a:srgbClr val="FBEDEB"/>
          </a:solidFill>
          <a:ln w="12700">
            <a:solidFill>
              <a:srgbClr val="FBE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22184" y="4727448"/>
            <a:ext cx="3931005" cy="1234439"/>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CAUTION</a:t>
            </a:r>
          </a:p>
          <a:p>
            <a:pPr algn="l">
              <a:lnSpc>
                <a:spcPct val="110000"/>
              </a:lnSpc>
              <a:spcAft>
                <a:spcPts val="600"/>
              </a:spcAft>
            </a:pPr>
            <a:r>
              <a:rPr sz="1400" b="0" i="0">
                <a:solidFill>
                  <a:srgbClr val="1A1A1A"/>
                </a:solidFill>
                <a:latin typeface="Arial"/>
              </a:rPr>
              <a:t>Dangerous for the same reasons as a bare </a:t>
            </a:r>
            <a:r>
              <a:rPr sz="1350" b="0" i="0">
                <a:solidFill>
                  <a:srgbClr val="330066"/>
                </a:solidFill>
                <a:latin typeface="Courier New"/>
              </a:rPr>
              <a:t>except: pass</a:t>
            </a:r>
            <a:r>
              <a:rPr sz="1400" b="0" i="0">
                <a:solidFill>
                  <a:srgbClr val="1A1A1A"/>
                </a:solidFill>
                <a:latin typeface="Arial"/>
              </a:rPr>
              <a:t>. Suppress only a specific, expected type, when ignoring it is truly correct; otherwise return </a:t>
            </a:r>
            <a:r>
              <a:rPr sz="1350" b="0" i="0">
                <a:solidFill>
                  <a:srgbClr val="330066"/>
                </a:solidFill>
                <a:latin typeface="Courier New"/>
              </a:rPr>
              <a:t>False</a:t>
            </a:r>
            <a:r>
              <a:rPr sz="1400" b="0" i="0">
                <a:solidFill>
                  <a:srgbClr val="1A1A1A"/>
                </a:solidFill>
                <a:latin typeface="Arial"/>
              </a:rPr>
              <a:t>.</a:t>
            </a:r>
          </a:p>
        </p:txBody>
      </p:sp>
      <p:sp>
        <p:nvSpPr>
          <p:cNvPr id="13" name="TextBox 12"/>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13 / 49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@contextmanager: Generator-Based</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6</a:t>
            </a:r>
          </a:p>
        </p:txBody>
      </p:sp>
      <p:sp>
        <p:nvSpPr>
          <p:cNvPr id="4" name="TextBox 3"/>
          <p:cNvSpPr txBox="1"/>
          <p:nvPr/>
        </p:nvSpPr>
        <p:spPr>
          <a:xfrm>
            <a:off x="609904" y="1783080"/>
            <a:ext cx="694944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Code</a:t>
            </a:r>
          </a:p>
        </p:txBody>
      </p:sp>
      <p:sp>
        <p:nvSpPr>
          <p:cNvPr id="5" name="Rounded Rectangle 4"/>
          <p:cNvSpPr/>
          <p:nvPr/>
        </p:nvSpPr>
        <p:spPr>
          <a:xfrm>
            <a:off x="609904" y="2057400"/>
            <a:ext cx="6949440" cy="2570988"/>
          </a:xfrm>
          <a:prstGeom prst="roundRect">
            <a:avLst>
              <a:gd name="adj" fmla="val 284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6547103" cy="2278380"/>
          </a:xfrm>
          <a:prstGeom prst="rect">
            <a:avLst/>
          </a:prstGeom>
          <a:noFill/>
        </p:spPr>
        <p:txBody>
          <a:bodyPr wrap="square" lIns="0" tIns="0" rIns="0" bIns="0">
            <a:spAutoFit/>
          </a:bodyPr>
          <a:lstStyle/>
          <a:p>
            <a:pPr algn="l">
              <a:lnSpc>
                <a:spcPct val="100000"/>
              </a:lnSpc>
            </a:pPr>
            <a:r>
              <a:rPr sz="1150">
                <a:solidFill>
                  <a:srgbClr val="1A1A1A"/>
                </a:solidFill>
                <a:latin typeface="Courier New"/>
              </a:rPr>
              <a:t>from contextlib import contextmanager</a:t>
            </a:r>
          </a:p>
          <a:p>
            <a:pPr algn="l">
              <a:lnSpc>
                <a:spcPct val="100000"/>
              </a:lnSpc>
            </a:pPr>
            <a:r>
              <a:rPr sz="1150">
                <a:solidFill>
                  <a:srgbClr val="1A1A1A"/>
                </a:solidFill>
                <a:latin typeface="Courier New"/>
              </a:rPr>
              <a:t> </a:t>
            </a:r>
          </a:p>
          <a:p>
            <a:pPr algn="l">
              <a:lnSpc>
                <a:spcPct val="100000"/>
              </a:lnSpc>
            </a:pPr>
            <a:r>
              <a:rPr sz="1150">
                <a:solidFill>
                  <a:srgbClr val="1A1A1A"/>
                </a:solidFill>
                <a:latin typeface="Courier New"/>
              </a:rPr>
              <a:t>@contextmanager</a:t>
            </a:r>
          </a:p>
          <a:p>
            <a:pPr algn="l">
              <a:lnSpc>
                <a:spcPct val="100000"/>
              </a:lnSpc>
            </a:pPr>
            <a:r>
              <a:rPr sz="1150">
                <a:solidFill>
                  <a:srgbClr val="1A1A1A"/>
                </a:solidFill>
                <a:latin typeface="Courier New"/>
              </a:rPr>
              <a:t>def announce(name):</a:t>
            </a:r>
          </a:p>
          <a:p>
            <a:pPr algn="l">
              <a:lnSpc>
                <a:spcPct val="100000"/>
              </a:lnSpc>
            </a:pPr>
            <a:r>
              <a:rPr sz="1150">
                <a:solidFill>
                  <a:srgbClr val="1A1A1A"/>
                </a:solidFill>
                <a:latin typeface="Courier New"/>
              </a:rPr>
              <a:t>    print(f"[enter] {name} starting")      # setup: runs before the block</a:t>
            </a:r>
          </a:p>
          <a:p>
            <a:pPr algn="l">
              <a:lnSpc>
                <a:spcPct val="100000"/>
              </a:lnSpc>
            </a:pPr>
            <a:r>
              <a:rPr sz="1150">
                <a:solidFill>
                  <a:srgbClr val="1A1A1A"/>
                </a:solidFill>
                <a:latin typeface="Courier New"/>
              </a:rPr>
              <a:t>    try:</a:t>
            </a:r>
          </a:p>
          <a:p>
            <a:pPr algn="l">
              <a:lnSpc>
                <a:spcPct val="100000"/>
              </a:lnSpc>
            </a:pPr>
            <a:r>
              <a:rPr sz="1150">
                <a:solidFill>
                  <a:srgbClr val="1A1A1A"/>
                </a:solidFill>
                <a:latin typeface="Courier New"/>
              </a:rPr>
              <a:t>        yield                               # the 'with' block runs here</a:t>
            </a:r>
          </a:p>
          <a:p>
            <a:pPr algn="l">
              <a:lnSpc>
                <a:spcPct val="100000"/>
              </a:lnSpc>
            </a:pPr>
            <a:r>
              <a:rPr sz="1150">
                <a:solidFill>
                  <a:srgbClr val="1A1A1A"/>
                </a:solidFill>
                <a:latin typeface="Courier New"/>
              </a:rPr>
              <a:t>    finally:</a:t>
            </a:r>
          </a:p>
          <a:p>
            <a:pPr algn="l">
              <a:lnSpc>
                <a:spcPct val="100000"/>
              </a:lnSpc>
            </a:pPr>
            <a:r>
              <a:rPr sz="1150">
                <a:solidFill>
                  <a:srgbClr val="1A1A1A"/>
                </a:solidFill>
                <a:latin typeface="Courier New"/>
              </a:rPr>
              <a:t>        print(f"[exit]  {name} finished")  # cleanup: always runs</a:t>
            </a:r>
          </a:p>
          <a:p>
            <a:pPr algn="l">
              <a:lnSpc>
                <a:spcPct val="100000"/>
              </a:lnSpc>
            </a:pPr>
            <a:r>
              <a:rPr sz="1150">
                <a:solidFill>
                  <a:srgbClr val="1A1A1A"/>
                </a:solidFill>
                <a:latin typeface="Courier New"/>
              </a:rPr>
              <a:t> </a:t>
            </a:r>
          </a:p>
          <a:p>
            <a:pPr algn="l">
              <a:lnSpc>
                <a:spcPct val="100000"/>
              </a:lnSpc>
            </a:pPr>
            <a:r>
              <a:rPr sz="1150">
                <a:solidFill>
                  <a:srgbClr val="1A1A1A"/>
                </a:solidFill>
                <a:latin typeface="Courier New"/>
              </a:rPr>
              <a:t> </a:t>
            </a:r>
          </a:p>
          <a:p>
            <a:pPr algn="l">
              <a:lnSpc>
                <a:spcPct val="100000"/>
              </a:lnSpc>
            </a:pPr>
            <a:r>
              <a:rPr sz="1150">
                <a:solidFill>
                  <a:srgbClr val="1A1A1A"/>
                </a:solidFill>
                <a:latin typeface="Courier New"/>
              </a:rPr>
              <a:t>with announce("generator-based task"):</a:t>
            </a:r>
          </a:p>
          <a:p>
            <a:pPr algn="l">
              <a:lnSpc>
                <a:spcPct val="100000"/>
              </a:lnSpc>
            </a:pPr>
            <a:r>
              <a:rPr sz="1150">
                <a:solidFill>
                  <a:srgbClr val="1A1A1A"/>
                </a:solidFill>
                <a:latin typeface="Courier New"/>
              </a:rPr>
              <a:t>    print("  working...")</a:t>
            </a:r>
          </a:p>
        </p:txBody>
      </p:sp>
      <p:sp>
        <p:nvSpPr>
          <p:cNvPr id="7" name="TextBox 6"/>
          <p:cNvSpPr txBox="1"/>
          <p:nvPr/>
        </p:nvSpPr>
        <p:spPr>
          <a:xfrm>
            <a:off x="609904" y="4811268"/>
            <a:ext cx="694944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Output</a:t>
            </a:r>
          </a:p>
        </p:txBody>
      </p:sp>
      <p:sp>
        <p:nvSpPr>
          <p:cNvPr id="8" name="Rounded Rectangle 7"/>
          <p:cNvSpPr/>
          <p:nvPr/>
        </p:nvSpPr>
        <p:spPr>
          <a:xfrm>
            <a:off x="609904" y="5085588"/>
            <a:ext cx="6949440" cy="841247"/>
          </a:xfrm>
          <a:prstGeom prst="roundRect">
            <a:avLst>
              <a:gd name="adj" fmla="val 869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5231892"/>
            <a:ext cx="6547103" cy="548639"/>
          </a:xfrm>
          <a:prstGeom prst="rect">
            <a:avLst/>
          </a:prstGeom>
          <a:noFill/>
        </p:spPr>
        <p:txBody>
          <a:bodyPr wrap="square" lIns="0" tIns="0" rIns="0" bIns="0">
            <a:spAutoFit/>
          </a:bodyPr>
          <a:lstStyle/>
          <a:p>
            <a:pPr algn="l">
              <a:lnSpc>
                <a:spcPct val="100000"/>
              </a:lnSpc>
            </a:pPr>
            <a:r>
              <a:rPr sz="1200">
                <a:solidFill>
                  <a:srgbClr val="1A1A1A"/>
                </a:solidFill>
                <a:latin typeface="Courier New"/>
              </a:rPr>
              <a:t>[enter] generator-based task starting</a:t>
            </a:r>
          </a:p>
          <a:p>
            <a:pPr algn="l">
              <a:lnSpc>
                <a:spcPct val="100000"/>
              </a:lnSpc>
            </a:pPr>
            <a:r>
              <a:rPr sz="1200">
                <a:solidFill>
                  <a:srgbClr val="1A1A1A"/>
                </a:solidFill>
                <a:latin typeface="Courier New"/>
              </a:rPr>
              <a:t>  working...</a:t>
            </a:r>
          </a:p>
          <a:p>
            <a:pPr algn="l">
              <a:lnSpc>
                <a:spcPct val="100000"/>
              </a:lnSpc>
            </a:pPr>
            <a:r>
              <a:rPr sz="1200">
                <a:solidFill>
                  <a:srgbClr val="1A1A1A"/>
                </a:solidFill>
                <a:latin typeface="Courier New"/>
              </a:rPr>
              <a:t>[exit]  generator-based task finished</a:t>
            </a:r>
          </a:p>
        </p:txBody>
      </p:sp>
      <p:sp>
        <p:nvSpPr>
          <p:cNvPr id="10" name="TextBox 9"/>
          <p:cNvSpPr txBox="1"/>
          <p:nvPr/>
        </p:nvSpPr>
        <p:spPr>
          <a:xfrm>
            <a:off x="7925104" y="1783080"/>
            <a:ext cx="3656685" cy="4361688"/>
          </a:xfrm>
          <a:prstGeom prst="rect">
            <a:avLst/>
          </a:prstGeom>
          <a:noFill/>
        </p:spPr>
        <p:txBody>
          <a:bodyPr wrap="square" lIns="0" tIns="0" rIns="0" bIns="0">
            <a:spAutoFit/>
          </a:bodyPr>
          <a:lstStyle/>
          <a:p>
            <a:pPr marL="228600" indent="-228600" algn="l">
              <a:spcAft>
                <a:spcPts val="800"/>
              </a:spcAft>
              <a:buFont typeface="Arial"/>
              <a:buChar char="•"/>
            </a:pPr>
            <a:r>
              <a:rPr sz="1450" b="0" i="0">
                <a:solidFill>
                  <a:srgbClr val="1A1A1A"/>
                </a:solidFill>
                <a:latin typeface="Arial"/>
              </a:rPr>
              <a:t>A class with two methods for every little task is heavy.</a:t>
            </a:r>
          </a:p>
          <a:p>
            <a:pPr marL="228600" indent="-228600" algn="l">
              <a:spcAft>
                <a:spcPts val="800"/>
              </a:spcAft>
              <a:buFont typeface="Arial"/>
              <a:buChar char="•"/>
            </a:pPr>
            <a:r>
              <a:rPr sz="1400" b="0" i="0">
                <a:solidFill>
                  <a:srgbClr val="330066"/>
                </a:solidFill>
                <a:latin typeface="Courier New"/>
              </a:rPr>
              <a:t>contextlib</a:t>
            </a:r>
            <a:r>
              <a:rPr sz="1450" b="0" i="0">
                <a:solidFill>
                  <a:srgbClr val="1A1A1A"/>
                </a:solidFill>
                <a:latin typeface="Arial"/>
              </a:rPr>
              <a:t> shortcut: a generator function with a single </a:t>
            </a:r>
            <a:r>
              <a:rPr sz="1400" b="0" i="0">
                <a:solidFill>
                  <a:srgbClr val="330066"/>
                </a:solidFill>
                <a:latin typeface="Courier New"/>
              </a:rPr>
              <a:t>yield</a:t>
            </a:r>
            <a:r>
              <a:rPr sz="1450" b="0" i="0">
                <a:solidFill>
                  <a:srgbClr val="1A1A1A"/>
                </a:solidFill>
                <a:latin typeface="Arial"/>
              </a:rPr>
              <a:t>, decorated with </a:t>
            </a:r>
            <a:r>
              <a:rPr sz="1400" b="0" i="0">
                <a:solidFill>
                  <a:srgbClr val="330066"/>
                </a:solidFill>
                <a:latin typeface="Courier New"/>
              </a:rPr>
              <a:t>@contextmanager</a:t>
            </a:r>
            <a:r>
              <a:rPr sz="1450" b="0" i="0">
                <a:solidFill>
                  <a:srgbClr val="1A1A1A"/>
                </a:solidFill>
                <a:latin typeface="Arial"/>
              </a:rPr>
              <a:t>.</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14 / 49</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How @contextmanager Works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6</a:t>
            </a:r>
          </a:p>
        </p:txBody>
      </p:sp>
      <p:sp>
        <p:nvSpPr>
          <p:cNvPr id="4" name="Oval 3"/>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5" name="TextBox 4"/>
          <p:cNvSpPr txBox="1"/>
          <p:nvPr/>
        </p:nvSpPr>
        <p:spPr>
          <a:xfrm>
            <a:off x="1158544" y="1819656"/>
            <a:ext cx="10423245" cy="529907"/>
          </a:xfrm>
          <a:prstGeom prst="rect">
            <a:avLst/>
          </a:prstGeom>
          <a:noFill/>
        </p:spPr>
        <p:txBody>
          <a:bodyPr wrap="square" lIns="0" tIns="0" rIns="0" bIns="0" anchor="t">
            <a:spAutoFit/>
          </a:bodyPr>
          <a:lstStyle/>
          <a:p>
            <a:pPr algn="l">
              <a:lnSpc>
                <a:spcPct val="110000"/>
              </a:lnSpc>
              <a:spcAft>
                <a:spcPts val="200"/>
              </a:spcAft>
            </a:pPr>
            <a:r>
              <a:rPr sz="1550" b="1" i="0">
                <a:solidFill>
                  <a:srgbClr val="330066"/>
                </a:solidFill>
                <a:latin typeface="Arial"/>
              </a:rPr>
              <a:t>Before </a:t>
            </a:r>
            <a:r>
              <a:rPr sz="1500" b="1" i="0">
                <a:solidFill>
                  <a:srgbClr val="330066"/>
                </a:solidFill>
                <a:latin typeface="Courier New"/>
              </a:rPr>
              <a:t>yield</a:t>
            </a:r>
          </a:p>
          <a:p>
            <a:pPr algn="l">
              <a:lnSpc>
                <a:spcPct val="110000"/>
              </a:lnSpc>
              <a:spcAft>
                <a:spcPts val="600"/>
              </a:spcAft>
            </a:pPr>
            <a:r>
              <a:rPr sz="1500" b="0" i="0">
                <a:solidFill>
                  <a:srgbClr val="1A1A1A"/>
                </a:solidFill>
                <a:latin typeface="Arial"/>
              </a:rPr>
              <a:t>The setup (the </a:t>
            </a:r>
            <a:r>
              <a:rPr sz="1450" b="0" i="0">
                <a:solidFill>
                  <a:srgbClr val="330066"/>
                </a:solidFill>
                <a:latin typeface="Courier New"/>
              </a:rPr>
              <a:t>__enter__</a:t>
            </a:r>
            <a:r>
              <a:rPr sz="1500" b="0" i="0">
                <a:solidFill>
                  <a:srgbClr val="1A1A1A"/>
                </a:solidFill>
                <a:latin typeface="Arial"/>
              </a:rPr>
              <a:t> part).</a:t>
            </a:r>
          </a:p>
        </p:txBody>
      </p:sp>
      <p:sp>
        <p:nvSpPr>
          <p:cNvPr id="6" name="Oval 5"/>
          <p:cNvSpPr/>
          <p:nvPr/>
        </p:nvSpPr>
        <p:spPr>
          <a:xfrm>
            <a:off x="609904" y="2450147"/>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7" name="TextBox 6"/>
          <p:cNvSpPr txBox="1"/>
          <p:nvPr/>
        </p:nvSpPr>
        <p:spPr>
          <a:xfrm>
            <a:off x="1158544" y="2486723"/>
            <a:ext cx="10423245" cy="529907"/>
          </a:xfrm>
          <a:prstGeom prst="rect">
            <a:avLst/>
          </a:prstGeom>
          <a:noFill/>
        </p:spPr>
        <p:txBody>
          <a:bodyPr wrap="square" lIns="0" tIns="0" rIns="0" bIns="0" anchor="t">
            <a:spAutoFit/>
          </a:bodyPr>
          <a:lstStyle/>
          <a:p>
            <a:pPr algn="l">
              <a:lnSpc>
                <a:spcPct val="110000"/>
              </a:lnSpc>
              <a:spcAft>
                <a:spcPts val="200"/>
              </a:spcAft>
            </a:pPr>
            <a:r>
              <a:rPr sz="1500" b="1" i="0">
                <a:solidFill>
                  <a:srgbClr val="330066"/>
                </a:solidFill>
                <a:latin typeface="Courier New"/>
              </a:rPr>
              <a:t>yield</a:t>
            </a:r>
          </a:p>
          <a:p>
            <a:pPr algn="l">
              <a:lnSpc>
                <a:spcPct val="110000"/>
              </a:lnSpc>
              <a:spcAft>
                <a:spcPts val="600"/>
              </a:spcAft>
            </a:pPr>
            <a:r>
              <a:rPr sz="1500" b="0" i="0">
                <a:solidFill>
                  <a:srgbClr val="1A1A1A"/>
                </a:solidFill>
                <a:latin typeface="Arial"/>
              </a:rPr>
              <a:t>Hands control to the </a:t>
            </a:r>
            <a:r>
              <a:rPr sz="1450" b="0" i="0">
                <a:solidFill>
                  <a:srgbClr val="330066"/>
                </a:solidFill>
                <a:latin typeface="Courier New"/>
              </a:rPr>
              <a:t>with</a:t>
            </a:r>
            <a:r>
              <a:rPr sz="1500" b="0" i="0">
                <a:solidFill>
                  <a:srgbClr val="1A1A1A"/>
                </a:solidFill>
                <a:latin typeface="Arial"/>
              </a:rPr>
              <a:t> block. A value after </a:t>
            </a:r>
            <a:r>
              <a:rPr sz="1450" b="0" i="0">
                <a:solidFill>
                  <a:srgbClr val="330066"/>
                </a:solidFill>
                <a:latin typeface="Courier New"/>
              </a:rPr>
              <a:t>yield</a:t>
            </a:r>
            <a:r>
              <a:rPr sz="1500" b="0" i="0">
                <a:solidFill>
                  <a:srgbClr val="1A1A1A"/>
                </a:solidFill>
                <a:latin typeface="Arial"/>
              </a:rPr>
              <a:t> becomes the </a:t>
            </a:r>
            <a:r>
              <a:rPr sz="1450" b="0" i="0">
                <a:solidFill>
                  <a:srgbClr val="330066"/>
                </a:solidFill>
                <a:latin typeface="Courier New"/>
              </a:rPr>
              <a:t>as</a:t>
            </a:r>
            <a:r>
              <a:rPr sz="1500" b="0" i="0">
                <a:solidFill>
                  <a:srgbClr val="1A1A1A"/>
                </a:solidFill>
                <a:latin typeface="Arial"/>
              </a:rPr>
              <a:t> variable (</a:t>
            </a:r>
            <a:r>
              <a:rPr sz="1450" b="0" i="0">
                <a:solidFill>
                  <a:srgbClr val="330066"/>
                </a:solidFill>
                <a:latin typeface="Courier New"/>
              </a:rPr>
              <a:t>yield resource</a:t>
            </a:r>
            <a:r>
              <a:rPr sz="1500" b="0" i="0">
                <a:solidFill>
                  <a:srgbClr val="1A1A1A"/>
                </a:solidFill>
                <a:latin typeface="Arial"/>
              </a:rPr>
              <a:t>).</a:t>
            </a:r>
          </a:p>
        </p:txBody>
      </p:sp>
      <p:sp>
        <p:nvSpPr>
          <p:cNvPr id="8" name="Oval 7"/>
          <p:cNvSpPr/>
          <p:nvPr/>
        </p:nvSpPr>
        <p:spPr>
          <a:xfrm>
            <a:off x="609904" y="3117215"/>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9" name="TextBox 8"/>
          <p:cNvSpPr txBox="1"/>
          <p:nvPr/>
        </p:nvSpPr>
        <p:spPr>
          <a:xfrm>
            <a:off x="1158544" y="3153791"/>
            <a:ext cx="10423245" cy="529907"/>
          </a:xfrm>
          <a:prstGeom prst="rect">
            <a:avLst/>
          </a:prstGeom>
          <a:noFill/>
        </p:spPr>
        <p:txBody>
          <a:bodyPr wrap="square" lIns="0" tIns="0" rIns="0" bIns="0" anchor="t">
            <a:spAutoFit/>
          </a:bodyPr>
          <a:lstStyle/>
          <a:p>
            <a:pPr algn="l">
              <a:lnSpc>
                <a:spcPct val="110000"/>
              </a:lnSpc>
              <a:spcAft>
                <a:spcPts val="200"/>
              </a:spcAft>
            </a:pPr>
            <a:r>
              <a:rPr sz="1550" b="1" i="0">
                <a:solidFill>
                  <a:srgbClr val="330066"/>
                </a:solidFill>
                <a:latin typeface="Arial"/>
              </a:rPr>
              <a:t>After </a:t>
            </a:r>
            <a:r>
              <a:rPr sz="1500" b="1" i="0">
                <a:solidFill>
                  <a:srgbClr val="330066"/>
                </a:solidFill>
                <a:latin typeface="Courier New"/>
              </a:rPr>
              <a:t>yield</a:t>
            </a:r>
          </a:p>
          <a:p>
            <a:pPr algn="l">
              <a:lnSpc>
                <a:spcPct val="110000"/>
              </a:lnSpc>
              <a:spcAft>
                <a:spcPts val="600"/>
              </a:spcAft>
            </a:pPr>
            <a:r>
              <a:rPr sz="1500" b="0" i="0">
                <a:solidFill>
                  <a:srgbClr val="1A1A1A"/>
                </a:solidFill>
                <a:latin typeface="Arial"/>
              </a:rPr>
              <a:t>The teardown (the </a:t>
            </a:r>
            <a:r>
              <a:rPr sz="1450" b="0" i="0">
                <a:solidFill>
                  <a:srgbClr val="330066"/>
                </a:solidFill>
                <a:latin typeface="Courier New"/>
              </a:rPr>
              <a:t>__exit__</a:t>
            </a:r>
            <a:r>
              <a:rPr sz="1500" b="0" i="0">
                <a:solidFill>
                  <a:srgbClr val="1A1A1A"/>
                </a:solidFill>
                <a:latin typeface="Arial"/>
              </a:rPr>
              <a:t> part).</a:t>
            </a:r>
          </a:p>
        </p:txBody>
      </p:sp>
      <p:sp>
        <p:nvSpPr>
          <p:cNvPr id="10" name="Oval 9"/>
          <p:cNvSpPr/>
          <p:nvPr/>
        </p:nvSpPr>
        <p:spPr>
          <a:xfrm>
            <a:off x="609904" y="378428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4</a:t>
            </a:r>
          </a:p>
        </p:txBody>
      </p:sp>
      <p:sp>
        <p:nvSpPr>
          <p:cNvPr id="11" name="TextBox 10"/>
          <p:cNvSpPr txBox="1"/>
          <p:nvPr/>
        </p:nvSpPr>
        <p:spPr>
          <a:xfrm>
            <a:off x="1158544" y="3820858"/>
            <a:ext cx="10423245" cy="768032"/>
          </a:xfrm>
          <a:prstGeom prst="rect">
            <a:avLst/>
          </a:prstGeom>
          <a:noFill/>
        </p:spPr>
        <p:txBody>
          <a:bodyPr wrap="square" lIns="0" tIns="0" rIns="0" bIns="0" anchor="t">
            <a:spAutoFit/>
          </a:bodyPr>
          <a:lstStyle/>
          <a:p>
            <a:pPr algn="l">
              <a:lnSpc>
                <a:spcPct val="110000"/>
              </a:lnSpc>
              <a:spcAft>
                <a:spcPts val="200"/>
              </a:spcAft>
            </a:pPr>
            <a:r>
              <a:rPr sz="1550" b="1" i="0">
                <a:solidFill>
                  <a:srgbClr val="330066"/>
                </a:solidFill>
                <a:latin typeface="Arial"/>
              </a:rPr>
              <a:t>Exceptions</a:t>
            </a:r>
          </a:p>
          <a:p>
            <a:pPr algn="l">
              <a:lnSpc>
                <a:spcPct val="110000"/>
              </a:lnSpc>
              <a:spcAft>
                <a:spcPts val="600"/>
              </a:spcAft>
            </a:pPr>
            <a:r>
              <a:rPr sz="1500" b="0" i="0">
                <a:solidFill>
                  <a:srgbClr val="1A1A1A"/>
                </a:solidFill>
                <a:latin typeface="Arial"/>
              </a:rPr>
              <a:t>Re-raised at the </a:t>
            </a:r>
            <a:r>
              <a:rPr sz="1450" b="0" i="0">
                <a:solidFill>
                  <a:srgbClr val="330066"/>
                </a:solidFill>
                <a:latin typeface="Courier New"/>
              </a:rPr>
              <a:t>yield</a:t>
            </a:r>
            <a:r>
              <a:rPr sz="1500" b="0" i="0">
                <a:solidFill>
                  <a:srgbClr val="1A1A1A"/>
                </a:solidFill>
                <a:latin typeface="Arial"/>
              </a:rPr>
              <a:t> line: wrap it in </a:t>
            </a:r>
            <a:r>
              <a:rPr sz="1450" b="0" i="0">
                <a:solidFill>
                  <a:srgbClr val="330066"/>
                </a:solidFill>
                <a:latin typeface="Courier New"/>
              </a:rPr>
              <a:t>try</a:t>
            </a:r>
            <a:r>
              <a:rPr sz="1500" b="0" i="0">
                <a:solidFill>
                  <a:srgbClr val="1A1A1A"/>
                </a:solidFill>
                <a:latin typeface="Arial"/>
              </a:rPr>
              <a:t>/</a:t>
            </a:r>
            <a:r>
              <a:rPr sz="1450" b="0" i="0">
                <a:solidFill>
                  <a:srgbClr val="330066"/>
                </a:solidFill>
                <a:latin typeface="Courier New"/>
              </a:rPr>
              <a:t>finally</a:t>
            </a:r>
            <a:r>
              <a:rPr sz="1500" b="0" i="0">
                <a:solidFill>
                  <a:srgbClr val="1A1A1A"/>
                </a:solidFill>
                <a:latin typeface="Arial"/>
              </a:rPr>
              <a:t> (guaranteed cleanup) or </a:t>
            </a:r>
            <a:r>
              <a:rPr sz="1450" b="0" i="0">
                <a:solidFill>
                  <a:srgbClr val="330066"/>
                </a:solidFill>
                <a:latin typeface="Courier New"/>
              </a:rPr>
              <a:t>try</a:t>
            </a:r>
            <a:r>
              <a:rPr sz="1500" b="0" i="0">
                <a:solidFill>
                  <a:srgbClr val="1A1A1A"/>
                </a:solidFill>
                <a:latin typeface="Arial"/>
              </a:rPr>
              <a:t>/</a:t>
            </a:r>
            <a:r>
              <a:rPr sz="1450" b="0" i="0">
                <a:solidFill>
                  <a:srgbClr val="330066"/>
                </a:solidFill>
                <a:latin typeface="Courier New"/>
              </a:rPr>
              <a:t>except</a:t>
            </a:r>
            <a:r>
              <a:rPr sz="1500" b="0" i="0">
                <a:solidFill>
                  <a:srgbClr val="1A1A1A"/>
                </a:solidFill>
                <a:latin typeface="Arial"/>
              </a:rPr>
              <a:t> (to handle it).</a:t>
            </a:r>
          </a:p>
        </p:txBody>
      </p:sp>
      <p:sp>
        <p:nvSpPr>
          <p:cNvPr id="12" name="Rounded Rectangle 11"/>
          <p:cNvSpPr/>
          <p:nvPr/>
        </p:nvSpPr>
        <p:spPr>
          <a:xfrm>
            <a:off x="609904" y="5230368"/>
            <a:ext cx="10971885" cy="868680"/>
          </a:xfrm>
          <a:prstGeom prst="roundRect">
            <a:avLst>
              <a:gd name="adj" fmla="val 9473"/>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8504" y="5367528"/>
            <a:ext cx="10514685" cy="594359"/>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GENERATORS</a:t>
            </a:r>
          </a:p>
          <a:p>
            <a:pPr algn="l">
              <a:lnSpc>
                <a:spcPct val="110000"/>
              </a:lnSpc>
              <a:spcAft>
                <a:spcPts val="600"/>
              </a:spcAft>
            </a:pPr>
            <a:r>
              <a:rPr sz="1400" b="0" i="0">
                <a:solidFill>
                  <a:srgbClr val="1A1A1A"/>
                </a:solidFill>
                <a:latin typeface="Arial"/>
              </a:rPr>
              <a:t>A generator uses </a:t>
            </a:r>
            <a:r>
              <a:rPr sz="1350" b="0" i="0">
                <a:solidFill>
                  <a:srgbClr val="330066"/>
                </a:solidFill>
                <a:latin typeface="Courier New"/>
              </a:rPr>
              <a:t>yield</a:t>
            </a:r>
            <a:r>
              <a:rPr sz="1400" b="0" i="0">
                <a:solidFill>
                  <a:srgbClr val="1A1A1A"/>
                </a:solidFill>
                <a:latin typeface="Arial"/>
              </a:rPr>
              <a:t> to produce values one at a time and pause between them. You need not understand generators in general: follow the pattern setup, </a:t>
            </a:r>
            <a:r>
              <a:rPr sz="1350" b="0" i="0">
                <a:solidFill>
                  <a:srgbClr val="330066"/>
                </a:solidFill>
                <a:latin typeface="Courier New"/>
              </a:rPr>
              <a:t>try: yield</a:t>
            </a:r>
            <a:r>
              <a:rPr sz="1400" b="0" i="0">
                <a:solidFill>
                  <a:srgbClr val="1A1A1A"/>
                </a:solidFill>
                <a:latin typeface="Arial"/>
              </a:rPr>
              <a:t>, </a:t>
            </a:r>
            <a:r>
              <a:rPr sz="1350" b="0" i="0">
                <a:solidFill>
                  <a:srgbClr val="330066"/>
                </a:solidFill>
                <a:latin typeface="Courier New"/>
              </a:rPr>
              <a:t>finally: cleanup</a:t>
            </a:r>
            <a:r>
              <a:rPr sz="1400" b="0" i="0">
                <a:solidFill>
                  <a:srgbClr val="1A1A1A"/>
                </a:solidFill>
                <a:latin typeface="Arial"/>
              </a:rPr>
              <a:t>.</a:t>
            </a:r>
          </a:p>
        </p:txBody>
      </p:sp>
      <p:sp>
        <p:nvSpPr>
          <p:cNvPr id="14" name="TextBox 13"/>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15 / 49</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Yielding a Value to as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6</a:t>
            </a:r>
          </a:p>
        </p:txBody>
      </p:sp>
      <p:sp>
        <p:nvSpPr>
          <p:cNvPr id="4" name="TextBox 3"/>
          <p:cNvSpPr txBox="1"/>
          <p:nvPr/>
        </p:nvSpPr>
        <p:spPr>
          <a:xfrm>
            <a:off x="609904" y="1783080"/>
            <a:ext cx="658368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Code</a:t>
            </a:r>
          </a:p>
        </p:txBody>
      </p:sp>
      <p:sp>
        <p:nvSpPr>
          <p:cNvPr id="5" name="Rounded Rectangle 4"/>
          <p:cNvSpPr/>
          <p:nvPr/>
        </p:nvSpPr>
        <p:spPr>
          <a:xfrm>
            <a:off x="609904" y="2057400"/>
            <a:ext cx="6583680" cy="2471928"/>
          </a:xfrm>
          <a:prstGeom prst="roundRect">
            <a:avLst>
              <a:gd name="adj" fmla="val 2959"/>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6181344" cy="2179320"/>
          </a:xfrm>
          <a:prstGeom prst="rect">
            <a:avLst/>
          </a:prstGeom>
          <a:noFill/>
        </p:spPr>
        <p:txBody>
          <a:bodyPr wrap="square" lIns="0" tIns="0" rIns="0" bIns="0">
            <a:spAutoFit/>
          </a:bodyPr>
          <a:lstStyle/>
          <a:p>
            <a:pPr algn="l">
              <a:lnSpc>
                <a:spcPct val="100000"/>
              </a:lnSpc>
            </a:pPr>
            <a:r>
              <a:rPr sz="1100">
                <a:solidFill>
                  <a:srgbClr val="1A1A1A"/>
                </a:solidFill>
                <a:latin typeface="Courier New"/>
              </a:rPr>
              <a:t>from contextlib import contextmanager</a:t>
            </a:r>
          </a:p>
          <a:p>
            <a:pPr algn="l">
              <a:lnSpc>
                <a:spcPct val="100000"/>
              </a:lnSpc>
            </a:pPr>
            <a:r>
              <a:rPr sz="1100">
                <a:solidFill>
                  <a:srgbClr val="1A1A1A"/>
                </a:solidFill>
                <a:latin typeface="Courier New"/>
              </a:rPr>
              <a:t> </a:t>
            </a:r>
          </a:p>
          <a:p>
            <a:pPr algn="l">
              <a:lnSpc>
                <a:spcPct val="100000"/>
              </a:lnSpc>
            </a:pPr>
            <a:r>
              <a:rPr sz="1100">
                <a:solidFill>
                  <a:srgbClr val="1A1A1A"/>
                </a:solidFill>
                <a:latin typeface="Courier New"/>
              </a:rPr>
              <a:t>@contextmanager</a:t>
            </a:r>
          </a:p>
          <a:p>
            <a:pPr algn="l">
              <a:lnSpc>
                <a:spcPct val="100000"/>
              </a:lnSpc>
            </a:pPr>
            <a:r>
              <a:rPr sz="1100">
                <a:solidFill>
                  <a:srgbClr val="1A1A1A"/>
                </a:solidFill>
                <a:latin typeface="Courier New"/>
              </a:rPr>
              <a:t>def opened_for_append(path):</a:t>
            </a:r>
          </a:p>
          <a:p>
            <a:pPr algn="l">
              <a:lnSpc>
                <a:spcPct val="100000"/>
              </a:lnSpc>
            </a:pPr>
            <a:r>
              <a:rPr sz="1100">
                <a:solidFill>
                  <a:srgbClr val="1A1A1A"/>
                </a:solidFill>
                <a:latin typeface="Courier New"/>
              </a:rPr>
              <a:t>    f = open(path, "a", encoding="utf-8")</a:t>
            </a:r>
          </a:p>
          <a:p>
            <a:pPr algn="l">
              <a:lnSpc>
                <a:spcPct val="100000"/>
              </a:lnSpc>
            </a:pPr>
            <a:r>
              <a:rPr sz="1100">
                <a:solidFill>
                  <a:srgbClr val="1A1A1A"/>
                </a:solidFill>
                <a:latin typeface="Courier New"/>
              </a:rPr>
              <a:t>    try:</a:t>
            </a:r>
          </a:p>
          <a:p>
            <a:pPr algn="l">
              <a:lnSpc>
                <a:spcPct val="100000"/>
              </a:lnSpc>
            </a:pPr>
            <a:r>
              <a:rPr sz="1100">
                <a:solidFill>
                  <a:srgbClr val="1A1A1A"/>
                </a:solidFill>
                <a:latin typeface="Courier New"/>
              </a:rPr>
              <a:t>        yield f                 # 'as' variable receives the open file</a:t>
            </a:r>
          </a:p>
          <a:p>
            <a:pPr algn="l">
              <a:lnSpc>
                <a:spcPct val="100000"/>
              </a:lnSpc>
            </a:pPr>
            <a:r>
              <a:rPr sz="1100">
                <a:solidFill>
                  <a:srgbClr val="1A1A1A"/>
                </a:solidFill>
                <a:latin typeface="Courier New"/>
              </a:rPr>
              <a:t>    finally:</a:t>
            </a:r>
          </a:p>
          <a:p>
            <a:pPr algn="l">
              <a:lnSpc>
                <a:spcPct val="100000"/>
              </a:lnSpc>
            </a:pPr>
            <a:r>
              <a:rPr sz="1100">
                <a:solidFill>
                  <a:srgbClr val="1A1A1A"/>
                </a:solidFill>
                <a:latin typeface="Courier New"/>
              </a:rPr>
              <a:t>        f.close()</a:t>
            </a:r>
          </a:p>
          <a:p>
            <a:pPr algn="l">
              <a:lnSpc>
                <a:spcPct val="100000"/>
              </a:lnSpc>
            </a:pPr>
            <a:r>
              <a:rPr sz="1100">
                <a:solidFill>
                  <a:srgbClr val="1A1A1A"/>
                </a:solidFill>
                <a:latin typeface="Courier New"/>
              </a:rPr>
              <a:t>        print(f"(closed {path})")</a:t>
            </a:r>
          </a:p>
          <a:p>
            <a:pPr algn="l">
              <a:lnSpc>
                <a:spcPct val="100000"/>
              </a:lnSpc>
            </a:pPr>
            <a:r>
              <a:rPr sz="1100">
                <a:solidFill>
                  <a:srgbClr val="1A1A1A"/>
                </a:solidFill>
                <a:latin typeface="Courier New"/>
              </a:rPr>
              <a:t> </a:t>
            </a:r>
          </a:p>
          <a:p>
            <a:pPr algn="l">
              <a:lnSpc>
                <a:spcPct val="100000"/>
              </a:lnSpc>
            </a:pPr>
            <a:r>
              <a:rPr sz="1100">
                <a:solidFill>
                  <a:srgbClr val="1A1A1A"/>
                </a:solidFill>
                <a:latin typeface="Courier New"/>
              </a:rPr>
              <a:t>with opened_for_append("log.txt") as log:</a:t>
            </a:r>
          </a:p>
          <a:p>
            <a:pPr algn="l">
              <a:lnSpc>
                <a:spcPct val="100000"/>
              </a:lnSpc>
            </a:pPr>
            <a:r>
              <a:rPr sz="1100">
                <a:solidFill>
                  <a:srgbClr val="1A1A1A"/>
                </a:solidFill>
                <a:latin typeface="Courier New"/>
              </a:rPr>
              <a:t>    log.write("one more line\n")</a:t>
            </a:r>
          </a:p>
        </p:txBody>
      </p:sp>
      <p:sp>
        <p:nvSpPr>
          <p:cNvPr id="7" name="TextBox 6"/>
          <p:cNvSpPr txBox="1"/>
          <p:nvPr/>
        </p:nvSpPr>
        <p:spPr>
          <a:xfrm>
            <a:off x="609904" y="4712208"/>
            <a:ext cx="658368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Output</a:t>
            </a:r>
          </a:p>
        </p:txBody>
      </p:sp>
      <p:sp>
        <p:nvSpPr>
          <p:cNvPr id="8" name="Rounded Rectangle 7"/>
          <p:cNvSpPr/>
          <p:nvPr/>
        </p:nvSpPr>
        <p:spPr>
          <a:xfrm>
            <a:off x="609904" y="4986528"/>
            <a:ext cx="6583680" cy="483108"/>
          </a:xfrm>
          <a:prstGeom prst="roundRect">
            <a:avLst>
              <a:gd name="adj" fmla="val 1514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5132832"/>
            <a:ext cx="6181344" cy="190499"/>
          </a:xfrm>
          <a:prstGeom prst="rect">
            <a:avLst/>
          </a:prstGeom>
          <a:noFill/>
        </p:spPr>
        <p:txBody>
          <a:bodyPr wrap="square" lIns="0" tIns="0" rIns="0" bIns="0">
            <a:spAutoFit/>
          </a:bodyPr>
          <a:lstStyle/>
          <a:p>
            <a:pPr algn="l">
              <a:lnSpc>
                <a:spcPct val="100000"/>
              </a:lnSpc>
            </a:pPr>
            <a:r>
              <a:rPr sz="1250">
                <a:solidFill>
                  <a:srgbClr val="1A1A1A"/>
                </a:solidFill>
                <a:latin typeface="Courier New"/>
              </a:rPr>
              <a:t>(closed log.txt)</a:t>
            </a:r>
          </a:p>
        </p:txBody>
      </p:sp>
      <p:sp>
        <p:nvSpPr>
          <p:cNvPr id="10" name="TextBox 9"/>
          <p:cNvSpPr txBox="1"/>
          <p:nvPr/>
        </p:nvSpPr>
        <p:spPr>
          <a:xfrm>
            <a:off x="7559344" y="1783080"/>
            <a:ext cx="4022445" cy="4361688"/>
          </a:xfrm>
          <a:prstGeom prst="rect">
            <a:avLst/>
          </a:prstGeom>
          <a:noFill/>
        </p:spPr>
        <p:txBody>
          <a:bodyPr wrap="square" lIns="0" tIns="0" rIns="0" bIns="0">
            <a:spAutoFit/>
          </a:bodyPr>
          <a:lstStyle/>
          <a:p>
            <a:pPr marL="228600" indent="-228600" algn="l">
              <a:spcAft>
                <a:spcPts val="800"/>
              </a:spcAft>
              <a:buFont typeface="Arial"/>
              <a:buChar char="•"/>
            </a:pPr>
            <a:r>
              <a:rPr sz="1400" b="0" i="0">
                <a:solidFill>
                  <a:srgbClr val="330066"/>
                </a:solidFill>
                <a:latin typeface="Courier New"/>
              </a:rPr>
              <a:t>yield f</a:t>
            </a:r>
            <a:r>
              <a:rPr sz="1450" b="0" i="0">
                <a:solidFill>
                  <a:srgbClr val="1A1A1A"/>
                </a:solidFill>
                <a:latin typeface="Arial"/>
              </a:rPr>
              <a:t>: the </a:t>
            </a:r>
            <a:r>
              <a:rPr sz="1400" b="0" i="0">
                <a:solidFill>
                  <a:srgbClr val="330066"/>
                </a:solidFill>
                <a:latin typeface="Courier New"/>
              </a:rPr>
              <a:t>as</a:t>
            </a:r>
            <a:r>
              <a:rPr sz="1450" b="0" i="0">
                <a:solidFill>
                  <a:srgbClr val="1A1A1A"/>
                </a:solidFill>
                <a:latin typeface="Arial"/>
              </a:rPr>
              <a:t> variable receives the open file.</a:t>
            </a:r>
          </a:p>
          <a:p>
            <a:pPr marL="228600" indent="-228600" algn="l">
              <a:spcAft>
                <a:spcPts val="800"/>
              </a:spcAft>
              <a:buFont typeface="Arial"/>
              <a:buChar char="•"/>
            </a:pPr>
            <a:r>
              <a:rPr sz="1450" b="0" i="0">
                <a:solidFill>
                  <a:srgbClr val="1A1A1A"/>
                </a:solidFill>
                <a:latin typeface="Arial"/>
              </a:rPr>
              <a:t>The </a:t>
            </a:r>
            <a:r>
              <a:rPr sz="1400" b="0" i="0">
                <a:solidFill>
                  <a:srgbClr val="330066"/>
                </a:solidFill>
                <a:latin typeface="Courier New"/>
              </a:rPr>
              <a:t>finally</a:t>
            </a:r>
            <a:r>
              <a:rPr sz="1450" b="0" i="0">
                <a:solidFill>
                  <a:srgbClr val="1A1A1A"/>
                </a:solidFill>
                <a:latin typeface="Arial"/>
              </a:rPr>
              <a:t> closes it and reports.</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16 / 49</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The Mistake to Avoid</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6</a:t>
            </a:r>
          </a:p>
        </p:txBody>
      </p:sp>
      <p:sp>
        <p:nvSpPr>
          <p:cNvPr id="4" name="Rounded Rectangle 3"/>
          <p:cNvSpPr/>
          <p:nvPr/>
        </p:nvSpPr>
        <p:spPr>
          <a:xfrm>
            <a:off x="609904" y="1783080"/>
            <a:ext cx="6400800" cy="1207007"/>
          </a:xfrm>
          <a:prstGeom prst="roundRect">
            <a:avLst>
              <a:gd name="adj" fmla="val 6060"/>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998464" cy="914399"/>
          </a:xfrm>
          <a:prstGeom prst="rect">
            <a:avLst/>
          </a:prstGeom>
          <a:noFill/>
        </p:spPr>
        <p:txBody>
          <a:bodyPr wrap="square" lIns="0" tIns="0" rIns="0" bIns="0">
            <a:spAutoFit/>
          </a:bodyPr>
          <a:lstStyle/>
          <a:p>
            <a:pPr algn="l">
              <a:lnSpc>
                <a:spcPct val="100000"/>
              </a:lnSpc>
            </a:pPr>
            <a:r>
              <a:rPr sz="1200">
                <a:solidFill>
                  <a:srgbClr val="1A1A1A"/>
                </a:solidFill>
                <a:latin typeface="Courier New"/>
              </a:rPr>
              <a:t>@contextmanager</a:t>
            </a:r>
          </a:p>
          <a:p>
            <a:pPr algn="l">
              <a:lnSpc>
                <a:spcPct val="100000"/>
              </a:lnSpc>
            </a:pPr>
            <a:r>
              <a:rPr sz="1200">
                <a:solidFill>
                  <a:srgbClr val="1A1A1A"/>
                </a:solidFill>
                <a:latin typeface="Courier New"/>
              </a:rPr>
              <a:t>def broken_cleanup():</a:t>
            </a:r>
          </a:p>
          <a:p>
            <a:pPr algn="l">
              <a:lnSpc>
                <a:spcPct val="100000"/>
              </a:lnSpc>
            </a:pPr>
            <a:r>
              <a:rPr sz="1200">
                <a:solidFill>
                  <a:srgbClr val="1A1A1A"/>
                </a:solidFill>
                <a:latin typeface="Courier New"/>
              </a:rPr>
              <a:t>    print("setup")</a:t>
            </a:r>
          </a:p>
          <a:p>
            <a:pPr algn="l">
              <a:lnSpc>
                <a:spcPct val="100000"/>
              </a:lnSpc>
            </a:pPr>
            <a:r>
              <a:rPr sz="1200">
                <a:solidFill>
                  <a:srgbClr val="1A1A1A"/>
                </a:solidFill>
                <a:latin typeface="Courier New"/>
              </a:rPr>
              <a:t>    yield</a:t>
            </a:r>
          </a:p>
          <a:p>
            <a:pPr algn="l">
              <a:lnSpc>
                <a:spcPct val="100000"/>
              </a:lnSpc>
            </a:pPr>
            <a:r>
              <a:rPr sz="1200">
                <a:solidFill>
                  <a:srgbClr val="1A1A1A"/>
                </a:solidFill>
                <a:latin typeface="Courier New"/>
              </a:rPr>
              <a:t>    print("cleanup")        # skipped if the with-block raises!</a:t>
            </a:r>
          </a:p>
        </p:txBody>
      </p:sp>
      <p:sp>
        <p:nvSpPr>
          <p:cNvPr id="6" name="TextBox 5"/>
          <p:cNvSpPr txBox="1"/>
          <p:nvPr/>
        </p:nvSpPr>
        <p:spPr>
          <a:xfrm>
            <a:off x="7376464" y="1783080"/>
            <a:ext cx="4205325" cy="4361688"/>
          </a:xfrm>
          <a:prstGeom prst="rect">
            <a:avLst/>
          </a:prstGeom>
          <a:noFill/>
        </p:spPr>
        <p:txBody>
          <a:bodyPr wrap="square" lIns="0" tIns="0" rIns="0" bIns="0">
            <a:spAutoFit/>
          </a:bodyPr>
          <a:lstStyle/>
          <a:p>
            <a:pPr marL="228600" indent="-228600" algn="l">
              <a:spcAft>
                <a:spcPts val="800"/>
              </a:spcAft>
              <a:buFont typeface="Arial"/>
              <a:buChar char="•"/>
            </a:pPr>
            <a:r>
              <a:rPr sz="1600" b="0" i="0">
                <a:solidFill>
                  <a:srgbClr val="1A1A1A"/>
                </a:solidFill>
                <a:latin typeface="Arial"/>
              </a:rPr>
              <a:t>Forgetting </a:t>
            </a:r>
            <a:r>
              <a:rPr sz="1550" b="0" i="0">
                <a:solidFill>
                  <a:srgbClr val="330066"/>
                </a:solidFill>
                <a:latin typeface="Courier New"/>
              </a:rPr>
              <a:t>try</a:t>
            </a:r>
            <a:r>
              <a:rPr sz="1600" b="0" i="0">
                <a:solidFill>
                  <a:srgbClr val="1A1A1A"/>
                </a:solidFill>
                <a:latin typeface="Arial"/>
              </a:rPr>
              <a:t>/</a:t>
            </a:r>
            <a:r>
              <a:rPr sz="1550" b="0" i="0">
                <a:solidFill>
                  <a:srgbClr val="330066"/>
                </a:solidFill>
                <a:latin typeface="Courier New"/>
              </a:rPr>
              <a:t>finally</a:t>
            </a:r>
            <a:r>
              <a:rPr sz="1600" b="0" i="0">
                <a:solidFill>
                  <a:srgbClr val="1A1A1A"/>
                </a:solidFill>
                <a:latin typeface="Arial"/>
              </a:rPr>
              <a:t> around the </a:t>
            </a:r>
            <a:r>
              <a:rPr sz="1550" b="0" i="0">
                <a:solidFill>
                  <a:srgbClr val="330066"/>
                </a:solidFill>
                <a:latin typeface="Courier New"/>
              </a:rPr>
              <a:t>yield</a:t>
            </a:r>
            <a:r>
              <a:rPr sz="1600" b="0" i="0">
                <a:solidFill>
                  <a:srgbClr val="1A1A1A"/>
                </a:solidFill>
                <a:latin typeface="Arial"/>
              </a:rPr>
              <a:t>.</a:t>
            </a:r>
          </a:p>
          <a:p>
            <a:pPr marL="228600" indent="-228600" algn="l">
              <a:spcAft>
                <a:spcPts val="800"/>
              </a:spcAft>
              <a:buFont typeface="Arial"/>
              <a:buChar char="•"/>
            </a:pPr>
            <a:r>
              <a:rPr sz="1600" b="0" i="0">
                <a:solidFill>
                  <a:srgbClr val="1A1A1A"/>
                </a:solidFill>
                <a:latin typeface="Arial"/>
              </a:rPr>
              <a:t>An exception in the block would skip your cleanup code.</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17 / 49</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Which Style Should I Use?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6</a:t>
            </a:r>
          </a:p>
        </p:txBody>
      </p:sp>
      <p:graphicFrame>
        <p:nvGraphicFramePr>
          <p:cNvPr id="4" name="Table 3"/>
          <p:cNvGraphicFramePr>
            <a:graphicFrameLocks noGrp="1"/>
          </p:cNvGraphicFramePr>
          <p:nvPr/>
        </p:nvGraphicFramePr>
        <p:xfrm>
          <a:off x="609904" y="1783080"/>
          <a:ext cx="10971884" cy="2061210"/>
        </p:xfrm>
        <a:graphic>
          <a:graphicData uri="http://schemas.openxmlformats.org/drawingml/2006/table">
            <a:tbl>
              <a:tblPr/>
              <a:tblGrid>
                <a:gridCol w="5485942">
                  <a:extLst>
                    <a:ext uri="{9D8B030D-6E8A-4147-A177-3AD203B41FA5}">
                      <a16:colId xmlns:a16="http://schemas.microsoft.com/office/drawing/2014/main" val="20000"/>
                    </a:ext>
                  </a:extLst>
                </a:gridCol>
                <a:gridCol w="5485942">
                  <a:extLst>
                    <a:ext uri="{9D8B030D-6E8A-4147-A177-3AD203B41FA5}">
                      <a16:colId xmlns:a16="http://schemas.microsoft.com/office/drawing/2014/main" val="20001"/>
                    </a:ext>
                  </a:extLst>
                </a:gridCol>
              </a:tblGrid>
              <a:tr h="384048">
                <a:tc>
                  <a:txBody>
                    <a:bodyPr/>
                    <a:lstStyle/>
                    <a:p>
                      <a:r>
                        <a:rPr sz="1500" b="1">
                          <a:solidFill>
                            <a:srgbClr val="FFFFFF"/>
                          </a:solidFill>
                          <a:latin typeface="Arial"/>
                        </a:rPr>
                        <a:t>Use a class when...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500" b="1">
                          <a:solidFill>
                            <a:srgbClr val="FFFFFF"/>
                          </a:solidFill>
                          <a:latin typeface="Arial"/>
                        </a:rPr>
                        <a:t>Use @contextmanager when...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641604">
                <a:tc>
                  <a:txBody>
                    <a:bodyPr/>
                    <a:lstStyle/>
                    <a:p>
                      <a:r>
                        <a:rPr sz="1500" b="0">
                          <a:solidFill>
                            <a:srgbClr val="1A1A1A"/>
                          </a:solidFill>
                          <a:latin typeface="Arial"/>
                        </a:rPr>
                        <a:t>The manager has meaningful state or several methods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500" b="0">
                          <a:solidFill>
                            <a:srgbClr val="1A1A1A"/>
                          </a:solidFill>
                          <a:latin typeface="Arial"/>
                        </a:rPr>
                        <a:t>The logic is "setup, yield, cleanup"</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393954">
                <a:tc>
                  <a:txBody>
                    <a:bodyPr/>
                    <a:lstStyle/>
                    <a:p>
                      <a:r>
                        <a:rPr sz="1500" b="0">
                          <a:solidFill>
                            <a:srgbClr val="1A1A1A"/>
                          </a:solidFill>
                          <a:latin typeface="Arial"/>
                        </a:rPr>
                        <a:t>You want it reusable/inspectable as an object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500" b="0">
                          <a:solidFill>
                            <a:srgbClr val="1A1A1A"/>
                          </a:solidFill>
                          <a:latin typeface="Arial"/>
                        </a:rPr>
                        <a:t>You want the shortest readable code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641604">
                <a:tc>
                  <a:txBody>
                    <a:bodyPr/>
                    <a:lstStyle/>
                    <a:p>
                      <a:r>
                        <a:rPr sz="1500" b="0" i="0">
                          <a:solidFill>
                            <a:srgbClr val="1A1A1A"/>
                          </a:solidFill>
                          <a:latin typeface="Arial"/>
                        </a:rPr>
                        <a:t>You need fine control over </a:t>
                      </a:r>
                      <a:r>
                        <a:rPr sz="1450" b="0" i="0">
                          <a:solidFill>
                            <a:srgbClr val="330066"/>
                          </a:solidFill>
                          <a:latin typeface="Courier New"/>
                        </a:rPr>
                        <a:t>__exit__</a:t>
                      </a:r>
                      <a:r>
                        <a:rPr sz="1500" b="0" i="0">
                          <a:solidFill>
                            <a:srgbClr val="1A1A1A"/>
                          </a:solidFill>
                          <a:latin typeface="Arial"/>
                        </a:rPr>
                        <a:t>'s return value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500" b="0">
                          <a:solidFill>
                            <a:srgbClr val="1A1A1A"/>
                          </a:solidFill>
                          <a:latin typeface="Arial"/>
                        </a:rPr>
                        <a:t>The default (propagate errors) is what you want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18 / 49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Multiple Managers in One with</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7</a:t>
            </a:r>
          </a:p>
        </p:txBody>
      </p:sp>
      <p:sp>
        <p:nvSpPr>
          <p:cNvPr id="4" name="TextBox 3"/>
          <p:cNvSpPr txBox="1"/>
          <p:nvPr/>
        </p:nvSpPr>
        <p:spPr>
          <a:xfrm>
            <a:off x="609904" y="1783080"/>
            <a:ext cx="10971885" cy="457200"/>
          </a:xfrm>
          <a:prstGeom prst="rect">
            <a:avLst/>
          </a:prstGeom>
          <a:noFill/>
        </p:spPr>
        <p:txBody>
          <a:bodyPr wrap="square" lIns="0" tIns="0" rIns="0" bIns="0" anchor="t">
            <a:spAutoFit/>
          </a:bodyPr>
          <a:lstStyle/>
          <a:p>
            <a:pPr algn="l">
              <a:lnSpc>
                <a:spcPct val="110000"/>
              </a:lnSpc>
              <a:spcAft>
                <a:spcPts val="600"/>
              </a:spcAft>
            </a:pPr>
            <a:r>
              <a:rPr sz="1500" b="0" i="0">
                <a:solidFill>
                  <a:srgbClr val="1A1A1A"/>
                </a:solidFill>
                <a:latin typeface="Arial"/>
              </a:rPr>
              <a:t>Separate them with commas: entered left to right, exited in reverse order (like nested blocks).</a:t>
            </a:r>
          </a:p>
        </p:txBody>
      </p:sp>
      <p:sp>
        <p:nvSpPr>
          <p:cNvPr id="5" name="Rounded Rectangle 4"/>
          <p:cNvSpPr/>
          <p:nvPr/>
        </p:nvSpPr>
        <p:spPr>
          <a:xfrm>
            <a:off x="609904" y="2267712"/>
            <a:ext cx="10971885" cy="818388"/>
          </a:xfrm>
          <a:prstGeom prst="roundRect">
            <a:avLst>
              <a:gd name="adj" fmla="val 8938"/>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414016"/>
            <a:ext cx="10569549" cy="525780"/>
          </a:xfrm>
          <a:prstGeom prst="rect">
            <a:avLst/>
          </a:prstGeom>
          <a:noFill/>
        </p:spPr>
        <p:txBody>
          <a:bodyPr wrap="square" lIns="0" tIns="0" rIns="0" bIns="0">
            <a:spAutoFit/>
          </a:bodyPr>
          <a:lstStyle/>
          <a:p>
            <a:pPr algn="l">
              <a:lnSpc>
                <a:spcPct val="100000"/>
              </a:lnSpc>
            </a:pPr>
            <a:r>
              <a:rPr sz="1150">
                <a:solidFill>
                  <a:srgbClr val="1A1A1A"/>
                </a:solidFill>
                <a:latin typeface="Courier New"/>
              </a:rPr>
              <a:t>with open("in.txt", encoding="utf-8") as src, open("out.txt", "w", encoding="utf-8") as dst:</a:t>
            </a:r>
          </a:p>
          <a:p>
            <a:pPr algn="l">
              <a:lnSpc>
                <a:spcPct val="100000"/>
              </a:lnSpc>
            </a:pPr>
            <a:r>
              <a:rPr sz="1150">
                <a:solidFill>
                  <a:srgbClr val="1A1A1A"/>
                </a:solidFill>
                <a:latin typeface="Courier New"/>
              </a:rPr>
              <a:t>    for line in src:</a:t>
            </a:r>
          </a:p>
          <a:p>
            <a:pPr algn="l">
              <a:lnSpc>
                <a:spcPct val="100000"/>
              </a:lnSpc>
            </a:pPr>
            <a:r>
              <a:rPr sz="1150">
                <a:solidFill>
                  <a:srgbClr val="1A1A1A"/>
                </a:solidFill>
                <a:latin typeface="Courier New"/>
              </a:rPr>
              <a:t>        dst.write(line.upper())</a:t>
            </a:r>
          </a:p>
        </p:txBody>
      </p:sp>
      <p:sp>
        <p:nvSpPr>
          <p:cNvPr id="7" name="TextBox 6"/>
          <p:cNvSpPr txBox="1"/>
          <p:nvPr/>
        </p:nvSpPr>
        <p:spPr>
          <a:xfrm>
            <a:off x="609904" y="3474720"/>
            <a:ext cx="548640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Equivalent nested form</a:t>
            </a:r>
          </a:p>
        </p:txBody>
      </p:sp>
      <p:sp>
        <p:nvSpPr>
          <p:cNvPr id="8" name="Rounded Rectangle 7"/>
          <p:cNvSpPr/>
          <p:nvPr/>
        </p:nvSpPr>
        <p:spPr>
          <a:xfrm>
            <a:off x="609904" y="3749039"/>
            <a:ext cx="10971885" cy="1054608"/>
          </a:xfrm>
          <a:prstGeom prst="roundRect">
            <a:avLst>
              <a:gd name="adj" fmla="val 6936"/>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3895344"/>
            <a:ext cx="10569549" cy="761999"/>
          </a:xfrm>
          <a:prstGeom prst="rect">
            <a:avLst/>
          </a:prstGeom>
          <a:noFill/>
        </p:spPr>
        <p:txBody>
          <a:bodyPr wrap="square" lIns="0" tIns="0" rIns="0" bIns="0">
            <a:spAutoFit/>
          </a:bodyPr>
          <a:lstStyle/>
          <a:p>
            <a:pPr algn="l">
              <a:lnSpc>
                <a:spcPct val="100000"/>
              </a:lnSpc>
            </a:pPr>
            <a:r>
              <a:rPr sz="1250">
                <a:solidFill>
                  <a:srgbClr val="1A1A1A"/>
                </a:solidFill>
                <a:latin typeface="Courier New"/>
              </a:rPr>
              <a:t>with open("in.txt", encoding="utf-8") as src:</a:t>
            </a:r>
          </a:p>
          <a:p>
            <a:pPr algn="l">
              <a:lnSpc>
                <a:spcPct val="100000"/>
              </a:lnSpc>
            </a:pPr>
            <a:r>
              <a:rPr sz="1250">
                <a:solidFill>
                  <a:srgbClr val="1A1A1A"/>
                </a:solidFill>
                <a:latin typeface="Courier New"/>
              </a:rPr>
              <a:t>    with open("out.txt", "w", encoding="utf-8") as dst:</a:t>
            </a:r>
          </a:p>
          <a:p>
            <a:pPr algn="l">
              <a:lnSpc>
                <a:spcPct val="100000"/>
              </a:lnSpc>
            </a:pPr>
            <a:r>
              <a:rPr sz="1250">
                <a:solidFill>
                  <a:srgbClr val="1A1A1A"/>
                </a:solidFill>
                <a:latin typeface="Courier New"/>
              </a:rPr>
              <a:t>        for line in src:</a:t>
            </a:r>
          </a:p>
          <a:p>
            <a:pPr algn="l">
              <a:lnSpc>
                <a:spcPct val="100000"/>
              </a:lnSpc>
            </a:pPr>
            <a:r>
              <a:rPr sz="1250">
                <a:solidFill>
                  <a:srgbClr val="1A1A1A"/>
                </a:solidFill>
                <a:latin typeface="Courier New"/>
              </a:rPr>
              <a:t>            dst.write(line.upper())</a:t>
            </a:r>
          </a:p>
        </p:txBody>
      </p:sp>
      <p:sp>
        <p:nvSpPr>
          <p:cNvPr id="10" name="TextBox 9"/>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19 / 49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Parentheses and Ordering</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7</a:t>
            </a:r>
          </a:p>
        </p:txBody>
      </p:sp>
      <p:sp>
        <p:nvSpPr>
          <p:cNvPr id="4" name="TextBox 3"/>
          <p:cNvSpPr txBox="1"/>
          <p:nvPr/>
        </p:nvSpPr>
        <p:spPr>
          <a:xfrm>
            <a:off x="609904" y="1783080"/>
            <a:ext cx="67665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Spread over lines (official from 3.10; works in 3.9 in practice)</a:t>
            </a:r>
          </a:p>
        </p:txBody>
      </p:sp>
      <p:sp>
        <p:nvSpPr>
          <p:cNvPr id="5" name="Rounded Rectangle 4"/>
          <p:cNvSpPr/>
          <p:nvPr/>
        </p:nvSpPr>
        <p:spPr>
          <a:xfrm>
            <a:off x="609904" y="2057400"/>
            <a:ext cx="6766560" cy="1245108"/>
          </a:xfrm>
          <a:prstGeom prst="roundRect">
            <a:avLst>
              <a:gd name="adj" fmla="val 587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6364224" cy="952500"/>
          </a:xfrm>
          <a:prstGeom prst="rect">
            <a:avLst/>
          </a:prstGeom>
          <a:noFill/>
        </p:spPr>
        <p:txBody>
          <a:bodyPr wrap="square" lIns="0" tIns="0" rIns="0" bIns="0">
            <a:spAutoFit/>
          </a:bodyPr>
          <a:lstStyle/>
          <a:p>
            <a:pPr algn="l">
              <a:lnSpc>
                <a:spcPct val="100000"/>
              </a:lnSpc>
            </a:pPr>
            <a:r>
              <a:rPr sz="1250">
                <a:solidFill>
                  <a:srgbClr val="1A1A1A"/>
                </a:solidFill>
                <a:latin typeface="Courier New"/>
              </a:rPr>
              <a:t>with (</a:t>
            </a:r>
          </a:p>
          <a:p>
            <a:pPr algn="l">
              <a:lnSpc>
                <a:spcPct val="100000"/>
              </a:lnSpc>
            </a:pPr>
            <a:r>
              <a:rPr sz="1250">
                <a:solidFill>
                  <a:srgbClr val="1A1A1A"/>
                </a:solidFill>
                <a:latin typeface="Courier New"/>
              </a:rPr>
              <a:t>    open("in.txt", encoding="utf-8") as src,</a:t>
            </a:r>
          </a:p>
          <a:p>
            <a:pPr algn="l">
              <a:lnSpc>
                <a:spcPct val="100000"/>
              </a:lnSpc>
            </a:pPr>
            <a:r>
              <a:rPr sz="1250">
                <a:solidFill>
                  <a:srgbClr val="1A1A1A"/>
                </a:solidFill>
                <a:latin typeface="Courier New"/>
              </a:rPr>
              <a:t>    open("out.txt", "w", encoding="utf-8") as dst,</a:t>
            </a:r>
          </a:p>
          <a:p>
            <a:pPr algn="l">
              <a:lnSpc>
                <a:spcPct val="100000"/>
              </a:lnSpc>
            </a:pPr>
            <a:r>
              <a:rPr sz="1250">
                <a:solidFill>
                  <a:srgbClr val="1A1A1A"/>
                </a:solidFill>
                <a:latin typeface="Courier New"/>
              </a:rPr>
              <a:t>):</a:t>
            </a:r>
          </a:p>
          <a:p>
            <a:pPr algn="l">
              <a:lnSpc>
                <a:spcPct val="100000"/>
              </a:lnSpc>
            </a:pPr>
            <a:r>
              <a:rPr sz="1250">
                <a:solidFill>
                  <a:srgbClr val="1A1A1A"/>
                </a:solidFill>
                <a:latin typeface="Courier New"/>
              </a:rPr>
              <a:t>    dst.write(src.read())</a:t>
            </a:r>
          </a:p>
        </p:txBody>
      </p:sp>
      <p:sp>
        <p:nvSpPr>
          <p:cNvPr id="7" name="TextBox 6"/>
          <p:cNvSpPr txBox="1"/>
          <p:nvPr/>
        </p:nvSpPr>
        <p:spPr>
          <a:xfrm>
            <a:off x="609904" y="3485388"/>
            <a:ext cx="67665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Ordering demo (announce from earlier)</a:t>
            </a:r>
          </a:p>
        </p:txBody>
      </p:sp>
      <p:sp>
        <p:nvSpPr>
          <p:cNvPr id="8" name="Rounded Rectangle 7"/>
          <p:cNvSpPr/>
          <p:nvPr/>
        </p:nvSpPr>
        <p:spPr>
          <a:xfrm>
            <a:off x="609904" y="3759707"/>
            <a:ext cx="6766560" cy="673607"/>
          </a:xfrm>
          <a:prstGeom prst="roundRect">
            <a:avLst>
              <a:gd name="adj" fmla="val 10859"/>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3906012"/>
            <a:ext cx="6364224" cy="380999"/>
          </a:xfrm>
          <a:prstGeom prst="rect">
            <a:avLst/>
          </a:prstGeom>
          <a:noFill/>
        </p:spPr>
        <p:txBody>
          <a:bodyPr wrap="square" lIns="0" tIns="0" rIns="0" bIns="0">
            <a:spAutoFit/>
          </a:bodyPr>
          <a:lstStyle/>
          <a:p>
            <a:pPr algn="l">
              <a:lnSpc>
                <a:spcPct val="100000"/>
              </a:lnSpc>
            </a:pPr>
            <a:r>
              <a:rPr sz="1250">
                <a:solidFill>
                  <a:srgbClr val="1A1A1A"/>
                </a:solidFill>
                <a:latin typeface="Courier New"/>
              </a:rPr>
              <a:t>with announce("outer"), announce("inner"):</a:t>
            </a:r>
          </a:p>
          <a:p>
            <a:pPr algn="l">
              <a:lnSpc>
                <a:spcPct val="100000"/>
              </a:lnSpc>
            </a:pPr>
            <a:r>
              <a:rPr sz="1250">
                <a:solidFill>
                  <a:srgbClr val="1A1A1A"/>
                </a:solidFill>
                <a:latin typeface="Courier New"/>
              </a:rPr>
              <a:t>    print("  inside both")</a:t>
            </a:r>
          </a:p>
        </p:txBody>
      </p:sp>
      <p:sp>
        <p:nvSpPr>
          <p:cNvPr id="10" name="TextBox 9"/>
          <p:cNvSpPr txBox="1"/>
          <p:nvPr/>
        </p:nvSpPr>
        <p:spPr>
          <a:xfrm>
            <a:off x="609904" y="4616196"/>
            <a:ext cx="67665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Output</a:t>
            </a:r>
          </a:p>
        </p:txBody>
      </p:sp>
      <p:sp>
        <p:nvSpPr>
          <p:cNvPr id="11" name="Rounded Rectangle 10"/>
          <p:cNvSpPr/>
          <p:nvPr/>
        </p:nvSpPr>
        <p:spPr>
          <a:xfrm>
            <a:off x="609904" y="4890515"/>
            <a:ext cx="6766560" cy="1245108"/>
          </a:xfrm>
          <a:prstGeom prst="roundRect">
            <a:avLst>
              <a:gd name="adj" fmla="val 587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1072" y="5036820"/>
            <a:ext cx="6364224" cy="952500"/>
          </a:xfrm>
          <a:prstGeom prst="rect">
            <a:avLst/>
          </a:prstGeom>
          <a:noFill/>
        </p:spPr>
        <p:txBody>
          <a:bodyPr wrap="square" lIns="0" tIns="0" rIns="0" bIns="0">
            <a:spAutoFit/>
          </a:bodyPr>
          <a:lstStyle/>
          <a:p>
            <a:pPr algn="l">
              <a:lnSpc>
                <a:spcPct val="100000"/>
              </a:lnSpc>
            </a:pPr>
            <a:r>
              <a:rPr sz="1250">
                <a:solidFill>
                  <a:srgbClr val="1A1A1A"/>
                </a:solidFill>
                <a:latin typeface="Courier New"/>
              </a:rPr>
              <a:t>[enter] outer starting</a:t>
            </a:r>
          </a:p>
          <a:p>
            <a:pPr algn="l">
              <a:lnSpc>
                <a:spcPct val="100000"/>
              </a:lnSpc>
            </a:pPr>
            <a:r>
              <a:rPr sz="1250">
                <a:solidFill>
                  <a:srgbClr val="1A1A1A"/>
                </a:solidFill>
                <a:latin typeface="Courier New"/>
              </a:rPr>
              <a:t>[enter] inner starting</a:t>
            </a:r>
          </a:p>
          <a:p>
            <a:pPr algn="l">
              <a:lnSpc>
                <a:spcPct val="100000"/>
              </a:lnSpc>
            </a:pPr>
            <a:r>
              <a:rPr sz="1250">
                <a:solidFill>
                  <a:srgbClr val="1A1A1A"/>
                </a:solidFill>
                <a:latin typeface="Courier New"/>
              </a:rPr>
              <a:t>  inside both</a:t>
            </a:r>
          </a:p>
          <a:p>
            <a:pPr algn="l">
              <a:lnSpc>
                <a:spcPct val="100000"/>
              </a:lnSpc>
            </a:pPr>
            <a:r>
              <a:rPr sz="1250">
                <a:solidFill>
                  <a:srgbClr val="1A1A1A"/>
                </a:solidFill>
                <a:latin typeface="Courier New"/>
              </a:rPr>
              <a:t>[exit]  inner finished</a:t>
            </a:r>
          </a:p>
          <a:p>
            <a:pPr algn="l">
              <a:lnSpc>
                <a:spcPct val="100000"/>
              </a:lnSpc>
            </a:pPr>
            <a:r>
              <a:rPr sz="1250">
                <a:solidFill>
                  <a:srgbClr val="1A1A1A"/>
                </a:solidFill>
                <a:latin typeface="Courier New"/>
              </a:rPr>
              <a:t>[exit]  outer finished</a:t>
            </a:r>
          </a:p>
        </p:txBody>
      </p:sp>
      <p:sp>
        <p:nvSpPr>
          <p:cNvPr id="13" name="TextBox 12"/>
          <p:cNvSpPr txBox="1"/>
          <p:nvPr/>
        </p:nvSpPr>
        <p:spPr>
          <a:xfrm>
            <a:off x="7742224" y="1783080"/>
            <a:ext cx="3839565" cy="4361688"/>
          </a:xfrm>
          <a:prstGeom prst="rect">
            <a:avLst/>
          </a:prstGeom>
          <a:noFill/>
        </p:spPr>
        <p:txBody>
          <a:bodyPr wrap="square" lIns="0" tIns="0" rIns="0" bIns="0">
            <a:spAutoFit/>
          </a:bodyPr>
          <a:lstStyle/>
          <a:p>
            <a:pPr marL="228600" indent="-228600" algn="l">
              <a:spcAft>
                <a:spcPts val="800"/>
              </a:spcAft>
              <a:buFont typeface="Arial"/>
              <a:buChar char="•"/>
            </a:pPr>
            <a:r>
              <a:rPr sz="1500" b="0" i="0">
                <a:solidFill>
                  <a:srgbClr val="1A1A1A"/>
                </a:solidFill>
                <a:latin typeface="Arial"/>
              </a:rPr>
              <a:t>The last resource opened is the first closed.</a:t>
            </a:r>
          </a:p>
          <a:p>
            <a:pPr marL="228600" indent="-228600" algn="l">
              <a:spcAft>
                <a:spcPts val="800"/>
              </a:spcAft>
              <a:buFont typeface="Arial"/>
              <a:buChar char="•"/>
            </a:pPr>
            <a:r>
              <a:rPr sz="1500" b="0" i="0">
                <a:solidFill>
                  <a:srgbClr val="1A1A1A"/>
                </a:solidFill>
                <a:latin typeface="Arial"/>
              </a:rPr>
              <a:t>The safe order for dependencies.</a:t>
            </a:r>
          </a:p>
        </p:txBody>
      </p:sp>
      <p:sp>
        <p:nvSpPr>
          <p:cNvPr id="14" name="TextBox 13"/>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20 / 49</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contextlib.suppress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8 · READY-MADE MANAGERS</a:t>
            </a:r>
          </a:p>
        </p:txBody>
      </p:sp>
      <p:sp>
        <p:nvSpPr>
          <p:cNvPr id="4" name="TextBox 3"/>
          <p:cNvSpPr txBox="1"/>
          <p:nvPr/>
        </p:nvSpPr>
        <p:spPr>
          <a:xfrm>
            <a:off x="609904" y="1783080"/>
            <a:ext cx="640080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Ignore specific exceptions cleanly</a:t>
            </a:r>
          </a:p>
        </p:txBody>
      </p:sp>
      <p:sp>
        <p:nvSpPr>
          <p:cNvPr id="5" name="Rounded Rectangle 4"/>
          <p:cNvSpPr/>
          <p:nvPr/>
        </p:nvSpPr>
        <p:spPr>
          <a:xfrm>
            <a:off x="609904" y="2057400"/>
            <a:ext cx="6400800" cy="1344168"/>
          </a:xfrm>
          <a:prstGeom prst="roundRect">
            <a:avLst>
              <a:gd name="adj" fmla="val 5442"/>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5998464" cy="1051560"/>
          </a:xfrm>
          <a:prstGeom prst="rect">
            <a:avLst/>
          </a:prstGeom>
          <a:noFill/>
        </p:spPr>
        <p:txBody>
          <a:bodyPr wrap="square" lIns="0" tIns="0" rIns="0" bIns="0">
            <a:spAutoFit/>
          </a:bodyPr>
          <a:lstStyle/>
          <a:p>
            <a:pPr algn="l">
              <a:lnSpc>
                <a:spcPct val="100000"/>
              </a:lnSpc>
            </a:pPr>
            <a:r>
              <a:rPr sz="1150">
                <a:solidFill>
                  <a:srgbClr val="1A1A1A"/>
                </a:solidFill>
                <a:latin typeface="Courier New"/>
              </a:rPr>
              <a:t>import os</a:t>
            </a:r>
          </a:p>
          <a:p>
            <a:pPr algn="l">
              <a:lnSpc>
                <a:spcPct val="100000"/>
              </a:lnSpc>
            </a:pPr>
            <a:r>
              <a:rPr sz="1150">
                <a:solidFill>
                  <a:srgbClr val="1A1A1A"/>
                </a:solidFill>
                <a:latin typeface="Courier New"/>
              </a:rPr>
              <a:t>from contextlib import suppress</a:t>
            </a:r>
          </a:p>
          <a:p>
            <a:pPr algn="l">
              <a:lnSpc>
                <a:spcPct val="100000"/>
              </a:lnSpc>
            </a:pPr>
            <a:r>
              <a:rPr sz="1150">
                <a:solidFill>
                  <a:srgbClr val="1A1A1A"/>
                </a:solidFill>
                <a:latin typeface="Courier New"/>
              </a:rPr>
              <a:t> </a:t>
            </a:r>
          </a:p>
          <a:p>
            <a:pPr algn="l">
              <a:lnSpc>
                <a:spcPct val="100000"/>
              </a:lnSpc>
            </a:pPr>
            <a:r>
              <a:rPr sz="1150">
                <a:solidFill>
                  <a:srgbClr val="1A1A1A"/>
                </a:solidFill>
                <a:latin typeface="Courier New"/>
              </a:rPr>
              <a:t>with suppress(FileNotFoundError):</a:t>
            </a:r>
          </a:p>
          <a:p>
            <a:pPr algn="l">
              <a:lnSpc>
                <a:spcPct val="100000"/>
              </a:lnSpc>
            </a:pPr>
            <a:r>
              <a:rPr sz="1150">
                <a:solidFill>
                  <a:srgbClr val="1A1A1A"/>
                </a:solidFill>
                <a:latin typeface="Courier New"/>
              </a:rPr>
              <a:t>    os.remove("maybe_missing.tmp")      # fine if it does not exist</a:t>
            </a:r>
          </a:p>
          <a:p>
            <a:pPr algn="l">
              <a:lnSpc>
                <a:spcPct val="100000"/>
              </a:lnSpc>
            </a:pPr>
            <a:r>
              <a:rPr sz="1150">
                <a:solidFill>
                  <a:srgbClr val="1A1A1A"/>
                </a:solidFill>
                <a:latin typeface="Courier New"/>
              </a:rPr>
              <a:t>print("done")</a:t>
            </a:r>
          </a:p>
        </p:txBody>
      </p:sp>
      <p:sp>
        <p:nvSpPr>
          <p:cNvPr id="7" name="TextBox 6"/>
          <p:cNvSpPr txBox="1"/>
          <p:nvPr/>
        </p:nvSpPr>
        <p:spPr>
          <a:xfrm>
            <a:off x="609904" y="3584448"/>
            <a:ext cx="640080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This replaces</a:t>
            </a:r>
          </a:p>
        </p:txBody>
      </p:sp>
      <p:sp>
        <p:nvSpPr>
          <p:cNvPr id="8" name="Rounded Rectangle 7"/>
          <p:cNvSpPr/>
          <p:nvPr/>
        </p:nvSpPr>
        <p:spPr>
          <a:xfrm>
            <a:off x="609904" y="3858768"/>
            <a:ext cx="6400800" cy="1085087"/>
          </a:xfrm>
          <a:prstGeom prst="roundRect">
            <a:avLst>
              <a:gd name="adj" fmla="val 674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4005072"/>
            <a:ext cx="5998464" cy="792479"/>
          </a:xfrm>
          <a:prstGeom prst="rect">
            <a:avLst/>
          </a:prstGeom>
          <a:noFill/>
        </p:spPr>
        <p:txBody>
          <a:bodyPr wrap="square" lIns="0" tIns="0" rIns="0" bIns="0">
            <a:spAutoFit/>
          </a:bodyPr>
          <a:lstStyle/>
          <a:p>
            <a:pPr algn="l">
              <a:lnSpc>
                <a:spcPct val="100000"/>
              </a:lnSpc>
            </a:pPr>
            <a:r>
              <a:rPr sz="1300">
                <a:solidFill>
                  <a:srgbClr val="1A1A1A"/>
                </a:solidFill>
                <a:latin typeface="Courier New"/>
              </a:rPr>
              <a:t>try:</a:t>
            </a:r>
          </a:p>
          <a:p>
            <a:pPr algn="l">
              <a:lnSpc>
                <a:spcPct val="100000"/>
              </a:lnSpc>
            </a:pPr>
            <a:r>
              <a:rPr sz="1300">
                <a:solidFill>
                  <a:srgbClr val="1A1A1A"/>
                </a:solidFill>
                <a:latin typeface="Courier New"/>
              </a:rPr>
              <a:t>    os.remove("maybe_missing.tmp")</a:t>
            </a:r>
          </a:p>
          <a:p>
            <a:pPr algn="l">
              <a:lnSpc>
                <a:spcPct val="100000"/>
              </a:lnSpc>
            </a:pPr>
            <a:r>
              <a:rPr sz="1300">
                <a:solidFill>
                  <a:srgbClr val="1A1A1A"/>
                </a:solidFill>
                <a:latin typeface="Courier New"/>
              </a:rPr>
              <a:t>except FileNotFoundError:</a:t>
            </a:r>
          </a:p>
          <a:p>
            <a:pPr algn="l">
              <a:lnSpc>
                <a:spcPct val="100000"/>
              </a:lnSpc>
            </a:pPr>
            <a:r>
              <a:rPr sz="1300">
                <a:solidFill>
                  <a:srgbClr val="1A1A1A"/>
                </a:solidFill>
                <a:latin typeface="Courier New"/>
              </a:rPr>
              <a:t>    pass</a:t>
            </a:r>
          </a:p>
        </p:txBody>
      </p:sp>
      <p:sp>
        <p:nvSpPr>
          <p:cNvPr id="10" name="TextBox 9"/>
          <p:cNvSpPr txBox="1"/>
          <p:nvPr/>
        </p:nvSpPr>
        <p:spPr>
          <a:xfrm>
            <a:off x="7376464" y="1783080"/>
            <a:ext cx="4205325" cy="4361688"/>
          </a:xfrm>
          <a:prstGeom prst="rect">
            <a:avLst/>
          </a:prstGeom>
          <a:noFill/>
        </p:spPr>
        <p:txBody>
          <a:bodyPr wrap="square" lIns="0" tIns="0" rIns="0" bIns="0">
            <a:spAutoFit/>
          </a:bodyPr>
          <a:lstStyle/>
          <a:p>
            <a:pPr marL="228600" indent="-228600" algn="l">
              <a:spcAft>
                <a:spcPts val="800"/>
              </a:spcAft>
              <a:buFont typeface="Arial"/>
              <a:buChar char="•"/>
            </a:pPr>
            <a:r>
              <a:rPr sz="1450" b="0" i="0">
                <a:solidFill>
                  <a:srgbClr val="1A1A1A"/>
                </a:solidFill>
                <a:latin typeface="Arial"/>
              </a:rPr>
              <a:t>Files: </a:t>
            </a:r>
            <a:r>
              <a:rPr sz="1400" b="0" i="0">
                <a:solidFill>
                  <a:srgbClr val="330066"/>
                </a:solidFill>
                <a:latin typeface="Courier New"/>
              </a:rPr>
              <a:t>open()</a:t>
            </a:r>
            <a:r>
              <a:rPr sz="1450" b="0" i="0">
                <a:solidFill>
                  <a:srgbClr val="1A1A1A"/>
                </a:solidFill>
                <a:latin typeface="Arial"/>
              </a:rPr>
              <a:t> returns a context manager (shown throughout).</a:t>
            </a:r>
          </a:p>
          <a:p>
            <a:pPr marL="228600" indent="-228600" algn="l">
              <a:spcAft>
                <a:spcPts val="800"/>
              </a:spcAft>
              <a:buFont typeface="Arial"/>
              <a:buChar char="•"/>
            </a:pPr>
            <a:r>
              <a:rPr sz="1400" b="0" i="0">
                <a:solidFill>
                  <a:srgbClr val="330066"/>
                </a:solidFill>
                <a:latin typeface="Courier New"/>
              </a:rPr>
              <a:t>suppress</a:t>
            </a:r>
            <a:r>
              <a:rPr sz="1450" b="0" i="0">
                <a:solidFill>
                  <a:srgbClr val="1A1A1A"/>
                </a:solidFill>
                <a:latin typeface="Arial"/>
              </a:rPr>
              <a:t> is more readable, and names the one exception that is acceptable.</a:t>
            </a:r>
          </a:p>
          <a:p>
            <a:pPr marL="228600" indent="-228600" algn="l">
              <a:spcAft>
                <a:spcPts val="800"/>
              </a:spcAft>
              <a:buFont typeface="Arial"/>
              <a:buChar char="•"/>
            </a:pPr>
            <a:r>
              <a:rPr sz="1450" b="0" i="0">
                <a:solidFill>
                  <a:srgbClr val="1A1A1A"/>
                </a:solidFill>
                <a:latin typeface="Arial"/>
              </a:rPr>
              <a:t>Use it only where ignoring the error is genuinely right.</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21 / 49</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contextlib.redirect_stdout</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8</a:t>
            </a:r>
          </a:p>
        </p:txBody>
      </p:sp>
      <p:sp>
        <p:nvSpPr>
          <p:cNvPr id="4" name="TextBox 3"/>
          <p:cNvSpPr txBox="1"/>
          <p:nvPr/>
        </p:nvSpPr>
        <p:spPr>
          <a:xfrm>
            <a:off x="609904" y="1783080"/>
            <a:ext cx="10971885"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Capture what code prints (useful for checking output)</a:t>
            </a:r>
          </a:p>
        </p:txBody>
      </p:sp>
      <p:sp>
        <p:nvSpPr>
          <p:cNvPr id="5" name="Rounded Rectangle 4"/>
          <p:cNvSpPr/>
          <p:nvPr/>
        </p:nvSpPr>
        <p:spPr>
          <a:xfrm>
            <a:off x="609904" y="2057400"/>
            <a:ext cx="10971885" cy="1938527"/>
          </a:xfrm>
          <a:prstGeom prst="roundRect">
            <a:avLst>
              <a:gd name="adj" fmla="val 3773"/>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10569549" cy="1645919"/>
          </a:xfrm>
          <a:prstGeom prst="rect">
            <a:avLst/>
          </a:prstGeom>
          <a:noFill/>
        </p:spPr>
        <p:txBody>
          <a:bodyPr wrap="square" lIns="0" tIns="0" rIns="0" bIns="0">
            <a:spAutoFit/>
          </a:bodyPr>
          <a:lstStyle/>
          <a:p>
            <a:pPr algn="l">
              <a:lnSpc>
                <a:spcPct val="100000"/>
              </a:lnSpc>
            </a:pPr>
            <a:r>
              <a:rPr sz="1350">
                <a:solidFill>
                  <a:srgbClr val="1A1A1A"/>
                </a:solidFill>
                <a:latin typeface="Courier New"/>
              </a:rPr>
              <a:t>import io</a:t>
            </a:r>
          </a:p>
          <a:p>
            <a:pPr algn="l">
              <a:lnSpc>
                <a:spcPct val="100000"/>
              </a:lnSpc>
            </a:pPr>
            <a:r>
              <a:rPr sz="1350">
                <a:solidFill>
                  <a:srgbClr val="1A1A1A"/>
                </a:solidFill>
                <a:latin typeface="Courier New"/>
              </a:rPr>
              <a:t>from contextlib import redirect_stdout</a:t>
            </a:r>
          </a:p>
          <a:p>
            <a:pPr algn="l">
              <a:lnSpc>
                <a:spcPct val="100000"/>
              </a:lnSpc>
            </a:pPr>
            <a:r>
              <a:rPr sz="1350">
                <a:solidFill>
                  <a:srgbClr val="1A1A1A"/>
                </a:solidFill>
                <a:latin typeface="Courier New"/>
              </a:rPr>
              <a:t> </a:t>
            </a:r>
          </a:p>
          <a:p>
            <a:pPr algn="l">
              <a:lnSpc>
                <a:spcPct val="100000"/>
              </a:lnSpc>
            </a:pPr>
            <a:r>
              <a:rPr sz="1350">
                <a:solidFill>
                  <a:srgbClr val="1A1A1A"/>
                </a:solidFill>
                <a:latin typeface="Courier New"/>
              </a:rPr>
              <a:t>buffer = io.StringIO()</a:t>
            </a:r>
          </a:p>
          <a:p>
            <a:pPr algn="l">
              <a:lnSpc>
                <a:spcPct val="100000"/>
              </a:lnSpc>
            </a:pPr>
            <a:r>
              <a:rPr sz="1350">
                <a:solidFill>
                  <a:srgbClr val="1A1A1A"/>
                </a:solidFill>
                <a:latin typeface="Courier New"/>
              </a:rPr>
              <a:t>with redirect_stdout(buffer):</a:t>
            </a:r>
          </a:p>
          <a:p>
            <a:pPr algn="l">
              <a:lnSpc>
                <a:spcPct val="100000"/>
              </a:lnSpc>
            </a:pPr>
            <a:r>
              <a:rPr sz="1350">
                <a:solidFill>
                  <a:srgbClr val="1A1A1A"/>
                </a:solidFill>
                <a:latin typeface="Courier New"/>
              </a:rPr>
              <a:t>    print("this goes into the buffer, not the screen")</a:t>
            </a:r>
          </a:p>
          <a:p>
            <a:pPr algn="l">
              <a:lnSpc>
                <a:spcPct val="100000"/>
              </a:lnSpc>
            </a:pPr>
            <a:r>
              <a:rPr sz="1350">
                <a:solidFill>
                  <a:srgbClr val="1A1A1A"/>
                </a:solidFill>
                <a:latin typeface="Courier New"/>
              </a:rPr>
              <a:t> </a:t>
            </a:r>
          </a:p>
          <a:p>
            <a:pPr algn="l">
              <a:lnSpc>
                <a:spcPct val="100000"/>
              </a:lnSpc>
            </a:pPr>
            <a:r>
              <a:rPr sz="1350">
                <a:solidFill>
                  <a:srgbClr val="1A1A1A"/>
                </a:solidFill>
                <a:latin typeface="Courier New"/>
              </a:rPr>
              <a:t>print("Captured:", repr(buffer.getvalue()))</a:t>
            </a:r>
          </a:p>
        </p:txBody>
      </p:sp>
      <p:sp>
        <p:nvSpPr>
          <p:cNvPr id="7" name="TextBox 6"/>
          <p:cNvSpPr txBox="1"/>
          <p:nvPr/>
        </p:nvSpPr>
        <p:spPr>
          <a:xfrm>
            <a:off x="609904" y="4178808"/>
            <a:ext cx="10971885"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Output</a:t>
            </a:r>
          </a:p>
        </p:txBody>
      </p:sp>
      <p:sp>
        <p:nvSpPr>
          <p:cNvPr id="8" name="Rounded Rectangle 7"/>
          <p:cNvSpPr/>
          <p:nvPr/>
        </p:nvSpPr>
        <p:spPr>
          <a:xfrm>
            <a:off x="609904" y="4453128"/>
            <a:ext cx="10971885" cy="498347"/>
          </a:xfrm>
          <a:prstGeom prst="roundRect">
            <a:avLst>
              <a:gd name="adj" fmla="val 14678"/>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4599432"/>
            <a:ext cx="10569549" cy="205739"/>
          </a:xfrm>
          <a:prstGeom prst="rect">
            <a:avLst/>
          </a:prstGeom>
          <a:noFill/>
        </p:spPr>
        <p:txBody>
          <a:bodyPr wrap="square" lIns="0" tIns="0" rIns="0" bIns="0">
            <a:spAutoFit/>
          </a:bodyPr>
          <a:lstStyle/>
          <a:p>
            <a:pPr algn="l">
              <a:lnSpc>
                <a:spcPct val="100000"/>
              </a:lnSpc>
            </a:pPr>
            <a:r>
              <a:rPr sz="1350">
                <a:solidFill>
                  <a:srgbClr val="1A1A1A"/>
                </a:solidFill>
                <a:latin typeface="Courier New"/>
              </a:rPr>
              <a:t>Captured: 'this goes into the buffer, not the screen\n'</a:t>
            </a:r>
          </a:p>
        </p:txBody>
      </p:sp>
      <p:sp>
        <p:nvSpPr>
          <p:cNvPr id="10" name="TextBox 9"/>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22 / 49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tempfile.TemporaryDirectory</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8</a:t>
            </a:r>
          </a:p>
        </p:txBody>
      </p:sp>
      <p:sp>
        <p:nvSpPr>
          <p:cNvPr id="4" name="TextBox 3"/>
          <p:cNvSpPr txBox="1"/>
          <p:nvPr/>
        </p:nvSpPr>
        <p:spPr>
          <a:xfrm>
            <a:off x="609904" y="1783080"/>
            <a:ext cx="67665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Code</a:t>
            </a:r>
          </a:p>
        </p:txBody>
      </p:sp>
      <p:sp>
        <p:nvSpPr>
          <p:cNvPr id="5" name="Rounded Rectangle 4"/>
          <p:cNvSpPr/>
          <p:nvPr/>
        </p:nvSpPr>
        <p:spPr>
          <a:xfrm>
            <a:off x="609904" y="2057400"/>
            <a:ext cx="6766560" cy="2007107"/>
          </a:xfrm>
          <a:prstGeom prst="roundRect">
            <a:avLst>
              <a:gd name="adj" fmla="val 3644"/>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6364224" cy="1714499"/>
          </a:xfrm>
          <a:prstGeom prst="rect">
            <a:avLst/>
          </a:prstGeom>
          <a:noFill/>
        </p:spPr>
        <p:txBody>
          <a:bodyPr wrap="square" lIns="0" tIns="0" rIns="0" bIns="0">
            <a:spAutoFit/>
          </a:bodyPr>
          <a:lstStyle/>
          <a:p>
            <a:pPr algn="l">
              <a:lnSpc>
                <a:spcPct val="100000"/>
              </a:lnSpc>
            </a:pPr>
            <a:r>
              <a:rPr sz="1250">
                <a:solidFill>
                  <a:srgbClr val="1A1A1A"/>
                </a:solidFill>
                <a:latin typeface="Courier New"/>
              </a:rPr>
              <a:t>import tempfile</a:t>
            </a:r>
          </a:p>
          <a:p>
            <a:pPr algn="l">
              <a:lnSpc>
                <a:spcPct val="100000"/>
              </a:lnSpc>
            </a:pPr>
            <a:r>
              <a:rPr sz="1250">
                <a:solidFill>
                  <a:srgbClr val="1A1A1A"/>
                </a:solidFill>
                <a:latin typeface="Courier New"/>
              </a:rPr>
              <a:t>from pathlib import Path</a:t>
            </a:r>
          </a:p>
          <a:p>
            <a:pPr algn="l">
              <a:lnSpc>
                <a:spcPct val="100000"/>
              </a:lnSpc>
            </a:pPr>
            <a:r>
              <a:rPr sz="1250">
                <a:solidFill>
                  <a:srgbClr val="1A1A1A"/>
                </a:solidFill>
                <a:latin typeface="Courier New"/>
              </a:rPr>
              <a:t> </a:t>
            </a:r>
          </a:p>
          <a:p>
            <a:pPr algn="l">
              <a:lnSpc>
                <a:spcPct val="100000"/>
              </a:lnSpc>
            </a:pPr>
            <a:r>
              <a:rPr sz="1250">
                <a:solidFill>
                  <a:srgbClr val="1A1A1A"/>
                </a:solidFill>
                <a:latin typeface="Courier New"/>
              </a:rPr>
              <a:t>with tempfile.TemporaryDirectory() as folder:</a:t>
            </a:r>
          </a:p>
          <a:p>
            <a:pPr algn="l">
              <a:lnSpc>
                <a:spcPct val="100000"/>
              </a:lnSpc>
            </a:pPr>
            <a:r>
              <a:rPr sz="1250">
                <a:solidFill>
                  <a:srgbClr val="1A1A1A"/>
                </a:solidFill>
                <a:latin typeface="Courier New"/>
              </a:rPr>
              <a:t>    work_file = Path(folder) / "scratch.txt"</a:t>
            </a:r>
          </a:p>
          <a:p>
            <a:pPr algn="l">
              <a:lnSpc>
                <a:spcPct val="100000"/>
              </a:lnSpc>
            </a:pPr>
            <a:r>
              <a:rPr sz="1250">
                <a:solidFill>
                  <a:srgbClr val="1A1A1A"/>
                </a:solidFill>
                <a:latin typeface="Courier New"/>
              </a:rPr>
              <a:t>    work_file.write_text("temporary content", encoding="utf-8")</a:t>
            </a:r>
          </a:p>
          <a:p>
            <a:pPr algn="l">
              <a:lnSpc>
                <a:spcPct val="100000"/>
              </a:lnSpc>
            </a:pPr>
            <a:r>
              <a:rPr sz="1250">
                <a:solidFill>
                  <a:srgbClr val="1A1A1A"/>
                </a:solidFill>
                <a:latin typeface="Courier New"/>
              </a:rPr>
              <a:t>    print("exists inside:", work_file.exists())</a:t>
            </a:r>
          </a:p>
          <a:p>
            <a:pPr algn="l">
              <a:lnSpc>
                <a:spcPct val="100000"/>
              </a:lnSpc>
            </a:pPr>
            <a:r>
              <a:rPr sz="1250">
                <a:solidFill>
                  <a:srgbClr val="1A1A1A"/>
                </a:solidFill>
                <a:latin typeface="Courier New"/>
              </a:rPr>
              <a:t> </a:t>
            </a:r>
          </a:p>
          <a:p>
            <a:pPr algn="l">
              <a:lnSpc>
                <a:spcPct val="100000"/>
              </a:lnSpc>
            </a:pPr>
            <a:r>
              <a:rPr sz="1250">
                <a:solidFill>
                  <a:srgbClr val="1A1A1A"/>
                </a:solidFill>
                <a:latin typeface="Courier New"/>
              </a:rPr>
              <a:t>print("exists after :", work_file.exists())</a:t>
            </a:r>
          </a:p>
        </p:txBody>
      </p:sp>
      <p:sp>
        <p:nvSpPr>
          <p:cNvPr id="7" name="TextBox 6"/>
          <p:cNvSpPr txBox="1"/>
          <p:nvPr/>
        </p:nvSpPr>
        <p:spPr>
          <a:xfrm>
            <a:off x="609904" y="4247388"/>
            <a:ext cx="67665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Output</a:t>
            </a:r>
          </a:p>
        </p:txBody>
      </p:sp>
      <p:sp>
        <p:nvSpPr>
          <p:cNvPr id="8" name="Rounded Rectangle 7"/>
          <p:cNvSpPr/>
          <p:nvPr/>
        </p:nvSpPr>
        <p:spPr>
          <a:xfrm>
            <a:off x="609904" y="4521707"/>
            <a:ext cx="6766560" cy="673607"/>
          </a:xfrm>
          <a:prstGeom prst="roundRect">
            <a:avLst>
              <a:gd name="adj" fmla="val 10859"/>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4668012"/>
            <a:ext cx="6364224" cy="380999"/>
          </a:xfrm>
          <a:prstGeom prst="rect">
            <a:avLst/>
          </a:prstGeom>
          <a:noFill/>
        </p:spPr>
        <p:txBody>
          <a:bodyPr wrap="square" lIns="0" tIns="0" rIns="0" bIns="0">
            <a:spAutoFit/>
          </a:bodyPr>
          <a:lstStyle/>
          <a:p>
            <a:pPr algn="l">
              <a:lnSpc>
                <a:spcPct val="100000"/>
              </a:lnSpc>
            </a:pPr>
            <a:r>
              <a:rPr sz="1250">
                <a:solidFill>
                  <a:srgbClr val="1A1A1A"/>
                </a:solidFill>
                <a:latin typeface="Courier New"/>
              </a:rPr>
              <a:t>exists inside: True</a:t>
            </a:r>
          </a:p>
          <a:p>
            <a:pPr algn="l">
              <a:lnSpc>
                <a:spcPct val="100000"/>
              </a:lnSpc>
            </a:pPr>
            <a:r>
              <a:rPr sz="1250">
                <a:solidFill>
                  <a:srgbClr val="1A1A1A"/>
                </a:solidFill>
                <a:latin typeface="Courier New"/>
              </a:rPr>
              <a:t>exists after : False</a:t>
            </a:r>
          </a:p>
        </p:txBody>
      </p:sp>
      <p:sp>
        <p:nvSpPr>
          <p:cNvPr id="10" name="TextBox 9"/>
          <p:cNvSpPr txBox="1"/>
          <p:nvPr/>
        </p:nvSpPr>
        <p:spPr>
          <a:xfrm>
            <a:off x="7742224" y="1783080"/>
            <a:ext cx="3839565" cy="4361688"/>
          </a:xfrm>
          <a:prstGeom prst="rect">
            <a:avLst/>
          </a:prstGeom>
          <a:noFill/>
        </p:spPr>
        <p:txBody>
          <a:bodyPr wrap="square" lIns="0" tIns="0" rIns="0" bIns="0">
            <a:spAutoFit/>
          </a:bodyPr>
          <a:lstStyle/>
          <a:p>
            <a:pPr marL="228600" indent="-228600" algn="l">
              <a:spcAft>
                <a:spcPts val="800"/>
              </a:spcAft>
              <a:buFont typeface="Arial"/>
              <a:buChar char="•"/>
            </a:pPr>
            <a:r>
              <a:rPr sz="1350" b="0" i="0">
                <a:solidFill>
                  <a:srgbClr val="330066"/>
                </a:solidFill>
                <a:latin typeface="Courier New"/>
              </a:rPr>
              <a:t>TemporaryDirectory</a:t>
            </a:r>
            <a:r>
              <a:rPr sz="1400" b="0" i="0">
                <a:solidFill>
                  <a:srgbClr val="1A1A1A"/>
                </a:solidFill>
                <a:latin typeface="Arial"/>
              </a:rPr>
              <a:t> and </a:t>
            </a:r>
            <a:r>
              <a:rPr sz="1350" b="0" i="0">
                <a:solidFill>
                  <a:srgbClr val="330066"/>
                </a:solidFill>
                <a:latin typeface="Courier New"/>
              </a:rPr>
              <a:t>NamedTemporaryFile</a:t>
            </a:r>
            <a:r>
              <a:rPr sz="1400" b="0" i="0">
                <a:solidFill>
                  <a:srgbClr val="1A1A1A"/>
                </a:solidFill>
                <a:latin typeface="Arial"/>
              </a:rPr>
              <a:t> create working areas that vanish afterwards.</a:t>
            </a:r>
          </a:p>
          <a:p>
            <a:pPr marL="228600" indent="-228600" algn="l">
              <a:spcAft>
                <a:spcPts val="800"/>
              </a:spcAft>
              <a:buFont typeface="Arial"/>
              <a:buChar char="•"/>
            </a:pPr>
            <a:r>
              <a:rPr sz="1400" b="0" i="0">
                <a:solidFill>
                  <a:srgbClr val="1A1A1A"/>
                </a:solidFill>
                <a:latin typeface="Arial"/>
              </a:rPr>
              <a:t>Perfect for tests that must not leave files behind.</a:t>
            </a:r>
          </a:p>
          <a:p>
            <a:pPr marL="228600" indent="-228600" algn="l">
              <a:spcAft>
                <a:spcPts val="800"/>
              </a:spcAft>
              <a:buFont typeface="Arial"/>
              <a:buChar char="•"/>
            </a:pPr>
            <a:r>
              <a:rPr sz="1400" b="0" i="0">
                <a:solidFill>
                  <a:srgbClr val="1A1A1A"/>
                </a:solidFill>
                <a:latin typeface="Arial"/>
              </a:rPr>
              <a:t>The directory and everything in it are deleted when the block exits, even after an error.</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23 / 49</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contextlib.closing</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8</a:t>
            </a:r>
          </a:p>
        </p:txBody>
      </p:sp>
      <p:sp>
        <p:nvSpPr>
          <p:cNvPr id="4" name="TextBox 3"/>
          <p:cNvSpPr txBox="1"/>
          <p:nvPr/>
        </p:nvSpPr>
        <p:spPr>
          <a:xfrm>
            <a:off x="609904" y="1783080"/>
            <a:ext cx="603504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Code</a:t>
            </a:r>
          </a:p>
        </p:txBody>
      </p:sp>
      <p:sp>
        <p:nvSpPr>
          <p:cNvPr id="5" name="Rounded Rectangle 4"/>
          <p:cNvSpPr/>
          <p:nvPr/>
        </p:nvSpPr>
        <p:spPr>
          <a:xfrm>
            <a:off x="609904" y="2057400"/>
            <a:ext cx="6035040" cy="1877568"/>
          </a:xfrm>
          <a:prstGeom prst="roundRect">
            <a:avLst>
              <a:gd name="adj" fmla="val 3896"/>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5632703" cy="1584959"/>
          </a:xfrm>
          <a:prstGeom prst="rect">
            <a:avLst/>
          </a:prstGeom>
          <a:noFill/>
        </p:spPr>
        <p:txBody>
          <a:bodyPr wrap="square" lIns="0" tIns="0" rIns="0" bIns="0">
            <a:spAutoFit/>
          </a:bodyPr>
          <a:lstStyle/>
          <a:p>
            <a:pPr algn="l">
              <a:lnSpc>
                <a:spcPct val="100000"/>
              </a:lnSpc>
            </a:pPr>
            <a:r>
              <a:rPr sz="1300">
                <a:solidFill>
                  <a:srgbClr val="1A1A1A"/>
                </a:solidFill>
                <a:latin typeface="Courier New"/>
              </a:rPr>
              <a:t>from contextlib import closing</a:t>
            </a:r>
          </a:p>
          <a:p>
            <a:pPr algn="l">
              <a:lnSpc>
                <a:spcPct val="100000"/>
              </a:lnSpc>
            </a:pPr>
            <a:r>
              <a:rPr sz="1300">
                <a:solidFill>
                  <a:srgbClr val="1A1A1A"/>
                </a:solidFill>
                <a:latin typeface="Courier New"/>
              </a:rPr>
              <a:t> </a:t>
            </a:r>
          </a:p>
          <a:p>
            <a:pPr algn="l">
              <a:lnSpc>
                <a:spcPct val="100000"/>
              </a:lnSpc>
            </a:pPr>
            <a:r>
              <a:rPr sz="1300">
                <a:solidFill>
                  <a:srgbClr val="1A1A1A"/>
                </a:solidFill>
                <a:latin typeface="Courier New"/>
              </a:rPr>
              <a:t>class OldStyleConnection:</a:t>
            </a:r>
          </a:p>
          <a:p>
            <a:pPr algn="l">
              <a:lnSpc>
                <a:spcPct val="100000"/>
              </a:lnSpc>
            </a:pPr>
            <a:r>
              <a:rPr sz="1300">
                <a:solidFill>
                  <a:srgbClr val="1A1A1A"/>
                </a:solidFill>
                <a:latin typeface="Courier New"/>
              </a:rPr>
              <a:t>    def close(self):</a:t>
            </a:r>
          </a:p>
          <a:p>
            <a:pPr algn="l">
              <a:lnSpc>
                <a:spcPct val="100000"/>
              </a:lnSpc>
            </a:pPr>
            <a:r>
              <a:rPr sz="1300">
                <a:solidFill>
                  <a:srgbClr val="1A1A1A"/>
                </a:solidFill>
                <a:latin typeface="Courier New"/>
              </a:rPr>
              <a:t>        print("connection closed")</a:t>
            </a:r>
          </a:p>
          <a:p>
            <a:pPr algn="l">
              <a:lnSpc>
                <a:spcPct val="100000"/>
              </a:lnSpc>
            </a:pPr>
            <a:r>
              <a:rPr sz="1300">
                <a:solidFill>
                  <a:srgbClr val="1A1A1A"/>
                </a:solidFill>
                <a:latin typeface="Courier New"/>
              </a:rPr>
              <a:t> </a:t>
            </a:r>
          </a:p>
          <a:p>
            <a:pPr algn="l">
              <a:lnSpc>
                <a:spcPct val="100000"/>
              </a:lnSpc>
            </a:pPr>
            <a:r>
              <a:rPr sz="1300">
                <a:solidFill>
                  <a:srgbClr val="1A1A1A"/>
                </a:solidFill>
                <a:latin typeface="Courier New"/>
              </a:rPr>
              <a:t>with closing(OldStyleConnection()) as conn:</a:t>
            </a:r>
          </a:p>
          <a:p>
            <a:pPr algn="l">
              <a:lnSpc>
                <a:spcPct val="100000"/>
              </a:lnSpc>
            </a:pPr>
            <a:r>
              <a:rPr sz="1300">
                <a:solidFill>
                  <a:srgbClr val="1A1A1A"/>
                </a:solidFill>
                <a:latin typeface="Courier New"/>
              </a:rPr>
              <a:t>    print("using", conn.__class__.__name__)</a:t>
            </a:r>
          </a:p>
        </p:txBody>
      </p:sp>
      <p:sp>
        <p:nvSpPr>
          <p:cNvPr id="7" name="TextBox 6"/>
          <p:cNvSpPr txBox="1"/>
          <p:nvPr/>
        </p:nvSpPr>
        <p:spPr>
          <a:xfrm>
            <a:off x="609904" y="4117848"/>
            <a:ext cx="603504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Output</a:t>
            </a:r>
          </a:p>
        </p:txBody>
      </p:sp>
      <p:sp>
        <p:nvSpPr>
          <p:cNvPr id="8" name="Rounded Rectangle 7"/>
          <p:cNvSpPr/>
          <p:nvPr/>
        </p:nvSpPr>
        <p:spPr>
          <a:xfrm>
            <a:off x="609904" y="4392168"/>
            <a:ext cx="6035040" cy="688848"/>
          </a:xfrm>
          <a:prstGeom prst="roundRect">
            <a:avLst>
              <a:gd name="adj" fmla="val 10619"/>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4538472"/>
            <a:ext cx="5632703" cy="396239"/>
          </a:xfrm>
          <a:prstGeom prst="rect">
            <a:avLst/>
          </a:prstGeom>
          <a:noFill/>
        </p:spPr>
        <p:txBody>
          <a:bodyPr wrap="square" lIns="0" tIns="0" rIns="0" bIns="0">
            <a:spAutoFit/>
          </a:bodyPr>
          <a:lstStyle/>
          <a:p>
            <a:pPr algn="l">
              <a:lnSpc>
                <a:spcPct val="100000"/>
              </a:lnSpc>
            </a:pPr>
            <a:r>
              <a:rPr sz="1300">
                <a:solidFill>
                  <a:srgbClr val="1A1A1A"/>
                </a:solidFill>
                <a:latin typeface="Courier New"/>
              </a:rPr>
              <a:t>using OldStyleConnection</a:t>
            </a:r>
          </a:p>
          <a:p>
            <a:pPr algn="l">
              <a:lnSpc>
                <a:spcPct val="100000"/>
              </a:lnSpc>
            </a:pPr>
            <a:r>
              <a:rPr sz="1300">
                <a:solidFill>
                  <a:srgbClr val="1A1A1A"/>
                </a:solidFill>
                <a:latin typeface="Courier New"/>
              </a:rPr>
              <a:t>connection closed</a:t>
            </a:r>
          </a:p>
        </p:txBody>
      </p:sp>
      <p:sp>
        <p:nvSpPr>
          <p:cNvPr id="10" name="TextBox 9"/>
          <p:cNvSpPr txBox="1"/>
          <p:nvPr/>
        </p:nvSpPr>
        <p:spPr>
          <a:xfrm>
            <a:off x="7010704" y="1783080"/>
            <a:ext cx="4571085" cy="4361688"/>
          </a:xfrm>
          <a:prstGeom prst="rect">
            <a:avLst/>
          </a:prstGeom>
          <a:noFill/>
        </p:spPr>
        <p:txBody>
          <a:bodyPr wrap="square" lIns="0" tIns="0" rIns="0" bIns="0">
            <a:spAutoFit/>
          </a:bodyPr>
          <a:lstStyle/>
          <a:p>
            <a:pPr marL="228600" indent="-228600" algn="l">
              <a:spcAft>
                <a:spcPts val="800"/>
              </a:spcAft>
              <a:buFont typeface="Arial"/>
              <a:buChar char="•"/>
            </a:pPr>
            <a:r>
              <a:rPr sz="1500" b="0" i="0">
                <a:solidFill>
                  <a:srgbClr val="1A1A1A"/>
                </a:solidFill>
                <a:latin typeface="Arial"/>
              </a:rPr>
              <a:t>Gives </a:t>
            </a:r>
            <a:r>
              <a:rPr sz="1450" b="0" i="0">
                <a:solidFill>
                  <a:srgbClr val="330066"/>
                </a:solidFill>
                <a:latin typeface="Courier New"/>
              </a:rPr>
              <a:t>with</a:t>
            </a:r>
            <a:r>
              <a:rPr sz="1500" b="0" i="0">
                <a:solidFill>
                  <a:srgbClr val="1A1A1A"/>
                </a:solidFill>
                <a:latin typeface="Arial"/>
              </a:rPr>
              <a:t> support to an object that has a </a:t>
            </a:r>
            <a:r>
              <a:rPr sz="1450" b="0" i="0">
                <a:solidFill>
                  <a:srgbClr val="330066"/>
                </a:solidFill>
                <a:latin typeface="Courier New"/>
              </a:rPr>
              <a:t>.close()</a:t>
            </a:r>
            <a:r>
              <a:rPr sz="1500" b="0" i="0">
                <a:solidFill>
                  <a:srgbClr val="1A1A1A"/>
                </a:solidFill>
                <a:latin typeface="Arial"/>
              </a:rPr>
              <a:t> method but is not itself a context manager.</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24 / 49</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contextlib.ExitStack</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8</a:t>
            </a:r>
          </a:p>
        </p:txBody>
      </p:sp>
      <p:sp>
        <p:nvSpPr>
          <p:cNvPr id="4" name="TextBox 3"/>
          <p:cNvSpPr txBox="1"/>
          <p:nvPr/>
        </p:nvSpPr>
        <p:spPr>
          <a:xfrm>
            <a:off x="609904" y="1783080"/>
            <a:ext cx="76809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Code</a:t>
            </a:r>
          </a:p>
        </p:txBody>
      </p:sp>
      <p:sp>
        <p:nvSpPr>
          <p:cNvPr id="5" name="Rounded Rectangle 4"/>
          <p:cNvSpPr/>
          <p:nvPr/>
        </p:nvSpPr>
        <p:spPr>
          <a:xfrm>
            <a:off x="609904" y="2057400"/>
            <a:ext cx="7680960" cy="2746247"/>
          </a:xfrm>
          <a:prstGeom prst="roundRect">
            <a:avLst>
              <a:gd name="adj" fmla="val 2663"/>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7278624" cy="2453639"/>
          </a:xfrm>
          <a:prstGeom prst="rect">
            <a:avLst/>
          </a:prstGeom>
          <a:noFill/>
        </p:spPr>
        <p:txBody>
          <a:bodyPr wrap="square" lIns="0" tIns="0" rIns="0" bIns="0">
            <a:spAutoFit/>
          </a:bodyPr>
          <a:lstStyle/>
          <a:p>
            <a:pPr algn="l">
              <a:lnSpc>
                <a:spcPct val="100000"/>
              </a:lnSpc>
            </a:pPr>
            <a:r>
              <a:rPr sz="1150">
                <a:solidFill>
                  <a:srgbClr val="1A1A1A"/>
                </a:solidFill>
                <a:latin typeface="Courier New"/>
              </a:rPr>
              <a:t>from contextlib import ExitStack</a:t>
            </a:r>
          </a:p>
          <a:p>
            <a:pPr algn="l">
              <a:lnSpc>
                <a:spcPct val="100000"/>
              </a:lnSpc>
            </a:pPr>
            <a:r>
              <a:rPr sz="1150">
                <a:solidFill>
                  <a:srgbClr val="1A1A1A"/>
                </a:solidFill>
                <a:latin typeface="Courier New"/>
              </a:rPr>
              <a:t>import tempfile, os</a:t>
            </a:r>
          </a:p>
          <a:p>
            <a:pPr algn="l">
              <a:lnSpc>
                <a:spcPct val="100000"/>
              </a:lnSpc>
            </a:pPr>
            <a:r>
              <a:rPr sz="1150">
                <a:solidFill>
                  <a:srgbClr val="1A1A1A"/>
                </a:solidFill>
                <a:latin typeface="Courier New"/>
              </a:rPr>
              <a:t> </a:t>
            </a:r>
          </a:p>
          <a:p>
            <a:pPr algn="l">
              <a:lnSpc>
                <a:spcPct val="100000"/>
              </a:lnSpc>
            </a:pPr>
            <a:r>
              <a:rPr sz="1150">
                <a:solidFill>
                  <a:srgbClr val="1A1A1A"/>
                </a:solidFill>
                <a:latin typeface="Courier New"/>
              </a:rPr>
              <a:t>paths = []</a:t>
            </a:r>
          </a:p>
          <a:p>
            <a:pPr algn="l">
              <a:lnSpc>
                <a:spcPct val="100000"/>
              </a:lnSpc>
            </a:pPr>
            <a:r>
              <a:rPr sz="1150">
                <a:solidFill>
                  <a:srgbClr val="1A1A1A"/>
                </a:solidFill>
                <a:latin typeface="Courier New"/>
              </a:rPr>
              <a:t>with tempfile.TemporaryDirectory() as folder:</a:t>
            </a:r>
          </a:p>
          <a:p>
            <a:pPr algn="l">
              <a:lnSpc>
                <a:spcPct val="100000"/>
              </a:lnSpc>
            </a:pPr>
            <a:r>
              <a:rPr sz="1150">
                <a:solidFill>
                  <a:srgbClr val="1A1A1A"/>
                </a:solidFill>
                <a:latin typeface="Courier New"/>
              </a:rPr>
              <a:t>    for name in ("a.txt", "b.txt", "c.txt"):</a:t>
            </a:r>
          </a:p>
          <a:p>
            <a:pPr algn="l">
              <a:lnSpc>
                <a:spcPct val="100000"/>
              </a:lnSpc>
            </a:pPr>
            <a:r>
              <a:rPr sz="1150">
                <a:solidFill>
                  <a:srgbClr val="1A1A1A"/>
                </a:solidFill>
                <a:latin typeface="Courier New"/>
              </a:rPr>
              <a:t>        paths.append(os.path.join(folder, name))</a:t>
            </a:r>
          </a:p>
          <a:p>
            <a:pPr algn="l">
              <a:lnSpc>
                <a:spcPct val="100000"/>
              </a:lnSpc>
            </a:pPr>
            <a:r>
              <a:rPr sz="1150">
                <a:solidFill>
                  <a:srgbClr val="1A1A1A"/>
                </a:solidFill>
                <a:latin typeface="Courier New"/>
              </a:rPr>
              <a:t>        with open(paths[-1], "w", encoding="utf-8") as f:</a:t>
            </a:r>
          </a:p>
          <a:p>
            <a:pPr algn="l">
              <a:lnSpc>
                <a:spcPct val="100000"/>
              </a:lnSpc>
            </a:pPr>
            <a:r>
              <a:rPr sz="1150">
                <a:solidFill>
                  <a:srgbClr val="1A1A1A"/>
                </a:solidFill>
                <a:latin typeface="Courier New"/>
              </a:rPr>
              <a:t>            f.write(name)</a:t>
            </a:r>
          </a:p>
          <a:p>
            <a:pPr algn="l">
              <a:lnSpc>
                <a:spcPct val="100000"/>
              </a:lnSpc>
            </a:pPr>
            <a:r>
              <a:rPr sz="1150">
                <a:solidFill>
                  <a:srgbClr val="1A1A1A"/>
                </a:solidFill>
                <a:latin typeface="Courier New"/>
              </a:rPr>
              <a:t> </a:t>
            </a:r>
          </a:p>
          <a:p>
            <a:pPr algn="l">
              <a:lnSpc>
                <a:spcPct val="100000"/>
              </a:lnSpc>
            </a:pPr>
            <a:r>
              <a:rPr sz="1150">
                <a:solidFill>
                  <a:srgbClr val="1A1A1A"/>
                </a:solidFill>
                <a:latin typeface="Courier New"/>
              </a:rPr>
              <a:t>    with ExitStack() as stack:</a:t>
            </a:r>
          </a:p>
          <a:p>
            <a:pPr algn="l">
              <a:lnSpc>
                <a:spcPct val="100000"/>
              </a:lnSpc>
            </a:pPr>
            <a:r>
              <a:rPr sz="1150">
                <a:solidFill>
                  <a:srgbClr val="1A1A1A"/>
                </a:solidFill>
                <a:latin typeface="Courier New"/>
              </a:rPr>
              <a:t>        files = [stack.enter_context(open(p, encoding="utf-8")) for p in paths]</a:t>
            </a:r>
          </a:p>
          <a:p>
            <a:pPr algn="l">
              <a:lnSpc>
                <a:spcPct val="100000"/>
              </a:lnSpc>
            </a:pPr>
            <a:r>
              <a:rPr sz="1150">
                <a:solidFill>
                  <a:srgbClr val="1A1A1A"/>
                </a:solidFill>
                <a:latin typeface="Courier New"/>
              </a:rPr>
              <a:t>        print([f.read() for f in files])</a:t>
            </a:r>
          </a:p>
          <a:p>
            <a:pPr algn="l">
              <a:lnSpc>
                <a:spcPct val="100000"/>
              </a:lnSpc>
            </a:pPr>
            <a:r>
              <a:rPr sz="1150">
                <a:solidFill>
                  <a:srgbClr val="1A1A1A"/>
                </a:solidFill>
                <a:latin typeface="Courier New"/>
              </a:rPr>
              <a:t>    print("all closed:", all(f.closed for f in files))</a:t>
            </a:r>
          </a:p>
        </p:txBody>
      </p:sp>
      <p:sp>
        <p:nvSpPr>
          <p:cNvPr id="7" name="TextBox 6"/>
          <p:cNvSpPr txBox="1"/>
          <p:nvPr/>
        </p:nvSpPr>
        <p:spPr>
          <a:xfrm>
            <a:off x="609904" y="4986528"/>
            <a:ext cx="76809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Output</a:t>
            </a:r>
          </a:p>
        </p:txBody>
      </p:sp>
      <p:sp>
        <p:nvSpPr>
          <p:cNvPr id="8" name="Rounded Rectangle 7"/>
          <p:cNvSpPr/>
          <p:nvPr/>
        </p:nvSpPr>
        <p:spPr>
          <a:xfrm>
            <a:off x="609904" y="5260848"/>
            <a:ext cx="7680960" cy="643128"/>
          </a:xfrm>
          <a:prstGeom prst="roundRect">
            <a:avLst>
              <a:gd name="adj" fmla="val 11374"/>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5407152"/>
            <a:ext cx="7278624" cy="350520"/>
          </a:xfrm>
          <a:prstGeom prst="rect">
            <a:avLst/>
          </a:prstGeom>
          <a:noFill/>
        </p:spPr>
        <p:txBody>
          <a:bodyPr wrap="square" lIns="0" tIns="0" rIns="0" bIns="0">
            <a:spAutoFit/>
          </a:bodyPr>
          <a:lstStyle/>
          <a:p>
            <a:pPr algn="l">
              <a:lnSpc>
                <a:spcPct val="100000"/>
              </a:lnSpc>
            </a:pPr>
            <a:r>
              <a:rPr sz="1150">
                <a:solidFill>
                  <a:srgbClr val="1A1A1A"/>
                </a:solidFill>
                <a:latin typeface="Courier New"/>
              </a:rPr>
              <a:t>['a.txt', 'b.txt', 'c.txt']</a:t>
            </a:r>
          </a:p>
          <a:p>
            <a:pPr algn="l">
              <a:lnSpc>
                <a:spcPct val="100000"/>
              </a:lnSpc>
            </a:pPr>
            <a:r>
              <a:rPr sz="1150">
                <a:solidFill>
                  <a:srgbClr val="1A1A1A"/>
                </a:solidFill>
                <a:latin typeface="Courier New"/>
              </a:rPr>
              <a:t>all closed: True</a:t>
            </a:r>
          </a:p>
        </p:txBody>
      </p:sp>
      <p:sp>
        <p:nvSpPr>
          <p:cNvPr id="10" name="TextBox 9"/>
          <p:cNvSpPr txBox="1"/>
          <p:nvPr/>
        </p:nvSpPr>
        <p:spPr>
          <a:xfrm>
            <a:off x="8656624" y="1783080"/>
            <a:ext cx="2925165" cy="4361688"/>
          </a:xfrm>
          <a:prstGeom prst="rect">
            <a:avLst/>
          </a:prstGeom>
          <a:noFill/>
        </p:spPr>
        <p:txBody>
          <a:bodyPr wrap="square" lIns="0" tIns="0" rIns="0" bIns="0">
            <a:spAutoFit/>
          </a:bodyPr>
          <a:lstStyle/>
          <a:p>
            <a:pPr marL="228600" indent="-228600" algn="l">
              <a:spcAft>
                <a:spcPts val="800"/>
              </a:spcAft>
              <a:buFont typeface="Arial"/>
              <a:buChar char="•"/>
            </a:pPr>
            <a:r>
              <a:rPr sz="1400" b="0" i="0">
                <a:solidFill>
                  <a:srgbClr val="1A1A1A"/>
                </a:solidFill>
                <a:latin typeface="Arial"/>
              </a:rPr>
              <a:t>Manages a variable number of context managers.</a:t>
            </a:r>
          </a:p>
          <a:p>
            <a:pPr marL="228600" indent="-228600" algn="l">
              <a:spcAft>
                <a:spcPts val="800"/>
              </a:spcAft>
              <a:buFont typeface="Arial"/>
              <a:buChar char="•"/>
            </a:pPr>
            <a:r>
              <a:rPr sz="1400" b="0" i="0">
                <a:solidFill>
                  <a:srgbClr val="1A1A1A"/>
                </a:solidFill>
                <a:latin typeface="Arial"/>
              </a:rPr>
              <a:t>Open "however many files the test needs" while guaranteeing every one is closed.</a:t>
            </a:r>
          </a:p>
        </p:txBody>
      </p:sp>
      <p:sp>
        <p:nvSpPr>
          <p:cNvPr id="11" name="TextBox 10"/>
          <p:cNvSpPr txBox="1"/>
          <p:nvPr/>
        </p:nvSpPr>
        <p:spPr>
          <a:xfrm>
            <a:off x="8656624" y="3977639"/>
            <a:ext cx="2925165" cy="1828800"/>
          </a:xfrm>
          <a:prstGeom prst="rect">
            <a:avLst/>
          </a:prstGeom>
          <a:noFill/>
        </p:spPr>
        <p:txBody>
          <a:bodyPr wrap="square" lIns="0" tIns="0" rIns="0" bIns="0" anchor="t">
            <a:spAutoFit/>
          </a:bodyPr>
          <a:lstStyle/>
          <a:p>
            <a:pPr algn="l">
              <a:lnSpc>
                <a:spcPct val="110000"/>
              </a:lnSpc>
              <a:spcAft>
                <a:spcPts val="600"/>
              </a:spcAft>
            </a:pPr>
            <a:r>
              <a:rPr sz="1250" b="0" i="0">
                <a:solidFill>
                  <a:srgbClr val="5A5A5A"/>
                </a:solidFill>
                <a:latin typeface="Arial"/>
              </a:rPr>
              <a:t>Later: database connections and transactions, locks, test-framework helpers for checking code raises (unit testing: Wednesday).</a:t>
            </a:r>
          </a:p>
        </p:txBody>
      </p:sp>
      <p:sp>
        <p:nvSpPr>
          <p:cNvPr id="12" name="TextBox 11"/>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25 / 49</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Why Not Just Use try / finally?</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9</a:t>
            </a:r>
          </a:p>
        </p:txBody>
      </p:sp>
      <p:sp>
        <p:nvSpPr>
          <p:cNvPr id="4" name="TextBox 3"/>
          <p:cNvSpPr txBox="1"/>
          <p:nvPr/>
        </p:nvSpPr>
        <p:spPr>
          <a:xfrm>
            <a:off x="609904" y="1783080"/>
            <a:ext cx="10971885" cy="457200"/>
          </a:xfrm>
          <a:prstGeom prst="rect">
            <a:avLst/>
          </a:prstGeom>
          <a:noFill/>
        </p:spPr>
        <p:txBody>
          <a:bodyPr wrap="square" lIns="0" tIns="0" rIns="0" bIns="0" anchor="t">
            <a:spAutoFit/>
          </a:bodyPr>
          <a:lstStyle/>
          <a:p>
            <a:pPr algn="l">
              <a:lnSpc>
                <a:spcPct val="110000"/>
              </a:lnSpc>
              <a:spcAft>
                <a:spcPts val="600"/>
              </a:spcAft>
            </a:pPr>
            <a:r>
              <a:rPr sz="1600" b="0" i="0">
                <a:solidFill>
                  <a:srgbClr val="1A1A1A"/>
                </a:solidFill>
                <a:latin typeface="Arial"/>
              </a:rPr>
              <a:t>You can: </a:t>
            </a:r>
            <a:r>
              <a:rPr sz="1550" b="0" i="0">
                <a:solidFill>
                  <a:srgbClr val="330066"/>
                </a:solidFill>
                <a:latin typeface="Courier New"/>
              </a:rPr>
              <a:t>with</a:t>
            </a:r>
            <a:r>
              <a:rPr sz="1600" b="0" i="0">
                <a:solidFill>
                  <a:srgbClr val="1A1A1A"/>
                </a:solidFill>
                <a:latin typeface="Arial"/>
              </a:rPr>
              <a:t> is simply </a:t>
            </a:r>
            <a:r>
              <a:rPr sz="1550" b="0" i="0">
                <a:solidFill>
                  <a:srgbClr val="330066"/>
                </a:solidFill>
                <a:latin typeface="Courier New"/>
              </a:rPr>
              <a:t>try</a:t>
            </a:r>
            <a:r>
              <a:rPr sz="1600" b="0" i="0">
                <a:solidFill>
                  <a:srgbClr val="1A1A1A"/>
                </a:solidFill>
                <a:latin typeface="Arial"/>
              </a:rPr>
              <a:t>/</a:t>
            </a:r>
            <a:r>
              <a:rPr sz="1550" b="0" i="0">
                <a:solidFill>
                  <a:srgbClr val="330066"/>
                </a:solidFill>
                <a:latin typeface="Courier New"/>
              </a:rPr>
              <a:t>finally</a:t>
            </a:r>
            <a:r>
              <a:rPr sz="1600" b="0" i="0">
                <a:solidFill>
                  <a:srgbClr val="1A1A1A"/>
                </a:solidFill>
                <a:latin typeface="Arial"/>
              </a:rPr>
              <a:t> packaged for reuse. Advantages:</a:t>
            </a:r>
          </a:p>
        </p:txBody>
      </p:sp>
      <p:sp>
        <p:nvSpPr>
          <p:cNvPr id="5" name="Oval 4"/>
          <p:cNvSpPr/>
          <p:nvPr/>
        </p:nvSpPr>
        <p:spPr>
          <a:xfrm>
            <a:off x="609904" y="237744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6" name="TextBox 5"/>
          <p:cNvSpPr txBox="1"/>
          <p:nvPr/>
        </p:nvSpPr>
        <p:spPr>
          <a:xfrm>
            <a:off x="1158544" y="2414016"/>
            <a:ext cx="10423245" cy="529907"/>
          </a:xfrm>
          <a:prstGeom prst="rect">
            <a:avLst/>
          </a:prstGeom>
          <a:noFill/>
        </p:spPr>
        <p:txBody>
          <a:bodyPr wrap="square" lIns="0" tIns="0" rIns="0" bIns="0" anchor="t">
            <a:spAutoFit/>
          </a:bodyPr>
          <a:lstStyle/>
          <a:p>
            <a:pPr algn="l">
              <a:lnSpc>
                <a:spcPct val="110000"/>
              </a:lnSpc>
              <a:spcAft>
                <a:spcPts val="200"/>
              </a:spcAft>
            </a:pPr>
            <a:r>
              <a:rPr sz="1550" b="1" i="0">
                <a:solidFill>
                  <a:srgbClr val="330066"/>
                </a:solidFill>
                <a:latin typeface="Arial"/>
              </a:rPr>
              <a:t>Reuse</a:t>
            </a:r>
          </a:p>
          <a:p>
            <a:pPr algn="l">
              <a:lnSpc>
                <a:spcPct val="110000"/>
              </a:lnSpc>
              <a:spcAft>
                <a:spcPts val="600"/>
              </a:spcAft>
            </a:pPr>
            <a:r>
              <a:rPr sz="1500" b="0" i="0">
                <a:solidFill>
                  <a:srgbClr val="1A1A1A"/>
                </a:solidFill>
                <a:latin typeface="Arial"/>
              </a:rPr>
              <a:t>Write the cleanup logic once, use it everywhere.</a:t>
            </a:r>
          </a:p>
        </p:txBody>
      </p:sp>
      <p:sp>
        <p:nvSpPr>
          <p:cNvPr id="7" name="Oval 6"/>
          <p:cNvSpPr/>
          <p:nvPr/>
        </p:nvSpPr>
        <p:spPr>
          <a:xfrm>
            <a:off x="609904" y="3044507"/>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8" name="TextBox 7"/>
          <p:cNvSpPr txBox="1"/>
          <p:nvPr/>
        </p:nvSpPr>
        <p:spPr>
          <a:xfrm>
            <a:off x="1158544" y="3081083"/>
            <a:ext cx="10423245" cy="768032"/>
          </a:xfrm>
          <a:prstGeom prst="rect">
            <a:avLst/>
          </a:prstGeom>
          <a:noFill/>
        </p:spPr>
        <p:txBody>
          <a:bodyPr wrap="square" lIns="0" tIns="0" rIns="0" bIns="0" anchor="t">
            <a:spAutoFit/>
          </a:bodyPr>
          <a:lstStyle/>
          <a:p>
            <a:pPr algn="l">
              <a:lnSpc>
                <a:spcPct val="110000"/>
              </a:lnSpc>
              <a:spcAft>
                <a:spcPts val="200"/>
              </a:spcAft>
            </a:pPr>
            <a:r>
              <a:rPr sz="1550" b="1" i="0">
                <a:solidFill>
                  <a:srgbClr val="330066"/>
                </a:solidFill>
                <a:latin typeface="Arial"/>
              </a:rPr>
              <a:t>Readability</a:t>
            </a:r>
          </a:p>
          <a:p>
            <a:pPr algn="l">
              <a:lnSpc>
                <a:spcPct val="110000"/>
              </a:lnSpc>
              <a:spcAft>
                <a:spcPts val="600"/>
              </a:spcAft>
            </a:pPr>
            <a:r>
              <a:rPr sz="1500" b="0" i="0">
                <a:solidFill>
                  <a:srgbClr val="1A1A1A"/>
                </a:solidFill>
                <a:latin typeface="Arial"/>
              </a:rPr>
              <a:t>The intent ("with this resource, do that") is clear; cleanup is not buried at the end of a long function.</a:t>
            </a:r>
          </a:p>
        </p:txBody>
      </p:sp>
      <p:sp>
        <p:nvSpPr>
          <p:cNvPr id="9" name="Oval 8"/>
          <p:cNvSpPr/>
          <p:nvPr/>
        </p:nvSpPr>
        <p:spPr>
          <a:xfrm>
            <a:off x="609904" y="394970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10" name="TextBox 9"/>
          <p:cNvSpPr txBox="1"/>
          <p:nvPr/>
        </p:nvSpPr>
        <p:spPr>
          <a:xfrm>
            <a:off x="1158544" y="3986276"/>
            <a:ext cx="10423245" cy="529907"/>
          </a:xfrm>
          <a:prstGeom prst="rect">
            <a:avLst/>
          </a:prstGeom>
          <a:noFill/>
        </p:spPr>
        <p:txBody>
          <a:bodyPr wrap="square" lIns="0" tIns="0" rIns="0" bIns="0" anchor="t">
            <a:spAutoFit/>
          </a:bodyPr>
          <a:lstStyle/>
          <a:p>
            <a:pPr algn="l">
              <a:lnSpc>
                <a:spcPct val="110000"/>
              </a:lnSpc>
              <a:spcAft>
                <a:spcPts val="200"/>
              </a:spcAft>
            </a:pPr>
            <a:r>
              <a:rPr sz="1550" b="1" i="0">
                <a:solidFill>
                  <a:srgbClr val="330066"/>
                </a:solidFill>
                <a:latin typeface="Arial"/>
              </a:rPr>
              <a:t>Fewer mistakes</a:t>
            </a:r>
          </a:p>
          <a:p>
            <a:pPr algn="l">
              <a:lnSpc>
                <a:spcPct val="110000"/>
              </a:lnSpc>
              <a:spcAft>
                <a:spcPts val="600"/>
              </a:spcAft>
            </a:pPr>
            <a:r>
              <a:rPr sz="1500" b="0" i="0">
                <a:solidFill>
                  <a:srgbClr val="1A1A1A"/>
                </a:solidFill>
                <a:latin typeface="Arial"/>
              </a:rPr>
              <a:t>Callers cannot forget the cleanup.</a:t>
            </a:r>
          </a:p>
        </p:txBody>
      </p:sp>
      <p:sp>
        <p:nvSpPr>
          <p:cNvPr id="11" name="Oval 10"/>
          <p:cNvSpPr/>
          <p:nvPr/>
        </p:nvSpPr>
        <p:spPr>
          <a:xfrm>
            <a:off x="609904" y="4616767"/>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4</a:t>
            </a:r>
          </a:p>
        </p:txBody>
      </p:sp>
      <p:sp>
        <p:nvSpPr>
          <p:cNvPr id="12" name="TextBox 11"/>
          <p:cNvSpPr txBox="1"/>
          <p:nvPr/>
        </p:nvSpPr>
        <p:spPr>
          <a:xfrm>
            <a:off x="1158544" y="4653343"/>
            <a:ext cx="10423245" cy="529907"/>
          </a:xfrm>
          <a:prstGeom prst="rect">
            <a:avLst/>
          </a:prstGeom>
          <a:noFill/>
        </p:spPr>
        <p:txBody>
          <a:bodyPr wrap="square" lIns="0" tIns="0" rIns="0" bIns="0" anchor="t">
            <a:spAutoFit/>
          </a:bodyPr>
          <a:lstStyle/>
          <a:p>
            <a:pPr algn="l">
              <a:lnSpc>
                <a:spcPct val="110000"/>
              </a:lnSpc>
              <a:spcAft>
                <a:spcPts val="200"/>
              </a:spcAft>
            </a:pPr>
            <a:r>
              <a:rPr sz="1550" b="1" i="0">
                <a:solidFill>
                  <a:srgbClr val="330066"/>
                </a:solidFill>
                <a:latin typeface="Arial"/>
              </a:rPr>
              <a:t>Composability</a:t>
            </a:r>
          </a:p>
          <a:p>
            <a:pPr algn="l">
              <a:lnSpc>
                <a:spcPct val="110000"/>
              </a:lnSpc>
              <a:spcAft>
                <a:spcPts val="600"/>
              </a:spcAft>
            </a:pPr>
            <a:r>
              <a:rPr sz="1500" b="0" i="0">
                <a:solidFill>
                  <a:srgbClr val="1A1A1A"/>
                </a:solidFill>
                <a:latin typeface="Arial"/>
              </a:rPr>
              <a:t>Several resources combine naturally.</a:t>
            </a:r>
          </a:p>
        </p:txBody>
      </p:sp>
      <p:sp>
        <p:nvSpPr>
          <p:cNvPr id="13" name="TextBox 12"/>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26 / 49</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Best Practices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10</a:t>
            </a:r>
          </a:p>
        </p:txBody>
      </p:sp>
      <p:sp>
        <p:nvSpPr>
          <p:cNvPr id="4" name="Oval 3"/>
          <p:cNvSpPr/>
          <p:nvPr/>
        </p:nvSpPr>
        <p:spPr>
          <a:xfrm>
            <a:off x="609904" y="173736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5" name="TextBox 4"/>
          <p:cNvSpPr txBox="1"/>
          <p:nvPr/>
        </p:nvSpPr>
        <p:spPr>
          <a:xfrm>
            <a:off x="1158544" y="1810512"/>
            <a:ext cx="4846320" cy="474345"/>
          </a:xfrm>
          <a:prstGeom prst="rect">
            <a:avLst/>
          </a:prstGeom>
          <a:noFill/>
        </p:spPr>
        <p:txBody>
          <a:bodyPr wrap="square" lIns="0" tIns="0" rIns="0" bIns="0" anchor="t">
            <a:spAutoFit/>
          </a:bodyPr>
          <a:lstStyle/>
          <a:p>
            <a:pPr algn="l">
              <a:lnSpc>
                <a:spcPct val="110000"/>
              </a:lnSpc>
              <a:spcAft>
                <a:spcPts val="600"/>
              </a:spcAft>
            </a:pPr>
            <a:r>
              <a:rPr sz="1350" b="0" i="0">
                <a:solidFill>
                  <a:srgbClr val="1A1A1A"/>
                </a:solidFill>
                <a:latin typeface="Arial"/>
              </a:rPr>
              <a:t>Always use </a:t>
            </a:r>
            <a:r>
              <a:rPr sz="1300" b="0" i="0">
                <a:solidFill>
                  <a:srgbClr val="330066"/>
                </a:solidFill>
                <a:latin typeface="Courier New"/>
              </a:rPr>
              <a:t>with</a:t>
            </a:r>
            <a:r>
              <a:rPr sz="1350" b="0" i="0">
                <a:solidFill>
                  <a:srgbClr val="1A1A1A"/>
                </a:solidFill>
                <a:latin typeface="Arial"/>
              </a:rPr>
              <a:t> for files, connections, locks and other resources that must be released.</a:t>
            </a:r>
          </a:p>
        </p:txBody>
      </p:sp>
      <p:sp>
        <p:nvSpPr>
          <p:cNvPr id="6" name="Oval 5"/>
          <p:cNvSpPr/>
          <p:nvPr/>
        </p:nvSpPr>
        <p:spPr>
          <a:xfrm>
            <a:off x="609904" y="2339721"/>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7" name="TextBox 6"/>
          <p:cNvSpPr txBox="1"/>
          <p:nvPr/>
        </p:nvSpPr>
        <p:spPr>
          <a:xfrm>
            <a:off x="1158544" y="2412873"/>
            <a:ext cx="4846320" cy="474345"/>
          </a:xfrm>
          <a:prstGeom prst="rect">
            <a:avLst/>
          </a:prstGeom>
          <a:noFill/>
        </p:spPr>
        <p:txBody>
          <a:bodyPr wrap="square" lIns="0" tIns="0" rIns="0" bIns="0" anchor="t">
            <a:spAutoFit/>
          </a:bodyPr>
          <a:lstStyle/>
          <a:p>
            <a:pPr algn="l">
              <a:lnSpc>
                <a:spcPct val="110000"/>
              </a:lnSpc>
              <a:spcAft>
                <a:spcPts val="600"/>
              </a:spcAft>
            </a:pPr>
            <a:r>
              <a:rPr sz="1350" b="0" i="0">
                <a:solidFill>
                  <a:srgbClr val="1A1A1A"/>
                </a:solidFill>
                <a:latin typeface="Arial"/>
              </a:rPr>
              <a:t>Keep the </a:t>
            </a:r>
            <a:r>
              <a:rPr sz="1300" b="0" i="0">
                <a:solidFill>
                  <a:srgbClr val="330066"/>
                </a:solidFill>
                <a:latin typeface="Courier New"/>
              </a:rPr>
              <a:t>with</a:t>
            </a:r>
            <a:r>
              <a:rPr sz="1350" b="0" i="0">
                <a:solidFill>
                  <a:srgbClr val="1A1A1A"/>
                </a:solidFill>
                <a:latin typeface="Arial"/>
              </a:rPr>
              <a:t> block focused: process results after it so the resource is released sooner.</a:t>
            </a:r>
          </a:p>
        </p:txBody>
      </p:sp>
      <p:sp>
        <p:nvSpPr>
          <p:cNvPr id="8" name="Oval 7"/>
          <p:cNvSpPr/>
          <p:nvPr/>
        </p:nvSpPr>
        <p:spPr>
          <a:xfrm>
            <a:off x="609904" y="294208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9" name="TextBox 8"/>
          <p:cNvSpPr txBox="1"/>
          <p:nvPr/>
        </p:nvSpPr>
        <p:spPr>
          <a:xfrm>
            <a:off x="1158544" y="3015234"/>
            <a:ext cx="4846320" cy="474345"/>
          </a:xfrm>
          <a:prstGeom prst="rect">
            <a:avLst/>
          </a:prstGeom>
          <a:noFill/>
        </p:spPr>
        <p:txBody>
          <a:bodyPr wrap="square" lIns="0" tIns="0" rIns="0" bIns="0" anchor="t">
            <a:spAutoFit/>
          </a:bodyPr>
          <a:lstStyle/>
          <a:p>
            <a:pPr algn="l">
              <a:lnSpc>
                <a:spcPct val="110000"/>
              </a:lnSpc>
              <a:spcAft>
                <a:spcPts val="600"/>
              </a:spcAft>
            </a:pPr>
            <a:r>
              <a:rPr sz="1350" b="0" i="0">
                <a:solidFill>
                  <a:srgbClr val="1A1A1A"/>
                </a:solidFill>
                <a:latin typeface="Arial"/>
              </a:rPr>
              <a:t>In </a:t>
            </a:r>
            <a:r>
              <a:rPr sz="1300" b="0" i="0">
                <a:solidFill>
                  <a:srgbClr val="330066"/>
                </a:solidFill>
                <a:latin typeface="Courier New"/>
              </a:rPr>
              <a:t>@contextmanager</a:t>
            </a:r>
            <a:r>
              <a:rPr sz="1350" b="0" i="0">
                <a:solidFill>
                  <a:srgbClr val="1A1A1A"/>
                </a:solidFill>
                <a:latin typeface="Arial"/>
              </a:rPr>
              <a:t> functions, put </a:t>
            </a:r>
            <a:r>
              <a:rPr sz="1300" b="0" i="0">
                <a:solidFill>
                  <a:srgbClr val="330066"/>
                </a:solidFill>
                <a:latin typeface="Courier New"/>
              </a:rPr>
              <a:t>yield</a:t>
            </a:r>
            <a:r>
              <a:rPr sz="1350" b="0" i="0">
                <a:solidFill>
                  <a:srgbClr val="1A1A1A"/>
                </a:solidFill>
                <a:latin typeface="Arial"/>
              </a:rPr>
              <a:t> inside </a:t>
            </a:r>
            <a:r>
              <a:rPr sz="1300" b="0" i="0">
                <a:solidFill>
                  <a:srgbClr val="330066"/>
                </a:solidFill>
                <a:latin typeface="Courier New"/>
              </a:rPr>
              <a:t>try</a:t>
            </a:r>
            <a:r>
              <a:rPr sz="1350" b="0" i="0">
                <a:solidFill>
                  <a:srgbClr val="1A1A1A"/>
                </a:solidFill>
                <a:latin typeface="Arial"/>
              </a:rPr>
              <a:t>/</a:t>
            </a:r>
            <a:r>
              <a:rPr sz="1300" b="0" i="0">
                <a:solidFill>
                  <a:srgbClr val="330066"/>
                </a:solidFill>
                <a:latin typeface="Courier New"/>
              </a:rPr>
              <a:t>finally</a:t>
            </a:r>
            <a:r>
              <a:rPr sz="1350" b="0" i="0">
                <a:solidFill>
                  <a:srgbClr val="1A1A1A"/>
                </a:solidFill>
                <a:latin typeface="Arial"/>
              </a:rPr>
              <a:t>.</a:t>
            </a:r>
          </a:p>
        </p:txBody>
      </p:sp>
      <p:sp>
        <p:nvSpPr>
          <p:cNvPr id="10" name="Oval 9"/>
          <p:cNvSpPr/>
          <p:nvPr/>
        </p:nvSpPr>
        <p:spPr>
          <a:xfrm>
            <a:off x="609904" y="3544443"/>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4</a:t>
            </a:r>
          </a:p>
        </p:txBody>
      </p:sp>
      <p:sp>
        <p:nvSpPr>
          <p:cNvPr id="11" name="TextBox 10"/>
          <p:cNvSpPr txBox="1"/>
          <p:nvPr/>
        </p:nvSpPr>
        <p:spPr>
          <a:xfrm>
            <a:off x="1158544" y="3617595"/>
            <a:ext cx="4846320" cy="474345"/>
          </a:xfrm>
          <a:prstGeom prst="rect">
            <a:avLst/>
          </a:prstGeom>
          <a:noFill/>
        </p:spPr>
        <p:txBody>
          <a:bodyPr wrap="square" lIns="0" tIns="0" rIns="0" bIns="0" anchor="t">
            <a:spAutoFit/>
          </a:bodyPr>
          <a:lstStyle/>
          <a:p>
            <a:pPr algn="l">
              <a:lnSpc>
                <a:spcPct val="110000"/>
              </a:lnSpc>
              <a:spcAft>
                <a:spcPts val="600"/>
              </a:spcAft>
            </a:pPr>
            <a:r>
              <a:rPr sz="1350" b="0" i="0">
                <a:solidFill>
                  <a:srgbClr val="1A1A1A"/>
                </a:solidFill>
                <a:latin typeface="Arial"/>
              </a:rPr>
              <a:t>In </a:t>
            </a:r>
            <a:r>
              <a:rPr sz="1300" b="0" i="0">
                <a:solidFill>
                  <a:srgbClr val="330066"/>
                </a:solidFill>
                <a:latin typeface="Courier New"/>
              </a:rPr>
              <a:t>__exit__</a:t>
            </a:r>
            <a:r>
              <a:rPr sz="1350" b="0" i="0">
                <a:solidFill>
                  <a:srgbClr val="1A1A1A"/>
                </a:solidFill>
                <a:latin typeface="Arial"/>
              </a:rPr>
              <a:t>, return </a:t>
            </a:r>
            <a:r>
              <a:rPr sz="1300" b="0" i="0">
                <a:solidFill>
                  <a:srgbClr val="330066"/>
                </a:solidFill>
                <a:latin typeface="Courier New"/>
              </a:rPr>
              <a:t>True</a:t>
            </a:r>
            <a:r>
              <a:rPr sz="1350" b="0" i="0">
                <a:solidFill>
                  <a:srgbClr val="1A1A1A"/>
                </a:solidFill>
                <a:latin typeface="Arial"/>
              </a:rPr>
              <a:t> only for specific exceptions you deliberately handle.</a:t>
            </a:r>
          </a:p>
        </p:txBody>
      </p:sp>
      <p:sp>
        <p:nvSpPr>
          <p:cNvPr id="12" name="Oval 11"/>
          <p:cNvSpPr/>
          <p:nvPr/>
        </p:nvSpPr>
        <p:spPr>
          <a:xfrm>
            <a:off x="6187744" y="173736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5</a:t>
            </a:r>
          </a:p>
        </p:txBody>
      </p:sp>
      <p:sp>
        <p:nvSpPr>
          <p:cNvPr id="13" name="TextBox 12"/>
          <p:cNvSpPr txBox="1"/>
          <p:nvPr/>
        </p:nvSpPr>
        <p:spPr>
          <a:xfrm>
            <a:off x="6736384" y="1810512"/>
            <a:ext cx="4845405" cy="688657"/>
          </a:xfrm>
          <a:prstGeom prst="rect">
            <a:avLst/>
          </a:prstGeom>
          <a:noFill/>
        </p:spPr>
        <p:txBody>
          <a:bodyPr wrap="square" lIns="0" tIns="0" rIns="0" bIns="0" anchor="t">
            <a:spAutoFit/>
          </a:bodyPr>
          <a:lstStyle/>
          <a:p>
            <a:pPr algn="l">
              <a:lnSpc>
                <a:spcPct val="110000"/>
              </a:lnSpc>
              <a:spcAft>
                <a:spcPts val="600"/>
              </a:spcAft>
            </a:pPr>
            <a:r>
              <a:rPr sz="1350" b="0" i="0">
                <a:solidFill>
                  <a:srgbClr val="1A1A1A"/>
                </a:solidFill>
                <a:latin typeface="Arial"/>
              </a:rPr>
              <a:t>Make </a:t>
            </a:r>
            <a:r>
              <a:rPr sz="1300" b="0" i="0">
                <a:solidFill>
                  <a:srgbClr val="330066"/>
                </a:solidFill>
                <a:latin typeface="Courier New"/>
              </a:rPr>
              <a:t>__exit__</a:t>
            </a:r>
            <a:r>
              <a:rPr sz="1350" b="0" i="0">
                <a:solidFill>
                  <a:srgbClr val="1A1A1A"/>
                </a:solidFill>
                <a:latin typeface="Arial"/>
              </a:rPr>
              <a:t> robust: avoid raising new exceptions from cleanup, which would hide the original error.</a:t>
            </a:r>
          </a:p>
        </p:txBody>
      </p:sp>
      <p:sp>
        <p:nvSpPr>
          <p:cNvPr id="14" name="Oval 13"/>
          <p:cNvSpPr/>
          <p:nvPr/>
        </p:nvSpPr>
        <p:spPr>
          <a:xfrm>
            <a:off x="6187744" y="2554033"/>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6</a:t>
            </a:r>
          </a:p>
        </p:txBody>
      </p:sp>
      <p:sp>
        <p:nvSpPr>
          <p:cNvPr id="15" name="TextBox 14"/>
          <p:cNvSpPr txBox="1"/>
          <p:nvPr/>
        </p:nvSpPr>
        <p:spPr>
          <a:xfrm>
            <a:off x="6736384" y="2627185"/>
            <a:ext cx="4845405" cy="688657"/>
          </a:xfrm>
          <a:prstGeom prst="rect">
            <a:avLst/>
          </a:prstGeom>
          <a:noFill/>
        </p:spPr>
        <p:txBody>
          <a:bodyPr wrap="square" lIns="0" tIns="0" rIns="0" bIns="0" anchor="t">
            <a:spAutoFit/>
          </a:bodyPr>
          <a:lstStyle/>
          <a:p>
            <a:pPr algn="l">
              <a:lnSpc>
                <a:spcPct val="110000"/>
              </a:lnSpc>
              <a:spcAft>
                <a:spcPts val="600"/>
              </a:spcAft>
            </a:pPr>
            <a:r>
              <a:rPr sz="1350" b="0" i="0">
                <a:solidFill>
                  <a:srgbClr val="1A1A1A"/>
                </a:solidFill>
                <a:latin typeface="Arial"/>
              </a:rPr>
              <a:t>Name managers clearly (</a:t>
            </a:r>
            <a:r>
              <a:rPr sz="1300" b="0" i="0">
                <a:solidFill>
                  <a:srgbClr val="330066"/>
                </a:solidFill>
                <a:latin typeface="Courier New"/>
              </a:rPr>
              <a:t>temporary_environment</a:t>
            </a:r>
            <a:r>
              <a:rPr sz="1350" b="0" i="0">
                <a:solidFill>
                  <a:srgbClr val="1A1A1A"/>
                </a:solidFill>
                <a:latin typeface="Arial"/>
              </a:rPr>
              <a:t>, </a:t>
            </a:r>
            <a:r>
              <a:rPr sz="1300" b="0" i="0">
                <a:solidFill>
                  <a:srgbClr val="330066"/>
                </a:solidFill>
                <a:latin typeface="Courier New"/>
              </a:rPr>
              <a:t>timer</a:t>
            </a:r>
            <a:r>
              <a:rPr sz="1350" b="0" i="0">
                <a:solidFill>
                  <a:srgbClr val="1A1A1A"/>
                </a:solidFill>
                <a:latin typeface="Arial"/>
              </a:rPr>
              <a:t>, </a:t>
            </a:r>
            <a:r>
              <a:rPr sz="1300" b="0" i="0">
                <a:solidFill>
                  <a:srgbClr val="330066"/>
                </a:solidFill>
                <a:latin typeface="Courier New"/>
              </a:rPr>
              <a:t>database_session</a:t>
            </a:r>
            <a:r>
              <a:rPr sz="1350" b="0" i="0">
                <a:solidFill>
                  <a:srgbClr val="1A1A1A"/>
                </a:solidFill>
                <a:latin typeface="Arial"/>
              </a:rPr>
              <a:t>) so the </a:t>
            </a:r>
            <a:r>
              <a:rPr sz="1300" b="0" i="0">
                <a:solidFill>
                  <a:srgbClr val="330066"/>
                </a:solidFill>
                <a:latin typeface="Courier New"/>
              </a:rPr>
              <a:t>with</a:t>
            </a:r>
            <a:r>
              <a:rPr sz="1350" b="0" i="0">
                <a:solidFill>
                  <a:srgbClr val="1A1A1A"/>
                </a:solidFill>
                <a:latin typeface="Arial"/>
              </a:rPr>
              <a:t> line reads like a sentence.</a:t>
            </a:r>
          </a:p>
        </p:txBody>
      </p:sp>
      <p:sp>
        <p:nvSpPr>
          <p:cNvPr id="16" name="Oval 15"/>
          <p:cNvSpPr/>
          <p:nvPr/>
        </p:nvSpPr>
        <p:spPr>
          <a:xfrm>
            <a:off x="6187744" y="3370707"/>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7</a:t>
            </a:r>
          </a:p>
        </p:txBody>
      </p:sp>
      <p:sp>
        <p:nvSpPr>
          <p:cNvPr id="17" name="TextBox 16"/>
          <p:cNvSpPr txBox="1"/>
          <p:nvPr/>
        </p:nvSpPr>
        <p:spPr>
          <a:xfrm>
            <a:off x="6736384" y="3443859"/>
            <a:ext cx="4845405" cy="688657"/>
          </a:xfrm>
          <a:prstGeom prst="rect">
            <a:avLst/>
          </a:prstGeom>
          <a:noFill/>
        </p:spPr>
        <p:txBody>
          <a:bodyPr wrap="square" lIns="0" tIns="0" rIns="0" bIns="0" anchor="t">
            <a:spAutoFit/>
          </a:bodyPr>
          <a:lstStyle/>
          <a:p>
            <a:pPr algn="l">
              <a:lnSpc>
                <a:spcPct val="110000"/>
              </a:lnSpc>
              <a:spcAft>
                <a:spcPts val="600"/>
              </a:spcAft>
            </a:pPr>
            <a:r>
              <a:rPr sz="1350" b="0" i="0">
                <a:solidFill>
                  <a:srgbClr val="1A1A1A"/>
                </a:solidFill>
                <a:latin typeface="Arial"/>
              </a:rPr>
              <a:t>The variable after </a:t>
            </a:r>
            <a:r>
              <a:rPr sz="1300" b="0" i="0">
                <a:solidFill>
                  <a:srgbClr val="330066"/>
                </a:solidFill>
                <a:latin typeface="Courier New"/>
              </a:rPr>
              <a:t>as</a:t>
            </a:r>
            <a:r>
              <a:rPr sz="1350" b="0" i="0">
                <a:solidFill>
                  <a:srgbClr val="1A1A1A"/>
                </a:solidFill>
                <a:latin typeface="Arial"/>
              </a:rPr>
              <a:t> remains accessible after the block (a file is closed, not deleted): </a:t>
            </a:r>
            <a:r>
              <a:rPr sz="1300" b="0" i="0">
                <a:solidFill>
                  <a:srgbClr val="330066"/>
                </a:solidFill>
                <a:latin typeface="Courier New"/>
              </a:rPr>
              <a:t>f.closed</a:t>
            </a:r>
            <a:r>
              <a:rPr sz="1350" b="0" i="0">
                <a:solidFill>
                  <a:srgbClr val="1A1A1A"/>
                </a:solidFill>
                <a:latin typeface="Arial"/>
              </a:rPr>
              <a:t> is </a:t>
            </a:r>
            <a:r>
              <a:rPr sz="1300" b="0" i="0">
                <a:solidFill>
                  <a:srgbClr val="330066"/>
                </a:solidFill>
                <a:latin typeface="Courier New"/>
              </a:rPr>
              <a:t>True</a:t>
            </a:r>
            <a:r>
              <a:rPr sz="1350" b="0" i="0">
                <a:solidFill>
                  <a:srgbClr val="1A1A1A"/>
                </a:solidFill>
                <a:latin typeface="Arial"/>
              </a:rPr>
              <a:t>.</a:t>
            </a:r>
          </a:p>
        </p:txBody>
      </p:sp>
      <p:sp>
        <p:nvSpPr>
          <p:cNvPr id="18" name="TextBox 1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27 / 49</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Real-World QA Scenarios</a:t>
            </a:r>
          </a:p>
        </p:txBody>
      </p:sp>
      <p:sp>
        <p:nvSpPr>
          <p:cNvPr id="3" name="Text Placeholder 2"/>
          <p:cNvSpPr>
            <a:spLocks noGrp="1"/>
          </p:cNvSpPr>
          <p:nvPr>
            <p:ph type="body" idx="1"/>
          </p:nvPr>
        </p:nvSpPr>
        <p:spPr/>
        <p:txBody>
          <a:bodyPr/>
          <a:lstStyle/>
          <a:p>
            <a:r>
              <a:rPr sz="1800">
                <a:solidFill>
                  <a:srgbClr val="5A5A5A"/>
                </a:solidFill>
              </a:rPr>
              <a:t>Timers, temporary environment variables, fixtures, transactions</a:t>
            </a:r>
          </a:p>
        </p:txBody>
      </p:sp>
      <p:sp>
        <p:nvSpPr>
          <p:cNvPr id="4" name="TextBox 3"/>
          <p:cNvSpPr txBox="1"/>
          <p:nvPr/>
        </p:nvSpPr>
        <p:spPr>
          <a:xfrm>
            <a:off x="832104" y="1600200"/>
            <a:ext cx="3657600" cy="1097280"/>
          </a:xfrm>
          <a:prstGeom prst="rect">
            <a:avLst/>
          </a:prstGeom>
          <a:noFill/>
        </p:spPr>
        <p:txBody>
          <a:bodyPr wrap="square" lIns="0" tIns="0" rIns="0" bIns="0" anchor="t">
            <a:spAutoFit/>
          </a:bodyPr>
          <a:lstStyle/>
          <a:p>
            <a:pPr algn="l">
              <a:lnSpc>
                <a:spcPct val="110000"/>
              </a:lnSpc>
              <a:spcAft>
                <a:spcPts val="600"/>
              </a:spcAft>
            </a:pPr>
            <a:r>
              <a:rPr sz="6600" b="1" i="0">
                <a:solidFill>
                  <a:srgbClr val="669999"/>
                </a:solidFill>
                <a:latin typeface="Arial"/>
              </a:rPr>
              <a:t>02</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28 / 49</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Scenario 1: A Reusable Timer</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QA SCENARIOS</a:t>
            </a:r>
          </a:p>
        </p:txBody>
      </p:sp>
      <p:sp>
        <p:nvSpPr>
          <p:cNvPr id="4" name="TextBox 3"/>
          <p:cNvSpPr txBox="1"/>
          <p:nvPr/>
        </p:nvSpPr>
        <p:spPr>
          <a:xfrm>
            <a:off x="609904" y="1783080"/>
            <a:ext cx="58521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Code</a:t>
            </a:r>
          </a:p>
        </p:txBody>
      </p:sp>
      <p:sp>
        <p:nvSpPr>
          <p:cNvPr id="5" name="Rounded Rectangle 4"/>
          <p:cNvSpPr/>
          <p:nvPr/>
        </p:nvSpPr>
        <p:spPr>
          <a:xfrm>
            <a:off x="609904" y="2057400"/>
            <a:ext cx="5852160" cy="3035808"/>
          </a:xfrm>
          <a:prstGeom prst="roundRect">
            <a:avLst>
              <a:gd name="adj" fmla="val 2409"/>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5449824" cy="2743200"/>
          </a:xfrm>
          <a:prstGeom prst="rect">
            <a:avLst/>
          </a:prstGeom>
          <a:noFill/>
        </p:spPr>
        <p:txBody>
          <a:bodyPr wrap="square" lIns="0" tIns="0" rIns="0" bIns="0">
            <a:spAutoFit/>
          </a:bodyPr>
          <a:lstStyle/>
          <a:p>
            <a:pPr algn="l">
              <a:lnSpc>
                <a:spcPct val="100000"/>
              </a:lnSpc>
            </a:pPr>
            <a:r>
              <a:rPr sz="1200">
                <a:solidFill>
                  <a:srgbClr val="1A1A1A"/>
                </a:solidFill>
                <a:latin typeface="Courier New"/>
              </a:rPr>
              <a:t>import time</a:t>
            </a:r>
          </a:p>
          <a:p>
            <a:pPr algn="l">
              <a:lnSpc>
                <a:spcPct val="100000"/>
              </a:lnSpc>
            </a:pPr>
            <a:r>
              <a:rPr sz="1200">
                <a:solidFill>
                  <a:srgbClr val="1A1A1A"/>
                </a:solidFill>
                <a:latin typeface="Courier New"/>
              </a:rPr>
              <a:t>from contextlib import contextmanager</a:t>
            </a:r>
          </a:p>
          <a:p>
            <a:pPr algn="l">
              <a:lnSpc>
                <a:spcPct val="100000"/>
              </a:lnSpc>
            </a:pPr>
            <a:r>
              <a:rPr sz="1200">
                <a:solidFill>
                  <a:srgbClr val="1A1A1A"/>
                </a:solidFill>
                <a:latin typeface="Courier New"/>
              </a:rPr>
              <a:t> </a:t>
            </a:r>
          </a:p>
          <a:p>
            <a:pPr algn="l">
              <a:lnSpc>
                <a:spcPct val="100000"/>
              </a:lnSpc>
            </a:pPr>
            <a:r>
              <a:rPr sz="1200">
                <a:solidFill>
                  <a:srgbClr val="1A1A1A"/>
                </a:solidFill>
                <a:latin typeface="Courier New"/>
              </a:rPr>
              <a:t>@contextmanager</a:t>
            </a:r>
          </a:p>
          <a:p>
            <a:pPr algn="l">
              <a:lnSpc>
                <a:spcPct val="100000"/>
              </a:lnSpc>
            </a:pPr>
            <a:r>
              <a:rPr sz="1200">
                <a:solidFill>
                  <a:srgbClr val="1A1A1A"/>
                </a:solidFill>
                <a:latin typeface="Courier New"/>
              </a:rPr>
              <a:t>def timer(label):</a:t>
            </a:r>
          </a:p>
          <a:p>
            <a:pPr algn="l">
              <a:lnSpc>
                <a:spcPct val="100000"/>
              </a:lnSpc>
            </a:pPr>
            <a:r>
              <a:rPr sz="1200">
                <a:solidFill>
                  <a:srgbClr val="1A1A1A"/>
                </a:solidFill>
                <a:latin typeface="Courier New"/>
              </a:rPr>
              <a:t>    start = time.perf_counter()</a:t>
            </a:r>
          </a:p>
          <a:p>
            <a:pPr algn="l">
              <a:lnSpc>
                <a:spcPct val="100000"/>
              </a:lnSpc>
            </a:pPr>
            <a:r>
              <a:rPr sz="1200">
                <a:solidFill>
                  <a:srgbClr val="1A1A1A"/>
                </a:solidFill>
                <a:latin typeface="Courier New"/>
              </a:rPr>
              <a:t>    try:</a:t>
            </a:r>
          </a:p>
          <a:p>
            <a:pPr algn="l">
              <a:lnSpc>
                <a:spcPct val="100000"/>
              </a:lnSpc>
            </a:pPr>
            <a:r>
              <a:rPr sz="1200">
                <a:solidFill>
                  <a:srgbClr val="1A1A1A"/>
                </a:solidFill>
                <a:latin typeface="Courier New"/>
              </a:rPr>
              <a:t>        yield</a:t>
            </a:r>
          </a:p>
          <a:p>
            <a:pPr algn="l">
              <a:lnSpc>
                <a:spcPct val="100000"/>
              </a:lnSpc>
            </a:pPr>
            <a:r>
              <a:rPr sz="1200">
                <a:solidFill>
                  <a:srgbClr val="1A1A1A"/>
                </a:solidFill>
                <a:latin typeface="Courier New"/>
              </a:rPr>
              <a:t>    finally:</a:t>
            </a:r>
          </a:p>
          <a:p>
            <a:pPr algn="l">
              <a:lnSpc>
                <a:spcPct val="100000"/>
              </a:lnSpc>
            </a:pPr>
            <a:r>
              <a:rPr sz="1200">
                <a:solidFill>
                  <a:srgbClr val="1A1A1A"/>
                </a:solidFill>
                <a:latin typeface="Courier New"/>
              </a:rPr>
              <a:t>        elapsed = time.perf_counter() - start</a:t>
            </a:r>
          </a:p>
          <a:p>
            <a:pPr algn="l">
              <a:lnSpc>
                <a:spcPct val="100000"/>
              </a:lnSpc>
            </a:pPr>
            <a:r>
              <a:rPr sz="1200">
                <a:solidFill>
                  <a:srgbClr val="1A1A1A"/>
                </a:solidFill>
                <a:latin typeface="Courier New"/>
              </a:rPr>
              <a:t>        print(f"{label} took {elapsed:.2f}s")</a:t>
            </a:r>
          </a:p>
          <a:p>
            <a:pPr algn="l">
              <a:lnSpc>
                <a:spcPct val="100000"/>
              </a:lnSpc>
            </a:pPr>
            <a:r>
              <a:rPr sz="1200">
                <a:solidFill>
                  <a:srgbClr val="1A1A1A"/>
                </a:solidFill>
                <a:latin typeface="Courier New"/>
              </a:rPr>
              <a:t> </a:t>
            </a:r>
          </a:p>
          <a:p>
            <a:pPr algn="l">
              <a:lnSpc>
                <a:spcPct val="100000"/>
              </a:lnSpc>
            </a:pPr>
            <a:r>
              <a:rPr sz="1200">
                <a:solidFill>
                  <a:srgbClr val="1A1A1A"/>
                </a:solidFill>
                <a:latin typeface="Courier New"/>
              </a:rPr>
              <a:t> </a:t>
            </a:r>
          </a:p>
          <a:p>
            <a:pPr algn="l">
              <a:lnSpc>
                <a:spcPct val="100000"/>
              </a:lnSpc>
            </a:pPr>
            <a:r>
              <a:rPr sz="1200">
                <a:solidFill>
                  <a:srgbClr val="1A1A1A"/>
                </a:solidFill>
                <a:latin typeface="Courier New"/>
              </a:rPr>
              <a:t>with timer("simulated page load"):</a:t>
            </a:r>
          </a:p>
          <a:p>
            <a:pPr algn="l">
              <a:lnSpc>
                <a:spcPct val="100000"/>
              </a:lnSpc>
            </a:pPr>
            <a:r>
              <a:rPr sz="1200">
                <a:solidFill>
                  <a:srgbClr val="1A1A1A"/>
                </a:solidFill>
                <a:latin typeface="Courier New"/>
              </a:rPr>
              <a:t>    time.sleep(0.25)</a:t>
            </a:r>
          </a:p>
        </p:txBody>
      </p:sp>
      <p:sp>
        <p:nvSpPr>
          <p:cNvPr id="7" name="TextBox 6"/>
          <p:cNvSpPr txBox="1"/>
          <p:nvPr/>
        </p:nvSpPr>
        <p:spPr>
          <a:xfrm>
            <a:off x="609904" y="5276088"/>
            <a:ext cx="58521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Possible output</a:t>
            </a:r>
          </a:p>
        </p:txBody>
      </p:sp>
      <p:sp>
        <p:nvSpPr>
          <p:cNvPr id="8" name="Rounded Rectangle 7"/>
          <p:cNvSpPr/>
          <p:nvPr/>
        </p:nvSpPr>
        <p:spPr>
          <a:xfrm>
            <a:off x="609904" y="5550407"/>
            <a:ext cx="5852160" cy="475488"/>
          </a:xfrm>
          <a:prstGeom prst="roundRect">
            <a:avLst>
              <a:gd name="adj" fmla="val 15384"/>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5696712"/>
            <a:ext cx="5449824" cy="182880"/>
          </a:xfrm>
          <a:prstGeom prst="rect">
            <a:avLst/>
          </a:prstGeom>
          <a:noFill/>
        </p:spPr>
        <p:txBody>
          <a:bodyPr wrap="square" lIns="0" tIns="0" rIns="0" bIns="0">
            <a:spAutoFit/>
          </a:bodyPr>
          <a:lstStyle/>
          <a:p>
            <a:pPr algn="l">
              <a:lnSpc>
                <a:spcPct val="100000"/>
              </a:lnSpc>
            </a:pPr>
            <a:r>
              <a:rPr sz="1200">
                <a:solidFill>
                  <a:srgbClr val="1A1A1A"/>
                </a:solidFill>
                <a:latin typeface="Courier New"/>
              </a:rPr>
              <a:t>simulated page load took 0.25s</a:t>
            </a:r>
          </a:p>
        </p:txBody>
      </p:sp>
      <p:sp>
        <p:nvSpPr>
          <p:cNvPr id="10" name="TextBox 9"/>
          <p:cNvSpPr txBox="1"/>
          <p:nvPr/>
        </p:nvSpPr>
        <p:spPr>
          <a:xfrm>
            <a:off x="6827824" y="1783080"/>
            <a:ext cx="4753965" cy="4361688"/>
          </a:xfrm>
          <a:prstGeom prst="rect">
            <a:avLst/>
          </a:prstGeom>
          <a:noFill/>
        </p:spPr>
        <p:txBody>
          <a:bodyPr wrap="square" lIns="0" tIns="0" rIns="0" bIns="0">
            <a:spAutoFit/>
          </a:bodyPr>
          <a:lstStyle/>
          <a:p>
            <a:pPr marL="228600" indent="-228600" algn="l">
              <a:spcAft>
                <a:spcPts val="800"/>
              </a:spcAft>
              <a:buFont typeface="Arial"/>
              <a:buChar char="•"/>
            </a:pPr>
            <a:r>
              <a:rPr sz="1400" b="0" i="0">
                <a:solidFill>
                  <a:srgbClr val="330066"/>
                </a:solidFill>
                <a:latin typeface="Courier New"/>
              </a:rPr>
              <a:t>time.perf_counter()</a:t>
            </a:r>
            <a:r>
              <a:rPr sz="1450" b="0" i="0">
                <a:solidFill>
                  <a:srgbClr val="1A1A1A"/>
                </a:solidFill>
                <a:latin typeface="Arial"/>
              </a:rPr>
              <a:t> is a high-resolution clock for measuring durations.</a:t>
            </a:r>
          </a:p>
          <a:p>
            <a:pPr marL="228600" indent="-228600" algn="l">
              <a:spcAft>
                <a:spcPts val="800"/>
              </a:spcAft>
              <a:buFont typeface="Arial"/>
              <a:buChar char="•"/>
            </a:pPr>
            <a:r>
              <a:rPr sz="1450" b="0" i="0">
                <a:solidFill>
                  <a:srgbClr val="1A1A1A"/>
                </a:solidFill>
                <a:latin typeface="Arial"/>
              </a:rPr>
              <a:t>The report is in </a:t>
            </a:r>
            <a:r>
              <a:rPr sz="1400" b="0" i="0">
                <a:solidFill>
                  <a:srgbClr val="330066"/>
                </a:solidFill>
                <a:latin typeface="Courier New"/>
              </a:rPr>
              <a:t>finally</a:t>
            </a:r>
            <a:r>
              <a:rPr sz="1450" b="0" i="0">
                <a:solidFill>
                  <a:srgbClr val="1A1A1A"/>
                </a:solidFill>
                <a:latin typeface="Arial"/>
              </a:rPr>
              <a:t>: you still get a timing if the step fails, exactly when you want the data.</a:t>
            </a:r>
          </a:p>
          <a:p>
            <a:pPr marL="228600" indent="-228600" algn="l">
              <a:spcAft>
                <a:spcPts val="800"/>
              </a:spcAft>
              <a:buFont typeface="Arial"/>
              <a:buChar char="•"/>
            </a:pPr>
            <a:r>
              <a:rPr sz="1400" b="0" i="0">
                <a:solidFill>
                  <a:srgbClr val="330066"/>
                </a:solidFill>
                <a:latin typeface="Courier New"/>
              </a:rPr>
              <a:t>perf_counter</a:t>
            </a:r>
            <a:r>
              <a:rPr sz="1450" b="0" i="0">
                <a:solidFill>
                  <a:srgbClr val="1A1A1A"/>
                </a:solidFill>
                <a:latin typeface="Arial"/>
              </a:rPr>
              <a:t> measures intervals; </a:t>
            </a:r>
            <a:r>
              <a:rPr sz="1400" b="0" i="0">
                <a:solidFill>
                  <a:srgbClr val="330066"/>
                </a:solidFill>
                <a:latin typeface="Courier New"/>
              </a:rPr>
              <a:t>datetime</a:t>
            </a:r>
            <a:r>
              <a:rPr sz="1450" b="0" i="0">
                <a:solidFill>
                  <a:srgbClr val="1A1A1A"/>
                </a:solidFill>
                <a:latin typeface="Arial"/>
              </a:rPr>
              <a:t> tells the date.</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29 / 49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Scenario 2: Temporary Env Variable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QA SCENARIOS</a:t>
            </a:r>
          </a:p>
        </p:txBody>
      </p:sp>
      <p:sp>
        <p:nvSpPr>
          <p:cNvPr id="4" name="Rounded Rectangle 3"/>
          <p:cNvSpPr/>
          <p:nvPr/>
        </p:nvSpPr>
        <p:spPr>
          <a:xfrm>
            <a:off x="609904" y="1783080"/>
            <a:ext cx="6400800" cy="3645408"/>
          </a:xfrm>
          <a:prstGeom prst="roundRect">
            <a:avLst>
              <a:gd name="adj" fmla="val 2006"/>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998464" cy="3352800"/>
          </a:xfrm>
          <a:prstGeom prst="rect">
            <a:avLst/>
          </a:prstGeom>
          <a:noFill/>
        </p:spPr>
        <p:txBody>
          <a:bodyPr wrap="square" lIns="0" tIns="0" rIns="0" bIns="0">
            <a:spAutoFit/>
          </a:bodyPr>
          <a:lstStyle/>
          <a:p>
            <a:pPr algn="l">
              <a:lnSpc>
                <a:spcPct val="100000"/>
              </a:lnSpc>
            </a:pPr>
            <a:r>
              <a:rPr sz="1100">
                <a:solidFill>
                  <a:srgbClr val="1A1A1A"/>
                </a:solidFill>
                <a:latin typeface="Courier New"/>
              </a:rPr>
              <a:t>import os</a:t>
            </a:r>
          </a:p>
          <a:p>
            <a:pPr algn="l">
              <a:lnSpc>
                <a:spcPct val="100000"/>
              </a:lnSpc>
            </a:pPr>
            <a:r>
              <a:rPr sz="1100">
                <a:solidFill>
                  <a:srgbClr val="1A1A1A"/>
                </a:solidFill>
                <a:latin typeface="Courier New"/>
              </a:rPr>
              <a:t>from contextlib import contextmanager</a:t>
            </a:r>
          </a:p>
          <a:p>
            <a:pPr algn="l">
              <a:lnSpc>
                <a:spcPct val="100000"/>
              </a:lnSpc>
            </a:pPr>
            <a:r>
              <a:rPr sz="1100">
                <a:solidFill>
                  <a:srgbClr val="1A1A1A"/>
                </a:solidFill>
                <a:latin typeface="Courier New"/>
              </a:rPr>
              <a:t> </a:t>
            </a:r>
          </a:p>
          <a:p>
            <a:pPr algn="l">
              <a:lnSpc>
                <a:spcPct val="100000"/>
              </a:lnSpc>
            </a:pPr>
            <a:r>
              <a:rPr sz="1100">
                <a:solidFill>
                  <a:srgbClr val="1A1A1A"/>
                </a:solidFill>
                <a:latin typeface="Courier New"/>
              </a:rPr>
              <a:t>@contextmanager</a:t>
            </a:r>
          </a:p>
          <a:p>
            <a:pPr algn="l">
              <a:lnSpc>
                <a:spcPct val="100000"/>
              </a:lnSpc>
            </a:pPr>
            <a:r>
              <a:rPr sz="1100">
                <a:solidFill>
                  <a:srgbClr val="1A1A1A"/>
                </a:solidFill>
                <a:latin typeface="Courier New"/>
              </a:rPr>
              <a:t>def temporary_env(name, value):</a:t>
            </a:r>
          </a:p>
          <a:p>
            <a:pPr algn="l">
              <a:lnSpc>
                <a:spcPct val="100000"/>
              </a:lnSpc>
            </a:pPr>
            <a:r>
              <a:rPr sz="1100">
                <a:solidFill>
                  <a:srgbClr val="1A1A1A"/>
                </a:solidFill>
                <a:latin typeface="Courier New"/>
              </a:rPr>
              <a:t>    original = os.environ.get(name)         # None if it was not set</a:t>
            </a:r>
          </a:p>
          <a:p>
            <a:pPr algn="l">
              <a:lnSpc>
                <a:spcPct val="100000"/>
              </a:lnSpc>
            </a:pPr>
            <a:r>
              <a:rPr sz="1100">
                <a:solidFill>
                  <a:srgbClr val="1A1A1A"/>
                </a:solidFill>
                <a:latin typeface="Courier New"/>
              </a:rPr>
              <a:t>    os.environ[name] = value</a:t>
            </a:r>
          </a:p>
          <a:p>
            <a:pPr algn="l">
              <a:lnSpc>
                <a:spcPct val="100000"/>
              </a:lnSpc>
            </a:pPr>
            <a:r>
              <a:rPr sz="1100">
                <a:solidFill>
                  <a:srgbClr val="1A1A1A"/>
                </a:solidFill>
                <a:latin typeface="Courier New"/>
              </a:rPr>
              <a:t>    try:</a:t>
            </a:r>
          </a:p>
          <a:p>
            <a:pPr algn="l">
              <a:lnSpc>
                <a:spcPct val="100000"/>
              </a:lnSpc>
            </a:pPr>
            <a:r>
              <a:rPr sz="1100">
                <a:solidFill>
                  <a:srgbClr val="1A1A1A"/>
                </a:solidFill>
                <a:latin typeface="Courier New"/>
              </a:rPr>
              <a:t>        yield</a:t>
            </a:r>
          </a:p>
          <a:p>
            <a:pPr algn="l">
              <a:lnSpc>
                <a:spcPct val="100000"/>
              </a:lnSpc>
            </a:pPr>
            <a:r>
              <a:rPr sz="1100">
                <a:solidFill>
                  <a:srgbClr val="1A1A1A"/>
                </a:solidFill>
                <a:latin typeface="Courier New"/>
              </a:rPr>
              <a:t>    finally:</a:t>
            </a:r>
          </a:p>
          <a:p>
            <a:pPr algn="l">
              <a:lnSpc>
                <a:spcPct val="100000"/>
              </a:lnSpc>
            </a:pPr>
            <a:r>
              <a:rPr sz="1100">
                <a:solidFill>
                  <a:srgbClr val="1A1A1A"/>
                </a:solidFill>
                <a:latin typeface="Courier New"/>
              </a:rPr>
              <a:t>        if original is None:</a:t>
            </a:r>
          </a:p>
          <a:p>
            <a:pPr algn="l">
              <a:lnSpc>
                <a:spcPct val="100000"/>
              </a:lnSpc>
            </a:pPr>
            <a:r>
              <a:rPr sz="1100">
                <a:solidFill>
                  <a:srgbClr val="1A1A1A"/>
                </a:solidFill>
                <a:latin typeface="Courier New"/>
              </a:rPr>
              <a:t>            del os.environ[name]</a:t>
            </a:r>
          </a:p>
          <a:p>
            <a:pPr algn="l">
              <a:lnSpc>
                <a:spcPct val="100000"/>
              </a:lnSpc>
            </a:pPr>
            <a:r>
              <a:rPr sz="1100">
                <a:solidFill>
                  <a:srgbClr val="1A1A1A"/>
                </a:solidFill>
                <a:latin typeface="Courier New"/>
              </a:rPr>
              <a:t>        else:</a:t>
            </a:r>
          </a:p>
          <a:p>
            <a:pPr algn="l">
              <a:lnSpc>
                <a:spcPct val="100000"/>
              </a:lnSpc>
            </a:pPr>
            <a:r>
              <a:rPr sz="1100">
                <a:solidFill>
                  <a:srgbClr val="1A1A1A"/>
                </a:solidFill>
                <a:latin typeface="Courier New"/>
              </a:rPr>
              <a:t>            os.environ[name] = original</a:t>
            </a:r>
          </a:p>
          <a:p>
            <a:pPr algn="l">
              <a:lnSpc>
                <a:spcPct val="100000"/>
              </a:lnSpc>
            </a:pPr>
            <a:r>
              <a:rPr sz="1100">
                <a:solidFill>
                  <a:srgbClr val="1A1A1A"/>
                </a:solidFill>
                <a:latin typeface="Courier New"/>
              </a:rPr>
              <a:t> </a:t>
            </a:r>
          </a:p>
          <a:p>
            <a:pPr algn="l">
              <a:lnSpc>
                <a:spcPct val="100000"/>
              </a:lnSpc>
            </a:pPr>
            <a:r>
              <a:rPr sz="1100">
                <a:solidFill>
                  <a:srgbClr val="1A1A1A"/>
                </a:solidFill>
                <a:latin typeface="Courier New"/>
              </a:rPr>
              <a:t> </a:t>
            </a:r>
          </a:p>
          <a:p>
            <a:pPr algn="l">
              <a:lnSpc>
                <a:spcPct val="100000"/>
              </a:lnSpc>
            </a:pPr>
            <a:r>
              <a:rPr sz="1100">
                <a:solidFill>
                  <a:srgbClr val="1A1A1A"/>
                </a:solidFill>
                <a:latin typeface="Courier New"/>
              </a:rPr>
              <a:t>print("before:", os.environ.get("BASE_URL"))</a:t>
            </a:r>
          </a:p>
          <a:p>
            <a:pPr algn="l">
              <a:lnSpc>
                <a:spcPct val="100000"/>
              </a:lnSpc>
            </a:pPr>
            <a:r>
              <a:rPr sz="1100">
                <a:solidFill>
                  <a:srgbClr val="1A1A1A"/>
                </a:solidFill>
                <a:latin typeface="Courier New"/>
              </a:rPr>
              <a:t>with temporary_env("BASE_URL", "https://staging.example.test"):</a:t>
            </a:r>
          </a:p>
          <a:p>
            <a:pPr algn="l">
              <a:lnSpc>
                <a:spcPct val="100000"/>
              </a:lnSpc>
            </a:pPr>
            <a:r>
              <a:rPr sz="1100">
                <a:solidFill>
                  <a:srgbClr val="1A1A1A"/>
                </a:solidFill>
                <a:latin typeface="Courier New"/>
              </a:rPr>
              <a:t>    print("inside:", os.environ.get("BASE_URL"))</a:t>
            </a:r>
          </a:p>
          <a:p>
            <a:pPr algn="l">
              <a:lnSpc>
                <a:spcPct val="100000"/>
              </a:lnSpc>
            </a:pPr>
            <a:r>
              <a:rPr sz="1100">
                <a:solidFill>
                  <a:srgbClr val="1A1A1A"/>
                </a:solidFill>
                <a:latin typeface="Courier New"/>
              </a:rPr>
              <a:t>print("after :", os.environ.get("BASE_URL"))</a:t>
            </a:r>
          </a:p>
        </p:txBody>
      </p:sp>
      <p:sp>
        <p:nvSpPr>
          <p:cNvPr id="6" name="TextBox 5"/>
          <p:cNvSpPr txBox="1"/>
          <p:nvPr/>
        </p:nvSpPr>
        <p:spPr>
          <a:xfrm>
            <a:off x="7376464" y="1783080"/>
            <a:ext cx="4205325" cy="4361688"/>
          </a:xfrm>
          <a:prstGeom prst="rect">
            <a:avLst/>
          </a:prstGeom>
          <a:noFill/>
        </p:spPr>
        <p:txBody>
          <a:bodyPr wrap="square" lIns="0" tIns="0" rIns="0" bIns="0">
            <a:spAutoFit/>
          </a:bodyPr>
          <a:lstStyle/>
          <a:p>
            <a:pPr marL="228600" indent="-228600" algn="l">
              <a:spcAft>
                <a:spcPts val="800"/>
              </a:spcAft>
              <a:buFont typeface="Arial"/>
              <a:buChar char="•"/>
            </a:pPr>
            <a:r>
              <a:rPr sz="1350" b="0" i="0">
                <a:solidFill>
                  <a:srgbClr val="1A1A1A"/>
                </a:solidFill>
                <a:latin typeface="Arial"/>
              </a:rPr>
              <a:t>Tests often need </a:t>
            </a:r>
            <a:r>
              <a:rPr sz="1300" b="0" i="0">
                <a:solidFill>
                  <a:srgbClr val="330066"/>
                </a:solidFill>
                <a:latin typeface="Courier New"/>
              </a:rPr>
              <a:t>BASE_URL=https://staging...</a:t>
            </a:r>
            <a:r>
              <a:rPr sz="1350" b="0" i="0">
                <a:solidFill>
                  <a:srgbClr val="1A1A1A"/>
                </a:solidFill>
                <a:latin typeface="Arial"/>
              </a:rPr>
              <a:t> for a moment, then everything restored.</a:t>
            </a:r>
          </a:p>
          <a:p>
            <a:pPr marL="228600" indent="-228600" algn="l">
              <a:spcAft>
                <a:spcPts val="800"/>
              </a:spcAft>
              <a:buFont typeface="Arial"/>
              <a:buChar char="•"/>
            </a:pPr>
            <a:r>
              <a:rPr sz="1300" b="0" i="0">
                <a:solidFill>
                  <a:srgbClr val="330066"/>
                </a:solidFill>
                <a:latin typeface="Courier New"/>
              </a:rPr>
              <a:t>original</a:t>
            </a:r>
            <a:r>
              <a:rPr sz="1350" b="0" i="0">
                <a:solidFill>
                  <a:srgbClr val="1A1A1A"/>
                </a:solidFill>
                <a:latin typeface="Arial"/>
              </a:rPr>
              <a:t> is </a:t>
            </a:r>
            <a:r>
              <a:rPr sz="1300" b="0" i="0">
                <a:solidFill>
                  <a:srgbClr val="330066"/>
                </a:solidFill>
                <a:latin typeface="Courier New"/>
              </a:rPr>
              <a:t>None</a:t>
            </a:r>
            <a:r>
              <a:rPr sz="1350" b="0" i="0">
                <a:solidFill>
                  <a:srgbClr val="1A1A1A"/>
                </a:solidFill>
                <a:latin typeface="Arial"/>
              </a:rPr>
              <a:t> if the variable was not set; then it is deleted afterwards.</a:t>
            </a:r>
          </a:p>
          <a:p>
            <a:pPr marL="228600" indent="-228600" algn="l">
              <a:spcAft>
                <a:spcPts val="800"/>
              </a:spcAft>
              <a:buFont typeface="Arial"/>
              <a:buChar char="•"/>
            </a:pPr>
            <a:r>
              <a:rPr sz="1350" b="0" i="0">
                <a:solidFill>
                  <a:srgbClr val="1A1A1A"/>
                </a:solidFill>
                <a:latin typeface="Arial"/>
              </a:rPr>
              <a:t>Output (assuming </a:t>
            </a:r>
            <a:r>
              <a:rPr sz="1300" b="0" i="0">
                <a:solidFill>
                  <a:srgbClr val="330066"/>
                </a:solidFill>
                <a:latin typeface="Courier New"/>
              </a:rPr>
              <a:t>BASE_URL</a:t>
            </a:r>
            <a:r>
              <a:rPr sz="1350" b="0" i="0">
                <a:solidFill>
                  <a:srgbClr val="1A1A1A"/>
                </a:solidFill>
                <a:latin typeface="Arial"/>
              </a:rPr>
              <a:t> was not set): </a:t>
            </a:r>
            <a:r>
              <a:rPr sz="1300" b="0" i="0">
                <a:solidFill>
                  <a:srgbClr val="330066"/>
                </a:solidFill>
                <a:latin typeface="Courier New"/>
              </a:rPr>
              <a:t>None</a:t>
            </a:r>
            <a:r>
              <a:rPr sz="1350" b="0" i="0">
                <a:solidFill>
                  <a:srgbClr val="1A1A1A"/>
                </a:solidFill>
                <a:latin typeface="Arial"/>
              </a:rPr>
              <a:t>, the staging URL, </a:t>
            </a:r>
            <a:r>
              <a:rPr sz="1300" b="0" i="0">
                <a:solidFill>
                  <a:srgbClr val="330066"/>
                </a:solidFill>
                <a:latin typeface="Courier New"/>
              </a:rPr>
              <a:t>None</a:t>
            </a:r>
            <a:r>
              <a:rPr sz="1350" b="0" i="0">
                <a:solidFill>
                  <a:srgbClr val="1A1A1A"/>
                </a:solidFill>
                <a:latin typeface="Arial"/>
              </a:rPr>
              <a:t>.</a:t>
            </a:r>
          </a:p>
          <a:p>
            <a:pPr marL="228600" indent="-228600" algn="l">
              <a:spcAft>
                <a:spcPts val="800"/>
              </a:spcAft>
              <a:buFont typeface="Arial"/>
              <a:buChar char="•"/>
            </a:pPr>
            <a:r>
              <a:rPr sz="1350" b="0" i="0">
                <a:solidFill>
                  <a:srgbClr val="1A1A1A"/>
                </a:solidFill>
                <a:latin typeface="Arial"/>
              </a:rPr>
              <a:t>Without it, a test failing mid-way would leave the variable modified and corrupt later tests. This protects test isolation.</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30 / 49</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Scenario 3: Self-Cleaning Test Data</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QA SCENARIOS</a:t>
            </a:r>
          </a:p>
        </p:txBody>
      </p:sp>
      <p:sp>
        <p:nvSpPr>
          <p:cNvPr id="4" name="Rounded Rectangle 3"/>
          <p:cNvSpPr/>
          <p:nvPr/>
        </p:nvSpPr>
        <p:spPr>
          <a:xfrm>
            <a:off x="609904" y="1783080"/>
            <a:ext cx="6400800" cy="3653027"/>
          </a:xfrm>
          <a:prstGeom prst="roundRect">
            <a:avLst>
              <a:gd name="adj" fmla="val 2002"/>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998464" cy="3360420"/>
          </a:xfrm>
          <a:prstGeom prst="rect">
            <a:avLst/>
          </a:prstGeom>
          <a:noFill/>
        </p:spPr>
        <p:txBody>
          <a:bodyPr wrap="square" lIns="0" tIns="0" rIns="0" bIns="0">
            <a:spAutoFit/>
          </a:bodyPr>
          <a:lstStyle/>
          <a:p>
            <a:pPr algn="l">
              <a:lnSpc>
                <a:spcPct val="100000"/>
              </a:lnSpc>
            </a:pPr>
            <a:r>
              <a:rPr sz="1050">
                <a:solidFill>
                  <a:srgbClr val="1A1A1A"/>
                </a:solidFill>
                <a:latin typeface="Courier New"/>
              </a:rPr>
              <a:t>import json</a:t>
            </a:r>
          </a:p>
          <a:p>
            <a:pPr algn="l">
              <a:lnSpc>
                <a:spcPct val="100000"/>
              </a:lnSpc>
            </a:pPr>
            <a:r>
              <a:rPr sz="1050">
                <a:solidFill>
                  <a:srgbClr val="1A1A1A"/>
                </a:solidFill>
                <a:latin typeface="Courier New"/>
              </a:rPr>
              <a:t>import os</a:t>
            </a:r>
          </a:p>
          <a:p>
            <a:pPr algn="l">
              <a:lnSpc>
                <a:spcPct val="100000"/>
              </a:lnSpc>
            </a:pPr>
            <a:r>
              <a:rPr sz="1050">
                <a:solidFill>
                  <a:srgbClr val="1A1A1A"/>
                </a:solidFill>
                <a:latin typeface="Courier New"/>
              </a:rPr>
              <a:t>from contextlib import contextmanager</a:t>
            </a:r>
          </a:p>
          <a:p>
            <a:pPr algn="l">
              <a:lnSpc>
                <a:spcPct val="100000"/>
              </a:lnSpc>
            </a:pPr>
            <a:r>
              <a:rPr sz="1050">
                <a:solidFill>
                  <a:srgbClr val="1A1A1A"/>
                </a:solidFill>
                <a:latin typeface="Courier New"/>
              </a:rPr>
              <a:t> </a:t>
            </a:r>
          </a:p>
          <a:p>
            <a:pPr algn="l">
              <a:lnSpc>
                <a:spcPct val="100000"/>
              </a:lnSpc>
            </a:pPr>
            <a:r>
              <a:rPr sz="1050">
                <a:solidFill>
                  <a:srgbClr val="1A1A1A"/>
                </a:solidFill>
                <a:latin typeface="Courier New"/>
              </a:rPr>
              <a:t>@contextmanager</a:t>
            </a:r>
          </a:p>
          <a:p>
            <a:pPr algn="l">
              <a:lnSpc>
                <a:spcPct val="100000"/>
              </a:lnSpc>
            </a:pPr>
            <a:r>
              <a:rPr sz="1050">
                <a:solidFill>
                  <a:srgbClr val="1A1A1A"/>
                </a:solidFill>
                <a:latin typeface="Courier New"/>
              </a:rPr>
              <a:t>def temp_json_file(path, data):</a:t>
            </a:r>
          </a:p>
          <a:p>
            <a:pPr algn="l">
              <a:lnSpc>
                <a:spcPct val="100000"/>
              </a:lnSpc>
            </a:pPr>
            <a:r>
              <a:rPr sz="1050">
                <a:solidFill>
                  <a:srgbClr val="1A1A1A"/>
                </a:solidFill>
                <a:latin typeface="Courier New"/>
              </a:rPr>
              <a:t>    with open(path, "w", encoding="utf-8") as f:</a:t>
            </a:r>
          </a:p>
          <a:p>
            <a:pPr algn="l">
              <a:lnSpc>
                <a:spcPct val="100000"/>
              </a:lnSpc>
            </a:pPr>
            <a:r>
              <a:rPr sz="1050">
                <a:solidFill>
                  <a:srgbClr val="1A1A1A"/>
                </a:solidFill>
                <a:latin typeface="Courier New"/>
              </a:rPr>
              <a:t>        json.dump(data, f)</a:t>
            </a:r>
          </a:p>
          <a:p>
            <a:pPr algn="l">
              <a:lnSpc>
                <a:spcPct val="100000"/>
              </a:lnSpc>
            </a:pPr>
            <a:r>
              <a:rPr sz="1050">
                <a:solidFill>
                  <a:srgbClr val="1A1A1A"/>
                </a:solidFill>
                <a:latin typeface="Courier New"/>
              </a:rPr>
              <a:t>    print(f"[setup] created {path}")</a:t>
            </a:r>
          </a:p>
          <a:p>
            <a:pPr algn="l">
              <a:lnSpc>
                <a:spcPct val="100000"/>
              </a:lnSpc>
            </a:pPr>
            <a:r>
              <a:rPr sz="1050">
                <a:solidFill>
                  <a:srgbClr val="1A1A1A"/>
                </a:solidFill>
                <a:latin typeface="Courier New"/>
              </a:rPr>
              <a:t>    try:</a:t>
            </a:r>
          </a:p>
          <a:p>
            <a:pPr algn="l">
              <a:lnSpc>
                <a:spcPct val="100000"/>
              </a:lnSpc>
            </a:pPr>
            <a:r>
              <a:rPr sz="1050">
                <a:solidFill>
                  <a:srgbClr val="1A1A1A"/>
                </a:solidFill>
                <a:latin typeface="Courier New"/>
              </a:rPr>
              <a:t>        yield path</a:t>
            </a:r>
          </a:p>
          <a:p>
            <a:pPr algn="l">
              <a:lnSpc>
                <a:spcPct val="100000"/>
              </a:lnSpc>
            </a:pPr>
            <a:r>
              <a:rPr sz="1050">
                <a:solidFill>
                  <a:srgbClr val="1A1A1A"/>
                </a:solidFill>
                <a:latin typeface="Courier New"/>
              </a:rPr>
              <a:t>    finally:</a:t>
            </a:r>
          </a:p>
          <a:p>
            <a:pPr algn="l">
              <a:lnSpc>
                <a:spcPct val="100000"/>
              </a:lnSpc>
            </a:pPr>
            <a:r>
              <a:rPr sz="1050">
                <a:solidFill>
                  <a:srgbClr val="1A1A1A"/>
                </a:solidFill>
                <a:latin typeface="Courier New"/>
              </a:rPr>
              <a:t>        os.remove(path)</a:t>
            </a:r>
          </a:p>
          <a:p>
            <a:pPr algn="l">
              <a:lnSpc>
                <a:spcPct val="100000"/>
              </a:lnSpc>
            </a:pPr>
            <a:r>
              <a:rPr sz="1050">
                <a:solidFill>
                  <a:srgbClr val="1A1A1A"/>
                </a:solidFill>
                <a:latin typeface="Courier New"/>
              </a:rPr>
              <a:t>        print(f"[teardown] removed {path}")</a:t>
            </a:r>
          </a:p>
          <a:p>
            <a:pPr algn="l">
              <a:lnSpc>
                <a:spcPct val="100000"/>
              </a:lnSpc>
            </a:pPr>
            <a:r>
              <a:rPr sz="1050">
                <a:solidFill>
                  <a:srgbClr val="1A1A1A"/>
                </a:solidFill>
                <a:latin typeface="Courier New"/>
              </a:rPr>
              <a:t> </a:t>
            </a:r>
          </a:p>
          <a:p>
            <a:pPr algn="l">
              <a:lnSpc>
                <a:spcPct val="100000"/>
              </a:lnSpc>
            </a:pPr>
            <a:r>
              <a:rPr sz="1050">
                <a:solidFill>
                  <a:srgbClr val="1A1A1A"/>
                </a:solidFill>
                <a:latin typeface="Courier New"/>
              </a:rPr>
              <a:t> </a:t>
            </a:r>
          </a:p>
          <a:p>
            <a:pPr algn="l">
              <a:lnSpc>
                <a:spcPct val="100000"/>
              </a:lnSpc>
            </a:pPr>
            <a:r>
              <a:rPr sz="1050">
                <a:solidFill>
                  <a:srgbClr val="1A1A1A"/>
                </a:solidFill>
                <a:latin typeface="Courier New"/>
              </a:rPr>
              <a:t>with temp_json_file("fixture_users.json", [{"id": 1}, {"id": 2}]) as path:</a:t>
            </a:r>
          </a:p>
          <a:p>
            <a:pPr algn="l">
              <a:lnSpc>
                <a:spcPct val="100000"/>
              </a:lnSpc>
            </a:pPr>
            <a:r>
              <a:rPr sz="1050">
                <a:solidFill>
                  <a:srgbClr val="1A1A1A"/>
                </a:solidFill>
                <a:latin typeface="Courier New"/>
              </a:rPr>
              <a:t>    with open(path, encoding="utf-8") as f:</a:t>
            </a:r>
          </a:p>
          <a:p>
            <a:pPr algn="l">
              <a:lnSpc>
                <a:spcPct val="100000"/>
              </a:lnSpc>
            </a:pPr>
            <a:r>
              <a:rPr sz="1050">
                <a:solidFill>
                  <a:srgbClr val="1A1A1A"/>
                </a:solidFill>
                <a:latin typeface="Courier New"/>
              </a:rPr>
              <a:t>        print("loaded", len(json.load(f)), "users")</a:t>
            </a:r>
          </a:p>
          <a:p>
            <a:pPr algn="l">
              <a:lnSpc>
                <a:spcPct val="100000"/>
              </a:lnSpc>
            </a:pPr>
            <a:r>
              <a:rPr sz="1050">
                <a:solidFill>
                  <a:srgbClr val="1A1A1A"/>
                </a:solidFill>
                <a:latin typeface="Courier New"/>
              </a:rPr>
              <a:t> </a:t>
            </a:r>
          </a:p>
          <a:p>
            <a:pPr algn="l">
              <a:lnSpc>
                <a:spcPct val="100000"/>
              </a:lnSpc>
            </a:pPr>
            <a:r>
              <a:rPr sz="1050">
                <a:solidFill>
                  <a:srgbClr val="1A1A1A"/>
                </a:solidFill>
                <a:latin typeface="Courier New"/>
              </a:rPr>
              <a:t>print("file still exists?", os.path.exists("fixture_users.json"))</a:t>
            </a:r>
          </a:p>
        </p:txBody>
      </p:sp>
      <p:sp>
        <p:nvSpPr>
          <p:cNvPr id="6" name="TextBox 5"/>
          <p:cNvSpPr txBox="1"/>
          <p:nvPr/>
        </p:nvSpPr>
        <p:spPr>
          <a:xfrm>
            <a:off x="7376464" y="1783080"/>
            <a:ext cx="4205325" cy="4361688"/>
          </a:xfrm>
          <a:prstGeom prst="rect">
            <a:avLst/>
          </a:prstGeom>
          <a:noFill/>
        </p:spPr>
        <p:txBody>
          <a:bodyPr wrap="square" lIns="0" tIns="0" rIns="0" bIns="0">
            <a:spAutoFit/>
          </a:bodyPr>
          <a:lstStyle/>
          <a:p>
            <a:pPr marL="228600" indent="-228600" algn="l">
              <a:spcAft>
                <a:spcPts val="800"/>
              </a:spcAft>
              <a:buFont typeface="Arial"/>
              <a:buChar char="•"/>
            </a:pPr>
            <a:r>
              <a:rPr sz="1400" b="0" i="0">
                <a:solidFill>
                  <a:srgbClr val="1A1A1A"/>
                </a:solidFill>
                <a:latin typeface="Arial"/>
              </a:rPr>
              <a:t>Setup writes the JSON file; </a:t>
            </a:r>
            <a:r>
              <a:rPr sz="1350" b="0" i="0">
                <a:solidFill>
                  <a:srgbClr val="330066"/>
                </a:solidFill>
                <a:latin typeface="Courier New"/>
              </a:rPr>
              <a:t>yield path</a:t>
            </a:r>
            <a:r>
              <a:rPr sz="1400" b="0" i="0">
                <a:solidFill>
                  <a:srgbClr val="1A1A1A"/>
                </a:solidFill>
                <a:latin typeface="Arial"/>
              </a:rPr>
              <a:t> hands it to the block; </a:t>
            </a:r>
            <a:r>
              <a:rPr sz="1350" b="0" i="0">
                <a:solidFill>
                  <a:srgbClr val="330066"/>
                </a:solidFill>
                <a:latin typeface="Courier New"/>
              </a:rPr>
              <a:t>finally</a:t>
            </a:r>
            <a:r>
              <a:rPr sz="1400" b="0" i="0">
                <a:solidFill>
                  <a:srgbClr val="1A1A1A"/>
                </a:solidFill>
                <a:latin typeface="Arial"/>
              </a:rPr>
              <a:t> removes it.</a:t>
            </a:r>
          </a:p>
          <a:p>
            <a:pPr marL="228600" indent="-228600" algn="l">
              <a:spcAft>
                <a:spcPts val="800"/>
              </a:spcAft>
              <a:buFont typeface="Arial"/>
              <a:buChar char="•"/>
            </a:pPr>
            <a:r>
              <a:rPr sz="1400" b="0" i="0">
                <a:solidFill>
                  <a:srgbClr val="1A1A1A"/>
                </a:solidFill>
                <a:latin typeface="Arial"/>
              </a:rPr>
              <a:t>The pattern behind test fixtures: create what the test needs, hand it over, always clean up.</a:t>
            </a:r>
          </a:p>
        </p:txBody>
      </p:sp>
      <p:sp>
        <p:nvSpPr>
          <p:cNvPr id="7" name="TextBox 6"/>
          <p:cNvSpPr txBox="1"/>
          <p:nvPr/>
        </p:nvSpPr>
        <p:spPr>
          <a:xfrm>
            <a:off x="7376464" y="4160520"/>
            <a:ext cx="420624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Output</a:t>
            </a:r>
          </a:p>
        </p:txBody>
      </p:sp>
      <p:sp>
        <p:nvSpPr>
          <p:cNvPr id="8" name="Rounded Rectangle 7"/>
          <p:cNvSpPr/>
          <p:nvPr/>
        </p:nvSpPr>
        <p:spPr>
          <a:xfrm>
            <a:off x="7376464" y="4434840"/>
            <a:ext cx="4205325" cy="932688"/>
          </a:xfrm>
          <a:prstGeom prst="roundRect">
            <a:avLst>
              <a:gd name="adj" fmla="val 7843"/>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77632" y="4581144"/>
            <a:ext cx="3802989" cy="640080"/>
          </a:xfrm>
          <a:prstGeom prst="rect">
            <a:avLst/>
          </a:prstGeom>
          <a:noFill/>
        </p:spPr>
        <p:txBody>
          <a:bodyPr wrap="square" lIns="0" tIns="0" rIns="0" bIns="0">
            <a:spAutoFit/>
          </a:bodyPr>
          <a:lstStyle/>
          <a:p>
            <a:pPr algn="l">
              <a:lnSpc>
                <a:spcPct val="100000"/>
              </a:lnSpc>
            </a:pPr>
            <a:r>
              <a:rPr sz="1050">
                <a:solidFill>
                  <a:srgbClr val="1A1A1A"/>
                </a:solidFill>
                <a:latin typeface="Courier New"/>
              </a:rPr>
              <a:t>[setup] created fixture_users.json</a:t>
            </a:r>
          </a:p>
          <a:p>
            <a:pPr algn="l">
              <a:lnSpc>
                <a:spcPct val="100000"/>
              </a:lnSpc>
            </a:pPr>
            <a:r>
              <a:rPr sz="1050">
                <a:solidFill>
                  <a:srgbClr val="1A1A1A"/>
                </a:solidFill>
                <a:latin typeface="Courier New"/>
              </a:rPr>
              <a:t>loaded 2 users</a:t>
            </a:r>
          </a:p>
          <a:p>
            <a:pPr algn="l">
              <a:lnSpc>
                <a:spcPct val="100000"/>
              </a:lnSpc>
            </a:pPr>
            <a:r>
              <a:rPr sz="1050">
                <a:solidFill>
                  <a:srgbClr val="1A1A1A"/>
                </a:solidFill>
                <a:latin typeface="Courier New"/>
              </a:rPr>
              <a:t>[teardown] removed fixture_users.json</a:t>
            </a:r>
          </a:p>
          <a:p>
            <a:pPr algn="l">
              <a:lnSpc>
                <a:spcPct val="100000"/>
              </a:lnSpc>
            </a:pPr>
            <a:r>
              <a:rPr sz="1050">
                <a:solidFill>
                  <a:srgbClr val="1A1A1A"/>
                </a:solidFill>
                <a:latin typeface="Courier New"/>
              </a:rPr>
              <a:t>file still exists? False</a:t>
            </a:r>
          </a:p>
        </p:txBody>
      </p:sp>
      <p:sp>
        <p:nvSpPr>
          <p:cNvPr id="10" name="TextBox 9"/>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31 / 49</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Scenario 4: A Transaction-Like Manager</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QA SCENARIOS · CLASS BASED</a:t>
            </a:r>
          </a:p>
        </p:txBody>
      </p:sp>
      <p:sp>
        <p:nvSpPr>
          <p:cNvPr id="4" name="TextBox 3"/>
          <p:cNvSpPr txBox="1"/>
          <p:nvPr/>
        </p:nvSpPr>
        <p:spPr>
          <a:xfrm>
            <a:off x="609904" y="1737360"/>
            <a:ext cx="72237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A5A5A"/>
                </a:solidFill>
                <a:latin typeface="Arial"/>
              </a:rPr>
              <a:t>FakeTransaction</a:t>
            </a:r>
          </a:p>
        </p:txBody>
      </p:sp>
      <p:sp>
        <p:nvSpPr>
          <p:cNvPr id="5" name="Rounded Rectangle 4"/>
          <p:cNvSpPr/>
          <p:nvPr/>
        </p:nvSpPr>
        <p:spPr>
          <a:xfrm>
            <a:off x="609904" y="2075688"/>
            <a:ext cx="7223760" cy="3142488"/>
          </a:xfrm>
          <a:prstGeom prst="roundRect">
            <a:avLst>
              <a:gd name="adj" fmla="val 2327"/>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21992"/>
            <a:ext cx="6821424" cy="2849880"/>
          </a:xfrm>
          <a:prstGeom prst="rect">
            <a:avLst/>
          </a:prstGeom>
          <a:noFill/>
        </p:spPr>
        <p:txBody>
          <a:bodyPr wrap="square" lIns="0" tIns="0" rIns="0" bIns="0">
            <a:spAutoFit/>
          </a:bodyPr>
          <a:lstStyle/>
          <a:p>
            <a:pPr algn="l">
              <a:lnSpc>
                <a:spcPct val="100000"/>
              </a:lnSpc>
            </a:pPr>
            <a:r>
              <a:rPr sz="1100">
                <a:solidFill>
                  <a:srgbClr val="1A1A1A"/>
                </a:solidFill>
                <a:latin typeface="Courier New"/>
              </a:rPr>
              <a:t>class FakeTransaction:</a:t>
            </a:r>
          </a:p>
          <a:p>
            <a:pPr algn="l">
              <a:lnSpc>
                <a:spcPct val="100000"/>
              </a:lnSpc>
            </a:pPr>
            <a:r>
              <a:rPr sz="1100">
                <a:solidFill>
                  <a:srgbClr val="1A1A1A"/>
                </a:solidFill>
                <a:latin typeface="Courier New"/>
              </a:rPr>
              <a:t>    """Applies changes to a dict only if the block finishes without error."""</a:t>
            </a:r>
          </a:p>
          <a:p>
            <a:pPr algn="l">
              <a:lnSpc>
                <a:spcPct val="100000"/>
              </a:lnSpc>
            </a:pPr>
            <a:r>
              <a:rPr sz="1100">
                <a:solidFill>
                  <a:srgbClr val="1A1A1A"/>
                </a:solidFill>
                <a:latin typeface="Courier New"/>
              </a:rPr>
              <a:t> </a:t>
            </a:r>
          </a:p>
          <a:p>
            <a:pPr algn="l">
              <a:lnSpc>
                <a:spcPct val="100000"/>
              </a:lnSpc>
            </a:pPr>
            <a:r>
              <a:rPr sz="1100">
                <a:solidFill>
                  <a:srgbClr val="1A1A1A"/>
                </a:solidFill>
                <a:latin typeface="Courier New"/>
              </a:rPr>
              <a:t>    def __init__(self, store):</a:t>
            </a:r>
          </a:p>
          <a:p>
            <a:pPr algn="l">
              <a:lnSpc>
                <a:spcPct val="100000"/>
              </a:lnSpc>
            </a:pPr>
            <a:r>
              <a:rPr sz="1100">
                <a:solidFill>
                  <a:srgbClr val="1A1A1A"/>
                </a:solidFill>
                <a:latin typeface="Courier New"/>
              </a:rPr>
              <a:t>        self.store = store</a:t>
            </a:r>
          </a:p>
          <a:p>
            <a:pPr algn="l">
              <a:lnSpc>
                <a:spcPct val="100000"/>
              </a:lnSpc>
            </a:pPr>
            <a:r>
              <a:rPr sz="1100">
                <a:solidFill>
                  <a:srgbClr val="1A1A1A"/>
                </a:solidFill>
                <a:latin typeface="Courier New"/>
              </a:rPr>
              <a:t>        self.pending = {}</a:t>
            </a:r>
          </a:p>
          <a:p>
            <a:pPr algn="l">
              <a:lnSpc>
                <a:spcPct val="100000"/>
              </a:lnSpc>
            </a:pPr>
            <a:r>
              <a:rPr sz="1100">
                <a:solidFill>
                  <a:srgbClr val="1A1A1A"/>
                </a:solidFill>
                <a:latin typeface="Courier New"/>
              </a:rPr>
              <a:t> </a:t>
            </a:r>
          </a:p>
          <a:p>
            <a:pPr algn="l">
              <a:lnSpc>
                <a:spcPct val="100000"/>
              </a:lnSpc>
            </a:pPr>
            <a:r>
              <a:rPr sz="1100">
                <a:solidFill>
                  <a:srgbClr val="1A1A1A"/>
                </a:solidFill>
                <a:latin typeface="Courier New"/>
              </a:rPr>
              <a:t>    def __enter__(self):</a:t>
            </a:r>
          </a:p>
          <a:p>
            <a:pPr algn="l">
              <a:lnSpc>
                <a:spcPct val="100000"/>
              </a:lnSpc>
            </a:pPr>
            <a:r>
              <a:rPr sz="1100">
                <a:solidFill>
                  <a:srgbClr val="1A1A1A"/>
                </a:solidFill>
                <a:latin typeface="Courier New"/>
              </a:rPr>
              <a:t>        return self.pending                  # the block writes into 'pending'</a:t>
            </a:r>
          </a:p>
          <a:p>
            <a:pPr algn="l">
              <a:lnSpc>
                <a:spcPct val="100000"/>
              </a:lnSpc>
            </a:pPr>
            <a:r>
              <a:rPr sz="1100">
                <a:solidFill>
                  <a:srgbClr val="1A1A1A"/>
                </a:solidFill>
                <a:latin typeface="Courier New"/>
              </a:rPr>
              <a:t> </a:t>
            </a:r>
          </a:p>
          <a:p>
            <a:pPr algn="l">
              <a:lnSpc>
                <a:spcPct val="100000"/>
              </a:lnSpc>
            </a:pPr>
            <a:r>
              <a:rPr sz="1100">
                <a:solidFill>
                  <a:srgbClr val="1A1A1A"/>
                </a:solidFill>
                <a:latin typeface="Courier New"/>
              </a:rPr>
              <a:t>    def __exit__(self, exc_type, exc_value, traceback):</a:t>
            </a:r>
          </a:p>
          <a:p>
            <a:pPr algn="l">
              <a:lnSpc>
                <a:spcPct val="100000"/>
              </a:lnSpc>
            </a:pPr>
            <a:r>
              <a:rPr sz="1100">
                <a:solidFill>
                  <a:srgbClr val="1A1A1A"/>
                </a:solidFill>
                <a:latin typeface="Courier New"/>
              </a:rPr>
              <a:t>        if exc_type is None:</a:t>
            </a:r>
          </a:p>
          <a:p>
            <a:pPr algn="l">
              <a:lnSpc>
                <a:spcPct val="100000"/>
              </a:lnSpc>
            </a:pPr>
            <a:r>
              <a:rPr sz="1100">
                <a:solidFill>
                  <a:srgbClr val="1A1A1A"/>
                </a:solidFill>
                <a:latin typeface="Courier New"/>
              </a:rPr>
              <a:t>            self.store.update(self.pending)  # commit</a:t>
            </a:r>
          </a:p>
          <a:p>
            <a:pPr algn="l">
              <a:lnSpc>
                <a:spcPct val="100000"/>
              </a:lnSpc>
            </a:pPr>
            <a:r>
              <a:rPr sz="1100">
                <a:solidFill>
                  <a:srgbClr val="1A1A1A"/>
                </a:solidFill>
                <a:latin typeface="Courier New"/>
              </a:rPr>
              <a:t>            print("committed", self.pending)</a:t>
            </a:r>
          </a:p>
          <a:p>
            <a:pPr algn="l">
              <a:lnSpc>
                <a:spcPct val="100000"/>
              </a:lnSpc>
            </a:pPr>
            <a:r>
              <a:rPr sz="1100">
                <a:solidFill>
                  <a:srgbClr val="1A1A1A"/>
                </a:solidFill>
                <a:latin typeface="Courier New"/>
              </a:rPr>
              <a:t>        else:</a:t>
            </a:r>
          </a:p>
          <a:p>
            <a:pPr algn="l">
              <a:lnSpc>
                <a:spcPct val="100000"/>
              </a:lnSpc>
            </a:pPr>
            <a:r>
              <a:rPr sz="1100">
                <a:solidFill>
                  <a:srgbClr val="1A1A1A"/>
                </a:solidFill>
                <a:latin typeface="Courier New"/>
              </a:rPr>
              <a:t>            print("rolled back because of", exc_type.__name__)</a:t>
            </a:r>
          </a:p>
          <a:p>
            <a:pPr algn="l">
              <a:lnSpc>
                <a:spcPct val="100000"/>
              </a:lnSpc>
            </a:pPr>
            <a:r>
              <a:rPr sz="1100">
                <a:solidFill>
                  <a:srgbClr val="1A1A1A"/>
                </a:solidFill>
                <a:latin typeface="Courier New"/>
              </a:rPr>
              <a:t>        return False                         # never hide the error</a:t>
            </a:r>
          </a:p>
        </p:txBody>
      </p:sp>
      <p:sp>
        <p:nvSpPr>
          <p:cNvPr id="7" name="Oval 6"/>
          <p:cNvSpPr/>
          <p:nvPr/>
        </p:nvSpPr>
        <p:spPr>
          <a:xfrm>
            <a:off x="819942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8" name="TextBox 7"/>
          <p:cNvSpPr txBox="1"/>
          <p:nvPr/>
        </p:nvSpPr>
        <p:spPr>
          <a:xfrm>
            <a:off x="8748064" y="1819656"/>
            <a:ext cx="2833725" cy="1045845"/>
          </a:xfrm>
          <a:prstGeom prst="rect">
            <a:avLst/>
          </a:prstGeom>
          <a:noFill/>
        </p:spPr>
        <p:txBody>
          <a:bodyPr wrap="square" lIns="0" tIns="0" rIns="0" bIns="0" anchor="t">
            <a:spAutoFit/>
          </a:bodyPr>
          <a:lstStyle/>
          <a:p>
            <a:pPr algn="l">
              <a:lnSpc>
                <a:spcPct val="110000"/>
              </a:lnSpc>
              <a:spcAft>
                <a:spcPts val="200"/>
              </a:spcAft>
            </a:pPr>
            <a:r>
              <a:rPr sz="1300" b="1" i="0">
                <a:solidFill>
                  <a:srgbClr val="330066"/>
                </a:solidFill>
                <a:latin typeface="Arial"/>
              </a:rPr>
              <a:t>Fake in-memory store</a:t>
            </a:r>
          </a:p>
          <a:p>
            <a:pPr algn="l">
              <a:lnSpc>
                <a:spcPct val="110000"/>
              </a:lnSpc>
              <a:spcAft>
                <a:spcPts val="600"/>
              </a:spcAft>
            </a:pPr>
            <a:r>
              <a:rPr sz="1250" b="0" i="0">
                <a:solidFill>
                  <a:srgbClr val="1A1A1A"/>
                </a:solidFill>
                <a:latin typeface="Arial"/>
              </a:rPr>
              <a:t>Models "commit if all went well, roll back otherwise" so it runs anywhere (real databases and SQL: Thursday).</a:t>
            </a:r>
          </a:p>
        </p:txBody>
      </p:sp>
      <p:sp>
        <p:nvSpPr>
          <p:cNvPr id="9" name="Oval 8"/>
          <p:cNvSpPr/>
          <p:nvPr/>
        </p:nvSpPr>
        <p:spPr>
          <a:xfrm>
            <a:off x="8199424" y="3030093"/>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10" name="TextBox 9"/>
          <p:cNvSpPr txBox="1"/>
          <p:nvPr/>
        </p:nvSpPr>
        <p:spPr>
          <a:xfrm>
            <a:off x="8748064" y="3066669"/>
            <a:ext cx="2833725" cy="648970"/>
          </a:xfrm>
          <a:prstGeom prst="rect">
            <a:avLst/>
          </a:prstGeom>
          <a:noFill/>
        </p:spPr>
        <p:txBody>
          <a:bodyPr wrap="square" lIns="0" tIns="0" rIns="0" bIns="0" anchor="t">
            <a:spAutoFit/>
          </a:bodyPr>
          <a:lstStyle/>
          <a:p>
            <a:pPr algn="l">
              <a:lnSpc>
                <a:spcPct val="110000"/>
              </a:lnSpc>
              <a:spcAft>
                <a:spcPts val="200"/>
              </a:spcAft>
            </a:pPr>
            <a:r>
              <a:rPr sz="1250" b="1" i="0">
                <a:solidFill>
                  <a:srgbClr val="330066"/>
                </a:solidFill>
                <a:latin typeface="Courier New"/>
              </a:rPr>
              <a:t>__enter__</a:t>
            </a:r>
          </a:p>
          <a:p>
            <a:pPr algn="l">
              <a:lnSpc>
                <a:spcPct val="110000"/>
              </a:lnSpc>
              <a:spcAft>
                <a:spcPts val="600"/>
              </a:spcAft>
            </a:pPr>
            <a:r>
              <a:rPr sz="1250" b="0" i="0">
                <a:solidFill>
                  <a:srgbClr val="1A1A1A"/>
                </a:solidFill>
                <a:latin typeface="Arial"/>
              </a:rPr>
              <a:t>Returns </a:t>
            </a:r>
            <a:r>
              <a:rPr sz="1200" b="0" i="0">
                <a:solidFill>
                  <a:srgbClr val="330066"/>
                </a:solidFill>
                <a:latin typeface="Courier New"/>
              </a:rPr>
              <a:t>pending</a:t>
            </a:r>
            <a:r>
              <a:rPr sz="1250" b="0" i="0">
                <a:solidFill>
                  <a:srgbClr val="1A1A1A"/>
                </a:solidFill>
                <a:latin typeface="Arial"/>
              </a:rPr>
              <a:t>: the block writes there.</a:t>
            </a:r>
          </a:p>
        </p:txBody>
      </p:sp>
      <p:sp>
        <p:nvSpPr>
          <p:cNvPr id="11" name="Oval 10"/>
          <p:cNvSpPr/>
          <p:nvPr/>
        </p:nvSpPr>
        <p:spPr>
          <a:xfrm>
            <a:off x="8199424" y="388023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12" name="TextBox 11"/>
          <p:cNvSpPr txBox="1"/>
          <p:nvPr/>
        </p:nvSpPr>
        <p:spPr>
          <a:xfrm>
            <a:off x="8748064" y="3916806"/>
            <a:ext cx="2833725" cy="1045845"/>
          </a:xfrm>
          <a:prstGeom prst="rect">
            <a:avLst/>
          </a:prstGeom>
          <a:noFill/>
        </p:spPr>
        <p:txBody>
          <a:bodyPr wrap="square" lIns="0" tIns="0" rIns="0" bIns="0" anchor="t">
            <a:spAutoFit/>
          </a:bodyPr>
          <a:lstStyle/>
          <a:p>
            <a:pPr algn="l">
              <a:lnSpc>
                <a:spcPct val="110000"/>
              </a:lnSpc>
              <a:spcAft>
                <a:spcPts val="200"/>
              </a:spcAft>
            </a:pPr>
            <a:r>
              <a:rPr sz="1250" b="1" i="0">
                <a:solidFill>
                  <a:srgbClr val="330066"/>
                </a:solidFill>
                <a:latin typeface="Courier New"/>
              </a:rPr>
              <a:t>__exit__</a:t>
            </a:r>
          </a:p>
          <a:p>
            <a:pPr algn="l">
              <a:lnSpc>
                <a:spcPct val="110000"/>
              </a:lnSpc>
              <a:spcAft>
                <a:spcPts val="600"/>
              </a:spcAft>
            </a:pPr>
            <a:r>
              <a:rPr sz="1250" b="0" i="0">
                <a:solidFill>
                  <a:srgbClr val="1A1A1A"/>
                </a:solidFill>
                <a:latin typeface="Arial"/>
              </a:rPr>
              <a:t>No exception: commit to the store. Otherwise: roll back. </a:t>
            </a:r>
            <a:r>
              <a:rPr sz="1200" b="0" i="0">
                <a:solidFill>
                  <a:srgbClr val="330066"/>
                </a:solidFill>
                <a:latin typeface="Courier New"/>
              </a:rPr>
              <a:t>return False</a:t>
            </a:r>
            <a:r>
              <a:rPr sz="1250" b="0" i="0">
                <a:solidFill>
                  <a:srgbClr val="1A1A1A"/>
                </a:solidFill>
                <a:latin typeface="Arial"/>
              </a:rPr>
              <a:t> never hides the error.</a:t>
            </a:r>
          </a:p>
        </p:txBody>
      </p:sp>
      <p:sp>
        <p:nvSpPr>
          <p:cNvPr id="13" name="TextBox 12"/>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32 / 49</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Scenario 4: Commit and Roll Back</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QA SCENARIOS</a:t>
            </a:r>
          </a:p>
        </p:txBody>
      </p:sp>
      <p:sp>
        <p:nvSpPr>
          <p:cNvPr id="4" name="TextBox 3"/>
          <p:cNvSpPr txBox="1"/>
          <p:nvPr/>
        </p:nvSpPr>
        <p:spPr>
          <a:xfrm>
            <a:off x="609904" y="1783080"/>
            <a:ext cx="640080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Usage</a:t>
            </a:r>
          </a:p>
        </p:txBody>
      </p:sp>
      <p:sp>
        <p:nvSpPr>
          <p:cNvPr id="5" name="Rounded Rectangle 4"/>
          <p:cNvSpPr/>
          <p:nvPr/>
        </p:nvSpPr>
        <p:spPr>
          <a:xfrm>
            <a:off x="609904" y="2057400"/>
            <a:ext cx="6400800" cy="2852927"/>
          </a:xfrm>
          <a:prstGeom prst="roundRect">
            <a:avLst>
              <a:gd name="adj" fmla="val 2564"/>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5998464" cy="2560319"/>
          </a:xfrm>
          <a:prstGeom prst="rect">
            <a:avLst/>
          </a:prstGeom>
          <a:noFill/>
        </p:spPr>
        <p:txBody>
          <a:bodyPr wrap="square" lIns="0" tIns="0" rIns="0" bIns="0">
            <a:spAutoFit/>
          </a:bodyPr>
          <a:lstStyle/>
          <a:p>
            <a:pPr algn="l">
              <a:lnSpc>
                <a:spcPct val="100000"/>
              </a:lnSpc>
            </a:pPr>
            <a:r>
              <a:rPr sz="1200">
                <a:solidFill>
                  <a:srgbClr val="1A1A1A"/>
                </a:solidFill>
                <a:latin typeface="Courier New"/>
              </a:rPr>
              <a:t>database = {"stock": 10}</a:t>
            </a:r>
          </a:p>
          <a:p>
            <a:pPr algn="l">
              <a:lnSpc>
                <a:spcPct val="100000"/>
              </a:lnSpc>
            </a:pPr>
            <a:r>
              <a:rPr sz="1200">
                <a:solidFill>
                  <a:srgbClr val="1A1A1A"/>
                </a:solidFill>
                <a:latin typeface="Courier New"/>
              </a:rPr>
              <a:t> </a:t>
            </a:r>
          </a:p>
          <a:p>
            <a:pPr algn="l">
              <a:lnSpc>
                <a:spcPct val="100000"/>
              </a:lnSpc>
            </a:pPr>
            <a:r>
              <a:rPr sz="1200">
                <a:solidFill>
                  <a:srgbClr val="1A1A1A"/>
                </a:solidFill>
                <a:latin typeface="Courier New"/>
              </a:rPr>
              <a:t>with FakeTransaction(database) as tx:</a:t>
            </a:r>
          </a:p>
          <a:p>
            <a:pPr algn="l">
              <a:lnSpc>
                <a:spcPct val="100000"/>
              </a:lnSpc>
            </a:pPr>
            <a:r>
              <a:rPr sz="1200">
                <a:solidFill>
                  <a:srgbClr val="1A1A1A"/>
                </a:solidFill>
                <a:latin typeface="Courier New"/>
              </a:rPr>
              <a:t>    tx["stock"] = 9</a:t>
            </a:r>
          </a:p>
          <a:p>
            <a:pPr algn="l">
              <a:lnSpc>
                <a:spcPct val="100000"/>
              </a:lnSpc>
            </a:pPr>
            <a:r>
              <a:rPr sz="1200">
                <a:solidFill>
                  <a:srgbClr val="1A1A1A"/>
                </a:solidFill>
                <a:latin typeface="Courier New"/>
              </a:rPr>
              <a:t>    tx["last_order"] = "A100"</a:t>
            </a:r>
          </a:p>
          <a:p>
            <a:pPr algn="l">
              <a:lnSpc>
                <a:spcPct val="100000"/>
              </a:lnSpc>
            </a:pPr>
            <a:r>
              <a:rPr sz="1200">
                <a:solidFill>
                  <a:srgbClr val="1A1A1A"/>
                </a:solidFill>
                <a:latin typeface="Courier New"/>
              </a:rPr>
              <a:t> </a:t>
            </a:r>
          </a:p>
          <a:p>
            <a:pPr algn="l">
              <a:lnSpc>
                <a:spcPct val="100000"/>
              </a:lnSpc>
            </a:pPr>
            <a:r>
              <a:rPr sz="1200">
                <a:solidFill>
                  <a:srgbClr val="1A1A1A"/>
                </a:solidFill>
                <a:latin typeface="Courier New"/>
              </a:rPr>
              <a:t>try:</a:t>
            </a:r>
          </a:p>
          <a:p>
            <a:pPr algn="l">
              <a:lnSpc>
                <a:spcPct val="100000"/>
              </a:lnSpc>
            </a:pPr>
            <a:r>
              <a:rPr sz="1200">
                <a:solidFill>
                  <a:srgbClr val="1A1A1A"/>
                </a:solidFill>
                <a:latin typeface="Courier New"/>
              </a:rPr>
              <a:t>    with FakeTransaction(database) as tx:</a:t>
            </a:r>
          </a:p>
          <a:p>
            <a:pPr algn="l">
              <a:lnSpc>
                <a:spcPct val="100000"/>
              </a:lnSpc>
            </a:pPr>
            <a:r>
              <a:rPr sz="1200">
                <a:solidFill>
                  <a:srgbClr val="1A1A1A"/>
                </a:solidFill>
                <a:latin typeface="Courier New"/>
              </a:rPr>
              <a:t>        tx["stock"] = 0</a:t>
            </a:r>
          </a:p>
          <a:p>
            <a:pPr algn="l">
              <a:lnSpc>
                <a:spcPct val="100000"/>
              </a:lnSpc>
            </a:pPr>
            <a:r>
              <a:rPr sz="1200">
                <a:solidFill>
                  <a:srgbClr val="1A1A1A"/>
                </a:solidFill>
                <a:latin typeface="Courier New"/>
              </a:rPr>
              <a:t>        raise RuntimeError("payment failed")</a:t>
            </a:r>
          </a:p>
          <a:p>
            <a:pPr algn="l">
              <a:lnSpc>
                <a:spcPct val="100000"/>
              </a:lnSpc>
            </a:pPr>
            <a:r>
              <a:rPr sz="1200">
                <a:solidFill>
                  <a:srgbClr val="1A1A1A"/>
                </a:solidFill>
                <a:latin typeface="Courier New"/>
              </a:rPr>
              <a:t>except RuntimeError:</a:t>
            </a:r>
          </a:p>
          <a:p>
            <a:pPr algn="l">
              <a:lnSpc>
                <a:spcPct val="100000"/>
              </a:lnSpc>
            </a:pPr>
            <a:r>
              <a:rPr sz="1200">
                <a:solidFill>
                  <a:srgbClr val="1A1A1A"/>
                </a:solidFill>
                <a:latin typeface="Courier New"/>
              </a:rPr>
              <a:t>    pass</a:t>
            </a:r>
          </a:p>
          <a:p>
            <a:pPr algn="l">
              <a:lnSpc>
                <a:spcPct val="100000"/>
              </a:lnSpc>
            </a:pPr>
            <a:r>
              <a:rPr sz="1200">
                <a:solidFill>
                  <a:srgbClr val="1A1A1A"/>
                </a:solidFill>
                <a:latin typeface="Courier New"/>
              </a:rPr>
              <a:t> </a:t>
            </a:r>
          </a:p>
          <a:p>
            <a:pPr algn="l">
              <a:lnSpc>
                <a:spcPct val="100000"/>
              </a:lnSpc>
            </a:pPr>
            <a:r>
              <a:rPr sz="1200">
                <a:solidFill>
                  <a:srgbClr val="1A1A1A"/>
                </a:solidFill>
                <a:latin typeface="Courier New"/>
              </a:rPr>
              <a:t>print(database)</a:t>
            </a:r>
          </a:p>
        </p:txBody>
      </p:sp>
      <p:sp>
        <p:nvSpPr>
          <p:cNvPr id="7" name="TextBox 6"/>
          <p:cNvSpPr txBox="1"/>
          <p:nvPr/>
        </p:nvSpPr>
        <p:spPr>
          <a:xfrm>
            <a:off x="609904" y="5093207"/>
            <a:ext cx="640080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Output</a:t>
            </a:r>
          </a:p>
        </p:txBody>
      </p:sp>
      <p:sp>
        <p:nvSpPr>
          <p:cNvPr id="8" name="Rounded Rectangle 7"/>
          <p:cNvSpPr/>
          <p:nvPr/>
        </p:nvSpPr>
        <p:spPr>
          <a:xfrm>
            <a:off x="609904" y="5367527"/>
            <a:ext cx="6400800" cy="772668"/>
          </a:xfrm>
          <a:prstGeom prst="roundRect">
            <a:avLst>
              <a:gd name="adj" fmla="val 9467"/>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5513831"/>
            <a:ext cx="5998464" cy="480059"/>
          </a:xfrm>
          <a:prstGeom prst="rect">
            <a:avLst/>
          </a:prstGeom>
          <a:noFill/>
        </p:spPr>
        <p:txBody>
          <a:bodyPr wrap="square" lIns="0" tIns="0" rIns="0" bIns="0">
            <a:spAutoFit/>
          </a:bodyPr>
          <a:lstStyle/>
          <a:p>
            <a:pPr algn="l">
              <a:lnSpc>
                <a:spcPct val="100000"/>
              </a:lnSpc>
            </a:pPr>
            <a:r>
              <a:rPr sz="1050">
                <a:solidFill>
                  <a:srgbClr val="1A1A1A"/>
                </a:solidFill>
                <a:latin typeface="Courier New"/>
              </a:rPr>
              <a:t>committed {'stock': 9, 'last_order': 'A100'}</a:t>
            </a:r>
          </a:p>
          <a:p>
            <a:pPr algn="l">
              <a:lnSpc>
                <a:spcPct val="100000"/>
              </a:lnSpc>
            </a:pPr>
            <a:r>
              <a:rPr sz="1050">
                <a:solidFill>
                  <a:srgbClr val="1A1A1A"/>
                </a:solidFill>
                <a:latin typeface="Courier New"/>
              </a:rPr>
              <a:t>rolled back because of RuntimeError</a:t>
            </a:r>
          </a:p>
          <a:p>
            <a:pPr algn="l">
              <a:lnSpc>
                <a:spcPct val="100000"/>
              </a:lnSpc>
            </a:pPr>
            <a:r>
              <a:rPr sz="1050">
                <a:solidFill>
                  <a:srgbClr val="1A1A1A"/>
                </a:solidFill>
                <a:latin typeface="Courier New"/>
              </a:rPr>
              <a:t>{'stock': 9, 'last_order': 'A100'}</a:t>
            </a:r>
          </a:p>
        </p:txBody>
      </p:sp>
      <p:sp>
        <p:nvSpPr>
          <p:cNvPr id="10" name="TextBox 9"/>
          <p:cNvSpPr txBox="1"/>
          <p:nvPr/>
        </p:nvSpPr>
        <p:spPr>
          <a:xfrm>
            <a:off x="7376464" y="1783080"/>
            <a:ext cx="4205325" cy="4361688"/>
          </a:xfrm>
          <a:prstGeom prst="rect">
            <a:avLst/>
          </a:prstGeom>
          <a:noFill/>
        </p:spPr>
        <p:txBody>
          <a:bodyPr wrap="square" lIns="0" tIns="0" rIns="0" bIns="0">
            <a:spAutoFit/>
          </a:bodyPr>
          <a:lstStyle/>
          <a:p>
            <a:pPr marL="228600" indent="-228600" algn="l">
              <a:spcAft>
                <a:spcPts val="800"/>
              </a:spcAft>
              <a:buFont typeface="Arial"/>
              <a:buChar char="•"/>
            </a:pPr>
            <a:r>
              <a:rPr sz="1500" b="0" i="0">
                <a:solidFill>
                  <a:srgbClr val="1A1A1A"/>
                </a:solidFill>
                <a:latin typeface="Arial"/>
              </a:rPr>
              <a:t>The second transaction's change (</a:t>
            </a:r>
            <a:r>
              <a:rPr sz="1450" b="0" i="0">
                <a:solidFill>
                  <a:srgbClr val="330066"/>
                </a:solidFill>
                <a:latin typeface="Courier New"/>
              </a:rPr>
              <a:t>stock = 0</a:t>
            </a:r>
            <a:r>
              <a:rPr sz="1500" b="0" i="0">
                <a:solidFill>
                  <a:srgbClr val="1A1A1A"/>
                </a:solidFill>
                <a:latin typeface="Arial"/>
              </a:rPr>
              <a:t>) never reached the store.</a:t>
            </a:r>
          </a:p>
          <a:p>
            <a:pPr marL="228600" indent="-228600" algn="l">
              <a:spcAft>
                <a:spcPts val="800"/>
              </a:spcAft>
              <a:buFont typeface="Arial"/>
              <a:buChar char="•"/>
            </a:pPr>
            <a:r>
              <a:rPr sz="1500" b="0" i="0">
                <a:solidFill>
                  <a:srgbClr val="1A1A1A"/>
                </a:solidFill>
                <a:latin typeface="Arial"/>
              </a:rPr>
              <a:t>Real database libraries use exactly this approach.</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33 / 49</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Putting It All Together</a:t>
            </a:r>
          </a:p>
        </p:txBody>
      </p:sp>
      <p:sp>
        <p:nvSpPr>
          <p:cNvPr id="3" name="Text Placeholder 2"/>
          <p:cNvSpPr>
            <a:spLocks noGrp="1"/>
          </p:cNvSpPr>
          <p:nvPr>
            <p:ph type="body" idx="1"/>
          </p:nvPr>
        </p:nvSpPr>
        <p:spPr/>
        <p:txBody>
          <a:bodyPr/>
          <a:lstStyle/>
          <a:p>
            <a:r>
              <a:rPr sz="1800">
                <a:solidFill>
                  <a:srgbClr val="5A5A5A"/>
                </a:solidFill>
              </a:rPr>
              <a:t>cm_demo.py: workspace setup, timing and safe reading</a:t>
            </a:r>
          </a:p>
        </p:txBody>
      </p:sp>
      <p:sp>
        <p:nvSpPr>
          <p:cNvPr id="4" name="TextBox 3"/>
          <p:cNvSpPr txBox="1"/>
          <p:nvPr/>
        </p:nvSpPr>
        <p:spPr>
          <a:xfrm>
            <a:off x="832104" y="1600200"/>
            <a:ext cx="3657600" cy="1097280"/>
          </a:xfrm>
          <a:prstGeom prst="rect">
            <a:avLst/>
          </a:prstGeom>
          <a:noFill/>
        </p:spPr>
        <p:txBody>
          <a:bodyPr wrap="square" lIns="0" tIns="0" rIns="0" bIns="0" anchor="t">
            <a:spAutoFit/>
          </a:bodyPr>
          <a:lstStyle/>
          <a:p>
            <a:pPr algn="l">
              <a:lnSpc>
                <a:spcPct val="110000"/>
              </a:lnSpc>
              <a:spcAft>
                <a:spcPts val="600"/>
              </a:spcAft>
            </a:pPr>
            <a:r>
              <a:rPr sz="6600" b="1" i="0">
                <a:solidFill>
                  <a:srgbClr val="669999"/>
                </a:solidFill>
                <a:latin typeface="Arial"/>
              </a:rPr>
              <a:t>03</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34 / 49</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cm_demo.py: workspace()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CODE EXAMPLE</a:t>
            </a:r>
          </a:p>
        </p:txBody>
      </p:sp>
      <p:sp>
        <p:nvSpPr>
          <p:cNvPr id="4" name="TextBox 3"/>
          <p:cNvSpPr txBox="1"/>
          <p:nvPr/>
        </p:nvSpPr>
        <p:spPr>
          <a:xfrm>
            <a:off x="609904" y="1737360"/>
            <a:ext cx="72237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A5A5A"/>
                </a:solidFill>
                <a:latin typeface="Arial"/>
              </a:rPr>
              <a:t>cm_demo.py</a:t>
            </a:r>
          </a:p>
        </p:txBody>
      </p:sp>
      <p:sp>
        <p:nvSpPr>
          <p:cNvPr id="5" name="Rounded Rectangle 4"/>
          <p:cNvSpPr/>
          <p:nvPr/>
        </p:nvSpPr>
        <p:spPr>
          <a:xfrm>
            <a:off x="609904" y="2075688"/>
            <a:ext cx="7223760" cy="3493008"/>
          </a:xfrm>
          <a:prstGeom prst="roundRect">
            <a:avLst>
              <a:gd name="adj" fmla="val 2094"/>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21992"/>
            <a:ext cx="6821424" cy="3200400"/>
          </a:xfrm>
          <a:prstGeom prst="rect">
            <a:avLst/>
          </a:prstGeom>
          <a:noFill/>
        </p:spPr>
        <p:txBody>
          <a:bodyPr wrap="square" lIns="0" tIns="0" rIns="0" bIns="0">
            <a:spAutoFit/>
          </a:bodyPr>
          <a:lstStyle/>
          <a:p>
            <a:pPr algn="l">
              <a:lnSpc>
                <a:spcPct val="100000"/>
              </a:lnSpc>
            </a:pPr>
            <a:r>
              <a:rPr sz="1050">
                <a:solidFill>
                  <a:srgbClr val="1A1A1A"/>
                </a:solidFill>
                <a:latin typeface="Courier New"/>
              </a:rPr>
              <a:t>"""cm_demo.py - Context managers for workspace setup, timing and safe reading."""</a:t>
            </a:r>
          </a:p>
          <a:p>
            <a:pPr algn="l">
              <a:lnSpc>
                <a:spcPct val="100000"/>
              </a:lnSpc>
            </a:pPr>
            <a:r>
              <a:rPr sz="1050">
                <a:solidFill>
                  <a:srgbClr val="1A1A1A"/>
                </a:solidFill>
                <a:latin typeface="Courier New"/>
              </a:rPr>
              <a:t> </a:t>
            </a:r>
          </a:p>
          <a:p>
            <a:pPr algn="l">
              <a:lnSpc>
                <a:spcPct val="100000"/>
              </a:lnSpc>
            </a:pPr>
            <a:r>
              <a:rPr sz="1050">
                <a:solidFill>
                  <a:srgbClr val="1A1A1A"/>
                </a:solidFill>
                <a:latin typeface="Courier New"/>
              </a:rPr>
              <a:t>import json</a:t>
            </a:r>
          </a:p>
          <a:p>
            <a:pPr algn="l">
              <a:lnSpc>
                <a:spcPct val="100000"/>
              </a:lnSpc>
            </a:pPr>
            <a:r>
              <a:rPr sz="1050">
                <a:solidFill>
                  <a:srgbClr val="1A1A1A"/>
                </a:solidFill>
                <a:latin typeface="Courier New"/>
              </a:rPr>
              <a:t>import shutil</a:t>
            </a:r>
          </a:p>
          <a:p>
            <a:pPr algn="l">
              <a:lnSpc>
                <a:spcPct val="100000"/>
              </a:lnSpc>
            </a:pPr>
            <a:r>
              <a:rPr sz="1050">
                <a:solidFill>
                  <a:srgbClr val="1A1A1A"/>
                </a:solidFill>
                <a:latin typeface="Courier New"/>
              </a:rPr>
              <a:t>import tempfile</a:t>
            </a:r>
          </a:p>
          <a:p>
            <a:pPr algn="l">
              <a:lnSpc>
                <a:spcPct val="100000"/>
              </a:lnSpc>
            </a:pPr>
            <a:r>
              <a:rPr sz="1050">
                <a:solidFill>
                  <a:srgbClr val="1A1A1A"/>
                </a:solidFill>
                <a:latin typeface="Courier New"/>
              </a:rPr>
              <a:t>import time</a:t>
            </a:r>
          </a:p>
          <a:p>
            <a:pPr algn="l">
              <a:lnSpc>
                <a:spcPct val="100000"/>
              </a:lnSpc>
            </a:pPr>
            <a:r>
              <a:rPr sz="1050">
                <a:solidFill>
                  <a:srgbClr val="1A1A1A"/>
                </a:solidFill>
                <a:latin typeface="Courier New"/>
              </a:rPr>
              <a:t>from contextlib import contextmanager</a:t>
            </a:r>
          </a:p>
          <a:p>
            <a:pPr algn="l">
              <a:lnSpc>
                <a:spcPct val="100000"/>
              </a:lnSpc>
            </a:pPr>
            <a:r>
              <a:rPr sz="1050">
                <a:solidFill>
                  <a:srgbClr val="1A1A1A"/>
                </a:solidFill>
                <a:latin typeface="Courier New"/>
              </a:rPr>
              <a:t>from pathlib import Path</a:t>
            </a:r>
          </a:p>
          <a:p>
            <a:pPr algn="l">
              <a:lnSpc>
                <a:spcPct val="100000"/>
              </a:lnSpc>
            </a:pPr>
            <a:r>
              <a:rPr sz="1050">
                <a:solidFill>
                  <a:srgbClr val="1A1A1A"/>
                </a:solidFill>
                <a:latin typeface="Courier New"/>
              </a:rPr>
              <a:t> </a:t>
            </a:r>
          </a:p>
          <a:p>
            <a:pPr algn="l">
              <a:lnSpc>
                <a:spcPct val="100000"/>
              </a:lnSpc>
            </a:pPr>
            <a:r>
              <a:rPr sz="1050">
                <a:solidFill>
                  <a:srgbClr val="1A1A1A"/>
                </a:solidFill>
                <a:latin typeface="Courier New"/>
              </a:rPr>
              <a:t> </a:t>
            </a:r>
          </a:p>
          <a:p>
            <a:pPr algn="l">
              <a:lnSpc>
                <a:spcPct val="100000"/>
              </a:lnSpc>
            </a:pPr>
            <a:r>
              <a:rPr sz="1050">
                <a:solidFill>
                  <a:srgbClr val="1A1A1A"/>
                </a:solidFill>
                <a:latin typeface="Courier New"/>
              </a:rPr>
              <a:t>@contextmanager</a:t>
            </a:r>
          </a:p>
          <a:p>
            <a:pPr algn="l">
              <a:lnSpc>
                <a:spcPct val="100000"/>
              </a:lnSpc>
            </a:pPr>
            <a:r>
              <a:rPr sz="1050">
                <a:solidFill>
                  <a:srgbClr val="1A1A1A"/>
                </a:solidFill>
                <a:latin typeface="Courier New"/>
              </a:rPr>
              <a:t>def workspace(prefix="qa_"):</a:t>
            </a:r>
          </a:p>
          <a:p>
            <a:pPr algn="l">
              <a:lnSpc>
                <a:spcPct val="100000"/>
              </a:lnSpc>
            </a:pPr>
            <a:r>
              <a:rPr sz="1050">
                <a:solidFill>
                  <a:srgbClr val="1A1A1A"/>
                </a:solidFill>
                <a:latin typeface="Courier New"/>
              </a:rPr>
              <a:t>    """Create a temporary folder, yield its Path, always delete it afterwards."""</a:t>
            </a:r>
          </a:p>
          <a:p>
            <a:pPr algn="l">
              <a:lnSpc>
                <a:spcPct val="100000"/>
              </a:lnSpc>
            </a:pPr>
            <a:r>
              <a:rPr sz="1050">
                <a:solidFill>
                  <a:srgbClr val="1A1A1A"/>
                </a:solidFill>
                <a:latin typeface="Courier New"/>
              </a:rPr>
              <a:t>    folder = Path(tempfile.mkdtemp(prefix=prefix))</a:t>
            </a:r>
          </a:p>
          <a:p>
            <a:pPr algn="l">
              <a:lnSpc>
                <a:spcPct val="100000"/>
              </a:lnSpc>
            </a:pPr>
            <a:r>
              <a:rPr sz="1050">
                <a:solidFill>
                  <a:srgbClr val="1A1A1A"/>
                </a:solidFill>
                <a:latin typeface="Courier New"/>
              </a:rPr>
              <a:t>    print(f"[workspace] created {folder.name}")</a:t>
            </a:r>
          </a:p>
          <a:p>
            <a:pPr algn="l">
              <a:lnSpc>
                <a:spcPct val="100000"/>
              </a:lnSpc>
            </a:pPr>
            <a:r>
              <a:rPr sz="1050">
                <a:solidFill>
                  <a:srgbClr val="1A1A1A"/>
                </a:solidFill>
                <a:latin typeface="Courier New"/>
              </a:rPr>
              <a:t>    try:</a:t>
            </a:r>
          </a:p>
          <a:p>
            <a:pPr algn="l">
              <a:lnSpc>
                <a:spcPct val="100000"/>
              </a:lnSpc>
            </a:pPr>
            <a:r>
              <a:rPr sz="1050">
                <a:solidFill>
                  <a:srgbClr val="1A1A1A"/>
                </a:solidFill>
                <a:latin typeface="Courier New"/>
              </a:rPr>
              <a:t>        yield folder</a:t>
            </a:r>
          </a:p>
          <a:p>
            <a:pPr algn="l">
              <a:lnSpc>
                <a:spcPct val="100000"/>
              </a:lnSpc>
            </a:pPr>
            <a:r>
              <a:rPr sz="1050">
                <a:solidFill>
                  <a:srgbClr val="1A1A1A"/>
                </a:solidFill>
                <a:latin typeface="Courier New"/>
              </a:rPr>
              <a:t>    finally:</a:t>
            </a:r>
          </a:p>
          <a:p>
            <a:pPr algn="l">
              <a:lnSpc>
                <a:spcPct val="100000"/>
              </a:lnSpc>
            </a:pPr>
            <a:r>
              <a:rPr sz="1050">
                <a:solidFill>
                  <a:srgbClr val="1A1A1A"/>
                </a:solidFill>
                <a:latin typeface="Courier New"/>
              </a:rPr>
              <a:t>        shutil.rmtree(folder, ignore_errors=True)</a:t>
            </a:r>
          </a:p>
          <a:p>
            <a:pPr algn="l">
              <a:lnSpc>
                <a:spcPct val="100000"/>
              </a:lnSpc>
            </a:pPr>
            <a:r>
              <a:rPr sz="1050">
                <a:solidFill>
                  <a:srgbClr val="1A1A1A"/>
                </a:solidFill>
                <a:latin typeface="Courier New"/>
              </a:rPr>
              <a:t>        print(f"[workspace] removed {folder.name}")</a:t>
            </a:r>
          </a:p>
        </p:txBody>
      </p:sp>
      <p:sp>
        <p:nvSpPr>
          <p:cNvPr id="7" name="Oval 6"/>
          <p:cNvSpPr/>
          <p:nvPr/>
        </p:nvSpPr>
        <p:spPr>
          <a:xfrm>
            <a:off x="819942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8" name="TextBox 7"/>
          <p:cNvSpPr txBox="1"/>
          <p:nvPr/>
        </p:nvSpPr>
        <p:spPr>
          <a:xfrm>
            <a:off x="8748064" y="1819656"/>
            <a:ext cx="2833725" cy="648970"/>
          </a:xfrm>
          <a:prstGeom prst="rect">
            <a:avLst/>
          </a:prstGeom>
          <a:noFill/>
        </p:spPr>
        <p:txBody>
          <a:bodyPr wrap="square" lIns="0" tIns="0" rIns="0" bIns="0" anchor="t">
            <a:spAutoFit/>
          </a:bodyPr>
          <a:lstStyle/>
          <a:p>
            <a:pPr algn="l">
              <a:lnSpc>
                <a:spcPct val="110000"/>
              </a:lnSpc>
              <a:spcAft>
                <a:spcPts val="200"/>
              </a:spcAft>
            </a:pPr>
            <a:r>
              <a:rPr sz="1250" b="1" i="0">
                <a:solidFill>
                  <a:srgbClr val="330066"/>
                </a:solidFill>
                <a:latin typeface="Courier New"/>
              </a:rPr>
              <a:t>tempfile.mkdtemp</a:t>
            </a:r>
          </a:p>
          <a:p>
            <a:pPr algn="l">
              <a:lnSpc>
                <a:spcPct val="110000"/>
              </a:lnSpc>
              <a:spcAft>
                <a:spcPts val="600"/>
              </a:spcAft>
            </a:pPr>
            <a:r>
              <a:rPr sz="1250" b="0" i="0">
                <a:solidFill>
                  <a:srgbClr val="1A1A1A"/>
                </a:solidFill>
                <a:latin typeface="Arial"/>
              </a:rPr>
              <a:t>Creates a unique folder; its </a:t>
            </a:r>
            <a:r>
              <a:rPr sz="1200" b="0" i="0">
                <a:solidFill>
                  <a:srgbClr val="330066"/>
                </a:solidFill>
                <a:latin typeface="Courier New"/>
              </a:rPr>
              <a:t>Path</a:t>
            </a:r>
            <a:r>
              <a:rPr sz="1250" b="0" i="0">
                <a:solidFill>
                  <a:srgbClr val="1A1A1A"/>
                </a:solidFill>
                <a:latin typeface="Arial"/>
              </a:rPr>
              <a:t> is yielded.</a:t>
            </a:r>
          </a:p>
        </p:txBody>
      </p:sp>
      <p:sp>
        <p:nvSpPr>
          <p:cNvPr id="9" name="Oval 8"/>
          <p:cNvSpPr/>
          <p:nvPr/>
        </p:nvSpPr>
        <p:spPr>
          <a:xfrm>
            <a:off x="8199424" y="2633218"/>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10" name="TextBox 9"/>
          <p:cNvSpPr txBox="1"/>
          <p:nvPr/>
        </p:nvSpPr>
        <p:spPr>
          <a:xfrm>
            <a:off x="8748064" y="2669794"/>
            <a:ext cx="2833725" cy="847407"/>
          </a:xfrm>
          <a:prstGeom prst="rect">
            <a:avLst/>
          </a:prstGeom>
          <a:noFill/>
        </p:spPr>
        <p:txBody>
          <a:bodyPr wrap="square" lIns="0" tIns="0" rIns="0" bIns="0" anchor="t">
            <a:spAutoFit/>
          </a:bodyPr>
          <a:lstStyle/>
          <a:p>
            <a:pPr algn="l">
              <a:lnSpc>
                <a:spcPct val="110000"/>
              </a:lnSpc>
              <a:spcAft>
                <a:spcPts val="200"/>
              </a:spcAft>
            </a:pPr>
            <a:r>
              <a:rPr sz="1250" b="1" i="0">
                <a:solidFill>
                  <a:srgbClr val="330066"/>
                </a:solidFill>
                <a:latin typeface="Courier New"/>
              </a:rPr>
              <a:t>finally</a:t>
            </a:r>
          </a:p>
          <a:p>
            <a:pPr algn="l">
              <a:lnSpc>
                <a:spcPct val="110000"/>
              </a:lnSpc>
              <a:spcAft>
                <a:spcPts val="600"/>
              </a:spcAft>
            </a:pPr>
            <a:r>
              <a:rPr sz="1200" b="0" i="0">
                <a:solidFill>
                  <a:srgbClr val="330066"/>
                </a:solidFill>
                <a:latin typeface="Courier New"/>
              </a:rPr>
              <a:t>shutil.rmtree</a:t>
            </a:r>
            <a:r>
              <a:rPr sz="1250" b="0" i="0">
                <a:solidFill>
                  <a:srgbClr val="1A1A1A"/>
                </a:solidFill>
                <a:latin typeface="Arial"/>
              </a:rPr>
              <a:t> removes it, so no mess remains even after an error.</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35 / 49</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cm_demo.py: timed() and Safe Reading</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CODE EXAMPLE</a:t>
            </a:r>
          </a:p>
        </p:txBody>
      </p:sp>
      <p:sp>
        <p:nvSpPr>
          <p:cNvPr id="4" name="TextBox 3"/>
          <p:cNvSpPr txBox="1"/>
          <p:nvPr/>
        </p:nvSpPr>
        <p:spPr>
          <a:xfrm>
            <a:off x="609904" y="1737360"/>
            <a:ext cx="72237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A5A5A"/>
                </a:solidFill>
                <a:latin typeface="Arial"/>
              </a:rPr>
              <a:t>cm_demo.py</a:t>
            </a:r>
          </a:p>
        </p:txBody>
      </p:sp>
      <p:sp>
        <p:nvSpPr>
          <p:cNvPr id="5" name="Rounded Rectangle 4"/>
          <p:cNvSpPr/>
          <p:nvPr/>
        </p:nvSpPr>
        <p:spPr>
          <a:xfrm>
            <a:off x="609904" y="2075688"/>
            <a:ext cx="7223760" cy="3310127"/>
          </a:xfrm>
          <a:prstGeom prst="roundRect">
            <a:avLst>
              <a:gd name="adj" fmla="val 2209"/>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21992"/>
            <a:ext cx="6821424" cy="3017520"/>
          </a:xfrm>
          <a:prstGeom prst="rect">
            <a:avLst/>
          </a:prstGeom>
          <a:noFill/>
        </p:spPr>
        <p:txBody>
          <a:bodyPr wrap="square" lIns="0" tIns="0" rIns="0" bIns="0">
            <a:spAutoFit/>
          </a:bodyPr>
          <a:lstStyle/>
          <a:p>
            <a:pPr algn="l">
              <a:lnSpc>
                <a:spcPct val="100000"/>
              </a:lnSpc>
            </a:pPr>
            <a:r>
              <a:rPr sz="1100">
                <a:solidFill>
                  <a:srgbClr val="1A1A1A"/>
                </a:solidFill>
                <a:latin typeface="Courier New"/>
              </a:rPr>
              <a:t>@contextmanager</a:t>
            </a:r>
          </a:p>
          <a:p>
            <a:pPr algn="l">
              <a:lnSpc>
                <a:spcPct val="100000"/>
              </a:lnSpc>
            </a:pPr>
            <a:r>
              <a:rPr sz="1100">
                <a:solidFill>
                  <a:srgbClr val="1A1A1A"/>
                </a:solidFill>
                <a:latin typeface="Courier New"/>
              </a:rPr>
              <a:t>def timed(label):</a:t>
            </a:r>
          </a:p>
          <a:p>
            <a:pPr algn="l">
              <a:lnSpc>
                <a:spcPct val="100000"/>
              </a:lnSpc>
            </a:pPr>
            <a:r>
              <a:rPr sz="1100">
                <a:solidFill>
                  <a:srgbClr val="1A1A1A"/>
                </a:solidFill>
                <a:latin typeface="Courier New"/>
              </a:rPr>
              <a:t>    start = time.perf_counter()</a:t>
            </a:r>
          </a:p>
          <a:p>
            <a:pPr algn="l">
              <a:lnSpc>
                <a:spcPct val="100000"/>
              </a:lnSpc>
            </a:pPr>
            <a:r>
              <a:rPr sz="1100">
                <a:solidFill>
                  <a:srgbClr val="1A1A1A"/>
                </a:solidFill>
                <a:latin typeface="Courier New"/>
              </a:rPr>
              <a:t>    try:</a:t>
            </a:r>
          </a:p>
          <a:p>
            <a:pPr algn="l">
              <a:lnSpc>
                <a:spcPct val="100000"/>
              </a:lnSpc>
            </a:pPr>
            <a:r>
              <a:rPr sz="1100">
                <a:solidFill>
                  <a:srgbClr val="1A1A1A"/>
                </a:solidFill>
                <a:latin typeface="Courier New"/>
              </a:rPr>
              <a:t>        yield</a:t>
            </a:r>
          </a:p>
          <a:p>
            <a:pPr algn="l">
              <a:lnSpc>
                <a:spcPct val="100000"/>
              </a:lnSpc>
            </a:pPr>
            <a:r>
              <a:rPr sz="1100">
                <a:solidFill>
                  <a:srgbClr val="1A1A1A"/>
                </a:solidFill>
                <a:latin typeface="Courier New"/>
              </a:rPr>
              <a:t>    finally:</a:t>
            </a:r>
          </a:p>
          <a:p>
            <a:pPr algn="l">
              <a:lnSpc>
                <a:spcPct val="100000"/>
              </a:lnSpc>
            </a:pPr>
            <a:r>
              <a:rPr sz="1100">
                <a:solidFill>
                  <a:srgbClr val="1A1A1A"/>
                </a:solidFill>
                <a:latin typeface="Courier New"/>
              </a:rPr>
              <a:t>        print(f"[timed] {label}: {time.perf_counter() - start:.3f}s")</a:t>
            </a:r>
          </a:p>
          <a:p>
            <a:pPr algn="l">
              <a:lnSpc>
                <a:spcPct val="100000"/>
              </a:lnSpc>
            </a:pPr>
            <a:r>
              <a:rPr sz="1100">
                <a:solidFill>
                  <a:srgbClr val="1A1A1A"/>
                </a:solidFill>
                <a:latin typeface="Courier New"/>
              </a:rPr>
              <a:t> </a:t>
            </a:r>
          </a:p>
          <a:p>
            <a:pPr algn="l">
              <a:lnSpc>
                <a:spcPct val="100000"/>
              </a:lnSpc>
            </a:pPr>
            <a:r>
              <a:rPr sz="1100">
                <a:solidFill>
                  <a:srgbClr val="1A1A1A"/>
                </a:solidFill>
                <a:latin typeface="Courier New"/>
              </a:rPr>
              <a:t> </a:t>
            </a:r>
          </a:p>
          <a:p>
            <a:pPr algn="l">
              <a:lnSpc>
                <a:spcPct val="100000"/>
              </a:lnSpc>
            </a:pPr>
            <a:r>
              <a:rPr sz="1100">
                <a:solidFill>
                  <a:srgbClr val="1A1A1A"/>
                </a:solidFill>
                <a:latin typeface="Courier New"/>
              </a:rPr>
              <a:t>def read_json_or_none(path):</a:t>
            </a:r>
          </a:p>
          <a:p>
            <a:pPr algn="l">
              <a:lnSpc>
                <a:spcPct val="100000"/>
              </a:lnSpc>
            </a:pPr>
            <a:r>
              <a:rPr sz="1100">
                <a:solidFill>
                  <a:srgbClr val="1A1A1A"/>
                </a:solidFill>
                <a:latin typeface="Courier New"/>
              </a:rPr>
              <a:t>    try:</a:t>
            </a:r>
          </a:p>
          <a:p>
            <a:pPr algn="l">
              <a:lnSpc>
                <a:spcPct val="100000"/>
              </a:lnSpc>
            </a:pPr>
            <a:r>
              <a:rPr sz="1100">
                <a:solidFill>
                  <a:srgbClr val="1A1A1A"/>
                </a:solidFill>
                <a:latin typeface="Courier New"/>
              </a:rPr>
              <a:t>        with open(path, encoding="utf-8") as f:</a:t>
            </a:r>
          </a:p>
          <a:p>
            <a:pPr algn="l">
              <a:lnSpc>
                <a:spcPct val="100000"/>
              </a:lnSpc>
            </a:pPr>
            <a:r>
              <a:rPr sz="1100">
                <a:solidFill>
                  <a:srgbClr val="1A1A1A"/>
                </a:solidFill>
                <a:latin typeface="Courier New"/>
              </a:rPr>
              <a:t>            return json.load(f)</a:t>
            </a:r>
          </a:p>
          <a:p>
            <a:pPr algn="l">
              <a:lnSpc>
                <a:spcPct val="100000"/>
              </a:lnSpc>
            </a:pPr>
            <a:r>
              <a:rPr sz="1100">
                <a:solidFill>
                  <a:srgbClr val="1A1A1A"/>
                </a:solidFill>
                <a:latin typeface="Courier New"/>
              </a:rPr>
              <a:t>    except FileNotFoundError:</a:t>
            </a:r>
          </a:p>
          <a:p>
            <a:pPr algn="l">
              <a:lnSpc>
                <a:spcPct val="100000"/>
              </a:lnSpc>
            </a:pPr>
            <a:r>
              <a:rPr sz="1100">
                <a:solidFill>
                  <a:srgbClr val="1A1A1A"/>
                </a:solidFill>
                <a:latin typeface="Courier New"/>
              </a:rPr>
              <a:t>        print("  missing file:", path.name)</a:t>
            </a:r>
          </a:p>
          <a:p>
            <a:pPr algn="l">
              <a:lnSpc>
                <a:spcPct val="100000"/>
              </a:lnSpc>
            </a:pPr>
            <a:r>
              <a:rPr sz="1100">
                <a:solidFill>
                  <a:srgbClr val="1A1A1A"/>
                </a:solidFill>
                <a:latin typeface="Courier New"/>
              </a:rPr>
              <a:t>    except json.JSONDecodeError as error:</a:t>
            </a:r>
          </a:p>
          <a:p>
            <a:pPr algn="l">
              <a:lnSpc>
                <a:spcPct val="100000"/>
              </a:lnSpc>
            </a:pPr>
            <a:r>
              <a:rPr sz="1100">
                <a:solidFill>
                  <a:srgbClr val="1A1A1A"/>
                </a:solidFill>
                <a:latin typeface="Courier New"/>
              </a:rPr>
              <a:t>        print(f"  invalid JSON in {path.name}: {error.msg}")</a:t>
            </a:r>
          </a:p>
          <a:p>
            <a:pPr algn="l">
              <a:lnSpc>
                <a:spcPct val="100000"/>
              </a:lnSpc>
            </a:pPr>
            <a:r>
              <a:rPr sz="1100">
                <a:solidFill>
                  <a:srgbClr val="1A1A1A"/>
                </a:solidFill>
                <a:latin typeface="Courier New"/>
              </a:rPr>
              <a:t>    return None</a:t>
            </a:r>
          </a:p>
        </p:txBody>
      </p:sp>
      <p:sp>
        <p:nvSpPr>
          <p:cNvPr id="7" name="Oval 6"/>
          <p:cNvSpPr/>
          <p:nvPr/>
        </p:nvSpPr>
        <p:spPr>
          <a:xfrm>
            <a:off x="819942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8" name="TextBox 7"/>
          <p:cNvSpPr txBox="1"/>
          <p:nvPr/>
        </p:nvSpPr>
        <p:spPr>
          <a:xfrm>
            <a:off x="8748064" y="1819656"/>
            <a:ext cx="2833725" cy="648970"/>
          </a:xfrm>
          <a:prstGeom prst="rect">
            <a:avLst/>
          </a:prstGeom>
          <a:noFill/>
        </p:spPr>
        <p:txBody>
          <a:bodyPr wrap="square" lIns="0" tIns="0" rIns="0" bIns="0" anchor="t">
            <a:spAutoFit/>
          </a:bodyPr>
          <a:lstStyle/>
          <a:p>
            <a:pPr algn="l">
              <a:lnSpc>
                <a:spcPct val="110000"/>
              </a:lnSpc>
              <a:spcAft>
                <a:spcPts val="200"/>
              </a:spcAft>
            </a:pPr>
            <a:r>
              <a:rPr sz="1250" b="1" i="0">
                <a:solidFill>
                  <a:srgbClr val="330066"/>
                </a:solidFill>
                <a:latin typeface="Courier New"/>
              </a:rPr>
              <a:t>timed()</a:t>
            </a:r>
          </a:p>
          <a:p>
            <a:pPr algn="l">
              <a:lnSpc>
                <a:spcPct val="110000"/>
              </a:lnSpc>
              <a:spcAft>
                <a:spcPts val="600"/>
              </a:spcAft>
            </a:pPr>
            <a:r>
              <a:rPr sz="1250" b="0" i="0">
                <a:solidFill>
                  <a:srgbClr val="1A1A1A"/>
                </a:solidFill>
                <a:latin typeface="Arial"/>
              </a:rPr>
              <a:t>Measures the duration and prints in </a:t>
            </a:r>
            <a:r>
              <a:rPr sz="1200" b="0" i="0">
                <a:solidFill>
                  <a:srgbClr val="330066"/>
                </a:solidFill>
                <a:latin typeface="Courier New"/>
              </a:rPr>
              <a:t>finally</a:t>
            </a:r>
            <a:r>
              <a:rPr sz="1250" b="0" i="0">
                <a:solidFill>
                  <a:srgbClr val="1A1A1A"/>
                </a:solidFill>
                <a:latin typeface="Arial"/>
              </a:rPr>
              <a:t>.</a:t>
            </a:r>
          </a:p>
        </p:txBody>
      </p:sp>
      <p:sp>
        <p:nvSpPr>
          <p:cNvPr id="9" name="Oval 8"/>
          <p:cNvSpPr/>
          <p:nvPr/>
        </p:nvSpPr>
        <p:spPr>
          <a:xfrm>
            <a:off x="8199424" y="2633218"/>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4</a:t>
            </a:r>
          </a:p>
        </p:txBody>
      </p:sp>
      <p:sp>
        <p:nvSpPr>
          <p:cNvPr id="10" name="TextBox 9"/>
          <p:cNvSpPr txBox="1"/>
          <p:nvPr/>
        </p:nvSpPr>
        <p:spPr>
          <a:xfrm>
            <a:off x="8748064" y="2669794"/>
            <a:ext cx="2833725" cy="847407"/>
          </a:xfrm>
          <a:prstGeom prst="rect">
            <a:avLst/>
          </a:prstGeom>
          <a:noFill/>
        </p:spPr>
        <p:txBody>
          <a:bodyPr wrap="square" lIns="0" tIns="0" rIns="0" bIns="0" anchor="t">
            <a:spAutoFit/>
          </a:bodyPr>
          <a:lstStyle/>
          <a:p>
            <a:pPr algn="l">
              <a:lnSpc>
                <a:spcPct val="110000"/>
              </a:lnSpc>
              <a:spcAft>
                <a:spcPts val="200"/>
              </a:spcAft>
            </a:pPr>
            <a:r>
              <a:rPr sz="1250" b="1" i="0">
                <a:solidFill>
                  <a:srgbClr val="330066"/>
                </a:solidFill>
                <a:latin typeface="Courier New"/>
              </a:rPr>
              <a:t>read_json_or_none</a:t>
            </a:r>
          </a:p>
          <a:p>
            <a:pPr algn="l">
              <a:lnSpc>
                <a:spcPct val="110000"/>
              </a:lnSpc>
              <a:spcAft>
                <a:spcPts val="600"/>
              </a:spcAft>
            </a:pPr>
            <a:r>
              <a:rPr sz="1250" b="0" i="0">
                <a:solidFill>
                  <a:srgbClr val="1A1A1A"/>
                </a:solidFill>
                <a:latin typeface="Arial"/>
              </a:rPr>
              <a:t>Nested </a:t>
            </a:r>
            <a:r>
              <a:rPr sz="1200" b="0" i="0">
                <a:solidFill>
                  <a:srgbClr val="330066"/>
                </a:solidFill>
                <a:latin typeface="Courier New"/>
              </a:rPr>
              <a:t>with open(...)</a:t>
            </a:r>
            <a:r>
              <a:rPr sz="1250" b="0" i="0">
                <a:solidFill>
                  <a:srgbClr val="1A1A1A"/>
                </a:solidFill>
                <a:latin typeface="Arial"/>
              </a:rPr>
              <a:t> and specific </a:t>
            </a:r>
            <a:r>
              <a:rPr sz="1200" b="0" i="0">
                <a:solidFill>
                  <a:srgbClr val="330066"/>
                </a:solidFill>
                <a:latin typeface="Courier New"/>
              </a:rPr>
              <a:t>except</a:t>
            </a:r>
            <a:r>
              <a:rPr sz="1250" b="0" i="0">
                <a:solidFill>
                  <a:srgbClr val="1A1A1A"/>
                </a:solidFill>
                <a:latin typeface="Arial"/>
              </a:rPr>
              <a:t> clauses: previous lessons combined.</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36 / 49</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cm_demo.py: Both Managers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CODE EXAMPLE</a:t>
            </a:r>
          </a:p>
        </p:txBody>
      </p:sp>
      <p:sp>
        <p:nvSpPr>
          <p:cNvPr id="4" name="TextBox 3"/>
          <p:cNvSpPr txBox="1"/>
          <p:nvPr/>
        </p:nvSpPr>
        <p:spPr>
          <a:xfrm>
            <a:off x="609904" y="1783080"/>
            <a:ext cx="694944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Code</a:t>
            </a:r>
          </a:p>
        </p:txBody>
      </p:sp>
      <p:sp>
        <p:nvSpPr>
          <p:cNvPr id="5" name="Rounded Rectangle 4"/>
          <p:cNvSpPr/>
          <p:nvPr/>
        </p:nvSpPr>
        <p:spPr>
          <a:xfrm>
            <a:off x="609904" y="2057400"/>
            <a:ext cx="6949440" cy="1969008"/>
          </a:xfrm>
          <a:prstGeom prst="roundRect">
            <a:avLst>
              <a:gd name="adj" fmla="val 371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6547103" cy="1676400"/>
          </a:xfrm>
          <a:prstGeom prst="rect">
            <a:avLst/>
          </a:prstGeom>
          <a:noFill/>
        </p:spPr>
        <p:txBody>
          <a:bodyPr wrap="square" lIns="0" tIns="0" rIns="0" bIns="0">
            <a:spAutoFit/>
          </a:bodyPr>
          <a:lstStyle/>
          <a:p>
            <a:pPr algn="l">
              <a:lnSpc>
                <a:spcPct val="100000"/>
              </a:lnSpc>
            </a:pPr>
            <a:r>
              <a:rPr sz="1100">
                <a:solidFill>
                  <a:srgbClr val="1A1A1A"/>
                </a:solidFill>
                <a:latin typeface="Courier New"/>
              </a:rPr>
              <a:t>with workspace() as folder, timed("whole scenario"):</a:t>
            </a:r>
          </a:p>
          <a:p>
            <a:pPr algn="l">
              <a:lnSpc>
                <a:spcPct val="100000"/>
              </a:lnSpc>
            </a:pPr>
            <a:r>
              <a:rPr sz="1100">
                <a:solidFill>
                  <a:srgbClr val="1A1A1A"/>
                </a:solidFill>
                <a:latin typeface="Courier New"/>
              </a:rPr>
              <a:t>    good = folder / "good.json"</a:t>
            </a:r>
          </a:p>
          <a:p>
            <a:pPr algn="l">
              <a:lnSpc>
                <a:spcPct val="100000"/>
              </a:lnSpc>
            </a:pPr>
            <a:r>
              <a:rPr sz="1100">
                <a:solidFill>
                  <a:srgbClr val="1A1A1A"/>
                </a:solidFill>
                <a:latin typeface="Courier New"/>
              </a:rPr>
              <a:t>    bad = folder / "bad.json"</a:t>
            </a:r>
          </a:p>
          <a:p>
            <a:pPr algn="l">
              <a:lnSpc>
                <a:spcPct val="100000"/>
              </a:lnSpc>
            </a:pPr>
            <a:r>
              <a:rPr sz="1100">
                <a:solidFill>
                  <a:srgbClr val="1A1A1A"/>
                </a:solidFill>
                <a:latin typeface="Courier New"/>
              </a:rPr>
              <a:t>    good.write_text('{"ok": true}', encoding="utf-8")</a:t>
            </a:r>
          </a:p>
          <a:p>
            <a:pPr algn="l">
              <a:lnSpc>
                <a:spcPct val="100000"/>
              </a:lnSpc>
            </a:pPr>
            <a:r>
              <a:rPr sz="1100">
                <a:solidFill>
                  <a:srgbClr val="1A1A1A"/>
                </a:solidFill>
                <a:latin typeface="Courier New"/>
              </a:rPr>
              <a:t>    bad.write_text('{"ok": tru', encoding="utf-8")</a:t>
            </a:r>
          </a:p>
          <a:p>
            <a:pPr algn="l">
              <a:lnSpc>
                <a:spcPct val="100000"/>
              </a:lnSpc>
            </a:pPr>
            <a:r>
              <a:rPr sz="1100">
                <a:solidFill>
                  <a:srgbClr val="1A1A1A"/>
                </a:solidFill>
                <a:latin typeface="Courier New"/>
              </a:rPr>
              <a:t> </a:t>
            </a:r>
          </a:p>
          <a:p>
            <a:pPr algn="l">
              <a:lnSpc>
                <a:spcPct val="100000"/>
              </a:lnSpc>
            </a:pPr>
            <a:r>
              <a:rPr sz="1100">
                <a:solidFill>
                  <a:srgbClr val="1A1A1A"/>
                </a:solidFill>
                <a:latin typeface="Courier New"/>
              </a:rPr>
              <a:t>    for p in (good, bad, folder / "absent.json"):</a:t>
            </a:r>
          </a:p>
          <a:p>
            <a:pPr algn="l">
              <a:lnSpc>
                <a:spcPct val="100000"/>
              </a:lnSpc>
            </a:pPr>
            <a:r>
              <a:rPr sz="1100">
                <a:solidFill>
                  <a:srgbClr val="1A1A1A"/>
                </a:solidFill>
                <a:latin typeface="Courier New"/>
              </a:rPr>
              <a:t>        print(p.name, "-&gt;", read_json_or_none(p))</a:t>
            </a:r>
          </a:p>
          <a:p>
            <a:pPr algn="l">
              <a:lnSpc>
                <a:spcPct val="100000"/>
              </a:lnSpc>
            </a:pPr>
            <a:r>
              <a:rPr sz="1100">
                <a:solidFill>
                  <a:srgbClr val="1A1A1A"/>
                </a:solidFill>
                <a:latin typeface="Courier New"/>
              </a:rPr>
              <a:t> </a:t>
            </a:r>
          </a:p>
          <a:p>
            <a:pPr algn="l">
              <a:lnSpc>
                <a:spcPct val="100000"/>
              </a:lnSpc>
            </a:pPr>
            <a:r>
              <a:rPr sz="1100">
                <a:solidFill>
                  <a:srgbClr val="1A1A1A"/>
                </a:solidFill>
                <a:latin typeface="Courier New"/>
              </a:rPr>
              <a:t>print("folder still exists?", folder.exists())</a:t>
            </a:r>
          </a:p>
        </p:txBody>
      </p:sp>
      <p:sp>
        <p:nvSpPr>
          <p:cNvPr id="7" name="TextBox 6"/>
          <p:cNvSpPr txBox="1"/>
          <p:nvPr/>
        </p:nvSpPr>
        <p:spPr>
          <a:xfrm>
            <a:off x="609904" y="4209288"/>
            <a:ext cx="694944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Output (folder name and time vary)</a:t>
            </a:r>
          </a:p>
        </p:txBody>
      </p:sp>
      <p:sp>
        <p:nvSpPr>
          <p:cNvPr id="8" name="Rounded Rectangle 7"/>
          <p:cNvSpPr/>
          <p:nvPr/>
        </p:nvSpPr>
        <p:spPr>
          <a:xfrm>
            <a:off x="609904" y="4483608"/>
            <a:ext cx="6949440" cy="1664208"/>
          </a:xfrm>
          <a:prstGeom prst="roundRect">
            <a:avLst>
              <a:gd name="adj" fmla="val 439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4629912"/>
            <a:ext cx="6547103" cy="1371600"/>
          </a:xfrm>
          <a:prstGeom prst="rect">
            <a:avLst/>
          </a:prstGeom>
          <a:noFill/>
        </p:spPr>
        <p:txBody>
          <a:bodyPr wrap="square" lIns="0" tIns="0" rIns="0" bIns="0">
            <a:spAutoFit/>
          </a:bodyPr>
          <a:lstStyle/>
          <a:p>
            <a:pPr algn="l">
              <a:lnSpc>
                <a:spcPct val="100000"/>
              </a:lnSpc>
            </a:pPr>
            <a:r>
              <a:rPr sz="1000">
                <a:solidFill>
                  <a:srgbClr val="1A1A1A"/>
                </a:solidFill>
                <a:latin typeface="Courier New"/>
              </a:rPr>
              <a:t>[workspace] created qa_x8h2k1</a:t>
            </a:r>
          </a:p>
          <a:p>
            <a:pPr algn="l">
              <a:lnSpc>
                <a:spcPct val="100000"/>
              </a:lnSpc>
            </a:pPr>
            <a:r>
              <a:rPr sz="1000">
                <a:solidFill>
                  <a:srgbClr val="1A1A1A"/>
                </a:solidFill>
                <a:latin typeface="Courier New"/>
              </a:rPr>
              <a:t>good.json -&gt; {'ok': True}</a:t>
            </a:r>
          </a:p>
          <a:p>
            <a:pPr algn="l">
              <a:lnSpc>
                <a:spcPct val="100000"/>
              </a:lnSpc>
            </a:pPr>
            <a:r>
              <a:rPr sz="1000">
                <a:solidFill>
                  <a:srgbClr val="1A1A1A"/>
                </a:solidFill>
                <a:latin typeface="Courier New"/>
              </a:rPr>
              <a:t>  invalid JSON in bad.json: Expecting value</a:t>
            </a:r>
          </a:p>
          <a:p>
            <a:pPr algn="l">
              <a:lnSpc>
                <a:spcPct val="100000"/>
              </a:lnSpc>
            </a:pPr>
            <a:r>
              <a:rPr sz="1000">
                <a:solidFill>
                  <a:srgbClr val="1A1A1A"/>
                </a:solidFill>
                <a:latin typeface="Courier New"/>
              </a:rPr>
              <a:t>bad.json -&gt; None</a:t>
            </a:r>
          </a:p>
          <a:p>
            <a:pPr algn="l">
              <a:lnSpc>
                <a:spcPct val="100000"/>
              </a:lnSpc>
            </a:pPr>
            <a:r>
              <a:rPr sz="1000">
                <a:solidFill>
                  <a:srgbClr val="1A1A1A"/>
                </a:solidFill>
                <a:latin typeface="Courier New"/>
              </a:rPr>
              <a:t>  missing file: absent.json</a:t>
            </a:r>
          </a:p>
          <a:p>
            <a:pPr algn="l">
              <a:lnSpc>
                <a:spcPct val="100000"/>
              </a:lnSpc>
            </a:pPr>
            <a:r>
              <a:rPr sz="1000">
                <a:solidFill>
                  <a:srgbClr val="1A1A1A"/>
                </a:solidFill>
                <a:latin typeface="Courier New"/>
              </a:rPr>
              <a:t>absent.json -&gt; None</a:t>
            </a:r>
          </a:p>
          <a:p>
            <a:pPr algn="l">
              <a:lnSpc>
                <a:spcPct val="100000"/>
              </a:lnSpc>
            </a:pPr>
            <a:r>
              <a:rPr sz="1000">
                <a:solidFill>
                  <a:srgbClr val="1A1A1A"/>
                </a:solidFill>
                <a:latin typeface="Courier New"/>
              </a:rPr>
              <a:t>[timed] whole scenario: 0.001s</a:t>
            </a:r>
          </a:p>
          <a:p>
            <a:pPr algn="l">
              <a:lnSpc>
                <a:spcPct val="100000"/>
              </a:lnSpc>
            </a:pPr>
            <a:r>
              <a:rPr sz="1000">
                <a:solidFill>
                  <a:srgbClr val="1A1A1A"/>
                </a:solidFill>
                <a:latin typeface="Courier New"/>
              </a:rPr>
              <a:t>[workspace] removed qa_x8h2k1</a:t>
            </a:r>
          </a:p>
          <a:p>
            <a:pPr algn="l">
              <a:lnSpc>
                <a:spcPct val="100000"/>
              </a:lnSpc>
            </a:pPr>
            <a:r>
              <a:rPr sz="1000">
                <a:solidFill>
                  <a:srgbClr val="1A1A1A"/>
                </a:solidFill>
                <a:latin typeface="Courier New"/>
              </a:rPr>
              <a:t>folder still exists? False</a:t>
            </a:r>
          </a:p>
        </p:txBody>
      </p:sp>
      <p:sp>
        <p:nvSpPr>
          <p:cNvPr id="10" name="TextBox 9"/>
          <p:cNvSpPr txBox="1"/>
          <p:nvPr/>
        </p:nvSpPr>
        <p:spPr>
          <a:xfrm>
            <a:off x="7925104" y="1783080"/>
            <a:ext cx="3656685" cy="4361688"/>
          </a:xfrm>
          <a:prstGeom prst="rect">
            <a:avLst/>
          </a:prstGeom>
          <a:noFill/>
        </p:spPr>
        <p:txBody>
          <a:bodyPr wrap="square" lIns="0" tIns="0" rIns="0" bIns="0">
            <a:spAutoFit/>
          </a:bodyPr>
          <a:lstStyle/>
          <a:p>
            <a:pPr marL="228600" indent="-228600" algn="l">
              <a:spcAft>
                <a:spcPts val="800"/>
              </a:spcAft>
              <a:buFont typeface="Arial"/>
              <a:buChar char="•"/>
            </a:pPr>
            <a:r>
              <a:rPr sz="1400" b="0" i="0">
                <a:solidFill>
                  <a:srgbClr val="1A1A1A"/>
                </a:solidFill>
                <a:latin typeface="Arial"/>
              </a:rPr>
              <a:t>One </a:t>
            </a:r>
            <a:r>
              <a:rPr sz="1350" b="0" i="0">
                <a:solidFill>
                  <a:srgbClr val="330066"/>
                </a:solidFill>
                <a:latin typeface="Courier New"/>
              </a:rPr>
              <a:t>with</a:t>
            </a:r>
            <a:r>
              <a:rPr sz="1400" b="0" i="0">
                <a:solidFill>
                  <a:srgbClr val="1A1A1A"/>
                </a:solidFill>
                <a:latin typeface="Arial"/>
              </a:rPr>
              <a:t> enters both managers; they exit in reverse order (timer first, then workspace deletion), as the output shows.</a:t>
            </a:r>
          </a:p>
          <a:p>
            <a:pPr marL="228600" indent="-228600" algn="l">
              <a:spcAft>
                <a:spcPts val="800"/>
              </a:spcAft>
              <a:buFont typeface="Arial"/>
              <a:buChar char="•"/>
            </a:pPr>
            <a:r>
              <a:rPr sz="1400" b="0" i="0">
                <a:solidFill>
                  <a:srgbClr val="1A1A1A"/>
                </a:solidFill>
                <a:latin typeface="Arial"/>
              </a:rPr>
              <a:t>After the block the folder is gone: cleanup is dependable.</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37 / 49</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Practice</a:t>
            </a:r>
          </a:p>
        </p:txBody>
      </p:sp>
      <p:sp>
        <p:nvSpPr>
          <p:cNvPr id="3" name="Text Placeholder 2"/>
          <p:cNvSpPr>
            <a:spLocks noGrp="1"/>
          </p:cNvSpPr>
          <p:nvPr>
            <p:ph type="body" idx="1"/>
          </p:nvPr>
        </p:nvSpPr>
        <p:spPr/>
        <p:txBody>
          <a:bodyPr/>
          <a:lstStyle/>
          <a:p>
            <a:r>
              <a:rPr sz="1800">
                <a:solidFill>
                  <a:srgbClr val="5A5A5A"/>
                </a:solidFill>
              </a:rPr>
              <a:t>Try each one yourself before looking at the answers</a:t>
            </a:r>
          </a:p>
        </p:txBody>
      </p:sp>
      <p:sp>
        <p:nvSpPr>
          <p:cNvPr id="4" name="TextBox 3"/>
          <p:cNvSpPr txBox="1"/>
          <p:nvPr/>
        </p:nvSpPr>
        <p:spPr>
          <a:xfrm>
            <a:off x="832104" y="1600200"/>
            <a:ext cx="3657600" cy="1097280"/>
          </a:xfrm>
          <a:prstGeom prst="rect">
            <a:avLst/>
          </a:prstGeom>
          <a:noFill/>
        </p:spPr>
        <p:txBody>
          <a:bodyPr wrap="square" lIns="0" tIns="0" rIns="0" bIns="0" anchor="t">
            <a:spAutoFit/>
          </a:bodyPr>
          <a:lstStyle/>
          <a:p>
            <a:pPr algn="l">
              <a:lnSpc>
                <a:spcPct val="110000"/>
              </a:lnSpc>
              <a:spcAft>
                <a:spcPts val="600"/>
              </a:spcAft>
            </a:pPr>
            <a:r>
              <a:rPr sz="6600" b="1" i="0">
                <a:solidFill>
                  <a:srgbClr val="669999"/>
                </a:solidFill>
                <a:latin typeface="Arial"/>
              </a:rPr>
              <a:t>04</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38 / 49</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Practice Exercises (1 of 3)</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PRACTICE</a:t>
            </a:r>
          </a:p>
        </p:txBody>
      </p:sp>
      <p:sp>
        <p:nvSpPr>
          <p:cNvPr id="4" name="TextBox 3"/>
          <p:cNvSpPr txBox="1"/>
          <p:nvPr/>
        </p:nvSpPr>
        <p:spPr>
          <a:xfrm>
            <a:off x="609904" y="1783080"/>
            <a:ext cx="512064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Ex 1: Predict. What is printed?</a:t>
            </a:r>
          </a:p>
        </p:txBody>
      </p:sp>
      <p:sp>
        <p:nvSpPr>
          <p:cNvPr id="5" name="Rounded Rectangle 4"/>
          <p:cNvSpPr/>
          <p:nvPr/>
        </p:nvSpPr>
        <p:spPr>
          <a:xfrm>
            <a:off x="609904" y="2057400"/>
            <a:ext cx="5120640" cy="2212848"/>
          </a:xfrm>
          <a:prstGeom prst="roundRect">
            <a:avLst>
              <a:gd name="adj" fmla="val 330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4718303" cy="1920240"/>
          </a:xfrm>
          <a:prstGeom prst="rect">
            <a:avLst/>
          </a:prstGeom>
          <a:noFill/>
        </p:spPr>
        <p:txBody>
          <a:bodyPr wrap="square" lIns="0" tIns="0" rIns="0" bIns="0">
            <a:spAutoFit/>
          </a:bodyPr>
          <a:lstStyle/>
          <a:p>
            <a:pPr algn="l">
              <a:lnSpc>
                <a:spcPct val="100000"/>
              </a:lnSpc>
            </a:pPr>
            <a:r>
              <a:rPr sz="1400">
                <a:solidFill>
                  <a:srgbClr val="1A1A1A"/>
                </a:solidFill>
                <a:latin typeface="Courier New"/>
              </a:rPr>
              <a:t>class Demo:</a:t>
            </a:r>
          </a:p>
          <a:p>
            <a:pPr algn="l">
              <a:lnSpc>
                <a:spcPct val="100000"/>
              </a:lnSpc>
            </a:pPr>
            <a:r>
              <a:rPr sz="1400">
                <a:solidFill>
                  <a:srgbClr val="1A1A1A"/>
                </a:solidFill>
                <a:latin typeface="Courier New"/>
              </a:rPr>
              <a:t>    def __enter__(self):</a:t>
            </a:r>
          </a:p>
          <a:p>
            <a:pPr algn="l">
              <a:lnSpc>
                <a:spcPct val="100000"/>
              </a:lnSpc>
            </a:pPr>
            <a:r>
              <a:rPr sz="1400">
                <a:solidFill>
                  <a:srgbClr val="1A1A1A"/>
                </a:solidFill>
                <a:latin typeface="Courier New"/>
              </a:rPr>
              <a:t>        print("A")</a:t>
            </a:r>
          </a:p>
          <a:p>
            <a:pPr algn="l">
              <a:lnSpc>
                <a:spcPct val="100000"/>
              </a:lnSpc>
            </a:pPr>
            <a:r>
              <a:rPr sz="1400">
                <a:solidFill>
                  <a:srgbClr val="1A1A1A"/>
                </a:solidFill>
                <a:latin typeface="Courier New"/>
              </a:rPr>
              <a:t>        return 42</a:t>
            </a:r>
          </a:p>
          <a:p>
            <a:pPr algn="l">
              <a:lnSpc>
                <a:spcPct val="100000"/>
              </a:lnSpc>
            </a:pPr>
            <a:r>
              <a:rPr sz="1400">
                <a:solidFill>
                  <a:srgbClr val="1A1A1A"/>
                </a:solidFill>
                <a:latin typeface="Courier New"/>
              </a:rPr>
              <a:t>    def __exit__(self, *args):</a:t>
            </a:r>
          </a:p>
          <a:p>
            <a:pPr algn="l">
              <a:lnSpc>
                <a:spcPct val="100000"/>
              </a:lnSpc>
            </a:pPr>
            <a:r>
              <a:rPr sz="1400">
                <a:solidFill>
                  <a:srgbClr val="1A1A1A"/>
                </a:solidFill>
                <a:latin typeface="Courier New"/>
              </a:rPr>
              <a:t>        print("C")</a:t>
            </a:r>
          </a:p>
          <a:p>
            <a:pPr algn="l">
              <a:lnSpc>
                <a:spcPct val="100000"/>
              </a:lnSpc>
            </a:pPr>
            <a:r>
              <a:rPr sz="1400">
                <a:solidFill>
                  <a:srgbClr val="1A1A1A"/>
                </a:solidFill>
                <a:latin typeface="Courier New"/>
              </a:rPr>
              <a:t> </a:t>
            </a:r>
          </a:p>
          <a:p>
            <a:pPr algn="l">
              <a:lnSpc>
                <a:spcPct val="100000"/>
              </a:lnSpc>
            </a:pPr>
            <a:r>
              <a:rPr sz="1400">
                <a:solidFill>
                  <a:srgbClr val="1A1A1A"/>
                </a:solidFill>
                <a:latin typeface="Courier New"/>
              </a:rPr>
              <a:t>with Demo() as value:</a:t>
            </a:r>
          </a:p>
          <a:p>
            <a:pPr algn="l">
              <a:lnSpc>
                <a:spcPct val="100000"/>
              </a:lnSpc>
            </a:pPr>
            <a:r>
              <a:rPr sz="1400">
                <a:solidFill>
                  <a:srgbClr val="1A1A1A"/>
                </a:solidFill>
                <a:latin typeface="Courier New"/>
              </a:rPr>
              <a:t>    print("B", value)</a:t>
            </a:r>
          </a:p>
        </p:txBody>
      </p:sp>
      <p:sp>
        <p:nvSpPr>
          <p:cNvPr id="7" name="Oval 6"/>
          <p:cNvSpPr/>
          <p:nvPr/>
        </p:nvSpPr>
        <p:spPr>
          <a:xfrm>
            <a:off x="60963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Arial"/>
              </a:rPr>
              <a:t>Ex2</a:t>
            </a:r>
          </a:p>
        </p:txBody>
      </p:sp>
      <p:sp>
        <p:nvSpPr>
          <p:cNvPr id="8" name="TextBox 7"/>
          <p:cNvSpPr txBox="1"/>
          <p:nvPr/>
        </p:nvSpPr>
        <p:spPr>
          <a:xfrm>
            <a:off x="6644944" y="1819656"/>
            <a:ext cx="4936845" cy="942657"/>
          </a:xfrm>
          <a:prstGeom prst="rect">
            <a:avLst/>
          </a:prstGeom>
          <a:noFill/>
        </p:spPr>
        <p:txBody>
          <a:bodyPr wrap="square" lIns="0" tIns="0" rIns="0" bIns="0" anchor="t">
            <a:spAutoFit/>
          </a:bodyPr>
          <a:lstStyle/>
          <a:p>
            <a:pPr algn="l">
              <a:lnSpc>
                <a:spcPct val="110000"/>
              </a:lnSpc>
              <a:spcAft>
                <a:spcPts val="200"/>
              </a:spcAft>
            </a:pPr>
            <a:r>
              <a:rPr sz="1450" b="1" i="0">
                <a:solidFill>
                  <a:srgbClr val="330066"/>
                </a:solidFill>
                <a:latin typeface="Arial"/>
              </a:rPr>
              <a:t>Class-based</a:t>
            </a:r>
          </a:p>
          <a:p>
            <a:pPr algn="l">
              <a:lnSpc>
                <a:spcPct val="110000"/>
              </a:lnSpc>
              <a:spcAft>
                <a:spcPts val="600"/>
              </a:spcAft>
            </a:pPr>
            <a:r>
              <a:rPr sz="1350" b="0" i="0">
                <a:solidFill>
                  <a:srgbClr val="330066"/>
                </a:solidFill>
                <a:latin typeface="Courier New"/>
              </a:rPr>
              <a:t>CountingBlock</a:t>
            </a:r>
            <a:r>
              <a:rPr sz="1400" b="0" i="0">
                <a:solidFill>
                  <a:srgbClr val="1A1A1A"/>
                </a:solidFill>
                <a:latin typeface="Arial"/>
              </a:rPr>
              <a:t>: </a:t>
            </a:r>
            <a:r>
              <a:rPr sz="1350" b="0" i="0">
                <a:solidFill>
                  <a:srgbClr val="330066"/>
                </a:solidFill>
                <a:latin typeface="Courier New"/>
              </a:rPr>
              <a:t>__enter__</a:t>
            </a:r>
            <a:r>
              <a:rPr sz="1400" b="0" i="0">
                <a:solidFill>
                  <a:srgbClr val="1A1A1A"/>
                </a:solidFill>
                <a:latin typeface="Arial"/>
              </a:rPr>
              <a:t> prints </a:t>
            </a:r>
            <a:r>
              <a:rPr sz="1350" b="0" i="0">
                <a:solidFill>
                  <a:srgbClr val="330066"/>
                </a:solidFill>
                <a:latin typeface="Courier New"/>
              </a:rPr>
              <a:t>"start"</a:t>
            </a:r>
            <a:r>
              <a:rPr sz="1400" b="0" i="0">
                <a:solidFill>
                  <a:srgbClr val="1A1A1A"/>
                </a:solidFill>
                <a:latin typeface="Arial"/>
              </a:rPr>
              <a:t>; </a:t>
            </a:r>
            <a:r>
              <a:rPr sz="1350" b="0" i="0">
                <a:solidFill>
                  <a:srgbClr val="330066"/>
                </a:solidFill>
                <a:latin typeface="Courier New"/>
              </a:rPr>
              <a:t>__exit__</a:t>
            </a:r>
            <a:r>
              <a:rPr sz="1400" b="0" i="0">
                <a:solidFill>
                  <a:srgbClr val="1A1A1A"/>
                </a:solidFill>
                <a:latin typeface="Arial"/>
              </a:rPr>
              <a:t> prints </a:t>
            </a:r>
            <a:r>
              <a:rPr sz="1350" b="0" i="0">
                <a:solidFill>
                  <a:srgbClr val="330066"/>
                </a:solidFill>
                <a:latin typeface="Courier New"/>
              </a:rPr>
              <a:t>"end"</a:t>
            </a:r>
            <a:r>
              <a:rPr sz="1400" b="0" i="0">
                <a:solidFill>
                  <a:srgbClr val="1A1A1A"/>
                </a:solidFill>
                <a:latin typeface="Arial"/>
              </a:rPr>
              <a:t> and how many seconds the block took (</a:t>
            </a:r>
            <a:r>
              <a:rPr sz="1350" b="0" i="0">
                <a:solidFill>
                  <a:srgbClr val="330066"/>
                </a:solidFill>
                <a:latin typeface="Courier New"/>
              </a:rPr>
              <a:t>time.perf_counter()</a:t>
            </a:r>
            <a:r>
              <a:rPr sz="1400" b="0" i="0">
                <a:solidFill>
                  <a:srgbClr val="1A1A1A"/>
                </a:solidFill>
                <a:latin typeface="Arial"/>
              </a:rPr>
              <a:t>).</a:t>
            </a:r>
          </a:p>
        </p:txBody>
      </p:sp>
      <p:sp>
        <p:nvSpPr>
          <p:cNvPr id="9" name="Oval 8"/>
          <p:cNvSpPr/>
          <p:nvPr/>
        </p:nvSpPr>
        <p:spPr>
          <a:xfrm>
            <a:off x="6096304" y="2890329"/>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Arial"/>
              </a:rPr>
              <a:t>Ex3</a:t>
            </a:r>
          </a:p>
        </p:txBody>
      </p:sp>
      <p:sp>
        <p:nvSpPr>
          <p:cNvPr id="10" name="TextBox 9"/>
          <p:cNvSpPr txBox="1"/>
          <p:nvPr/>
        </p:nvSpPr>
        <p:spPr>
          <a:xfrm>
            <a:off x="6644944" y="2926905"/>
            <a:ext cx="4936845" cy="498157"/>
          </a:xfrm>
          <a:prstGeom prst="rect">
            <a:avLst/>
          </a:prstGeom>
          <a:noFill/>
        </p:spPr>
        <p:txBody>
          <a:bodyPr wrap="square" lIns="0" tIns="0" rIns="0" bIns="0" anchor="t">
            <a:spAutoFit/>
          </a:bodyPr>
          <a:lstStyle/>
          <a:p>
            <a:pPr algn="l">
              <a:lnSpc>
                <a:spcPct val="110000"/>
              </a:lnSpc>
              <a:spcAft>
                <a:spcPts val="200"/>
              </a:spcAft>
            </a:pPr>
            <a:r>
              <a:rPr sz="1450" b="1" i="0">
                <a:solidFill>
                  <a:srgbClr val="330066"/>
                </a:solidFill>
                <a:latin typeface="Arial"/>
              </a:rPr>
              <a:t>Generator-based</a:t>
            </a:r>
          </a:p>
          <a:p>
            <a:pPr algn="l">
              <a:lnSpc>
                <a:spcPct val="110000"/>
              </a:lnSpc>
              <a:spcAft>
                <a:spcPts val="600"/>
              </a:spcAft>
            </a:pPr>
            <a:r>
              <a:rPr sz="1400" b="0" i="0">
                <a:solidFill>
                  <a:srgbClr val="1A1A1A"/>
                </a:solidFill>
                <a:latin typeface="Arial"/>
              </a:rPr>
              <a:t>Rewrite Exercise 2 using </a:t>
            </a:r>
            <a:r>
              <a:rPr sz="1350" b="0" i="0">
                <a:solidFill>
                  <a:srgbClr val="330066"/>
                </a:solidFill>
                <a:latin typeface="Courier New"/>
              </a:rPr>
              <a:t>@contextmanager</a:t>
            </a:r>
            <a:r>
              <a:rPr sz="1400" b="0" i="0">
                <a:solidFill>
                  <a:srgbClr val="1A1A1A"/>
                </a:solidFill>
                <a:latin typeface="Arial"/>
              </a:rPr>
              <a:t>.</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39 / 49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Practice Exercises (2 of 3)</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PRACTICE</a:t>
            </a:r>
          </a:p>
        </p:txBody>
      </p:sp>
      <p:sp>
        <p:nvSpPr>
          <p:cNvPr id="4" name="Oval 3"/>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Arial"/>
              </a:rPr>
              <a:t>Ex4</a:t>
            </a:r>
          </a:p>
        </p:txBody>
      </p:sp>
      <p:sp>
        <p:nvSpPr>
          <p:cNvPr id="5" name="TextBox 4"/>
          <p:cNvSpPr txBox="1"/>
          <p:nvPr/>
        </p:nvSpPr>
        <p:spPr>
          <a:xfrm>
            <a:off x="1158544" y="1819656"/>
            <a:ext cx="10423245" cy="768032"/>
          </a:xfrm>
          <a:prstGeom prst="rect">
            <a:avLst/>
          </a:prstGeom>
          <a:noFill/>
        </p:spPr>
        <p:txBody>
          <a:bodyPr wrap="square" lIns="0" tIns="0" rIns="0" bIns="0" anchor="t">
            <a:spAutoFit/>
          </a:bodyPr>
          <a:lstStyle/>
          <a:p>
            <a:pPr algn="l">
              <a:lnSpc>
                <a:spcPct val="110000"/>
              </a:lnSpc>
              <a:spcAft>
                <a:spcPts val="200"/>
              </a:spcAft>
            </a:pPr>
            <a:r>
              <a:rPr sz="1550" b="1" i="0">
                <a:solidFill>
                  <a:srgbClr val="330066"/>
                </a:solidFill>
                <a:latin typeface="Arial"/>
              </a:rPr>
              <a:t>Directory switcher</a:t>
            </a:r>
          </a:p>
          <a:p>
            <a:pPr algn="l">
              <a:lnSpc>
                <a:spcPct val="110000"/>
              </a:lnSpc>
              <a:spcAft>
                <a:spcPts val="600"/>
              </a:spcAft>
            </a:pPr>
            <a:r>
              <a:rPr sz="1450" b="0" i="0">
                <a:solidFill>
                  <a:srgbClr val="330066"/>
                </a:solidFill>
                <a:latin typeface="Courier New"/>
              </a:rPr>
              <a:t>working_directory(path)</a:t>
            </a:r>
            <a:r>
              <a:rPr sz="1500" b="0" i="0">
                <a:solidFill>
                  <a:srgbClr val="1A1A1A"/>
                </a:solidFill>
                <a:latin typeface="Arial"/>
              </a:rPr>
              <a:t> uses </a:t>
            </a:r>
            <a:r>
              <a:rPr sz="1450" b="0" i="0">
                <a:solidFill>
                  <a:srgbClr val="330066"/>
                </a:solidFill>
                <a:latin typeface="Courier New"/>
              </a:rPr>
              <a:t>os.chdir</a:t>
            </a:r>
            <a:r>
              <a:rPr sz="1500" b="0" i="0">
                <a:solidFill>
                  <a:srgbClr val="1A1A1A"/>
                </a:solidFill>
                <a:latin typeface="Arial"/>
              </a:rPr>
              <a:t> inside the block and always changes back. Print </a:t>
            </a:r>
            <a:r>
              <a:rPr sz="1450" b="0" i="0">
                <a:solidFill>
                  <a:srgbClr val="330066"/>
                </a:solidFill>
                <a:latin typeface="Courier New"/>
              </a:rPr>
              <a:t>os.getcwd()</a:t>
            </a:r>
            <a:r>
              <a:rPr sz="1500" b="0" i="0">
                <a:solidFill>
                  <a:srgbClr val="1A1A1A"/>
                </a:solidFill>
                <a:latin typeface="Arial"/>
              </a:rPr>
              <a:t> before, inside and after (hint: </a:t>
            </a:r>
            <a:r>
              <a:rPr sz="1450" b="0" i="0">
                <a:solidFill>
                  <a:srgbClr val="330066"/>
                </a:solidFill>
                <a:latin typeface="Courier New"/>
              </a:rPr>
              <a:t>tempfile.gettempdir()</a:t>
            </a:r>
            <a:r>
              <a:rPr sz="1500" b="0" i="0">
                <a:solidFill>
                  <a:srgbClr val="1A1A1A"/>
                </a:solidFill>
                <a:latin typeface="Arial"/>
              </a:rPr>
              <a:t>).</a:t>
            </a:r>
          </a:p>
        </p:txBody>
      </p:sp>
      <p:sp>
        <p:nvSpPr>
          <p:cNvPr id="6" name="Oval 5"/>
          <p:cNvSpPr/>
          <p:nvPr/>
        </p:nvSpPr>
        <p:spPr>
          <a:xfrm>
            <a:off x="609904" y="2715704"/>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Arial"/>
              </a:rPr>
              <a:t>Ex5</a:t>
            </a:r>
          </a:p>
        </p:txBody>
      </p:sp>
      <p:sp>
        <p:nvSpPr>
          <p:cNvPr id="7" name="TextBox 6"/>
          <p:cNvSpPr txBox="1"/>
          <p:nvPr/>
        </p:nvSpPr>
        <p:spPr>
          <a:xfrm>
            <a:off x="1158544" y="2752280"/>
            <a:ext cx="10423245" cy="768032"/>
          </a:xfrm>
          <a:prstGeom prst="rect">
            <a:avLst/>
          </a:prstGeom>
          <a:noFill/>
        </p:spPr>
        <p:txBody>
          <a:bodyPr wrap="square" lIns="0" tIns="0" rIns="0" bIns="0" anchor="t">
            <a:spAutoFit/>
          </a:bodyPr>
          <a:lstStyle/>
          <a:p>
            <a:pPr algn="l">
              <a:lnSpc>
                <a:spcPct val="110000"/>
              </a:lnSpc>
              <a:spcAft>
                <a:spcPts val="200"/>
              </a:spcAft>
            </a:pPr>
            <a:r>
              <a:rPr sz="1550" b="1" i="0">
                <a:solidFill>
                  <a:srgbClr val="330066"/>
                </a:solidFill>
                <a:latin typeface="Arial"/>
              </a:rPr>
              <a:t>Suppression</a:t>
            </a:r>
          </a:p>
          <a:p>
            <a:pPr algn="l">
              <a:lnSpc>
                <a:spcPct val="110000"/>
              </a:lnSpc>
              <a:spcAft>
                <a:spcPts val="600"/>
              </a:spcAft>
            </a:pPr>
            <a:r>
              <a:rPr sz="1450" b="0" i="0">
                <a:solidFill>
                  <a:srgbClr val="330066"/>
                </a:solidFill>
                <a:latin typeface="Courier New"/>
              </a:rPr>
              <a:t>try_delete(path)</a:t>
            </a:r>
            <a:r>
              <a:rPr sz="1500" b="0" i="0">
                <a:solidFill>
                  <a:srgbClr val="1A1A1A"/>
                </a:solidFill>
                <a:latin typeface="Arial"/>
              </a:rPr>
              <a:t> uses </a:t>
            </a:r>
            <a:r>
              <a:rPr sz="1450" b="0" i="0">
                <a:solidFill>
                  <a:srgbClr val="330066"/>
                </a:solidFill>
                <a:latin typeface="Courier New"/>
              </a:rPr>
              <a:t>contextlib.suppress</a:t>
            </a:r>
            <a:r>
              <a:rPr sz="1500" b="0" i="0">
                <a:solidFill>
                  <a:srgbClr val="1A1A1A"/>
                </a:solidFill>
                <a:latin typeface="Arial"/>
              </a:rPr>
              <a:t> to delete a file if present and do nothing if missing.</a:t>
            </a:r>
          </a:p>
        </p:txBody>
      </p:sp>
      <p:sp>
        <p:nvSpPr>
          <p:cNvPr id="8" name="Oval 7"/>
          <p:cNvSpPr/>
          <p:nvPr/>
        </p:nvSpPr>
        <p:spPr>
          <a:xfrm>
            <a:off x="609904" y="3648329"/>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Arial"/>
              </a:rPr>
              <a:t>Ex6</a:t>
            </a:r>
          </a:p>
        </p:txBody>
      </p:sp>
      <p:sp>
        <p:nvSpPr>
          <p:cNvPr id="9" name="TextBox 8"/>
          <p:cNvSpPr txBox="1"/>
          <p:nvPr/>
        </p:nvSpPr>
        <p:spPr>
          <a:xfrm>
            <a:off x="1158544" y="3684905"/>
            <a:ext cx="10423245" cy="768032"/>
          </a:xfrm>
          <a:prstGeom prst="rect">
            <a:avLst/>
          </a:prstGeom>
          <a:noFill/>
        </p:spPr>
        <p:txBody>
          <a:bodyPr wrap="square" lIns="0" tIns="0" rIns="0" bIns="0" anchor="t">
            <a:spAutoFit/>
          </a:bodyPr>
          <a:lstStyle/>
          <a:p>
            <a:pPr algn="l">
              <a:lnSpc>
                <a:spcPct val="110000"/>
              </a:lnSpc>
              <a:spcAft>
                <a:spcPts val="200"/>
              </a:spcAft>
            </a:pPr>
            <a:r>
              <a:rPr sz="1550" b="1" i="0">
                <a:solidFill>
                  <a:srgbClr val="330066"/>
                </a:solidFill>
                <a:latin typeface="Arial"/>
              </a:rPr>
              <a:t>Exception swallowing</a:t>
            </a:r>
          </a:p>
          <a:p>
            <a:pPr algn="l">
              <a:lnSpc>
                <a:spcPct val="110000"/>
              </a:lnSpc>
              <a:spcAft>
                <a:spcPts val="600"/>
              </a:spcAft>
            </a:pPr>
            <a:r>
              <a:rPr sz="1500" b="0" i="0">
                <a:solidFill>
                  <a:srgbClr val="1A1A1A"/>
                </a:solidFill>
                <a:latin typeface="Arial"/>
              </a:rPr>
              <a:t>Class-based </a:t>
            </a:r>
            <a:r>
              <a:rPr sz="1450" b="0" i="0">
                <a:solidFill>
                  <a:srgbClr val="330066"/>
                </a:solidFill>
                <a:latin typeface="Courier New"/>
              </a:rPr>
              <a:t>Retryable</a:t>
            </a:r>
            <a:r>
              <a:rPr sz="1500" b="0" i="0">
                <a:solidFill>
                  <a:srgbClr val="1A1A1A"/>
                </a:solidFill>
                <a:latin typeface="Arial"/>
              </a:rPr>
              <a:t>: </a:t>
            </a:r>
            <a:r>
              <a:rPr sz="1450" b="0" i="0">
                <a:solidFill>
                  <a:srgbClr val="330066"/>
                </a:solidFill>
                <a:latin typeface="Courier New"/>
              </a:rPr>
              <a:t>__exit__</a:t>
            </a:r>
            <a:r>
              <a:rPr sz="1500" b="0" i="0">
                <a:solidFill>
                  <a:srgbClr val="1A1A1A"/>
                </a:solidFill>
                <a:latin typeface="Arial"/>
              </a:rPr>
              <a:t> swallows </a:t>
            </a:r>
            <a:r>
              <a:rPr sz="1450" b="0" i="0">
                <a:solidFill>
                  <a:srgbClr val="330066"/>
                </a:solidFill>
                <a:latin typeface="Courier New"/>
              </a:rPr>
              <a:t>ConnectionError</a:t>
            </a:r>
            <a:r>
              <a:rPr sz="1500" b="0" i="0">
                <a:solidFill>
                  <a:srgbClr val="1A1A1A"/>
                </a:solidFill>
                <a:latin typeface="Arial"/>
              </a:rPr>
              <a:t> (printing "network blip ignored") but lets all others through. Test with </a:t>
            </a:r>
            <a:r>
              <a:rPr sz="1450" b="0" i="0">
                <a:solidFill>
                  <a:srgbClr val="330066"/>
                </a:solidFill>
                <a:latin typeface="Courier New"/>
              </a:rPr>
              <a:t>ConnectionError</a:t>
            </a:r>
            <a:r>
              <a:rPr sz="1500" b="0" i="0">
                <a:solidFill>
                  <a:srgbClr val="1A1A1A"/>
                </a:solidFill>
                <a:latin typeface="Arial"/>
              </a:rPr>
              <a:t> and </a:t>
            </a:r>
            <a:r>
              <a:rPr sz="1450" b="0" i="0">
                <a:solidFill>
                  <a:srgbClr val="330066"/>
                </a:solidFill>
                <a:latin typeface="Courier New"/>
              </a:rPr>
              <a:t>ValueError</a:t>
            </a:r>
            <a:r>
              <a:rPr sz="1500" b="0" i="0">
                <a:solidFill>
                  <a:srgbClr val="1A1A1A"/>
                </a:solidFill>
                <a:latin typeface="Arial"/>
              </a:rPr>
              <a:t>.</a:t>
            </a:r>
          </a:p>
        </p:txBody>
      </p:sp>
      <p:sp>
        <p:nvSpPr>
          <p:cNvPr id="10" name="TextBox 9"/>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40 / 49</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Practice Exercises (3 of 3)</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PRACTICE</a:t>
            </a:r>
          </a:p>
        </p:txBody>
      </p:sp>
      <p:sp>
        <p:nvSpPr>
          <p:cNvPr id="4" name="Rounded Rectangle 3"/>
          <p:cNvSpPr/>
          <p:nvPr/>
        </p:nvSpPr>
        <p:spPr>
          <a:xfrm>
            <a:off x="609904" y="1783080"/>
            <a:ext cx="6400800" cy="1511808"/>
          </a:xfrm>
          <a:prstGeom prst="roundRect">
            <a:avLst>
              <a:gd name="adj" fmla="val 4838"/>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998464" cy="1219200"/>
          </a:xfrm>
          <a:prstGeom prst="rect">
            <a:avLst/>
          </a:prstGeom>
          <a:noFill/>
        </p:spPr>
        <p:txBody>
          <a:bodyPr wrap="square" lIns="0" tIns="0" rIns="0" bIns="0">
            <a:spAutoFit/>
          </a:bodyPr>
          <a:lstStyle/>
          <a:p>
            <a:pPr algn="l">
              <a:lnSpc>
                <a:spcPct val="100000"/>
              </a:lnSpc>
            </a:pPr>
            <a:r>
              <a:rPr sz="1600">
                <a:solidFill>
                  <a:srgbClr val="1A1A1A"/>
                </a:solidFill>
                <a:latin typeface="Courier New"/>
              </a:rPr>
              <a:t>@contextmanager</a:t>
            </a:r>
          </a:p>
          <a:p>
            <a:pPr algn="l">
              <a:lnSpc>
                <a:spcPct val="100000"/>
              </a:lnSpc>
            </a:pPr>
            <a:r>
              <a:rPr sz="1600">
                <a:solidFill>
                  <a:srgbClr val="1A1A1A"/>
                </a:solidFill>
                <a:latin typeface="Courier New"/>
              </a:rPr>
              <a:t>def open_resource():</a:t>
            </a:r>
          </a:p>
          <a:p>
            <a:pPr algn="l">
              <a:lnSpc>
                <a:spcPct val="100000"/>
              </a:lnSpc>
            </a:pPr>
            <a:r>
              <a:rPr sz="1600">
                <a:solidFill>
                  <a:srgbClr val="1A1A1A"/>
                </a:solidFill>
                <a:latin typeface="Courier New"/>
              </a:rPr>
              <a:t>    r = acquire()</a:t>
            </a:r>
          </a:p>
          <a:p>
            <a:pPr algn="l">
              <a:lnSpc>
                <a:spcPct val="100000"/>
              </a:lnSpc>
            </a:pPr>
            <a:r>
              <a:rPr sz="1600">
                <a:solidFill>
                  <a:srgbClr val="1A1A1A"/>
                </a:solidFill>
                <a:latin typeface="Courier New"/>
              </a:rPr>
              <a:t>    yield r</a:t>
            </a:r>
          </a:p>
          <a:p>
            <a:pPr algn="l">
              <a:lnSpc>
                <a:spcPct val="100000"/>
              </a:lnSpc>
            </a:pPr>
            <a:r>
              <a:rPr sz="1600">
                <a:solidFill>
                  <a:srgbClr val="1A1A1A"/>
                </a:solidFill>
                <a:latin typeface="Courier New"/>
              </a:rPr>
              <a:t>    release(r)</a:t>
            </a:r>
          </a:p>
        </p:txBody>
      </p:sp>
      <p:sp>
        <p:nvSpPr>
          <p:cNvPr id="6" name="TextBox 5"/>
          <p:cNvSpPr txBox="1"/>
          <p:nvPr/>
        </p:nvSpPr>
        <p:spPr>
          <a:xfrm>
            <a:off x="7376464" y="1783080"/>
            <a:ext cx="4205325" cy="4361688"/>
          </a:xfrm>
          <a:prstGeom prst="rect">
            <a:avLst/>
          </a:prstGeom>
          <a:noFill/>
        </p:spPr>
        <p:txBody>
          <a:bodyPr wrap="square" lIns="0" tIns="0" rIns="0" bIns="0">
            <a:spAutoFit/>
          </a:bodyPr>
          <a:lstStyle/>
          <a:p>
            <a:pPr marL="228600" indent="-228600" algn="l">
              <a:spcAft>
                <a:spcPts val="800"/>
              </a:spcAft>
              <a:buFont typeface="Arial"/>
              <a:buChar char="•"/>
            </a:pPr>
            <a:r>
              <a:rPr sz="1600" b="0" i="0">
                <a:solidFill>
                  <a:srgbClr val="1A1A1A"/>
                </a:solidFill>
                <a:latin typeface="Arial"/>
              </a:rPr>
              <a:t>Ex 7: Think. Why is this </a:t>
            </a:r>
            <a:r>
              <a:rPr sz="1550" b="0" i="0">
                <a:solidFill>
                  <a:srgbClr val="330066"/>
                </a:solidFill>
                <a:latin typeface="Courier New"/>
              </a:rPr>
              <a:t>@contextmanager</a:t>
            </a:r>
            <a:r>
              <a:rPr sz="1600" b="0" i="0">
                <a:solidFill>
                  <a:srgbClr val="1A1A1A"/>
                </a:solidFill>
                <a:latin typeface="Arial"/>
              </a:rPr>
              <a:t> function buggy?</a:t>
            </a:r>
          </a:p>
          <a:p>
            <a:pPr marL="228600" indent="-228600" algn="l">
              <a:spcAft>
                <a:spcPts val="800"/>
              </a:spcAft>
              <a:buFont typeface="Arial"/>
              <a:buChar char="•"/>
            </a:pPr>
            <a:r>
              <a:rPr sz="1600" b="0" i="0">
                <a:solidFill>
                  <a:srgbClr val="1A1A1A"/>
                </a:solidFill>
                <a:latin typeface="Arial"/>
              </a:rPr>
              <a:t>How do you fix it?</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41 / 49</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Answer 1</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PRACTICE</a:t>
            </a:r>
          </a:p>
        </p:txBody>
      </p:sp>
      <p:sp>
        <p:nvSpPr>
          <p:cNvPr id="4" name="TextBox 3"/>
          <p:cNvSpPr txBox="1"/>
          <p:nvPr/>
        </p:nvSpPr>
        <p:spPr>
          <a:xfrm>
            <a:off x="609904" y="1783080"/>
            <a:ext cx="274320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Output</a:t>
            </a:r>
          </a:p>
        </p:txBody>
      </p:sp>
      <p:sp>
        <p:nvSpPr>
          <p:cNvPr id="5" name="Rounded Rectangle 4"/>
          <p:cNvSpPr/>
          <p:nvPr/>
        </p:nvSpPr>
        <p:spPr>
          <a:xfrm>
            <a:off x="609904" y="2057400"/>
            <a:ext cx="2743200" cy="978408"/>
          </a:xfrm>
          <a:prstGeom prst="roundRect">
            <a:avLst>
              <a:gd name="adj" fmla="val 7476"/>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2340864" cy="685800"/>
          </a:xfrm>
          <a:prstGeom prst="rect">
            <a:avLst/>
          </a:prstGeom>
          <a:noFill/>
        </p:spPr>
        <p:txBody>
          <a:bodyPr wrap="square" lIns="0" tIns="0" rIns="0" bIns="0">
            <a:spAutoFit/>
          </a:bodyPr>
          <a:lstStyle/>
          <a:p>
            <a:pPr algn="l">
              <a:lnSpc>
                <a:spcPct val="100000"/>
              </a:lnSpc>
            </a:pPr>
            <a:r>
              <a:rPr sz="1500">
                <a:solidFill>
                  <a:srgbClr val="1A1A1A"/>
                </a:solidFill>
                <a:latin typeface="Courier New"/>
              </a:rPr>
              <a:t>A</a:t>
            </a:r>
          </a:p>
          <a:p>
            <a:pPr algn="l">
              <a:lnSpc>
                <a:spcPct val="100000"/>
              </a:lnSpc>
            </a:pPr>
            <a:r>
              <a:rPr sz="1500">
                <a:solidFill>
                  <a:srgbClr val="1A1A1A"/>
                </a:solidFill>
                <a:latin typeface="Courier New"/>
              </a:rPr>
              <a:t>B 42</a:t>
            </a:r>
          </a:p>
          <a:p>
            <a:pPr algn="l">
              <a:lnSpc>
                <a:spcPct val="100000"/>
              </a:lnSpc>
            </a:pPr>
            <a:r>
              <a:rPr sz="1500">
                <a:solidFill>
                  <a:srgbClr val="1A1A1A"/>
                </a:solidFill>
                <a:latin typeface="Courier New"/>
              </a:rPr>
              <a:t>C</a:t>
            </a:r>
          </a:p>
        </p:txBody>
      </p:sp>
      <p:sp>
        <p:nvSpPr>
          <p:cNvPr id="7" name="TextBox 6"/>
          <p:cNvSpPr txBox="1"/>
          <p:nvPr/>
        </p:nvSpPr>
        <p:spPr>
          <a:xfrm>
            <a:off x="3718864" y="1783080"/>
            <a:ext cx="7862925" cy="4361688"/>
          </a:xfrm>
          <a:prstGeom prst="rect">
            <a:avLst/>
          </a:prstGeom>
          <a:noFill/>
        </p:spPr>
        <p:txBody>
          <a:bodyPr wrap="square" lIns="0" tIns="0" rIns="0" bIns="0">
            <a:spAutoFit/>
          </a:bodyPr>
          <a:lstStyle/>
          <a:p>
            <a:pPr marL="228600" indent="-228600" algn="l">
              <a:spcAft>
                <a:spcPts val="800"/>
              </a:spcAft>
              <a:buFont typeface="Arial"/>
              <a:buChar char="•"/>
            </a:pPr>
            <a:r>
              <a:rPr sz="1550" b="0" i="0">
                <a:solidFill>
                  <a:srgbClr val="330066"/>
                </a:solidFill>
                <a:latin typeface="Courier New"/>
              </a:rPr>
              <a:t>__enter__</a:t>
            </a:r>
            <a:r>
              <a:rPr sz="1600" b="0" i="0">
                <a:solidFill>
                  <a:srgbClr val="1A1A1A"/>
                </a:solidFill>
                <a:latin typeface="Arial"/>
              </a:rPr>
              <a:t> returns 42, which </a:t>
            </a:r>
            <a:r>
              <a:rPr sz="1550" b="0" i="0">
                <a:solidFill>
                  <a:srgbClr val="330066"/>
                </a:solidFill>
                <a:latin typeface="Courier New"/>
              </a:rPr>
              <a:t>as value</a:t>
            </a:r>
            <a:r>
              <a:rPr sz="1600" b="0" i="0">
                <a:solidFill>
                  <a:srgbClr val="1A1A1A"/>
                </a:solidFill>
                <a:latin typeface="Arial"/>
              </a:rPr>
              <a:t> receives.</a:t>
            </a:r>
          </a:p>
          <a:p>
            <a:pPr marL="228600" indent="-228600" algn="l">
              <a:spcAft>
                <a:spcPts val="800"/>
              </a:spcAft>
              <a:buFont typeface="Arial"/>
              <a:buChar char="•"/>
            </a:pPr>
            <a:r>
              <a:rPr sz="1550" b="0" i="0">
                <a:solidFill>
                  <a:srgbClr val="330066"/>
                </a:solidFill>
                <a:latin typeface="Courier New"/>
              </a:rPr>
              <a:t>__exit__</a:t>
            </a:r>
            <a:r>
              <a:rPr sz="1600" b="0" i="0">
                <a:solidFill>
                  <a:srgbClr val="1A1A1A"/>
                </a:solidFill>
                <a:latin typeface="Arial"/>
              </a:rPr>
              <a:t> runs after the block.</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42 / 49</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Answers 2 and 3</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PRACTICE</a:t>
            </a:r>
          </a:p>
        </p:txBody>
      </p:sp>
      <p:sp>
        <p:nvSpPr>
          <p:cNvPr id="4" name="TextBox 3"/>
          <p:cNvSpPr txBox="1"/>
          <p:nvPr/>
        </p:nvSpPr>
        <p:spPr>
          <a:xfrm>
            <a:off x="609904" y="1783080"/>
            <a:ext cx="3657600" cy="256032"/>
          </a:xfrm>
          <a:prstGeom prst="rect">
            <a:avLst/>
          </a:prstGeom>
          <a:noFill/>
        </p:spPr>
        <p:txBody>
          <a:bodyPr wrap="square" lIns="0" tIns="0" rIns="0" bIns="0">
            <a:spAutoFit/>
          </a:bodyPr>
          <a:lstStyle/>
          <a:p>
            <a:pPr algn="l"/>
            <a:r>
              <a:rPr sz="1100" b="1">
                <a:solidFill>
                  <a:srgbClr val="330066"/>
                </a:solidFill>
                <a:latin typeface="Arial"/>
              </a:rPr>
              <a:t>ANSWER 2: CLASS-BASED</a:t>
            </a:r>
          </a:p>
        </p:txBody>
      </p:sp>
      <p:sp>
        <p:nvSpPr>
          <p:cNvPr id="5" name="Rounded Rectangle 4"/>
          <p:cNvSpPr/>
          <p:nvPr/>
        </p:nvSpPr>
        <p:spPr>
          <a:xfrm>
            <a:off x="609904" y="2103120"/>
            <a:ext cx="5303062" cy="2426208"/>
          </a:xfrm>
          <a:prstGeom prst="roundRect">
            <a:avLst>
              <a:gd name="adj" fmla="val 301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49424"/>
            <a:ext cx="4900726" cy="2133600"/>
          </a:xfrm>
          <a:prstGeom prst="rect">
            <a:avLst/>
          </a:prstGeom>
          <a:noFill/>
        </p:spPr>
        <p:txBody>
          <a:bodyPr wrap="square" lIns="0" tIns="0" rIns="0" bIns="0">
            <a:spAutoFit/>
          </a:bodyPr>
          <a:lstStyle/>
          <a:p>
            <a:pPr algn="l">
              <a:lnSpc>
                <a:spcPct val="100000"/>
              </a:lnSpc>
            </a:pPr>
            <a:r>
              <a:rPr sz="1000">
                <a:solidFill>
                  <a:srgbClr val="1A1A1A"/>
                </a:solidFill>
                <a:latin typeface="Courier New"/>
              </a:rPr>
              <a:t>import time</a:t>
            </a:r>
          </a:p>
          <a:p>
            <a:pPr algn="l">
              <a:lnSpc>
                <a:spcPct val="100000"/>
              </a:lnSpc>
            </a:pPr>
            <a:r>
              <a:rPr sz="1000">
                <a:solidFill>
                  <a:srgbClr val="1A1A1A"/>
                </a:solidFill>
                <a:latin typeface="Courier New"/>
              </a:rPr>
              <a:t> </a:t>
            </a:r>
          </a:p>
          <a:p>
            <a:pPr algn="l">
              <a:lnSpc>
                <a:spcPct val="100000"/>
              </a:lnSpc>
            </a:pPr>
            <a:r>
              <a:rPr sz="1000">
                <a:solidFill>
                  <a:srgbClr val="1A1A1A"/>
                </a:solidFill>
                <a:latin typeface="Courier New"/>
              </a:rPr>
              <a:t>class CountingBlock:</a:t>
            </a:r>
          </a:p>
          <a:p>
            <a:pPr algn="l">
              <a:lnSpc>
                <a:spcPct val="100000"/>
              </a:lnSpc>
            </a:pPr>
            <a:r>
              <a:rPr sz="1000">
                <a:solidFill>
                  <a:srgbClr val="1A1A1A"/>
                </a:solidFill>
                <a:latin typeface="Courier New"/>
              </a:rPr>
              <a:t>    def __enter__(self):</a:t>
            </a:r>
          </a:p>
          <a:p>
            <a:pPr algn="l">
              <a:lnSpc>
                <a:spcPct val="100000"/>
              </a:lnSpc>
            </a:pPr>
            <a:r>
              <a:rPr sz="1000">
                <a:solidFill>
                  <a:srgbClr val="1A1A1A"/>
                </a:solidFill>
                <a:latin typeface="Courier New"/>
              </a:rPr>
              <a:t>        print("start")</a:t>
            </a:r>
          </a:p>
          <a:p>
            <a:pPr algn="l">
              <a:lnSpc>
                <a:spcPct val="100000"/>
              </a:lnSpc>
            </a:pPr>
            <a:r>
              <a:rPr sz="1000">
                <a:solidFill>
                  <a:srgbClr val="1A1A1A"/>
                </a:solidFill>
                <a:latin typeface="Courier New"/>
              </a:rPr>
              <a:t>        self.begin = time.perf_counter()</a:t>
            </a:r>
          </a:p>
          <a:p>
            <a:pPr algn="l">
              <a:lnSpc>
                <a:spcPct val="100000"/>
              </a:lnSpc>
            </a:pPr>
            <a:r>
              <a:rPr sz="1000">
                <a:solidFill>
                  <a:srgbClr val="1A1A1A"/>
                </a:solidFill>
                <a:latin typeface="Courier New"/>
              </a:rPr>
              <a:t>        return self</a:t>
            </a:r>
          </a:p>
          <a:p>
            <a:pPr algn="l">
              <a:lnSpc>
                <a:spcPct val="100000"/>
              </a:lnSpc>
            </a:pPr>
            <a:r>
              <a:rPr sz="1000">
                <a:solidFill>
                  <a:srgbClr val="1A1A1A"/>
                </a:solidFill>
                <a:latin typeface="Courier New"/>
              </a:rPr>
              <a:t> </a:t>
            </a:r>
          </a:p>
          <a:p>
            <a:pPr algn="l">
              <a:lnSpc>
                <a:spcPct val="100000"/>
              </a:lnSpc>
            </a:pPr>
            <a:r>
              <a:rPr sz="1000">
                <a:solidFill>
                  <a:srgbClr val="1A1A1A"/>
                </a:solidFill>
                <a:latin typeface="Courier New"/>
              </a:rPr>
              <a:t>    def __exit__(self, exc_type, exc_value, traceback):</a:t>
            </a:r>
          </a:p>
          <a:p>
            <a:pPr algn="l">
              <a:lnSpc>
                <a:spcPct val="100000"/>
              </a:lnSpc>
            </a:pPr>
            <a:r>
              <a:rPr sz="1000">
                <a:solidFill>
                  <a:srgbClr val="1A1A1A"/>
                </a:solidFill>
                <a:latin typeface="Courier New"/>
              </a:rPr>
              <a:t>        print(f"end ({time.perf_counter() - self.begin:.2f}s)")</a:t>
            </a:r>
          </a:p>
          <a:p>
            <a:pPr algn="l">
              <a:lnSpc>
                <a:spcPct val="100000"/>
              </a:lnSpc>
            </a:pPr>
            <a:r>
              <a:rPr sz="1000">
                <a:solidFill>
                  <a:srgbClr val="1A1A1A"/>
                </a:solidFill>
                <a:latin typeface="Courier New"/>
              </a:rPr>
              <a:t>        return False</a:t>
            </a:r>
          </a:p>
          <a:p>
            <a:pPr algn="l">
              <a:lnSpc>
                <a:spcPct val="100000"/>
              </a:lnSpc>
            </a:pPr>
            <a:r>
              <a:rPr sz="1000">
                <a:solidFill>
                  <a:srgbClr val="1A1A1A"/>
                </a:solidFill>
                <a:latin typeface="Courier New"/>
              </a:rPr>
              <a:t> </a:t>
            </a:r>
          </a:p>
          <a:p>
            <a:pPr algn="l">
              <a:lnSpc>
                <a:spcPct val="100000"/>
              </a:lnSpc>
            </a:pPr>
            <a:r>
              <a:rPr sz="1000">
                <a:solidFill>
                  <a:srgbClr val="1A1A1A"/>
                </a:solidFill>
                <a:latin typeface="Courier New"/>
              </a:rPr>
              <a:t>with CountingBlock():</a:t>
            </a:r>
          </a:p>
          <a:p>
            <a:pPr algn="l">
              <a:lnSpc>
                <a:spcPct val="100000"/>
              </a:lnSpc>
            </a:pPr>
            <a:r>
              <a:rPr sz="1000">
                <a:solidFill>
                  <a:srgbClr val="1A1A1A"/>
                </a:solidFill>
                <a:latin typeface="Courier New"/>
              </a:rPr>
              <a:t>    time.sleep(0.1)</a:t>
            </a:r>
          </a:p>
        </p:txBody>
      </p:sp>
      <p:sp>
        <p:nvSpPr>
          <p:cNvPr id="7" name="TextBox 6"/>
          <p:cNvSpPr txBox="1"/>
          <p:nvPr/>
        </p:nvSpPr>
        <p:spPr>
          <a:xfrm>
            <a:off x="6278727" y="1783080"/>
            <a:ext cx="3657600" cy="256032"/>
          </a:xfrm>
          <a:prstGeom prst="rect">
            <a:avLst/>
          </a:prstGeom>
          <a:noFill/>
        </p:spPr>
        <p:txBody>
          <a:bodyPr wrap="square" lIns="0" tIns="0" rIns="0" bIns="0">
            <a:spAutoFit/>
          </a:bodyPr>
          <a:lstStyle/>
          <a:p>
            <a:pPr algn="l"/>
            <a:r>
              <a:rPr sz="1100" b="1">
                <a:solidFill>
                  <a:srgbClr val="330066"/>
                </a:solidFill>
                <a:latin typeface="Arial"/>
              </a:rPr>
              <a:t>ANSWER 3: GENERATOR-BASED</a:t>
            </a:r>
          </a:p>
        </p:txBody>
      </p:sp>
      <p:sp>
        <p:nvSpPr>
          <p:cNvPr id="8" name="Rounded Rectangle 7"/>
          <p:cNvSpPr/>
          <p:nvPr/>
        </p:nvSpPr>
        <p:spPr>
          <a:xfrm>
            <a:off x="6278727" y="2103120"/>
            <a:ext cx="5303062" cy="2639568"/>
          </a:xfrm>
          <a:prstGeom prst="roundRect">
            <a:avLst>
              <a:gd name="adj" fmla="val 277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79895" y="2249424"/>
            <a:ext cx="4900726" cy="2346960"/>
          </a:xfrm>
          <a:prstGeom prst="rect">
            <a:avLst/>
          </a:prstGeom>
          <a:noFill/>
        </p:spPr>
        <p:txBody>
          <a:bodyPr wrap="square" lIns="0" tIns="0" rIns="0" bIns="0">
            <a:spAutoFit/>
          </a:bodyPr>
          <a:lstStyle/>
          <a:p>
            <a:pPr algn="l">
              <a:lnSpc>
                <a:spcPct val="100000"/>
              </a:lnSpc>
            </a:pPr>
            <a:r>
              <a:rPr sz="1100">
                <a:solidFill>
                  <a:srgbClr val="1A1A1A"/>
                </a:solidFill>
                <a:latin typeface="Courier New"/>
              </a:rPr>
              <a:t>import time</a:t>
            </a:r>
          </a:p>
          <a:p>
            <a:pPr algn="l">
              <a:lnSpc>
                <a:spcPct val="100000"/>
              </a:lnSpc>
            </a:pPr>
            <a:r>
              <a:rPr sz="1100">
                <a:solidFill>
                  <a:srgbClr val="1A1A1A"/>
                </a:solidFill>
                <a:latin typeface="Courier New"/>
              </a:rPr>
              <a:t>from contextlib import contextmanager</a:t>
            </a:r>
          </a:p>
          <a:p>
            <a:pPr algn="l">
              <a:lnSpc>
                <a:spcPct val="100000"/>
              </a:lnSpc>
            </a:pPr>
            <a:r>
              <a:rPr sz="1100">
                <a:solidFill>
                  <a:srgbClr val="1A1A1A"/>
                </a:solidFill>
                <a:latin typeface="Courier New"/>
              </a:rPr>
              <a:t> </a:t>
            </a:r>
          </a:p>
          <a:p>
            <a:pPr algn="l">
              <a:lnSpc>
                <a:spcPct val="100000"/>
              </a:lnSpc>
            </a:pPr>
            <a:r>
              <a:rPr sz="1100">
                <a:solidFill>
                  <a:srgbClr val="1A1A1A"/>
                </a:solidFill>
                <a:latin typeface="Courier New"/>
              </a:rPr>
              <a:t>@contextmanager</a:t>
            </a:r>
          </a:p>
          <a:p>
            <a:pPr algn="l">
              <a:lnSpc>
                <a:spcPct val="100000"/>
              </a:lnSpc>
            </a:pPr>
            <a:r>
              <a:rPr sz="1100">
                <a:solidFill>
                  <a:srgbClr val="1A1A1A"/>
                </a:solidFill>
                <a:latin typeface="Courier New"/>
              </a:rPr>
              <a:t>def counting_block():</a:t>
            </a:r>
          </a:p>
          <a:p>
            <a:pPr algn="l">
              <a:lnSpc>
                <a:spcPct val="100000"/>
              </a:lnSpc>
            </a:pPr>
            <a:r>
              <a:rPr sz="1100">
                <a:solidFill>
                  <a:srgbClr val="1A1A1A"/>
                </a:solidFill>
                <a:latin typeface="Courier New"/>
              </a:rPr>
              <a:t>    print("start")</a:t>
            </a:r>
          </a:p>
          <a:p>
            <a:pPr algn="l">
              <a:lnSpc>
                <a:spcPct val="100000"/>
              </a:lnSpc>
            </a:pPr>
            <a:r>
              <a:rPr sz="1100">
                <a:solidFill>
                  <a:srgbClr val="1A1A1A"/>
                </a:solidFill>
                <a:latin typeface="Courier New"/>
              </a:rPr>
              <a:t>    begin = time.perf_counter()</a:t>
            </a:r>
          </a:p>
          <a:p>
            <a:pPr algn="l">
              <a:lnSpc>
                <a:spcPct val="100000"/>
              </a:lnSpc>
            </a:pPr>
            <a:r>
              <a:rPr sz="1100">
                <a:solidFill>
                  <a:srgbClr val="1A1A1A"/>
                </a:solidFill>
                <a:latin typeface="Courier New"/>
              </a:rPr>
              <a:t>    try:</a:t>
            </a:r>
          </a:p>
          <a:p>
            <a:pPr algn="l">
              <a:lnSpc>
                <a:spcPct val="100000"/>
              </a:lnSpc>
            </a:pPr>
            <a:r>
              <a:rPr sz="1100">
                <a:solidFill>
                  <a:srgbClr val="1A1A1A"/>
                </a:solidFill>
                <a:latin typeface="Courier New"/>
              </a:rPr>
              <a:t>        yield</a:t>
            </a:r>
          </a:p>
          <a:p>
            <a:pPr algn="l">
              <a:lnSpc>
                <a:spcPct val="100000"/>
              </a:lnSpc>
            </a:pPr>
            <a:r>
              <a:rPr sz="1100">
                <a:solidFill>
                  <a:srgbClr val="1A1A1A"/>
                </a:solidFill>
                <a:latin typeface="Courier New"/>
              </a:rPr>
              <a:t>    finally:</a:t>
            </a:r>
          </a:p>
          <a:p>
            <a:pPr algn="l">
              <a:lnSpc>
                <a:spcPct val="100000"/>
              </a:lnSpc>
            </a:pPr>
            <a:r>
              <a:rPr sz="1100">
                <a:solidFill>
                  <a:srgbClr val="1A1A1A"/>
                </a:solidFill>
                <a:latin typeface="Courier New"/>
              </a:rPr>
              <a:t>        print(f"end ({time.perf_counter() - begin:.2f}s)")</a:t>
            </a:r>
          </a:p>
          <a:p>
            <a:pPr algn="l">
              <a:lnSpc>
                <a:spcPct val="100000"/>
              </a:lnSpc>
            </a:pPr>
            <a:r>
              <a:rPr sz="1100">
                <a:solidFill>
                  <a:srgbClr val="1A1A1A"/>
                </a:solidFill>
                <a:latin typeface="Courier New"/>
              </a:rPr>
              <a:t> </a:t>
            </a:r>
          </a:p>
          <a:p>
            <a:pPr algn="l">
              <a:lnSpc>
                <a:spcPct val="100000"/>
              </a:lnSpc>
            </a:pPr>
            <a:r>
              <a:rPr sz="1100">
                <a:solidFill>
                  <a:srgbClr val="1A1A1A"/>
                </a:solidFill>
                <a:latin typeface="Courier New"/>
              </a:rPr>
              <a:t>with counting_block():</a:t>
            </a:r>
          </a:p>
          <a:p>
            <a:pPr algn="l">
              <a:lnSpc>
                <a:spcPct val="100000"/>
              </a:lnSpc>
            </a:pPr>
            <a:r>
              <a:rPr sz="1100">
                <a:solidFill>
                  <a:srgbClr val="1A1A1A"/>
                </a:solidFill>
                <a:latin typeface="Courier New"/>
              </a:rPr>
              <a:t>    time.sleep(0.1)</a:t>
            </a:r>
          </a:p>
        </p:txBody>
      </p:sp>
      <p:sp>
        <p:nvSpPr>
          <p:cNvPr id="10" name="TextBox 9"/>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43 / 49</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Answers 4 and 5</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PRACTICE</a:t>
            </a:r>
          </a:p>
        </p:txBody>
      </p:sp>
      <p:sp>
        <p:nvSpPr>
          <p:cNvPr id="4" name="TextBox 3"/>
          <p:cNvSpPr txBox="1"/>
          <p:nvPr/>
        </p:nvSpPr>
        <p:spPr>
          <a:xfrm>
            <a:off x="609904" y="1783080"/>
            <a:ext cx="3657600" cy="256032"/>
          </a:xfrm>
          <a:prstGeom prst="rect">
            <a:avLst/>
          </a:prstGeom>
          <a:noFill/>
        </p:spPr>
        <p:txBody>
          <a:bodyPr wrap="square" lIns="0" tIns="0" rIns="0" bIns="0">
            <a:spAutoFit/>
          </a:bodyPr>
          <a:lstStyle/>
          <a:p>
            <a:pPr algn="l"/>
            <a:r>
              <a:rPr sz="1100" b="1">
                <a:solidFill>
                  <a:srgbClr val="330066"/>
                </a:solidFill>
                <a:latin typeface="Arial"/>
              </a:rPr>
              <a:t>ANSWER 4</a:t>
            </a:r>
          </a:p>
        </p:txBody>
      </p:sp>
      <p:sp>
        <p:nvSpPr>
          <p:cNvPr id="5" name="Rounded Rectangle 4"/>
          <p:cNvSpPr/>
          <p:nvPr/>
        </p:nvSpPr>
        <p:spPr>
          <a:xfrm>
            <a:off x="609904" y="2103120"/>
            <a:ext cx="5303062" cy="3401567"/>
          </a:xfrm>
          <a:prstGeom prst="roundRect">
            <a:avLst>
              <a:gd name="adj" fmla="val 2150"/>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49424"/>
            <a:ext cx="4900726" cy="3108959"/>
          </a:xfrm>
          <a:prstGeom prst="rect">
            <a:avLst/>
          </a:prstGeom>
          <a:noFill/>
        </p:spPr>
        <p:txBody>
          <a:bodyPr wrap="square" lIns="0" tIns="0" rIns="0" bIns="0">
            <a:spAutoFit/>
          </a:bodyPr>
          <a:lstStyle/>
          <a:p>
            <a:pPr algn="l">
              <a:lnSpc>
                <a:spcPct val="100000"/>
              </a:lnSpc>
            </a:pPr>
            <a:r>
              <a:rPr sz="1200">
                <a:solidFill>
                  <a:srgbClr val="1A1A1A"/>
                </a:solidFill>
                <a:latin typeface="Courier New"/>
              </a:rPr>
              <a:t>import os</a:t>
            </a:r>
          </a:p>
          <a:p>
            <a:pPr algn="l">
              <a:lnSpc>
                <a:spcPct val="100000"/>
              </a:lnSpc>
            </a:pPr>
            <a:r>
              <a:rPr sz="1200">
                <a:solidFill>
                  <a:srgbClr val="1A1A1A"/>
                </a:solidFill>
                <a:latin typeface="Courier New"/>
              </a:rPr>
              <a:t>import tempfile</a:t>
            </a:r>
          </a:p>
          <a:p>
            <a:pPr algn="l">
              <a:lnSpc>
                <a:spcPct val="100000"/>
              </a:lnSpc>
            </a:pPr>
            <a:r>
              <a:rPr sz="1200">
                <a:solidFill>
                  <a:srgbClr val="1A1A1A"/>
                </a:solidFill>
                <a:latin typeface="Courier New"/>
              </a:rPr>
              <a:t>from contextlib import contextmanager</a:t>
            </a:r>
          </a:p>
          <a:p>
            <a:pPr algn="l">
              <a:lnSpc>
                <a:spcPct val="100000"/>
              </a:lnSpc>
            </a:pPr>
            <a:r>
              <a:rPr sz="1200">
                <a:solidFill>
                  <a:srgbClr val="1A1A1A"/>
                </a:solidFill>
                <a:latin typeface="Courier New"/>
              </a:rPr>
              <a:t> </a:t>
            </a:r>
          </a:p>
          <a:p>
            <a:pPr algn="l">
              <a:lnSpc>
                <a:spcPct val="100000"/>
              </a:lnSpc>
            </a:pPr>
            <a:r>
              <a:rPr sz="1200">
                <a:solidFill>
                  <a:srgbClr val="1A1A1A"/>
                </a:solidFill>
                <a:latin typeface="Courier New"/>
              </a:rPr>
              <a:t>@contextmanager</a:t>
            </a:r>
          </a:p>
          <a:p>
            <a:pPr algn="l">
              <a:lnSpc>
                <a:spcPct val="100000"/>
              </a:lnSpc>
            </a:pPr>
            <a:r>
              <a:rPr sz="1200">
                <a:solidFill>
                  <a:srgbClr val="1A1A1A"/>
                </a:solidFill>
                <a:latin typeface="Courier New"/>
              </a:rPr>
              <a:t>def working_directory(path):</a:t>
            </a:r>
          </a:p>
          <a:p>
            <a:pPr algn="l">
              <a:lnSpc>
                <a:spcPct val="100000"/>
              </a:lnSpc>
            </a:pPr>
            <a:r>
              <a:rPr sz="1200">
                <a:solidFill>
                  <a:srgbClr val="1A1A1A"/>
                </a:solidFill>
                <a:latin typeface="Courier New"/>
              </a:rPr>
              <a:t>    previous = os.getcwd()</a:t>
            </a:r>
          </a:p>
          <a:p>
            <a:pPr algn="l">
              <a:lnSpc>
                <a:spcPct val="100000"/>
              </a:lnSpc>
            </a:pPr>
            <a:r>
              <a:rPr sz="1200">
                <a:solidFill>
                  <a:srgbClr val="1A1A1A"/>
                </a:solidFill>
                <a:latin typeface="Courier New"/>
              </a:rPr>
              <a:t>    os.chdir(path)</a:t>
            </a:r>
          </a:p>
          <a:p>
            <a:pPr algn="l">
              <a:lnSpc>
                <a:spcPct val="100000"/>
              </a:lnSpc>
            </a:pPr>
            <a:r>
              <a:rPr sz="1200">
                <a:solidFill>
                  <a:srgbClr val="1A1A1A"/>
                </a:solidFill>
                <a:latin typeface="Courier New"/>
              </a:rPr>
              <a:t>    try:</a:t>
            </a:r>
          </a:p>
          <a:p>
            <a:pPr algn="l">
              <a:lnSpc>
                <a:spcPct val="100000"/>
              </a:lnSpc>
            </a:pPr>
            <a:r>
              <a:rPr sz="1200">
                <a:solidFill>
                  <a:srgbClr val="1A1A1A"/>
                </a:solidFill>
                <a:latin typeface="Courier New"/>
              </a:rPr>
              <a:t>        yield</a:t>
            </a:r>
          </a:p>
          <a:p>
            <a:pPr algn="l">
              <a:lnSpc>
                <a:spcPct val="100000"/>
              </a:lnSpc>
            </a:pPr>
            <a:r>
              <a:rPr sz="1200">
                <a:solidFill>
                  <a:srgbClr val="1A1A1A"/>
                </a:solidFill>
                <a:latin typeface="Courier New"/>
              </a:rPr>
              <a:t>    finally:</a:t>
            </a:r>
          </a:p>
          <a:p>
            <a:pPr algn="l">
              <a:lnSpc>
                <a:spcPct val="100000"/>
              </a:lnSpc>
            </a:pPr>
            <a:r>
              <a:rPr sz="1200">
                <a:solidFill>
                  <a:srgbClr val="1A1A1A"/>
                </a:solidFill>
                <a:latin typeface="Courier New"/>
              </a:rPr>
              <a:t>        os.chdir(previous)</a:t>
            </a:r>
          </a:p>
          <a:p>
            <a:pPr algn="l">
              <a:lnSpc>
                <a:spcPct val="100000"/>
              </a:lnSpc>
            </a:pPr>
            <a:r>
              <a:rPr sz="1200">
                <a:solidFill>
                  <a:srgbClr val="1A1A1A"/>
                </a:solidFill>
                <a:latin typeface="Courier New"/>
              </a:rPr>
              <a:t> </a:t>
            </a:r>
          </a:p>
          <a:p>
            <a:pPr algn="l">
              <a:lnSpc>
                <a:spcPct val="100000"/>
              </a:lnSpc>
            </a:pPr>
            <a:r>
              <a:rPr sz="1200">
                <a:solidFill>
                  <a:srgbClr val="1A1A1A"/>
                </a:solidFill>
                <a:latin typeface="Courier New"/>
              </a:rPr>
              <a:t>print("before:", os.getcwd())</a:t>
            </a:r>
          </a:p>
          <a:p>
            <a:pPr algn="l">
              <a:lnSpc>
                <a:spcPct val="100000"/>
              </a:lnSpc>
            </a:pPr>
            <a:r>
              <a:rPr sz="1200">
                <a:solidFill>
                  <a:srgbClr val="1A1A1A"/>
                </a:solidFill>
                <a:latin typeface="Courier New"/>
              </a:rPr>
              <a:t>with working_directory(tempfile.gettempdir()):</a:t>
            </a:r>
          </a:p>
          <a:p>
            <a:pPr algn="l">
              <a:lnSpc>
                <a:spcPct val="100000"/>
              </a:lnSpc>
            </a:pPr>
            <a:r>
              <a:rPr sz="1200">
                <a:solidFill>
                  <a:srgbClr val="1A1A1A"/>
                </a:solidFill>
                <a:latin typeface="Courier New"/>
              </a:rPr>
              <a:t>    print("inside:", os.getcwd())</a:t>
            </a:r>
          </a:p>
          <a:p>
            <a:pPr algn="l">
              <a:lnSpc>
                <a:spcPct val="100000"/>
              </a:lnSpc>
            </a:pPr>
            <a:r>
              <a:rPr sz="1200">
                <a:solidFill>
                  <a:srgbClr val="1A1A1A"/>
                </a:solidFill>
                <a:latin typeface="Courier New"/>
              </a:rPr>
              <a:t>print("after :", os.getcwd())</a:t>
            </a:r>
          </a:p>
        </p:txBody>
      </p:sp>
      <p:sp>
        <p:nvSpPr>
          <p:cNvPr id="7" name="TextBox 6"/>
          <p:cNvSpPr txBox="1"/>
          <p:nvPr/>
        </p:nvSpPr>
        <p:spPr>
          <a:xfrm>
            <a:off x="6278727" y="1783080"/>
            <a:ext cx="3657600" cy="256032"/>
          </a:xfrm>
          <a:prstGeom prst="rect">
            <a:avLst/>
          </a:prstGeom>
          <a:noFill/>
        </p:spPr>
        <p:txBody>
          <a:bodyPr wrap="square" lIns="0" tIns="0" rIns="0" bIns="0">
            <a:spAutoFit/>
          </a:bodyPr>
          <a:lstStyle/>
          <a:p>
            <a:pPr algn="l"/>
            <a:r>
              <a:rPr sz="1100" b="1">
                <a:solidFill>
                  <a:srgbClr val="330066"/>
                </a:solidFill>
                <a:latin typeface="Arial"/>
              </a:rPr>
              <a:t>ANSWER 5</a:t>
            </a:r>
          </a:p>
        </p:txBody>
      </p:sp>
      <p:sp>
        <p:nvSpPr>
          <p:cNvPr id="8" name="Rounded Rectangle 7"/>
          <p:cNvSpPr/>
          <p:nvPr/>
        </p:nvSpPr>
        <p:spPr>
          <a:xfrm>
            <a:off x="6278727" y="2103120"/>
            <a:ext cx="5303062" cy="1389888"/>
          </a:xfrm>
          <a:prstGeom prst="roundRect">
            <a:avLst>
              <a:gd name="adj" fmla="val 5263"/>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79895" y="2249424"/>
            <a:ext cx="4900726" cy="1097280"/>
          </a:xfrm>
          <a:prstGeom prst="rect">
            <a:avLst/>
          </a:prstGeom>
          <a:noFill/>
        </p:spPr>
        <p:txBody>
          <a:bodyPr wrap="square" lIns="0" tIns="0" rIns="0" bIns="0">
            <a:spAutoFit/>
          </a:bodyPr>
          <a:lstStyle/>
          <a:p>
            <a:pPr algn="l">
              <a:lnSpc>
                <a:spcPct val="100000"/>
              </a:lnSpc>
            </a:pPr>
            <a:r>
              <a:rPr sz="1200">
                <a:solidFill>
                  <a:srgbClr val="1A1A1A"/>
                </a:solidFill>
                <a:latin typeface="Courier New"/>
              </a:rPr>
              <a:t>import os</a:t>
            </a:r>
          </a:p>
          <a:p>
            <a:pPr algn="l">
              <a:lnSpc>
                <a:spcPct val="100000"/>
              </a:lnSpc>
            </a:pPr>
            <a:r>
              <a:rPr sz="1200">
                <a:solidFill>
                  <a:srgbClr val="1A1A1A"/>
                </a:solidFill>
                <a:latin typeface="Courier New"/>
              </a:rPr>
              <a:t>from contextlib import suppress</a:t>
            </a:r>
          </a:p>
          <a:p>
            <a:pPr algn="l">
              <a:lnSpc>
                <a:spcPct val="100000"/>
              </a:lnSpc>
            </a:pPr>
            <a:r>
              <a:rPr sz="1200">
                <a:solidFill>
                  <a:srgbClr val="1A1A1A"/>
                </a:solidFill>
                <a:latin typeface="Courier New"/>
              </a:rPr>
              <a:t> </a:t>
            </a:r>
          </a:p>
          <a:p>
            <a:pPr algn="l">
              <a:lnSpc>
                <a:spcPct val="100000"/>
              </a:lnSpc>
            </a:pPr>
            <a:r>
              <a:rPr sz="1200">
                <a:solidFill>
                  <a:srgbClr val="1A1A1A"/>
                </a:solidFill>
                <a:latin typeface="Courier New"/>
              </a:rPr>
              <a:t>def try_delete(path):</a:t>
            </a:r>
          </a:p>
          <a:p>
            <a:pPr algn="l">
              <a:lnSpc>
                <a:spcPct val="100000"/>
              </a:lnSpc>
            </a:pPr>
            <a:r>
              <a:rPr sz="1200">
                <a:solidFill>
                  <a:srgbClr val="1A1A1A"/>
                </a:solidFill>
                <a:latin typeface="Courier New"/>
              </a:rPr>
              <a:t>    with suppress(FileNotFoundError):</a:t>
            </a:r>
          </a:p>
          <a:p>
            <a:pPr algn="l">
              <a:lnSpc>
                <a:spcPct val="100000"/>
              </a:lnSpc>
            </a:pPr>
            <a:r>
              <a:rPr sz="1200">
                <a:solidFill>
                  <a:srgbClr val="1A1A1A"/>
                </a:solidFill>
                <a:latin typeface="Courier New"/>
              </a:rPr>
              <a:t>        os.remove(path)</a:t>
            </a:r>
          </a:p>
        </p:txBody>
      </p:sp>
      <p:sp>
        <p:nvSpPr>
          <p:cNvPr id="10" name="TextBox 9"/>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44 / 49</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Answer 6</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PRACTICE</a:t>
            </a:r>
          </a:p>
        </p:txBody>
      </p:sp>
      <p:sp>
        <p:nvSpPr>
          <p:cNvPr id="4" name="Rounded Rectangle 3"/>
          <p:cNvSpPr/>
          <p:nvPr/>
        </p:nvSpPr>
        <p:spPr>
          <a:xfrm>
            <a:off x="609904" y="1783080"/>
            <a:ext cx="10971885" cy="3721608"/>
          </a:xfrm>
          <a:prstGeom prst="roundRect">
            <a:avLst>
              <a:gd name="adj" fmla="val 196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10569549" cy="3429000"/>
          </a:xfrm>
          <a:prstGeom prst="rect">
            <a:avLst/>
          </a:prstGeom>
          <a:noFill/>
        </p:spPr>
        <p:txBody>
          <a:bodyPr wrap="square" lIns="0" tIns="0" rIns="0" bIns="0">
            <a:spAutoFit/>
          </a:bodyPr>
          <a:lstStyle/>
          <a:p>
            <a:pPr algn="l">
              <a:lnSpc>
                <a:spcPct val="100000"/>
              </a:lnSpc>
            </a:pPr>
            <a:r>
              <a:rPr sz="1250">
                <a:solidFill>
                  <a:srgbClr val="1A1A1A"/>
                </a:solidFill>
                <a:latin typeface="Courier New"/>
              </a:rPr>
              <a:t>class Retryable:</a:t>
            </a:r>
          </a:p>
          <a:p>
            <a:pPr algn="l">
              <a:lnSpc>
                <a:spcPct val="100000"/>
              </a:lnSpc>
            </a:pPr>
            <a:r>
              <a:rPr sz="1250">
                <a:solidFill>
                  <a:srgbClr val="1A1A1A"/>
                </a:solidFill>
                <a:latin typeface="Courier New"/>
              </a:rPr>
              <a:t>    def __enter__(self):</a:t>
            </a:r>
          </a:p>
          <a:p>
            <a:pPr algn="l">
              <a:lnSpc>
                <a:spcPct val="100000"/>
              </a:lnSpc>
            </a:pPr>
            <a:r>
              <a:rPr sz="1250">
                <a:solidFill>
                  <a:srgbClr val="1A1A1A"/>
                </a:solidFill>
                <a:latin typeface="Courier New"/>
              </a:rPr>
              <a:t>        return self</a:t>
            </a:r>
          </a:p>
          <a:p>
            <a:pPr algn="l">
              <a:lnSpc>
                <a:spcPct val="100000"/>
              </a:lnSpc>
            </a:pPr>
            <a:r>
              <a:rPr sz="1250">
                <a:solidFill>
                  <a:srgbClr val="1A1A1A"/>
                </a:solidFill>
                <a:latin typeface="Courier New"/>
              </a:rPr>
              <a:t>    def __exit__(self, exc_type, exc_value, traceback):</a:t>
            </a:r>
          </a:p>
          <a:p>
            <a:pPr algn="l">
              <a:lnSpc>
                <a:spcPct val="100000"/>
              </a:lnSpc>
            </a:pPr>
            <a:r>
              <a:rPr sz="1250">
                <a:solidFill>
                  <a:srgbClr val="1A1A1A"/>
                </a:solidFill>
                <a:latin typeface="Courier New"/>
              </a:rPr>
              <a:t>        if exc_type is not None and issubclass(exc_type, ConnectionError):</a:t>
            </a:r>
          </a:p>
          <a:p>
            <a:pPr algn="l">
              <a:lnSpc>
                <a:spcPct val="100000"/>
              </a:lnSpc>
            </a:pPr>
            <a:r>
              <a:rPr sz="1250">
                <a:solidFill>
                  <a:srgbClr val="1A1A1A"/>
                </a:solidFill>
                <a:latin typeface="Courier New"/>
              </a:rPr>
              <a:t>            print("network blip ignored")</a:t>
            </a:r>
          </a:p>
          <a:p>
            <a:pPr algn="l">
              <a:lnSpc>
                <a:spcPct val="100000"/>
              </a:lnSpc>
            </a:pPr>
            <a:r>
              <a:rPr sz="1250">
                <a:solidFill>
                  <a:srgbClr val="1A1A1A"/>
                </a:solidFill>
                <a:latin typeface="Courier New"/>
              </a:rPr>
              <a:t>            return True</a:t>
            </a:r>
          </a:p>
          <a:p>
            <a:pPr algn="l">
              <a:lnSpc>
                <a:spcPct val="100000"/>
              </a:lnSpc>
            </a:pPr>
            <a:r>
              <a:rPr sz="1250">
                <a:solidFill>
                  <a:srgbClr val="1A1A1A"/>
                </a:solidFill>
                <a:latin typeface="Courier New"/>
              </a:rPr>
              <a:t>        return False</a:t>
            </a:r>
          </a:p>
          <a:p>
            <a:pPr algn="l">
              <a:lnSpc>
                <a:spcPct val="100000"/>
              </a:lnSpc>
            </a:pPr>
            <a:r>
              <a:rPr sz="1250">
                <a:solidFill>
                  <a:srgbClr val="1A1A1A"/>
                </a:solidFill>
                <a:latin typeface="Courier New"/>
              </a:rPr>
              <a:t> </a:t>
            </a:r>
          </a:p>
          <a:p>
            <a:pPr algn="l">
              <a:lnSpc>
                <a:spcPct val="100000"/>
              </a:lnSpc>
            </a:pPr>
            <a:r>
              <a:rPr sz="1250">
                <a:solidFill>
                  <a:srgbClr val="1A1A1A"/>
                </a:solidFill>
                <a:latin typeface="Courier New"/>
              </a:rPr>
              <a:t>with Retryable():</a:t>
            </a:r>
          </a:p>
          <a:p>
            <a:pPr algn="l">
              <a:lnSpc>
                <a:spcPct val="100000"/>
              </a:lnSpc>
            </a:pPr>
            <a:r>
              <a:rPr sz="1250">
                <a:solidFill>
                  <a:srgbClr val="1A1A1A"/>
                </a:solidFill>
                <a:latin typeface="Courier New"/>
              </a:rPr>
              <a:t>    raise ConnectionError("dropped")</a:t>
            </a:r>
          </a:p>
          <a:p>
            <a:pPr algn="l">
              <a:lnSpc>
                <a:spcPct val="100000"/>
              </a:lnSpc>
            </a:pPr>
            <a:r>
              <a:rPr sz="1250">
                <a:solidFill>
                  <a:srgbClr val="1A1A1A"/>
                </a:solidFill>
                <a:latin typeface="Courier New"/>
              </a:rPr>
              <a:t>print("continued after ConnectionError")</a:t>
            </a:r>
          </a:p>
          <a:p>
            <a:pPr algn="l">
              <a:lnSpc>
                <a:spcPct val="100000"/>
              </a:lnSpc>
            </a:pPr>
            <a:r>
              <a:rPr sz="1250">
                <a:solidFill>
                  <a:srgbClr val="1A1A1A"/>
                </a:solidFill>
                <a:latin typeface="Courier New"/>
              </a:rPr>
              <a:t> </a:t>
            </a:r>
          </a:p>
          <a:p>
            <a:pPr algn="l">
              <a:lnSpc>
                <a:spcPct val="100000"/>
              </a:lnSpc>
            </a:pPr>
            <a:r>
              <a:rPr sz="1250">
                <a:solidFill>
                  <a:srgbClr val="1A1A1A"/>
                </a:solidFill>
                <a:latin typeface="Courier New"/>
              </a:rPr>
              <a:t>try:</a:t>
            </a:r>
          </a:p>
          <a:p>
            <a:pPr algn="l">
              <a:lnSpc>
                <a:spcPct val="100000"/>
              </a:lnSpc>
            </a:pPr>
            <a:r>
              <a:rPr sz="1250">
                <a:solidFill>
                  <a:srgbClr val="1A1A1A"/>
                </a:solidFill>
                <a:latin typeface="Courier New"/>
              </a:rPr>
              <a:t>    with Retryable():</a:t>
            </a:r>
          </a:p>
          <a:p>
            <a:pPr algn="l">
              <a:lnSpc>
                <a:spcPct val="100000"/>
              </a:lnSpc>
            </a:pPr>
            <a:r>
              <a:rPr sz="1250">
                <a:solidFill>
                  <a:srgbClr val="1A1A1A"/>
                </a:solidFill>
                <a:latin typeface="Courier New"/>
              </a:rPr>
              <a:t>        raise ValueError("real bug")</a:t>
            </a:r>
          </a:p>
          <a:p>
            <a:pPr algn="l">
              <a:lnSpc>
                <a:spcPct val="100000"/>
              </a:lnSpc>
            </a:pPr>
            <a:r>
              <a:rPr sz="1250">
                <a:solidFill>
                  <a:srgbClr val="1A1A1A"/>
                </a:solidFill>
                <a:latin typeface="Courier New"/>
              </a:rPr>
              <a:t>except ValueError as error:</a:t>
            </a:r>
          </a:p>
          <a:p>
            <a:pPr algn="l">
              <a:lnSpc>
                <a:spcPct val="100000"/>
              </a:lnSpc>
            </a:pPr>
            <a:r>
              <a:rPr sz="1250">
                <a:solidFill>
                  <a:srgbClr val="1A1A1A"/>
                </a:solidFill>
                <a:latin typeface="Courier New"/>
              </a:rPr>
              <a:t>    print("ValueError escaped:", error)</a:t>
            </a:r>
          </a:p>
        </p:txBody>
      </p:sp>
      <p:sp>
        <p:nvSpPr>
          <p:cNvPr id="6" name="TextBox 5"/>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45 / 49</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Answer 7</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PRACTICE</a:t>
            </a:r>
          </a:p>
        </p:txBody>
      </p:sp>
      <p:sp>
        <p:nvSpPr>
          <p:cNvPr id="4" name="Rounded Rectangle 3"/>
          <p:cNvSpPr/>
          <p:nvPr/>
        </p:nvSpPr>
        <p:spPr>
          <a:xfrm>
            <a:off x="609904" y="1783080"/>
            <a:ext cx="6400800" cy="1999487"/>
          </a:xfrm>
          <a:prstGeom prst="roundRect">
            <a:avLst>
              <a:gd name="adj" fmla="val 3658"/>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998464" cy="1706879"/>
          </a:xfrm>
          <a:prstGeom prst="rect">
            <a:avLst/>
          </a:prstGeom>
          <a:noFill/>
        </p:spPr>
        <p:txBody>
          <a:bodyPr wrap="square" lIns="0" tIns="0" rIns="0" bIns="0">
            <a:spAutoFit/>
          </a:bodyPr>
          <a:lstStyle/>
          <a:p>
            <a:pPr algn="l">
              <a:lnSpc>
                <a:spcPct val="100000"/>
              </a:lnSpc>
            </a:pPr>
            <a:r>
              <a:rPr sz="1600">
                <a:solidFill>
                  <a:srgbClr val="1A1A1A"/>
                </a:solidFill>
                <a:latin typeface="Courier New"/>
              </a:rPr>
              <a:t>@contextmanager</a:t>
            </a:r>
          </a:p>
          <a:p>
            <a:pPr algn="l">
              <a:lnSpc>
                <a:spcPct val="100000"/>
              </a:lnSpc>
            </a:pPr>
            <a:r>
              <a:rPr sz="1600">
                <a:solidFill>
                  <a:srgbClr val="1A1A1A"/>
                </a:solidFill>
                <a:latin typeface="Courier New"/>
              </a:rPr>
              <a:t>def open_resource():</a:t>
            </a:r>
          </a:p>
          <a:p>
            <a:pPr algn="l">
              <a:lnSpc>
                <a:spcPct val="100000"/>
              </a:lnSpc>
            </a:pPr>
            <a:r>
              <a:rPr sz="1600">
                <a:solidFill>
                  <a:srgbClr val="1A1A1A"/>
                </a:solidFill>
                <a:latin typeface="Courier New"/>
              </a:rPr>
              <a:t>    r = acquire()</a:t>
            </a:r>
          </a:p>
          <a:p>
            <a:pPr algn="l">
              <a:lnSpc>
                <a:spcPct val="100000"/>
              </a:lnSpc>
            </a:pPr>
            <a:r>
              <a:rPr sz="1600">
                <a:solidFill>
                  <a:srgbClr val="1A1A1A"/>
                </a:solidFill>
                <a:latin typeface="Courier New"/>
              </a:rPr>
              <a:t>    try:</a:t>
            </a:r>
          </a:p>
          <a:p>
            <a:pPr algn="l">
              <a:lnSpc>
                <a:spcPct val="100000"/>
              </a:lnSpc>
            </a:pPr>
            <a:r>
              <a:rPr sz="1600">
                <a:solidFill>
                  <a:srgbClr val="1A1A1A"/>
                </a:solidFill>
                <a:latin typeface="Courier New"/>
              </a:rPr>
              <a:t>        yield r</a:t>
            </a:r>
          </a:p>
          <a:p>
            <a:pPr algn="l">
              <a:lnSpc>
                <a:spcPct val="100000"/>
              </a:lnSpc>
            </a:pPr>
            <a:r>
              <a:rPr sz="1600">
                <a:solidFill>
                  <a:srgbClr val="1A1A1A"/>
                </a:solidFill>
                <a:latin typeface="Courier New"/>
              </a:rPr>
              <a:t>    finally:</a:t>
            </a:r>
          </a:p>
          <a:p>
            <a:pPr algn="l">
              <a:lnSpc>
                <a:spcPct val="100000"/>
              </a:lnSpc>
            </a:pPr>
            <a:r>
              <a:rPr sz="1600">
                <a:solidFill>
                  <a:srgbClr val="1A1A1A"/>
                </a:solidFill>
                <a:latin typeface="Courier New"/>
              </a:rPr>
              <a:t>        release(r)</a:t>
            </a:r>
          </a:p>
        </p:txBody>
      </p:sp>
      <p:sp>
        <p:nvSpPr>
          <p:cNvPr id="6" name="TextBox 5"/>
          <p:cNvSpPr txBox="1"/>
          <p:nvPr/>
        </p:nvSpPr>
        <p:spPr>
          <a:xfrm>
            <a:off x="7376464" y="1783080"/>
            <a:ext cx="4205325" cy="4361688"/>
          </a:xfrm>
          <a:prstGeom prst="rect">
            <a:avLst/>
          </a:prstGeom>
          <a:noFill/>
        </p:spPr>
        <p:txBody>
          <a:bodyPr wrap="square" lIns="0" tIns="0" rIns="0" bIns="0">
            <a:spAutoFit/>
          </a:bodyPr>
          <a:lstStyle/>
          <a:p>
            <a:pPr marL="228600" indent="-228600" algn="l">
              <a:spcAft>
                <a:spcPts val="800"/>
              </a:spcAft>
              <a:buFont typeface="Arial"/>
              <a:buChar char="•"/>
            </a:pPr>
            <a:r>
              <a:rPr sz="1600" b="0" i="0">
                <a:solidFill>
                  <a:srgbClr val="1A1A1A"/>
                </a:solidFill>
                <a:latin typeface="Arial"/>
              </a:rPr>
              <a:t>The </a:t>
            </a:r>
            <a:r>
              <a:rPr sz="1550" b="0" i="0">
                <a:solidFill>
                  <a:srgbClr val="330066"/>
                </a:solidFill>
                <a:latin typeface="Courier New"/>
              </a:rPr>
              <a:t>release(r)</a:t>
            </a:r>
            <a:r>
              <a:rPr sz="1600" b="0" i="0">
                <a:solidFill>
                  <a:srgbClr val="1A1A1A"/>
                </a:solidFill>
                <a:latin typeface="Arial"/>
              </a:rPr>
              <a:t> line is skipped when the </a:t>
            </a:r>
            <a:r>
              <a:rPr sz="1550" b="0" i="0">
                <a:solidFill>
                  <a:srgbClr val="330066"/>
                </a:solidFill>
                <a:latin typeface="Courier New"/>
              </a:rPr>
              <a:t>with</a:t>
            </a:r>
            <a:r>
              <a:rPr sz="1600" b="0" i="0">
                <a:solidFill>
                  <a:srgbClr val="1A1A1A"/>
                </a:solidFill>
                <a:latin typeface="Arial"/>
              </a:rPr>
              <a:t> block raises, because the exception is re-raised at the </a:t>
            </a:r>
            <a:r>
              <a:rPr sz="1550" b="0" i="0">
                <a:solidFill>
                  <a:srgbClr val="330066"/>
                </a:solidFill>
                <a:latin typeface="Courier New"/>
              </a:rPr>
              <a:t>yield</a:t>
            </a:r>
            <a:r>
              <a:rPr sz="1600" b="0" i="0">
                <a:solidFill>
                  <a:srgbClr val="1A1A1A"/>
                </a:solidFill>
                <a:latin typeface="Arial"/>
              </a:rPr>
              <a:t>.</a:t>
            </a:r>
          </a:p>
          <a:p>
            <a:pPr marL="228600" indent="-228600" algn="l">
              <a:spcAft>
                <a:spcPts val="800"/>
              </a:spcAft>
              <a:buFont typeface="Arial"/>
              <a:buChar char="•"/>
            </a:pPr>
            <a:r>
              <a:rPr sz="1600" b="0" i="0">
                <a:solidFill>
                  <a:srgbClr val="1A1A1A"/>
                </a:solidFill>
                <a:latin typeface="Arial"/>
              </a:rPr>
              <a:t>Wrap in </a:t>
            </a:r>
            <a:r>
              <a:rPr sz="1550" b="0" i="0">
                <a:solidFill>
                  <a:srgbClr val="330066"/>
                </a:solidFill>
                <a:latin typeface="Courier New"/>
              </a:rPr>
              <a:t>try</a:t>
            </a:r>
            <a:r>
              <a:rPr sz="1600" b="0" i="0">
                <a:solidFill>
                  <a:srgbClr val="1A1A1A"/>
                </a:solidFill>
                <a:latin typeface="Arial"/>
              </a:rPr>
              <a:t>/</a:t>
            </a:r>
            <a:r>
              <a:rPr sz="1550" b="0" i="0">
                <a:solidFill>
                  <a:srgbClr val="330066"/>
                </a:solidFill>
                <a:latin typeface="Courier New"/>
              </a:rPr>
              <a:t>finally</a:t>
            </a:r>
            <a:r>
              <a:rPr sz="1600" b="0" i="0">
                <a:solidFill>
                  <a:srgbClr val="1A1A1A"/>
                </a:solidFill>
                <a:latin typeface="Arial"/>
              </a:rPr>
              <a:t>.</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46 / 49</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Key Takeaways (1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SUMMARY</a:t>
            </a:r>
          </a:p>
        </p:txBody>
      </p:sp>
      <p:sp>
        <p:nvSpPr>
          <p:cNvPr id="4" name="Oval 3"/>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5" name="TextBox 4"/>
          <p:cNvSpPr txBox="1"/>
          <p:nvPr/>
        </p:nvSpPr>
        <p:spPr>
          <a:xfrm>
            <a:off x="1158544" y="1856231"/>
            <a:ext cx="10423245" cy="384048"/>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A context manager packages setup + guaranteed cleanup; </a:t>
            </a:r>
            <a:r>
              <a:rPr sz="1350" b="0" i="0">
                <a:solidFill>
                  <a:srgbClr val="330066"/>
                </a:solidFill>
                <a:latin typeface="Courier New"/>
              </a:rPr>
              <a:t>with manager as name:</a:t>
            </a:r>
            <a:r>
              <a:rPr sz="1400" b="0" i="0">
                <a:solidFill>
                  <a:srgbClr val="1A1A1A"/>
                </a:solidFill>
                <a:latin typeface="Arial"/>
              </a:rPr>
              <a:t> uses one.</a:t>
            </a:r>
          </a:p>
        </p:txBody>
      </p:sp>
      <p:sp>
        <p:nvSpPr>
          <p:cNvPr id="6" name="Oval 5"/>
          <p:cNvSpPr/>
          <p:nvPr/>
        </p:nvSpPr>
        <p:spPr>
          <a:xfrm>
            <a:off x="609904" y="233172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7" name="TextBox 6"/>
          <p:cNvSpPr txBox="1"/>
          <p:nvPr/>
        </p:nvSpPr>
        <p:spPr>
          <a:xfrm>
            <a:off x="1158544" y="2404872"/>
            <a:ext cx="10423245" cy="490220"/>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Technically: </a:t>
            </a:r>
            <a:r>
              <a:rPr sz="1350" b="0" i="0">
                <a:solidFill>
                  <a:srgbClr val="330066"/>
                </a:solidFill>
                <a:latin typeface="Courier New"/>
              </a:rPr>
              <a:t>__enter__</a:t>
            </a:r>
            <a:r>
              <a:rPr sz="1400" b="0" i="0">
                <a:solidFill>
                  <a:srgbClr val="1A1A1A"/>
                </a:solidFill>
                <a:latin typeface="Arial"/>
              </a:rPr>
              <a:t> (setup; its return value feeds </a:t>
            </a:r>
            <a:r>
              <a:rPr sz="1350" b="0" i="0">
                <a:solidFill>
                  <a:srgbClr val="330066"/>
                </a:solidFill>
                <a:latin typeface="Courier New"/>
              </a:rPr>
              <a:t>as</a:t>
            </a:r>
            <a:r>
              <a:rPr sz="1400" b="0" i="0">
                <a:solidFill>
                  <a:srgbClr val="1A1A1A"/>
                </a:solidFill>
                <a:latin typeface="Arial"/>
              </a:rPr>
              <a:t>) and </a:t>
            </a:r>
            <a:r>
              <a:rPr sz="1350" b="0" i="0">
                <a:solidFill>
                  <a:srgbClr val="330066"/>
                </a:solidFill>
                <a:latin typeface="Courier New"/>
              </a:rPr>
              <a:t>__exit__(exc_type, exc_value, traceback)</a:t>
            </a:r>
            <a:r>
              <a:rPr sz="1400" b="0" i="0">
                <a:solidFill>
                  <a:srgbClr val="1A1A1A"/>
                </a:solidFill>
                <a:latin typeface="Arial"/>
              </a:rPr>
              <a:t> (cleanup; runs on success, exceptions, and </a:t>
            </a:r>
            <a:r>
              <a:rPr sz="1350" b="0" i="0">
                <a:solidFill>
                  <a:srgbClr val="330066"/>
                </a:solidFill>
                <a:latin typeface="Courier New"/>
              </a:rPr>
              <a:t>return</a:t>
            </a:r>
            <a:r>
              <a:rPr sz="1400" b="0" i="0">
                <a:solidFill>
                  <a:srgbClr val="1A1A1A"/>
                </a:solidFill>
                <a:latin typeface="Arial"/>
              </a:rPr>
              <a:t>/</a:t>
            </a:r>
            <a:r>
              <a:rPr sz="1350" b="0" i="0">
                <a:solidFill>
                  <a:srgbClr val="330066"/>
                </a:solidFill>
                <a:latin typeface="Courier New"/>
              </a:rPr>
              <a:t>break</a:t>
            </a:r>
            <a:r>
              <a:rPr sz="1400" b="0" i="0">
                <a:solidFill>
                  <a:srgbClr val="1A1A1A"/>
                </a:solidFill>
                <a:latin typeface="Arial"/>
              </a:rPr>
              <a:t>).</a:t>
            </a:r>
          </a:p>
        </p:txBody>
      </p:sp>
      <p:sp>
        <p:nvSpPr>
          <p:cNvPr id="8" name="Oval 7"/>
          <p:cNvSpPr/>
          <p:nvPr/>
        </p:nvSpPr>
        <p:spPr>
          <a:xfrm>
            <a:off x="609904" y="298653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9" name="TextBox 8"/>
          <p:cNvSpPr txBox="1"/>
          <p:nvPr/>
        </p:nvSpPr>
        <p:spPr>
          <a:xfrm>
            <a:off x="1158544" y="3059684"/>
            <a:ext cx="10423245" cy="490220"/>
          </a:xfrm>
          <a:prstGeom prst="rect">
            <a:avLst/>
          </a:prstGeom>
          <a:noFill/>
        </p:spPr>
        <p:txBody>
          <a:bodyPr wrap="square" lIns="0" tIns="0" rIns="0" bIns="0" anchor="t">
            <a:spAutoFit/>
          </a:bodyPr>
          <a:lstStyle/>
          <a:p>
            <a:pPr algn="l">
              <a:lnSpc>
                <a:spcPct val="110000"/>
              </a:lnSpc>
              <a:spcAft>
                <a:spcPts val="600"/>
              </a:spcAft>
            </a:pPr>
            <a:r>
              <a:rPr sz="1350" b="0" i="0">
                <a:solidFill>
                  <a:srgbClr val="330066"/>
                </a:solidFill>
                <a:latin typeface="Courier New"/>
              </a:rPr>
              <a:t>__exit__</a:t>
            </a:r>
            <a:r>
              <a:rPr sz="1400" b="0" i="0">
                <a:solidFill>
                  <a:srgbClr val="1A1A1A"/>
                </a:solidFill>
                <a:latin typeface="Arial"/>
              </a:rPr>
              <a:t> returning </a:t>
            </a:r>
            <a:r>
              <a:rPr sz="1350" b="0" i="0">
                <a:solidFill>
                  <a:srgbClr val="330066"/>
                </a:solidFill>
                <a:latin typeface="Courier New"/>
              </a:rPr>
              <a:t>True</a:t>
            </a:r>
            <a:r>
              <a:rPr sz="1400" b="0" i="0">
                <a:solidFill>
                  <a:srgbClr val="1A1A1A"/>
                </a:solidFill>
                <a:latin typeface="Arial"/>
              </a:rPr>
              <a:t> suppresses the exception; </a:t>
            </a:r>
            <a:r>
              <a:rPr sz="1350" b="0" i="0">
                <a:solidFill>
                  <a:srgbClr val="330066"/>
                </a:solidFill>
                <a:latin typeface="Courier New"/>
              </a:rPr>
              <a:t>False</a:t>
            </a:r>
            <a:r>
              <a:rPr sz="1400" b="0" i="0">
                <a:solidFill>
                  <a:srgbClr val="1A1A1A"/>
                </a:solidFill>
                <a:latin typeface="Arial"/>
              </a:rPr>
              <a:t>/</a:t>
            </a:r>
            <a:r>
              <a:rPr sz="1350" b="0" i="0">
                <a:solidFill>
                  <a:srgbClr val="330066"/>
                </a:solidFill>
                <a:latin typeface="Courier New"/>
              </a:rPr>
              <a:t>None</a:t>
            </a:r>
            <a:r>
              <a:rPr sz="1400" b="0" i="0">
                <a:solidFill>
                  <a:srgbClr val="1A1A1A"/>
                </a:solidFill>
                <a:latin typeface="Arial"/>
              </a:rPr>
              <a:t> lets it propagate. Suppress only specific, expected exceptions.</a:t>
            </a:r>
          </a:p>
        </p:txBody>
      </p:sp>
      <p:sp>
        <p:nvSpPr>
          <p:cNvPr id="10" name="Oval 9"/>
          <p:cNvSpPr/>
          <p:nvPr/>
        </p:nvSpPr>
        <p:spPr>
          <a:xfrm>
            <a:off x="609904" y="3641344"/>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4</a:t>
            </a:r>
          </a:p>
        </p:txBody>
      </p:sp>
      <p:sp>
        <p:nvSpPr>
          <p:cNvPr id="11" name="TextBox 10"/>
          <p:cNvSpPr txBox="1"/>
          <p:nvPr/>
        </p:nvSpPr>
        <p:spPr>
          <a:xfrm>
            <a:off x="1158544" y="3714496"/>
            <a:ext cx="10423245" cy="490220"/>
          </a:xfrm>
          <a:prstGeom prst="rect">
            <a:avLst/>
          </a:prstGeom>
          <a:noFill/>
        </p:spPr>
        <p:txBody>
          <a:bodyPr wrap="square" lIns="0" tIns="0" rIns="0" bIns="0" anchor="t">
            <a:spAutoFit/>
          </a:bodyPr>
          <a:lstStyle/>
          <a:p>
            <a:pPr algn="l">
              <a:lnSpc>
                <a:spcPct val="110000"/>
              </a:lnSpc>
              <a:spcAft>
                <a:spcPts val="600"/>
              </a:spcAft>
            </a:pPr>
            <a:r>
              <a:rPr sz="1350" b="0" i="0">
                <a:solidFill>
                  <a:srgbClr val="330066"/>
                </a:solidFill>
                <a:latin typeface="Courier New"/>
              </a:rPr>
              <a:t>@contextlib.contextmanager</a:t>
            </a:r>
            <a:r>
              <a:rPr sz="1400" b="0" i="0">
                <a:solidFill>
                  <a:srgbClr val="1A1A1A"/>
                </a:solidFill>
                <a:latin typeface="Arial"/>
              </a:rPr>
              <a:t>: code before </a:t>
            </a:r>
            <a:r>
              <a:rPr sz="1350" b="0" i="0">
                <a:solidFill>
                  <a:srgbClr val="330066"/>
                </a:solidFill>
                <a:latin typeface="Courier New"/>
              </a:rPr>
              <a:t>yield</a:t>
            </a:r>
            <a:r>
              <a:rPr sz="1400" b="0" i="0">
                <a:solidFill>
                  <a:srgbClr val="1A1A1A"/>
                </a:solidFill>
                <a:latin typeface="Arial"/>
              </a:rPr>
              <a:t> is setup, after is teardown. Always wrap </a:t>
            </a:r>
            <a:r>
              <a:rPr sz="1350" b="0" i="0">
                <a:solidFill>
                  <a:srgbClr val="330066"/>
                </a:solidFill>
                <a:latin typeface="Courier New"/>
              </a:rPr>
              <a:t>yield</a:t>
            </a:r>
            <a:r>
              <a:rPr sz="1400" b="0" i="0">
                <a:solidFill>
                  <a:srgbClr val="1A1A1A"/>
                </a:solidFill>
                <a:latin typeface="Arial"/>
              </a:rPr>
              <a:t> in </a:t>
            </a:r>
            <a:r>
              <a:rPr sz="1350" b="0" i="0">
                <a:solidFill>
                  <a:srgbClr val="330066"/>
                </a:solidFill>
                <a:latin typeface="Courier New"/>
              </a:rPr>
              <a:t>try</a:t>
            </a:r>
            <a:r>
              <a:rPr sz="1400" b="0" i="0">
                <a:solidFill>
                  <a:srgbClr val="1A1A1A"/>
                </a:solidFill>
                <a:latin typeface="Arial"/>
              </a:rPr>
              <a:t>/</a:t>
            </a:r>
            <a:r>
              <a:rPr sz="1350" b="0" i="0">
                <a:solidFill>
                  <a:srgbClr val="330066"/>
                </a:solidFill>
                <a:latin typeface="Courier New"/>
              </a:rPr>
              <a:t>finally</a:t>
            </a:r>
            <a:r>
              <a:rPr sz="1400" b="0" i="0">
                <a:solidFill>
                  <a:srgbClr val="1A1A1A"/>
                </a:solidFill>
                <a:latin typeface="Arial"/>
              </a:rPr>
              <a:t>.</a:t>
            </a:r>
          </a:p>
        </p:txBody>
      </p:sp>
      <p:sp>
        <p:nvSpPr>
          <p:cNvPr id="12" name="TextBox 11"/>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47 / 49</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Key Takeaways (2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SUMMARY</a:t>
            </a:r>
          </a:p>
        </p:txBody>
      </p:sp>
      <p:sp>
        <p:nvSpPr>
          <p:cNvPr id="4" name="Oval 3"/>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5" name="TextBox 4"/>
          <p:cNvSpPr txBox="1"/>
          <p:nvPr/>
        </p:nvSpPr>
        <p:spPr>
          <a:xfrm>
            <a:off x="1158544" y="1856231"/>
            <a:ext cx="10423245" cy="490220"/>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Multiple managers can share one </a:t>
            </a:r>
            <a:r>
              <a:rPr sz="1350" b="0" i="0">
                <a:solidFill>
                  <a:srgbClr val="330066"/>
                </a:solidFill>
                <a:latin typeface="Courier New"/>
              </a:rPr>
              <a:t>with</a:t>
            </a:r>
            <a:r>
              <a:rPr sz="1400" b="0" i="0">
                <a:solidFill>
                  <a:srgbClr val="1A1A1A"/>
                </a:solidFill>
                <a:latin typeface="Arial"/>
              </a:rPr>
              <a:t> line (exited in reverse order). </a:t>
            </a:r>
            <a:r>
              <a:rPr sz="1350" b="0" i="0">
                <a:solidFill>
                  <a:srgbClr val="330066"/>
                </a:solidFill>
                <a:latin typeface="Courier New"/>
              </a:rPr>
              <a:t>ExitStack</a:t>
            </a:r>
            <a:r>
              <a:rPr sz="1400" b="0" i="0">
                <a:solidFill>
                  <a:srgbClr val="1A1A1A"/>
                </a:solidFill>
                <a:latin typeface="Arial"/>
              </a:rPr>
              <a:t> handles a variable number.</a:t>
            </a:r>
          </a:p>
        </p:txBody>
      </p:sp>
      <p:sp>
        <p:nvSpPr>
          <p:cNvPr id="6" name="Oval 5"/>
          <p:cNvSpPr/>
          <p:nvPr/>
        </p:nvSpPr>
        <p:spPr>
          <a:xfrm>
            <a:off x="609904" y="243789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7" name="TextBox 6"/>
          <p:cNvSpPr txBox="1"/>
          <p:nvPr/>
        </p:nvSpPr>
        <p:spPr>
          <a:xfrm>
            <a:off x="1158544" y="2511044"/>
            <a:ext cx="10423245" cy="384048"/>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Handy tools: </a:t>
            </a:r>
            <a:r>
              <a:rPr sz="1350" b="0" i="0">
                <a:solidFill>
                  <a:srgbClr val="330066"/>
                </a:solidFill>
                <a:latin typeface="Courier New"/>
              </a:rPr>
              <a:t>open</a:t>
            </a:r>
            <a:r>
              <a:rPr sz="1400" b="0" i="0">
                <a:solidFill>
                  <a:srgbClr val="1A1A1A"/>
                </a:solidFill>
                <a:latin typeface="Arial"/>
              </a:rPr>
              <a:t>, </a:t>
            </a:r>
            <a:r>
              <a:rPr sz="1350" b="0" i="0">
                <a:solidFill>
                  <a:srgbClr val="330066"/>
                </a:solidFill>
                <a:latin typeface="Courier New"/>
              </a:rPr>
              <a:t>tempfile.TemporaryDirectory</a:t>
            </a:r>
            <a:r>
              <a:rPr sz="1400" b="0" i="0">
                <a:solidFill>
                  <a:srgbClr val="1A1A1A"/>
                </a:solidFill>
                <a:latin typeface="Arial"/>
              </a:rPr>
              <a:t>, </a:t>
            </a:r>
            <a:r>
              <a:rPr sz="1350" b="0" i="0">
                <a:solidFill>
                  <a:srgbClr val="330066"/>
                </a:solidFill>
                <a:latin typeface="Courier New"/>
              </a:rPr>
              <a:t>contextlib.suppress</a:t>
            </a:r>
            <a:r>
              <a:rPr sz="1400" b="0" i="0">
                <a:solidFill>
                  <a:srgbClr val="1A1A1A"/>
                </a:solidFill>
                <a:latin typeface="Arial"/>
              </a:rPr>
              <a:t>, </a:t>
            </a:r>
            <a:r>
              <a:rPr sz="1350" b="0" i="0">
                <a:solidFill>
                  <a:srgbClr val="330066"/>
                </a:solidFill>
                <a:latin typeface="Courier New"/>
              </a:rPr>
              <a:t>redirect_stdout</a:t>
            </a:r>
            <a:r>
              <a:rPr sz="1400" b="0" i="0">
                <a:solidFill>
                  <a:srgbClr val="1A1A1A"/>
                </a:solidFill>
                <a:latin typeface="Arial"/>
              </a:rPr>
              <a:t>, </a:t>
            </a:r>
            <a:r>
              <a:rPr sz="1350" b="0" i="0">
                <a:solidFill>
                  <a:srgbClr val="330066"/>
                </a:solidFill>
                <a:latin typeface="Courier New"/>
              </a:rPr>
              <a:t>closing</a:t>
            </a:r>
            <a:r>
              <a:rPr sz="1400" b="0" i="0">
                <a:solidFill>
                  <a:srgbClr val="1A1A1A"/>
                </a:solidFill>
                <a:latin typeface="Arial"/>
              </a:rPr>
              <a:t>.</a:t>
            </a:r>
          </a:p>
        </p:txBody>
      </p:sp>
      <p:sp>
        <p:nvSpPr>
          <p:cNvPr id="8" name="Oval 7"/>
          <p:cNvSpPr/>
          <p:nvPr/>
        </p:nvSpPr>
        <p:spPr>
          <a:xfrm>
            <a:off x="609904" y="298653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9" name="TextBox 8"/>
          <p:cNvSpPr txBox="1"/>
          <p:nvPr/>
        </p:nvSpPr>
        <p:spPr>
          <a:xfrm>
            <a:off x="1158544" y="3059684"/>
            <a:ext cx="10423245" cy="490220"/>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For QEs, context managers are the key to clean, isolated, repeatable tests: timing steps, temporary files, changed environment variables, and any resource that must never be left dangling.</a:t>
            </a:r>
          </a:p>
        </p:txBody>
      </p:sp>
      <p:sp>
        <p:nvSpPr>
          <p:cNvPr id="10" name="TextBox 9"/>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48 / 49</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Additional Resources</a:t>
            </a:r>
          </a:p>
        </p:txBody>
      </p:sp>
      <p:sp>
        <p:nvSpPr>
          <p:cNvPr id="3" name="Oval 2"/>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4" name="TextBox 3"/>
          <p:cNvSpPr txBox="1"/>
          <p:nvPr/>
        </p:nvSpPr>
        <p:spPr>
          <a:xfrm>
            <a:off x="1158544" y="1819656"/>
            <a:ext cx="10423245" cy="450532"/>
          </a:xfrm>
          <a:prstGeom prst="rect">
            <a:avLst/>
          </a:prstGeom>
          <a:noFill/>
        </p:spPr>
        <p:txBody>
          <a:bodyPr wrap="square" lIns="0" tIns="0" rIns="0" bIns="0" anchor="t">
            <a:spAutoFit/>
          </a:bodyPr>
          <a:lstStyle/>
          <a:p>
            <a:pPr algn="l">
              <a:lnSpc>
                <a:spcPct val="110000"/>
              </a:lnSpc>
              <a:spcAft>
                <a:spcPts val="200"/>
              </a:spcAft>
            </a:pPr>
            <a:r>
              <a:rPr sz="1300" b="1" i="0">
                <a:solidFill>
                  <a:srgbClr val="330066"/>
                </a:solidFill>
                <a:latin typeface="Arial"/>
              </a:rPr>
              <a:t>Language Reference, "The with statement"</a:t>
            </a:r>
          </a:p>
          <a:p>
            <a:pPr algn="l">
              <a:lnSpc>
                <a:spcPct val="110000"/>
              </a:lnSpc>
              <a:spcAft>
                <a:spcPts val="600"/>
              </a:spcAft>
            </a:pPr>
            <a:r>
              <a:rPr sz="1200" b="0" i="0">
                <a:solidFill>
                  <a:srgbClr val="330066"/>
                </a:solidFill>
                <a:latin typeface="Courier New"/>
              </a:rPr>
              <a:t>https://docs.python.org/3/reference/compound_stmts.html#the-with-statement</a:t>
            </a:r>
          </a:p>
        </p:txBody>
      </p:sp>
      <p:sp>
        <p:nvSpPr>
          <p:cNvPr id="5" name="Oval 4"/>
          <p:cNvSpPr/>
          <p:nvPr/>
        </p:nvSpPr>
        <p:spPr>
          <a:xfrm>
            <a:off x="609904" y="24347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6" name="TextBox 5"/>
          <p:cNvSpPr txBox="1"/>
          <p:nvPr/>
        </p:nvSpPr>
        <p:spPr>
          <a:xfrm>
            <a:off x="1158544" y="2471356"/>
            <a:ext cx="10423245" cy="450532"/>
          </a:xfrm>
          <a:prstGeom prst="rect">
            <a:avLst/>
          </a:prstGeom>
          <a:noFill/>
        </p:spPr>
        <p:txBody>
          <a:bodyPr wrap="square" lIns="0" tIns="0" rIns="0" bIns="0" anchor="t">
            <a:spAutoFit/>
          </a:bodyPr>
          <a:lstStyle/>
          <a:p>
            <a:pPr algn="l">
              <a:lnSpc>
                <a:spcPct val="110000"/>
              </a:lnSpc>
              <a:spcAft>
                <a:spcPts val="200"/>
              </a:spcAft>
            </a:pPr>
            <a:r>
              <a:rPr sz="1300" b="1" i="0">
                <a:solidFill>
                  <a:srgbClr val="330066"/>
                </a:solidFill>
                <a:latin typeface="Arial"/>
              </a:rPr>
              <a:t>Library Reference, contextlib</a:t>
            </a:r>
          </a:p>
          <a:p>
            <a:pPr algn="l">
              <a:lnSpc>
                <a:spcPct val="110000"/>
              </a:lnSpc>
              <a:spcAft>
                <a:spcPts val="600"/>
              </a:spcAft>
            </a:pPr>
            <a:r>
              <a:rPr sz="1200" b="0" i="0">
                <a:solidFill>
                  <a:srgbClr val="330066"/>
                </a:solidFill>
                <a:latin typeface="Courier New"/>
              </a:rPr>
              <a:t>https://docs.python.org/3/library/contextlib.html</a:t>
            </a:r>
          </a:p>
        </p:txBody>
      </p:sp>
      <p:sp>
        <p:nvSpPr>
          <p:cNvPr id="7" name="Oval 6"/>
          <p:cNvSpPr/>
          <p:nvPr/>
        </p:nvSpPr>
        <p:spPr>
          <a:xfrm>
            <a:off x="609904" y="3086481"/>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8" name="TextBox 7"/>
          <p:cNvSpPr txBox="1"/>
          <p:nvPr/>
        </p:nvSpPr>
        <p:spPr>
          <a:xfrm>
            <a:off x="1158544" y="3123057"/>
            <a:ext cx="10423245" cy="450532"/>
          </a:xfrm>
          <a:prstGeom prst="rect">
            <a:avLst/>
          </a:prstGeom>
          <a:noFill/>
        </p:spPr>
        <p:txBody>
          <a:bodyPr wrap="square" lIns="0" tIns="0" rIns="0" bIns="0" anchor="t">
            <a:spAutoFit/>
          </a:bodyPr>
          <a:lstStyle/>
          <a:p>
            <a:pPr algn="l">
              <a:lnSpc>
                <a:spcPct val="110000"/>
              </a:lnSpc>
              <a:spcAft>
                <a:spcPts val="200"/>
              </a:spcAft>
            </a:pPr>
            <a:r>
              <a:rPr sz="1300" b="1" i="0">
                <a:solidFill>
                  <a:srgbClr val="330066"/>
                </a:solidFill>
                <a:latin typeface="Arial"/>
              </a:rPr>
              <a:t>Language Reference, "With Statement Context Managers"</a:t>
            </a:r>
          </a:p>
          <a:p>
            <a:pPr algn="l">
              <a:lnSpc>
                <a:spcPct val="110000"/>
              </a:lnSpc>
              <a:spcAft>
                <a:spcPts val="600"/>
              </a:spcAft>
            </a:pPr>
            <a:r>
              <a:rPr sz="1200" b="0" i="0">
                <a:solidFill>
                  <a:srgbClr val="330066"/>
                </a:solidFill>
                <a:latin typeface="Courier New"/>
              </a:rPr>
              <a:t>https://docs.python.org/3/reference/datamodel.html#with-statement-context-managers</a:t>
            </a:r>
          </a:p>
        </p:txBody>
      </p:sp>
      <p:sp>
        <p:nvSpPr>
          <p:cNvPr id="9" name="TextBox 8"/>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49 / 49</a:t>
            </a:r>
          </a:p>
        </p:txBody>
      </p:sp>
    </p:spTree>
  </p:cSld>
  <p:clrMapOvr>
    <a:masterClrMapping/>
  </p:clrMapOvr>
</p:sld>
</file>

<file path=ppt/theme/theme1.xml><?xml version="1.0" encoding="utf-8"?>
<a:theme xmlns:a="http://schemas.openxmlformats.org/drawingml/2006/main" name="Learners Point">
  <a:themeElements>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1_Netwo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IN" alt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IN" alt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_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1_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1_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1_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1_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1_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1_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1_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1_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earners Point" id="{5ABB7BE2-076F-42C1-9907-FD58862889C1}" vid="{2565D177-60C2-4381-BEC4-E0C09BB79CBA}"/>
    </a:ext>
  </a:extLst>
</a:theme>
</file>

<file path=docProps/app.xml><?xml version="1.0" encoding="utf-8"?>
<Properties xmlns="http://schemas.openxmlformats.org/officeDocument/2006/extended-properties" xmlns:vt="http://schemas.openxmlformats.org/officeDocument/2006/docPropsVTypes">
  <TotalTime>3</TotalTime>
  <Words>5798</Words>
  <Application>Microsoft Office PowerPoint</Application>
  <PresentationFormat>Widescreen</PresentationFormat>
  <Paragraphs>848</Paragraphs>
  <Slides>49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49</vt:i4>
      </vt:variant>
    </vt:vector>
  </HeadingPairs>
  <TitlesOfParts>
    <vt:vector size="53" baseType="lpstr">
      <vt:lpstr>Arial</vt:lpstr>
      <vt:lpstr>Courier New</vt:lpstr>
      <vt:lpstr>Wingdings</vt:lpstr>
      <vt:lpstr>Learners Point</vt:lpstr>
      <vt:lpstr>Context Managers</vt:lpstr>
      <vt:lpstr>Learning Objectives (1 of 2)</vt:lpstr>
      <vt:lpstr>Learning Objectives (2 of 2)</vt:lpstr>
      <vt:lpstr>Why This Matters</vt:lpstr>
      <vt:lpstr>The General Mechanism Behind with</vt:lpstr>
      <vt:lpstr>The Concept</vt:lpstr>
      <vt:lpstr>The Problem: Cleanup Is Easy to Forget</vt:lpstr>
      <vt:lpstr>The with Statement</vt:lpstr>
      <vt:lpstr>Roughly What with Does</vt:lpstr>
      <vt:lpstr>What Happens, Step by Step</vt:lpstr>
      <vt:lpstr>A First Custom Manager: Announcer</vt:lpstr>
      <vt:lpstr>Announcer in Action</vt:lpstr>
      <vt:lpstr>Suppressing Exceptions from __exit__</vt:lpstr>
      <vt:lpstr>@contextmanager: Generator-Based</vt:lpstr>
      <vt:lpstr>How @contextmanager Works</vt:lpstr>
      <vt:lpstr>Yielding a Value to as</vt:lpstr>
      <vt:lpstr>The Mistake to Avoid</vt:lpstr>
      <vt:lpstr>Which Style Should I Use?</vt:lpstr>
      <vt:lpstr>Multiple Managers in One with</vt:lpstr>
      <vt:lpstr>Parentheses and Ordering</vt:lpstr>
      <vt:lpstr>contextlib.suppress</vt:lpstr>
      <vt:lpstr>contextlib.redirect_stdout</vt:lpstr>
      <vt:lpstr>tempfile.TemporaryDirectory</vt:lpstr>
      <vt:lpstr>contextlib.closing</vt:lpstr>
      <vt:lpstr>contextlib.ExitStack</vt:lpstr>
      <vt:lpstr>Why Not Just Use try / finally?</vt:lpstr>
      <vt:lpstr>Best Practices</vt:lpstr>
      <vt:lpstr>Real-World QA Scenarios</vt:lpstr>
      <vt:lpstr>Scenario 1: A Reusable Timer</vt:lpstr>
      <vt:lpstr>Scenario 2: Temporary Env Variable</vt:lpstr>
      <vt:lpstr>Scenario 3: Self-Cleaning Test Data</vt:lpstr>
      <vt:lpstr>Scenario 4: A Transaction-Like Manager</vt:lpstr>
      <vt:lpstr>Scenario 4: Commit and Roll Back</vt:lpstr>
      <vt:lpstr>Putting It All Together</vt:lpstr>
      <vt:lpstr>cm_demo.py: workspace()</vt:lpstr>
      <vt:lpstr>cm_demo.py: timed() and Safe Reading</vt:lpstr>
      <vt:lpstr>cm_demo.py: Both Managers</vt:lpstr>
      <vt:lpstr>Practice</vt:lpstr>
      <vt:lpstr>Practice Exercises (1 of 3)</vt:lpstr>
      <vt:lpstr>Practice Exercises (2 of 3)</vt:lpstr>
      <vt:lpstr>Practice Exercises (3 of 3)</vt:lpstr>
      <vt:lpstr>Answer 1</vt:lpstr>
      <vt:lpstr>Answers 2 and 3</vt:lpstr>
      <vt:lpstr>Answers 4 and 5</vt:lpstr>
      <vt:lpstr>Answer 6</vt:lpstr>
      <vt:lpstr>Answer 7</vt:lpstr>
      <vt:lpstr>Key Takeaways (1 of 2)</vt:lpstr>
      <vt:lpstr>Key Takeaways (2 of 2)</vt:lpstr>
      <vt:lpstr>Additional 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Learners Point Template</dc:title>
  <dc:creator>Learners Point</dc:creator>
  <cp:lastModifiedBy>Jasdhir Singh</cp:lastModifiedBy>
  <cp:revision>1</cp:revision>
  <dcterms:modified xsi:type="dcterms:W3CDTF">2026-10-18T10:10:51Z</dcterms:modified>
</cp:coreProperties>
</file>