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10/18/2026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10/18/2026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Try, Except, Else and Finally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Catch and handle runtime errors so your scripts keep running and report problems clearly.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817245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try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51858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84349" y="3520439"/>
            <a:ext cx="117729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except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307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18839" y="3520439"/>
            <a:ext cx="937259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else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54753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913299" y="3520439"/>
            <a:ext cx="129730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finally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0204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67804" y="3520439"/>
            <a:ext cx="165735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tracebacks</a:t>
            </a:r>
          </a:p>
        </p:txBody>
      </p:sp>
      <p:sp>
        <p:nvSpPr>
          <p:cNvPr id="14" name="Oval 13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what an exception is and how it differs from a syntax error.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Read a traceback: locate the line, the function and the exception type.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to catch errors and keep a program running.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Catch specific exception types (and several at once), not "catch everything".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507992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2" y="4416552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to capture the exception object and read its message.</a:t>
            </a:r>
          </a:p>
        </p:txBody>
      </p:sp>
      <p:sp>
        <p:nvSpPr>
          <p:cNvPr id="13" name="Oval 12"/>
          <p:cNvSpPr/>
          <p:nvPr/>
        </p:nvSpPr>
        <p:spPr>
          <a:xfrm>
            <a:off x="609904" y="516635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6832" y="5074920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else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for "only if nothing went wrong"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finally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for cleanup that must always run.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61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Recognise common built-in exceptions in test automation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TypeError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KeyError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IndexError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FileNotFoundError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ZeroDivisionError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...).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Understand the exception hierarchy and why the order of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blocks matters.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Apply good practice: handle only what you can, never silence errors, keep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small.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Recognise anti-patterns such as the bare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except: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the "swallowed" exception.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61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This week's epic is to harden your Python: from scripts that work when everything goes perfectly to code that behaves sensibly when things go wrong. In the QE Foundations project, things go wrong constantly: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651760"/>
            <a:ext cx="60350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A promised test-data file is missing from the folder.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A CSV has a blank cell where a number should be.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A JSON response from an API is missing a field your script expected.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A network call times out.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450" b="0" i="0">
                <a:solidFill>
                  <a:srgbClr val="1A1A1A"/>
                </a:solidFill>
                <a:latin typeface="Arial"/>
              </a:rPr>
              <a:t>A suite is half-way through 400 test cases when one case hits bad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10704" y="2651760"/>
            <a:ext cx="4571085" cy="2103120"/>
          </a:xfrm>
          <a:prstGeom prst="roundRect">
            <a:avLst>
              <a:gd name="adj" fmla="val 3913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39304" y="2788920"/>
            <a:ext cx="4113885" cy="1828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ONE BAD ROW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If one bad row crashes the run, you lose the results of the 399 good cases and spend your morning working out what happened. A good handler records "row 17 was invalid, here is why", continues, and gives you a complete report.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61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Two Kinds of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deeper reason: your job is to find and report failures. To do that well you must tell apart: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688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505456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System under test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failure in the system under test: a real bug you should report.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81667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218243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Your own code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failure in your own test code or environment: a broken script, a missing file, or bad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4297680"/>
            <a:ext cx="10971885" cy="488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Arial"/>
              </a:rPr>
              <a:t>Exception handling is the tool that lets you separate and clearly label these two situations. Test frameworks you meet later in the </a:t>
            </a:r>
            <a:r>
              <a:rPr sz="1500" b="0" i="0" dirty="0" err="1">
                <a:solidFill>
                  <a:srgbClr val="1A1A1A"/>
                </a:solidFill>
                <a:latin typeface="Arial"/>
              </a:rPr>
              <a:t>programme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are built on exactly these ideas.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61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Concept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Exceptions, tracebacks, try / except / else / finally, the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61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Syntax Errors vs 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Syntax error: before the program 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766560" cy="483108"/>
          </a:xfrm>
          <a:prstGeom prst="roundRect">
            <a:avLst>
              <a:gd name="adj" fmla="val 151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364224" cy="190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print("Hello"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2723388"/>
            <a:ext cx="676656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" y="2869692"/>
            <a:ext cx="636422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File "example.py", line 1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print("Hello"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 ^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SyntaxError: '(' was never closed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3960876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Exception: while the program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4235196"/>
            <a:ext cx="6766560" cy="483108"/>
          </a:xfrm>
          <a:prstGeom prst="roundRect">
            <a:avLst>
              <a:gd name="adj" fmla="val 151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1072" y="4381500"/>
            <a:ext cx="6364224" cy="190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number = int("abc")      # valid syntax, but "abc" is not a number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" y="4901184"/>
            <a:ext cx="676656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" y="5047488"/>
            <a:ext cx="636422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Traceback (most recent call last):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File "example.py", line 1, in &lt;module&gt;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number = int("abc")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ValueError: invalid literal for int() with base 10: 'abc'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2224" y="1783080"/>
            <a:ext cx="38395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Syntax error: Python cannot understand the file and refuses to start. Fix it by correcting the code; you do not "handle" it at runtime.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Exception: the code is grammatically valid, but something goes wrong when Python executes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int("abc")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valid syntax, but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"abc"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not a number.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61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an Exception?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An exception is an object that Python creates to describe a problem. When it is created and "thrown", the exception is raised.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If nothing catches it, it travels up through the calling code to the top of the program; the program stops and prints a traceback.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337560"/>
            <a:ext cx="10971885" cy="1188720"/>
          </a:xfrm>
          <a:prstGeom prst="roundRect">
            <a:avLst>
              <a:gd name="adj" fmla="val 6923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3474720"/>
            <a:ext cx="105146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ANALOGY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raised exception is a fire alarm going off. If nobody responds, the whole building is evacuated (the program ends). If a trained person (an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block) responds, they deal with the problem and normal work can continue.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61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Reading a Traceback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PRICES.PY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03120"/>
            <a:ext cx="5303062" cy="2197608"/>
          </a:xfrm>
          <a:prstGeom prst="roundRect">
            <a:avLst>
              <a:gd name="adj" fmla="val 332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49424"/>
            <a:ext cx="4900726" cy="190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parse_price(text):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return float(text)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total(prices):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result = 0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for p in prices: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result += parse_price(p)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return result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print(total(["10.5", "20", "abc"]))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303062" cy="1755648"/>
          </a:xfrm>
          <a:prstGeom prst="roundRect">
            <a:avLst>
              <a:gd name="adj" fmla="val 416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9895" y="2249424"/>
            <a:ext cx="4900726" cy="1463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Traceback (most recent call last):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File "prices.py", line 10, in &lt;module&gt;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print(total(["10.5", "20", "abc"]))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File "prices.py", line 6, in total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result += parse_price(p)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File "prices.py", line 2, in parse_price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return float(text)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ValueError: could not convert string to float: 'abc'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61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How to Read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Read from the bottom up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last line matters most: the exception type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 and a message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could not convert string to float: 'abc'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7339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770568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The call stack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lines above are the chain of calls. The bottom entry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parse_price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line 2) is where it happened; above it is the caller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total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line 6), up to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&lt;module&gt;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the main body of the script.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68490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721481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Each entry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Shows the file, line number, function name, and the line of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5184648"/>
            <a:ext cx="10971885" cy="914400"/>
          </a:xfrm>
          <a:prstGeom prst="roundRect">
            <a:avLst>
              <a:gd name="adj" fmla="val 9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504" y="5321808"/>
            <a:ext cx="10514685" cy="443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 dirty="0">
                <a:solidFill>
                  <a:srgbClr val="5C8A8A"/>
                </a:solidFill>
                <a:latin typeface="Arial"/>
              </a:rPr>
              <a:t>TIP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 dirty="0">
                <a:solidFill>
                  <a:srgbClr val="1A1A1A"/>
                </a:solidFill>
                <a:latin typeface="Arial"/>
              </a:rPr>
              <a:t>When a test fails in CI, the traceback is often all you have. Reading it quickly is one of the most valuable debugging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61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Basic try / except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The simplest 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420624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3803903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5C8A8A"/>
                </a:solidFill>
                <a:latin typeface="Courier New"/>
              </a:rPr>
              <a:t>    # code that might fail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except SomeError: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5C8A8A"/>
                </a:solidFill>
                <a:latin typeface="Courier New"/>
              </a:rPr>
              <a:t>    # what to do if it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904" y="1783080"/>
            <a:ext cx="6399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1. Python runs 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block line by line.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2. If every line succeeds, 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block is skipped entirely.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3. If a line raises, Python immediately stops the rest of 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block and looks for a matching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4. If one matches, it runs, then the program continues after the whole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statement.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5. If none matches, the exception keeps travelling upwards (to the calling function, and so 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61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 First Complete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949440" cy="2075688"/>
          </a:xfrm>
          <a:prstGeom prst="roundRect">
            <a:avLst>
              <a:gd name="adj" fmla="val 352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547103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raw_value = "abc"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quantity = int(raw_value)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print("Parsed quantity:", quantity)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except ValueError: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print("Quantity must be a whole number, got:", raw_value)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print("Program keeps running")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431596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590288"/>
            <a:ext cx="6949440" cy="688848"/>
          </a:xfrm>
          <a:prstGeom prst="roundRect">
            <a:avLst>
              <a:gd name="adj" fmla="val 1061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736592"/>
            <a:ext cx="6547103" cy="396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Quantity must be a whole number, got: abc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Program keeps running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5104" y="1783080"/>
            <a:ext cx="36566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int("abc")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raises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so the next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never runs.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 ValueError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block matches and reports the problem.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"Program keeps running" prints normally, because the exception was handled.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"42"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block is skipped.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5104" y="4526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 if raw_value is "42"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5104" y="4800600"/>
            <a:ext cx="3656685" cy="673607"/>
          </a:xfrm>
          <a:prstGeom prst="roundRect">
            <a:avLst>
              <a:gd name="adj" fmla="val 108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26272" y="4946904"/>
            <a:ext cx="3254349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Parsed quantity: 42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Program keeps running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61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Line by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3191256"/>
        </p:xfrm>
        <a:graphic>
          <a:graphicData uri="http://schemas.openxmlformats.org/drawingml/2006/table">
            <a:tbl>
              <a:tblPr/>
              <a:tblGrid>
                <a:gridCol w="4608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3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Line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What happens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0066"/>
                          </a:solidFill>
                          <a:latin typeface="Courier New"/>
                        </a:rPr>
                        <a:t>raw_value = "abc"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 string that cannot be converted to a number.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0066"/>
                          </a:solidFill>
                          <a:latin typeface="Courier New"/>
                        </a:rPr>
                        <a:t>try: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Starts a protected block.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0066"/>
                          </a:solidFill>
                          <a:latin typeface="Courier New"/>
                        </a:rPr>
                        <a:t>quantity = int(raw_value)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int("abc")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raises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ValueError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. Python jumps out of the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try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block here.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0066"/>
                          </a:solidFill>
                          <a:latin typeface="Courier New"/>
                        </a:rPr>
                        <a:t>print("Parsed quantity:", quantity)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Never runs, because the previous line failed.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0066"/>
                          </a:solidFill>
                          <a:latin typeface="Courier New"/>
                        </a:rPr>
                        <a:t>except ValueError: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The raised exception is a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ValueError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so this block matches.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0066"/>
                          </a:solidFill>
                          <a:latin typeface="Courier New"/>
                        </a:rPr>
                        <a:t>print("Quantity must be...")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Runs, reporting the problem to the user.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30066"/>
                          </a:solidFill>
                          <a:latin typeface="Courier New"/>
                        </a:rPr>
                        <a:t>print("Program keeps running")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Runs normally, since the exception was handled.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61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Exceptions QA Engineers Meet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 · CATCH THE SPECIFIC 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3154171"/>
        </p:xfrm>
        <a:graphic>
          <a:graphicData uri="http://schemas.openxmlformats.org/drawingml/2006/table">
            <a:tbl>
              <a:tblPr/>
              <a:tblGrid>
                <a:gridCol w="2633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1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7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Exception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When it occurs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Typical test-automation example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ValueError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Right type, wrong value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int("abc")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while parsing a CSV cell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TypeError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Operation on the wrong type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"5" + 3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or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len(None)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KeyError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Dictionary key does not exist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A JSON field is missing: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user["email"]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IndexError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List index out of range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row[5]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when a CSV row has only 3 columns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AttributeError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Object has no such attribute/method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Calling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.strip()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on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None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ZeroDivisionError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Division or modulo by zero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Calculating a pass rate when there are 0 tests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FileNotFoundError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File or folder does not exist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Test-data file is missing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61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Exceptions QA Engineers Meet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 · CATCH THE SPECIFIC 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998214"/>
        </p:xfrm>
        <a:graphic>
          <a:graphicData uri="http://schemas.openxmlformats.org/drawingml/2006/table">
            <a:tbl>
              <a:tblPr/>
              <a:tblGrid>
                <a:gridCol w="3291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Exception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When it occurs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Typical test-automation example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PermissionError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OS refuses access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Trying to write to a read-only folder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NameError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Variable not defined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 typo in a variable name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ImportError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ModuleNotFoundError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Import fails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Forgetting to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pip install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a package in your virtual environment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OSError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Operating-system level problem (parent of several above)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Disk full, bad path, etc.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TimeoutError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An operation took too long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 network or device call timed out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KeyboardInterrupt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User pressed Ctrl+C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Aborting a long test run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61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Seeing Them Triggered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45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Arial"/>
              </a:rPr>
              <a:t>Each failing expression is wrapped in a tiny function (</a:t>
            </a:r>
            <a:r>
              <a:rPr sz="1450" b="0" i="0" dirty="0">
                <a:solidFill>
                  <a:srgbClr val="330066"/>
                </a:solidFill>
                <a:latin typeface="Courier New"/>
              </a:rPr>
              <a:t>lambda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) so it can run inside our </a:t>
            </a:r>
            <a:r>
              <a:rPr sz="1450" b="0" i="0" dirty="0">
                <a:solidFill>
                  <a:srgbClr val="330066"/>
                </a:solidFill>
                <a:latin typeface="Courier New"/>
              </a:rPr>
              <a:t>try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</a:t>
            </a:r>
            <a:endParaRPr sz="1500" b="0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9904" y="2569464"/>
            <a:ext cx="10971885" cy="3462527"/>
          </a:xfrm>
          <a:prstGeom prst="roundRect">
            <a:avLst>
              <a:gd name="adj" fmla="val 211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715768"/>
            <a:ext cx="10569549" cy="3169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Each of these lines is run separately to show the exception it raises.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examples = {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"ValueError": lambda: int("12.5"),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"TypeError": lambda: "5" + 3,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"KeyError": lambda: {"name": "Ada"}["email"],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"IndexError": lambda: [1, 2, 3][10],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"AttributeError": lambda: None.strip(),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"ZeroDivisionError": lambda: 10 / 0,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"FileNotFoundError": lambda: open("no_such_file.txt"),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for label, action in examples.items():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action()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except Exception as error:          # broad on purpose, only for this demo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print(f"{label:18} -&gt; {type(error).__name__}: {error}")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61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Messages can vary slightly between Python versions.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except Exception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broad on purpose, only for this demo.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69464"/>
            <a:ext cx="10971885" cy="1466088"/>
          </a:xfrm>
          <a:prstGeom prst="roundRect">
            <a:avLst>
              <a:gd name="adj" fmla="val 498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715768"/>
            <a:ext cx="10569549" cy="1173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ValueError         -&gt; ValueError: invalid literal for int() with base 10: '12.5'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TypeError          -&gt; TypeError: can only concatenate str (not "int") to str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KeyError           -&gt; KeyError: 'email'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IndexError         -&gt; IndexError: list index out of range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AttributeError     -&gt; AttributeError: 'NoneType' object has no attribute 'strip'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ZeroDivisionError  -&gt; ZeroDivisionError: division by zero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FileNotFoundError  -&gt; FileNotFoundError: [Errno 2] No such file or directory: 'no_such_file.txt'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61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Capturing the Exception with 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except ValueError as error: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stores the exception object in the variable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21991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496311"/>
            <a:ext cx="6766560" cy="1435607"/>
          </a:xfrm>
          <a:prstGeom prst="roundRect">
            <a:avLst>
              <a:gd name="adj" fmla="val 50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642615"/>
            <a:ext cx="6364224" cy="1142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int("abc")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except ValueError as error: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print("Type   :", type(error).__name__)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print("Message:", error)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print("Args   :", error.args)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114799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4389119"/>
            <a:ext cx="6766560" cy="864107"/>
          </a:xfrm>
          <a:prstGeom prst="roundRect">
            <a:avLst>
              <a:gd name="adj" fmla="val 846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" y="4535423"/>
            <a:ext cx="6364224" cy="571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Type   : ValueError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Message: invalid literal for int() with base 10: 'abc'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Args   : ("invalid literal for int() with base 10: 'abc'",)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2224" y="2221991"/>
            <a:ext cx="383956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type(error).__name__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gives the exception's class name as a string.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str(error)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(or just printing it) gives the message.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error.args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a tuple of the arguments the exception was created with.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61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Exception-Specific 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Some exceptions carry extra attributes.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FileNotFoundError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(a kind of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OSError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 has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.filename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.strerror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52374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798063"/>
            <a:ext cx="640080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944368"/>
            <a:ext cx="5998464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open("missing_data.csv")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except FileNotFoundError as error: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print("Could not find:", error.filename)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print("OS says      :", error.strerror)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2641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4538472"/>
            <a:ext cx="6400800" cy="688848"/>
          </a:xfrm>
          <a:prstGeom prst="roundRect">
            <a:avLst>
              <a:gd name="adj" fmla="val 1061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" y="4684776"/>
            <a:ext cx="5998464" cy="396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Could not find: missing_data.csv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OS says      : No such file or directory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6464" y="2523744"/>
            <a:ext cx="4205325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variable after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(here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only exists inside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block.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Python deletes it when the block ends: do not use it afterwards.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61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Option A: Separate except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 · MULTIPLE EXCEPTION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Each problem, its own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7040880" cy="3272028"/>
          </a:xfrm>
          <a:prstGeom prst="roundRect">
            <a:avLst>
              <a:gd name="adj" fmla="val 223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638544" cy="2979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def read_quantity(record):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"""Return the quantity from a dictionary record as an integer."""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return int(record["quantity"])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except KeyError: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print("Record has no 'quantity' field:", record)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except ValueError: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print("Quantity is not a whole number:", record["quantity"])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except TypeError: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print("Quantity has an unusable type:", record["quantity"])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return None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print(read_quantity({"quantity": "7"}))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print(read_quantity({"item": "mouse"}))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print(read_quantity({"quantity": "seven"}))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print(read_quantity({"quantity": None}))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5104" y="1783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5104" y="2057400"/>
            <a:ext cx="3656685" cy="1511808"/>
          </a:xfrm>
          <a:prstGeom prst="roundRect">
            <a:avLst>
              <a:gd name="adj" fmla="val 48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26272" y="2203704"/>
            <a:ext cx="3254349" cy="121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7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Record has no 'quantity' field: {'item': 'mouse'}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None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Quantity is not a whole number: seven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None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Quantity has an unusable type: None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None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5104" y="4160520"/>
            <a:ext cx="3656685" cy="1554480"/>
          </a:xfrm>
          <a:prstGeom prst="roundRect">
            <a:avLst>
              <a:gd name="adj" fmla="val 5294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53704" y="4297680"/>
            <a:ext cx="319948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RULE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blocks are checked from top to bottom and the first match runs. Only one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block ever runs for a single exception.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61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Option B: One except with a Tuple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06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value = int(record["quantity"])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except (KeyError, ValueError, TypeError) as error: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print("Bad record:", type(error).__name__, error)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value = 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it when the response is the same for every type.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types are grouped in a tuple: note the parentheses.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except KeyError, ValueError: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without parentheses is a different (and, in older Python versions, misleading) construct.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Always use parentheses when listing several types.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61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Exception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 · A FAMILY TREE BUILT WITH INHERITANCE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3531107"/>
          </a:xfrm>
          <a:prstGeom prst="roundRect">
            <a:avLst>
              <a:gd name="adj" fmla="val 207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3238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BaseException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├── KeyboardInterrupt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├── SystemExit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└── Exception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├── ArithmeticError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│    └── ZeroDivisionError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├── LookupError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│    ├── IndexError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│    └── KeyError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├── OSError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│    ├── FileNotFoundError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│    ├── PermissionError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│    └── TimeoutError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├── ValueError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├── TypeError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├── AttributeError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└── ... many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An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for a parent class also catches all of its children.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except LookupError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catches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KeyError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IndexError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except OSError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catches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FileNotFoundError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PermissionError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except Exception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catches almost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61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Order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877568"/>
          </a:xfrm>
          <a:prstGeom prst="roundRect">
            <a:avLst>
              <a:gd name="adj" fmla="val 389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584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open("/root/secret.txt")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except FileNotFoundError: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print("File does not exist")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except PermissionError: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print("File exists but you may not read it")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except OSError as error: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print("Some other operating-system problem:", error)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Put the most specific handlers first, general ones afterwards.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 OSError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first, it would catch everything and the specific blocks below would be unreachable. Linters often warn about this.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4818888"/>
            <a:ext cx="10971885" cy="1280160"/>
          </a:xfrm>
          <a:prstGeom prst="roundRect">
            <a:avLst>
              <a:gd name="adj" fmla="val 6428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8504" y="4956048"/>
            <a:ext cx="10514685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OUTSIDE EXCEPTION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KeyboardInterrupt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SystemExit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sit outside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Exception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so that a broad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 Exception: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does not stop a user pressing Ctrl+C to abort. This is one reason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 Exception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acceptable at the very top of a program but a bare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except: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61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else Clause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else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on a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runs only if 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block finished without raising any exception.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21991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496311"/>
            <a:ext cx="5852160" cy="1572768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642615"/>
            <a:ext cx="544982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stock = int("25")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except ValueError: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print("Stock value is not a number")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else: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print("Stock parsed successfully:", stock)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251959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4526279"/>
            <a:ext cx="5852160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" y="4672583"/>
            <a:ext cx="5449824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Stock parsed successfully: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7824" y="2221991"/>
            <a:ext cx="475396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Why not put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at the end of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?</a:t>
            </a:r>
          </a:p>
          <a:p>
            <a:pPr marL="4572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Precision: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should contain only statements expected to raise. Extra code there could raise an exception caught by mistake, hiding a genuine bug.</a:t>
            </a:r>
          </a:p>
          <a:p>
            <a:pPr marL="4572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Readability: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= the risky thing,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= what if it fails,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else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= what to do when it worked.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61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else: Where the Difference Is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969008"/>
          </a:xfrm>
          <a:prstGeom prst="roundRect">
            <a:avLst>
              <a:gd name="adj" fmla="val 371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67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load_and_summarise(path):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file = open(path)                 # the only risky step we are guarding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except FileNotFoundError: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print("Data file not found:", path)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return None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else: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lines = file.read().splitlines()  # runs only if open() succeeded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file.close()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return len(lines)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Only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open(path)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guarded.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Reading and closing run only if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open()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succeeded.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Exceptions raised inside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else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are not caught by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clauses of the same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errors in follow-up logic are not mistaken for "file not found".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61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finally Clause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finally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runs no matter what: success, handled exception, unhandled exception, or even a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return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21991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496311"/>
            <a:ext cx="5852160" cy="2959607"/>
          </a:xfrm>
          <a:prstGeom prst="roundRect">
            <a:avLst>
              <a:gd name="adj" fmla="val 247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642615"/>
            <a:ext cx="5449824" cy="2667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divide(a, b):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result = a / b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except ZeroDivisionError: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print("Cannot divide by zero")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return None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else: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return result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finally: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print("divide() finished")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print(divide(10, 2))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print(divide(10, 0))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5638799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5913119"/>
            <a:ext cx="585216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" y="6059423"/>
            <a:ext cx="544982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divide() finished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5.0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Cannot divide by zero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divide() finished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None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7824" y="2221991"/>
            <a:ext cx="475396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"divide() finished" prints before the return value is printed.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 prints in both cases, even though both branches execute 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return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finally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block runs on the way out of the function.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61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finally Is For: Cleanup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Cleanup that must happen regardless of success: closing files and database connections, quitting a browser, deleting temporary test data, releasing a lock, stopping a mock server.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69464"/>
            <a:ext cx="10971885" cy="1679448"/>
          </a:xfrm>
          <a:prstGeom prst="roundRect">
            <a:avLst>
              <a:gd name="adj" fmla="val 435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715768"/>
            <a:ext cx="10569549" cy="1386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connection = open_database_connection()      # hypothetical function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run_validation_queries(connection)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except Exception as error: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print("Validation failed:", error)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finally: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connection.close()                        # always runs, even after 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4800600"/>
            <a:ext cx="10971885" cy="1005840"/>
          </a:xfrm>
          <a:prstGeom prst="roundRect">
            <a:avLst>
              <a:gd name="adj" fmla="val 8181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8504" y="4937760"/>
            <a:ext cx="1051468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PREVIEW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Later today: context managers and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with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statement handle this cleanup more elegantly for files and many other resources.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finally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the fundamental mechanism behind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61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Complete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121408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828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5C8A8A"/>
                </a:solidFill>
                <a:latin typeface="Courier New"/>
              </a:rPr>
              <a:t>    # 1. risky code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except SpecificError: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5C8A8A"/>
                </a:solidFill>
                <a:latin typeface="Courier New"/>
              </a:rPr>
              <a:t>    # 2. runs if SpecificError was raised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else: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5C8A8A"/>
                </a:solidFill>
                <a:latin typeface="Courier New"/>
              </a:rPr>
              <a:t>    # 3. runs only if NO exception was raised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finally: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5C8A8A"/>
                </a:solidFill>
                <a:latin typeface="Courier New"/>
              </a:rPr>
              <a:t>    # 4. ALWAYS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A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needs at least one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or a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finally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50" b="0" i="0">
                <a:solidFill>
                  <a:srgbClr val="330066"/>
                </a:solidFill>
                <a:latin typeface="Courier New"/>
              </a:rPr>
              <a:t>else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only allowed if there is at least one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and must come after all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blocks.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50" b="0" i="0">
                <a:solidFill>
                  <a:srgbClr val="330066"/>
                </a:solidFill>
                <a:latin typeface="Courier New"/>
              </a:rPr>
              <a:t>finally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always last.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61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Tracing the Execution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03120"/>
            <a:ext cx="5303062" cy="2807208"/>
          </a:xfrm>
          <a:prstGeom prst="roundRect">
            <a:avLst>
              <a:gd name="adj" fmla="val 260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49424"/>
            <a:ext cx="4900726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def process(value):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print(f"--- processing {value!r}")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number = int(value)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print("try: converted")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except ValueError: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print("except: not a number")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else: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print("else: conversion worked, number =", number)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finally: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print("finally: always runs")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process("10")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process("ten")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303062" cy="1626108"/>
          </a:xfrm>
          <a:prstGeom prst="roundRect">
            <a:avLst>
              <a:gd name="adj" fmla="val 449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9895" y="2249424"/>
            <a:ext cx="4900726" cy="1333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--- processing '10'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try: converted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else: conversion worked, number = 10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finally: always runs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--- processing 'ten'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except: not a number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finally: always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61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Three Possible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1978658"/>
        </p:xfrm>
        <a:graphic>
          <a:graphicData uri="http://schemas.openxmlformats.org/drawingml/2006/table">
            <a:tbl>
              <a:tblPr/>
              <a:tblGrid>
                <a:gridCol w="2852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2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Situation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try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except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else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finally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No exception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runs fully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skipped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runs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runs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Exception, matching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except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runs until the 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runs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skipped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runs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Exception, no match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runs until the 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skipped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skipped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runs, then exception continues upward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61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Exceptions Travel Up the Call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You do not have to handle an exception where it happens. Often the better place is higher up, where there is enough context to decide.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52374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798063"/>
            <a:ext cx="7315200" cy="2692908"/>
          </a:xfrm>
          <a:prstGeom prst="roundRect">
            <a:avLst>
              <a:gd name="adj" fmla="val 271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944368"/>
            <a:ext cx="6912864" cy="2400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parse_price(text):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return float(text)            # may raise ValueError, we do not handle it here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parse_all(prices):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parsed = []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for text in prices: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try: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    parsed.append(parse_price(text))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except ValueError: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    print("Skipping invalid price:", repr(text))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return parsed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print(parse_all(["10.5", "abc", "7"]))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90864" y="2523744"/>
            <a:ext cx="3290925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parse_price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simply does its job and lets the error escape.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parse_all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has the policy ("skip bad prices"), so it handles the exception.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Handle an exception at the level that knows what to do about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0864" y="4800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90864" y="5074920"/>
            <a:ext cx="3290925" cy="658368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92032" y="5221224"/>
            <a:ext cx="2888589" cy="365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Skipping invalid price: 'abc'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[10.5, 7.0]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61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Re-raising (A First Look)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int("abc")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except ValueError: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print("Logging the problem, then letting it propagate")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raise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Sometimes you want to do something (like print a note) and then let the exception continue.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bare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raise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inside an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block re-raises the same exception.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Next lesson: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raise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itself, your own exceptions, and chaining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raise ... from ...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Proper logging comes on Wednesday; for now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fine.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61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Real-World QA Scenarios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Resilient readers, API fields, guaranteed cleanup, retries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61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Scenario 1: A Resilient Test-Data Reader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223760" cy="3645408"/>
          </a:xfrm>
          <a:prstGeom prst="roundRect">
            <a:avLst>
              <a:gd name="adj" fmla="val 20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821424" cy="3352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raw_ages = ["34", "27", "", "abc", "-5", "41"]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valid_ages = []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errors = []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for index, raw in enumerate(raw_ages, start=1):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age = int(raw)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except ValueError: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errors.append(f"Row {index}: {raw!r} is not a whole number")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else: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if age &lt; 0: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errors.append(f"Row {index}: age {age} is negative")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else: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valid_ages.append(age)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print("Valid:", valid_ages)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print("Problems:")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for message in errors: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print("  -", message)</a:t>
            </a:r>
          </a:p>
        </p:txBody>
      </p:sp>
      <p:sp>
        <p:nvSpPr>
          <p:cNvPr id="6" name="Oval 5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064" y="1819656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enumerate(..., start=1)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A human-friendly row number starting at 1.</a:t>
            </a:r>
          </a:p>
        </p:txBody>
      </p:sp>
      <p:sp>
        <p:nvSpPr>
          <p:cNvPr id="8" name="Oval 7"/>
          <p:cNvSpPr/>
          <p:nvPr/>
        </p:nvSpPr>
        <p:spPr>
          <a:xfrm>
            <a:off x="8199424" y="2633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8064" y="2669794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Only the conversion in </a:t>
            </a:r>
            <a:r>
              <a:rPr sz="1250" b="1" i="0">
                <a:solidFill>
                  <a:srgbClr val="330066"/>
                </a:solidFill>
                <a:latin typeface="Courier New"/>
              </a:rPr>
              <a:t>try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int(raw)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the only statement guarded.</a:t>
            </a:r>
          </a:p>
        </p:txBody>
      </p:sp>
      <p:sp>
        <p:nvSpPr>
          <p:cNvPr id="10" name="Oval 9"/>
          <p:cNvSpPr/>
          <p:nvPr/>
        </p:nvSpPr>
        <p:spPr>
          <a:xfrm>
            <a:off x="8199424" y="34833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8064" y="3519932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Range check in </a:t>
            </a:r>
            <a:r>
              <a:rPr sz="1250" b="1" i="0">
                <a:solidFill>
                  <a:srgbClr val="330066"/>
                </a:solidFill>
                <a:latin typeface="Courier New"/>
              </a:rPr>
              <a:t>else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age &lt; 0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should only run when conversion succeeded.</a:t>
            </a:r>
          </a:p>
        </p:txBody>
      </p:sp>
      <p:sp>
        <p:nvSpPr>
          <p:cNvPr id="12" name="Oval 11"/>
          <p:cNvSpPr/>
          <p:nvPr/>
        </p:nvSpPr>
        <p:spPr>
          <a:xfrm>
            <a:off x="8199424" y="433349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064" y="4370070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Collect, then report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A report of all problems beats a crash on the first 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61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1: The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435608"/>
          </a:xfrm>
          <a:prstGeom prst="roundRect">
            <a:avLst>
              <a:gd name="adj" fmla="val 50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Valid: [34, 27, 41]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Problems: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- Row 3: '' is not a whole number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- Row 4: 'abc' is not a whole number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- Row 5: age -5 is negative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Valid rows are kept; every problem is listed with its row number.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negative age is not a Python error: it is a business rule.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Next lesson: raise your own exceptions for rules like this; after that, assertions.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61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30066"/>
                </a:solidFill>
              </a:rPr>
              <a:t>Scenario 2: Safe Access for API Responses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3584447"/>
          </a:xfrm>
          <a:prstGeom prst="roundRect">
            <a:avLst>
              <a:gd name="adj" fmla="val 204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3291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response = {"id": 101, "name": "Laptop"}     # no "price" key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# Approach 1: EAFP, "Easier to Ask Forgiveness than Permission"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price = response["price"]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except KeyError: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price = 0.0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# Approach 2: LBYL, "Look Before You Leap"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if "price" in response: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price = response["price"]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else: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price = 0.0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# Approach 3: for this simple case, the idiomatic shortcut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price = response.get("price", 0.0)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print(price)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API responses often omit optional fields.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EAFP ("Easier to Ask Forgiveness than Permission"): try it, handle the failure. Python culture often prefers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It avoids race conditions (a file might vanish between "check exists" and "open it") and keeps the common path uncluttered.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LBYL: "Look Before You Leap".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For simple dictionary defaults,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.get()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is best. Use whichever makes intent clearest.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61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3: Guaranteed Cleanup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949440" cy="3035808"/>
          </a:xfrm>
          <a:prstGeom prst="roundRect">
            <a:avLst>
              <a:gd name="adj" fmla="val 240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547103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import os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temp_path = "temp_test_data.txt"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with open(temp_path, "w") as f: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f.write("id,name\n1,Ada\n")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5C8A8A"/>
                </a:solidFill>
                <a:latin typeface="Courier New"/>
              </a:rPr>
              <a:t>    # ... pretend a test runs here and something goes wrong ...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raise RuntimeError("Simulated test failure")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except RuntimeError as error: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print("Test failed:", error)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finally: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if os.path.exists(temp_path):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os.remove(temp_path)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print("Cleaned up", temp_path)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527608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5550407"/>
            <a:ext cx="6949440" cy="597408"/>
          </a:xfrm>
          <a:prstGeom prst="roundRect">
            <a:avLst>
              <a:gd name="adj" fmla="val 1224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5696712"/>
            <a:ext cx="6547103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Test failed: Simulated test failure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Cleaned up temp_test_data.txt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5104" y="1783080"/>
            <a:ext cx="36566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test creates a temporary data file; even if the test fails, it must be removed so the next run starts clean.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finally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guarantees the clean-up.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os.path.exists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returns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if the path exists;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os.remove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deletes a file (Monday's built-in modules).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61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4: Retry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949440" cy="3797808"/>
          </a:xfrm>
          <a:prstGeom prst="roundRect">
            <a:avLst>
              <a:gd name="adj" fmla="val 192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547103" cy="3505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import random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def flaky_operation():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"""Fails about 2 out of 3 times, to simulate an unstable service."""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if random.random() &lt; 0.66: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raise ConnectionError("Service temporarily unavailable")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return "OK"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max_attempts = 5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for attempt in range(1, max_attempts + 1):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result = flaky_operation()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except ConnectionError as 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print(f"Attempt {attempt} failed: {error}")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else: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print(f"Attempt {attempt} succeeded: {result}")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break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else: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print("All attempts failed")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03808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One possible run (output varies)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6312408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6458712"/>
            <a:ext cx="6547103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Attempt 1 failed: Service temporarily unavailable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Attempt 2 failed: Service temporarily unavailable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Attempt 3 succeeded: 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5104" y="1783080"/>
            <a:ext cx="36566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Flaky, temporary failures (a slow service) are a daily reality in test automation.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350" b="0" i="0">
                <a:solidFill>
                  <a:srgbClr val="1A1A1A"/>
                </a:solidFill>
                <a:latin typeface="Arial"/>
              </a:rPr>
              <a:t>/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/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else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: on success, print and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break</a:t>
            </a:r>
            <a:r>
              <a:rPr sz="13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The final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else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belongs to the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for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loop, not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350" b="0" i="0">
                <a:solidFill>
                  <a:srgbClr val="1A1A1A"/>
                </a:solidFill>
                <a:latin typeface="Arial"/>
              </a:rPr>
              <a:t>: it runs only if the loop finished without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break</a:t>
            </a:r>
            <a:r>
              <a:rPr sz="13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A lesser-known feature, shown so you recognise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61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Best Practices and Common Mistakes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Specific handlers, no silent failures, small try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61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Specific Exceptions, Not Bare except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DO: CATCH SPECIFIC EXCEPTIONS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03120"/>
            <a:ext cx="5303062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49424"/>
            <a:ext cx="4900726" cy="106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5C8A8A"/>
                </a:solidFill>
                <a:latin typeface="Courier New"/>
              </a:rPr>
              <a:t># Good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value = int(text)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except ValueError: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value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DON'T: USE A BARE EXCEPT: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303062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9895" y="2249424"/>
            <a:ext cx="4900726" cy="106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5C8A8A"/>
                </a:solidFill>
                <a:latin typeface="Courier New"/>
              </a:rPr>
              <a:t># Bad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value = int(text)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except: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value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3886200"/>
            <a:ext cx="1097188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bare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except: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catches everything, including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KeyboardInterrupt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(Ctrl+C)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SystemExit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It also hides typos: a misspelled variable inside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raises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NameError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which is silently swallowed. The code "works" but does the wrong thing. One of the worst habits you can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61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Don't Swallow Errors Silently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BEST PRACTICES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06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5C8A8A"/>
                </a:solidFill>
                <a:latin typeface="Courier New"/>
              </a:rPr>
              <a:t># Very bad: the problem vanishes with no trace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process(row)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except Exception: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If a failure is truly ignorable, add a comment explaining why; otherwise record it so someone can investigate.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 test automation, a swallowed exception can make a failing test appear to pass: the most damaging kind of bug for a QE.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4864608"/>
            <a:ext cx="10971885" cy="1234440"/>
          </a:xfrm>
          <a:prstGeom prst="roundRect">
            <a:avLst>
              <a:gd name="adj" fmla="val 6666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8504" y="5001768"/>
            <a:ext cx="10514685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BE CAREFUL WITH EXCEPT EXCEPTION: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Acceptable in a few places: at the very top of a program or test runner to log an unexpected failure and exit cleanly, or at a boundary that deliberately isolates one task from the next. Even then, report the error; never ignore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61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Keep the try Block Small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BEST PRACTICES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3066287"/>
          </a:xfrm>
          <a:prstGeom prst="roundRect">
            <a:avLst>
              <a:gd name="adj" fmla="val 238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773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Hard to reason about: which line raised the ValueError?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data = read_file(path)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rows = parse(data)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total = compute(rows)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save(total)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except ValueError: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Better: guard only what can fail the way you expect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rows = parse(data)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except ValueError as error: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With four calls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which line raised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?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Guard only what can fail the way you expect.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61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More Good Habits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BEST PRACTICES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Handle what you can handle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No sensible recovery? Let it propagate. Catching just to print and then continuing with invalid data creates a second, more confusing failure later.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Include context in messages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"Error" is useless. "Row 17: quantity 'abc' is not a whole number (file: orders.csv)" can be acted on immediately.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4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finally or a context manager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Code after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statement will not run if an unhandled exception occurs, so do not rely on it to close resources.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607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Trap: return inside finally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return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inside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finally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overrides any exception in flight and discards it silently. Avoid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61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Putting It All Together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safe_stats.py: a pass rate from messy test-result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61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safe_stats.py: parse_result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safe_stats.py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2974848"/>
          </a:xfrm>
          <a:prstGeom prst="roundRect">
            <a:avLst>
              <a:gd name="adj" fmla="val 24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2682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"""safe_stats.py - Compute a pass rate from messy test-result records."""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def parse_result(record):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"""Convert one record dict into a (name, passed) tuple.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Raises KeyError if a field is missing, ValueError if 'passed'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is not one of the accepted strings.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name = record["name"]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text = record["passed"].strip().lower()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if text in ("true", "yes", "pass"):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return name, True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if text in ("false", "no", "fail"):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return name, False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raise ValueError(f"unrecognised result value: {record['passed']!r}")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One job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Converts one record into a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(name, passed)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tuple.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2633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2669794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Raises, does not print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Missing field gives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KeyError</a:t>
            </a:r>
            <a:r>
              <a:rPr sz="1250" b="0" i="0">
                <a:solidFill>
                  <a:srgbClr val="1A1A1A"/>
                </a:solidFill>
                <a:latin typeface="Arial"/>
              </a:rPr>
              <a:t>; an unknown value gives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 Reusable and testable.</a:t>
            </a:r>
          </a:p>
        </p:txBody>
      </p:sp>
      <p:sp>
        <p:nvSpPr>
          <p:cNvPr id="11" name="Oval 10"/>
          <p:cNvSpPr/>
          <p:nvPr/>
        </p:nvSpPr>
        <p:spPr>
          <a:xfrm>
            <a:off x="8199424" y="368179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64" y="3718369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.strip().lower()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Accepts "pass", "FAIL", "yes" and so 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61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safe_stats.py: pass_rate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safe_stats.py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3980688"/>
          </a:xfrm>
          <a:prstGeom prst="roundRect">
            <a:avLst>
              <a:gd name="adj" fmla="val 183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3688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def pass_rate(records):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passed = 0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failed = 0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problems = []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for number, record in enumerate(records, start=1):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try: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name, ok = parse_result(record)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except (KeyError, ValueError, AttributeError) as error: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problems.append(f"Record {number}: {type(error).__name__}: {error}")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continue                      # skip this record, go to the next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if ok: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passed += 1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else: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failed += 1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total = passed + failed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rate = passed / total * 100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except ZeroDivisionError: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rate = 0.0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return rate, problems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The policy layer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Catches three exception types in one tuple.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26332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2669794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type(error).__name__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Records a descriptive message for each problem.</a:t>
            </a:r>
          </a:p>
        </p:txBody>
      </p:sp>
      <p:sp>
        <p:nvSpPr>
          <p:cNvPr id="11" name="Oval 10"/>
          <p:cNvSpPr/>
          <p:nvPr/>
        </p:nvSpPr>
        <p:spPr>
          <a:xfrm>
            <a:off x="8199424" y="34833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64" y="3519932"/>
            <a:ext cx="283372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continue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Skips to the next record.</a:t>
            </a:r>
          </a:p>
        </p:txBody>
      </p:sp>
      <p:sp>
        <p:nvSpPr>
          <p:cNvPr id="13" name="Oval 12"/>
          <p:cNvSpPr/>
          <p:nvPr/>
        </p:nvSpPr>
        <p:spPr>
          <a:xfrm>
            <a:off x="8199424" y="41350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8064" y="4171632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Guard just the division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If no records were valid,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ZeroDivisionError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falls back to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0.0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61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safe_stats.py: Sample Data and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807208"/>
          </a:xfrm>
          <a:prstGeom prst="roundRect">
            <a:avLst>
              <a:gd name="adj" fmla="val 260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records = [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{"name": "login", "passed": "pass"},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{"name": "logout", "passed": "FAIL"},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{"name": "search"},                         # missing 'passed'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{"name": "checkout", "passed": "maybe"},    # bad value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{"name": "profile", "passed": None},        # None has no .strip()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{"name": "cart", "passed": "yes"},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rate, problems = pass_rate(records)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print(f"Pass rate: {rate:.1f}%")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for line in problems: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print(" ", line)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print("Empty input:", pass_rate([]))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sample data deliberately includes three kinds of bad records.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Save as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safe_stats.py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run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python safe_stats.py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47 / 61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safe_stats.py: Expected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Two of three valid records passed; each bad record is reported with its exception type and message; empty input returns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(0.0, [])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69464"/>
            <a:ext cx="10971885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715768"/>
            <a:ext cx="10569549" cy="106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Pass rate: 66.7%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Record 3: KeyError: 'passed'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Record 4: ValueError: unrecognised result value: 'maybe'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Record 5: AttributeError: 'NoneType' object has no attribute 'strip'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Empty input: (0.0, [])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48 / 61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Try each one yourself before looking at the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49 / 61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Exercise 1: Predict the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3462527"/>
          </a:xfrm>
          <a:prstGeom prst="roundRect">
            <a:avLst>
              <a:gd name="adj" fmla="val 211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3169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check(x):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print("A")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result = 10 / x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print("B")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except ZeroDivisionError: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print("C")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return "zero"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else: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print("D")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return result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finally: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print("E")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print(check(5))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print(check(0))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What does this print?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50 / 61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Exercise 2: Fix the Handler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892808"/>
          </a:xfrm>
          <a:prstGeom prst="roundRect">
            <a:avLst>
              <a:gd name="adj" fmla="val 386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my_list = [1, 2, 3]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print(my_list[10])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except LookupError: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print("Some lookup problem")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except IndexError: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print("Index is out of range")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This code never prints the specific message.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Why, and how do you fix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51 / 61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Exercises 3 and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Safe integer reader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Write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to_int(text, default=0)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that returns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int(text)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default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if the text cannot be converted. It must also cope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Test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"12"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"x"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""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77971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816288"/>
            <a:ext cx="10423245" cy="768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Dictionary field checker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Write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get_email(user)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that returns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user["contact"]["email"]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"unknown"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if either key is missing, using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/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Test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{"contact": {"email": "a@b.com"}}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{"contact": {}}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{}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52 / 61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Exercise 5: Spot the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892808"/>
          </a:xfrm>
          <a:prstGeom prst="roundRect">
            <a:avLst>
              <a:gd name="adj" fmla="val 386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f = open("results.txt")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data = f.read()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total = int(data) / len(data.split())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print(total)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except: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List at least three things wrong with this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4956048"/>
            <a:ext cx="10971885" cy="1143000"/>
          </a:xfrm>
          <a:prstGeom prst="roundRect">
            <a:avLst>
              <a:gd name="adj" fmla="val 7199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8504" y="5093208"/>
            <a:ext cx="1051468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EXERCISE 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Cleanup guarantee. Open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"scratch.txt"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writing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open()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(no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with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), write a line inside 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deliberately raise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catch it, and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finally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close the file. Print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file.closed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at the end to prove it is closed.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53 / 61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2743200" cy="2075688"/>
          </a:xfrm>
          <a:prstGeom prst="roundRect">
            <a:avLst>
              <a:gd name="adj" fmla="val 352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2340864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A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B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2.0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A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18864" y="1783080"/>
            <a:ext cx="78629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50" b="0" i="0">
                <a:solidFill>
                  <a:srgbClr val="330066"/>
                </a:solidFill>
                <a:latin typeface="Courier New"/>
              </a:rPr>
              <a:t>check(5)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B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(no error);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else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prints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returns 2.0, but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finally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still runs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 before the value is returned and printed.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50" b="0" i="0">
                <a:solidFill>
                  <a:srgbClr val="330066"/>
                </a:solidFill>
                <a:latin typeface="Courier New"/>
              </a:rPr>
              <a:t>check(0)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</a:t>
            </a:r>
            <a:r>
              <a:rPr sz="1600" b="0" i="0">
                <a:solidFill>
                  <a:srgbClr val="1A1A1A"/>
                </a:solidFill>
                <a:latin typeface="Arial"/>
              </a:rPr>
              <a:t>; the division fails so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B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skipped;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prints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returns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"zero"</a:t>
            </a:r>
            <a:r>
              <a:rPr sz="16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finally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prints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; then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zero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printed.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54 / 61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892808"/>
          </a:xfrm>
          <a:prstGeom prst="roundRect">
            <a:avLst>
              <a:gd name="adj" fmla="val 386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my_list = [1, 2, 3]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print(my_list[10])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except IndexError: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print("Index is out of range")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except LookupError: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print("Some lookup problem")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IndexError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a subclass of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LookupError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so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 LookupError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matches first and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IndexError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handler is unreachable.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Fix: put the specific one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55 / 61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3 and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ANSWER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03120"/>
            <a:ext cx="5303062" cy="2045207"/>
          </a:xfrm>
          <a:prstGeom prst="roundRect">
            <a:avLst>
              <a:gd name="adj" fmla="val 357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49424"/>
            <a:ext cx="4900726" cy="1752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def to_int(text, default=0):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return int(text)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except (ValueError, TypeError):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return default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print(to_int("12"))   # 12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print(to_int("x"))    # 0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print(to_int(None))   # 0  (int(None) raises TypeError)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print(to_int(""))     #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ANSWER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303062" cy="1664208"/>
          </a:xfrm>
          <a:prstGeom prst="roundRect">
            <a:avLst>
              <a:gd name="adj" fmla="val 43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9895" y="2249424"/>
            <a:ext cx="490072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get_email(user):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return user["contact"]["email"]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except KeyError: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return "unknown"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print(get_email({"contact": {"email": "a@b.com"}}))  # a@b.com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print(get_email({"contact": {}}))                    # unknown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print(get_email({}))                                 # unknown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5733288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ourier New"/>
              </a:rPr>
              <a:t>int(None)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raises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TypeError</a:t>
            </a:r>
            <a:r>
              <a:rPr sz="1400" b="0" i="0">
                <a:solidFill>
                  <a:srgbClr val="5A5A5A"/>
                </a:solidFill>
                <a:latin typeface="Arial"/>
              </a:rPr>
              <a:t>, so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to_int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catches both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ValueError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and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TypeError</a:t>
            </a:r>
            <a:r>
              <a:rPr sz="1400" b="0" i="0">
                <a:solidFill>
                  <a:srgbClr val="5A5A5A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56 / 61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bare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except: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catches everything, including Ctrl+C.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0428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377440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pass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swallows errors silently: a missing file, a bad number or a division by zero all look identical (nothing).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6341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36570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file is never closed.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48462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557778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block is too large and mixes unrelated failures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FileNotFoundError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ZeroDivisionError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 that deserve different handling.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1437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544" y="4216908"/>
            <a:ext cx="10423245" cy="521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int(data)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converts the entire file text, almost certainly not the intent,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data.split()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may be empty.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5733288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An improved version handles each specific failure with its own message.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57 / 61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578608"/>
          </a:xfrm>
          <a:prstGeom prst="roundRect">
            <a:avLst>
              <a:gd name="adj" fmla="val 28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file = open("scratch.txt", "w")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file.write("first line\n")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raise ValueError("simulated problem")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except ValueError as error: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print("Caught:", error)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finally: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file.close()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print("Closed?", file.closed)   #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58 / 61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An exception is an object raised when something goes wrong at runtime; unhandled, it ends the program with a traceback (read it bottom up).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holds the risky code;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handles a failure;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else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runs only when no exception happened;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finally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always runs and is for cleanup.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Catch specific exceptions.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 name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to access the message. Group types in a tuple when the response is identical.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4751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20668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Exceptions form a hierarchy: a parent catches its children, so list specific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blocks before general 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59 / 61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Handle an exception at the level that knows what to do about it; otherwise let it propagate. A bare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raise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re-raises.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Avoid bare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except: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avoid swallowing errors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pass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keep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blocks small, always give useful context.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 QA work, solid handling turns "the script crashed" into "row 17 had a bad value": the difference between a mystery and a report.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4751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20668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Coming up: raising your own exceptions and custom exception classes, then assertions, file handling, CSV/JSON/XML, and context managers.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60 / 61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Tutorial, "Errors and Exceptions"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https://docs.python.org/3/tutorial/errors.html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Language Reference, "The try statement"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https://docs.python.org/3/reference/compound_stmts.html#the-try-statement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Library Reference, "Built-in Exceptions" (full hierarchy)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https://docs.python.org/3/library/exceptions.html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61 / 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7245</Words>
  <Application>Microsoft Office PowerPoint</Application>
  <PresentationFormat>Widescreen</PresentationFormat>
  <Paragraphs>1012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5" baseType="lpstr">
      <vt:lpstr>Arial</vt:lpstr>
      <vt:lpstr>Courier New</vt:lpstr>
      <vt:lpstr>Wingdings</vt:lpstr>
      <vt:lpstr>Learners Point</vt:lpstr>
      <vt:lpstr>Try, Except, Else and Finally</vt:lpstr>
      <vt:lpstr>Learning Objectives (1 of 2)</vt:lpstr>
      <vt:lpstr>Learning Objectives (2 of 2)</vt:lpstr>
      <vt:lpstr>Why This Matters</vt:lpstr>
      <vt:lpstr>Two Kinds of Failure</vt:lpstr>
      <vt:lpstr>The Concept</vt:lpstr>
      <vt:lpstr>Syntax Errors vs Exceptions</vt:lpstr>
      <vt:lpstr>What Is an Exception?</vt:lpstr>
      <vt:lpstr>Reading a Traceback</vt:lpstr>
      <vt:lpstr>How to Read It</vt:lpstr>
      <vt:lpstr>The Basic try / except</vt:lpstr>
      <vt:lpstr>A First Complete Example</vt:lpstr>
      <vt:lpstr>Line by Line</vt:lpstr>
      <vt:lpstr>Exceptions QA Engineers Meet (1 of 2)</vt:lpstr>
      <vt:lpstr>Exceptions QA Engineers Meet (2 of 2)</vt:lpstr>
      <vt:lpstr>Seeing Them Triggered</vt:lpstr>
      <vt:lpstr>The Output</vt:lpstr>
      <vt:lpstr>Capturing the Exception with as</vt:lpstr>
      <vt:lpstr>Exception-Specific Attributes</vt:lpstr>
      <vt:lpstr>Option A: Separate except Blocks</vt:lpstr>
      <vt:lpstr>Option B: One except with a Tuple</vt:lpstr>
      <vt:lpstr>The Exception Hierarchy</vt:lpstr>
      <vt:lpstr>Why Order Matters</vt:lpstr>
      <vt:lpstr>The else Clause</vt:lpstr>
      <vt:lpstr>else: Where the Difference Is Real</vt:lpstr>
      <vt:lpstr>The finally Clause</vt:lpstr>
      <vt:lpstr>What finally Is For: Cleanup</vt:lpstr>
      <vt:lpstr>The Complete Form</vt:lpstr>
      <vt:lpstr>Tracing the Execution Order</vt:lpstr>
      <vt:lpstr>The Three Possible Paths</vt:lpstr>
      <vt:lpstr>Exceptions Travel Up the Call Stack</vt:lpstr>
      <vt:lpstr>Re-raising (A First Look)</vt:lpstr>
      <vt:lpstr>Real-World QA Scenarios</vt:lpstr>
      <vt:lpstr>Scenario 1: A Resilient Test-Data Reader</vt:lpstr>
      <vt:lpstr>Scenario 1: The Report</vt:lpstr>
      <vt:lpstr>Scenario 2: Safe Access for API Responses</vt:lpstr>
      <vt:lpstr>Scenario 3: Guaranteed Cleanup</vt:lpstr>
      <vt:lpstr>Scenario 4: Retry Logic</vt:lpstr>
      <vt:lpstr>Best Practices and Common Mistakes</vt:lpstr>
      <vt:lpstr>Specific Exceptions, Not Bare except</vt:lpstr>
      <vt:lpstr>Don't Swallow Errors Silently</vt:lpstr>
      <vt:lpstr>Keep the try Block Small</vt:lpstr>
      <vt:lpstr>More Good Habits</vt:lpstr>
      <vt:lpstr>Putting It All Together</vt:lpstr>
      <vt:lpstr>safe_stats.py: parse_result</vt:lpstr>
      <vt:lpstr>safe_stats.py: pass_rate</vt:lpstr>
      <vt:lpstr>safe_stats.py: Sample Data and Report</vt:lpstr>
      <vt:lpstr>safe_stats.py: Expected Output</vt:lpstr>
      <vt:lpstr>Practice</vt:lpstr>
      <vt:lpstr>Exercise 1: Predict the Output</vt:lpstr>
      <vt:lpstr>Exercise 2: Fix the Handler Order</vt:lpstr>
      <vt:lpstr>Exercises 3 and 4</vt:lpstr>
      <vt:lpstr>Exercise 5: Spot the Problems</vt:lpstr>
      <vt:lpstr>Answer 1</vt:lpstr>
      <vt:lpstr>Answer 2</vt:lpstr>
      <vt:lpstr>Answers 3 and 4</vt:lpstr>
      <vt:lpstr>Answer 5</vt:lpstr>
      <vt:lpstr>Answer 6</vt:lpstr>
      <vt:lpstr>Key Takeaways (1 of 2)</vt:lpstr>
      <vt:lpstr>Key Takeaways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4</cp:revision>
  <dcterms:modified xsi:type="dcterms:W3CDTF">2026-10-18T09:27:33Z</dcterms:modified>
</cp:coreProperties>
</file>