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10/18/2026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10/18/2026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Raising and Custom Exceptions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Signal errors from your own code, chain causes, and design exception classes that explain themselves.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3520439"/>
            <a:ext cx="1057275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raise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75861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124379" y="3520439"/>
            <a:ext cx="213741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raise ... from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35322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718989" y="3520439"/>
            <a:ext cx="213741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custom classes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4783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3599" y="3520439"/>
            <a:ext cx="177736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hierarchies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18240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548164" y="3520439"/>
            <a:ext cx="2017394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guard clauses</a:t>
            </a:r>
          </a:p>
        </p:txBody>
      </p:sp>
      <p:sp>
        <p:nvSpPr>
          <p:cNvPr id="14" name="Oval 13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(1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Use the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raise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statement to signal an error from your own code.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Choose the most appropriate built-in exception for a situation.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why a function should raise rather than return a "magic" error value.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Re-raise with a bare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raise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and chain exceptions using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raise ... from ...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" y="4507992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6832" y="4416552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Create custom exception classes by inheriting from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Exception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 / 55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(2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Design a small exception hierarchy for a project (a base class plus specific children).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Add extra information (attributes, formatted messages) to a custom exception.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Catch custom exceptions at different levels of generality.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Apply naming and design conventions used by professional Python code.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 / 55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previous lesson: how to catch exceptions raised by Python. This lesson: how to raise them yourself. Why create an error on purpose? Because your own code makes decisions Python knows nothing about: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697480"/>
            <a:ext cx="62179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Python does not know a test-data row with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age = -5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is invalid. You know that.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Python does not know your test-data file must contain an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email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column. Your project knows that.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Python does not know that a configuration file with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"browser": "netscape"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is unsupported.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93584" y="2697480"/>
            <a:ext cx="4388205" cy="1828800"/>
          </a:xfrm>
          <a:prstGeom prst="roundRect">
            <a:avLst>
              <a:gd name="adj" fmla="val 45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22184" y="2834640"/>
            <a:ext cx="3931005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THE STANDARD WAY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When your code detects a problem like this, it needs a clear, standard way to say "stop, this is wrong, and here is exactly why". That way is raising an exception.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 / 55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Custom Exceptions for QEs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 test framework must distinguish between: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33172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368296"/>
            <a:ext cx="10423245" cy="5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Courier New"/>
              </a:rPr>
              <a:t>TestDataError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"The input data was bad" (probably the data owner's problem).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2998787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035363"/>
            <a:ext cx="10423245" cy="5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Courier New"/>
              </a:rPr>
              <a:t>EnvironmentError</a:t>
            </a:r>
            <a:r>
              <a:rPr sz="1550" b="1" i="0">
                <a:solidFill>
                  <a:srgbClr val="330066"/>
                </a:solidFill>
                <a:latin typeface="Arial"/>
              </a:rPr>
              <a:t>-style problems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"The server is not reachable" (probably an infrastructure issue).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66585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8544" y="3702431"/>
            <a:ext cx="10423245" cy="5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A genuine product defect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bug to be logged.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4297680"/>
            <a:ext cx="10971885" cy="74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 dirty="0">
                <a:solidFill>
                  <a:srgbClr val="1A1A1A"/>
                </a:solidFill>
                <a:latin typeface="Arial"/>
              </a:rPr>
              <a:t>Well-named exceptions let handlers route each kind of problem to the right person or process. Instead of a vague </a:t>
            </a:r>
            <a:r>
              <a:rPr sz="1450" b="0" i="0" dirty="0">
                <a:solidFill>
                  <a:srgbClr val="330066"/>
                </a:solidFill>
                <a:latin typeface="Courier New"/>
              </a:rPr>
              <a:t>Exception: something broke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, you get names like </a:t>
            </a:r>
            <a:r>
              <a:rPr sz="1450" b="0" i="0" dirty="0" err="1">
                <a:solidFill>
                  <a:srgbClr val="330066"/>
                </a:solidFill>
                <a:latin typeface="Courier New"/>
              </a:rPr>
              <a:t>MissingColumnError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or </a:t>
            </a:r>
            <a:r>
              <a:rPr sz="1450" b="0" i="0" dirty="0" err="1">
                <a:solidFill>
                  <a:srgbClr val="330066"/>
                </a:solidFill>
                <a:latin typeface="Courier New"/>
              </a:rPr>
              <a:t>InvalidRecordError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that explain themselves in a report or CI log.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 / 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Concept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raise, chaining, custom classes, hierarchies, design guidelines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 / 55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raise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raise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creates an exception and immediately starts propagation, exactly as if Python had raised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221991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Basic syntax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496311"/>
            <a:ext cx="6035040" cy="490727"/>
          </a:xfrm>
          <a:prstGeom prst="roundRect">
            <a:avLst>
              <a:gd name="adj" fmla="val 1490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2642615"/>
            <a:ext cx="5632703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raise ExceptionType("A helpful message")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3169919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Example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3444239"/>
            <a:ext cx="6035040" cy="1877568"/>
          </a:xfrm>
          <a:prstGeom prst="roundRect">
            <a:avLst>
              <a:gd name="adj" fmla="val 389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072" y="3590543"/>
            <a:ext cx="5632703" cy="1584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def set_age(age):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if age &lt; 0: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raise ValueError("Age cannot be negative")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return age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print(set_age(30))     # 30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print(set_age(-5))     # raises ValueError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0704" y="2221991"/>
            <a:ext cx="4571085" cy="39227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1.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ValueError("Age cannot be negative")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creates an exception object, storing your message.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2.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raise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throws it. The function stops immediately; nothing after 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raise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line in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set_age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runs.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3. Python searches the calling code for a matching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Finding none, the program ends with a traceback showing your message.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7 / 55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The Resulting Traceback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892808"/>
          </a:xfrm>
          <a:prstGeom prst="roundRect">
            <a:avLst>
              <a:gd name="adj" fmla="val 386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30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Traceback (most recent call last):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File "example.py", line 7, in &lt;module&gt;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print(set_age(-5))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File "example.py", line 3, in set_age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raise ValueError("Age cannot be negative")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ValueError: Age cannot be negative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8 / 55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Catching What You Raise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You can (and should) catch it like any other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852160" cy="1207008"/>
          </a:xfrm>
          <a:prstGeom prst="roundRect">
            <a:avLst>
              <a:gd name="adj" fmla="val 606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44982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set_age(-5)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except ValueError as error:</a:t>
            </a:r>
          </a:p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    print("Rejected:", error)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447288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721608"/>
            <a:ext cx="5852160" cy="521208"/>
          </a:xfrm>
          <a:prstGeom prst="roundRect">
            <a:avLst>
              <a:gd name="adj" fmla="val 1403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867912"/>
            <a:ext cx="5449824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Rejected: Age cannot be negative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7824" y="1783080"/>
            <a:ext cx="47539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raise ValueError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(a class, no parentheses) also works: Python creates the object with no message.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Always include a message: an error without context wastes everyone's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9 / 55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Not Return an Error Value?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 beginner might write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852160" cy="1146048"/>
          </a:xfrm>
          <a:prstGeom prst="roundRect">
            <a:avLst>
              <a:gd name="adj" fmla="val 638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449824" cy="85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def divide(a, b):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if b == 0: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    return -1          # "-1 means error"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return a /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386328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What happens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660647"/>
            <a:ext cx="5852160" cy="719328"/>
          </a:xfrm>
          <a:prstGeom prst="roundRect">
            <a:avLst>
              <a:gd name="adj" fmla="val 1016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806952"/>
            <a:ext cx="5449824" cy="426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result = divide(10, 0)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print(result + 100)        # 99, silently wrong!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7824" y="1783080"/>
            <a:ext cx="47539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This is a design trap.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50" b="0" i="0">
                <a:solidFill>
                  <a:srgbClr val="330066"/>
                </a:solidFill>
                <a:latin typeface="Courier New"/>
              </a:rPr>
              <a:t>divide(-10, 10)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legitimately returns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-1.0</a:t>
            </a:r>
            <a:r>
              <a:rPr sz="1500" b="0" i="0">
                <a:solidFill>
                  <a:srgbClr val="1A1A1A"/>
                </a:solidFill>
                <a:latin typeface="Arial"/>
              </a:rPr>
              <a:t>: the caller cannot tell "error" from "valid result".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If the caller forgets to check, the bad value flows onward and causes a confusing failure far from the real cause.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10 / 55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Exceptions Solve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19656"/>
            <a:ext cx="10423245" cy="5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Cannot be ignored by accident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If nobody handles them, the program stops loudly.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5929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95867"/>
            <a:ext cx="10423245" cy="5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Separate the paths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Normal path vs error path, so the return value always means what it says.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135503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72079"/>
            <a:ext cx="10423245" cy="5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Carry a message and type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They describe the problem.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81171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848290"/>
            <a:ext cx="10423245" cy="5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Propagate automatically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Up to the code that knows what to 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904" y="5276088"/>
            <a:ext cx="10971885" cy="822960"/>
          </a:xfrm>
          <a:prstGeom prst="roundRect">
            <a:avLst>
              <a:gd name="adj" fmla="val 10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8504" y="5413248"/>
            <a:ext cx="1051468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RULE OF THUMB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Fail fast and fail loudly. If a function cannot do its job properly, raise an exception.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11 / 55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Choosing the Right Built-in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3637026"/>
        </p:xfrm>
        <a:graphic>
          <a:graphicData uri="http://schemas.openxmlformats.org/drawingml/2006/table">
            <a:tbl>
              <a:tblPr/>
              <a:tblGrid>
                <a:gridCol w="68025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9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Situation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</a:rPr>
                        <a:t>Suggested exception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Argument has the right type but an unacceptable value (negative age, empty name)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ValueError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Argument has the wrong type (string given where a number is needed)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TypeError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A required key is missing from a mapping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KeyError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A required file does not exist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FileNotFoundError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An operation is not allowed in the current state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RuntimeError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189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A feature is not written yet (placeholder)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NotImplementedError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207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A1A1A"/>
                          </a:solidFill>
                          <a:latin typeface="Arial"/>
                        </a:rPr>
                        <a:t>Value outside an allowed range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ValueError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(or </a:t>
                      </a:r>
                      <a:r>
                        <a:rPr sz="1300" b="0" i="0">
                          <a:solidFill>
                            <a:srgbClr val="330066"/>
                          </a:solidFill>
                          <a:latin typeface="Courier New"/>
                        </a:rPr>
                        <a:t>OverflowError</a:t>
                      </a:r>
                      <a:r>
                        <a:rPr sz="1350" b="0" i="0">
                          <a:solidFill>
                            <a:srgbClr val="1A1A1A"/>
                          </a:solidFill>
                          <a:latin typeface="Arial"/>
                        </a:rPr>
                        <a:t> for numeric overflow)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5733288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Arial"/>
              </a:rPr>
              <a:t>Check whether a built-in fits before inventing a new exception: standard types make your code predictable for other Python developers.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12 / 55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Built-ins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2121408"/>
          </a:xfrm>
          <a:prstGeom prst="roundRect">
            <a:avLst>
              <a:gd name="adj" fmla="val 344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8287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def set_browser(name):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if not isinstance(name, str):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raise TypeError(f"browser name must be a string, got {type(name).__name__}")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if name.lower() not in ("chrome", "firefox", "edge"):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raise ValueError(f"unsupported browser: {name!r}")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return name.lower()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class ReportExporter: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def export(self):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raise NotImplementedError("Subclasses must implement export()")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isinstance(name, str)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: a non-string is a type problem, so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TypeError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type(name).__name__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gets the class name (like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'int'</a:t>
            </a:r>
            <a:r>
              <a:rPr sz="1300" b="0" i="0">
                <a:solidFill>
                  <a:srgbClr val="1A1A1A"/>
                </a:solidFill>
                <a:latin typeface="Arial"/>
              </a:rPr>
              <a:t>) for a precise message.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name.lower() not in (...)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: an unknown browser is a value problem, so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ValueError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{name!r}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prints the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repr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(with quotes):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unsupported browser: ''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beats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unsupported browser: 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NotImplementedError</a:t>
            </a:r>
            <a:r>
              <a:rPr sz="1300" b="0" i="0">
                <a:solidFill>
                  <a:srgbClr val="1A1A1A"/>
                </a:solidFill>
                <a:latin typeface="Arial"/>
              </a:rPr>
              <a:t>: "child classes must fill this in".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13 / 55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Re-raising: the Bare raise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412748"/>
          </a:xfrm>
          <a:prstGeom prst="roundRect">
            <a:avLst>
              <a:gd name="adj" fmla="val 517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1201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def load_config(path):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with open(path) as f: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    return f.read()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except FileNotFoundError: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print(f"[config] Missing configuration file: {path}")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raise                      # let the caller decide what to do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Inside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a bare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raise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re-throws the current exception with its original traceback intact.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Use it to observe (record, print, annotate) a failure but not decide its outcome.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caller still receives the original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FileNotFoundError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14 / 55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Creating a Custom Exception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459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 dirty="0">
                <a:solidFill>
                  <a:srgbClr val="1A1A1A"/>
                </a:solidFill>
                <a:latin typeface="Arial"/>
              </a:rPr>
              <a:t>A class that inherits from </a:t>
            </a:r>
            <a:r>
              <a:rPr sz="1450" b="0" i="0" dirty="0">
                <a:solidFill>
                  <a:srgbClr val="330066"/>
                </a:solidFill>
                <a:latin typeface="Courier New"/>
              </a:rPr>
              <a:t>Exception</a:t>
            </a:r>
            <a:r>
              <a:rPr sz="1500" b="0" i="0" dirty="0">
                <a:solidFill>
                  <a:srgbClr val="1A1A1A"/>
                </a:solidFill>
                <a:latin typeface="Arial"/>
              </a:rPr>
              <a:t> (or another exception class).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2523744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The minimal 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904" y="2798063"/>
            <a:ext cx="5852160" cy="673607"/>
          </a:xfrm>
          <a:prstGeom prst="roundRect">
            <a:avLst>
              <a:gd name="adj" fmla="val 1085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1072" y="2944368"/>
            <a:ext cx="5449824" cy="380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class TestDataError(Exception):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"""Raised when test data is missing or invalid."""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3654551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Already behaves like a built-in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904" y="3928871"/>
            <a:ext cx="5852160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1072" y="4075175"/>
            <a:ext cx="5449824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raise TestDataError("users.csv has no rows")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except TestDataError as error: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print("Caught:", error)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5166359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904" y="5440679"/>
            <a:ext cx="5852160" cy="483108"/>
          </a:xfrm>
          <a:prstGeom prst="roundRect">
            <a:avLst>
              <a:gd name="adj" fmla="val 151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1072" y="5586983"/>
            <a:ext cx="5449824" cy="190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Caught: users.csv has no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7824" y="2523744"/>
            <a:ext cx="4753965" cy="3621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(Exception)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means "inherit from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Exception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": the class gets a message, a traceback, and can be raised and caught.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docstring describes when it is used; it is enough as the class body.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Names end in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Error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(sometimes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Exception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/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Warning</a:t>
            </a:r>
            <a:r>
              <a:rPr sz="1300" b="0" i="0">
                <a:solidFill>
                  <a:srgbClr val="1A1A1A"/>
                </a:solidFill>
                <a:latin typeface="Arial"/>
              </a:rPr>
              <a:t>), CapWords style.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Inherit from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Exception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not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BaseException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(reserved for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KeyboardInterrupt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SystemExit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; would escape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except Exception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19 / 55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 Note on Naming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463040"/>
          </a:xfrm>
          <a:prstGeom prst="roundRect">
            <a:avLst>
              <a:gd name="adj" fmla="val 5624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20240"/>
            <a:ext cx="10514685" cy="6910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 dirty="0">
                <a:solidFill>
                  <a:srgbClr val="5C8A8A"/>
                </a:solidFill>
                <a:latin typeface="Arial"/>
              </a:rPr>
              <a:t>NOTE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 dirty="0">
                <a:solidFill>
                  <a:srgbClr val="1A1A1A"/>
                </a:solidFill>
                <a:latin typeface="Arial"/>
              </a:rPr>
              <a:t>A class whose name starts with </a:t>
            </a:r>
            <a:r>
              <a:rPr sz="1350" b="0" i="0" dirty="0">
                <a:solidFill>
                  <a:srgbClr val="330066"/>
                </a:solidFill>
                <a:latin typeface="Courier New"/>
              </a:rPr>
              <a:t>Test</a:t>
            </a:r>
            <a:r>
              <a:rPr sz="1400" b="0" i="0" dirty="0">
                <a:solidFill>
                  <a:srgbClr val="1A1A1A"/>
                </a:solidFill>
                <a:latin typeface="Arial"/>
              </a:rPr>
              <a:t> can be mistaken for a test class by some test-discovery tools. </a:t>
            </a:r>
            <a:br>
              <a:rPr lang="en-US" sz="1400" b="0" i="0" dirty="0">
                <a:solidFill>
                  <a:srgbClr val="1A1A1A"/>
                </a:solidFill>
                <a:latin typeface="Arial"/>
              </a:rPr>
            </a:br>
            <a:r>
              <a:rPr sz="1400" b="0" i="0" dirty="0">
                <a:solidFill>
                  <a:srgbClr val="1A1A1A"/>
                </a:solidFill>
                <a:latin typeface="Arial"/>
              </a:rPr>
              <a:t>Many teams name such exceptions </a:t>
            </a:r>
            <a:r>
              <a:rPr sz="1350" b="0" i="0" dirty="0" err="1">
                <a:solidFill>
                  <a:srgbClr val="330066"/>
                </a:solidFill>
                <a:latin typeface="Courier New"/>
              </a:rPr>
              <a:t>DataValidationError</a:t>
            </a:r>
            <a:r>
              <a:rPr sz="1400" b="0" i="0" dirty="0">
                <a:solidFill>
                  <a:srgbClr val="1A1A1A"/>
                </a:solidFill>
                <a:latin typeface="Arial"/>
              </a:rPr>
              <a:t> or </a:t>
            </a:r>
            <a:r>
              <a:rPr sz="1350" b="0" i="0" dirty="0" err="1">
                <a:solidFill>
                  <a:srgbClr val="330066"/>
                </a:solidFill>
                <a:latin typeface="Courier New"/>
              </a:rPr>
              <a:t>InvalidTestDataError</a:t>
            </a:r>
            <a:r>
              <a:rPr sz="1400" b="0" i="0" dirty="0">
                <a:solidFill>
                  <a:srgbClr val="1A1A1A"/>
                </a:solidFill>
                <a:latin typeface="Arial"/>
              </a:rPr>
              <a:t>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20 / 55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Specific Names Make Handlers Precise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Hard to use: callers parse the message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949440" cy="643128"/>
          </a:xfrm>
          <a:prstGeom prst="roundRect">
            <a:avLst>
              <a:gd name="adj" fmla="val 1137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6547103" cy="35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5C8A8A"/>
                </a:solidFill>
                <a:latin typeface="Courier New"/>
              </a:rPr>
              <a:t># Hard to use: callers must parse the message text to know what happened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raise Exception("Missing column: email")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883408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A named exception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157728"/>
            <a:ext cx="6949440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304032"/>
            <a:ext cx="6547103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class MissingColumnError(Exception):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pass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raise MissingColumnError("email")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4395216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Callers can now write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4" y="4669536"/>
            <a:ext cx="6949440" cy="1435607"/>
          </a:xfrm>
          <a:prstGeom prst="roundRect">
            <a:avLst>
              <a:gd name="adj" fmla="val 50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1072" y="4815840"/>
            <a:ext cx="6547103" cy="1142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load_users("users.csv")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except MissingColumnError: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print("Fix the file header")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except FileNotFoundError: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print("Wrong path")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5104" y="1783080"/>
            <a:ext cx="36566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Never depend on string-matching error messages.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A1A1A"/>
                </a:solidFill>
                <a:latin typeface="Arial"/>
              </a:rPr>
              <a:t>Messages are for humans; types are for code.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21 / 55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Adding Information: __init__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7223760" cy="2471928"/>
          </a:xfrm>
          <a:prstGeom prst="roundRect">
            <a:avLst>
              <a:gd name="adj" fmla="val 295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6821424" cy="2179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class InvalidRecordError(Exception):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"""A single record failed validation."""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def __init__(self, row_number, field, value, reason):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self.row_number = row_number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self.field = field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self.value = value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self.reason = reason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message = (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f"Row {row_number}: field {field!r} has invalid value 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f"{value!r} ({reason})"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super().__init__(message)</a:t>
            </a:r>
          </a:p>
        </p:txBody>
      </p:sp>
      <p:sp>
        <p:nvSpPr>
          <p:cNvPr id="6" name="Oval 5"/>
          <p:cNvSpPr/>
          <p:nvPr/>
        </p:nvSpPr>
        <p:spPr>
          <a:xfrm>
            <a:off x="819942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064" y="1819656"/>
            <a:ext cx="2833725" cy="1045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__init__(self, ...)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The constructor, called by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InvalidRecordError(17, "age", ...)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self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is the object being created.</a:t>
            </a:r>
          </a:p>
        </p:txBody>
      </p:sp>
      <p:sp>
        <p:nvSpPr>
          <p:cNvPr id="8" name="Oval 7"/>
          <p:cNvSpPr/>
          <p:nvPr/>
        </p:nvSpPr>
        <p:spPr>
          <a:xfrm>
            <a:off x="8199424" y="3030093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48064" y="3066669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self.row_number = ...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Stores details as attributes that handlers can read later.</a:t>
            </a:r>
          </a:p>
        </p:txBody>
      </p:sp>
      <p:sp>
        <p:nvSpPr>
          <p:cNvPr id="10" name="Oval 9"/>
          <p:cNvSpPr/>
          <p:nvPr/>
        </p:nvSpPr>
        <p:spPr>
          <a:xfrm>
            <a:off x="8199424" y="388023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48064" y="3916806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message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A readable string built with an f-string.</a:t>
            </a:r>
          </a:p>
        </p:txBody>
      </p:sp>
      <p:sp>
        <p:nvSpPr>
          <p:cNvPr id="12" name="Oval 11"/>
          <p:cNvSpPr/>
          <p:nvPr/>
        </p:nvSpPr>
        <p:spPr>
          <a:xfrm>
            <a:off x="8199424" y="473036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064" y="4766944"/>
            <a:ext cx="2833725" cy="1045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super().__init__(message)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Calls the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Exception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constructor so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str(error)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and the traceback show the message. Forgetting it is a common mistake.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22 / 55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Using the Structured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Usage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10971885" cy="1389888"/>
          </a:xfrm>
          <a:prstGeom prst="roundRect">
            <a:avLst>
              <a:gd name="adj" fmla="val 526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0569549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raise InvalidRecordError(17, "age", "-5", "must not be negative")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except InvalidRecordError as error: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print(error)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print("row   =", error.row_number)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print("field =", error.field)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630168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904487"/>
            <a:ext cx="10971885" cy="841247"/>
          </a:xfrm>
          <a:prstGeom prst="roundRect">
            <a:avLst>
              <a:gd name="adj" fmla="val 86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4050791"/>
            <a:ext cx="10569549" cy="548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Row 17: field 'age' has invalid value '-5' (must not be negative)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row   = 17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field = 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5733288"/>
            <a:ext cx="1097188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Arial"/>
              </a:rPr>
              <a:t>A report generator can build a table of </a:t>
            </a:r>
            <a:r>
              <a:rPr sz="1350" b="0" i="0">
                <a:solidFill>
                  <a:srgbClr val="5A5A5A"/>
                </a:solidFill>
                <a:latin typeface="Courier New"/>
              </a:rPr>
              <a:t>(row_number, field, reason)</a:t>
            </a:r>
            <a:r>
              <a:rPr sz="1400" b="0" i="0">
                <a:solidFill>
                  <a:srgbClr val="5A5A5A"/>
                </a:solidFill>
                <a:latin typeface="Arial"/>
              </a:rPr>
              <a:t> without parsing strings.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23 / 55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 Default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Another approach for simple cases: give the class a default message.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267712"/>
            <a:ext cx="10971885" cy="2144268"/>
          </a:xfrm>
          <a:prstGeom prst="roundRect">
            <a:avLst>
              <a:gd name="adj" fmla="val 341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414016"/>
            <a:ext cx="10569549" cy="18516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class ConfigError(Exception):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   """Raised when the configuration is invalid."""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   def __init__(self, message="Configuration is invalid"):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       super().__init__(message)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raise ConfigError()                       # uses default message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raise ConfigError("browser is missing")   # custom 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24 / 55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Building an Exception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3310127"/>
          </a:xfrm>
          <a:prstGeom prst="roundRect">
            <a:avLst>
              <a:gd name="adj" fmla="val 220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class DataIngestionError(Exception):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"""Base class for every error raised by the ingestion module."""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class SourceNotFoundError(DataIngestionError):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"""The input file could not be found."""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class UnsupportedFormatError(DataIngestionError):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"""The file extension / format is not supported."""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class ValidationError(DataIngestionError):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"""A record failed validation."""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class MissingFieldError(ValidationError):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"""A required field is absent from a record."""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One base exception for the whole library or module, specific errors derived from it.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500" b="0" i="0">
                <a:solidFill>
                  <a:srgbClr val="1A1A1A"/>
                </a:solidFill>
                <a:latin typeface="Arial"/>
              </a:rPr>
              <a:t>The standard professional pattern (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requests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sqlalchemy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use it).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25 / 55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Choice of Granularity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The family tree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949440" cy="1389888"/>
          </a:xfrm>
          <a:prstGeom prst="roundRect">
            <a:avLst>
              <a:gd name="adj" fmla="val 526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6547103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Exception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└── DataIngestionError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├── SourceNotFoundError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├── UnsupportedFormatError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└── ValidationError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   └── MissingFieldError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630168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Callers choose the level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904487"/>
            <a:ext cx="6949440" cy="1755648"/>
          </a:xfrm>
          <a:prstGeom prst="roundRect">
            <a:avLst>
              <a:gd name="adj" fmla="val 416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4050791"/>
            <a:ext cx="6547103" cy="1463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ingest("orders.csv")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except MissingFieldError:           # very specific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print("A required column is absent")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except ValidationError:             # a whole category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print("Some record is invalid")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except DataIngestionError:          # everything from this module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print("Ingestion failed for some other reason")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5104" y="1783080"/>
            <a:ext cx="36566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A parent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catches all its children; specific handlers come first.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"Everything that can go wrong in ingestion" is one name: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DataIngestionError</a:t>
            </a:r>
            <a:r>
              <a:rPr sz="135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1A1A1A"/>
                </a:solidFill>
                <a:latin typeface="Arial"/>
              </a:rPr>
              <a:t>A safe top-level wrapper needs no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except Exception</a:t>
            </a:r>
            <a:r>
              <a:rPr sz="1350" b="0" i="0">
                <a:solidFill>
                  <a:srgbClr val="1A1A1A"/>
                </a:solidFill>
                <a:latin typeface="Arial"/>
              </a:rPr>
              <a:t>, which would also swallow programming bugs like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NameError</a:t>
            </a:r>
            <a:r>
              <a:rPr sz="13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26 / 55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Wrapping Low-Level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572768"/>
          </a:xfrm>
          <a:prstGeom prst="roundRect">
            <a:avLst>
              <a:gd name="adj" fmla="val 465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def read_source(path):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with open(path, encoding="utf-8") as f: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    return f.read()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except FileNotFoundError as error: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raise SourceNotFoundError(f"No such file: {path}") from error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except PermissionError as error: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raise DataIngestionError(f"Cannot read file: {path}") from 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Translate low-level exceptions into your module's vocabulary, chaining so nothing is lost.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Callers need to know only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DataIngestionError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its children, not that files are used internally.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Switch to a database later and callers see the same exceptions: abstraction applied to errors.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27 / 55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Where to Put Custom Exceptions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Keep them in one dedicated module,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exceptions.py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(or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errors.py</a:t>
            </a:r>
            <a:r>
              <a:rPr sz="1500" b="0" i="0">
                <a:solidFill>
                  <a:srgbClr val="1A1A1A"/>
                </a:solidFill>
                <a:latin typeface="Arial"/>
              </a:rPr>
              <a:t>), inside your package. Other modules do: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569464"/>
            <a:ext cx="10971885" cy="521208"/>
          </a:xfrm>
          <a:prstGeom prst="roundRect">
            <a:avLst>
              <a:gd name="adj" fmla="val 1403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715768"/>
            <a:ext cx="10569549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>
                <a:solidFill>
                  <a:srgbClr val="1A1A1A"/>
                </a:solidFill>
                <a:latin typeface="Courier New"/>
              </a:rPr>
              <a:t>from ingestion.exceptions import ValidationError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520439"/>
            <a:ext cx="1097188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Ties to Monday's modules and packages: one well-named module, imported where needed, avoids circular imports and gives everyone a single place to look.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28 / 55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Design Guidelines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12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3736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10512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Inherit from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Exception</a:t>
            </a:r>
            <a:r>
              <a:rPr sz="1350" b="0" i="0">
                <a:solidFill>
                  <a:srgbClr val="1A1A1A"/>
                </a:solidFill>
                <a:latin typeface="Arial"/>
              </a:rPr>
              <a:t>, never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BaseException</a:t>
            </a:r>
            <a:r>
              <a:rPr sz="13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24942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322576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Name with an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Error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suffix and be descriptive.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761488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2834640"/>
            <a:ext cx="4846320" cy="474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Create a base class per library/module so callers can catch everything from it.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363849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437001"/>
            <a:ext cx="4846320" cy="474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Keep them small: a docstring is often enough; add attributes only when handlers use them.</a:t>
            </a:r>
          </a:p>
        </p:txBody>
      </p:sp>
      <p:sp>
        <p:nvSpPr>
          <p:cNvPr id="12" name="Oval 11"/>
          <p:cNvSpPr/>
          <p:nvPr/>
        </p:nvSpPr>
        <p:spPr>
          <a:xfrm>
            <a:off x="6187744" y="173736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6384" y="1810512"/>
            <a:ext cx="4845405" cy="6886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Do not create too many. If callers never handle two situations differently, one class is enough. Prefer standard exceptions when they fit.</a:t>
            </a:r>
          </a:p>
        </p:txBody>
      </p:sp>
      <p:sp>
        <p:nvSpPr>
          <p:cNvPr id="14" name="Oval 13"/>
          <p:cNvSpPr/>
          <p:nvPr/>
        </p:nvSpPr>
        <p:spPr>
          <a:xfrm>
            <a:off x="6187744" y="2554033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6384" y="2627185"/>
            <a:ext cx="4845405" cy="474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Write messages for humans: what happened, to which value, and what to do about it.</a:t>
            </a:r>
          </a:p>
        </p:txBody>
      </p:sp>
      <p:sp>
        <p:nvSpPr>
          <p:cNvPr id="16" name="Oval 15"/>
          <p:cNvSpPr/>
          <p:nvPr/>
        </p:nvSpPr>
        <p:spPr>
          <a:xfrm>
            <a:off x="6187744" y="315639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6384" y="3229546"/>
            <a:ext cx="4845405" cy="474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Raise early: validate inputs at the start of a function (guard clauses).</a:t>
            </a:r>
          </a:p>
        </p:txBody>
      </p:sp>
      <p:sp>
        <p:nvSpPr>
          <p:cNvPr id="18" name="Oval 17"/>
          <p:cNvSpPr/>
          <p:nvPr/>
        </p:nvSpPr>
        <p:spPr>
          <a:xfrm>
            <a:off x="6187744" y="375875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6384" y="3831907"/>
            <a:ext cx="4845405" cy="4743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No exceptions for ordinary control flow (like ending a loop) when an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if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is clearer.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29 / 55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Guard Clauses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2007107"/>
          </a:xfrm>
          <a:prstGeom prst="roundRect">
            <a:avLst>
              <a:gd name="adj" fmla="val 364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714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def calculate_discount(price, percent):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if not isinstance(price, (int, float)):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raise TypeError("price must be a number")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if price &lt; 0: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raise ValueError("price must not be negative")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if not 0 &lt;= percent &lt;= 100: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raise ValueError("percent must be between 0 and 100")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return price * (1 - percent / 100)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An early check that raises when preconditions are violated.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happy path (the last line) is un-indented and easy to read; error conditions are dealt with first.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Next lesson: assertions check internal assumptions; exceptions validate input.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30 / 55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Real-World QA Scenarios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Config validation, bad data vs environment, translating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31 / 55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Scenario 1: Config Exceptions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QA SCENARIOS · CONFIGURATION VALIDATOR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3188207"/>
          </a:xfrm>
          <a:prstGeom prst="roundRect">
            <a:avLst>
              <a:gd name="adj" fmla="val 229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289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class ConfigError(Exception):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"""Base class for configuration problems."""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class MissingSettingError(ConfigError):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def __init__(self, name):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self.name = name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super().__init__(f"Required setting {name!r} is missing")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class InvalidSettingError(ConfigError):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def __init__(self, name, value, expected):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self.name = name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self.value = value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self.expected = expected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super().__init__(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    f"Setting {name!r} has invalid value {value!r}; expected {expected}"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Catching a bad config before a 2-hour run saves a lot of time.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ConfigError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the base; two children store the setting details as attributes.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32 / 55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Scenario 1: validate_config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QA SCENARIOS · CONFIGURATION VALIDATOR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3332988"/>
          </a:xfrm>
          <a:prstGeom prst="roundRect">
            <a:avLst>
              <a:gd name="adj" fmla="val 219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30403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SUPPORTED_BROWSERS = ("chrome", "firefox", "edge")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def validate_config(config):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for required in ("browser", "base_url", "timeout"):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if required not in config: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    raise MissingSettingError(required)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if config["browser"] not in SUPPORTED_BROWSERS: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raise InvalidSettingError(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    "browser", config["browser"], f"one of {SUPPORTED_BROWSERS}"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if not isinstance(config["timeout"], int) or config["timeout"] &lt;= 0: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raise InvalidSettingError(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    "timeout", config["timeout"], "a positive integer (seconds)"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return config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Required settings first: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MissingSettingError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Then the browser value, then the timeout type and range: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InvalidSettingError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33 / 55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Scenario 1: Running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QA SCENARIOS · CONFIGURATION VALIDATOR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2746247"/>
          </a:xfrm>
          <a:prstGeom prst="roundRect">
            <a:avLst>
              <a:gd name="adj" fmla="val 266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2453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configs = [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{"browser": "chrome", "base_url": "https://example.test", "timeout": 30},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{"browser": "chrome", "timeout": 30},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{"browser": "netscape", "base_url": "https://example.test", "timeout": 30},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{"browser": "edge", "base_url": "https://example.test", "timeout": -1},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]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for number, cfg in enumerate(configs, start=1):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validate_config(cfg)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except ConfigError as error: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print(f"Config {number}: INVALID -&gt; {error}")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else: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print(f"Config {number}: OK")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34 / 55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Scenario 1: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QA SCENARIOS · CONFIGURATION VALIDATOR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Config 1: OK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Config 2: INVALID -&gt; Required setting 'base_url' is missing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Config 3: INVALID -&gt; Setting 'browser' has invalid value 'netscape'; expected one of ('chrome', 'firefox', 'edge')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Config 4: INVALID -&gt; Setting 'timeout' has invalid value -1; expected a positive integer (seconds)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2971800"/>
            <a:ext cx="1097188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A single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except ConfigError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handles both specific types, yet the message tells exactly what is wrong. A handler could equally check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error.name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to look up a fix.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35 / 55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Scenario 2: Bad Data vs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QA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2731007"/>
          </a:xfrm>
          <a:prstGeom prst="roundRect">
            <a:avLst>
              <a:gd name="adj" fmla="val 267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2438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class TestRunError(Exception):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"""Base for failures in the test run itself (not product bugs)."""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class BadInputDataError(TestRunError):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pass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class EnvironmentUnavailableError(TestRunError):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pass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def run_case(case):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if case.get("server_up") is False: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raise EnvironmentUnavailableError("Test server is down")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if "expected" not in case: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    raise BadInputDataError(f"Case {case['id']} has no expected value")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 return case["actual"] == case["expected"]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TestRunError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the base for failures in the test run itself, not product bugs.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Missing server: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EnvironmentUnavailableError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Missing expected value: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BadInputDataError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36 / 55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Scenario 2: Routing the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QA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3096767"/>
          </a:xfrm>
          <a:prstGeom prst="roundRect">
            <a:avLst>
              <a:gd name="adj" fmla="val 236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2804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cases = [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{"id": "TC1", "server_up": True, "expected": 5, "actual": 5},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{"id": "TC2", "server_up": True, "actual": 5},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{"id": "TC3", "server_up": False},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{"id": "TC4", "server_up": True, "expected": 5, "actual": 6},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]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for case in cases: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passed = run_case(case)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except BadInputDataError as error: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print(case["id"], "-&gt; BLOCKED (fix the data):", error)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except EnvironmentUnavailableError as error: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print(case["id"], "-&gt; BLOCKED (check the environment):", error)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else: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        print(case["id"], "-&gt;", "PASS" if passed else "FAIL (possible product defect)")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37 / 55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Scenario 2: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QA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146048"/>
          </a:xfrm>
          <a:prstGeom prst="roundRect">
            <a:avLst>
              <a:gd name="adj" fmla="val 638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85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TC1 -&gt; PASS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TC2 -&gt; BLOCKED (fix the data): Case TC2 has no expected value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TC3 -&gt; BLOCKED (check the environment): Test server is down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TC4 -&gt; FAIL (possible product defect)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3246120"/>
            <a:ext cx="1097188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This is precisely the distinction a QE needs: only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FAIL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suggests a bug in the product; the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BLOCKED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results point at your data or environment.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38 / 55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Scenario 3: Translating with Chaining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QA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3332988"/>
          </a:xfrm>
          <a:prstGeom prst="roundRect">
            <a:avLst>
              <a:gd name="adj" fmla="val 219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30403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import json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class PayloadError(Exception):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"""The response payload could not be understood."""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def parse_payload(text):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return json.loads(text)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except json.JSONDecodeError as error: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    raise PayloadError("Response is not valid JSON") from error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parse_payload("{not json")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except PayloadError as error: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print("Error :", error)</a:t>
            </a:r>
          </a:p>
          <a:p>
            <a:pPr algn="l">
              <a:lnSpc>
                <a:spcPct val="100000"/>
              </a:lnSpc>
            </a:pPr>
            <a:r>
              <a:rPr sz="1050">
                <a:solidFill>
                  <a:srgbClr val="1A1A1A"/>
                </a:solidFill>
                <a:latin typeface="Courier New"/>
              </a:rPr>
              <a:t>    print("Cause :", type(error.__cause__).__name__, "-", error.__cause__)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json.loads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raises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json.JSONDecodeError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invalid text.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parse_payload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translates it into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PayloadError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chained with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from 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handler reads the original via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error.__cause__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json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module comes properly later today in CSV, JSON and XML.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39 / 55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Scenario 3: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QA SCENARIOS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688848"/>
          </a:xfrm>
          <a:prstGeom prst="roundRect">
            <a:avLst>
              <a:gd name="adj" fmla="val 1061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396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Error : Response is not valid JSON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Cause : JSONDecodeError - Expecting property name enclosed in double quotes: line 1 column 2 (char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40 / 55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Putting It All Together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validator.py: base exception, rich attributes, guard clauses, a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41 / 55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validator.py: The Exceptions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37360"/>
            <a:ext cx="7223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A5A5A"/>
                </a:solidFill>
                <a:latin typeface="Arial"/>
              </a:rPr>
              <a:t>validator.py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75688"/>
            <a:ext cx="7223760" cy="3980688"/>
          </a:xfrm>
          <a:prstGeom prst="roundRect">
            <a:avLst>
              <a:gd name="adj" fmla="val 183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21992"/>
            <a:ext cx="6821424" cy="3688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"""validator.py - Validate user records and report every problem found."""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class ValidationError(Exception):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"""Base class for validation problems."""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class MissingFieldError(ValidationError):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def __init__(self, row, field):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self.row = row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self.field = field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super().__init__(f"Row {row}: missing required field {field!r}")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class OutOfRangeError(ValidationError):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def __init__(self, row, field, value, low, high):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self.row = row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self.field = field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self.value = value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super().__init__(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    f"Row {row}: {field}={value!r} is outside {low}..{high}"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)</a:t>
            </a:r>
          </a:p>
        </p:txBody>
      </p:sp>
      <p:sp>
        <p:nvSpPr>
          <p:cNvPr id="7" name="Oval 6"/>
          <p:cNvSpPr/>
          <p:nvPr/>
        </p:nvSpPr>
        <p:spPr>
          <a:xfrm>
            <a:off x="819942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48064" y="1819656"/>
            <a:ext cx="2833725" cy="847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ValidationError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The base: one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except ValidationError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handles every validator error.</a:t>
            </a:r>
          </a:p>
        </p:txBody>
      </p:sp>
      <p:sp>
        <p:nvSpPr>
          <p:cNvPr id="9" name="Oval 8"/>
          <p:cNvSpPr/>
          <p:nvPr/>
        </p:nvSpPr>
        <p:spPr>
          <a:xfrm>
            <a:off x="8199424" y="283165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48064" y="2868231"/>
            <a:ext cx="2833725" cy="648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Structured attributes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Each child stores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row</a:t>
            </a:r>
            <a:r>
              <a:rPr sz="12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field</a:t>
            </a:r>
            <a:r>
              <a:rPr sz="12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value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1" name="Oval 10"/>
          <p:cNvSpPr/>
          <p:nvPr/>
        </p:nvSpPr>
        <p:spPr>
          <a:xfrm>
            <a:off x="8199424" y="3681793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8064" y="3718369"/>
            <a:ext cx="283372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50" b="1" i="0">
                <a:solidFill>
                  <a:srgbClr val="330066"/>
                </a:solidFill>
                <a:latin typeface="Courier New"/>
              </a:rPr>
              <a:t>super().__init__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And builds a readable message.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42 / 55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330066"/>
                </a:solidFill>
              </a:rPr>
              <a:t>validator.py: Guard Clauses and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3912108"/>
          </a:xfrm>
          <a:prstGeom prst="roundRect">
            <a:avLst>
              <a:gd name="adj" fmla="val 186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3619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for field in ("name", "age"):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if field not in user: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    raise MissingFieldError(row, field)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age = user["age"]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if not 0 &lt;= age &lt;= 120: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raise OutOfRangeError(row, "age", age, 0, 120)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return user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users = [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{"name": "Ada", "age": 36},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{"name": "Grace"},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{"name": "Linus", "age": 400},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{"name": "Alan", "age": 41},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]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good, bad = [], []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validate_user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raises as soon as it finds a problem.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Row 2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{"name": "Grace"}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 has a name but no age: the loop reports the first absent field,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'age'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43 / 55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validator.py: Collect and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CODE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6400800" cy="2075688"/>
          </a:xfrm>
          <a:prstGeom prst="roundRect">
            <a:avLst>
              <a:gd name="adj" fmla="val 3524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998464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for row, user in enumerate(users, start=1):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good.append(validate_user(row, user))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except ValidationError as error: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bad.append(error)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print(f"{len(good)} valid, {len(bad)} invalid")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for error in bad: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print(" -", error)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4315968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590288"/>
            <a:ext cx="6400800" cy="886968"/>
          </a:xfrm>
          <a:prstGeom prst="roundRect">
            <a:avLst>
              <a:gd name="adj" fmla="val 824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4736592"/>
            <a:ext cx="5998464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2 valid, 2 invalid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- Row 2: missing required field 'age'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- Row 3: age=400 is outside 0..120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loop collects errors instead of stopping, then prints a summary.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pattern you will use in the data-ingestion milestone.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Save as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validator.py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run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44 / 55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Try each one yourself before looking at the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45 / 55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 Exercises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Ex1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736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Write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withdraw(balance, amount)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returning the new balance. Raise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TypeError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if either argument is not a number,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ValueError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if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amount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is not positive, and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ValueError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with a clear message if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amount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exceeds the balance. Test each case with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try</a:t>
            </a:r>
            <a:r>
              <a:rPr sz="1450" b="0" i="0">
                <a:solidFill>
                  <a:srgbClr val="1A1A1A"/>
                </a:solidFill>
                <a:latin typeface="Arial"/>
              </a:rPr>
              <a:t>/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except</a:t>
            </a:r>
            <a:r>
              <a:rPr sz="14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68395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Ex2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757106"/>
            <a:ext cx="10423245" cy="506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Create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EmptyFileError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(inheriting from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Exception</a:t>
            </a:r>
            <a:r>
              <a:rPr sz="1450" b="0" i="0">
                <a:solidFill>
                  <a:srgbClr val="1A1A1A"/>
                </a:solidFill>
                <a:latin typeface="Arial"/>
              </a:rPr>
              <a:t>). Write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check_not_empty(text)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that raises it when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text.strip()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is empty. Catch it and print a message.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35464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Ex3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427793"/>
            <a:ext cx="10423245" cy="7362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Build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ReportError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(base) with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ReportFormatError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ReportPermissionError</a:t>
            </a:r>
            <a:r>
              <a:rPr sz="1450" b="0" i="0">
                <a:solidFill>
                  <a:srgbClr val="1A1A1A"/>
                </a:solidFill>
                <a:latin typeface="Arial"/>
              </a:rPr>
              <a:t>. A function raises each depending on an argument; a loop catches (a)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ReportFormatError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individually and (b) everything else under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ReportError</a:t>
            </a:r>
            <a:r>
              <a:rPr sz="14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46 / 55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Practice Exercises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Ex4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506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Create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InvalidStatusError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storing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status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allowed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(a tuple) as attributes, with the message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Status 'xyz' is not one of ('pass', 'fail', 'skip')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. Raise it from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set_status(value)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53767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Ex5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26919"/>
            <a:ext cx="10423245" cy="506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Use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raise ... from ...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to wrap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KeyError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as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MissingSettingError("timeout")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in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get_setting(config, name)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. Show that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error.__cause__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holds the original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KeyError</a:t>
            </a:r>
            <a:r>
              <a:rPr sz="145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12445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Ex6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61030"/>
            <a:ext cx="10423245" cy="744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 i="0">
                <a:solidFill>
                  <a:srgbClr val="330066"/>
                </a:solidFill>
                <a:latin typeface="Arial"/>
              </a:rPr>
              <a:t>Think and explain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 i="0">
                <a:solidFill>
                  <a:srgbClr val="1A1A1A"/>
                </a:solidFill>
                <a:latin typeface="Arial"/>
              </a:rPr>
              <a:t>A teammate writes </a:t>
            </a:r>
            <a:r>
              <a:rPr sz="1400" b="0" i="0">
                <a:solidFill>
                  <a:srgbClr val="330066"/>
                </a:solidFill>
                <a:latin typeface="Courier New"/>
              </a:rPr>
              <a:t>except Exception as e: raise Exception(str(e))</a:t>
            </a:r>
            <a:r>
              <a:rPr sz="1450" b="0" i="0">
                <a:solidFill>
                  <a:srgbClr val="1A1A1A"/>
                </a:solidFill>
                <a:latin typeface="Arial"/>
              </a:rPr>
              <a:t> to "clean up" errors. List at least two things lost by this approach.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47 / 55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10971885" cy="2807208"/>
          </a:xfrm>
          <a:prstGeom prst="roundRect">
            <a:avLst>
              <a:gd name="adj" fmla="val 260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10569549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def withdraw(balance, amount):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if not isinstance(balance, (int, float)) or not isinstance(amount, (int, float)):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raise TypeError("balance and amount must be numbers")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if amount &lt;= 0: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raise ValueError("amount must be positive")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if amount &gt; balance: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raise ValueError(f"insufficient funds: balance {balance}, requested {amount}")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return balance - amount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for args in [(100, 30), ("100", 30), (100, -5), (100, 500)]: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print(withdraw(*args))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except (TypeError, ValueError) as error:</a:t>
            </a:r>
          </a:p>
          <a:p>
            <a:pPr algn="l">
              <a:lnSpc>
                <a:spcPct val="100000"/>
              </a:lnSpc>
            </a:pPr>
            <a:r>
              <a:rPr sz="1100">
                <a:solidFill>
                  <a:srgbClr val="1A1A1A"/>
                </a:solidFill>
                <a:latin typeface="Courier New"/>
              </a:rPr>
              <a:t>        print(type(error).__name__ + ":", error)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5047488"/>
            <a:ext cx="1097188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5321808"/>
            <a:ext cx="10971885" cy="902207"/>
          </a:xfrm>
          <a:prstGeom prst="roundRect">
            <a:avLst>
              <a:gd name="adj" fmla="val 810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5468112"/>
            <a:ext cx="10569549" cy="609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70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TypeError: balance and amount must be numbers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ValueError: amount must be positive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ValueError: insufficient funds: balance 100, requested 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48 / 55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Answers 2 and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ANSWER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103120"/>
            <a:ext cx="5303062" cy="2487168"/>
          </a:xfrm>
          <a:prstGeom prst="roundRect">
            <a:avLst>
              <a:gd name="adj" fmla="val 29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49424"/>
            <a:ext cx="4900726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class EmptyFileError(Exception):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"""File content is empty or whitespace only."""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def check_not_empty(text):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if not text.strip():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raise EmptyFileError("File contains no data")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return text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check_not_empty("   \n")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except EmptyFileError as error: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print("Caught:", error)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78308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330066"/>
                </a:solidFill>
                <a:latin typeface="Arial"/>
              </a:rPr>
              <a:t>ANSWER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103120"/>
            <a:ext cx="5303062" cy="3584447"/>
          </a:xfrm>
          <a:prstGeom prst="roundRect">
            <a:avLst>
              <a:gd name="adj" fmla="val 204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79895" y="2249424"/>
            <a:ext cx="4900726" cy="3291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class ReportError(Exception): pass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class ReportFormatError(ReportError): pass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class ReportPermissionError(ReportError): pass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def make_report(kind):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if kind == "format":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raise ReportFormatError("Bad layout")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if kind == "perm":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raise ReportPermissionError("Not allowed")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return "ok"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for kind in ("format", "perm", "fine"):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print(make_report(kind))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except ReportFormatError as error: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print("Format problem:", error)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except ReportError as error: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        print("Other report problem:", error)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49 / 55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3340607"/>
          </a:xfrm>
          <a:prstGeom prst="roundRect">
            <a:avLst>
              <a:gd name="adj" fmla="val 218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3047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class InvalidStatusError(Exception):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def __init__(self, status, allowed):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self.status = status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self.allowed = allowed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super().__init__(f"Status {status!r} is not one of {allowed}")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def set_status(value):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allowed = ("pass", "fail", "skip")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if value not in allowed: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raise InvalidStatusError(value, allowed)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return value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set_status("xyz")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except InvalidStatusError as error: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print(error)    # Status 'xyz' is not one of ('pass', 'fail', 'skip')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50 / 55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2959607"/>
          </a:xfrm>
          <a:prstGeom prst="roundRect">
            <a:avLst>
              <a:gd name="adj" fmla="val 247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10569549" cy="2667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class MissingSettingError(Exception):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pass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def get_setting(config, name):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try: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return config[name]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except KeyError as original: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 raise MissingSettingError(f"Missing setting {name!r}") from original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try: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get_setting({}, "timeout")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except MissingSettingError as error: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print(error)                      # Missing setting 'timeout'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print(repr(error.__cause__))      # KeyError('timeout')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51 / 55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Answer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PRACTICE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19656"/>
            <a:ext cx="10423245" cy="5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Type lost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Everything becomes a plain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Exception</a:t>
            </a:r>
            <a:r>
              <a:rPr sz="1500" b="0" i="0">
                <a:solidFill>
                  <a:srgbClr val="1A1A1A"/>
                </a:solidFill>
                <a:latin typeface="Arial"/>
              </a:rPr>
              <a:t>, so callers cannot catch it selectively.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50147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86723"/>
            <a:ext cx="10423245" cy="5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Traceback and chain lost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What line failed, and why, is replaced by a new traceback pointing at the handler.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11721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53791"/>
            <a:ext cx="10423245" cy="5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Attributes lost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Such as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.filename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or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.row_number</a:t>
            </a:r>
            <a:r>
              <a:rPr sz="15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78428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820858"/>
            <a:ext cx="10423245" cy="5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Too broad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Catching </a:t>
            </a:r>
            <a:r>
              <a:rPr sz="1450" b="0" i="0">
                <a:solidFill>
                  <a:srgbClr val="330066"/>
                </a:solidFill>
                <a:latin typeface="Courier New"/>
              </a:rPr>
              <a:t>Exception</a:t>
            </a:r>
            <a:r>
              <a:rPr sz="1500" b="0" i="0">
                <a:solidFill>
                  <a:srgbClr val="1A1A1A"/>
                </a:solidFill>
                <a:latin typeface="Arial"/>
              </a:rPr>
              <a:t> here would also catch unrelated bugs.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904" y="5367528"/>
            <a:ext cx="10971885" cy="731520"/>
          </a:xfrm>
          <a:prstGeom prst="roundRect">
            <a:avLst>
              <a:gd name="adj" fmla="val 11249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8504" y="5504688"/>
            <a:ext cx="105146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BETTER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better approach: a bare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raise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or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raise SpecificError(...) from 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52 / 55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raise ExceptionType("message")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signals an error from your own code; the current function stops immediately.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Prefer exceptions over magic return values: they cannot be silently ignored and keep normal results unambiguous. Fail fast, fail loudly.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9270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65856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Use the most fitting built-in first: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ValueError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bad values,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TypeError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wrong types,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NotImplementedError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placeholders.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74751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820668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bare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raise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re-raises;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raise New(...) from original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chains, keeping the friendly message and the real cause.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53 / 55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Key Takeaways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custom exception inherits from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Exception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Error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suffix, a docstring, attributes in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__init__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when useful,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super().__init__(message)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base exception per module, with specific children, lets callers catch at the right level. Store them in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exceptions.py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9270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165856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In QA code, distinct types separate bad test data and broken environments from genuine product failures.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74751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820668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Next up: assertions, a different tool for checking things that "must always be true".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54 / 55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Python Tutorial: Raising Exceptions, Exception Chaining, User-defined Exceptions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https://docs.python.org/3/tutorial/errors.html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Language Reference, "The raise statement"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https://docs.python.org/3/reference/simple_stmts.html#the-raise-statement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Library Reference, "Built-in Exceptions"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https://docs.python.org/3/library/exceptions.html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55 / 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5709</Words>
  <Application>Microsoft Office PowerPoint</Application>
  <PresentationFormat>Widescreen</PresentationFormat>
  <Paragraphs>784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5" baseType="lpstr">
      <vt:lpstr>Arial</vt:lpstr>
      <vt:lpstr>Courier New</vt:lpstr>
      <vt:lpstr>Wingdings</vt:lpstr>
      <vt:lpstr>Learners Point</vt:lpstr>
      <vt:lpstr>Raising and Custom Exceptions</vt:lpstr>
      <vt:lpstr>Learning Objectives (1 of 2)</vt:lpstr>
      <vt:lpstr>Learning Objectives (2 of 2)</vt:lpstr>
      <vt:lpstr>Why This Matters</vt:lpstr>
      <vt:lpstr>Custom Exceptions for QEs</vt:lpstr>
      <vt:lpstr>The Concept</vt:lpstr>
      <vt:lpstr>The raise Statement</vt:lpstr>
      <vt:lpstr>The Resulting Traceback</vt:lpstr>
      <vt:lpstr>Catching What You Raise</vt:lpstr>
      <vt:lpstr>Why Not Return an Error Value?</vt:lpstr>
      <vt:lpstr>Exceptions Solve This</vt:lpstr>
      <vt:lpstr>Choosing the Right Built-in</vt:lpstr>
      <vt:lpstr>Built-ins in Action</vt:lpstr>
      <vt:lpstr>Re-raising: the Bare raise</vt:lpstr>
      <vt:lpstr>Creating a Custom Exception</vt:lpstr>
      <vt:lpstr>A Note on Naming</vt:lpstr>
      <vt:lpstr>Specific Names Make Handlers Precise</vt:lpstr>
      <vt:lpstr>Adding Information: __init__</vt:lpstr>
      <vt:lpstr>Using the Structured Data</vt:lpstr>
      <vt:lpstr>A Default Message</vt:lpstr>
      <vt:lpstr>Building an Exception Hierarchy</vt:lpstr>
      <vt:lpstr>Choice of Granularity</vt:lpstr>
      <vt:lpstr>Wrapping Low-Level Errors</vt:lpstr>
      <vt:lpstr>Where to Put Custom Exceptions</vt:lpstr>
      <vt:lpstr>Design Guidelines</vt:lpstr>
      <vt:lpstr>Guard Clauses</vt:lpstr>
      <vt:lpstr>Real-World QA Scenarios</vt:lpstr>
      <vt:lpstr>Scenario 1: Config Exceptions</vt:lpstr>
      <vt:lpstr>Scenario 1: validate_config</vt:lpstr>
      <vt:lpstr>Scenario 1: Running It</vt:lpstr>
      <vt:lpstr>Scenario 1: Output</vt:lpstr>
      <vt:lpstr>Scenario 2: Bad Data vs Environment</vt:lpstr>
      <vt:lpstr>Scenario 2: Routing the Results</vt:lpstr>
      <vt:lpstr>Scenario 2: Output</vt:lpstr>
      <vt:lpstr>Scenario 3: Translating with Chaining</vt:lpstr>
      <vt:lpstr>Scenario 3: Output</vt:lpstr>
      <vt:lpstr>Putting It All Together</vt:lpstr>
      <vt:lpstr>validator.py: The Exceptions</vt:lpstr>
      <vt:lpstr>validator.py: Guard Clauses and Data</vt:lpstr>
      <vt:lpstr>validator.py: Collect and Report</vt:lpstr>
      <vt:lpstr>Practice</vt:lpstr>
      <vt:lpstr>Practice Exercises (1 of 2)</vt:lpstr>
      <vt:lpstr>Practice Exercises (2 of 2)</vt:lpstr>
      <vt:lpstr>Answer 1</vt:lpstr>
      <vt:lpstr>Answers 2 and 3</vt:lpstr>
      <vt:lpstr>Answer 4</vt:lpstr>
      <vt:lpstr>Answer 5</vt:lpstr>
      <vt:lpstr>Answer 6</vt:lpstr>
      <vt:lpstr>Key Takeaways (1 of 2)</vt:lpstr>
      <vt:lpstr>Key Takeaways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9</cp:revision>
  <dcterms:modified xsi:type="dcterms:W3CDTF">2026-10-18T09:38:11Z</dcterms:modified>
</cp:coreProperties>
</file>