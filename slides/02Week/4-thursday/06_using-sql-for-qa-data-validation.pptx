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Lst>
  <p:sldSz cx="12192000" cy="6858000"/>
  <p:notesSz cx="6858000" cy="9144000"/>
  <p:defaultTextStyle>
    <a:defPPr>
      <a:defRPr lang="en-IN"/>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6562" name="Line 2"/>
          <p:cNvSpPr>
            <a:spLocks noChangeShapeType="1"/>
          </p:cNvSpPr>
          <p:nvPr/>
        </p:nvSpPr>
        <p:spPr bwMode="auto">
          <a:xfrm>
            <a:off x="9753600" y="1066800"/>
            <a:ext cx="0" cy="17526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6563" name="Rectangle 3"/>
          <p:cNvSpPr>
            <a:spLocks noGrp="1" noChangeArrowheads="1"/>
          </p:cNvSpPr>
          <p:nvPr>
            <p:ph type="ctrTitle"/>
          </p:nvPr>
        </p:nvSpPr>
        <p:spPr>
          <a:xfrm>
            <a:off x="1016000" y="457200"/>
            <a:ext cx="8519584" cy="2133600"/>
          </a:xfrm>
        </p:spPr>
        <p:txBody>
          <a:bodyPr/>
          <a:lstStyle>
            <a:lvl1pPr>
              <a:defRPr/>
            </a:lvl1pPr>
          </a:lstStyle>
          <a:p>
            <a:pPr lvl="0"/>
            <a:r>
              <a:rPr lang="en-US" altLang="en-US" noProof="0"/>
              <a:t>Click to edit Master title style</a:t>
            </a:r>
          </a:p>
        </p:txBody>
      </p:sp>
      <p:sp>
        <p:nvSpPr>
          <p:cNvPr id="66564" name="Rectangle 4"/>
          <p:cNvSpPr>
            <a:spLocks noGrp="1" noChangeArrowheads="1"/>
          </p:cNvSpPr>
          <p:nvPr>
            <p:ph type="subTitle" idx="1"/>
          </p:nvPr>
        </p:nvSpPr>
        <p:spPr>
          <a:xfrm>
            <a:off x="1132417" y="3049588"/>
            <a:ext cx="8331200" cy="2362200"/>
          </a:xfrm>
        </p:spPr>
        <p:txBody>
          <a:bodyPr/>
          <a:lstStyle>
            <a:lvl1pPr marL="0" indent="0" algn="r">
              <a:buFont typeface="Wingdings" panose="05000000000000000000" pitchFamily="2" charset="2"/>
              <a:buNone/>
              <a:defRPr/>
            </a:lvl1pPr>
          </a:lstStyle>
          <a:p>
            <a:pPr lvl="0"/>
            <a:r>
              <a:rPr lang="en-US" altLang="en-US" noProof="0"/>
              <a:t>Click to edit Master subtitle style</a:t>
            </a:r>
          </a:p>
        </p:txBody>
      </p:sp>
      <p:sp>
        <p:nvSpPr>
          <p:cNvPr id="66565" name="Rectangle 5"/>
          <p:cNvSpPr>
            <a:spLocks noGrp="1" noChangeArrowheads="1"/>
          </p:cNvSpPr>
          <p:nvPr>
            <p:ph type="dt" sz="half" idx="2"/>
          </p:nvPr>
        </p:nvSpPr>
        <p:spPr/>
        <p:txBody>
          <a:bodyPr/>
          <a:lstStyle>
            <a:lvl1pPr>
              <a:defRPr/>
            </a:lvl1pPr>
          </a:lstStyle>
          <a:p>
            <a:fld id="{F304A9D6-1313-4D51-A62E-402D441D9A7B}" type="datetime1">
              <a:rPr lang="en-US" smtClean="0"/>
              <a:t>10/19/2026</a:t>
            </a:fld>
            <a:endParaRPr lang="en-US"/>
          </a:p>
        </p:txBody>
      </p:sp>
      <p:sp>
        <p:nvSpPr>
          <p:cNvPr id="66566" name="Rectangle 6"/>
          <p:cNvSpPr>
            <a:spLocks noGrp="1" noChangeArrowheads="1"/>
          </p:cNvSpPr>
          <p:nvPr>
            <p:ph type="ftr" sz="quarter" idx="3"/>
          </p:nvPr>
        </p:nvSpPr>
        <p:spPr/>
        <p:txBody>
          <a:bodyPr/>
          <a:lstStyle>
            <a:lvl1pPr>
              <a:defRPr/>
            </a:lvl1pPr>
          </a:lstStyle>
          <a:p>
            <a:endParaRPr lang="en-US"/>
          </a:p>
        </p:txBody>
      </p:sp>
      <p:sp>
        <p:nvSpPr>
          <p:cNvPr id="66567" name="Rectangle 7"/>
          <p:cNvSpPr>
            <a:spLocks noGrp="1" noChangeArrowheads="1"/>
          </p:cNvSpPr>
          <p:nvPr>
            <p:ph type="sldNum" sz="quarter" idx="4"/>
          </p:nvPr>
        </p:nvSpPr>
        <p:spPr/>
        <p:txBody>
          <a:bodyPr/>
          <a:lstStyle>
            <a:lvl1pPr>
              <a:defRPr/>
            </a:lvl1pPr>
          </a:lstStyle>
          <a:p>
            <a:fld id="{83385899-0B10-4821-AAA8-DC5305EDD7F2}" type="slidenum">
              <a:rPr lang="en-US" smtClean="0"/>
              <a:t>‹#›</a:t>
            </a:fld>
            <a:endParaRPr lang="en-US"/>
          </a:p>
        </p:txBody>
      </p:sp>
      <p:sp>
        <p:nvSpPr>
          <p:cNvPr id="66568" name="Line 8"/>
          <p:cNvSpPr>
            <a:spLocks noChangeShapeType="1"/>
          </p:cNvSpPr>
          <p:nvPr/>
        </p:nvSpPr>
        <p:spPr bwMode="auto">
          <a:xfrm>
            <a:off x="1117600" y="2819400"/>
            <a:ext cx="8636000" cy="0"/>
          </a:xfrm>
          <a:prstGeom prst="line">
            <a:avLst/>
          </a:prstGeom>
          <a:noFill/>
          <a:ln w="63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grpSp>
        <p:nvGrpSpPr>
          <p:cNvPr id="66569" name="Group 9" descr="decorative graphic made up of dots"/>
          <p:cNvGrpSpPr>
            <a:grpSpLocks/>
          </p:cNvGrpSpPr>
          <p:nvPr/>
        </p:nvGrpSpPr>
        <p:grpSpPr bwMode="auto">
          <a:xfrm>
            <a:off x="9956801" y="1219200"/>
            <a:ext cx="1056217" cy="1295400"/>
            <a:chOff x="5136" y="960"/>
            <a:chExt cx="528" cy="864"/>
          </a:xfrm>
        </p:grpSpPr>
        <p:sp>
          <p:nvSpPr>
            <p:cNvPr id="66570" name="Oval 10"/>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1" name="Oval 11"/>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2" name="Oval 12"/>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3" name="Oval 13"/>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4" name="Oval 14"/>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5" name="Oval 15"/>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6" name="Oval 16"/>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7" name="Oval 17"/>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8" name="Oval 18"/>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9" name="Oval 19"/>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0" name="Oval 20"/>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1" name="Oval 21"/>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2" name="Oval 22"/>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3" name="Oval 23"/>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4" name="Oval 24"/>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5" name="Oval 25"/>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6" name="Oval 26"/>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7" name="Oval 27"/>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8" name="Oval 28"/>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9" name="Oval 29"/>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0" name="Oval 30"/>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1" name="Oval 31"/>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2" name="Oval 32"/>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3" name="Oval 33"/>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4" name="Oval 34"/>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5" name="Oval 35"/>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6" name="Oval 36"/>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7" name="Oval 37"/>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8" name="Oval 38"/>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9" name="Oval 39"/>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0" name="Oval 40"/>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grpSp>
        <p:nvGrpSpPr>
          <p:cNvPr id="66601" name="Group 41" descr="decorative graphic made up of dots"/>
          <p:cNvGrpSpPr>
            <a:grpSpLocks/>
          </p:cNvGrpSpPr>
          <p:nvPr/>
        </p:nvGrpSpPr>
        <p:grpSpPr bwMode="auto">
          <a:xfrm>
            <a:off x="9956801" y="1219200"/>
            <a:ext cx="1056217" cy="1295400"/>
            <a:chOff x="5136" y="960"/>
            <a:chExt cx="528" cy="864"/>
          </a:xfrm>
        </p:grpSpPr>
        <p:sp>
          <p:nvSpPr>
            <p:cNvPr id="66602" name="Oval 42"/>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3" name="Oval 43"/>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4" name="Oval 44"/>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5" name="Oval 45"/>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6" name="Oval 46"/>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7" name="Oval 47"/>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8" name="Oval 48"/>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9" name="Oval 49"/>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0" name="Oval 50"/>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1" name="Oval 51"/>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2" name="Oval 52"/>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3" name="Oval 53"/>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4" name="Oval 54"/>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5" name="Oval 55"/>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6" name="Oval 56"/>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7" name="Oval 57"/>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8" name="Oval 58"/>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9" name="Oval 59"/>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0" name="Oval 60"/>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1" name="Oval 61"/>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2" name="Oval 62"/>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3" name="Oval 63"/>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4" name="Oval 64"/>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5" name="Oval 65"/>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6" name="Oval 66"/>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7" name="Oval 67"/>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8" name="Oval 68"/>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9" name="Oval 69"/>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0" name="Oval 70"/>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1" name="Oval 71"/>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2" name="Oval 72"/>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08955" y="6247726"/>
            <a:ext cx="499764" cy="460309"/>
          </a:xfrm>
          <a:prstGeom prst="rect">
            <a:avLst/>
          </a:prstGeom>
        </p:spPr>
      </p:pic>
    </p:spTree>
    <p:extLst>
      <p:ext uri="{BB962C8B-B14F-4D97-AF65-F5344CB8AC3E}">
        <p14:creationId xmlns:p14="http://schemas.microsoft.com/office/powerpoint/2010/main" val="3085256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F44A8556-2F07-416B-A81B-5F1C3AFD01EF}"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954" y="6261305"/>
            <a:ext cx="499764" cy="460309"/>
          </a:xfrm>
          <a:prstGeom prst="rect">
            <a:avLst/>
          </a:prstGeom>
        </p:spPr>
      </p:pic>
    </p:spTree>
    <p:extLst>
      <p:ext uri="{BB962C8B-B14F-4D97-AF65-F5344CB8AC3E}">
        <p14:creationId xmlns:p14="http://schemas.microsoft.com/office/powerpoint/2010/main" val="673722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6729637-7636-4388-949A-FC8BFDAA4705}"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706092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lvl1pPr>
              <a:defRPr/>
            </a:lvl1pPr>
          </a:lstStyle>
          <a:p>
            <a:fld id="{A0F5DED8-6456-47A2-A5CC-BE8BEC6BD892}" type="datetime1">
              <a:rPr lang="en-US" smtClean="0"/>
              <a:t>10/19/2026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919174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lvl1pPr>
              <a:defRPr/>
            </a:lvl1pPr>
          </a:lstStyle>
          <a:p>
            <a:fld id="{17595759-8665-4708-8376-28A90FA13BDD}" type="datetime1">
              <a:rPr lang="en-US" smtClean="0"/>
              <a:t>10/19/2026</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18297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lvl1pPr>
              <a:defRPr/>
            </a:lvl1pPr>
          </a:lstStyle>
          <a:p>
            <a:fld id="{A3B0C243-4A55-4741-8265-C0A2FA769F7B}" type="datetime1">
              <a:rPr lang="en-US" smtClean="0"/>
              <a:t>10/19/2026</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278546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A99A12F7-971D-41C1-A2B7-EBB58FF381A3}" type="datetime1">
              <a:rPr lang="en-US" smtClean="0"/>
              <a:t>10/19/2026</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381112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2E3C3D28-2E0C-4F8B-A45D-9E87921943BF}" type="datetime1">
              <a:rPr lang="en-US" smtClean="0"/>
              <a:t>10/19/2026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480995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020A2-9D30-48AD-A70D-69AD2B027FCA}" type="datetime1">
              <a:rPr lang="en-US" smtClean="0"/>
              <a:t>10/19/2026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121103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F01F6343-4644-43E3-AA07-6869EC7CEA0D}"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892150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22239"/>
            <a:ext cx="2743200" cy="6008687"/>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122239"/>
            <a:ext cx="80264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0CA0A126-F3CA-45B4-970B-597BE67A203E}"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40294651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058400" cy="12954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09600" y="6248400"/>
            <a:ext cx="2844800" cy="457200"/>
          </a:xfrm>
        </p:spPr>
        <p:txBody>
          <a:bodyPr/>
          <a:lstStyle>
            <a:lvl1pPr>
              <a:defRPr/>
            </a:lvl1pPr>
          </a:lstStyle>
          <a:p>
            <a:fld id="{16815F9B-CAFE-4C37-897A-C6403744783F}" type="datetime1">
              <a:rPr lang="en-US" smtClean="0"/>
              <a:t>10/19/2026</a:t>
            </a:fld>
            <a:endParaRPr 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8400"/>
            <a:ext cx="2844800" cy="457200"/>
          </a:xfrm>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737879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5538" name="Line 2"/>
          <p:cNvSpPr>
            <a:spLocks noChangeShapeType="1"/>
          </p:cNvSpPr>
          <p:nvPr/>
        </p:nvSpPr>
        <p:spPr bwMode="auto">
          <a:xfrm>
            <a:off x="10668000" y="0"/>
            <a:ext cx="0" cy="15240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5539" name="Rectangle 3"/>
          <p:cNvSpPr>
            <a:spLocks noGrp="1" noChangeArrowheads="1"/>
          </p:cNvSpPr>
          <p:nvPr>
            <p:ph type="title"/>
          </p:nvPr>
        </p:nvSpPr>
        <p:spPr bwMode="auto">
          <a:xfrm>
            <a:off x="609600" y="122238"/>
            <a:ext cx="10058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65540" name="Rectangle 4"/>
          <p:cNvSpPr>
            <a:spLocks noGrp="1" noChangeArrowheads="1"/>
          </p:cNvSpPr>
          <p:nvPr>
            <p:ph type="body" idx="1"/>
          </p:nvPr>
        </p:nvSpPr>
        <p:spPr bwMode="auto">
          <a:xfrm>
            <a:off x="609600" y="1719263"/>
            <a:ext cx="109728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5541" name="Rectangle 5"/>
          <p:cNvSpPr>
            <a:spLocks noGrp="1" noChangeArrowheads="1"/>
          </p:cNvSpPr>
          <p:nvPr>
            <p:ph type="dt" sz="half" idx="2"/>
          </p:nvPr>
        </p:nvSpPr>
        <p:spPr bwMode="auto">
          <a:xfrm>
            <a:off x="609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lvl1pPr>
          </a:lstStyle>
          <a:p>
            <a:fld id="{C569D4A1-8BB6-4430-9601-3FBC79908E8C}" type="datetime1">
              <a:rPr lang="en-US" smtClean="0"/>
              <a:t>10/19/2026</a:t>
            </a:fld>
            <a:endParaRPr lang="en-US"/>
          </a:p>
        </p:txBody>
      </p:sp>
      <p:sp>
        <p:nvSpPr>
          <p:cNvPr id="65542" name="Rectangle 6"/>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lvl1pPr>
          </a:lstStyle>
          <a:p>
            <a:endParaRPr lang="en-US"/>
          </a:p>
        </p:txBody>
      </p:sp>
      <p:sp>
        <p:nvSpPr>
          <p:cNvPr id="65543" name="Rectangle 7"/>
          <p:cNvSpPr>
            <a:spLocks noGrp="1" noChangeArrowheads="1"/>
          </p:cNvSpPr>
          <p:nvPr>
            <p:ph type="sldNum" sz="quarter" idx="4"/>
          </p:nvPr>
        </p:nvSpPr>
        <p:spPr bwMode="auto">
          <a:xfrm>
            <a:off x="8737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vl1pPr>
          </a:lstStyle>
          <a:p>
            <a:fld id="{83385899-0B10-4821-AAA8-DC5305EDD7F2}" type="slidenum">
              <a:rPr lang="en-US" smtClean="0"/>
              <a:t>‹#›</a:t>
            </a:fld>
            <a:endParaRPr lang="en-US"/>
          </a:p>
        </p:txBody>
      </p:sp>
      <p:grpSp>
        <p:nvGrpSpPr>
          <p:cNvPr id="65544" name="Group 8" descr="decorative graphic made up of dots"/>
          <p:cNvGrpSpPr>
            <a:grpSpLocks/>
          </p:cNvGrpSpPr>
          <p:nvPr/>
        </p:nvGrpSpPr>
        <p:grpSpPr bwMode="auto">
          <a:xfrm>
            <a:off x="10871201" y="152400"/>
            <a:ext cx="1056217" cy="1295400"/>
            <a:chOff x="5136" y="960"/>
            <a:chExt cx="528" cy="864"/>
          </a:xfrm>
        </p:grpSpPr>
        <p:sp>
          <p:nvSpPr>
            <p:cNvPr id="65545"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6"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7"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8"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9"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0"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1"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2"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3"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4"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5"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6"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7"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8"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9"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0"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1"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2"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3"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4"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5"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6"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7"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8"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9"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0"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1"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2"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3"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4"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5"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sp>
        <p:nvSpPr>
          <p:cNvPr id="65576" name="Line 40"/>
          <p:cNvSpPr>
            <a:spLocks noChangeShapeType="1"/>
          </p:cNvSpPr>
          <p:nvPr/>
        </p:nvSpPr>
        <p:spPr bwMode="auto">
          <a:xfrm>
            <a:off x="609600" y="1524000"/>
            <a:ext cx="100584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Tree>
    <p:extLst>
      <p:ext uri="{BB962C8B-B14F-4D97-AF65-F5344CB8AC3E}">
        <p14:creationId xmlns:p14="http://schemas.microsoft.com/office/powerpoint/2010/main" val="26342200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900" b="1" kern="1200">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panose="020B0604020202020204" pitchFamily="34" charset="0"/>
        </a:defRPr>
      </a:lvl2pPr>
      <a:lvl3pPr algn="l" rtl="0" eaLnBrk="1" fontAlgn="base" hangingPunct="1">
        <a:spcBef>
          <a:spcPct val="0"/>
        </a:spcBef>
        <a:spcAft>
          <a:spcPct val="0"/>
        </a:spcAft>
        <a:defRPr sz="3900" b="1">
          <a:solidFill>
            <a:schemeClr val="tx2"/>
          </a:solidFill>
          <a:latin typeface="Arial" panose="020B0604020202020204" pitchFamily="34" charset="0"/>
        </a:defRPr>
      </a:lvl3pPr>
      <a:lvl4pPr algn="l" rtl="0" eaLnBrk="1" fontAlgn="base" hangingPunct="1">
        <a:spcBef>
          <a:spcPct val="0"/>
        </a:spcBef>
        <a:spcAft>
          <a:spcPct val="0"/>
        </a:spcAft>
        <a:defRPr sz="3900" b="1">
          <a:solidFill>
            <a:schemeClr val="tx2"/>
          </a:solidFill>
          <a:latin typeface="Arial" panose="020B0604020202020204" pitchFamily="34" charset="0"/>
        </a:defRPr>
      </a:lvl4pPr>
      <a:lvl5pPr algn="l" rtl="0" eaLnBrk="1" fontAlgn="base" hangingPunct="1">
        <a:spcBef>
          <a:spcPct val="0"/>
        </a:spcBef>
        <a:spcAft>
          <a:spcPct val="0"/>
        </a:spcAft>
        <a:defRPr sz="3900" b="1">
          <a:solidFill>
            <a:schemeClr val="tx2"/>
          </a:solidFill>
          <a:latin typeface="Arial" panose="020B0604020202020204" pitchFamily="34" charset="0"/>
        </a:defRPr>
      </a:lvl5pPr>
      <a:lvl6pPr marL="457200" algn="l" rtl="0" eaLnBrk="1" fontAlgn="base" hangingPunct="1">
        <a:spcBef>
          <a:spcPct val="0"/>
        </a:spcBef>
        <a:spcAft>
          <a:spcPct val="0"/>
        </a:spcAft>
        <a:defRPr sz="3900" b="1">
          <a:solidFill>
            <a:schemeClr val="tx2"/>
          </a:solidFill>
          <a:latin typeface="Arial" panose="020B0604020202020204" pitchFamily="34" charset="0"/>
        </a:defRPr>
      </a:lvl6pPr>
      <a:lvl7pPr marL="914400" algn="l" rtl="0" eaLnBrk="1" fontAlgn="base" hangingPunct="1">
        <a:spcBef>
          <a:spcPct val="0"/>
        </a:spcBef>
        <a:spcAft>
          <a:spcPct val="0"/>
        </a:spcAft>
        <a:defRPr sz="3900" b="1">
          <a:solidFill>
            <a:schemeClr val="tx2"/>
          </a:solidFill>
          <a:latin typeface="Arial" panose="020B0604020202020204" pitchFamily="34" charset="0"/>
        </a:defRPr>
      </a:lvl7pPr>
      <a:lvl8pPr marL="1371600" algn="l" rtl="0" eaLnBrk="1" fontAlgn="base" hangingPunct="1">
        <a:spcBef>
          <a:spcPct val="0"/>
        </a:spcBef>
        <a:spcAft>
          <a:spcPct val="0"/>
        </a:spcAft>
        <a:defRPr sz="3900" b="1">
          <a:solidFill>
            <a:schemeClr val="tx2"/>
          </a:solidFill>
          <a:latin typeface="Arial" panose="020B0604020202020204" pitchFamily="34" charset="0"/>
        </a:defRPr>
      </a:lvl8pPr>
      <a:lvl9pPr marL="1828800" algn="l" rtl="0" eaLnBrk="1" fontAlgn="base" hangingPunct="1">
        <a:spcBef>
          <a:spcPct val="0"/>
        </a:spcBef>
        <a:spcAft>
          <a:spcPct val="0"/>
        </a:spcAft>
        <a:defRPr sz="3900" b="1">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000" kern="12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3688" algn="l" rtl="0" eaLnBrk="1" fontAlgn="base" hangingPunct="1">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113" indent="-292100" algn="l" rtl="0" eaLnBrk="1" fontAlgn="base" hangingPunct="1">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613" indent="-315913" algn="l" rtl="0" eaLnBrk="1" fontAlgn="base" hangingPunct="1">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Using SQL for QA Data Validation</a:t>
            </a:r>
          </a:p>
        </p:txBody>
      </p:sp>
      <p:sp>
        <p:nvSpPr>
          <p:cNvPr id="4" name="TextBox 3"/>
          <p:cNvSpPr txBox="1"/>
          <p:nvPr/>
        </p:nvSpPr>
        <p:spPr>
          <a:xfrm>
            <a:off x="609904" y="2057400"/>
            <a:ext cx="8777508" cy="1097280"/>
          </a:xfrm>
          <a:prstGeom prst="rect">
            <a:avLst/>
          </a:prstGeom>
          <a:noFill/>
        </p:spPr>
        <p:txBody>
          <a:bodyPr wrap="square" lIns="0" tIns="0" rIns="0" bIns="0" anchor="t">
            <a:spAutoFit/>
          </a:bodyPr>
          <a:lstStyle/>
          <a:p>
            <a:pPr algn="l">
              <a:lnSpc>
                <a:spcPct val="110000"/>
              </a:lnSpc>
              <a:spcAft>
                <a:spcPts val="600"/>
              </a:spcAft>
            </a:pPr>
            <a:r>
              <a:rPr sz="2200" b="0" i="0">
                <a:solidFill>
                  <a:srgbClr val="5A5A5A"/>
                </a:solidFill>
                <a:latin typeface="Arial"/>
              </a:rPr>
              <a:t>Look behind the UI: violation queries, a numbered rule catalogue for orders, Python automation and defect reporting.</a:t>
            </a:r>
          </a:p>
        </p:txBody>
      </p:sp>
      <p:sp>
        <p:nvSpPr>
          <p:cNvPr id="5" name="Rounded Rectangle 4"/>
          <p:cNvSpPr/>
          <p:nvPr/>
        </p:nvSpPr>
        <p:spPr>
          <a:xfrm>
            <a:off x="609904" y="3520439"/>
            <a:ext cx="2257425" cy="402336"/>
          </a:xfrm>
          <a:prstGeom prst="roundRect">
            <a:avLst>
              <a:gd name="adj" fmla="val 50000"/>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FFFFFF"/>
                </a:solidFill>
                <a:latin typeface="Arial"/>
              </a:rPr>
              <a:t>violation query</a:t>
            </a:r>
          </a:p>
        </p:txBody>
      </p:sp>
      <p:sp>
        <p:nvSpPr>
          <p:cNvPr id="6" name="Right Arrow 5"/>
          <p:cNvSpPr/>
          <p:nvPr/>
        </p:nvSpPr>
        <p:spPr>
          <a:xfrm>
            <a:off x="295876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324529" y="3520439"/>
            <a:ext cx="249745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expectation query</a:t>
            </a:r>
          </a:p>
        </p:txBody>
      </p:sp>
      <p:sp>
        <p:nvSpPr>
          <p:cNvPr id="8" name="Right Arrow 7"/>
          <p:cNvSpPr/>
          <p:nvPr/>
        </p:nvSpPr>
        <p:spPr>
          <a:xfrm>
            <a:off x="5913424"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279184" y="3520439"/>
            <a:ext cx="213741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rule catalogue</a:t>
            </a:r>
          </a:p>
        </p:txBody>
      </p:sp>
      <p:sp>
        <p:nvSpPr>
          <p:cNvPr id="10" name="Right Arrow 9"/>
          <p:cNvSpPr/>
          <p:nvPr/>
        </p:nvSpPr>
        <p:spPr>
          <a:xfrm>
            <a:off x="8508034"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873794" y="3520439"/>
            <a:ext cx="165735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dirty rows</a:t>
            </a:r>
          </a:p>
        </p:txBody>
      </p:sp>
      <p:sp>
        <p:nvSpPr>
          <p:cNvPr id="12" name="Right Arrow 11"/>
          <p:cNvSpPr/>
          <p:nvPr/>
        </p:nvSpPr>
        <p:spPr>
          <a:xfrm>
            <a:off x="10622584"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0988344" y="3520439"/>
            <a:ext cx="165735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automation</a:t>
            </a:r>
          </a:p>
        </p:txBody>
      </p:sp>
      <p:sp>
        <p:nvSpPr>
          <p:cNvPr id="14" name="Right Arrow 13"/>
          <p:cNvSpPr/>
          <p:nvPr/>
        </p:nvSpPr>
        <p:spPr>
          <a:xfrm>
            <a:off x="12737134"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3102894" y="3520439"/>
            <a:ext cx="2017394"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defect report</a:t>
            </a:r>
          </a:p>
        </p:txBody>
      </p:sp>
      <p:sp>
        <p:nvSpPr>
          <p:cNvPr id="16" name="Oval 15"/>
          <p:cNvSpPr/>
          <p:nvPr/>
        </p:nvSpPr>
        <p:spPr>
          <a:xfrm>
            <a:off x="609904" y="5596128"/>
            <a:ext cx="292608" cy="29260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7" name="Oval 16"/>
          <p:cNvSpPr/>
          <p:nvPr/>
        </p:nvSpPr>
        <p:spPr>
          <a:xfrm>
            <a:off x="1067104" y="5596128"/>
            <a:ext cx="292608" cy="292608"/>
          </a:xfrm>
          <a:prstGeom prst="ellipse">
            <a:avLst/>
          </a:prstGeom>
          <a:solidFill>
            <a:srgbClr val="66999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8" name="Oval 17"/>
          <p:cNvSpPr/>
          <p:nvPr/>
        </p:nvSpPr>
        <p:spPr>
          <a:xfrm>
            <a:off x="1524304" y="5596128"/>
            <a:ext cx="292608" cy="292608"/>
          </a:xfrm>
          <a:prstGeom prst="ellipse">
            <a:avLst/>
          </a:prstGeom>
          <a:solidFill>
            <a:srgbClr val="CCCC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Learning Objectives (1 of 2)</a:t>
            </a:r>
          </a:p>
        </p:txBody>
      </p:sp>
      <p:sp>
        <p:nvSpPr>
          <p:cNvPr id="3" name="Oval 2"/>
          <p:cNvSpPr/>
          <p:nvPr/>
        </p:nvSpPr>
        <p:spPr>
          <a:xfrm>
            <a:off x="609904" y="1874519"/>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76832" y="1783079"/>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Explain what data validation is and why QA engineers validate data in the database, not only in the UI.</a:t>
            </a:r>
          </a:p>
        </p:txBody>
      </p:sp>
      <p:sp>
        <p:nvSpPr>
          <p:cNvPr id="5" name="Oval 4"/>
          <p:cNvSpPr/>
          <p:nvPr/>
        </p:nvSpPr>
        <p:spPr>
          <a:xfrm>
            <a:off x="609904" y="2532887"/>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76832" y="2441447"/>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Describe the data-quality dimensions (completeness, validity, consistency, uniqueness, accuracy, timeliness) and match each to a SQL check.</a:t>
            </a:r>
          </a:p>
        </p:txBody>
      </p:sp>
      <p:sp>
        <p:nvSpPr>
          <p:cNvPr id="7" name="Oval 6"/>
          <p:cNvSpPr/>
          <p:nvPr/>
        </p:nvSpPr>
        <p:spPr>
          <a:xfrm>
            <a:off x="609904" y="3191256"/>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76832" y="3099815"/>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Write violation queries: rows that break a rule, where an empty result means pass.</a:t>
            </a:r>
          </a:p>
        </p:txBody>
      </p:sp>
      <p:sp>
        <p:nvSpPr>
          <p:cNvPr id="9" name="Oval 8"/>
          <p:cNvSpPr/>
          <p:nvPr/>
        </p:nvSpPr>
        <p:spPr>
          <a:xfrm>
            <a:off x="609904" y="3849624"/>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0" name="TextBox 9"/>
          <p:cNvSpPr txBox="1"/>
          <p:nvPr/>
        </p:nvSpPr>
        <p:spPr>
          <a:xfrm>
            <a:off x="1176832" y="3758184"/>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Write positive (expectation) queries that check a record was saved with the expected values.</a:t>
            </a:r>
          </a:p>
        </p:txBody>
      </p:sp>
      <p:sp>
        <p:nvSpPr>
          <p:cNvPr id="11" name="Oval 10"/>
          <p:cNvSpPr/>
          <p:nvPr/>
        </p:nvSpPr>
        <p:spPr>
          <a:xfrm>
            <a:off x="609904" y="4507992"/>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5</a:t>
            </a:r>
          </a:p>
        </p:txBody>
      </p:sp>
      <p:sp>
        <p:nvSpPr>
          <p:cNvPr id="12" name="TextBox 11"/>
          <p:cNvSpPr txBox="1"/>
          <p:nvPr/>
        </p:nvSpPr>
        <p:spPr>
          <a:xfrm>
            <a:off x="1176832" y="4416552"/>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Build a catalogue of validation rules for a table using only Thursday's toolkit.</a:t>
            </a:r>
          </a:p>
        </p:txBody>
      </p:sp>
      <p:sp>
        <p:nvSpPr>
          <p:cNvPr id="13" name="TextBox 12"/>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 / 62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Learning Objectives (2 of 2)</a:t>
            </a:r>
          </a:p>
        </p:txBody>
      </p:sp>
      <p:sp>
        <p:nvSpPr>
          <p:cNvPr id="3" name="Oval 2"/>
          <p:cNvSpPr/>
          <p:nvPr/>
        </p:nvSpPr>
        <p:spPr>
          <a:xfrm>
            <a:off x="609904" y="1874519"/>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76832" y="1783079"/>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Interpret results, separate genuine defects from false alarms, and report them clearly.</a:t>
            </a:r>
          </a:p>
        </p:txBody>
      </p:sp>
      <p:sp>
        <p:nvSpPr>
          <p:cNvPr id="5" name="Oval 4"/>
          <p:cNvSpPr/>
          <p:nvPr/>
        </p:nvSpPr>
        <p:spPr>
          <a:xfrm>
            <a:off x="609904" y="2532887"/>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76832" y="2441447"/>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Automate a set of validation queries from Python, with helpful failure messages.</a:t>
            </a:r>
          </a:p>
        </p:txBody>
      </p:sp>
      <p:sp>
        <p:nvSpPr>
          <p:cNvPr id="7" name="Oval 6"/>
          <p:cNvSpPr/>
          <p:nvPr/>
        </p:nvSpPr>
        <p:spPr>
          <a:xfrm>
            <a:off x="609904" y="3191256"/>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76832" y="3099815"/>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Apply safe-working practices when querying test and shared databases.</a:t>
            </a:r>
          </a:p>
        </p:txBody>
      </p:sp>
      <p:sp>
        <p:nvSpPr>
          <p:cNvPr id="9" name="Oval 8"/>
          <p:cNvSpPr/>
          <p:nvPr/>
        </p:nvSpPr>
        <p:spPr>
          <a:xfrm>
            <a:off x="609904" y="3849624"/>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0" name="TextBox 9"/>
          <p:cNvSpPr txBox="1"/>
          <p:nvPr/>
        </p:nvSpPr>
        <p:spPr>
          <a:xfrm>
            <a:off x="1176832" y="3758184"/>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Recognise the limits of single-table validation and what Friday adds.</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 / 62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What Is Data Validation?</a:t>
            </a:r>
          </a:p>
        </p:txBody>
      </p:sp>
      <p:sp>
        <p:nvSpPr>
          <p:cNvPr id="3" name="Text Placeholder 2"/>
          <p:cNvSpPr>
            <a:spLocks noGrp="1"/>
          </p:cNvSpPr>
          <p:nvPr>
            <p:ph type="body" idx="1"/>
          </p:nvPr>
        </p:nvSpPr>
        <p:spPr/>
        <p:txBody>
          <a:bodyPr/>
          <a:lstStyle/>
          <a:p>
            <a:r>
              <a:rPr sz="1800">
                <a:solidFill>
                  <a:srgbClr val="5A5A5A"/>
                </a:solidFill>
              </a:rPr>
              <a:t>Kinds of testing, where SQL fits, quality dimensions and the two query styles</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01</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7 / 62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Data Validation</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Rounded Rectangle 3"/>
          <p:cNvSpPr/>
          <p:nvPr/>
        </p:nvSpPr>
        <p:spPr>
          <a:xfrm>
            <a:off x="609904" y="1783080"/>
            <a:ext cx="5348782" cy="4361688"/>
          </a:xfrm>
          <a:prstGeom prst="roundRect">
            <a:avLst>
              <a:gd name="adj" fmla="val 1886"/>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65960"/>
            <a:ext cx="4891582"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Definition</a:t>
            </a:r>
          </a:p>
          <a:p>
            <a:pPr algn="l">
              <a:lnSpc>
                <a:spcPct val="110000"/>
              </a:lnSpc>
              <a:spcAft>
                <a:spcPts val="600"/>
              </a:spcAft>
            </a:pPr>
            <a:r>
              <a:rPr sz="1400" b="0" i="0">
                <a:solidFill>
                  <a:srgbClr val="1A1A1A"/>
                </a:solidFill>
                <a:latin typeface="Arial"/>
              </a:rPr>
              <a:t>Checking that the data in a system is correct, complete, consistent and follows the business rules.</a:t>
            </a:r>
          </a:p>
        </p:txBody>
      </p:sp>
      <p:sp>
        <p:nvSpPr>
          <p:cNvPr id="6" name="Rounded Rectangle 5"/>
          <p:cNvSpPr/>
          <p:nvPr/>
        </p:nvSpPr>
        <p:spPr>
          <a:xfrm>
            <a:off x="6233007" y="1783080"/>
            <a:ext cx="5348782" cy="4361688"/>
          </a:xfrm>
          <a:prstGeom prst="roundRect">
            <a:avLst>
              <a:gd name="adj" fmla="val 1886"/>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61607" y="1965960"/>
            <a:ext cx="4891582"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Strong at</a:t>
            </a:r>
          </a:p>
          <a:p>
            <a:pPr algn="l">
              <a:lnSpc>
                <a:spcPct val="110000"/>
              </a:lnSpc>
              <a:spcAft>
                <a:spcPts val="600"/>
              </a:spcAft>
            </a:pPr>
            <a:r>
              <a:rPr sz="1400" b="0" i="0">
                <a:solidFill>
                  <a:srgbClr val="1A1A1A"/>
                </a:solidFill>
                <a:latin typeface="Arial"/>
              </a:rPr>
              <a:t>Verifying side effects (what the system saved, changed or failed to save); inspecting large volumes quickly; catching silent corruption; preparing test data (read-only today).</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8 / 62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Data Validation vs Other Tests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graphicFrame>
        <p:nvGraphicFramePr>
          <p:cNvPr id="4" name="Table 3"/>
          <p:cNvGraphicFramePr>
            <a:graphicFrameLocks noGrp="1"/>
          </p:cNvGraphicFramePr>
          <p:nvPr/>
        </p:nvGraphicFramePr>
        <p:xfrm>
          <a:off x="609904" y="1783080"/>
          <a:ext cx="10971885" cy="2818380"/>
        </p:xfrm>
        <a:graphic>
          <a:graphicData uri="http://schemas.openxmlformats.org/drawingml/2006/table">
            <a:tbl>
              <a:tblPr/>
              <a:tblGrid>
                <a:gridCol w="2194377">
                  <a:extLst>
                    <a:ext uri="{9D8B030D-6E8A-4147-A177-3AD203B41FA5}">
                      <a16:colId xmlns:a16="http://schemas.microsoft.com/office/drawing/2014/main" val="20000"/>
                    </a:ext>
                  </a:extLst>
                </a:gridCol>
                <a:gridCol w="4388754">
                  <a:extLst>
                    <a:ext uri="{9D8B030D-6E8A-4147-A177-3AD203B41FA5}">
                      <a16:colId xmlns:a16="http://schemas.microsoft.com/office/drawing/2014/main" val="20001"/>
                    </a:ext>
                  </a:extLst>
                </a:gridCol>
                <a:gridCol w="4388754">
                  <a:extLst>
                    <a:ext uri="{9D8B030D-6E8A-4147-A177-3AD203B41FA5}">
                      <a16:colId xmlns:a16="http://schemas.microsoft.com/office/drawing/2014/main" val="20002"/>
                    </a:ext>
                  </a:extLst>
                </a:gridCol>
              </a:tblGrid>
              <a:tr h="384048">
                <a:tc>
                  <a:txBody>
                    <a:bodyPr/>
                    <a:lstStyle/>
                    <a:p>
                      <a:r>
                        <a:rPr sz="1400" b="1">
                          <a:solidFill>
                            <a:srgbClr val="FFFFFF"/>
                          </a:solidFill>
                          <a:latin typeface="Arial"/>
                        </a:rPr>
                        <a:t>Kind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400" b="1">
                          <a:solidFill>
                            <a:srgbClr val="FFFFFF"/>
                          </a:solidFill>
                          <a:latin typeface="Arial"/>
                        </a:rPr>
                        <a:t>Question it answers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400" b="1">
                          <a:solidFill>
                            <a:srgbClr val="FFFFFF"/>
                          </a:solidFill>
                          <a:latin typeface="Arial"/>
                        </a:rPr>
                        <a:t>Example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608583">
                <a:tc>
                  <a:txBody>
                    <a:bodyPr/>
                    <a:lstStyle/>
                    <a:p>
                      <a:r>
                        <a:rPr sz="1400" b="0">
                          <a:solidFill>
                            <a:srgbClr val="1A1A1A"/>
                          </a:solidFill>
                          <a:latin typeface="Arial"/>
                        </a:rPr>
                        <a:t>UI test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400" b="0">
                          <a:solidFill>
                            <a:srgbClr val="1A1A1A"/>
                          </a:solidFill>
                          <a:latin typeface="Arial"/>
                        </a:rPr>
                        <a:t>Does the screen behave correctly for the user?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400" b="0">
                          <a:solidFill>
                            <a:srgbClr val="1A1A1A"/>
                          </a:solidFill>
                          <a:latin typeface="Arial"/>
                        </a:rPr>
                        <a:t>The confirmation page appears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608583">
                <a:tc>
                  <a:txBody>
                    <a:bodyPr/>
                    <a:lstStyle/>
                    <a:p>
                      <a:r>
                        <a:rPr sz="1400" b="0">
                          <a:solidFill>
                            <a:srgbClr val="1A1A1A"/>
                          </a:solidFill>
                          <a:latin typeface="Arial"/>
                        </a:rPr>
                        <a:t>API test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400" b="0">
                          <a:solidFill>
                            <a:srgbClr val="1A1A1A"/>
                          </a:solidFill>
                          <a:latin typeface="Arial"/>
                        </a:rPr>
                        <a:t>Does the service return the correct response?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50" b="0" i="0">
                          <a:solidFill>
                            <a:srgbClr val="330066"/>
                          </a:solidFill>
                          <a:latin typeface="Courier New"/>
                        </a:rPr>
                        <a:t>POST /orders</a:t>
                      </a:r>
                      <a:r>
                        <a:rPr sz="1400" b="0" i="0">
                          <a:solidFill>
                            <a:srgbClr val="1A1A1A"/>
                          </a:solidFill>
                          <a:latin typeface="Arial"/>
                        </a:rPr>
                        <a:t> returns 201</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608583">
                <a:tc>
                  <a:txBody>
                    <a:bodyPr/>
                    <a:lstStyle/>
                    <a:p>
                      <a:r>
                        <a:rPr sz="1400" b="0">
                          <a:solidFill>
                            <a:srgbClr val="1A1A1A"/>
                          </a:solidFill>
                          <a:latin typeface="Arial"/>
                        </a:rPr>
                        <a:t>Data validation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400" b="0">
                          <a:solidFill>
                            <a:srgbClr val="1A1A1A"/>
                          </a:solidFill>
                          <a:latin typeface="Arial"/>
                        </a:rPr>
                        <a:t>Is the stored data correct?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400" b="0" i="0">
                          <a:solidFill>
                            <a:srgbClr val="1A1A1A"/>
                          </a:solidFill>
                          <a:latin typeface="Arial"/>
                        </a:rPr>
                        <a:t>The new row in </a:t>
                      </a:r>
                      <a:r>
                        <a:rPr sz="1350" b="0" i="0">
                          <a:solidFill>
                            <a:srgbClr val="330066"/>
                          </a:solidFill>
                          <a:latin typeface="Courier New"/>
                        </a:rPr>
                        <a:t>orders</a:t>
                      </a:r>
                      <a:r>
                        <a:rPr sz="1400" b="0" i="0">
                          <a:solidFill>
                            <a:srgbClr val="1A1A1A"/>
                          </a:solidFill>
                          <a:latin typeface="Arial"/>
                        </a:rPr>
                        <a:t> has the right quantity, price, and status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608583">
                <a:tc>
                  <a:txBody>
                    <a:bodyPr/>
                    <a:lstStyle/>
                    <a:p>
                      <a:r>
                        <a:rPr sz="1400" b="0">
                          <a:solidFill>
                            <a:srgbClr val="1A1A1A"/>
                          </a:solidFill>
                          <a:latin typeface="Arial"/>
                        </a:rPr>
                        <a:t>Unit test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400" b="0">
                          <a:solidFill>
                            <a:srgbClr val="1A1A1A"/>
                          </a:solidFill>
                          <a:latin typeface="Arial"/>
                        </a:rPr>
                        <a:t>Does one function compute the right result?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50" b="0" i="0">
                          <a:solidFill>
                            <a:srgbClr val="330066"/>
                          </a:solidFill>
                          <a:latin typeface="Courier New"/>
                        </a:rPr>
                        <a:t>calculate_total(2, 25.5) == 51.0</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9 / 62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Where QA Uses SQL Validation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Post-action verification: after a UI or API test creates an order, confirm exactly the expected row exists.</a:t>
            </a:r>
          </a:p>
          <a:p>
            <a:pPr marL="228600" indent="-228600" algn="l">
              <a:spcAft>
                <a:spcPts val="1000"/>
              </a:spcAft>
              <a:buFont typeface="Arial"/>
              <a:buChar char="•"/>
            </a:pPr>
            <a:r>
              <a:rPr sz="1700" b="0" i="0">
                <a:solidFill>
                  <a:srgbClr val="1A1A1A"/>
                </a:solidFill>
                <a:latin typeface="Arial"/>
              </a:rPr>
              <a:t>Test-data discovery: "a pending UK order I can cancel" (</a:t>
            </a:r>
            <a:r>
              <a:rPr sz="1650" b="0" i="0">
                <a:solidFill>
                  <a:srgbClr val="330066"/>
                </a:solidFill>
                <a:latin typeface="Courier New"/>
              </a:rPr>
              <a:t>SELECT</a:t>
            </a:r>
            <a:r>
              <a:rPr sz="1700" b="0" i="0">
                <a:solidFill>
                  <a:srgbClr val="1A1A1A"/>
                </a:solidFill>
                <a:latin typeface="Arial"/>
              </a:rPr>
              <a:t> with </a:t>
            </a:r>
            <a:r>
              <a:rPr sz="1650" b="0" i="0">
                <a:solidFill>
                  <a:srgbClr val="330066"/>
                </a:solidFill>
                <a:latin typeface="Courier New"/>
              </a:rPr>
              <a:t>WHERE ... LIMIT 1</a:t>
            </a:r>
            <a:r>
              <a:rPr sz="1700" b="0" i="0">
                <a:solidFill>
                  <a:srgbClr val="1A1A1A"/>
                </a:solidFill>
                <a:latin typeface="Arial"/>
              </a:rPr>
              <a:t>).</a:t>
            </a:r>
          </a:p>
          <a:p>
            <a:pPr marL="228600" indent="-228600" algn="l">
              <a:spcAft>
                <a:spcPts val="1000"/>
              </a:spcAft>
              <a:buFont typeface="Arial"/>
              <a:buChar char="•"/>
            </a:pPr>
            <a:r>
              <a:rPr sz="1700" b="0" i="0">
                <a:solidFill>
                  <a:srgbClr val="1A1A1A"/>
                </a:solidFill>
                <a:latin typeface="Arial"/>
              </a:rPr>
              <a:t>Environment health checks: before a regression suite runs, verify baseline data is present and clean.</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10 / 62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Where QA Uses SQL Validation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Data migration / ETL testing: verify data arrived intact in the new system.</a:t>
            </a:r>
          </a:p>
          <a:p>
            <a:pPr marL="228600" indent="-228600" algn="l">
              <a:spcAft>
                <a:spcPts val="1000"/>
              </a:spcAft>
              <a:buFont typeface="Arial"/>
              <a:buChar char="•"/>
            </a:pPr>
            <a:r>
              <a:rPr sz="1700" b="0" i="0">
                <a:solidFill>
                  <a:srgbClr val="1A1A1A"/>
                </a:solidFill>
                <a:latin typeface="Arial"/>
              </a:rPr>
              <a:t>Defect investigation: query the record to see exactly what is stored.</a:t>
            </a:r>
          </a:p>
          <a:p>
            <a:pPr marL="228600" indent="-228600" algn="l">
              <a:spcAft>
                <a:spcPts val="1000"/>
              </a:spcAft>
              <a:buFont typeface="Arial"/>
              <a:buChar char="•"/>
            </a:pPr>
            <a:r>
              <a:rPr sz="1700" b="0" i="0">
                <a:solidFill>
                  <a:srgbClr val="1A1A1A"/>
                </a:solidFill>
                <a:latin typeface="Arial"/>
              </a:rPr>
              <a:t>Regression guards: a fixed bug gets a permanent SQL check so it never silently returns.</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11 / 62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Data-Quality Dimensions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graphicFrame>
        <p:nvGraphicFramePr>
          <p:cNvPr id="4" name="Table 3"/>
          <p:cNvGraphicFramePr>
            <a:graphicFrameLocks noGrp="1"/>
          </p:cNvGraphicFramePr>
          <p:nvPr/>
        </p:nvGraphicFramePr>
        <p:xfrm>
          <a:off x="609904" y="1783080"/>
          <a:ext cx="10971884" cy="1937385"/>
        </p:xfrm>
        <a:graphic>
          <a:graphicData uri="http://schemas.openxmlformats.org/drawingml/2006/table">
            <a:tbl>
              <a:tblPr/>
              <a:tblGrid>
                <a:gridCol w="1974939">
                  <a:extLst>
                    <a:ext uri="{9D8B030D-6E8A-4147-A177-3AD203B41FA5}">
                      <a16:colId xmlns:a16="http://schemas.microsoft.com/office/drawing/2014/main" val="20000"/>
                    </a:ext>
                  </a:extLst>
                </a:gridCol>
                <a:gridCol w="3511003">
                  <a:extLst>
                    <a:ext uri="{9D8B030D-6E8A-4147-A177-3AD203B41FA5}">
                      <a16:colId xmlns:a16="http://schemas.microsoft.com/office/drawing/2014/main" val="20001"/>
                    </a:ext>
                  </a:extLst>
                </a:gridCol>
                <a:gridCol w="5485942">
                  <a:extLst>
                    <a:ext uri="{9D8B030D-6E8A-4147-A177-3AD203B41FA5}">
                      <a16:colId xmlns:a16="http://schemas.microsoft.com/office/drawing/2014/main" val="20002"/>
                    </a:ext>
                  </a:extLst>
                </a:gridCol>
              </a:tblGrid>
              <a:tr h="384048">
                <a:tc>
                  <a:txBody>
                    <a:bodyPr/>
                    <a:lstStyle/>
                    <a:p>
                      <a:r>
                        <a:rPr sz="1350" b="1">
                          <a:solidFill>
                            <a:srgbClr val="FFFFFF"/>
                          </a:solidFill>
                          <a:latin typeface="Arial"/>
                        </a:rPr>
                        <a:t>Dimension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50" b="1">
                          <a:solidFill>
                            <a:srgbClr val="FFFFFF"/>
                          </a:solidFill>
                          <a:latin typeface="Arial"/>
                        </a:rPr>
                        <a:t>Question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50" b="1">
                          <a:solidFill>
                            <a:srgbClr val="FFFFFF"/>
                          </a:solidFill>
                          <a:latin typeface="Arial"/>
                        </a:rPr>
                        <a:t>SQL approach (Thursday tools)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69189">
                <a:tc>
                  <a:txBody>
                    <a:bodyPr/>
                    <a:lstStyle/>
                    <a:p>
                      <a:r>
                        <a:rPr sz="1350" b="0">
                          <a:solidFill>
                            <a:srgbClr val="1A1A1A"/>
                          </a:solidFill>
                          <a:latin typeface="Arial"/>
                        </a:rPr>
                        <a:t>Completeness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50" b="0">
                          <a:solidFill>
                            <a:srgbClr val="1A1A1A"/>
                          </a:solidFill>
                          <a:latin typeface="Arial"/>
                        </a:rPr>
                        <a:t>Is required data present?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i="0">
                          <a:solidFill>
                            <a:srgbClr val="330066"/>
                          </a:solidFill>
                          <a:latin typeface="Courier New"/>
                        </a:rPr>
                        <a:t>IS NULL</a:t>
                      </a:r>
                      <a:r>
                        <a:rPr sz="1350" b="0" i="0">
                          <a:solidFill>
                            <a:srgbClr val="1A1A1A"/>
                          </a:solidFill>
                          <a:latin typeface="Arial"/>
                        </a:rPr>
                        <a:t>, blank-string checks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592074">
                <a:tc>
                  <a:txBody>
                    <a:bodyPr/>
                    <a:lstStyle/>
                    <a:p>
                      <a:r>
                        <a:rPr sz="1350" b="0">
                          <a:solidFill>
                            <a:srgbClr val="1A1A1A"/>
                          </a:solidFill>
                          <a:latin typeface="Arial"/>
                        </a:rPr>
                        <a:t>Validity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50" b="0">
                          <a:solidFill>
                            <a:srgbClr val="1A1A1A"/>
                          </a:solidFill>
                          <a:latin typeface="Arial"/>
                        </a:rPr>
                        <a:t>Are values allowed (type, format, range, list)?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i="0">
                          <a:solidFill>
                            <a:srgbClr val="330066"/>
                          </a:solidFill>
                          <a:latin typeface="Courier New"/>
                        </a:rPr>
                        <a:t>NOT IN</a:t>
                      </a:r>
                      <a:r>
                        <a:rPr sz="1350" b="0" i="0">
                          <a:solidFill>
                            <a:srgbClr val="1A1A1A"/>
                          </a:solidFill>
                          <a:latin typeface="Arial"/>
                        </a:rPr>
                        <a:t>, </a:t>
                      </a:r>
                      <a:r>
                        <a:rPr sz="1300" b="0" i="0">
                          <a:solidFill>
                            <a:srgbClr val="330066"/>
                          </a:solidFill>
                          <a:latin typeface="Courier New"/>
                        </a:rPr>
                        <a:t>NOT BETWEEN</a:t>
                      </a:r>
                      <a:r>
                        <a:rPr sz="1350" b="0" i="0">
                          <a:solidFill>
                            <a:srgbClr val="1A1A1A"/>
                          </a:solidFill>
                          <a:latin typeface="Arial"/>
                        </a:rPr>
                        <a:t>, </a:t>
                      </a:r>
                      <a:r>
                        <a:rPr sz="1300" b="0" i="0">
                          <a:solidFill>
                            <a:srgbClr val="330066"/>
                          </a:solidFill>
                          <a:latin typeface="Courier New"/>
                        </a:rPr>
                        <a:t>&lt;</a:t>
                      </a:r>
                      <a:r>
                        <a:rPr sz="1350" b="0" i="0">
                          <a:solidFill>
                            <a:srgbClr val="1A1A1A"/>
                          </a:solidFill>
                          <a:latin typeface="Arial"/>
                        </a:rPr>
                        <a:t>, </a:t>
                      </a:r>
                      <a:r>
                        <a:rPr sz="1300" b="0" i="0">
                          <a:solidFill>
                            <a:srgbClr val="330066"/>
                          </a:solidFill>
                          <a:latin typeface="Courier New"/>
                        </a:rPr>
                        <a:t>&gt;</a:t>
                      </a:r>
                      <a:r>
                        <a:rPr sz="1350" b="0" i="0">
                          <a:solidFill>
                            <a:srgbClr val="1A1A1A"/>
                          </a:solidFill>
                          <a:latin typeface="Arial"/>
                        </a:rPr>
                        <a:t>, </a:t>
                      </a:r>
                      <a:r>
                        <a:rPr sz="1300" b="0" i="0">
                          <a:solidFill>
                            <a:srgbClr val="330066"/>
                          </a:solidFill>
                          <a:latin typeface="Courier New"/>
                        </a:rPr>
                        <a:t>NOT LIKE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592074">
                <a:tc>
                  <a:txBody>
                    <a:bodyPr/>
                    <a:lstStyle/>
                    <a:p>
                      <a:r>
                        <a:rPr sz="1350" b="0">
                          <a:solidFill>
                            <a:srgbClr val="1A1A1A"/>
                          </a:solidFill>
                          <a:latin typeface="Arial"/>
                        </a:rPr>
                        <a:t>Consistency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50" b="0">
                          <a:solidFill>
                            <a:srgbClr val="1A1A1A"/>
                          </a:solidFill>
                          <a:latin typeface="Arial"/>
                        </a:rPr>
                        <a:t>Is the data uniform and non-contradictory?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i="0">
                          <a:solidFill>
                            <a:srgbClr val="330066"/>
                          </a:solidFill>
                          <a:latin typeface="Courier New"/>
                        </a:rPr>
                        <a:t>DISTINCT</a:t>
                      </a:r>
                      <a:r>
                        <a:rPr sz="1350" b="0" i="0">
                          <a:solidFill>
                            <a:srgbClr val="1A1A1A"/>
                          </a:solidFill>
                          <a:latin typeface="Arial"/>
                        </a:rPr>
                        <a:t> to reveal variants; case and whitespace checks; rules across columns of one row</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12 / 62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Data-Quality Dimensions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graphicFrame>
        <p:nvGraphicFramePr>
          <p:cNvPr id="4" name="Table 3"/>
          <p:cNvGraphicFramePr>
            <a:graphicFrameLocks noGrp="1"/>
          </p:cNvGraphicFramePr>
          <p:nvPr/>
        </p:nvGraphicFramePr>
        <p:xfrm>
          <a:off x="609904" y="1783080"/>
          <a:ext cx="10971884" cy="2160270"/>
        </p:xfrm>
        <a:graphic>
          <a:graphicData uri="http://schemas.openxmlformats.org/drawingml/2006/table">
            <a:tbl>
              <a:tblPr/>
              <a:tblGrid>
                <a:gridCol w="1974939">
                  <a:extLst>
                    <a:ext uri="{9D8B030D-6E8A-4147-A177-3AD203B41FA5}">
                      <a16:colId xmlns:a16="http://schemas.microsoft.com/office/drawing/2014/main" val="20000"/>
                    </a:ext>
                  </a:extLst>
                </a:gridCol>
                <a:gridCol w="3511003">
                  <a:extLst>
                    <a:ext uri="{9D8B030D-6E8A-4147-A177-3AD203B41FA5}">
                      <a16:colId xmlns:a16="http://schemas.microsoft.com/office/drawing/2014/main" val="20001"/>
                    </a:ext>
                  </a:extLst>
                </a:gridCol>
                <a:gridCol w="5485942">
                  <a:extLst>
                    <a:ext uri="{9D8B030D-6E8A-4147-A177-3AD203B41FA5}">
                      <a16:colId xmlns:a16="http://schemas.microsoft.com/office/drawing/2014/main" val="20002"/>
                    </a:ext>
                  </a:extLst>
                </a:gridCol>
              </a:tblGrid>
              <a:tr h="384048">
                <a:tc>
                  <a:txBody>
                    <a:bodyPr/>
                    <a:lstStyle/>
                    <a:p>
                      <a:r>
                        <a:rPr sz="1350" b="1">
                          <a:solidFill>
                            <a:srgbClr val="FFFFFF"/>
                          </a:solidFill>
                          <a:latin typeface="Arial"/>
                        </a:rPr>
                        <a:t>Dimension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50" b="1">
                          <a:solidFill>
                            <a:srgbClr val="FFFFFF"/>
                          </a:solidFill>
                          <a:latin typeface="Arial"/>
                        </a:rPr>
                        <a:t>Question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50" b="1">
                          <a:solidFill>
                            <a:srgbClr val="FFFFFF"/>
                          </a:solidFill>
                          <a:latin typeface="Arial"/>
                        </a:rPr>
                        <a:t>SQL approach (Thursday tools)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592074">
                <a:tc>
                  <a:txBody>
                    <a:bodyPr/>
                    <a:lstStyle/>
                    <a:p>
                      <a:r>
                        <a:rPr sz="1350" b="0">
                          <a:solidFill>
                            <a:srgbClr val="1A1A1A"/>
                          </a:solidFill>
                          <a:latin typeface="Arial"/>
                        </a:rPr>
                        <a:t>Uniqueness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50" b="0">
                          <a:solidFill>
                            <a:srgbClr val="1A1A1A"/>
                          </a:solidFill>
                          <a:latin typeface="Arial"/>
                        </a:rPr>
                        <a:t>Is each real-world thing stored once?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50" b="0" i="0">
                          <a:solidFill>
                            <a:srgbClr val="1A1A1A"/>
                          </a:solidFill>
                          <a:latin typeface="Arial"/>
                        </a:rPr>
                        <a:t>Primary key (enforced by the database); </a:t>
                      </a:r>
                      <a:r>
                        <a:rPr sz="1300" b="0" i="0">
                          <a:solidFill>
                            <a:srgbClr val="330066"/>
                          </a:solidFill>
                          <a:latin typeface="Courier New"/>
                        </a:rPr>
                        <a:t>DISTINCT</a:t>
                      </a:r>
                      <a:r>
                        <a:rPr sz="1350" b="0" i="0">
                          <a:solidFill>
                            <a:srgbClr val="1A1A1A"/>
                          </a:solidFill>
                          <a:latin typeface="Arial"/>
                        </a:rPr>
                        <a:t> to compare; deeper duplicate-finding on Friday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592074">
                <a:tc>
                  <a:txBody>
                    <a:bodyPr/>
                    <a:lstStyle/>
                    <a:p>
                      <a:r>
                        <a:rPr sz="1350" b="0">
                          <a:solidFill>
                            <a:srgbClr val="1A1A1A"/>
                          </a:solidFill>
                          <a:latin typeface="Arial"/>
                        </a:rPr>
                        <a:t>Accuracy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50" b="0">
                          <a:solidFill>
                            <a:srgbClr val="1A1A1A"/>
                          </a:solidFill>
                          <a:latin typeface="Arial"/>
                        </a:rPr>
                        <a:t>Does it match the real world or the source?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50" b="0">
                          <a:solidFill>
                            <a:srgbClr val="1A1A1A"/>
                          </a:solidFill>
                          <a:latin typeface="Arial"/>
                        </a:rPr>
                        <a:t>Compare against known expected values, calculated columns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592074">
                <a:tc>
                  <a:txBody>
                    <a:bodyPr/>
                    <a:lstStyle/>
                    <a:p>
                      <a:r>
                        <a:rPr sz="1350" b="0">
                          <a:solidFill>
                            <a:srgbClr val="1A1A1A"/>
                          </a:solidFill>
                          <a:latin typeface="Arial"/>
                        </a:rPr>
                        <a:t>Timeliness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50" b="0">
                          <a:solidFill>
                            <a:srgbClr val="1A1A1A"/>
                          </a:solidFill>
                          <a:latin typeface="Arial"/>
                        </a:rPr>
                        <a:t>Is it up to date and in the expected time window?</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50" b="0" i="0">
                          <a:solidFill>
                            <a:srgbClr val="1A1A1A"/>
                          </a:solidFill>
                          <a:latin typeface="Arial"/>
                        </a:rPr>
                        <a:t>Date comparisons, </a:t>
                      </a:r>
                      <a:r>
                        <a:rPr sz="1300" b="0" i="0">
                          <a:solidFill>
                            <a:srgbClr val="330066"/>
                          </a:solidFill>
                          <a:latin typeface="Courier New"/>
                        </a:rPr>
                        <a:t>ORDER BY date DESC LIMIT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13 / 62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Style A: The Violation Query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Rounded Rectangle 3"/>
          <p:cNvSpPr/>
          <p:nvPr/>
        </p:nvSpPr>
        <p:spPr>
          <a:xfrm>
            <a:off x="609904" y="1783080"/>
            <a:ext cx="5852160" cy="932688"/>
          </a:xfrm>
          <a:prstGeom prst="roundRect">
            <a:avLst>
              <a:gd name="adj" fmla="val 7843"/>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449824" cy="640080"/>
          </a:xfrm>
          <a:prstGeom prst="rect">
            <a:avLst/>
          </a:prstGeom>
          <a:noFill/>
        </p:spPr>
        <p:txBody>
          <a:bodyPr wrap="square" lIns="0" tIns="0" rIns="0" bIns="0">
            <a:spAutoFit/>
          </a:bodyPr>
          <a:lstStyle/>
          <a:p>
            <a:pPr algn="l">
              <a:lnSpc>
                <a:spcPct val="100000"/>
              </a:lnSpc>
            </a:pPr>
            <a:r>
              <a:rPr sz="1400">
                <a:solidFill>
                  <a:srgbClr val="1A1A1A"/>
                </a:solidFill>
                <a:latin typeface="Courier New"/>
              </a:rPr>
              <a:t>Business rule:      "Quantity must be at least 1."</a:t>
            </a:r>
          </a:p>
          <a:p>
            <a:pPr algn="l">
              <a:lnSpc>
                <a:spcPct val="100000"/>
              </a:lnSpc>
            </a:pPr>
            <a:r>
              <a:rPr sz="1400">
                <a:solidFill>
                  <a:srgbClr val="1A1A1A"/>
                </a:solidFill>
                <a:latin typeface="Courier New"/>
              </a:rPr>
              <a:t>Violation query:    SELECT ... WHERE quantity &lt; 1;</a:t>
            </a:r>
          </a:p>
          <a:p>
            <a:pPr algn="l">
              <a:lnSpc>
                <a:spcPct val="100000"/>
              </a:lnSpc>
            </a:pPr>
            <a:r>
              <a:rPr sz="1400">
                <a:solidFill>
                  <a:srgbClr val="1A1A1A"/>
                </a:solidFill>
                <a:latin typeface="Courier New"/>
              </a:rPr>
              <a:t>Expected result:    0 rows</a:t>
            </a:r>
          </a:p>
        </p:txBody>
      </p:sp>
      <p:sp>
        <p:nvSpPr>
          <p:cNvPr id="6" name="TextBox 5"/>
          <p:cNvSpPr txBox="1"/>
          <p:nvPr/>
        </p:nvSpPr>
        <p:spPr>
          <a:xfrm>
            <a:off x="6827824" y="1783080"/>
            <a:ext cx="4753965" cy="4361688"/>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Describe what is wrong. If it returns no rows, the rule holds; each returned row is a defect.</a:t>
            </a:r>
          </a:p>
          <a:p>
            <a:pPr marL="228600" indent="-228600" algn="l">
              <a:spcAft>
                <a:spcPts val="800"/>
              </a:spcAft>
              <a:buFont typeface="Arial"/>
              <a:buChar char="•"/>
            </a:pPr>
            <a:r>
              <a:rPr sz="1300" b="0" i="0">
                <a:solidFill>
                  <a:srgbClr val="1A1A1A"/>
                </a:solidFill>
                <a:latin typeface="Arial"/>
              </a:rPr>
              <a:t>One query checks every row, not a sample.</a:t>
            </a:r>
          </a:p>
          <a:p>
            <a:pPr marL="228600" indent="-228600" algn="l">
              <a:spcAft>
                <a:spcPts val="800"/>
              </a:spcAft>
              <a:buFont typeface="Arial"/>
              <a:buChar char="•"/>
            </a:pPr>
            <a:r>
              <a:rPr sz="1300" b="0" i="0">
                <a:solidFill>
                  <a:srgbClr val="1A1A1A"/>
                </a:solidFill>
                <a:latin typeface="Arial"/>
              </a:rPr>
              <a:t>The offending rows are the evidence for a bug report.</a:t>
            </a:r>
          </a:p>
          <a:p>
            <a:pPr marL="228600" indent="-228600" algn="l">
              <a:spcAft>
                <a:spcPts val="800"/>
              </a:spcAft>
              <a:buFont typeface="Arial"/>
              <a:buChar char="•"/>
            </a:pPr>
            <a:r>
              <a:rPr sz="1300" b="0" i="0">
                <a:solidFill>
                  <a:srgbClr val="1A1A1A"/>
                </a:solidFill>
                <a:latin typeface="Arial"/>
              </a:rPr>
              <a:t>The pass condition is simple: empty.</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14 / 62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Style B: The Expectation Query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Rounded Rectangle 3"/>
          <p:cNvSpPr/>
          <p:nvPr/>
        </p:nvSpPr>
        <p:spPr>
          <a:xfrm>
            <a:off x="609904" y="1783080"/>
            <a:ext cx="6400800" cy="902207"/>
          </a:xfrm>
          <a:prstGeom prst="roundRect">
            <a:avLst>
              <a:gd name="adj" fmla="val 8108"/>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998464" cy="609599"/>
          </a:xfrm>
          <a:prstGeom prst="rect">
            <a:avLst/>
          </a:prstGeom>
          <a:noFill/>
        </p:spPr>
        <p:txBody>
          <a:bodyPr wrap="square" lIns="0" tIns="0" rIns="0" bIns="0">
            <a:spAutoFit/>
          </a:bodyPr>
          <a:lstStyle/>
          <a:p>
            <a:pPr algn="l">
              <a:lnSpc>
                <a:spcPct val="100000"/>
              </a:lnSpc>
            </a:pPr>
            <a:r>
              <a:rPr sz="1000">
                <a:solidFill>
                  <a:srgbClr val="1A1A1A"/>
                </a:solidFill>
                <a:latin typeface="Courier New"/>
              </a:rPr>
              <a:t>Expectation:  "Order 1012 exists, belongs to Karen White, is for 2 Monitors and is DELIVERED."</a:t>
            </a:r>
          </a:p>
          <a:p>
            <a:pPr algn="l">
              <a:lnSpc>
                <a:spcPct val="100000"/>
              </a:lnSpc>
            </a:pPr>
            <a:r>
              <a:rPr sz="1000">
                <a:solidFill>
                  <a:srgbClr val="1A1A1A"/>
                </a:solidFill>
                <a:latin typeface="Courier New"/>
              </a:rPr>
              <a:t>Query:        SELECT ... WHERE order_id = 1012;</a:t>
            </a:r>
          </a:p>
          <a:p>
            <a:pPr algn="l">
              <a:lnSpc>
                <a:spcPct val="100000"/>
              </a:lnSpc>
            </a:pPr>
            <a:r>
              <a:rPr sz="1000">
                <a:solidFill>
                  <a:srgbClr val="1A1A1A"/>
                </a:solidFill>
                <a:latin typeface="Courier New"/>
              </a:rPr>
              <a:t>Check:        1 row, with those values</a:t>
            </a:r>
          </a:p>
        </p:txBody>
      </p:sp>
      <p:sp>
        <p:nvSpPr>
          <p:cNvPr id="6" name="TextBox 5"/>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Describe the record you expect and check it appears with the right values; typical after a test creates or changes something.</a:t>
            </a:r>
          </a:p>
          <a:p>
            <a:pPr marL="228600" indent="-228600" algn="l">
              <a:spcAft>
                <a:spcPts val="800"/>
              </a:spcAft>
              <a:buFont typeface="Arial"/>
              <a:buChar char="•"/>
            </a:pPr>
            <a:r>
              <a:rPr sz="1300" b="0" i="0">
                <a:solidFill>
                  <a:srgbClr val="1A1A1A"/>
                </a:solidFill>
                <a:latin typeface="Arial"/>
              </a:rPr>
              <a:t>Use both: violation queries guard against unknown unknowns; expectation queries confirm specific known outcomes.</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15 / 62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Mind the False Pass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Rounded Rectangle 3"/>
          <p:cNvSpPr/>
          <p:nvPr/>
        </p:nvSpPr>
        <p:spPr>
          <a:xfrm>
            <a:off x="609904" y="1783080"/>
            <a:ext cx="10971885" cy="1645920"/>
          </a:xfrm>
          <a:prstGeom prst="roundRect">
            <a:avLst>
              <a:gd name="adj" fmla="val 5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20240"/>
            <a:ext cx="10514685" cy="137160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WARNING</a:t>
            </a:r>
          </a:p>
          <a:p>
            <a:pPr algn="l">
              <a:lnSpc>
                <a:spcPct val="110000"/>
              </a:lnSpc>
              <a:spcAft>
                <a:spcPts val="600"/>
              </a:spcAft>
            </a:pPr>
            <a:r>
              <a:rPr sz="1400" b="0" i="0">
                <a:solidFill>
                  <a:srgbClr val="1A1A1A"/>
                </a:solidFill>
                <a:latin typeface="Arial"/>
              </a:rPr>
              <a:t>A violation query that returns nothing might mean no problems, or it might mean your query is wrong. Test each rule against data you know is bad (the planted defects) and confirm it catches them. This is the same idea as making a unit test fail first.</a:t>
            </a:r>
          </a:p>
        </p:txBody>
      </p:sp>
      <p:sp>
        <p:nvSpPr>
          <p:cNvPr id="6" name="TextBox 5"/>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16 / 62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Rule Catalogue for orders</a:t>
            </a:r>
          </a:p>
        </p:txBody>
      </p:sp>
      <p:sp>
        <p:nvSpPr>
          <p:cNvPr id="3" name="Text Placeholder 2"/>
          <p:cNvSpPr>
            <a:spLocks noGrp="1"/>
          </p:cNvSpPr>
          <p:nvPr>
            <p:ph type="body" idx="1"/>
          </p:nvPr>
        </p:nvSpPr>
        <p:spPr/>
        <p:txBody>
          <a:bodyPr/>
          <a:lstStyle/>
          <a:p>
            <a:r>
              <a:rPr sz="1800">
                <a:solidFill>
                  <a:srgbClr val="5A5A5A"/>
                </a:solidFill>
              </a:rPr>
              <a:t>V-01 to V-10: numbered rules with a dimension and a violation query</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02</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17 / 62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V-01: Required Email</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COMPLETENESS</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Rule: every order must have an email so a confirmation can be sent.</a:t>
            </a:r>
          </a:p>
        </p:txBody>
      </p:sp>
      <p:sp>
        <p:nvSpPr>
          <p:cNvPr id="5" name="Rounded Rectangle 4"/>
          <p:cNvSpPr/>
          <p:nvPr/>
        </p:nvSpPr>
        <p:spPr>
          <a:xfrm>
            <a:off x="609904" y="2221991"/>
            <a:ext cx="5303520" cy="1252728"/>
          </a:xfrm>
          <a:prstGeom prst="roundRect">
            <a:avLst>
              <a:gd name="adj" fmla="val 583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368296"/>
            <a:ext cx="4901183" cy="960120"/>
          </a:xfrm>
          <a:prstGeom prst="rect">
            <a:avLst/>
          </a:prstGeom>
          <a:noFill/>
        </p:spPr>
        <p:txBody>
          <a:bodyPr wrap="square" lIns="0" tIns="0" rIns="0" bIns="0">
            <a:spAutoFit/>
          </a:bodyPr>
          <a:lstStyle/>
          <a:p>
            <a:pPr algn="l">
              <a:lnSpc>
                <a:spcPct val="100000"/>
              </a:lnSpc>
            </a:pPr>
            <a:r>
              <a:rPr sz="1050">
                <a:solidFill>
                  <a:srgbClr val="1A1A1A"/>
                </a:solidFill>
                <a:latin typeface="Courier New"/>
              </a:rPr>
              <a:t>-- V-01: Email must not be NULL or blank. Expected: 0 rows.</a:t>
            </a:r>
          </a:p>
          <a:p>
            <a:pPr algn="l">
              <a:lnSpc>
                <a:spcPct val="100000"/>
              </a:lnSpc>
            </a:pPr>
            <a:r>
              <a:rPr sz="1050">
                <a:solidFill>
                  <a:srgbClr val="1A1A1A"/>
                </a:solidFill>
                <a:latin typeface="Courier New"/>
              </a:rPr>
              <a:t>SELECT order_id, customer_name, email</a:t>
            </a:r>
          </a:p>
          <a:p>
            <a:pPr algn="l">
              <a:lnSpc>
                <a:spcPct val="100000"/>
              </a:lnSpc>
            </a:pPr>
            <a:r>
              <a:rPr sz="1050">
                <a:solidFill>
                  <a:srgbClr val="1A1A1A"/>
                </a:solidFill>
                <a:latin typeface="Courier New"/>
              </a:rPr>
              <a:t>FROM orders</a:t>
            </a:r>
          </a:p>
          <a:p>
            <a:pPr algn="l">
              <a:lnSpc>
                <a:spcPct val="100000"/>
              </a:lnSpc>
            </a:pPr>
            <a:r>
              <a:rPr sz="1050">
                <a:solidFill>
                  <a:srgbClr val="1A1A1A"/>
                </a:solidFill>
                <a:latin typeface="Courier New"/>
              </a:rPr>
              <a:t>WHERE email IS NULL</a:t>
            </a:r>
          </a:p>
          <a:p>
            <a:pPr algn="l">
              <a:lnSpc>
                <a:spcPct val="100000"/>
              </a:lnSpc>
            </a:pPr>
            <a:r>
              <a:rPr sz="1050">
                <a:solidFill>
                  <a:srgbClr val="1A1A1A"/>
                </a:solidFill>
                <a:latin typeface="Courier New"/>
              </a:rPr>
              <a:t>   OR TRIM(email) = ''</a:t>
            </a:r>
          </a:p>
          <a:p>
            <a:pPr algn="l">
              <a:lnSpc>
                <a:spcPct val="100000"/>
              </a:lnSpc>
            </a:pPr>
            <a:r>
              <a:rPr sz="1050">
                <a:solidFill>
                  <a:srgbClr val="1A1A1A"/>
                </a:solidFill>
                <a:latin typeface="Courier New"/>
              </a:rPr>
              <a:t>ORDER BY order_id;</a:t>
            </a:r>
          </a:p>
        </p:txBody>
      </p:sp>
      <p:sp>
        <p:nvSpPr>
          <p:cNvPr id="7" name="TextBox 6"/>
          <p:cNvSpPr txBox="1"/>
          <p:nvPr/>
        </p:nvSpPr>
        <p:spPr>
          <a:xfrm>
            <a:off x="6279184" y="2221991"/>
            <a:ext cx="5302605" cy="3922776"/>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Finding: orders 1004 (David Lee) and 1014 (Maria Lopez) have no email. Two defects.</a:t>
            </a:r>
          </a:p>
          <a:p>
            <a:pPr marL="228600" indent="-228600" algn="l">
              <a:spcAft>
                <a:spcPts val="800"/>
              </a:spcAft>
              <a:buFont typeface="Arial"/>
              <a:buChar char="•"/>
            </a:pPr>
            <a:r>
              <a:rPr sz="1300" b="0" i="0">
                <a:solidFill>
                  <a:srgbClr val="1A1A1A"/>
                </a:solidFill>
                <a:latin typeface="Arial"/>
              </a:rPr>
              <a:t>Why both </a:t>
            </a:r>
            <a:r>
              <a:rPr sz="1250" b="0" i="0">
                <a:solidFill>
                  <a:srgbClr val="330066"/>
                </a:solidFill>
                <a:latin typeface="Courier New"/>
              </a:rPr>
              <a:t>IS NULL</a:t>
            </a:r>
            <a:r>
              <a:rPr sz="1300" b="0" i="0">
                <a:solidFill>
                  <a:srgbClr val="1A1A1A"/>
                </a:solidFill>
                <a:latin typeface="Arial"/>
              </a:rPr>
              <a:t> and </a:t>
            </a:r>
            <a:r>
              <a:rPr sz="1250" b="0" i="0">
                <a:solidFill>
                  <a:srgbClr val="330066"/>
                </a:solidFill>
                <a:latin typeface="Courier New"/>
              </a:rPr>
              <a:t>TRIM(email) = ''</a:t>
            </a:r>
            <a:r>
              <a:rPr sz="1300" b="0" i="0">
                <a:solidFill>
                  <a:srgbClr val="1A1A1A"/>
                </a:solidFill>
                <a:latin typeface="Arial"/>
              </a:rPr>
              <a:t>? Missing can be NULL or an empty or space-only string. Checking one lets the other slip through.</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18 / 62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V-02: Email Looks Valid</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VALIDITY</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Rule: an email must contain @ and a dot somewhere after it.</a:t>
            </a:r>
          </a:p>
        </p:txBody>
      </p:sp>
      <p:sp>
        <p:nvSpPr>
          <p:cNvPr id="5" name="Rounded Rectangle 4"/>
          <p:cNvSpPr/>
          <p:nvPr/>
        </p:nvSpPr>
        <p:spPr>
          <a:xfrm>
            <a:off x="609904" y="2221991"/>
            <a:ext cx="5303520" cy="1359408"/>
          </a:xfrm>
          <a:prstGeom prst="roundRect">
            <a:avLst>
              <a:gd name="adj" fmla="val 538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368296"/>
            <a:ext cx="4901183" cy="10668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 V-02: Email must contain '@' followed later by '.'. Expected: 0 rows.</a:t>
            </a:r>
          </a:p>
          <a:p>
            <a:pPr algn="l">
              <a:lnSpc>
                <a:spcPct val="100000"/>
              </a:lnSpc>
            </a:pPr>
            <a:r>
              <a:rPr sz="1000">
                <a:solidFill>
                  <a:srgbClr val="1A1A1A"/>
                </a:solidFill>
                <a:latin typeface="Courier New"/>
              </a:rPr>
              <a:t>SELECT order_id, email</a:t>
            </a:r>
          </a:p>
          <a:p>
            <a:pPr algn="l">
              <a:lnSpc>
                <a:spcPct val="100000"/>
              </a:lnSpc>
            </a:pPr>
            <a:r>
              <a:rPr sz="1000">
                <a:solidFill>
                  <a:srgbClr val="1A1A1A"/>
                </a:solidFill>
                <a:latin typeface="Courier New"/>
              </a:rPr>
              <a:t>FROM orders</a:t>
            </a:r>
          </a:p>
          <a:p>
            <a:pPr algn="l">
              <a:lnSpc>
                <a:spcPct val="100000"/>
              </a:lnSpc>
            </a:pPr>
            <a:r>
              <a:rPr sz="1000">
                <a:solidFill>
                  <a:srgbClr val="1A1A1A"/>
                </a:solidFill>
                <a:latin typeface="Courier New"/>
              </a:rPr>
              <a:t>WHERE email IS NOT NULL</a:t>
            </a:r>
          </a:p>
          <a:p>
            <a:pPr algn="l">
              <a:lnSpc>
                <a:spcPct val="100000"/>
              </a:lnSpc>
            </a:pPr>
            <a:r>
              <a:rPr sz="1000">
                <a:solidFill>
                  <a:srgbClr val="1A1A1A"/>
                </a:solidFill>
                <a:latin typeface="Courier New"/>
              </a:rPr>
              <a:t>  AND email NOT LIKE '%@%.%'</a:t>
            </a:r>
          </a:p>
          <a:p>
            <a:pPr algn="l">
              <a:lnSpc>
                <a:spcPct val="100000"/>
              </a:lnSpc>
            </a:pPr>
            <a:r>
              <a:rPr sz="1000">
                <a:solidFill>
                  <a:srgbClr val="1A1A1A"/>
                </a:solidFill>
                <a:latin typeface="Courier New"/>
              </a:rPr>
              <a:t>ORDER BY order_id;</a:t>
            </a:r>
          </a:p>
        </p:txBody>
      </p:sp>
      <p:sp>
        <p:nvSpPr>
          <p:cNvPr id="7" name="TextBox 6"/>
          <p:cNvSpPr txBox="1"/>
          <p:nvPr/>
        </p:nvSpPr>
        <p:spPr>
          <a:xfrm>
            <a:off x="6279184" y="2221991"/>
            <a:ext cx="5302605" cy="3922776"/>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Finding: order 1006, </a:t>
            </a:r>
            <a:r>
              <a:rPr sz="1250" b="0" i="0">
                <a:solidFill>
                  <a:srgbClr val="330066"/>
                </a:solidFill>
                <a:latin typeface="Courier New"/>
              </a:rPr>
              <a:t>frank.moore@example</a:t>
            </a:r>
            <a:r>
              <a:rPr sz="1300" b="0" i="0">
                <a:solidFill>
                  <a:srgbClr val="1A1A1A"/>
                </a:solidFill>
                <a:latin typeface="Arial"/>
              </a:rPr>
              <a:t>, has no top-level domain.</a:t>
            </a:r>
          </a:p>
          <a:p>
            <a:pPr marL="228600" indent="-228600" algn="l">
              <a:spcAft>
                <a:spcPts val="800"/>
              </a:spcAft>
              <a:buFont typeface="Arial"/>
              <a:buChar char="•"/>
            </a:pPr>
            <a:r>
              <a:rPr sz="1250" b="0" i="0">
                <a:solidFill>
                  <a:srgbClr val="330066"/>
                </a:solidFill>
                <a:latin typeface="Courier New"/>
              </a:rPr>
              <a:t>email IS NOT NULL</a:t>
            </a:r>
            <a:r>
              <a:rPr sz="1300" b="0" i="0">
                <a:solidFill>
                  <a:srgbClr val="1A1A1A"/>
                </a:solidFill>
                <a:latin typeface="Arial"/>
              </a:rPr>
              <a:t> is deliberate: each defect is reported by one rule (NULLs belong to V-01).</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19 / 62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V-02 Limitations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VALIDITY</a:t>
            </a:r>
          </a:p>
        </p:txBody>
      </p:sp>
      <p:sp>
        <p:nvSpPr>
          <p:cNvPr id="4" name="Rounded Rectangle 3"/>
          <p:cNvSpPr/>
          <p:nvPr/>
        </p:nvSpPr>
        <p:spPr>
          <a:xfrm>
            <a:off x="609904" y="1783080"/>
            <a:ext cx="10971885" cy="1828800"/>
          </a:xfrm>
          <a:prstGeom prst="roundRect">
            <a:avLst>
              <a:gd name="adj" fmla="val 45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20240"/>
            <a:ext cx="10514685" cy="155448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COARSE CHECK</a:t>
            </a:r>
          </a:p>
          <a:p>
            <a:pPr algn="l">
              <a:lnSpc>
                <a:spcPct val="110000"/>
              </a:lnSpc>
              <a:spcAft>
                <a:spcPts val="600"/>
              </a:spcAft>
            </a:pPr>
            <a:r>
              <a:rPr sz="1400" b="0" i="0">
                <a:solidFill>
                  <a:srgbClr val="1A1A1A"/>
                </a:solidFill>
                <a:latin typeface="Arial"/>
              </a:rPr>
              <a:t>LIKE is a coarse check: it would accept </a:t>
            </a:r>
            <a:r>
              <a:rPr sz="1350" b="0" i="0">
                <a:solidFill>
                  <a:srgbClr val="330066"/>
                </a:solidFill>
                <a:latin typeface="Courier New"/>
              </a:rPr>
              <a:t>a@b.c</a:t>
            </a:r>
            <a:r>
              <a:rPr sz="1400" b="0" i="0">
                <a:solidFill>
                  <a:srgbClr val="1A1A1A"/>
                </a:solidFill>
                <a:latin typeface="Arial"/>
              </a:rPr>
              <a:t> and </a:t>
            </a:r>
            <a:r>
              <a:rPr sz="1350" b="0" i="0">
                <a:solidFill>
                  <a:srgbClr val="330066"/>
                </a:solidFill>
                <a:latin typeface="Courier New"/>
              </a:rPr>
              <a:t>@.</a:t>
            </a:r>
            <a:r>
              <a:rPr sz="1400" b="0" i="0">
                <a:solidFill>
                  <a:srgbClr val="1A1A1A"/>
                </a:solidFill>
                <a:latin typeface="Arial"/>
              </a:rPr>
              <a:t>. For rigorous validation use regular expressions in test code or engine functions (</a:t>
            </a:r>
            <a:r>
              <a:rPr sz="1350" b="0" i="0">
                <a:solidFill>
                  <a:srgbClr val="330066"/>
                </a:solidFill>
                <a:latin typeface="Courier New"/>
              </a:rPr>
              <a:t>REGEXP</a:t>
            </a:r>
            <a:r>
              <a:rPr sz="1400" b="0" i="0">
                <a:solidFill>
                  <a:srgbClr val="1A1A1A"/>
                </a:solidFill>
                <a:latin typeface="Arial"/>
              </a:rPr>
              <a:t> in MySQL, </a:t>
            </a:r>
            <a:r>
              <a:rPr sz="1350" b="0" i="0">
                <a:solidFill>
                  <a:srgbClr val="330066"/>
                </a:solidFill>
                <a:latin typeface="Courier New"/>
              </a:rPr>
              <a:t>~</a:t>
            </a:r>
            <a:r>
              <a:rPr sz="1400" b="0" i="0">
                <a:solidFill>
                  <a:srgbClr val="1A1A1A"/>
                </a:solidFill>
                <a:latin typeface="Arial"/>
              </a:rPr>
              <a:t> in PostgreSQL, </a:t>
            </a:r>
            <a:r>
              <a:rPr sz="1350" b="0" i="0">
                <a:solidFill>
                  <a:srgbClr val="330066"/>
                </a:solidFill>
                <a:latin typeface="Courier New"/>
              </a:rPr>
              <a:t>REGEXP_LIKE</a:t>
            </a:r>
            <a:r>
              <a:rPr sz="1400" b="0" i="0">
                <a:solidFill>
                  <a:srgbClr val="1A1A1A"/>
                </a:solidFill>
                <a:latin typeface="Arial"/>
              </a:rPr>
              <a:t> in Oracle). SQLite has no built-in regex by default. As a smoke test LIKE finds the worst offenders.</a:t>
            </a:r>
          </a:p>
        </p:txBody>
      </p:sp>
      <p:sp>
        <p:nvSpPr>
          <p:cNvPr id="6" name="TextBox 5"/>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20 / 62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V-03: Quantity Is Positive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VALIDITY: RANGE</a:t>
            </a:r>
          </a:p>
        </p:txBody>
      </p:sp>
      <p:sp>
        <p:nvSpPr>
          <p:cNvPr id="4" name="Rounded Rectangle 3"/>
          <p:cNvSpPr/>
          <p:nvPr/>
        </p:nvSpPr>
        <p:spPr>
          <a:xfrm>
            <a:off x="609904" y="1783080"/>
            <a:ext cx="5303520" cy="1168908"/>
          </a:xfrm>
          <a:prstGeom prst="roundRect">
            <a:avLst>
              <a:gd name="adj" fmla="val 6258"/>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4901183" cy="876299"/>
          </a:xfrm>
          <a:prstGeom prst="rect">
            <a:avLst/>
          </a:prstGeom>
          <a:noFill/>
        </p:spPr>
        <p:txBody>
          <a:bodyPr wrap="square" lIns="0" tIns="0" rIns="0" bIns="0">
            <a:spAutoFit/>
          </a:bodyPr>
          <a:lstStyle/>
          <a:p>
            <a:pPr algn="l">
              <a:lnSpc>
                <a:spcPct val="100000"/>
              </a:lnSpc>
            </a:pPr>
            <a:r>
              <a:rPr sz="1150">
                <a:solidFill>
                  <a:srgbClr val="1A1A1A"/>
                </a:solidFill>
                <a:latin typeface="Courier New"/>
              </a:rPr>
              <a:t>-- V-03: Quantity must be at least 1. Expected: 0 rows.</a:t>
            </a:r>
          </a:p>
          <a:p>
            <a:pPr algn="l">
              <a:lnSpc>
                <a:spcPct val="100000"/>
              </a:lnSpc>
            </a:pPr>
            <a:r>
              <a:rPr sz="1150">
                <a:solidFill>
                  <a:srgbClr val="1A1A1A"/>
                </a:solidFill>
                <a:latin typeface="Courier New"/>
              </a:rPr>
              <a:t>SELECT order_id, product, quantity</a:t>
            </a:r>
          </a:p>
          <a:p>
            <a:pPr algn="l">
              <a:lnSpc>
                <a:spcPct val="100000"/>
              </a:lnSpc>
            </a:pPr>
            <a:r>
              <a:rPr sz="1150">
                <a:solidFill>
                  <a:srgbClr val="1A1A1A"/>
                </a:solidFill>
                <a:latin typeface="Courier New"/>
              </a:rPr>
              <a:t>FROM orders</a:t>
            </a:r>
          </a:p>
          <a:p>
            <a:pPr algn="l">
              <a:lnSpc>
                <a:spcPct val="100000"/>
              </a:lnSpc>
            </a:pPr>
            <a:r>
              <a:rPr sz="1150">
                <a:solidFill>
                  <a:srgbClr val="1A1A1A"/>
                </a:solidFill>
                <a:latin typeface="Courier New"/>
              </a:rPr>
              <a:t>WHERE quantity &lt; 1</a:t>
            </a:r>
          </a:p>
          <a:p>
            <a:pPr algn="l">
              <a:lnSpc>
                <a:spcPct val="100000"/>
              </a:lnSpc>
            </a:pPr>
            <a:r>
              <a:rPr sz="1150">
                <a:solidFill>
                  <a:srgbClr val="1A1A1A"/>
                </a:solidFill>
                <a:latin typeface="Courier New"/>
              </a:rPr>
              <a:t>ORDER BY order_id;</a:t>
            </a:r>
          </a:p>
        </p:txBody>
      </p:sp>
      <p:sp>
        <p:nvSpPr>
          <p:cNvPr id="6" name="Rounded Rectangle 5"/>
          <p:cNvSpPr/>
          <p:nvPr/>
        </p:nvSpPr>
        <p:spPr>
          <a:xfrm>
            <a:off x="609904" y="3134868"/>
            <a:ext cx="5303520" cy="1207008"/>
          </a:xfrm>
          <a:prstGeom prst="roundRect">
            <a:avLst>
              <a:gd name="adj" fmla="val 6060"/>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1072" y="3281172"/>
            <a:ext cx="4901183" cy="9144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 V-03b: Quantity must be between 1 and 100. Expected: 0 rows.</a:t>
            </a:r>
          </a:p>
          <a:p>
            <a:pPr algn="l">
              <a:lnSpc>
                <a:spcPct val="100000"/>
              </a:lnSpc>
            </a:pPr>
            <a:r>
              <a:rPr sz="1000">
                <a:solidFill>
                  <a:srgbClr val="1A1A1A"/>
                </a:solidFill>
                <a:latin typeface="Courier New"/>
              </a:rPr>
              <a:t>SELECT order_id, product, quantity</a:t>
            </a:r>
          </a:p>
          <a:p>
            <a:pPr algn="l">
              <a:lnSpc>
                <a:spcPct val="100000"/>
              </a:lnSpc>
            </a:pPr>
            <a:r>
              <a:rPr sz="1000">
                <a:solidFill>
                  <a:srgbClr val="1A1A1A"/>
                </a:solidFill>
                <a:latin typeface="Courier New"/>
              </a:rPr>
              <a:t>FROM orders</a:t>
            </a:r>
          </a:p>
          <a:p>
            <a:pPr algn="l">
              <a:lnSpc>
                <a:spcPct val="100000"/>
              </a:lnSpc>
            </a:pPr>
            <a:r>
              <a:rPr sz="1000">
                <a:solidFill>
                  <a:srgbClr val="1A1A1A"/>
                </a:solidFill>
                <a:latin typeface="Courier New"/>
              </a:rPr>
              <a:t>WHERE quantity NOT BETWEEN 1 AND 100</a:t>
            </a:r>
          </a:p>
          <a:p>
            <a:pPr algn="l">
              <a:lnSpc>
                <a:spcPct val="100000"/>
              </a:lnSpc>
            </a:pPr>
            <a:r>
              <a:rPr sz="1000">
                <a:solidFill>
                  <a:srgbClr val="1A1A1A"/>
                </a:solidFill>
                <a:latin typeface="Courier New"/>
              </a:rPr>
              <a:t>   OR quantity IS NULL</a:t>
            </a:r>
          </a:p>
          <a:p>
            <a:pPr algn="l">
              <a:lnSpc>
                <a:spcPct val="100000"/>
              </a:lnSpc>
            </a:pPr>
            <a:r>
              <a:rPr sz="1000">
                <a:solidFill>
                  <a:srgbClr val="1A1A1A"/>
                </a:solidFill>
                <a:latin typeface="Courier New"/>
              </a:rPr>
              <a:t>ORDER BY order_id;</a:t>
            </a:r>
          </a:p>
        </p:txBody>
      </p:sp>
      <p:sp>
        <p:nvSpPr>
          <p:cNvPr id="8" name="TextBox 7"/>
          <p:cNvSpPr txBox="1"/>
          <p:nvPr/>
        </p:nvSpPr>
        <p:spPr>
          <a:xfrm>
            <a:off x="6279184" y="1783080"/>
            <a:ext cx="5302605" cy="4361688"/>
          </a:xfrm>
          <a:prstGeom prst="rect">
            <a:avLst/>
          </a:prstGeom>
          <a:noFill/>
        </p:spPr>
        <p:txBody>
          <a:bodyPr wrap="square" lIns="0" tIns="0" rIns="0" bIns="0">
            <a:spAutoFit/>
          </a:bodyPr>
          <a:lstStyle/>
          <a:p>
            <a:pPr marL="228600" indent="-228600" algn="l">
              <a:spcAft>
                <a:spcPts val="800"/>
              </a:spcAft>
              <a:buFont typeface="Arial"/>
              <a:buChar char="•"/>
            </a:pPr>
            <a:r>
              <a:rPr sz="1250" b="0" i="0">
                <a:solidFill>
                  <a:srgbClr val="1A1A1A"/>
                </a:solidFill>
                <a:latin typeface="Arial"/>
              </a:rPr>
              <a:t>Findings: order 1007 has quantity 0; order 1011 has quantity -1. A negative quantity could reduce stock or credit a customer.</a:t>
            </a:r>
          </a:p>
          <a:p>
            <a:pPr marL="228600" indent="-228600" algn="l">
              <a:spcAft>
                <a:spcPts val="800"/>
              </a:spcAft>
              <a:buFont typeface="Arial"/>
              <a:buChar char="•"/>
            </a:pPr>
            <a:r>
              <a:rPr sz="1250" b="0" i="0">
                <a:solidFill>
                  <a:srgbClr val="1A1A1A"/>
                </a:solidFill>
                <a:latin typeface="Arial"/>
              </a:rPr>
              <a:t>V-03b adds an upper bound (max 100).</a:t>
            </a:r>
          </a:p>
          <a:p>
            <a:pPr marL="228600" indent="-228600" algn="l">
              <a:spcAft>
                <a:spcPts val="800"/>
              </a:spcAft>
              <a:buFont typeface="Arial"/>
              <a:buChar char="•"/>
            </a:pPr>
            <a:r>
              <a:rPr sz="1200" b="0" i="0">
                <a:solidFill>
                  <a:srgbClr val="330066"/>
                </a:solidFill>
                <a:latin typeface="Courier New"/>
              </a:rPr>
              <a:t>OR quantity IS NULL</a:t>
            </a:r>
            <a:r>
              <a:rPr sz="1250" b="0" i="0">
                <a:solidFill>
                  <a:srgbClr val="1A1A1A"/>
                </a:solidFill>
                <a:latin typeface="Arial"/>
              </a:rPr>
              <a:t> catches a missing quantity, which </a:t>
            </a:r>
            <a:r>
              <a:rPr sz="1200" b="0" i="0">
                <a:solidFill>
                  <a:srgbClr val="330066"/>
                </a:solidFill>
                <a:latin typeface="Courier New"/>
              </a:rPr>
              <a:t>NOT BETWEEN</a:t>
            </a:r>
            <a:r>
              <a:rPr sz="1250" b="0" i="0">
                <a:solidFill>
                  <a:srgbClr val="1A1A1A"/>
                </a:solidFill>
                <a:latin typeface="Arial"/>
              </a:rPr>
              <a:t> alone would skip.</a:t>
            </a:r>
          </a:p>
        </p:txBody>
      </p:sp>
      <p:sp>
        <p:nvSpPr>
          <p:cNvPr id="9" name="TextBox 8"/>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21 / 62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V-04: Price Is Positive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VALIDITY: RANGE</a:t>
            </a:r>
          </a:p>
        </p:txBody>
      </p:sp>
      <p:sp>
        <p:nvSpPr>
          <p:cNvPr id="4" name="Rounded Rectangle 3"/>
          <p:cNvSpPr/>
          <p:nvPr/>
        </p:nvSpPr>
        <p:spPr>
          <a:xfrm>
            <a:off x="609904" y="1783080"/>
            <a:ext cx="5303520" cy="1207008"/>
          </a:xfrm>
          <a:prstGeom prst="roundRect">
            <a:avLst>
              <a:gd name="adj" fmla="val 6060"/>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4901183" cy="9144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 V-04: Unit price must be greater than 0. Expected: 0 rows.</a:t>
            </a:r>
          </a:p>
          <a:p>
            <a:pPr algn="l">
              <a:lnSpc>
                <a:spcPct val="100000"/>
              </a:lnSpc>
            </a:pPr>
            <a:r>
              <a:rPr sz="1000">
                <a:solidFill>
                  <a:srgbClr val="1A1A1A"/>
                </a:solidFill>
                <a:latin typeface="Courier New"/>
              </a:rPr>
              <a:t>SELECT order_id, product, unit_price</a:t>
            </a:r>
          </a:p>
          <a:p>
            <a:pPr algn="l">
              <a:lnSpc>
                <a:spcPct val="100000"/>
              </a:lnSpc>
            </a:pPr>
            <a:r>
              <a:rPr sz="1000">
                <a:solidFill>
                  <a:srgbClr val="1A1A1A"/>
                </a:solidFill>
                <a:latin typeface="Courier New"/>
              </a:rPr>
              <a:t>FROM orders</a:t>
            </a:r>
          </a:p>
          <a:p>
            <a:pPr algn="l">
              <a:lnSpc>
                <a:spcPct val="100000"/>
              </a:lnSpc>
            </a:pPr>
            <a:r>
              <a:rPr sz="1000">
                <a:solidFill>
                  <a:srgbClr val="1A1A1A"/>
                </a:solidFill>
                <a:latin typeface="Courier New"/>
              </a:rPr>
              <a:t>WHERE unit_price &lt;= 0</a:t>
            </a:r>
          </a:p>
          <a:p>
            <a:pPr algn="l">
              <a:lnSpc>
                <a:spcPct val="100000"/>
              </a:lnSpc>
            </a:pPr>
            <a:r>
              <a:rPr sz="1000">
                <a:solidFill>
                  <a:srgbClr val="1A1A1A"/>
                </a:solidFill>
                <a:latin typeface="Courier New"/>
              </a:rPr>
              <a:t>   OR unit_price IS NULL</a:t>
            </a:r>
          </a:p>
          <a:p>
            <a:pPr algn="l">
              <a:lnSpc>
                <a:spcPct val="100000"/>
              </a:lnSpc>
            </a:pPr>
            <a:r>
              <a:rPr sz="1000">
                <a:solidFill>
                  <a:srgbClr val="1A1A1A"/>
                </a:solidFill>
                <a:latin typeface="Courier New"/>
              </a:rPr>
              <a:t>ORDER BY order_id;</a:t>
            </a:r>
          </a:p>
        </p:txBody>
      </p:sp>
      <p:sp>
        <p:nvSpPr>
          <p:cNvPr id="6" name="TextBox 5"/>
          <p:cNvSpPr txBox="1"/>
          <p:nvPr/>
        </p:nvSpPr>
        <p:spPr>
          <a:xfrm>
            <a:off x="6279184" y="1783080"/>
            <a:ext cx="5302605" cy="4361688"/>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Finding: order 1015 has a price of 0.0 for a Keyboard. Unless there is a giveaway promotion, a defect that costs real money.</a:t>
            </a:r>
          </a:p>
          <a:p>
            <a:pPr marL="228600" indent="-228600" algn="l">
              <a:spcAft>
                <a:spcPts val="800"/>
              </a:spcAft>
              <a:buFont typeface="Arial"/>
              <a:buChar char="•"/>
            </a:pPr>
            <a:r>
              <a:rPr sz="1300" b="0" i="0">
                <a:solidFill>
                  <a:srgbClr val="1A1A1A"/>
                </a:solidFill>
                <a:latin typeface="Arial"/>
              </a:rPr>
              <a:t>Whether zero is acceptable is a business decision: the query surfaces it, the team decides.</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22 / 62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V-05: Allowed Status Values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VALIDITY, CONSISTENCY</a:t>
            </a:r>
          </a:p>
        </p:txBody>
      </p:sp>
      <p:sp>
        <p:nvSpPr>
          <p:cNvPr id="4" name="Rounded Rectangle 3"/>
          <p:cNvSpPr/>
          <p:nvPr/>
        </p:nvSpPr>
        <p:spPr>
          <a:xfrm>
            <a:off x="609904" y="1783080"/>
            <a:ext cx="6583680" cy="1359408"/>
          </a:xfrm>
          <a:prstGeom prst="roundRect">
            <a:avLst>
              <a:gd name="adj" fmla="val 538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6181344" cy="10668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 V-05: Status must be exactly PENDING, SHIPPED, DELIVERED or CANCELLED. Expected: 0 rows.</a:t>
            </a:r>
          </a:p>
          <a:p>
            <a:pPr algn="l">
              <a:lnSpc>
                <a:spcPct val="100000"/>
              </a:lnSpc>
            </a:pPr>
            <a:r>
              <a:rPr sz="1000">
                <a:solidFill>
                  <a:srgbClr val="1A1A1A"/>
                </a:solidFill>
                <a:latin typeface="Courier New"/>
              </a:rPr>
              <a:t>SELECT order_id, status</a:t>
            </a:r>
          </a:p>
          <a:p>
            <a:pPr algn="l">
              <a:lnSpc>
                <a:spcPct val="100000"/>
              </a:lnSpc>
            </a:pPr>
            <a:r>
              <a:rPr sz="1000">
                <a:solidFill>
                  <a:srgbClr val="1A1A1A"/>
                </a:solidFill>
                <a:latin typeface="Courier New"/>
              </a:rPr>
              <a:t>FROM orders</a:t>
            </a:r>
          </a:p>
          <a:p>
            <a:pPr algn="l">
              <a:lnSpc>
                <a:spcPct val="100000"/>
              </a:lnSpc>
            </a:pPr>
            <a:r>
              <a:rPr sz="1000">
                <a:solidFill>
                  <a:srgbClr val="1A1A1A"/>
                </a:solidFill>
                <a:latin typeface="Courier New"/>
              </a:rPr>
              <a:t>WHERE status NOT IN ('PENDING', 'SHIPPED', 'DELIVERED', 'CANCELLED')</a:t>
            </a:r>
          </a:p>
          <a:p>
            <a:pPr algn="l">
              <a:lnSpc>
                <a:spcPct val="100000"/>
              </a:lnSpc>
            </a:pPr>
            <a:r>
              <a:rPr sz="1000">
                <a:solidFill>
                  <a:srgbClr val="1A1A1A"/>
                </a:solidFill>
                <a:latin typeface="Courier New"/>
              </a:rPr>
              <a:t>   OR status IS NULL</a:t>
            </a:r>
          </a:p>
          <a:p>
            <a:pPr algn="l">
              <a:lnSpc>
                <a:spcPct val="100000"/>
              </a:lnSpc>
            </a:pPr>
            <a:r>
              <a:rPr sz="1000">
                <a:solidFill>
                  <a:srgbClr val="1A1A1A"/>
                </a:solidFill>
                <a:latin typeface="Courier New"/>
              </a:rPr>
              <a:t>ORDER BY order_id;</a:t>
            </a:r>
          </a:p>
        </p:txBody>
      </p:sp>
      <p:sp>
        <p:nvSpPr>
          <p:cNvPr id="6" name="TextBox 5"/>
          <p:cNvSpPr txBox="1"/>
          <p:nvPr/>
        </p:nvSpPr>
        <p:spPr>
          <a:xfrm>
            <a:off x="7559344" y="1783080"/>
            <a:ext cx="4022445" cy="4361688"/>
          </a:xfrm>
          <a:prstGeom prst="rect">
            <a:avLst/>
          </a:prstGeom>
          <a:noFill/>
        </p:spPr>
        <p:txBody>
          <a:bodyPr wrap="square" lIns="0" tIns="0" rIns="0" bIns="0">
            <a:spAutoFit/>
          </a:bodyPr>
          <a:lstStyle/>
          <a:p>
            <a:pPr marL="228600" indent="-228600" algn="l">
              <a:spcAft>
                <a:spcPts val="800"/>
              </a:spcAft>
              <a:buFont typeface="Arial"/>
              <a:buChar char="•"/>
            </a:pPr>
            <a:r>
              <a:rPr sz="1200" b="0" i="0">
                <a:solidFill>
                  <a:srgbClr val="1A1A1A"/>
                </a:solidFill>
                <a:latin typeface="Arial"/>
              </a:rPr>
              <a:t>Finding: order 1008 has </a:t>
            </a:r>
            <a:r>
              <a:rPr sz="1150" b="0" i="0">
                <a:solidFill>
                  <a:srgbClr val="330066"/>
                </a:solidFill>
                <a:latin typeface="Courier New"/>
              </a:rPr>
              <a:t>delivered</a:t>
            </a:r>
            <a:r>
              <a:rPr sz="1200" b="0" i="0">
                <a:solidFill>
                  <a:srgbClr val="1A1A1A"/>
                </a:solidFill>
                <a:latin typeface="Arial"/>
              </a:rPr>
              <a:t> in lower case.</a:t>
            </a:r>
          </a:p>
          <a:p>
            <a:pPr marL="228600" indent="-228600" algn="l">
              <a:spcAft>
                <a:spcPts val="800"/>
              </a:spcAft>
              <a:buFont typeface="Arial"/>
              <a:buChar char="•"/>
            </a:pPr>
            <a:r>
              <a:rPr sz="1200" b="0" i="0">
                <a:solidFill>
                  <a:srgbClr val="1A1A1A"/>
                </a:solidFill>
                <a:latin typeface="Arial"/>
              </a:rPr>
              <a:t>Case-sensitive engines (SQLite, PostgreSQL, Oracle): not an allowed value; app code </a:t>
            </a:r>
            <a:r>
              <a:rPr sz="1150" b="0" i="0">
                <a:solidFill>
                  <a:srgbClr val="330066"/>
                </a:solidFill>
                <a:latin typeface="Courier New"/>
              </a:rPr>
              <a:t>WHERE status = 'DELIVERED'</a:t>
            </a:r>
            <a:r>
              <a:rPr sz="1200" b="0" i="0">
                <a:solidFill>
                  <a:srgbClr val="1A1A1A"/>
                </a:solidFill>
                <a:latin typeface="Arial"/>
              </a:rPr>
              <a:t> would miss it.</a:t>
            </a:r>
          </a:p>
          <a:p>
            <a:pPr marL="228600" indent="-228600" algn="l">
              <a:spcAft>
                <a:spcPts val="800"/>
              </a:spcAft>
              <a:buFont typeface="Arial"/>
              <a:buChar char="•"/>
            </a:pPr>
            <a:r>
              <a:rPr sz="1200" b="0" i="0">
                <a:solidFill>
                  <a:srgbClr val="1A1A1A"/>
                </a:solidFill>
                <a:latin typeface="Arial"/>
              </a:rPr>
              <a:t>Case-insensitive default (MySQL, SQL Server): the check passes silently. Test validation queries on the real target engine.</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23 / 62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Discovery: Real Statuses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CONSISTENCY</a:t>
            </a:r>
          </a:p>
        </p:txBody>
      </p:sp>
      <p:sp>
        <p:nvSpPr>
          <p:cNvPr id="4" name="Rounded Rectangle 3"/>
          <p:cNvSpPr/>
          <p:nvPr/>
        </p:nvSpPr>
        <p:spPr>
          <a:xfrm>
            <a:off x="609904" y="1783080"/>
            <a:ext cx="4572000" cy="1085087"/>
          </a:xfrm>
          <a:prstGeom prst="roundRect">
            <a:avLst>
              <a:gd name="adj" fmla="val 674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4169663" cy="792479"/>
          </a:xfrm>
          <a:prstGeom prst="rect">
            <a:avLst/>
          </a:prstGeom>
          <a:noFill/>
        </p:spPr>
        <p:txBody>
          <a:bodyPr wrap="square" lIns="0" tIns="0" rIns="0" bIns="0">
            <a:spAutoFit/>
          </a:bodyPr>
          <a:lstStyle/>
          <a:p>
            <a:pPr algn="l">
              <a:lnSpc>
                <a:spcPct val="100000"/>
              </a:lnSpc>
            </a:pPr>
            <a:r>
              <a:rPr sz="1300">
                <a:solidFill>
                  <a:srgbClr val="1A1A1A"/>
                </a:solidFill>
                <a:latin typeface="Courier New"/>
              </a:rPr>
              <a:t>-- Discovery: what statuses really exist?</a:t>
            </a:r>
          </a:p>
          <a:p>
            <a:pPr algn="l">
              <a:lnSpc>
                <a:spcPct val="100000"/>
              </a:lnSpc>
            </a:pPr>
            <a:r>
              <a:rPr sz="1300">
                <a:solidFill>
                  <a:srgbClr val="1A1A1A"/>
                </a:solidFill>
                <a:latin typeface="Courier New"/>
              </a:rPr>
              <a:t>SELECT DISTINCT status</a:t>
            </a:r>
          </a:p>
          <a:p>
            <a:pPr algn="l">
              <a:lnSpc>
                <a:spcPct val="100000"/>
              </a:lnSpc>
            </a:pPr>
            <a:r>
              <a:rPr sz="1300">
                <a:solidFill>
                  <a:srgbClr val="1A1A1A"/>
                </a:solidFill>
                <a:latin typeface="Courier New"/>
              </a:rPr>
              <a:t>FROM orders</a:t>
            </a:r>
          </a:p>
          <a:p>
            <a:pPr algn="l">
              <a:lnSpc>
                <a:spcPct val="100000"/>
              </a:lnSpc>
            </a:pPr>
            <a:r>
              <a:rPr sz="1300">
                <a:solidFill>
                  <a:srgbClr val="1A1A1A"/>
                </a:solidFill>
                <a:latin typeface="Courier New"/>
              </a:rPr>
              <a:t>ORDER BY status;</a:t>
            </a:r>
          </a:p>
        </p:txBody>
      </p:sp>
      <p:sp>
        <p:nvSpPr>
          <p:cNvPr id="6" name="TextBox 5"/>
          <p:cNvSpPr txBox="1"/>
          <p:nvPr/>
        </p:nvSpPr>
        <p:spPr>
          <a:xfrm>
            <a:off x="5547664" y="1783080"/>
            <a:ext cx="603412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Five values where the specification lists four.</a:t>
            </a:r>
          </a:p>
          <a:p>
            <a:pPr marL="228600" indent="-228600" algn="l">
              <a:spcAft>
                <a:spcPts val="800"/>
              </a:spcAft>
              <a:buFont typeface="Arial"/>
              <a:buChar char="•"/>
            </a:pPr>
            <a:r>
              <a:rPr sz="1350" b="0" i="0">
                <a:solidFill>
                  <a:srgbClr val="330066"/>
                </a:solidFill>
                <a:latin typeface="Courier New"/>
              </a:rPr>
              <a:t>DISTINCT</a:t>
            </a:r>
            <a:r>
              <a:rPr sz="1400" b="0" i="0">
                <a:solidFill>
                  <a:srgbClr val="1A1A1A"/>
                </a:solidFill>
                <a:latin typeface="Arial"/>
              </a:rPr>
              <a:t> finds inconsistent spellings (</a:t>
            </a:r>
            <a:r>
              <a:rPr sz="1350" b="0" i="0">
                <a:solidFill>
                  <a:srgbClr val="330066"/>
                </a:solidFill>
                <a:latin typeface="Courier New"/>
              </a:rPr>
              <a:t>USA</a:t>
            </a:r>
            <a:r>
              <a:rPr sz="1400" b="0" i="0">
                <a:solidFill>
                  <a:srgbClr val="1A1A1A"/>
                </a:solidFill>
                <a:latin typeface="Arial"/>
              </a:rPr>
              <a:t> vs </a:t>
            </a:r>
            <a:r>
              <a:rPr sz="1350" b="0" i="0">
                <a:solidFill>
                  <a:srgbClr val="330066"/>
                </a:solidFill>
                <a:latin typeface="Courier New"/>
              </a:rPr>
              <a:t>U.S.A.</a:t>
            </a:r>
            <a:r>
              <a:rPr sz="1400" b="0" i="0">
                <a:solidFill>
                  <a:srgbClr val="1A1A1A"/>
                </a:solidFill>
                <a:latin typeface="Arial"/>
              </a:rPr>
              <a:t>), stray spaces and case variants.</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24 / 62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V-06: Allowed Lists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VALIDITY, CONSISTENCY</a:t>
            </a:r>
          </a:p>
        </p:txBody>
      </p:sp>
      <p:sp>
        <p:nvSpPr>
          <p:cNvPr id="4" name="Rounded Rectangle 3"/>
          <p:cNvSpPr/>
          <p:nvPr/>
        </p:nvSpPr>
        <p:spPr>
          <a:xfrm>
            <a:off x="609904" y="1783080"/>
            <a:ext cx="6766560" cy="1359408"/>
          </a:xfrm>
          <a:prstGeom prst="roundRect">
            <a:avLst>
              <a:gd name="adj" fmla="val 538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6364224" cy="10668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 V-06a: Category must be Electronics, Accessories or Home Office. Expected: 0 rows.</a:t>
            </a:r>
          </a:p>
          <a:p>
            <a:pPr algn="l">
              <a:lnSpc>
                <a:spcPct val="100000"/>
              </a:lnSpc>
            </a:pPr>
            <a:r>
              <a:rPr sz="1000">
                <a:solidFill>
                  <a:srgbClr val="1A1A1A"/>
                </a:solidFill>
                <a:latin typeface="Courier New"/>
              </a:rPr>
              <a:t>SELECT order_id, category</a:t>
            </a:r>
          </a:p>
          <a:p>
            <a:pPr algn="l">
              <a:lnSpc>
                <a:spcPct val="100000"/>
              </a:lnSpc>
            </a:pPr>
            <a:r>
              <a:rPr sz="1000">
                <a:solidFill>
                  <a:srgbClr val="1A1A1A"/>
                </a:solidFill>
                <a:latin typeface="Courier New"/>
              </a:rPr>
              <a:t>FROM orders</a:t>
            </a:r>
          </a:p>
          <a:p>
            <a:pPr algn="l">
              <a:lnSpc>
                <a:spcPct val="100000"/>
              </a:lnSpc>
            </a:pPr>
            <a:r>
              <a:rPr sz="1000">
                <a:solidFill>
                  <a:srgbClr val="1A1A1A"/>
                </a:solidFill>
                <a:latin typeface="Courier New"/>
              </a:rPr>
              <a:t>WHERE category NOT IN ('Electronics', 'Accessories', 'Home Office')</a:t>
            </a:r>
          </a:p>
          <a:p>
            <a:pPr algn="l">
              <a:lnSpc>
                <a:spcPct val="100000"/>
              </a:lnSpc>
            </a:pPr>
            <a:r>
              <a:rPr sz="1000">
                <a:solidFill>
                  <a:srgbClr val="1A1A1A"/>
                </a:solidFill>
                <a:latin typeface="Courier New"/>
              </a:rPr>
              <a:t>   OR category IS NULL</a:t>
            </a:r>
          </a:p>
          <a:p>
            <a:pPr algn="l">
              <a:lnSpc>
                <a:spcPct val="100000"/>
              </a:lnSpc>
            </a:pPr>
            <a:r>
              <a:rPr sz="1000">
                <a:solidFill>
                  <a:srgbClr val="1A1A1A"/>
                </a:solidFill>
                <a:latin typeface="Courier New"/>
              </a:rPr>
              <a:t>ORDER BY order_id;</a:t>
            </a:r>
          </a:p>
        </p:txBody>
      </p:sp>
      <p:sp>
        <p:nvSpPr>
          <p:cNvPr id="6" name="Rounded Rectangle 5"/>
          <p:cNvSpPr/>
          <p:nvPr/>
        </p:nvSpPr>
        <p:spPr>
          <a:xfrm>
            <a:off x="609904" y="3325368"/>
            <a:ext cx="6766560" cy="1344168"/>
          </a:xfrm>
          <a:prstGeom prst="roundRect">
            <a:avLst>
              <a:gd name="adj" fmla="val 5442"/>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1072" y="3471672"/>
            <a:ext cx="6364224" cy="1051560"/>
          </a:xfrm>
          <a:prstGeom prst="rect">
            <a:avLst/>
          </a:prstGeom>
          <a:noFill/>
        </p:spPr>
        <p:txBody>
          <a:bodyPr wrap="square" lIns="0" tIns="0" rIns="0" bIns="0">
            <a:spAutoFit/>
          </a:bodyPr>
          <a:lstStyle/>
          <a:p>
            <a:pPr algn="l">
              <a:lnSpc>
                <a:spcPct val="100000"/>
              </a:lnSpc>
            </a:pPr>
            <a:r>
              <a:rPr sz="1150">
                <a:solidFill>
                  <a:srgbClr val="1A1A1A"/>
                </a:solidFill>
                <a:latin typeface="Courier New"/>
              </a:rPr>
              <a:t>-- V-06b: Country must be one of the shop's markets. Expected: 0 rows.</a:t>
            </a:r>
          </a:p>
          <a:p>
            <a:pPr algn="l">
              <a:lnSpc>
                <a:spcPct val="100000"/>
              </a:lnSpc>
            </a:pPr>
            <a:r>
              <a:rPr sz="1150">
                <a:solidFill>
                  <a:srgbClr val="1A1A1A"/>
                </a:solidFill>
                <a:latin typeface="Courier New"/>
              </a:rPr>
              <a:t>SELECT order_id, country</a:t>
            </a:r>
          </a:p>
          <a:p>
            <a:pPr algn="l">
              <a:lnSpc>
                <a:spcPct val="100000"/>
              </a:lnSpc>
            </a:pPr>
            <a:r>
              <a:rPr sz="1150">
                <a:solidFill>
                  <a:srgbClr val="1A1A1A"/>
                </a:solidFill>
                <a:latin typeface="Courier New"/>
              </a:rPr>
              <a:t>FROM orders</a:t>
            </a:r>
          </a:p>
          <a:p>
            <a:pPr algn="l">
              <a:lnSpc>
                <a:spcPct val="100000"/>
              </a:lnSpc>
            </a:pPr>
            <a:r>
              <a:rPr sz="1150">
                <a:solidFill>
                  <a:srgbClr val="1A1A1A"/>
                </a:solidFill>
                <a:latin typeface="Courier New"/>
              </a:rPr>
              <a:t>WHERE country NOT IN ('USA', 'UK', 'Canada', 'Mexico')</a:t>
            </a:r>
          </a:p>
          <a:p>
            <a:pPr algn="l">
              <a:lnSpc>
                <a:spcPct val="100000"/>
              </a:lnSpc>
            </a:pPr>
            <a:r>
              <a:rPr sz="1150">
                <a:solidFill>
                  <a:srgbClr val="1A1A1A"/>
                </a:solidFill>
                <a:latin typeface="Courier New"/>
              </a:rPr>
              <a:t>   OR country IS NULL</a:t>
            </a:r>
          </a:p>
          <a:p>
            <a:pPr algn="l">
              <a:lnSpc>
                <a:spcPct val="100000"/>
              </a:lnSpc>
            </a:pPr>
            <a:r>
              <a:rPr sz="1150">
                <a:solidFill>
                  <a:srgbClr val="1A1A1A"/>
                </a:solidFill>
                <a:latin typeface="Courier New"/>
              </a:rPr>
              <a:t>ORDER BY order_id;</a:t>
            </a:r>
          </a:p>
        </p:txBody>
      </p:sp>
      <p:sp>
        <p:nvSpPr>
          <p:cNvPr id="8" name="TextBox 7"/>
          <p:cNvSpPr txBox="1"/>
          <p:nvPr/>
        </p:nvSpPr>
        <p:spPr>
          <a:xfrm>
            <a:off x="7742224" y="1783080"/>
            <a:ext cx="3839565" cy="4361688"/>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Both pass: empty results.</a:t>
            </a:r>
          </a:p>
          <a:p>
            <a:pPr marL="228600" indent="-228600" algn="l">
              <a:spcAft>
                <a:spcPts val="800"/>
              </a:spcAft>
              <a:buFont typeface="Arial"/>
              <a:buChar char="•"/>
            </a:pPr>
            <a:r>
              <a:rPr sz="1300" b="0" i="0">
                <a:solidFill>
                  <a:srgbClr val="1A1A1A"/>
                </a:solidFill>
                <a:latin typeface="Arial"/>
              </a:rPr>
              <a:t>A passing rule is worth recording: it holds today and becomes a regression guard if code later writes </a:t>
            </a:r>
            <a:r>
              <a:rPr sz="1250" b="0" i="0">
                <a:solidFill>
                  <a:srgbClr val="330066"/>
                </a:solidFill>
                <a:latin typeface="Courier New"/>
              </a:rPr>
              <a:t>'usa'</a:t>
            </a:r>
            <a:r>
              <a:rPr sz="1300" b="0" i="0">
                <a:solidFill>
                  <a:srgbClr val="1A1A1A"/>
                </a:solidFill>
                <a:latin typeface="Arial"/>
              </a:rPr>
              <a:t> or </a:t>
            </a:r>
            <a:r>
              <a:rPr sz="1250" b="0" i="0">
                <a:solidFill>
                  <a:srgbClr val="330066"/>
                </a:solidFill>
                <a:latin typeface="Courier New"/>
              </a:rPr>
              <a:t>'Great Britain'</a:t>
            </a:r>
            <a:r>
              <a:rPr sz="1300" b="0" i="0">
                <a:solidFill>
                  <a:srgbClr val="1A1A1A"/>
                </a:solidFill>
                <a:latin typeface="Arial"/>
              </a:rPr>
              <a:t>.</a:t>
            </a:r>
          </a:p>
        </p:txBody>
      </p:sp>
      <p:sp>
        <p:nvSpPr>
          <p:cNvPr id="9" name="TextBox 8"/>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25 / 62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V-07: No Stray Whitespace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CONSISTENCY</a:t>
            </a:r>
          </a:p>
        </p:txBody>
      </p:sp>
      <p:sp>
        <p:nvSpPr>
          <p:cNvPr id="4" name="Rounded Rectangle 3"/>
          <p:cNvSpPr/>
          <p:nvPr/>
        </p:nvSpPr>
        <p:spPr>
          <a:xfrm>
            <a:off x="609904" y="1783080"/>
            <a:ext cx="6217920" cy="1359408"/>
          </a:xfrm>
          <a:prstGeom prst="roundRect">
            <a:avLst>
              <a:gd name="adj" fmla="val 538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815583" cy="10668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 V-07: Text must not have leading or trailing spaces. Expected: 0 rows.</a:t>
            </a:r>
          </a:p>
          <a:p>
            <a:pPr algn="l">
              <a:lnSpc>
                <a:spcPct val="100000"/>
              </a:lnSpc>
            </a:pPr>
            <a:r>
              <a:rPr sz="1000">
                <a:solidFill>
                  <a:srgbClr val="1A1A1A"/>
                </a:solidFill>
                <a:latin typeface="Courier New"/>
              </a:rPr>
              <a:t>SELECT order_id, customer_name, email, status</a:t>
            </a:r>
          </a:p>
          <a:p>
            <a:pPr algn="l">
              <a:lnSpc>
                <a:spcPct val="100000"/>
              </a:lnSpc>
            </a:pPr>
            <a:r>
              <a:rPr sz="1000">
                <a:solidFill>
                  <a:srgbClr val="1A1A1A"/>
                </a:solidFill>
                <a:latin typeface="Courier New"/>
              </a:rPr>
              <a:t>FROM orders</a:t>
            </a:r>
          </a:p>
          <a:p>
            <a:pPr algn="l">
              <a:lnSpc>
                <a:spcPct val="100000"/>
              </a:lnSpc>
            </a:pPr>
            <a:r>
              <a:rPr sz="1000">
                <a:solidFill>
                  <a:srgbClr val="1A1A1A"/>
                </a:solidFill>
                <a:latin typeface="Courier New"/>
              </a:rPr>
              <a:t>WHERE customer_name &lt;&gt; TRIM(customer_name)</a:t>
            </a:r>
          </a:p>
          <a:p>
            <a:pPr algn="l">
              <a:lnSpc>
                <a:spcPct val="100000"/>
              </a:lnSpc>
            </a:pPr>
            <a:r>
              <a:rPr sz="1000">
                <a:solidFill>
                  <a:srgbClr val="1A1A1A"/>
                </a:solidFill>
                <a:latin typeface="Courier New"/>
              </a:rPr>
              <a:t>   OR email &lt;&gt; TRIM(email)</a:t>
            </a:r>
          </a:p>
          <a:p>
            <a:pPr algn="l">
              <a:lnSpc>
                <a:spcPct val="100000"/>
              </a:lnSpc>
            </a:pPr>
            <a:r>
              <a:rPr sz="1000">
                <a:solidFill>
                  <a:srgbClr val="1A1A1A"/>
                </a:solidFill>
                <a:latin typeface="Courier New"/>
              </a:rPr>
              <a:t>   OR status &lt;&gt; TRIM(status)</a:t>
            </a:r>
          </a:p>
          <a:p>
            <a:pPr algn="l">
              <a:lnSpc>
                <a:spcPct val="100000"/>
              </a:lnSpc>
            </a:pPr>
            <a:r>
              <a:rPr sz="1000">
                <a:solidFill>
                  <a:srgbClr val="1A1A1A"/>
                </a:solidFill>
                <a:latin typeface="Courier New"/>
              </a:rPr>
              <a:t>ORDER BY order_id;</a:t>
            </a:r>
          </a:p>
        </p:txBody>
      </p:sp>
      <p:sp>
        <p:nvSpPr>
          <p:cNvPr id="6" name="TextBox 5"/>
          <p:cNvSpPr txBox="1"/>
          <p:nvPr/>
        </p:nvSpPr>
        <p:spPr>
          <a:xfrm>
            <a:off x="7193584" y="1783080"/>
            <a:ext cx="4388205" cy="4361688"/>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Passes today.</a:t>
            </a:r>
          </a:p>
          <a:p>
            <a:pPr marL="228600" indent="-228600" algn="l">
              <a:spcAft>
                <a:spcPts val="800"/>
              </a:spcAft>
              <a:buFont typeface="Arial"/>
              <a:buChar char="•"/>
            </a:pPr>
            <a:r>
              <a:rPr sz="1300" b="0" i="0">
                <a:solidFill>
                  <a:srgbClr val="1A1A1A"/>
                </a:solidFill>
                <a:latin typeface="Arial"/>
              </a:rPr>
              <a:t>Trailing spaces are invisible in a grid but break comparisons (</a:t>
            </a:r>
            <a:r>
              <a:rPr sz="1250" b="0" i="0">
                <a:solidFill>
                  <a:srgbClr val="330066"/>
                </a:solidFill>
                <a:latin typeface="Courier New"/>
              </a:rPr>
              <a:t>'SHIPPED '</a:t>
            </a:r>
            <a:r>
              <a:rPr sz="1300" b="0" i="0">
                <a:solidFill>
                  <a:srgbClr val="1A1A1A"/>
                </a:solidFill>
                <a:latin typeface="Arial"/>
              </a:rPr>
              <a:t> is not </a:t>
            </a:r>
            <a:r>
              <a:rPr sz="1250" b="0" i="0">
                <a:solidFill>
                  <a:srgbClr val="330066"/>
                </a:solidFill>
                <a:latin typeface="Courier New"/>
              </a:rPr>
              <a:t>'SHIPPED'</a:t>
            </a:r>
            <a:r>
              <a:rPr sz="1300" b="0" i="0">
                <a:solidFill>
                  <a:srgbClr val="1A1A1A"/>
                </a:solidFill>
                <a:latin typeface="Arial"/>
              </a:rPr>
              <a:t>).</a:t>
            </a:r>
          </a:p>
          <a:p>
            <a:pPr marL="228600" indent="-228600" algn="l">
              <a:spcAft>
                <a:spcPts val="800"/>
              </a:spcAft>
              <a:buFont typeface="Arial"/>
              <a:buChar char="•"/>
            </a:pPr>
            <a:r>
              <a:rPr sz="1300" b="0" i="0">
                <a:solidFill>
                  <a:srgbClr val="1A1A1A"/>
                </a:solidFill>
                <a:latin typeface="Arial"/>
              </a:rPr>
              <a:t>Combining </a:t>
            </a:r>
            <a:r>
              <a:rPr sz="1250" b="0" i="0">
                <a:solidFill>
                  <a:srgbClr val="330066"/>
                </a:solidFill>
                <a:latin typeface="Courier New"/>
              </a:rPr>
              <a:t>TRIM</a:t>
            </a:r>
            <a:r>
              <a:rPr sz="1300" b="0" i="0">
                <a:solidFill>
                  <a:srgbClr val="1A1A1A"/>
                </a:solidFill>
                <a:latin typeface="Arial"/>
              </a:rPr>
              <a:t> with </a:t>
            </a:r>
            <a:r>
              <a:rPr sz="1250" b="0" i="0">
                <a:solidFill>
                  <a:srgbClr val="330066"/>
                </a:solidFill>
                <a:latin typeface="Courier New"/>
              </a:rPr>
              <a:t>&lt;&gt;</a:t>
            </a:r>
            <a:r>
              <a:rPr sz="1300" b="0" i="0">
                <a:solidFill>
                  <a:srgbClr val="1A1A1A"/>
                </a:solidFill>
                <a:latin typeface="Arial"/>
              </a:rPr>
              <a:t> finds values that change when trimmed. Cheap, high value.</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26 / 62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V-08a: Date Format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VALIDITY</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Rule: </a:t>
            </a:r>
            <a:r>
              <a:rPr sz="1450" b="0" i="0">
                <a:solidFill>
                  <a:srgbClr val="330066"/>
                </a:solidFill>
                <a:latin typeface="Courier New"/>
              </a:rPr>
              <a:t>order_date</a:t>
            </a:r>
            <a:r>
              <a:rPr sz="1500" b="0" i="0">
                <a:solidFill>
                  <a:srgbClr val="1A1A1A"/>
                </a:solidFill>
                <a:latin typeface="Arial"/>
              </a:rPr>
              <a:t> must follow YYYY-MM-DD and not be in the future.</a:t>
            </a:r>
          </a:p>
        </p:txBody>
      </p:sp>
      <p:sp>
        <p:nvSpPr>
          <p:cNvPr id="5" name="Rounded Rectangle 4"/>
          <p:cNvSpPr/>
          <p:nvPr/>
        </p:nvSpPr>
        <p:spPr>
          <a:xfrm>
            <a:off x="609904" y="2221991"/>
            <a:ext cx="6583680" cy="1359408"/>
          </a:xfrm>
          <a:prstGeom prst="roundRect">
            <a:avLst>
              <a:gd name="adj" fmla="val 538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368296"/>
            <a:ext cx="6181344" cy="10668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 V-08a: order_date must match the pattern ____-__-__ (10 chars). Expected: 0 rows.</a:t>
            </a:r>
          </a:p>
          <a:p>
            <a:pPr algn="l">
              <a:lnSpc>
                <a:spcPct val="100000"/>
              </a:lnSpc>
            </a:pPr>
            <a:r>
              <a:rPr sz="1000">
                <a:solidFill>
                  <a:srgbClr val="1A1A1A"/>
                </a:solidFill>
                <a:latin typeface="Courier New"/>
              </a:rPr>
              <a:t>SELECT order_id, order_date</a:t>
            </a:r>
          </a:p>
          <a:p>
            <a:pPr algn="l">
              <a:lnSpc>
                <a:spcPct val="100000"/>
              </a:lnSpc>
            </a:pPr>
            <a:r>
              <a:rPr sz="1000">
                <a:solidFill>
                  <a:srgbClr val="1A1A1A"/>
                </a:solidFill>
                <a:latin typeface="Courier New"/>
              </a:rPr>
              <a:t>FROM orders</a:t>
            </a:r>
          </a:p>
          <a:p>
            <a:pPr algn="l">
              <a:lnSpc>
                <a:spcPct val="100000"/>
              </a:lnSpc>
            </a:pPr>
            <a:r>
              <a:rPr sz="1000">
                <a:solidFill>
                  <a:srgbClr val="1A1A1A"/>
                </a:solidFill>
                <a:latin typeface="Courier New"/>
              </a:rPr>
              <a:t>WHERE order_date NOT LIKE '____-__-__'</a:t>
            </a:r>
          </a:p>
          <a:p>
            <a:pPr algn="l">
              <a:lnSpc>
                <a:spcPct val="100000"/>
              </a:lnSpc>
            </a:pPr>
            <a:r>
              <a:rPr sz="1000">
                <a:solidFill>
                  <a:srgbClr val="1A1A1A"/>
                </a:solidFill>
                <a:latin typeface="Courier New"/>
              </a:rPr>
              <a:t>   OR order_date IS NULL</a:t>
            </a:r>
          </a:p>
          <a:p>
            <a:pPr algn="l">
              <a:lnSpc>
                <a:spcPct val="100000"/>
              </a:lnSpc>
            </a:pPr>
            <a:r>
              <a:rPr sz="1000">
                <a:solidFill>
                  <a:srgbClr val="1A1A1A"/>
                </a:solidFill>
                <a:latin typeface="Courier New"/>
              </a:rPr>
              <a:t>ORDER BY order_id;</a:t>
            </a:r>
          </a:p>
        </p:txBody>
      </p:sp>
      <p:sp>
        <p:nvSpPr>
          <p:cNvPr id="7" name="TextBox 6"/>
          <p:cNvSpPr txBox="1"/>
          <p:nvPr/>
        </p:nvSpPr>
        <p:spPr>
          <a:xfrm>
            <a:off x="7559344" y="2221991"/>
            <a:ext cx="4022445" cy="3922776"/>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Each </a:t>
            </a:r>
            <a:r>
              <a:rPr sz="1250" b="0" i="0">
                <a:solidFill>
                  <a:srgbClr val="330066"/>
                </a:solidFill>
                <a:latin typeface="Courier New"/>
              </a:rPr>
              <a:t>_</a:t>
            </a:r>
            <a:r>
              <a:rPr sz="1300" b="0" i="0">
                <a:solidFill>
                  <a:srgbClr val="1A1A1A"/>
                </a:solidFill>
                <a:latin typeface="Arial"/>
              </a:rPr>
              <a:t> matches one character: four, dash, two, dash, two. Catches </a:t>
            </a:r>
            <a:r>
              <a:rPr sz="1250" b="0" i="0">
                <a:solidFill>
                  <a:srgbClr val="330066"/>
                </a:solidFill>
                <a:latin typeface="Courier New"/>
              </a:rPr>
              <a:t>'01/05/2025'</a:t>
            </a:r>
            <a:r>
              <a:rPr sz="1300" b="0" i="0">
                <a:solidFill>
                  <a:srgbClr val="1A1A1A"/>
                </a:solidFill>
                <a:latin typeface="Arial"/>
              </a:rPr>
              <a:t> or </a:t>
            </a:r>
            <a:r>
              <a:rPr sz="1250" b="0" i="0">
                <a:solidFill>
                  <a:srgbClr val="330066"/>
                </a:solidFill>
                <a:latin typeface="Courier New"/>
              </a:rPr>
              <a:t>'Jan 5'</a:t>
            </a:r>
            <a:r>
              <a:rPr sz="1300" b="0" i="0">
                <a:solidFill>
                  <a:srgbClr val="1A1A1A"/>
                </a:solidFill>
                <a:latin typeface="Arial"/>
              </a:rPr>
              <a:t>.</a:t>
            </a:r>
          </a:p>
          <a:p>
            <a:pPr marL="228600" indent="-228600" algn="l">
              <a:spcAft>
                <a:spcPts val="800"/>
              </a:spcAft>
              <a:buFont typeface="Arial"/>
              <a:buChar char="•"/>
            </a:pPr>
            <a:r>
              <a:rPr sz="1300" b="0" i="0">
                <a:solidFill>
                  <a:srgbClr val="1A1A1A"/>
                </a:solidFill>
                <a:latin typeface="Arial"/>
              </a:rPr>
              <a:t>It does not check that the month is 01 to 12; real </a:t>
            </a:r>
            <a:r>
              <a:rPr sz="1250" b="0" i="0">
                <a:solidFill>
                  <a:srgbClr val="330066"/>
                </a:solidFill>
                <a:latin typeface="Courier New"/>
              </a:rPr>
              <a:t>DATE</a:t>
            </a:r>
            <a:r>
              <a:rPr sz="1300" b="0" i="0">
                <a:solidFill>
                  <a:srgbClr val="1A1A1A"/>
                </a:solidFill>
                <a:latin typeface="Arial"/>
              </a:rPr>
              <a:t> columns reject impossible dates.</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27 / 62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V-08b and V-08c: Dates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TIMELINESS</a:t>
            </a:r>
          </a:p>
        </p:txBody>
      </p:sp>
      <p:sp>
        <p:nvSpPr>
          <p:cNvPr id="4" name="Rounded Rectangle 3"/>
          <p:cNvSpPr/>
          <p:nvPr/>
        </p:nvSpPr>
        <p:spPr>
          <a:xfrm>
            <a:off x="609904" y="1783080"/>
            <a:ext cx="6583680" cy="1207007"/>
          </a:xfrm>
          <a:prstGeom prst="roundRect">
            <a:avLst>
              <a:gd name="adj" fmla="val 6060"/>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6181344" cy="914399"/>
          </a:xfrm>
          <a:prstGeom prst="rect">
            <a:avLst/>
          </a:prstGeom>
          <a:noFill/>
        </p:spPr>
        <p:txBody>
          <a:bodyPr wrap="square" lIns="0" tIns="0" rIns="0" bIns="0">
            <a:spAutoFit/>
          </a:bodyPr>
          <a:lstStyle/>
          <a:p>
            <a:pPr algn="l">
              <a:lnSpc>
                <a:spcPct val="100000"/>
              </a:lnSpc>
            </a:pPr>
            <a:r>
              <a:rPr sz="1200">
                <a:solidFill>
                  <a:srgbClr val="1A1A1A"/>
                </a:solidFill>
                <a:latin typeface="Courier New"/>
              </a:rPr>
              <a:t>-- V-08b: Orders must not be dated in the future. Expected: 0 rows.</a:t>
            </a:r>
          </a:p>
          <a:p>
            <a:pPr algn="l">
              <a:lnSpc>
                <a:spcPct val="100000"/>
              </a:lnSpc>
            </a:pPr>
            <a:r>
              <a:rPr sz="1200">
                <a:solidFill>
                  <a:srgbClr val="1A1A1A"/>
                </a:solidFill>
                <a:latin typeface="Courier New"/>
              </a:rPr>
              <a:t>SELECT order_id, order_date</a:t>
            </a:r>
          </a:p>
          <a:p>
            <a:pPr algn="l">
              <a:lnSpc>
                <a:spcPct val="100000"/>
              </a:lnSpc>
            </a:pPr>
            <a:r>
              <a:rPr sz="1200">
                <a:solidFill>
                  <a:srgbClr val="1A1A1A"/>
                </a:solidFill>
                <a:latin typeface="Courier New"/>
              </a:rPr>
              <a:t>FROM orders</a:t>
            </a:r>
          </a:p>
          <a:p>
            <a:pPr algn="l">
              <a:lnSpc>
                <a:spcPct val="100000"/>
              </a:lnSpc>
            </a:pPr>
            <a:r>
              <a:rPr sz="1200">
                <a:solidFill>
                  <a:srgbClr val="1A1A1A"/>
                </a:solidFill>
                <a:latin typeface="Courier New"/>
              </a:rPr>
              <a:t>WHERE order_date &gt; date('now')</a:t>
            </a:r>
          </a:p>
          <a:p>
            <a:pPr algn="l">
              <a:lnSpc>
                <a:spcPct val="100000"/>
              </a:lnSpc>
            </a:pPr>
            <a:r>
              <a:rPr sz="1200">
                <a:solidFill>
                  <a:srgbClr val="1A1A1A"/>
                </a:solidFill>
                <a:latin typeface="Courier New"/>
              </a:rPr>
              <a:t>ORDER BY order_id;</a:t>
            </a:r>
          </a:p>
        </p:txBody>
      </p:sp>
      <p:sp>
        <p:nvSpPr>
          <p:cNvPr id="6" name="Rounded Rectangle 5"/>
          <p:cNvSpPr/>
          <p:nvPr/>
        </p:nvSpPr>
        <p:spPr>
          <a:xfrm>
            <a:off x="609904" y="3172968"/>
            <a:ext cx="6583680" cy="1359408"/>
          </a:xfrm>
          <a:prstGeom prst="roundRect">
            <a:avLst>
              <a:gd name="adj" fmla="val 538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1072" y="3319272"/>
            <a:ext cx="6181344" cy="10668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 V-08c: All orders must fall in Jan 1 - Mar 31 2025 (the loaded period). Expected: 0 rows.</a:t>
            </a:r>
          </a:p>
          <a:p>
            <a:pPr algn="l">
              <a:lnSpc>
                <a:spcPct val="100000"/>
              </a:lnSpc>
            </a:pPr>
            <a:r>
              <a:rPr sz="1000">
                <a:solidFill>
                  <a:srgbClr val="1A1A1A"/>
                </a:solidFill>
                <a:latin typeface="Courier New"/>
              </a:rPr>
              <a:t>SELECT order_id, order_date</a:t>
            </a:r>
          </a:p>
          <a:p>
            <a:pPr algn="l">
              <a:lnSpc>
                <a:spcPct val="100000"/>
              </a:lnSpc>
            </a:pPr>
            <a:r>
              <a:rPr sz="1000">
                <a:solidFill>
                  <a:srgbClr val="1A1A1A"/>
                </a:solidFill>
                <a:latin typeface="Courier New"/>
              </a:rPr>
              <a:t>FROM orders</a:t>
            </a:r>
          </a:p>
          <a:p>
            <a:pPr algn="l">
              <a:lnSpc>
                <a:spcPct val="100000"/>
              </a:lnSpc>
            </a:pPr>
            <a:r>
              <a:rPr sz="1000">
                <a:solidFill>
                  <a:srgbClr val="1A1A1A"/>
                </a:solidFill>
                <a:latin typeface="Courier New"/>
              </a:rPr>
              <a:t>WHERE order_date &lt; '2025-01-01'</a:t>
            </a:r>
          </a:p>
          <a:p>
            <a:pPr algn="l">
              <a:lnSpc>
                <a:spcPct val="100000"/>
              </a:lnSpc>
            </a:pPr>
            <a:r>
              <a:rPr sz="1000">
                <a:solidFill>
                  <a:srgbClr val="1A1A1A"/>
                </a:solidFill>
                <a:latin typeface="Courier New"/>
              </a:rPr>
              <a:t>   OR order_date &gt; '2025-03-31'</a:t>
            </a:r>
          </a:p>
          <a:p>
            <a:pPr algn="l">
              <a:lnSpc>
                <a:spcPct val="100000"/>
              </a:lnSpc>
            </a:pPr>
            <a:r>
              <a:rPr sz="1000">
                <a:solidFill>
                  <a:srgbClr val="1A1A1A"/>
                </a:solidFill>
                <a:latin typeface="Courier New"/>
              </a:rPr>
              <a:t>ORDER BY order_id;</a:t>
            </a:r>
          </a:p>
        </p:txBody>
      </p:sp>
      <p:sp>
        <p:nvSpPr>
          <p:cNvPr id="8" name="TextBox 7"/>
          <p:cNvSpPr txBox="1"/>
          <p:nvPr/>
        </p:nvSpPr>
        <p:spPr>
          <a:xfrm>
            <a:off x="7559344" y="1783080"/>
            <a:ext cx="4022445" cy="4361688"/>
          </a:xfrm>
          <a:prstGeom prst="rect">
            <a:avLst/>
          </a:prstGeom>
          <a:noFill/>
        </p:spPr>
        <p:txBody>
          <a:bodyPr wrap="square" lIns="0" tIns="0" rIns="0" bIns="0">
            <a:spAutoFit/>
          </a:bodyPr>
          <a:lstStyle/>
          <a:p>
            <a:pPr marL="228600" indent="-228600" algn="l">
              <a:spcAft>
                <a:spcPts val="800"/>
              </a:spcAft>
              <a:buFont typeface="Arial"/>
              <a:buChar char="•"/>
            </a:pPr>
            <a:r>
              <a:rPr sz="1150" b="0" i="0">
                <a:solidFill>
                  <a:srgbClr val="330066"/>
                </a:solidFill>
                <a:latin typeface="Courier New"/>
              </a:rPr>
              <a:t>date('now')</a:t>
            </a:r>
            <a:r>
              <a:rPr sz="1200" b="0" i="0">
                <a:solidFill>
                  <a:srgbClr val="1A1A1A"/>
                </a:solidFill>
                <a:latin typeface="Arial"/>
              </a:rPr>
              <a:t> is SQLite's today. Others: </a:t>
            </a:r>
            <a:r>
              <a:rPr sz="1150" b="0" i="0">
                <a:solidFill>
                  <a:srgbClr val="330066"/>
                </a:solidFill>
                <a:latin typeface="Courier New"/>
              </a:rPr>
              <a:t>CURRENT_DATE</a:t>
            </a:r>
            <a:r>
              <a:rPr sz="1200" b="0" i="0">
                <a:solidFill>
                  <a:srgbClr val="1A1A1A"/>
                </a:solidFill>
                <a:latin typeface="Arial"/>
              </a:rPr>
              <a:t> (PostgreSQL), </a:t>
            </a:r>
            <a:r>
              <a:rPr sz="1150" b="0" i="0">
                <a:solidFill>
                  <a:srgbClr val="330066"/>
                </a:solidFill>
                <a:latin typeface="Courier New"/>
              </a:rPr>
              <a:t>CURDATE()</a:t>
            </a:r>
            <a:r>
              <a:rPr sz="1200" b="0" i="0">
                <a:solidFill>
                  <a:srgbClr val="1A1A1A"/>
                </a:solidFill>
                <a:latin typeface="Arial"/>
              </a:rPr>
              <a:t> (MySQL), </a:t>
            </a:r>
            <a:r>
              <a:rPr sz="1150" b="0" i="0">
                <a:solidFill>
                  <a:srgbClr val="330066"/>
                </a:solidFill>
                <a:latin typeface="Courier New"/>
              </a:rPr>
              <a:t>CAST(GETDATE() AS DATE)</a:t>
            </a:r>
            <a:r>
              <a:rPr sz="1200" b="0" i="0">
                <a:solidFill>
                  <a:srgbClr val="1A1A1A"/>
                </a:solidFill>
                <a:latin typeface="Arial"/>
              </a:rPr>
              <a:t> (SQL Server), </a:t>
            </a:r>
            <a:r>
              <a:rPr sz="1150" b="0" i="0">
                <a:solidFill>
                  <a:srgbClr val="330066"/>
                </a:solidFill>
                <a:latin typeface="Courier New"/>
              </a:rPr>
              <a:t>TRUNC(SYSDATE)</a:t>
            </a:r>
            <a:r>
              <a:rPr sz="1200" b="0" i="0">
                <a:solidFill>
                  <a:srgbClr val="1A1A1A"/>
                </a:solidFill>
                <a:latin typeface="Arial"/>
              </a:rPr>
              <a:t> (Oracle).</a:t>
            </a:r>
          </a:p>
          <a:p>
            <a:pPr marL="228600" indent="-228600" algn="l">
              <a:spcAft>
                <a:spcPts val="800"/>
              </a:spcAft>
              <a:buFont typeface="Arial"/>
              <a:buChar char="•"/>
            </a:pPr>
            <a:r>
              <a:rPr sz="1200" b="0" i="0">
                <a:solidFill>
                  <a:srgbClr val="1A1A1A"/>
                </a:solidFill>
                <a:latin typeface="Arial"/>
              </a:rPr>
              <a:t>All sample orders are in early 2025, so none is in the future.</a:t>
            </a:r>
          </a:p>
          <a:p>
            <a:pPr marL="228600" indent="-228600" algn="l">
              <a:spcAft>
                <a:spcPts val="800"/>
              </a:spcAft>
              <a:buFont typeface="Arial"/>
              <a:buChar char="•"/>
            </a:pPr>
            <a:r>
              <a:rPr sz="1200" b="0" i="0">
                <a:solidFill>
                  <a:srgbClr val="1A1A1A"/>
                </a:solidFill>
                <a:latin typeface="Arial"/>
              </a:rPr>
              <a:t>V-08c is a window check: useful if a nightly job should load only a particular month.</a:t>
            </a:r>
          </a:p>
        </p:txBody>
      </p:sp>
      <p:sp>
        <p:nvSpPr>
          <p:cNvPr id="9" name="TextBox 8"/>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28 / 62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V-09: Cross-Column Logic</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CONSISTENCY, ACCURACY</a:t>
            </a:r>
          </a:p>
        </p:txBody>
      </p:sp>
      <p:sp>
        <p:nvSpPr>
          <p:cNvPr id="4" name="Rounded Rectangle 3"/>
          <p:cNvSpPr/>
          <p:nvPr/>
        </p:nvSpPr>
        <p:spPr>
          <a:xfrm>
            <a:off x="609904" y="1783080"/>
            <a:ext cx="5852160" cy="1359408"/>
          </a:xfrm>
          <a:prstGeom prst="roundRect">
            <a:avLst>
              <a:gd name="adj" fmla="val 538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449824" cy="10668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 V-09: A single line total above 5000 needs manual review. Expected: 0 rows.</a:t>
            </a:r>
          </a:p>
          <a:p>
            <a:pPr algn="l">
              <a:lnSpc>
                <a:spcPct val="100000"/>
              </a:lnSpc>
            </a:pPr>
            <a:r>
              <a:rPr sz="1000">
                <a:solidFill>
                  <a:srgbClr val="1A1A1A"/>
                </a:solidFill>
                <a:latin typeface="Courier New"/>
              </a:rPr>
              <a:t>SELECT order_id, product, quantity, unit_price,</a:t>
            </a:r>
          </a:p>
          <a:p>
            <a:pPr algn="l">
              <a:lnSpc>
                <a:spcPct val="100000"/>
              </a:lnSpc>
            </a:pPr>
            <a:r>
              <a:rPr sz="1000">
                <a:solidFill>
                  <a:srgbClr val="1A1A1A"/>
                </a:solidFill>
                <a:latin typeface="Courier New"/>
              </a:rPr>
              <a:t>       quantity * unit_price AS line_total</a:t>
            </a:r>
          </a:p>
          <a:p>
            <a:pPr algn="l">
              <a:lnSpc>
                <a:spcPct val="100000"/>
              </a:lnSpc>
            </a:pPr>
            <a:r>
              <a:rPr sz="1000">
                <a:solidFill>
                  <a:srgbClr val="1A1A1A"/>
                </a:solidFill>
                <a:latin typeface="Courier New"/>
              </a:rPr>
              <a:t>FROM orders</a:t>
            </a:r>
          </a:p>
          <a:p>
            <a:pPr algn="l">
              <a:lnSpc>
                <a:spcPct val="100000"/>
              </a:lnSpc>
            </a:pPr>
            <a:r>
              <a:rPr sz="1000">
                <a:solidFill>
                  <a:srgbClr val="1A1A1A"/>
                </a:solidFill>
                <a:latin typeface="Courier New"/>
              </a:rPr>
              <a:t>WHERE quantity * unit_price &gt; 5000</a:t>
            </a:r>
          </a:p>
          <a:p>
            <a:pPr algn="l">
              <a:lnSpc>
                <a:spcPct val="100000"/>
              </a:lnSpc>
            </a:pPr>
            <a:r>
              <a:rPr sz="1000">
                <a:solidFill>
                  <a:srgbClr val="1A1A1A"/>
                </a:solidFill>
                <a:latin typeface="Courier New"/>
              </a:rPr>
              <a:t>ORDER BY line_total DESC;</a:t>
            </a:r>
          </a:p>
        </p:txBody>
      </p:sp>
      <p:sp>
        <p:nvSpPr>
          <p:cNvPr id="6" name="TextBox 5"/>
          <p:cNvSpPr txBox="1"/>
          <p:nvPr/>
        </p:nvSpPr>
        <p:spPr>
          <a:xfrm>
            <a:off x="6827824" y="1783080"/>
            <a:ext cx="4753965" cy="4361688"/>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Some rules compare columns of the same row, using a calculated expression.</a:t>
            </a:r>
          </a:p>
          <a:p>
            <a:pPr marL="228600" indent="-228600" algn="l">
              <a:spcAft>
                <a:spcPts val="800"/>
              </a:spcAft>
              <a:buFont typeface="Arial"/>
              <a:buChar char="•"/>
            </a:pPr>
            <a:r>
              <a:rPr sz="1300" b="0" i="0">
                <a:solidFill>
                  <a:srgbClr val="1A1A1A"/>
                </a:solidFill>
                <a:latin typeface="Arial"/>
              </a:rPr>
              <a:t>The largest line total is 2300.0 (order 1006), so nothing is flagged.</a:t>
            </a:r>
          </a:p>
          <a:p>
            <a:pPr marL="228600" indent="-228600" algn="l">
              <a:spcAft>
                <a:spcPts val="800"/>
              </a:spcAft>
              <a:buFont typeface="Arial"/>
              <a:buChar char="•"/>
            </a:pPr>
            <a:r>
              <a:rPr sz="1300" b="0" i="0">
                <a:solidFill>
                  <a:srgbClr val="1A1A1A"/>
                </a:solidFill>
                <a:latin typeface="Arial"/>
              </a:rPr>
              <a:t>Threshold rules are common for outlier detection and fraud-style sanity checks.</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29 / 62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V-10: Duplicates (Uniqueness)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a:t>
            </a:r>
          </a:p>
        </p:txBody>
      </p:sp>
      <p:sp>
        <p:nvSpPr>
          <p:cNvPr id="4" name="Rounded Rectangle 3"/>
          <p:cNvSpPr/>
          <p:nvPr/>
        </p:nvSpPr>
        <p:spPr>
          <a:xfrm>
            <a:off x="609904"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Primary key</a:t>
            </a:r>
          </a:p>
          <a:p>
            <a:pPr algn="l">
              <a:lnSpc>
                <a:spcPct val="110000"/>
              </a:lnSpc>
              <a:spcAft>
                <a:spcPts val="600"/>
              </a:spcAft>
            </a:pPr>
            <a:r>
              <a:rPr sz="1250" b="0" i="0">
                <a:solidFill>
                  <a:srgbClr val="330066"/>
                </a:solidFill>
                <a:latin typeface="Courier New"/>
              </a:rPr>
              <a:t>order_id</a:t>
            </a:r>
            <a:r>
              <a:rPr sz="1300" b="0" i="0">
                <a:solidFill>
                  <a:srgbClr val="1A1A1A"/>
                </a:solidFill>
                <a:latin typeface="Arial"/>
              </a:rPr>
              <a:t> is the primary key, so the database refuses duplicate ids: a constraint validating for us (covered Friday).</a:t>
            </a:r>
          </a:p>
        </p:txBody>
      </p:sp>
      <p:sp>
        <p:nvSpPr>
          <p:cNvPr id="6" name="Rounded Rectangle 5"/>
          <p:cNvSpPr/>
          <p:nvPr/>
        </p:nvSpPr>
        <p:spPr>
          <a:xfrm>
            <a:off x="4358640" y="1783080"/>
            <a:ext cx="3474415" cy="4361688"/>
          </a:xfrm>
          <a:prstGeom prst="roundRect">
            <a:avLst>
              <a:gd name="adj" fmla="val 2368"/>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87240"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Business duplicates</a:t>
            </a:r>
          </a:p>
          <a:p>
            <a:pPr algn="l">
              <a:lnSpc>
                <a:spcPct val="110000"/>
              </a:lnSpc>
              <a:spcAft>
                <a:spcPts val="600"/>
              </a:spcAft>
            </a:pPr>
            <a:r>
              <a:rPr sz="1300" b="0" i="0">
                <a:solidFill>
                  <a:srgbClr val="1A1A1A"/>
                </a:solidFill>
                <a:latin typeface="Arial"/>
              </a:rPr>
              <a:t>Same customer, product and date entered twice under different ids can still exist.</a:t>
            </a:r>
          </a:p>
        </p:txBody>
      </p:sp>
      <p:sp>
        <p:nvSpPr>
          <p:cNvPr id="8" name="Rounded Rectangle 7"/>
          <p:cNvSpPr/>
          <p:nvPr/>
        </p:nvSpPr>
        <p:spPr>
          <a:xfrm>
            <a:off x="8107375"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35975"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Today's tools</a:t>
            </a:r>
          </a:p>
          <a:p>
            <a:pPr algn="l">
              <a:lnSpc>
                <a:spcPct val="110000"/>
              </a:lnSpc>
              <a:spcAft>
                <a:spcPts val="600"/>
              </a:spcAft>
            </a:pPr>
            <a:r>
              <a:rPr sz="1300" b="0" i="0">
                <a:solidFill>
                  <a:srgbClr val="1A1A1A"/>
                </a:solidFill>
                <a:latin typeface="Arial"/>
              </a:rPr>
              <a:t>Inspect rows side by side. Finding all duplicates automatically needs grouping and counting: </a:t>
            </a:r>
            <a:r>
              <a:rPr sz="1250" b="0" i="0">
                <a:solidFill>
                  <a:srgbClr val="330066"/>
                </a:solidFill>
                <a:latin typeface="Courier New"/>
              </a:rPr>
              <a:t>GROUP BY</a:t>
            </a:r>
            <a:r>
              <a:rPr sz="1300" b="0" i="0">
                <a:solidFill>
                  <a:srgbClr val="1A1A1A"/>
                </a:solidFill>
                <a:latin typeface="Arial"/>
              </a:rPr>
              <a:t> / </a:t>
            </a:r>
            <a:r>
              <a:rPr sz="1250" b="0" i="0">
                <a:solidFill>
                  <a:srgbClr val="330066"/>
                </a:solidFill>
                <a:latin typeface="Courier New"/>
              </a:rPr>
              <a:t>HAVING</a:t>
            </a:r>
            <a:r>
              <a:rPr sz="1300" b="0" i="0">
                <a:solidFill>
                  <a:srgbClr val="1A1A1A"/>
                </a:solidFill>
                <a:latin typeface="Arial"/>
              </a:rPr>
              <a:t> on Friday.</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30 / 62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V-10: Eyeball Checks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 · UNIQUENESS</a:t>
            </a:r>
          </a:p>
        </p:txBody>
      </p:sp>
      <p:sp>
        <p:nvSpPr>
          <p:cNvPr id="4" name="Rounded Rectangle 3"/>
          <p:cNvSpPr/>
          <p:nvPr/>
        </p:nvSpPr>
        <p:spPr>
          <a:xfrm>
            <a:off x="609904" y="1783080"/>
            <a:ext cx="5120640" cy="1092708"/>
          </a:xfrm>
          <a:prstGeom prst="roundRect">
            <a:avLst>
              <a:gd name="adj" fmla="val 669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4718303" cy="800100"/>
          </a:xfrm>
          <a:prstGeom prst="rect">
            <a:avLst/>
          </a:prstGeom>
          <a:noFill/>
        </p:spPr>
        <p:txBody>
          <a:bodyPr wrap="square" lIns="0" tIns="0" rIns="0" bIns="0">
            <a:spAutoFit/>
          </a:bodyPr>
          <a:lstStyle/>
          <a:p>
            <a:pPr algn="l">
              <a:lnSpc>
                <a:spcPct val="100000"/>
              </a:lnSpc>
            </a:pPr>
            <a:r>
              <a:rPr sz="1050">
                <a:solidFill>
                  <a:srgbClr val="1A1A1A"/>
                </a:solidFill>
                <a:latin typeface="Courier New"/>
              </a:rPr>
              <a:t>-- Eyeball check: orders per customer for repeat buyers.</a:t>
            </a:r>
          </a:p>
          <a:p>
            <a:pPr algn="l">
              <a:lnSpc>
                <a:spcPct val="100000"/>
              </a:lnSpc>
            </a:pPr>
            <a:r>
              <a:rPr sz="1050">
                <a:solidFill>
                  <a:srgbClr val="1A1A1A"/>
                </a:solidFill>
                <a:latin typeface="Courier New"/>
              </a:rPr>
              <a:t>SELECT customer_name, order_id, product, order_date</a:t>
            </a:r>
          </a:p>
          <a:p>
            <a:pPr algn="l">
              <a:lnSpc>
                <a:spcPct val="100000"/>
              </a:lnSpc>
            </a:pPr>
            <a:r>
              <a:rPr sz="1050">
                <a:solidFill>
                  <a:srgbClr val="1A1A1A"/>
                </a:solidFill>
                <a:latin typeface="Courier New"/>
              </a:rPr>
              <a:t>FROM orders</a:t>
            </a:r>
          </a:p>
          <a:p>
            <a:pPr algn="l">
              <a:lnSpc>
                <a:spcPct val="100000"/>
              </a:lnSpc>
            </a:pPr>
            <a:r>
              <a:rPr sz="1050">
                <a:solidFill>
                  <a:srgbClr val="1A1A1A"/>
                </a:solidFill>
                <a:latin typeface="Courier New"/>
              </a:rPr>
              <a:t>WHERE customer_name = 'Alice Johnson'</a:t>
            </a:r>
          </a:p>
          <a:p>
            <a:pPr algn="l">
              <a:lnSpc>
                <a:spcPct val="100000"/>
              </a:lnSpc>
            </a:pPr>
            <a:r>
              <a:rPr sz="1050">
                <a:solidFill>
                  <a:srgbClr val="1A1A1A"/>
                </a:solidFill>
                <a:latin typeface="Courier New"/>
              </a:rPr>
              <a:t>ORDER BY order_date, order_id;</a:t>
            </a:r>
          </a:p>
        </p:txBody>
      </p:sp>
      <p:sp>
        <p:nvSpPr>
          <p:cNvPr id="6" name="Rounded Rectangle 5"/>
          <p:cNvSpPr/>
          <p:nvPr/>
        </p:nvSpPr>
        <p:spPr>
          <a:xfrm>
            <a:off x="609904" y="3058668"/>
            <a:ext cx="5120640" cy="886968"/>
          </a:xfrm>
          <a:prstGeom prst="roundRect">
            <a:avLst>
              <a:gd name="adj" fmla="val 824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1072" y="3204972"/>
            <a:ext cx="4718303" cy="594359"/>
          </a:xfrm>
          <a:prstGeom prst="rect">
            <a:avLst/>
          </a:prstGeom>
          <a:noFill/>
        </p:spPr>
        <p:txBody>
          <a:bodyPr wrap="square" lIns="0" tIns="0" rIns="0" bIns="0">
            <a:spAutoFit/>
          </a:bodyPr>
          <a:lstStyle/>
          <a:p>
            <a:pPr algn="l">
              <a:lnSpc>
                <a:spcPct val="100000"/>
              </a:lnSpc>
            </a:pPr>
            <a:r>
              <a:rPr sz="1300">
                <a:solidFill>
                  <a:srgbClr val="1A1A1A"/>
                </a:solidFill>
                <a:latin typeface="Courier New"/>
              </a:rPr>
              <a:t>SELECT DISTINCT customer_name, email</a:t>
            </a:r>
          </a:p>
          <a:p>
            <a:pPr algn="l">
              <a:lnSpc>
                <a:spcPct val="100000"/>
              </a:lnSpc>
            </a:pPr>
            <a:r>
              <a:rPr sz="1300">
                <a:solidFill>
                  <a:srgbClr val="1A1A1A"/>
                </a:solidFill>
                <a:latin typeface="Courier New"/>
              </a:rPr>
              <a:t>FROM orders</a:t>
            </a:r>
          </a:p>
          <a:p>
            <a:pPr algn="l">
              <a:lnSpc>
                <a:spcPct val="100000"/>
              </a:lnSpc>
            </a:pPr>
            <a:r>
              <a:rPr sz="1300">
                <a:solidFill>
                  <a:srgbClr val="1A1A1A"/>
                </a:solidFill>
                <a:latin typeface="Courier New"/>
              </a:rPr>
              <a:t>ORDER BY customer_name;</a:t>
            </a:r>
          </a:p>
        </p:txBody>
      </p:sp>
      <p:sp>
        <p:nvSpPr>
          <p:cNvPr id="8" name="TextBox 7"/>
          <p:cNvSpPr txBox="1"/>
          <p:nvPr/>
        </p:nvSpPr>
        <p:spPr>
          <a:xfrm>
            <a:off x="6096304" y="1783080"/>
            <a:ext cx="5485485" cy="4361688"/>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Alice has two orders for different products on different dates: legitimate repeat business, not a duplicate.</a:t>
            </a:r>
          </a:p>
          <a:p>
            <a:pPr marL="228600" indent="-228600" algn="l">
              <a:spcAft>
                <a:spcPts val="800"/>
              </a:spcAft>
              <a:buFont typeface="Arial"/>
              <a:buChar char="•"/>
            </a:pPr>
            <a:r>
              <a:rPr sz="1250" b="0" i="0">
                <a:solidFill>
                  <a:srgbClr val="330066"/>
                </a:solidFill>
                <a:latin typeface="Courier New"/>
              </a:rPr>
              <a:t>DISTINCT</a:t>
            </a:r>
            <a:r>
              <a:rPr sz="1300" b="0" i="0">
                <a:solidFill>
                  <a:srgbClr val="1A1A1A"/>
                </a:solidFill>
                <a:latin typeface="Arial"/>
              </a:rPr>
              <a:t> gives 14 distinct customer/email pairs for 15 orders, because Alice appears twice with the same data.</a:t>
            </a:r>
          </a:p>
        </p:txBody>
      </p:sp>
      <p:sp>
        <p:nvSpPr>
          <p:cNvPr id="9" name="TextBox 8"/>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31 / 62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Combining and Confirming</a:t>
            </a:r>
          </a:p>
        </p:txBody>
      </p:sp>
      <p:sp>
        <p:nvSpPr>
          <p:cNvPr id="3" name="Text Placeholder 2"/>
          <p:cNvSpPr>
            <a:spLocks noGrp="1"/>
          </p:cNvSpPr>
          <p:nvPr>
            <p:ph type="body" idx="1"/>
          </p:nvPr>
        </p:nvSpPr>
        <p:spPr/>
        <p:txBody>
          <a:bodyPr/>
          <a:lstStyle/>
          <a:p>
            <a:r>
              <a:rPr sz="1800">
                <a:solidFill>
                  <a:srgbClr val="5A5A5A"/>
                </a:solidFill>
              </a:rPr>
              <a:t>Dirty-rows query, expectation queries and row counts</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03</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32 / 62</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Combined Dirty-Rows Query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sp>
        <p:nvSpPr>
          <p:cNvPr id="4" name="Rounded Rectangle 3"/>
          <p:cNvSpPr/>
          <p:nvPr/>
        </p:nvSpPr>
        <p:spPr>
          <a:xfrm>
            <a:off x="609904" y="1783080"/>
            <a:ext cx="5669280" cy="1664208"/>
          </a:xfrm>
          <a:prstGeom prst="roundRect">
            <a:avLst>
              <a:gd name="adj" fmla="val 439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266944" cy="13716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 Overview: any order that violates at least one basic rule.</a:t>
            </a:r>
          </a:p>
          <a:p>
            <a:pPr algn="l">
              <a:lnSpc>
                <a:spcPct val="100000"/>
              </a:lnSpc>
            </a:pPr>
            <a:r>
              <a:rPr sz="1000">
                <a:solidFill>
                  <a:srgbClr val="1A1A1A"/>
                </a:solidFill>
                <a:latin typeface="Courier New"/>
              </a:rPr>
              <a:t>SELECT order_id, customer_name, email, quantity, unit_price, status</a:t>
            </a:r>
          </a:p>
          <a:p>
            <a:pPr algn="l">
              <a:lnSpc>
                <a:spcPct val="100000"/>
              </a:lnSpc>
            </a:pPr>
            <a:r>
              <a:rPr sz="1000">
                <a:solidFill>
                  <a:srgbClr val="1A1A1A"/>
                </a:solidFill>
                <a:latin typeface="Courier New"/>
              </a:rPr>
              <a:t>FROM orders</a:t>
            </a:r>
          </a:p>
          <a:p>
            <a:pPr algn="l">
              <a:lnSpc>
                <a:spcPct val="100000"/>
              </a:lnSpc>
            </a:pPr>
            <a:r>
              <a:rPr sz="1000">
                <a:solidFill>
                  <a:srgbClr val="1A1A1A"/>
                </a:solidFill>
                <a:latin typeface="Courier New"/>
              </a:rPr>
              <a:t>WHERE email IS NULL</a:t>
            </a:r>
          </a:p>
          <a:p>
            <a:pPr algn="l">
              <a:lnSpc>
                <a:spcPct val="100000"/>
              </a:lnSpc>
            </a:pPr>
            <a:r>
              <a:rPr sz="1000">
                <a:solidFill>
                  <a:srgbClr val="1A1A1A"/>
                </a:solidFill>
                <a:latin typeface="Courier New"/>
              </a:rPr>
              <a:t>   OR email NOT LIKE '%@%.%'</a:t>
            </a:r>
          </a:p>
          <a:p>
            <a:pPr algn="l">
              <a:lnSpc>
                <a:spcPct val="100000"/>
              </a:lnSpc>
            </a:pPr>
            <a:r>
              <a:rPr sz="1000">
                <a:solidFill>
                  <a:srgbClr val="1A1A1A"/>
                </a:solidFill>
                <a:latin typeface="Courier New"/>
              </a:rPr>
              <a:t>   OR quantity &lt; 1</a:t>
            </a:r>
          </a:p>
          <a:p>
            <a:pPr algn="l">
              <a:lnSpc>
                <a:spcPct val="100000"/>
              </a:lnSpc>
            </a:pPr>
            <a:r>
              <a:rPr sz="1000">
                <a:solidFill>
                  <a:srgbClr val="1A1A1A"/>
                </a:solidFill>
                <a:latin typeface="Courier New"/>
              </a:rPr>
              <a:t>   OR unit_price &lt;= 0</a:t>
            </a:r>
          </a:p>
          <a:p>
            <a:pPr algn="l">
              <a:lnSpc>
                <a:spcPct val="100000"/>
              </a:lnSpc>
            </a:pPr>
            <a:r>
              <a:rPr sz="1000">
                <a:solidFill>
                  <a:srgbClr val="1A1A1A"/>
                </a:solidFill>
                <a:latin typeface="Courier New"/>
              </a:rPr>
              <a:t>   OR status NOT IN ('PENDING', 'SHIPPED', 'DELIVERED', 'CANCELLED')</a:t>
            </a:r>
          </a:p>
          <a:p>
            <a:pPr algn="l">
              <a:lnSpc>
                <a:spcPct val="100000"/>
              </a:lnSpc>
            </a:pPr>
            <a:r>
              <a:rPr sz="1000">
                <a:solidFill>
                  <a:srgbClr val="1A1A1A"/>
                </a:solidFill>
                <a:latin typeface="Courier New"/>
              </a:rPr>
              <a:t>ORDER BY order_id;</a:t>
            </a:r>
          </a:p>
        </p:txBody>
      </p:sp>
      <p:sp>
        <p:nvSpPr>
          <p:cNvPr id="6" name="TextBox 5"/>
          <p:cNvSpPr txBox="1"/>
          <p:nvPr/>
        </p:nvSpPr>
        <p:spPr>
          <a:xfrm>
            <a:off x="6644944" y="1783080"/>
            <a:ext cx="4936845" cy="4361688"/>
          </a:xfrm>
          <a:prstGeom prst="rect">
            <a:avLst/>
          </a:prstGeom>
          <a:noFill/>
        </p:spPr>
        <p:txBody>
          <a:bodyPr wrap="square" lIns="0" tIns="0" rIns="0" bIns="0">
            <a:spAutoFit/>
          </a:bodyPr>
          <a:lstStyle/>
          <a:p>
            <a:pPr marL="228600" indent="-228600" algn="l">
              <a:spcAft>
                <a:spcPts val="800"/>
              </a:spcAft>
              <a:buFont typeface="Arial"/>
              <a:buChar char="•"/>
            </a:pPr>
            <a:r>
              <a:rPr sz="1250" b="0" i="0">
                <a:solidFill>
                  <a:srgbClr val="1A1A1A"/>
                </a:solidFill>
                <a:latin typeface="Arial"/>
              </a:rPr>
              <a:t>Combine violation conditions with </a:t>
            </a:r>
            <a:r>
              <a:rPr sz="1200" b="0" i="0">
                <a:solidFill>
                  <a:srgbClr val="330066"/>
                </a:solidFill>
                <a:latin typeface="Courier New"/>
              </a:rPr>
              <a:t>OR</a:t>
            </a:r>
            <a:r>
              <a:rPr sz="1250" b="0" i="0">
                <a:solidFill>
                  <a:srgbClr val="1A1A1A"/>
                </a:solidFill>
                <a:latin typeface="Arial"/>
              </a:rPr>
              <a:t> for an overview: which rows break any rule?</a:t>
            </a:r>
          </a:p>
          <a:p>
            <a:pPr marL="228600" indent="-228600" algn="l">
              <a:spcAft>
                <a:spcPts val="800"/>
              </a:spcAft>
              <a:buFont typeface="Arial"/>
              <a:buChar char="•"/>
            </a:pPr>
            <a:r>
              <a:rPr sz="1250" b="0" i="0">
                <a:solidFill>
                  <a:srgbClr val="1A1A1A"/>
                </a:solidFill>
                <a:latin typeface="Arial"/>
              </a:rPr>
              <a:t>Seven of 15 orders are dirty: 1004, 1006, 1007, 1008, 1011, 1014, 1015 (NULL email, malformed email, zero quantity, lower-case status, negative quantity, NULL email, zero price).</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33 / 62</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Overview vs Numbered Rules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sp>
        <p:nvSpPr>
          <p:cNvPr id="4" name="Rounded Rectangle 3"/>
          <p:cNvSpPr/>
          <p:nvPr/>
        </p:nvSpPr>
        <p:spPr>
          <a:xfrm>
            <a:off x="609904" y="1783080"/>
            <a:ext cx="10971885" cy="1463040"/>
          </a:xfrm>
          <a:prstGeom prst="roundRect">
            <a:avLst>
              <a:gd name="adj" fmla="val 5624"/>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20240"/>
            <a:ext cx="10514685" cy="118872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TRADE-OFF</a:t>
            </a:r>
          </a:p>
          <a:p>
            <a:pPr algn="l">
              <a:lnSpc>
                <a:spcPct val="110000"/>
              </a:lnSpc>
              <a:spcAft>
                <a:spcPts val="600"/>
              </a:spcAft>
            </a:pPr>
            <a:r>
              <a:rPr sz="1400" b="0" i="0">
                <a:solidFill>
                  <a:srgbClr val="1A1A1A"/>
                </a:solidFill>
                <a:latin typeface="Arial"/>
              </a:rPr>
              <a:t>One combined query is a great summary, but numbered rules are better for reporting and automation: each test fails with a specific message ("V-03 failed for orders 1007, 1011"). Keep both: the overview for exploring, the numbered rules for the suite.</a:t>
            </a:r>
          </a:p>
        </p:txBody>
      </p:sp>
      <p:sp>
        <p:nvSpPr>
          <p:cNvPr id="6" name="TextBox 5"/>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34 / 62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Clean Rows Query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sp>
        <p:nvSpPr>
          <p:cNvPr id="4" name="Rounded Rectangle 3"/>
          <p:cNvSpPr/>
          <p:nvPr/>
        </p:nvSpPr>
        <p:spPr>
          <a:xfrm>
            <a:off x="609904" y="1783080"/>
            <a:ext cx="5669280" cy="1732788"/>
          </a:xfrm>
          <a:prstGeom prst="roundRect">
            <a:avLst>
              <a:gd name="adj" fmla="val 422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266944" cy="1440180"/>
          </a:xfrm>
          <a:prstGeom prst="rect">
            <a:avLst/>
          </a:prstGeom>
          <a:noFill/>
        </p:spPr>
        <p:txBody>
          <a:bodyPr wrap="square" lIns="0" tIns="0" rIns="0" bIns="0">
            <a:spAutoFit/>
          </a:bodyPr>
          <a:lstStyle/>
          <a:p>
            <a:pPr algn="l">
              <a:lnSpc>
                <a:spcPct val="100000"/>
              </a:lnSpc>
            </a:pPr>
            <a:r>
              <a:rPr sz="1050">
                <a:solidFill>
                  <a:srgbClr val="1A1A1A"/>
                </a:solidFill>
                <a:latin typeface="Courier New"/>
              </a:rPr>
              <a:t>-- Clean rows only: safe to use as baseline test data.</a:t>
            </a:r>
          </a:p>
          <a:p>
            <a:pPr algn="l">
              <a:lnSpc>
                <a:spcPct val="100000"/>
              </a:lnSpc>
            </a:pPr>
            <a:r>
              <a:rPr sz="1050">
                <a:solidFill>
                  <a:srgbClr val="1A1A1A"/>
                </a:solidFill>
                <a:latin typeface="Courier New"/>
              </a:rPr>
              <a:t>SELECT order_id, customer_name, product, status</a:t>
            </a:r>
          </a:p>
          <a:p>
            <a:pPr algn="l">
              <a:lnSpc>
                <a:spcPct val="100000"/>
              </a:lnSpc>
            </a:pPr>
            <a:r>
              <a:rPr sz="1050">
                <a:solidFill>
                  <a:srgbClr val="1A1A1A"/>
                </a:solidFill>
                <a:latin typeface="Courier New"/>
              </a:rPr>
              <a:t>FROM orders</a:t>
            </a:r>
          </a:p>
          <a:p>
            <a:pPr algn="l">
              <a:lnSpc>
                <a:spcPct val="100000"/>
              </a:lnSpc>
            </a:pPr>
            <a:r>
              <a:rPr sz="1050">
                <a:solidFill>
                  <a:srgbClr val="1A1A1A"/>
                </a:solidFill>
                <a:latin typeface="Courier New"/>
              </a:rPr>
              <a:t>WHERE email IS NOT NULL</a:t>
            </a:r>
          </a:p>
          <a:p>
            <a:pPr algn="l">
              <a:lnSpc>
                <a:spcPct val="100000"/>
              </a:lnSpc>
            </a:pPr>
            <a:r>
              <a:rPr sz="1050">
                <a:solidFill>
                  <a:srgbClr val="1A1A1A"/>
                </a:solidFill>
                <a:latin typeface="Courier New"/>
              </a:rPr>
              <a:t>  AND email LIKE '%@%.%'</a:t>
            </a:r>
          </a:p>
          <a:p>
            <a:pPr algn="l">
              <a:lnSpc>
                <a:spcPct val="100000"/>
              </a:lnSpc>
            </a:pPr>
            <a:r>
              <a:rPr sz="1050">
                <a:solidFill>
                  <a:srgbClr val="1A1A1A"/>
                </a:solidFill>
                <a:latin typeface="Courier New"/>
              </a:rPr>
              <a:t>  AND quantity &gt;= 1</a:t>
            </a:r>
          </a:p>
          <a:p>
            <a:pPr algn="l">
              <a:lnSpc>
                <a:spcPct val="100000"/>
              </a:lnSpc>
            </a:pPr>
            <a:r>
              <a:rPr sz="1050">
                <a:solidFill>
                  <a:srgbClr val="1A1A1A"/>
                </a:solidFill>
                <a:latin typeface="Courier New"/>
              </a:rPr>
              <a:t>  AND unit_price &gt; 0</a:t>
            </a:r>
          </a:p>
          <a:p>
            <a:pPr algn="l">
              <a:lnSpc>
                <a:spcPct val="100000"/>
              </a:lnSpc>
            </a:pPr>
            <a:r>
              <a:rPr sz="1050">
                <a:solidFill>
                  <a:srgbClr val="1A1A1A"/>
                </a:solidFill>
                <a:latin typeface="Courier New"/>
              </a:rPr>
              <a:t>  AND status IN ('PENDING', 'SHIPPED', 'DELIVERED', 'CANCELLED')</a:t>
            </a:r>
          </a:p>
          <a:p>
            <a:pPr algn="l">
              <a:lnSpc>
                <a:spcPct val="100000"/>
              </a:lnSpc>
            </a:pPr>
            <a:r>
              <a:rPr sz="1050">
                <a:solidFill>
                  <a:srgbClr val="1A1A1A"/>
                </a:solidFill>
                <a:latin typeface="Courier New"/>
              </a:rPr>
              <a:t>ORDER BY order_id;</a:t>
            </a:r>
          </a:p>
        </p:txBody>
      </p:sp>
      <p:sp>
        <p:nvSpPr>
          <p:cNvPr id="6" name="TextBox 5"/>
          <p:cNvSpPr txBox="1"/>
          <p:nvPr/>
        </p:nvSpPr>
        <p:spPr>
          <a:xfrm>
            <a:off x="6644944" y="1783080"/>
            <a:ext cx="4936845" cy="4361688"/>
          </a:xfrm>
          <a:prstGeom prst="rect">
            <a:avLst/>
          </a:prstGeom>
          <a:noFill/>
        </p:spPr>
        <p:txBody>
          <a:bodyPr wrap="square" lIns="0" tIns="0" rIns="0" bIns="0">
            <a:spAutoFit/>
          </a:bodyPr>
          <a:lstStyle/>
          <a:p>
            <a:pPr marL="228600" indent="-228600" algn="l">
              <a:spcAft>
                <a:spcPts val="800"/>
              </a:spcAft>
              <a:buFont typeface="Arial"/>
              <a:buChar char="•"/>
            </a:pPr>
            <a:r>
              <a:rPr sz="1250" b="0" i="0">
                <a:solidFill>
                  <a:srgbClr val="1A1A1A"/>
                </a:solidFill>
                <a:latin typeface="Arial"/>
              </a:rPr>
              <a:t>The complement is useful for choosing reliable baseline test data. Eight clean rows.</a:t>
            </a:r>
          </a:p>
          <a:p>
            <a:pPr marL="228600" indent="-228600" algn="l">
              <a:spcAft>
                <a:spcPts val="800"/>
              </a:spcAft>
              <a:buFont typeface="Arial"/>
              <a:buChar char="•"/>
            </a:pPr>
            <a:r>
              <a:rPr sz="1250" b="0" i="0">
                <a:solidFill>
                  <a:srgbClr val="1A1A1A"/>
                </a:solidFill>
                <a:latin typeface="Arial"/>
              </a:rPr>
              <a:t>It is not just the dirty query with </a:t>
            </a:r>
            <a:r>
              <a:rPr sz="1200" b="0" i="0">
                <a:solidFill>
                  <a:srgbClr val="330066"/>
                </a:solidFill>
                <a:latin typeface="Courier New"/>
              </a:rPr>
              <a:t>NOT</a:t>
            </a:r>
            <a:r>
              <a:rPr sz="1250" b="0" i="0">
                <a:solidFill>
                  <a:srgbClr val="1A1A1A"/>
                </a:solidFill>
                <a:latin typeface="Arial"/>
              </a:rPr>
              <a:t> in front: NULL handling means positive conditions are written carefully (</a:t>
            </a:r>
            <a:r>
              <a:rPr sz="1200" b="0" i="0">
                <a:solidFill>
                  <a:srgbClr val="330066"/>
                </a:solidFill>
                <a:latin typeface="Courier New"/>
              </a:rPr>
              <a:t>IS NOT NULL</a:t>
            </a:r>
            <a:r>
              <a:rPr sz="1250" b="0" i="0">
                <a:solidFill>
                  <a:srgbClr val="1A1A1A"/>
                </a:solidFill>
                <a:latin typeface="Arial"/>
              </a:rPr>
              <a:t> first).</a:t>
            </a:r>
          </a:p>
          <a:p>
            <a:pPr marL="228600" indent="-228600" algn="l">
              <a:spcAft>
                <a:spcPts val="800"/>
              </a:spcAft>
              <a:buFont typeface="Arial"/>
              <a:buChar char="•"/>
            </a:pPr>
            <a:r>
              <a:rPr sz="1250" b="0" i="0">
                <a:solidFill>
                  <a:srgbClr val="1A1A1A"/>
                </a:solidFill>
                <a:latin typeface="Arial"/>
              </a:rPr>
              <a:t>Reconciliation: dirty plus clean must equal 15 (7 + 8). A validation of your own validation.</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35 / 62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Expected State of Order 1014</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graphicFrame>
        <p:nvGraphicFramePr>
          <p:cNvPr id="4" name="Table 3"/>
          <p:cNvGraphicFramePr>
            <a:graphicFrameLocks noGrp="1"/>
          </p:cNvGraphicFramePr>
          <p:nvPr/>
        </p:nvGraphicFramePr>
        <p:xfrm>
          <a:off x="609904" y="1783080"/>
          <a:ext cx="10971884" cy="2747772"/>
        </p:xfrm>
        <a:graphic>
          <a:graphicData uri="http://schemas.openxmlformats.org/drawingml/2006/table">
            <a:tbl>
              <a:tblPr/>
              <a:tblGrid>
                <a:gridCol w="3291565">
                  <a:extLst>
                    <a:ext uri="{9D8B030D-6E8A-4147-A177-3AD203B41FA5}">
                      <a16:colId xmlns:a16="http://schemas.microsoft.com/office/drawing/2014/main" val="20000"/>
                    </a:ext>
                  </a:extLst>
                </a:gridCol>
                <a:gridCol w="7680319">
                  <a:extLst>
                    <a:ext uri="{9D8B030D-6E8A-4147-A177-3AD203B41FA5}">
                      <a16:colId xmlns:a16="http://schemas.microsoft.com/office/drawing/2014/main" val="20001"/>
                    </a:ext>
                  </a:extLst>
                </a:gridCol>
              </a:tblGrid>
              <a:tr h="384048">
                <a:tc>
                  <a:txBody>
                    <a:bodyPr/>
                    <a:lstStyle/>
                    <a:p>
                      <a:r>
                        <a:rPr sz="1500" b="1">
                          <a:solidFill>
                            <a:srgbClr val="FFFFFF"/>
                          </a:solidFill>
                          <a:latin typeface="Arial"/>
                        </a:rPr>
                        <a:t>Column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500" b="1">
                          <a:solidFill>
                            <a:srgbClr val="FFFFFF"/>
                          </a:solidFill>
                          <a:latin typeface="Arial"/>
                        </a:rPr>
                        <a:t>Expected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93954">
                <a:tc>
                  <a:txBody>
                    <a:bodyPr/>
                    <a:lstStyle/>
                    <a:p>
                      <a:r>
                        <a:rPr sz="1450" b="1">
                          <a:solidFill>
                            <a:srgbClr val="330066"/>
                          </a:solidFill>
                          <a:latin typeface="Courier New"/>
                        </a:rPr>
                        <a:t>order_id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500" b="0">
                          <a:solidFill>
                            <a:srgbClr val="1A1A1A"/>
                          </a:solidFill>
                          <a:latin typeface="Arial"/>
                        </a:rPr>
                        <a:t>1014</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393954">
                <a:tc>
                  <a:txBody>
                    <a:bodyPr/>
                    <a:lstStyle/>
                    <a:p>
                      <a:r>
                        <a:rPr sz="1450" b="1">
                          <a:solidFill>
                            <a:srgbClr val="330066"/>
                          </a:solidFill>
                          <a:latin typeface="Courier New"/>
                        </a:rPr>
                        <a:t>customer_name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500" b="0">
                          <a:solidFill>
                            <a:srgbClr val="1A1A1A"/>
                          </a:solidFill>
                          <a:latin typeface="Arial"/>
                        </a:rPr>
                        <a:t>Maria Lopez</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393954">
                <a:tc>
                  <a:txBody>
                    <a:bodyPr/>
                    <a:lstStyle/>
                    <a:p>
                      <a:r>
                        <a:rPr sz="1450" b="1">
                          <a:solidFill>
                            <a:srgbClr val="330066"/>
                          </a:solidFill>
                          <a:latin typeface="Courier New"/>
                        </a:rPr>
                        <a:t>product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500" b="0">
                          <a:solidFill>
                            <a:srgbClr val="1A1A1A"/>
                          </a:solidFill>
                          <a:latin typeface="Arial"/>
                        </a:rPr>
                        <a:t>Standing Desk</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393954">
                <a:tc>
                  <a:txBody>
                    <a:bodyPr/>
                    <a:lstStyle/>
                    <a:p>
                      <a:r>
                        <a:rPr sz="1450" b="1">
                          <a:solidFill>
                            <a:srgbClr val="330066"/>
                          </a:solidFill>
                          <a:latin typeface="Courier New"/>
                        </a:rPr>
                        <a:t>quantity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500" b="0">
                          <a:solidFill>
                            <a:srgbClr val="1A1A1A"/>
                          </a:solidFill>
                          <a:latin typeface="Arial"/>
                        </a:rPr>
                        <a:t>1</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r h="393954">
                <a:tc>
                  <a:txBody>
                    <a:bodyPr/>
                    <a:lstStyle/>
                    <a:p>
                      <a:r>
                        <a:rPr sz="1450" b="1">
                          <a:solidFill>
                            <a:srgbClr val="330066"/>
                          </a:solidFill>
                          <a:latin typeface="Courier New"/>
                        </a:rPr>
                        <a:t>unit_price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500" b="0">
                          <a:solidFill>
                            <a:srgbClr val="1A1A1A"/>
                          </a:solidFill>
                          <a:latin typeface="Arial"/>
                        </a:rPr>
                        <a:t>450</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5"/>
                  </a:ext>
                </a:extLst>
              </a:tr>
              <a:tr h="393954">
                <a:tc>
                  <a:txBody>
                    <a:bodyPr/>
                    <a:lstStyle/>
                    <a:p>
                      <a:r>
                        <a:rPr sz="1450" b="1">
                          <a:solidFill>
                            <a:srgbClr val="330066"/>
                          </a:solidFill>
                          <a:latin typeface="Courier New"/>
                        </a:rPr>
                        <a:t>status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500" b="0">
                          <a:solidFill>
                            <a:srgbClr val="1A1A1A"/>
                          </a:solidFill>
                          <a:latin typeface="Arial"/>
                        </a:rPr>
                        <a:t>PENDING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36 / 62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Expectation: Fetch by Key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A test claims to have placed an order for a Standing Desk. We expect the state in the table above.</a:t>
            </a:r>
          </a:p>
        </p:txBody>
      </p:sp>
      <p:sp>
        <p:nvSpPr>
          <p:cNvPr id="5" name="Rounded Rectangle 4"/>
          <p:cNvSpPr/>
          <p:nvPr/>
        </p:nvSpPr>
        <p:spPr>
          <a:xfrm>
            <a:off x="609904" y="2221991"/>
            <a:ext cx="5852160" cy="902207"/>
          </a:xfrm>
          <a:prstGeom prst="roundRect">
            <a:avLst>
              <a:gd name="adj" fmla="val 8108"/>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368296"/>
            <a:ext cx="5449824" cy="609599"/>
          </a:xfrm>
          <a:prstGeom prst="rect">
            <a:avLst/>
          </a:prstGeom>
          <a:noFill/>
        </p:spPr>
        <p:txBody>
          <a:bodyPr wrap="square" lIns="0" tIns="0" rIns="0" bIns="0">
            <a:spAutoFit/>
          </a:bodyPr>
          <a:lstStyle/>
          <a:p>
            <a:pPr algn="l">
              <a:lnSpc>
                <a:spcPct val="100000"/>
              </a:lnSpc>
            </a:pPr>
            <a:r>
              <a:rPr sz="1000">
                <a:solidFill>
                  <a:srgbClr val="1A1A1A"/>
                </a:solidFill>
                <a:latin typeface="Courier New"/>
              </a:rPr>
              <a:t>-- Expectation: order 1014 exists with the expected values.</a:t>
            </a:r>
          </a:p>
          <a:p>
            <a:pPr algn="l">
              <a:lnSpc>
                <a:spcPct val="100000"/>
              </a:lnSpc>
            </a:pPr>
            <a:r>
              <a:rPr sz="1000">
                <a:solidFill>
                  <a:srgbClr val="1A1A1A"/>
                </a:solidFill>
                <a:latin typeface="Courier New"/>
              </a:rPr>
              <a:t>SELECT order_id, customer_name, product, quantity, unit_price, status</a:t>
            </a:r>
          </a:p>
          <a:p>
            <a:pPr algn="l">
              <a:lnSpc>
                <a:spcPct val="100000"/>
              </a:lnSpc>
            </a:pPr>
            <a:r>
              <a:rPr sz="1000">
                <a:solidFill>
                  <a:srgbClr val="1A1A1A"/>
                </a:solidFill>
                <a:latin typeface="Courier New"/>
              </a:rPr>
              <a:t>FROM orders</a:t>
            </a:r>
          </a:p>
          <a:p>
            <a:pPr algn="l">
              <a:lnSpc>
                <a:spcPct val="100000"/>
              </a:lnSpc>
            </a:pPr>
            <a:r>
              <a:rPr sz="1000">
                <a:solidFill>
                  <a:srgbClr val="1A1A1A"/>
                </a:solidFill>
                <a:latin typeface="Courier New"/>
              </a:rPr>
              <a:t>WHERE order_id = 1014;</a:t>
            </a:r>
          </a:p>
        </p:txBody>
      </p:sp>
      <p:sp>
        <p:nvSpPr>
          <p:cNvPr id="7" name="TextBox 6"/>
          <p:cNvSpPr txBox="1"/>
          <p:nvPr/>
        </p:nvSpPr>
        <p:spPr>
          <a:xfrm>
            <a:off x="6827824" y="2221991"/>
            <a:ext cx="4753965" cy="3922776"/>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Fetch the row by key, then compare each field in Python for a precise message per field.</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37 / 62</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Expectation: Strict Form</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sp>
        <p:nvSpPr>
          <p:cNvPr id="4" name="Rounded Rectangle 3"/>
          <p:cNvSpPr/>
          <p:nvPr/>
        </p:nvSpPr>
        <p:spPr>
          <a:xfrm>
            <a:off x="609904" y="1783080"/>
            <a:ext cx="5120640" cy="1999487"/>
          </a:xfrm>
          <a:prstGeom prst="roundRect">
            <a:avLst>
              <a:gd name="adj" fmla="val 3658"/>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4718303" cy="1706879"/>
          </a:xfrm>
          <a:prstGeom prst="rect">
            <a:avLst/>
          </a:prstGeom>
          <a:noFill/>
        </p:spPr>
        <p:txBody>
          <a:bodyPr wrap="square" lIns="0" tIns="0" rIns="0" bIns="0">
            <a:spAutoFit/>
          </a:bodyPr>
          <a:lstStyle/>
          <a:p>
            <a:pPr algn="l">
              <a:lnSpc>
                <a:spcPct val="100000"/>
              </a:lnSpc>
            </a:pPr>
            <a:r>
              <a:rPr sz="1400">
                <a:solidFill>
                  <a:srgbClr val="1A1A1A"/>
                </a:solidFill>
                <a:latin typeface="Courier New"/>
              </a:rPr>
              <a:t>SELECT order_id</a:t>
            </a:r>
          </a:p>
          <a:p>
            <a:pPr algn="l">
              <a:lnSpc>
                <a:spcPct val="100000"/>
              </a:lnSpc>
            </a:pPr>
            <a:r>
              <a:rPr sz="1400">
                <a:solidFill>
                  <a:srgbClr val="1A1A1A"/>
                </a:solidFill>
                <a:latin typeface="Courier New"/>
              </a:rPr>
              <a:t>FROM orders</a:t>
            </a:r>
          </a:p>
          <a:p>
            <a:pPr algn="l">
              <a:lnSpc>
                <a:spcPct val="100000"/>
              </a:lnSpc>
            </a:pPr>
            <a:r>
              <a:rPr sz="1400">
                <a:solidFill>
                  <a:srgbClr val="1A1A1A"/>
                </a:solidFill>
                <a:latin typeface="Courier New"/>
              </a:rPr>
              <a:t>WHERE order_id = 1014</a:t>
            </a:r>
          </a:p>
          <a:p>
            <a:pPr algn="l">
              <a:lnSpc>
                <a:spcPct val="100000"/>
              </a:lnSpc>
            </a:pPr>
            <a:r>
              <a:rPr sz="1400">
                <a:solidFill>
                  <a:srgbClr val="1A1A1A"/>
                </a:solidFill>
                <a:latin typeface="Courier New"/>
              </a:rPr>
              <a:t>  AND customer_name = 'Maria Lopez'</a:t>
            </a:r>
          </a:p>
          <a:p>
            <a:pPr algn="l">
              <a:lnSpc>
                <a:spcPct val="100000"/>
              </a:lnSpc>
            </a:pPr>
            <a:r>
              <a:rPr sz="1400">
                <a:solidFill>
                  <a:srgbClr val="1A1A1A"/>
                </a:solidFill>
                <a:latin typeface="Courier New"/>
              </a:rPr>
              <a:t>  AND product = 'Standing Desk'</a:t>
            </a:r>
          </a:p>
          <a:p>
            <a:pPr algn="l">
              <a:lnSpc>
                <a:spcPct val="100000"/>
              </a:lnSpc>
            </a:pPr>
            <a:r>
              <a:rPr sz="1400">
                <a:solidFill>
                  <a:srgbClr val="1A1A1A"/>
                </a:solidFill>
                <a:latin typeface="Courier New"/>
              </a:rPr>
              <a:t>  AND quantity = 1</a:t>
            </a:r>
          </a:p>
          <a:p>
            <a:pPr algn="l">
              <a:lnSpc>
                <a:spcPct val="100000"/>
              </a:lnSpc>
            </a:pPr>
            <a:r>
              <a:rPr sz="1400">
                <a:solidFill>
                  <a:srgbClr val="1A1A1A"/>
                </a:solidFill>
                <a:latin typeface="Courier New"/>
              </a:rPr>
              <a:t>  AND unit_price = 450</a:t>
            </a:r>
          </a:p>
          <a:p>
            <a:pPr algn="l">
              <a:lnSpc>
                <a:spcPct val="100000"/>
              </a:lnSpc>
            </a:pPr>
            <a:r>
              <a:rPr sz="1400">
                <a:solidFill>
                  <a:srgbClr val="1A1A1A"/>
                </a:solidFill>
                <a:latin typeface="Courier New"/>
              </a:rPr>
              <a:t>  AND status = 'PENDING';</a:t>
            </a:r>
          </a:p>
        </p:txBody>
      </p:sp>
      <p:sp>
        <p:nvSpPr>
          <p:cNvPr id="6" name="TextBox 5"/>
          <p:cNvSpPr txBox="1"/>
          <p:nvPr/>
        </p:nvSpPr>
        <p:spPr>
          <a:xfrm>
            <a:off x="6096304" y="1783080"/>
            <a:ext cx="5485485" cy="4361688"/>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Every expected value is in the </a:t>
            </a:r>
            <a:r>
              <a:rPr sz="1250" b="0" i="0">
                <a:solidFill>
                  <a:srgbClr val="330066"/>
                </a:solidFill>
                <a:latin typeface="Courier New"/>
              </a:rPr>
              <a:t>WHERE</a:t>
            </a:r>
            <a:r>
              <a:rPr sz="1300" b="0" i="0">
                <a:solidFill>
                  <a:srgbClr val="1A1A1A"/>
                </a:solidFill>
                <a:latin typeface="Arial"/>
              </a:rPr>
              <a:t> clause. A row back means every value matched.</a:t>
            </a:r>
          </a:p>
          <a:p>
            <a:pPr marL="228600" indent="-228600" algn="l">
              <a:spcAft>
                <a:spcPts val="800"/>
              </a:spcAft>
              <a:buFont typeface="Arial"/>
              <a:buChar char="•"/>
            </a:pPr>
            <a:r>
              <a:rPr sz="1300" b="0" i="0">
                <a:solidFill>
                  <a:srgbClr val="1A1A1A"/>
                </a:solidFill>
                <a:latin typeface="Arial"/>
              </a:rPr>
              <a:t>Advantage: exactly one row or none, easy to assert (</a:t>
            </a:r>
            <a:r>
              <a:rPr sz="1250" b="0" i="0">
                <a:solidFill>
                  <a:srgbClr val="330066"/>
                </a:solidFill>
                <a:latin typeface="Courier New"/>
              </a:rPr>
              <a:t>assert len(rows) == 1</a:t>
            </a:r>
            <a:r>
              <a:rPr sz="1300" b="0" i="0">
                <a:solidFill>
                  <a:srgbClr val="1A1A1A"/>
                </a:solidFill>
                <a:latin typeface="Arial"/>
              </a:rPr>
              <a:t>).</a:t>
            </a:r>
          </a:p>
          <a:p>
            <a:pPr marL="228600" indent="-228600" algn="l">
              <a:spcAft>
                <a:spcPts val="800"/>
              </a:spcAft>
              <a:buFont typeface="Arial"/>
              <a:buChar char="•"/>
            </a:pPr>
            <a:r>
              <a:rPr sz="1300" b="0" i="0">
                <a:solidFill>
                  <a:srgbClr val="1A1A1A"/>
                </a:solidFill>
                <a:latin typeface="Arial"/>
              </a:rPr>
              <a:t>Disadvantage: when none returns, you do not know which value differed.</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38 / 62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Floating-Point Caution</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sp>
        <p:nvSpPr>
          <p:cNvPr id="4" name="Rounded Rectangle 3"/>
          <p:cNvSpPr/>
          <p:nvPr/>
        </p:nvSpPr>
        <p:spPr>
          <a:xfrm>
            <a:off x="609904" y="1783080"/>
            <a:ext cx="10971885" cy="1371600"/>
          </a:xfrm>
          <a:prstGeom prst="roundRect">
            <a:avLst>
              <a:gd name="adj" fmla="val 6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20240"/>
            <a:ext cx="10514685" cy="109728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CAUTION</a:t>
            </a:r>
          </a:p>
          <a:p>
            <a:pPr algn="l">
              <a:lnSpc>
                <a:spcPct val="110000"/>
              </a:lnSpc>
              <a:spcAft>
                <a:spcPts val="600"/>
              </a:spcAft>
            </a:pPr>
            <a:r>
              <a:rPr sz="1400" b="0" i="0">
                <a:solidFill>
                  <a:srgbClr val="1A1A1A"/>
                </a:solidFill>
                <a:latin typeface="Arial"/>
              </a:rPr>
              <a:t>Exact equality on decimals (</a:t>
            </a:r>
            <a:r>
              <a:rPr sz="1350" b="0" i="0">
                <a:solidFill>
                  <a:srgbClr val="330066"/>
                </a:solidFill>
                <a:latin typeface="Courier New"/>
              </a:rPr>
              <a:t>unit_price = 450</a:t>
            </a:r>
            <a:r>
              <a:rPr sz="1400" b="0" i="0">
                <a:solidFill>
                  <a:srgbClr val="1A1A1A"/>
                </a:solidFill>
                <a:latin typeface="Arial"/>
              </a:rPr>
              <a:t>) is safe here, but </a:t>
            </a:r>
            <a:r>
              <a:rPr sz="1350" b="0" i="0">
                <a:solidFill>
                  <a:srgbClr val="330066"/>
                </a:solidFill>
                <a:latin typeface="Courier New"/>
              </a:rPr>
              <a:t>0.1 + 0.2 = 0.3</a:t>
            </a:r>
            <a:r>
              <a:rPr sz="1400" b="0" i="0">
                <a:solidFill>
                  <a:srgbClr val="1A1A1A"/>
                </a:solidFill>
                <a:latin typeface="Arial"/>
              </a:rPr>
              <a:t> is false in binary floating point. In production store money as DECIMAL and compare calculated values with a tolerance (</a:t>
            </a:r>
            <a:r>
              <a:rPr sz="1350" b="0" i="0">
                <a:solidFill>
                  <a:srgbClr val="330066"/>
                </a:solidFill>
                <a:latin typeface="Courier New"/>
              </a:rPr>
              <a:t>ABS(a - b) &lt; 0.005</a:t>
            </a:r>
            <a:r>
              <a:rPr sz="1400" b="0" i="0">
                <a:solidFill>
                  <a:srgbClr val="1A1A1A"/>
                </a:solidFill>
                <a:latin typeface="Arial"/>
              </a:rPr>
              <a:t>).</a:t>
            </a:r>
          </a:p>
        </p:txBody>
      </p:sp>
      <p:sp>
        <p:nvSpPr>
          <p:cNvPr id="6" name="TextBox 5"/>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39 / 62</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Row-Count Checks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sp>
        <p:nvSpPr>
          <p:cNvPr id="4" name="Rounded Rectangle 3"/>
          <p:cNvSpPr/>
          <p:nvPr/>
        </p:nvSpPr>
        <p:spPr>
          <a:xfrm>
            <a:off x="609904" y="1783080"/>
            <a:ext cx="5120640" cy="902207"/>
          </a:xfrm>
          <a:prstGeom prst="roundRect">
            <a:avLst>
              <a:gd name="adj" fmla="val 8108"/>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4718303" cy="609599"/>
          </a:xfrm>
          <a:prstGeom prst="rect">
            <a:avLst/>
          </a:prstGeom>
          <a:noFill/>
        </p:spPr>
        <p:txBody>
          <a:bodyPr wrap="square" lIns="0" tIns="0" rIns="0" bIns="0">
            <a:spAutoFit/>
          </a:bodyPr>
          <a:lstStyle/>
          <a:p>
            <a:pPr algn="l">
              <a:lnSpc>
                <a:spcPct val="100000"/>
              </a:lnSpc>
            </a:pPr>
            <a:r>
              <a:rPr sz="1000">
                <a:solidFill>
                  <a:srgbClr val="1A1A1A"/>
                </a:solidFill>
                <a:latin typeface="Courier New"/>
              </a:rPr>
              <a:t>-- Preview only: aggregates are explained in depth on Friday.</a:t>
            </a:r>
          </a:p>
          <a:p>
            <a:pPr algn="l">
              <a:lnSpc>
                <a:spcPct val="100000"/>
              </a:lnSpc>
            </a:pPr>
            <a:r>
              <a:rPr sz="1000">
                <a:solidFill>
                  <a:srgbClr val="1A1A1A"/>
                </a:solidFill>
                <a:latin typeface="Courier New"/>
              </a:rPr>
              <a:t>SELECT COUNT(*) AS pending_orders</a:t>
            </a:r>
          </a:p>
          <a:p>
            <a:pPr algn="l">
              <a:lnSpc>
                <a:spcPct val="100000"/>
              </a:lnSpc>
            </a:pPr>
            <a:r>
              <a:rPr sz="1000">
                <a:solidFill>
                  <a:srgbClr val="1A1A1A"/>
                </a:solidFill>
                <a:latin typeface="Courier New"/>
              </a:rPr>
              <a:t>FROM orders</a:t>
            </a:r>
          </a:p>
          <a:p>
            <a:pPr algn="l">
              <a:lnSpc>
                <a:spcPct val="100000"/>
              </a:lnSpc>
            </a:pPr>
            <a:r>
              <a:rPr sz="1000">
                <a:solidFill>
                  <a:srgbClr val="1A1A1A"/>
                </a:solidFill>
                <a:latin typeface="Courier New"/>
              </a:rPr>
              <a:t>WHERE status = 'PENDING';</a:t>
            </a:r>
          </a:p>
        </p:txBody>
      </p:sp>
      <p:sp>
        <p:nvSpPr>
          <p:cNvPr id="6" name="TextBox 5"/>
          <p:cNvSpPr txBox="1"/>
          <p:nvPr/>
        </p:nvSpPr>
        <p:spPr>
          <a:xfrm>
            <a:off x="6096304" y="1783080"/>
            <a:ext cx="5485485" cy="4361688"/>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Validations often ask how many rows: "the migration should have moved 15 orders"; "my test created exactly one row".</a:t>
            </a:r>
          </a:p>
          <a:p>
            <a:pPr marL="228600" indent="-228600" algn="l">
              <a:spcAft>
                <a:spcPts val="800"/>
              </a:spcAft>
              <a:buFont typeface="Arial"/>
              <a:buChar char="•"/>
            </a:pPr>
            <a:r>
              <a:rPr sz="1250" b="0" i="0">
                <a:solidFill>
                  <a:srgbClr val="330066"/>
                </a:solidFill>
                <a:latin typeface="Courier New"/>
              </a:rPr>
              <a:t>COUNT(*)</a:t>
            </a:r>
            <a:r>
              <a:rPr sz="1300" b="0" i="0">
                <a:solidFill>
                  <a:srgbClr val="1A1A1A"/>
                </a:solidFill>
                <a:latin typeface="Arial"/>
              </a:rPr>
              <a:t> is an aggregate function, studied properly on Friday. For today treat it as "how many rows match my </a:t>
            </a:r>
            <a:r>
              <a:rPr sz="1250" b="0" i="0">
                <a:solidFill>
                  <a:srgbClr val="330066"/>
                </a:solidFill>
                <a:latin typeface="Courier New"/>
              </a:rPr>
              <a:t>WHERE</a:t>
            </a:r>
            <a:r>
              <a:rPr sz="1300" b="0" i="0">
                <a:solidFill>
                  <a:srgbClr val="1A1A1A"/>
                </a:solidFill>
                <a:latin typeface="Arial"/>
              </a:rPr>
              <a:t>?"</a:t>
            </a:r>
          </a:p>
          <a:p>
            <a:pPr marL="228600" indent="-228600" algn="l">
              <a:spcAft>
                <a:spcPts val="800"/>
              </a:spcAft>
              <a:buFont typeface="Arial"/>
              <a:buChar char="•"/>
            </a:pPr>
            <a:r>
              <a:rPr sz="1300" b="0" i="0">
                <a:solidFill>
                  <a:srgbClr val="1A1A1A"/>
                </a:solidFill>
                <a:latin typeface="Arial"/>
              </a:rPr>
              <a:t>Or use </a:t>
            </a:r>
            <a:r>
              <a:rPr sz="1250" b="0" i="0">
                <a:solidFill>
                  <a:srgbClr val="330066"/>
                </a:solidFill>
                <a:latin typeface="Courier New"/>
              </a:rPr>
              <a:t>len(rows)</a:t>
            </a:r>
            <a:r>
              <a:rPr sz="1300" b="0" i="0">
                <a:solidFill>
                  <a:srgbClr val="1A1A1A"/>
                </a:solidFill>
                <a:latin typeface="Arial"/>
              </a:rPr>
              <a:t> in Python.</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40 / 62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Automation, Reporting and Safety</a:t>
            </a:r>
          </a:p>
        </p:txBody>
      </p:sp>
      <p:sp>
        <p:nvSpPr>
          <p:cNvPr id="3" name="Text Placeholder 2"/>
          <p:cNvSpPr>
            <a:spLocks noGrp="1"/>
          </p:cNvSpPr>
          <p:nvPr>
            <p:ph type="body" idx="1"/>
          </p:nvPr>
        </p:nvSpPr>
        <p:spPr/>
        <p:txBody>
          <a:bodyPr/>
          <a:lstStyle/>
          <a:p>
            <a:r>
              <a:rPr sz="1800">
                <a:solidFill>
                  <a:srgbClr val="5A5A5A"/>
                </a:solidFill>
              </a:rPr>
              <a:t>Python runner, defect reports, safe habits, dialects and what comes next</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04</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41 / 62</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Automation: The RULES List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Rounded Rectangle 3"/>
          <p:cNvSpPr/>
          <p:nvPr/>
        </p:nvSpPr>
        <p:spPr>
          <a:xfrm>
            <a:off x="609904" y="1783080"/>
            <a:ext cx="6949440" cy="1435607"/>
          </a:xfrm>
          <a:prstGeom prst="roundRect">
            <a:avLst>
              <a:gd name="adj" fmla="val 509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6547103" cy="1142999"/>
          </a:xfrm>
          <a:prstGeom prst="rect">
            <a:avLst/>
          </a:prstGeom>
          <a:noFill/>
        </p:spPr>
        <p:txBody>
          <a:bodyPr wrap="square" lIns="0" tIns="0" rIns="0" bIns="0">
            <a:spAutoFit/>
          </a:bodyPr>
          <a:lstStyle/>
          <a:p>
            <a:pPr algn="l">
              <a:lnSpc>
                <a:spcPct val="100000"/>
              </a:lnSpc>
            </a:pPr>
            <a:r>
              <a:rPr sz="1250">
                <a:solidFill>
                  <a:srgbClr val="1A1A1A"/>
                </a:solidFill>
                <a:latin typeface="Courier New"/>
              </a:rPr>
              <a:t>RULES = [</a:t>
            </a:r>
          </a:p>
          <a:p>
            <a:pPr algn="l">
              <a:lnSpc>
                <a:spcPct val="100000"/>
              </a:lnSpc>
            </a:pPr>
            <a:r>
              <a:rPr sz="1250">
                <a:solidFill>
                  <a:srgbClr val="1A1A1A"/>
                </a:solidFill>
                <a:latin typeface="Courier New"/>
              </a:rPr>
              <a:t>    ("V-01", "Email must not be NULL or blank",</a:t>
            </a:r>
          </a:p>
          <a:p>
            <a:pPr algn="l">
              <a:lnSpc>
                <a:spcPct val="100000"/>
              </a:lnSpc>
            </a:pPr>
            <a:r>
              <a:rPr sz="1250">
                <a:solidFill>
                  <a:srgbClr val="1A1A1A"/>
                </a:solidFill>
                <a:latin typeface="Courier New"/>
              </a:rPr>
              <a:t>     "SELECT order_id, email FROM orders "</a:t>
            </a:r>
          </a:p>
          <a:p>
            <a:pPr algn="l">
              <a:lnSpc>
                <a:spcPct val="100000"/>
              </a:lnSpc>
            </a:pPr>
            <a:r>
              <a:rPr sz="1250">
                <a:solidFill>
                  <a:srgbClr val="1A1A1A"/>
                </a:solidFill>
                <a:latin typeface="Courier New"/>
              </a:rPr>
              <a:t>     "WHERE email IS NULL OR TRIM(email) = '' ORDER BY order_id"),</a:t>
            </a:r>
          </a:p>
          <a:p>
            <a:pPr algn="l">
              <a:lnSpc>
                <a:spcPct val="100000"/>
              </a:lnSpc>
            </a:pPr>
            <a:r>
              <a:rPr sz="1250">
                <a:solidFill>
                  <a:srgbClr val="5C8A8A"/>
                </a:solidFill>
                <a:latin typeface="Courier New"/>
              </a:rPr>
              <a:t>    # ...</a:t>
            </a:r>
          </a:p>
          <a:p>
            <a:pPr algn="l">
              <a:lnSpc>
                <a:spcPct val="100000"/>
              </a:lnSpc>
            </a:pPr>
            <a:r>
              <a:rPr sz="1250">
                <a:solidFill>
                  <a:srgbClr val="1A1A1A"/>
                </a:solidFill>
                <a:latin typeface="Courier New"/>
              </a:rPr>
              <a:t>]</a:t>
            </a:r>
          </a:p>
        </p:txBody>
      </p:sp>
      <p:sp>
        <p:nvSpPr>
          <p:cNvPr id="6" name="TextBox 5"/>
          <p:cNvSpPr txBox="1"/>
          <p:nvPr/>
        </p:nvSpPr>
        <p:spPr>
          <a:xfrm>
            <a:off x="7925104" y="1783080"/>
            <a:ext cx="3656685" cy="4361688"/>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A list of tuples </a:t>
            </a:r>
            <a:r>
              <a:rPr sz="1250" b="0" i="0">
                <a:solidFill>
                  <a:srgbClr val="330066"/>
                </a:solidFill>
                <a:latin typeface="Courier New"/>
              </a:rPr>
              <a:t>(id, description, sql)</a:t>
            </a:r>
            <a:r>
              <a:rPr sz="1300" b="0" i="0">
                <a:solidFill>
                  <a:srgbClr val="1A1A1A"/>
                </a:solidFill>
                <a:latin typeface="Arial"/>
              </a:rPr>
              <a:t>: the data of the suite. Adding a rule means adding one entry, no new logic.</a:t>
            </a:r>
          </a:p>
          <a:p>
            <a:pPr marL="228600" indent="-228600" algn="l">
              <a:spcAft>
                <a:spcPts val="800"/>
              </a:spcAft>
              <a:buFont typeface="Arial"/>
              <a:buChar char="•"/>
            </a:pPr>
            <a:r>
              <a:rPr sz="1300" b="0" i="0">
                <a:solidFill>
                  <a:srgbClr val="1A1A1A"/>
                </a:solidFill>
                <a:latin typeface="Arial"/>
              </a:rPr>
              <a:t>Full script: </a:t>
            </a:r>
            <a:r>
              <a:rPr sz="1250" b="0" i="0">
                <a:solidFill>
                  <a:srgbClr val="330066"/>
                </a:solidFill>
                <a:latin typeface="Courier New"/>
              </a:rPr>
              <a:t>setup.sql</a:t>
            </a:r>
            <a:r>
              <a:rPr sz="1300" b="0" i="0">
                <a:solidFill>
                  <a:srgbClr val="1A1A1A"/>
                </a:solidFill>
                <a:latin typeface="Arial"/>
              </a:rPr>
              <a:t> and the runner in the lesson.</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42 / 62</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Automation: Running the Rules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Rounded Rectangle 3"/>
          <p:cNvSpPr/>
          <p:nvPr/>
        </p:nvSpPr>
        <p:spPr>
          <a:xfrm>
            <a:off x="609904" y="1783080"/>
            <a:ext cx="6949440" cy="1816608"/>
          </a:xfrm>
          <a:prstGeom prst="roundRect">
            <a:avLst>
              <a:gd name="adj" fmla="val 402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6547103" cy="1523999"/>
          </a:xfrm>
          <a:prstGeom prst="rect">
            <a:avLst/>
          </a:prstGeom>
          <a:noFill/>
        </p:spPr>
        <p:txBody>
          <a:bodyPr wrap="square" lIns="0" tIns="0" rIns="0" bIns="0">
            <a:spAutoFit/>
          </a:bodyPr>
          <a:lstStyle/>
          <a:p>
            <a:pPr algn="l">
              <a:lnSpc>
                <a:spcPct val="100000"/>
              </a:lnSpc>
            </a:pPr>
            <a:r>
              <a:rPr sz="1000">
                <a:solidFill>
                  <a:srgbClr val="1A1A1A"/>
                </a:solidFill>
                <a:latin typeface="Courier New"/>
              </a:rPr>
              <a:t>def run_rules(conn):</a:t>
            </a:r>
          </a:p>
          <a:p>
            <a:pPr algn="l">
              <a:lnSpc>
                <a:spcPct val="100000"/>
              </a:lnSpc>
            </a:pPr>
            <a:r>
              <a:rPr sz="1000">
                <a:solidFill>
                  <a:srgbClr val="1A1A1A"/>
                </a:solidFill>
                <a:latin typeface="Courier New"/>
              </a:rPr>
              <a:t>    """Run every rule. Return a dict {rule_id: violating_rows} for failures."""</a:t>
            </a:r>
          </a:p>
          <a:p>
            <a:pPr algn="l">
              <a:lnSpc>
                <a:spcPct val="100000"/>
              </a:lnSpc>
            </a:pPr>
            <a:r>
              <a:rPr sz="1000">
                <a:solidFill>
                  <a:srgbClr val="1A1A1A"/>
                </a:solidFill>
                <a:latin typeface="Courier New"/>
              </a:rPr>
              <a:t>    failures = {}</a:t>
            </a:r>
          </a:p>
          <a:p>
            <a:pPr algn="l">
              <a:lnSpc>
                <a:spcPct val="100000"/>
              </a:lnSpc>
            </a:pPr>
            <a:r>
              <a:rPr sz="1000">
                <a:solidFill>
                  <a:srgbClr val="1A1A1A"/>
                </a:solidFill>
                <a:latin typeface="Courier New"/>
              </a:rPr>
              <a:t>    for rule_id, description, sql in RULES:</a:t>
            </a:r>
          </a:p>
          <a:p>
            <a:pPr algn="l">
              <a:lnSpc>
                <a:spcPct val="100000"/>
              </a:lnSpc>
            </a:pPr>
            <a:r>
              <a:rPr sz="1000">
                <a:solidFill>
                  <a:srgbClr val="1A1A1A"/>
                </a:solidFill>
                <a:latin typeface="Courier New"/>
              </a:rPr>
              <a:t>        rows = conn.execute(sql).fetchall()</a:t>
            </a:r>
          </a:p>
          <a:p>
            <a:pPr algn="l">
              <a:lnSpc>
                <a:spcPct val="100000"/>
              </a:lnSpc>
            </a:pPr>
            <a:r>
              <a:rPr sz="1000">
                <a:solidFill>
                  <a:srgbClr val="1A1A1A"/>
                </a:solidFill>
                <a:latin typeface="Courier New"/>
              </a:rPr>
              <a:t>        status = "PASS" if not rows else "FAIL"</a:t>
            </a:r>
          </a:p>
          <a:p>
            <a:pPr algn="l">
              <a:lnSpc>
                <a:spcPct val="100000"/>
              </a:lnSpc>
            </a:pPr>
            <a:r>
              <a:rPr sz="1000">
                <a:solidFill>
                  <a:srgbClr val="1A1A1A"/>
                </a:solidFill>
                <a:latin typeface="Courier New"/>
              </a:rPr>
              <a:t>        print(f"{rule_id} {status:4}  {description}  ({len(rows)} violating row(s))")</a:t>
            </a:r>
          </a:p>
          <a:p>
            <a:pPr algn="l">
              <a:lnSpc>
                <a:spcPct val="100000"/>
              </a:lnSpc>
            </a:pPr>
            <a:r>
              <a:rPr sz="1000">
                <a:solidFill>
                  <a:srgbClr val="1A1A1A"/>
                </a:solidFill>
                <a:latin typeface="Courier New"/>
              </a:rPr>
              <a:t>        if rows:</a:t>
            </a:r>
          </a:p>
          <a:p>
            <a:pPr algn="l">
              <a:lnSpc>
                <a:spcPct val="100000"/>
              </a:lnSpc>
            </a:pPr>
            <a:r>
              <a:rPr sz="1000">
                <a:solidFill>
                  <a:srgbClr val="1A1A1A"/>
                </a:solidFill>
                <a:latin typeface="Courier New"/>
              </a:rPr>
              <a:t>            failures[rule_id] = rows</a:t>
            </a:r>
          </a:p>
          <a:p>
            <a:pPr algn="l">
              <a:lnSpc>
                <a:spcPct val="100000"/>
              </a:lnSpc>
            </a:pPr>
            <a:r>
              <a:rPr sz="1000">
                <a:solidFill>
                  <a:srgbClr val="1A1A1A"/>
                </a:solidFill>
                <a:latin typeface="Courier New"/>
              </a:rPr>
              <a:t>    return failures</a:t>
            </a:r>
          </a:p>
        </p:txBody>
      </p:sp>
      <p:sp>
        <p:nvSpPr>
          <p:cNvPr id="6" name="TextBox 5"/>
          <p:cNvSpPr txBox="1"/>
          <p:nvPr/>
        </p:nvSpPr>
        <p:spPr>
          <a:xfrm>
            <a:off x="7925104" y="1783080"/>
            <a:ext cx="3656685" cy="4361688"/>
          </a:xfrm>
          <a:prstGeom prst="rect">
            <a:avLst/>
          </a:prstGeom>
          <a:noFill/>
        </p:spPr>
        <p:txBody>
          <a:bodyPr wrap="square" lIns="0" tIns="0" rIns="0" bIns="0">
            <a:spAutoFit/>
          </a:bodyPr>
          <a:lstStyle/>
          <a:p>
            <a:pPr marL="228600" indent="-228600" algn="l">
              <a:spcAft>
                <a:spcPts val="800"/>
              </a:spcAft>
              <a:buFont typeface="Arial"/>
              <a:buChar char="•"/>
            </a:pPr>
            <a:r>
              <a:rPr sz="1150" b="0" i="0">
                <a:solidFill>
                  <a:srgbClr val="330066"/>
                </a:solidFill>
                <a:latin typeface="Courier New"/>
              </a:rPr>
              <a:t>fetchall()</a:t>
            </a:r>
            <a:r>
              <a:rPr sz="1200" b="0" i="0">
                <a:solidFill>
                  <a:srgbClr val="1A1A1A"/>
                </a:solidFill>
                <a:latin typeface="Arial"/>
              </a:rPr>
              <a:t> returns the violating rows; an empty list is falsy, so </a:t>
            </a:r>
            <a:r>
              <a:rPr sz="1150" b="0" i="0">
                <a:solidFill>
                  <a:srgbClr val="330066"/>
                </a:solidFill>
                <a:latin typeface="Courier New"/>
              </a:rPr>
              <a:t>not rows</a:t>
            </a:r>
            <a:r>
              <a:rPr sz="1200" b="0" i="0">
                <a:solidFill>
                  <a:srgbClr val="1A1A1A"/>
                </a:solidFill>
                <a:latin typeface="Arial"/>
              </a:rPr>
              <a:t> means PASS.</a:t>
            </a:r>
          </a:p>
          <a:p>
            <a:pPr marL="228600" indent="-228600" algn="l">
              <a:spcAft>
                <a:spcPts val="800"/>
              </a:spcAft>
              <a:buFont typeface="Arial"/>
              <a:buChar char="•"/>
            </a:pPr>
            <a:r>
              <a:rPr sz="1150" b="0" i="0">
                <a:solidFill>
                  <a:srgbClr val="330066"/>
                </a:solidFill>
                <a:latin typeface="Courier New"/>
              </a:rPr>
              <a:t>{status:4}</a:t>
            </a:r>
            <a:r>
              <a:rPr sz="1200" b="0" i="0">
                <a:solidFill>
                  <a:srgbClr val="1A1A1A"/>
                </a:solidFill>
                <a:latin typeface="Arial"/>
              </a:rPr>
              <a:t> pads the word so columns line up.</a:t>
            </a:r>
          </a:p>
          <a:p>
            <a:pPr marL="228600" indent="-228600" algn="l">
              <a:spcAft>
                <a:spcPts val="800"/>
              </a:spcAft>
              <a:buFont typeface="Arial"/>
              <a:buChar char="•"/>
            </a:pPr>
            <a:r>
              <a:rPr sz="1150" b="0" i="0">
                <a:solidFill>
                  <a:srgbClr val="330066"/>
                </a:solidFill>
                <a:latin typeface="Courier New"/>
              </a:rPr>
              <a:t>failures</a:t>
            </a:r>
            <a:r>
              <a:rPr sz="1200" b="0" i="0">
                <a:solidFill>
                  <a:srgbClr val="1A1A1A"/>
                </a:solidFill>
                <a:latin typeface="Arial"/>
              </a:rPr>
              <a:t> collects the evidence to log, attach to a bug or assert on.</a:t>
            </a:r>
          </a:p>
          <a:p>
            <a:pPr marL="228600" indent="-228600" algn="l">
              <a:spcAft>
                <a:spcPts val="800"/>
              </a:spcAft>
              <a:buFont typeface="Arial"/>
              <a:buChar char="•"/>
            </a:pPr>
            <a:r>
              <a:rPr sz="1150" b="0" i="0">
                <a:solidFill>
                  <a:srgbClr val="330066"/>
                </a:solidFill>
                <a:latin typeface="Courier New"/>
              </a:rPr>
              <a:t>":memory:"</a:t>
            </a:r>
            <a:r>
              <a:rPr sz="1200" b="0" i="0">
                <a:solidFill>
                  <a:srgbClr val="1A1A1A"/>
                </a:solidFill>
                <a:latin typeface="Arial"/>
              </a:rPr>
              <a:t> with </a:t>
            </a:r>
            <a:r>
              <a:rPr sz="1150" b="0" i="0">
                <a:solidFill>
                  <a:srgbClr val="330066"/>
                </a:solidFill>
                <a:latin typeface="Courier New"/>
              </a:rPr>
              <a:t>executescript</a:t>
            </a:r>
            <a:r>
              <a:rPr sz="1200" b="0" i="0">
                <a:solidFill>
                  <a:srgbClr val="1A1A1A"/>
                </a:solidFill>
                <a:latin typeface="Arial"/>
              </a:rPr>
              <a:t> builds a throw-away database; a real project connects to the test environment.</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43 / 62</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Runner Output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822960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 (V-01 to V-07)</a:t>
            </a:r>
          </a:p>
        </p:txBody>
      </p:sp>
      <p:sp>
        <p:nvSpPr>
          <p:cNvPr id="5" name="Rounded Rectangle 4"/>
          <p:cNvSpPr/>
          <p:nvPr/>
        </p:nvSpPr>
        <p:spPr>
          <a:xfrm>
            <a:off x="609904" y="2057400"/>
            <a:ext cx="8229600" cy="1412748"/>
          </a:xfrm>
          <a:prstGeom prst="roundRect">
            <a:avLst>
              <a:gd name="adj" fmla="val 517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7827264" cy="1120140"/>
          </a:xfrm>
          <a:prstGeom prst="rect">
            <a:avLst/>
          </a:prstGeom>
          <a:noFill/>
        </p:spPr>
        <p:txBody>
          <a:bodyPr wrap="square" lIns="0" tIns="0" rIns="0" bIns="0">
            <a:spAutoFit/>
          </a:bodyPr>
          <a:lstStyle/>
          <a:p>
            <a:pPr algn="l">
              <a:lnSpc>
                <a:spcPct val="100000"/>
              </a:lnSpc>
            </a:pPr>
            <a:r>
              <a:rPr sz="1050">
                <a:solidFill>
                  <a:srgbClr val="1A1A1A"/>
                </a:solidFill>
                <a:latin typeface="Courier New"/>
              </a:rPr>
              <a:t>V-01 FAIL  Email must not be NULL or blank  (2 violating row(s))</a:t>
            </a:r>
          </a:p>
          <a:p>
            <a:pPr algn="l">
              <a:lnSpc>
                <a:spcPct val="100000"/>
              </a:lnSpc>
            </a:pPr>
            <a:r>
              <a:rPr sz="1050">
                <a:solidFill>
                  <a:srgbClr val="1A1A1A"/>
                </a:solidFill>
                <a:latin typeface="Courier New"/>
              </a:rPr>
              <a:t>V-02 FAIL  Email must look like an address (contain @ and a dot after it)  (1 violating row(s))</a:t>
            </a:r>
          </a:p>
          <a:p>
            <a:pPr algn="l">
              <a:lnSpc>
                <a:spcPct val="100000"/>
              </a:lnSpc>
            </a:pPr>
            <a:r>
              <a:rPr sz="1050">
                <a:solidFill>
                  <a:srgbClr val="1A1A1A"/>
                </a:solidFill>
                <a:latin typeface="Courier New"/>
              </a:rPr>
              <a:t>V-03 FAIL  Quantity must be at least 1  (2 violating row(s))</a:t>
            </a:r>
          </a:p>
          <a:p>
            <a:pPr algn="l">
              <a:lnSpc>
                <a:spcPct val="100000"/>
              </a:lnSpc>
            </a:pPr>
            <a:r>
              <a:rPr sz="1050">
                <a:solidFill>
                  <a:srgbClr val="1A1A1A"/>
                </a:solidFill>
                <a:latin typeface="Courier New"/>
              </a:rPr>
              <a:t>V-04 FAIL  Unit price must be greater than 0  (1 violating row(s))</a:t>
            </a:r>
          </a:p>
          <a:p>
            <a:pPr algn="l">
              <a:lnSpc>
                <a:spcPct val="100000"/>
              </a:lnSpc>
            </a:pPr>
            <a:r>
              <a:rPr sz="1050">
                <a:solidFill>
                  <a:srgbClr val="1A1A1A"/>
                </a:solidFill>
                <a:latin typeface="Courier New"/>
              </a:rPr>
              <a:t>V-05 FAIL  Status must be one of the four upper-case values  (1 violating row(s))</a:t>
            </a:r>
          </a:p>
          <a:p>
            <a:pPr algn="l">
              <a:lnSpc>
                <a:spcPct val="100000"/>
              </a:lnSpc>
            </a:pPr>
            <a:r>
              <a:rPr sz="1050">
                <a:solidFill>
                  <a:srgbClr val="1A1A1A"/>
                </a:solidFill>
                <a:latin typeface="Courier New"/>
              </a:rPr>
              <a:t>V-06 PASS  Category must be an allowed value  (0 violating row(s))</a:t>
            </a:r>
          </a:p>
          <a:p>
            <a:pPr algn="l">
              <a:lnSpc>
                <a:spcPct val="100000"/>
              </a:lnSpc>
            </a:pPr>
            <a:r>
              <a:rPr sz="1050">
                <a:solidFill>
                  <a:srgbClr val="1A1A1A"/>
                </a:solidFill>
                <a:latin typeface="Courier New"/>
              </a:rPr>
              <a:t>V-07 PASS  Customer name must have no leading or trailing spaces  (0 violating row(s))</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44 / 62</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Failures Report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Rounded Rectangle 3"/>
          <p:cNvSpPr/>
          <p:nvPr/>
        </p:nvSpPr>
        <p:spPr>
          <a:xfrm>
            <a:off x="609904" y="1783080"/>
            <a:ext cx="6400800" cy="1283208"/>
          </a:xfrm>
          <a:prstGeom prst="roundRect">
            <a:avLst>
              <a:gd name="adj" fmla="val 5700"/>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998464" cy="990599"/>
          </a:xfrm>
          <a:prstGeom prst="rect">
            <a:avLst/>
          </a:prstGeom>
          <a:noFill/>
        </p:spPr>
        <p:txBody>
          <a:bodyPr wrap="square" lIns="0" tIns="0" rIns="0" bIns="0">
            <a:spAutoFit/>
          </a:bodyPr>
          <a:lstStyle/>
          <a:p>
            <a:pPr algn="l">
              <a:lnSpc>
                <a:spcPct val="100000"/>
              </a:lnSpc>
            </a:pPr>
            <a:r>
              <a:rPr sz="1300">
                <a:solidFill>
                  <a:srgbClr val="1A1A1A"/>
                </a:solidFill>
                <a:latin typeface="Courier New"/>
              </a:rPr>
              <a:t>V-01 [(1004, None), (1014, None)]</a:t>
            </a:r>
          </a:p>
          <a:p>
            <a:pPr algn="l">
              <a:lnSpc>
                <a:spcPct val="100000"/>
              </a:lnSpc>
            </a:pPr>
            <a:r>
              <a:rPr sz="1300">
                <a:solidFill>
                  <a:srgbClr val="1A1A1A"/>
                </a:solidFill>
                <a:latin typeface="Courier New"/>
              </a:rPr>
              <a:t>V-02 [(1006, 'frank.moore@example')]</a:t>
            </a:r>
          </a:p>
          <a:p>
            <a:pPr algn="l">
              <a:lnSpc>
                <a:spcPct val="100000"/>
              </a:lnSpc>
            </a:pPr>
            <a:r>
              <a:rPr sz="1300">
                <a:solidFill>
                  <a:srgbClr val="1A1A1A"/>
                </a:solidFill>
                <a:latin typeface="Courier New"/>
              </a:rPr>
              <a:t>V-03 [(1007, 0), (1011, -1)]</a:t>
            </a:r>
          </a:p>
          <a:p>
            <a:pPr algn="l">
              <a:lnSpc>
                <a:spcPct val="100000"/>
              </a:lnSpc>
            </a:pPr>
            <a:r>
              <a:rPr sz="1300">
                <a:solidFill>
                  <a:srgbClr val="1A1A1A"/>
                </a:solidFill>
                <a:latin typeface="Courier New"/>
              </a:rPr>
              <a:t>V-04 [(1015, 0.0)]</a:t>
            </a:r>
          </a:p>
          <a:p>
            <a:pPr algn="l">
              <a:lnSpc>
                <a:spcPct val="100000"/>
              </a:lnSpc>
            </a:pPr>
            <a:r>
              <a:rPr sz="1300">
                <a:solidFill>
                  <a:srgbClr val="1A1A1A"/>
                </a:solidFill>
                <a:latin typeface="Courier New"/>
              </a:rPr>
              <a:t>V-05 [(1008, 'delivered')]</a:t>
            </a:r>
          </a:p>
        </p:txBody>
      </p:sp>
      <p:sp>
        <p:nvSpPr>
          <p:cNvPr id="6" name="TextBox 5"/>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300" b="0" i="0">
                <a:solidFill>
                  <a:srgbClr val="1A1A1A"/>
                </a:solidFill>
                <a:latin typeface="Arial"/>
              </a:rPr>
              <a:t>The evidence for each failing rule: V-01 two NULL emails, V-02 the malformed email, V-03 quantities 0 and -1, V-04 a price of 0.0, V-05 the lower-case status.</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45 / 62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One Rule, One Test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Rounded Rectangle 3"/>
          <p:cNvSpPr/>
          <p:nvPr/>
        </p:nvSpPr>
        <p:spPr>
          <a:xfrm>
            <a:off x="609904" y="1783080"/>
            <a:ext cx="6217920" cy="1252728"/>
          </a:xfrm>
          <a:prstGeom prst="roundRect">
            <a:avLst>
              <a:gd name="adj" fmla="val 583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815583" cy="960120"/>
          </a:xfrm>
          <a:prstGeom prst="rect">
            <a:avLst/>
          </a:prstGeom>
          <a:noFill/>
        </p:spPr>
        <p:txBody>
          <a:bodyPr wrap="square" lIns="0" tIns="0" rIns="0" bIns="0">
            <a:spAutoFit/>
          </a:bodyPr>
          <a:lstStyle/>
          <a:p>
            <a:pPr algn="l">
              <a:lnSpc>
                <a:spcPct val="100000"/>
              </a:lnSpc>
            </a:pPr>
            <a:r>
              <a:rPr sz="1050">
                <a:solidFill>
                  <a:srgbClr val="1A1A1A"/>
                </a:solidFill>
                <a:latin typeface="Courier New"/>
              </a:rPr>
              <a:t>import pytest</a:t>
            </a:r>
          </a:p>
          <a:p>
            <a:pPr algn="l">
              <a:lnSpc>
                <a:spcPct val="100000"/>
              </a:lnSpc>
            </a:pPr>
            <a:r>
              <a:rPr sz="1050">
                <a:solidFill>
                  <a:srgbClr val="1A1A1A"/>
                </a:solidFill>
                <a:latin typeface="Courier New"/>
              </a:rPr>
              <a:t> </a:t>
            </a:r>
          </a:p>
          <a:p>
            <a:pPr algn="l">
              <a:lnSpc>
                <a:spcPct val="100000"/>
              </a:lnSpc>
            </a:pPr>
            <a:r>
              <a:rPr sz="1050">
                <a:solidFill>
                  <a:srgbClr val="1A1A1A"/>
                </a:solidFill>
                <a:latin typeface="Courier New"/>
              </a:rPr>
              <a:t>@pytest.mark.parametrize("rule_id, description, sql", RULES)</a:t>
            </a:r>
          </a:p>
          <a:p>
            <a:pPr algn="l">
              <a:lnSpc>
                <a:spcPct val="100000"/>
              </a:lnSpc>
            </a:pPr>
            <a:r>
              <a:rPr sz="1050">
                <a:solidFill>
                  <a:srgbClr val="1A1A1A"/>
                </a:solidFill>
                <a:latin typeface="Courier New"/>
              </a:rPr>
              <a:t>def test_rule(conn, rule_id, description, sql):</a:t>
            </a:r>
          </a:p>
          <a:p>
            <a:pPr algn="l">
              <a:lnSpc>
                <a:spcPct val="100000"/>
              </a:lnSpc>
            </a:pPr>
            <a:r>
              <a:rPr sz="1050">
                <a:solidFill>
                  <a:srgbClr val="1A1A1A"/>
                </a:solidFill>
                <a:latin typeface="Courier New"/>
              </a:rPr>
              <a:t>    rows = conn.execute(sql).fetchall()</a:t>
            </a:r>
          </a:p>
          <a:p>
            <a:pPr algn="l">
              <a:lnSpc>
                <a:spcPct val="100000"/>
              </a:lnSpc>
            </a:pPr>
            <a:r>
              <a:rPr sz="1050">
                <a:solidFill>
                  <a:srgbClr val="1A1A1A"/>
                </a:solidFill>
                <a:latin typeface="Courier New"/>
              </a:rPr>
              <a:t>    assert rows == [], f"{rule_id} ({description}) violated by: {rows}"</a:t>
            </a:r>
          </a:p>
        </p:txBody>
      </p:sp>
      <p:sp>
        <p:nvSpPr>
          <p:cNvPr id="6" name="TextBox 5"/>
          <p:cNvSpPr txBox="1"/>
          <p:nvPr/>
        </p:nvSpPr>
        <p:spPr>
          <a:xfrm>
            <a:off x="7193584" y="1783080"/>
            <a:ext cx="4388205" cy="4361688"/>
          </a:xfrm>
          <a:prstGeom prst="rect">
            <a:avLst/>
          </a:prstGeom>
          <a:noFill/>
        </p:spPr>
        <p:txBody>
          <a:bodyPr wrap="square" lIns="0" tIns="0" rIns="0" bIns="0">
            <a:spAutoFit/>
          </a:bodyPr>
          <a:lstStyle/>
          <a:p>
            <a:pPr marL="228600" indent="-228600" algn="l">
              <a:spcAft>
                <a:spcPts val="800"/>
              </a:spcAft>
              <a:buFont typeface="Arial"/>
              <a:buChar char="•"/>
            </a:pPr>
            <a:r>
              <a:rPr sz="1250" b="0" i="0">
                <a:solidFill>
                  <a:srgbClr val="1A1A1A"/>
                </a:solidFill>
                <a:latin typeface="Arial"/>
              </a:rPr>
              <a:t>In a pytest suite each rule becomes a test with its own result; the failure message names the rule and lists the offending rows.</a:t>
            </a:r>
          </a:p>
          <a:p>
            <a:pPr marL="228600" indent="-228600" algn="l">
              <a:spcAft>
                <a:spcPts val="800"/>
              </a:spcAft>
              <a:buFont typeface="Arial"/>
              <a:buChar char="•"/>
            </a:pPr>
            <a:r>
              <a:rPr sz="1200" b="0" i="0">
                <a:solidFill>
                  <a:srgbClr val="330066"/>
                </a:solidFill>
                <a:latin typeface="Courier New"/>
              </a:rPr>
              <a:t>unittest</a:t>
            </a:r>
            <a:r>
              <a:rPr sz="1250" b="0" i="0">
                <a:solidFill>
                  <a:srgbClr val="1A1A1A"/>
                </a:solidFill>
                <a:latin typeface="Arial"/>
              </a:rPr>
              <a:t> does the same with more code. The idea: one violation query, one assertion the result is empty, one descriptive message.</a:t>
            </a:r>
          </a:p>
          <a:p>
            <a:pPr marL="228600" indent="-228600" algn="l">
              <a:spcAft>
                <a:spcPts val="800"/>
              </a:spcAft>
              <a:buFont typeface="Arial"/>
              <a:buChar char="•"/>
            </a:pPr>
            <a:r>
              <a:rPr sz="1200" b="0" i="0">
                <a:solidFill>
                  <a:srgbClr val="330066"/>
                </a:solidFill>
                <a:latin typeface="Courier New"/>
              </a:rPr>
              <a:t>conn</a:t>
            </a:r>
            <a:r>
              <a:rPr sz="1250" b="0" i="0">
                <a:solidFill>
                  <a:srgbClr val="1A1A1A"/>
                </a:solidFill>
                <a:latin typeface="Arial"/>
              </a:rPr>
              <a:t> would come from a fixture.</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46 / 62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 Good Defect Report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Title: what is wrong, in one line ("Orders can be saved with a negative quantity").</a:t>
            </a:r>
          </a:p>
          <a:p>
            <a:pPr marL="228600" indent="-228600" algn="l">
              <a:spcAft>
                <a:spcPts val="1000"/>
              </a:spcAft>
              <a:buFont typeface="Arial"/>
              <a:buChar char="•"/>
            </a:pPr>
            <a:r>
              <a:rPr sz="1700" b="0" i="0">
                <a:solidFill>
                  <a:srgbClr val="1A1A1A"/>
                </a:solidFill>
                <a:latin typeface="Arial"/>
              </a:rPr>
              <a:t>Environment: which database and environment (dev/test/staging), and when you ran the check.</a:t>
            </a:r>
          </a:p>
          <a:p>
            <a:pPr marL="228600" indent="-228600" algn="l">
              <a:spcAft>
                <a:spcPts val="1000"/>
              </a:spcAft>
              <a:buFont typeface="Arial"/>
              <a:buChar char="•"/>
            </a:pPr>
            <a:r>
              <a:rPr sz="1700" b="0" i="0">
                <a:solidFill>
                  <a:srgbClr val="1A1A1A"/>
                </a:solidFill>
                <a:latin typeface="Arial"/>
              </a:rPr>
              <a:t>Rule: which business rule it breaks, with ID (V-03) and source (spec section).</a:t>
            </a:r>
          </a:p>
          <a:p>
            <a:pPr marL="228600" indent="-228600" algn="l">
              <a:spcAft>
                <a:spcPts val="1000"/>
              </a:spcAft>
              <a:buFont typeface="Arial"/>
              <a:buChar char="•"/>
            </a:pPr>
            <a:r>
              <a:rPr sz="1700" b="0" i="0">
                <a:solidFill>
                  <a:srgbClr val="1A1A1A"/>
                </a:solidFill>
                <a:latin typeface="Arial"/>
              </a:rPr>
              <a:t>Query: the exact SQL, so anyone can reproduce it.</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47 / 62</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 Good Defect Report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Evidence: the result rows (copy the table).</a:t>
            </a:r>
          </a:p>
          <a:p>
            <a:pPr marL="228600" indent="-228600" algn="l">
              <a:spcAft>
                <a:spcPts val="1000"/>
              </a:spcAft>
              <a:buFont typeface="Arial"/>
              <a:buChar char="•"/>
            </a:pPr>
            <a:r>
              <a:rPr sz="1700" b="0" i="0">
                <a:solidFill>
                  <a:srgbClr val="1A1A1A"/>
                </a:solidFill>
                <a:latin typeface="Arial"/>
              </a:rPr>
              <a:t>Impact: why it matters (inventory miscounts, revenue loss, customer harm).</a:t>
            </a:r>
          </a:p>
          <a:p>
            <a:pPr marL="228600" indent="-228600" algn="l">
              <a:spcAft>
                <a:spcPts val="1000"/>
              </a:spcAft>
              <a:buFont typeface="Arial"/>
              <a:buChar char="•"/>
            </a:pPr>
            <a:r>
              <a:rPr sz="1700" b="0" i="0">
                <a:solidFill>
                  <a:srgbClr val="1A1A1A"/>
                </a:solidFill>
                <a:latin typeface="Arial"/>
              </a:rPr>
              <a:t>Suspected cause or steps, if known ("order 1011 created via the mobile app on 2025-02-18").</a:t>
            </a:r>
          </a:p>
          <a:p>
            <a:pPr marL="228600" indent="-228600" algn="l">
              <a:spcAft>
                <a:spcPts val="1000"/>
              </a:spcAft>
              <a:buFont typeface="Arial"/>
              <a:buChar char="•"/>
            </a:pPr>
            <a:r>
              <a:rPr sz="1700" b="0" i="0">
                <a:solidFill>
                  <a:srgbClr val="1A1A1A"/>
                </a:solidFill>
                <a:latin typeface="Arial"/>
              </a:rPr>
              <a:t>Severity / priority: your suggestion.</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48 / 62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Example Write-Up</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Rounded Rectangle 3"/>
          <p:cNvSpPr/>
          <p:nvPr/>
        </p:nvSpPr>
        <p:spPr>
          <a:xfrm>
            <a:off x="609904"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Title and rule</a:t>
            </a:r>
          </a:p>
          <a:p>
            <a:pPr algn="l">
              <a:lnSpc>
                <a:spcPct val="110000"/>
              </a:lnSpc>
              <a:spcAft>
                <a:spcPts val="600"/>
              </a:spcAft>
            </a:pPr>
            <a:r>
              <a:rPr sz="1250" b="0" i="0">
                <a:solidFill>
                  <a:srgbClr val="1A1A1A"/>
                </a:solidFill>
                <a:latin typeface="Arial"/>
              </a:rPr>
              <a:t>Orders accepted with zero or negative quantity. V-03, "Quantity must be at least 1" (spec 4.2).</a:t>
            </a:r>
          </a:p>
        </p:txBody>
      </p:sp>
      <p:sp>
        <p:nvSpPr>
          <p:cNvPr id="6" name="Rounded Rectangle 5"/>
          <p:cNvSpPr/>
          <p:nvPr/>
        </p:nvSpPr>
        <p:spPr>
          <a:xfrm>
            <a:off x="4358640" y="1783080"/>
            <a:ext cx="3474415" cy="4361688"/>
          </a:xfrm>
          <a:prstGeom prst="roundRect">
            <a:avLst>
              <a:gd name="adj" fmla="val 2368"/>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87240"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Query and evidence</a:t>
            </a:r>
          </a:p>
          <a:p>
            <a:pPr algn="l">
              <a:lnSpc>
                <a:spcPct val="110000"/>
              </a:lnSpc>
              <a:spcAft>
                <a:spcPts val="600"/>
              </a:spcAft>
            </a:pPr>
            <a:r>
              <a:rPr sz="1200" b="0" i="0">
                <a:solidFill>
                  <a:srgbClr val="330066"/>
                </a:solidFill>
                <a:latin typeface="Courier New"/>
              </a:rPr>
              <a:t>SELECT order_id, product, quantity FROM orders WHERE quantity &lt; 1;</a:t>
            </a:r>
            <a:r>
              <a:rPr sz="1250" b="0" i="0">
                <a:solidFill>
                  <a:srgbClr val="1A1A1A"/>
                </a:solidFill>
                <a:latin typeface="Arial"/>
              </a:rPr>
              <a:t> Order 1007 (quantity 0, Webcam), order 1011 (quantity -1, Wireless Mouse).</a:t>
            </a:r>
          </a:p>
        </p:txBody>
      </p:sp>
      <p:sp>
        <p:nvSpPr>
          <p:cNvPr id="8" name="Rounded Rectangle 7"/>
          <p:cNvSpPr/>
          <p:nvPr/>
        </p:nvSpPr>
        <p:spPr>
          <a:xfrm>
            <a:off x="8107375"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35975"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Impact and priority</a:t>
            </a:r>
          </a:p>
          <a:p>
            <a:pPr algn="l">
              <a:lnSpc>
                <a:spcPct val="110000"/>
              </a:lnSpc>
              <a:spcAft>
                <a:spcPts val="600"/>
              </a:spcAft>
            </a:pPr>
            <a:r>
              <a:rPr sz="1250" b="0" i="0">
                <a:solidFill>
                  <a:srgbClr val="1A1A1A"/>
                </a:solidFill>
                <a:latin typeface="Arial"/>
              </a:rPr>
              <a:t>Negative quantity could increase stock or issue a credit; zero-quantity orders create empty shipments. Suggested priority: High.</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49 / 62</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Defects, False Alarms, Questions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Rounded Rectangle 3"/>
          <p:cNvSpPr/>
          <p:nvPr/>
        </p:nvSpPr>
        <p:spPr>
          <a:xfrm>
            <a:off x="609904" y="1783080"/>
            <a:ext cx="10971885" cy="1645920"/>
          </a:xfrm>
          <a:prstGeom prst="roundRect">
            <a:avLst>
              <a:gd name="adj" fmla="val 5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20240"/>
            <a:ext cx="10514685" cy="137160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JUDGEMENT</a:t>
            </a:r>
          </a:p>
          <a:p>
            <a:pPr algn="l">
              <a:lnSpc>
                <a:spcPct val="110000"/>
              </a:lnSpc>
              <a:spcAft>
                <a:spcPts val="600"/>
              </a:spcAft>
            </a:pPr>
            <a:r>
              <a:rPr sz="1400" b="0" i="0">
                <a:solidFill>
                  <a:srgbClr val="1A1A1A"/>
                </a:solidFill>
                <a:latin typeface="Arial"/>
              </a:rPr>
              <a:t>Distinguish defects from false alarms and questions. Zero-price order 1015 might be a legitimate promotion. The right report says: "Please confirm whether a price of 0.00 is allowed. If not, this is a defect." Present evidence and ask clear questions instead of declaring everything a bug.</a:t>
            </a:r>
          </a:p>
        </p:txBody>
      </p:sp>
      <p:sp>
        <p:nvSpPr>
          <p:cNvPr id="6" name="TextBox 5"/>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50 / 62</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Working Safely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Use a test or practice database, never production, unless explicitly authorised and read-only.</a:t>
            </a:r>
          </a:p>
          <a:p>
            <a:pPr marL="228600" indent="-228600" algn="l">
              <a:spcAft>
                <a:spcPts val="1000"/>
              </a:spcAft>
              <a:buFont typeface="Arial"/>
              <a:buChar char="•"/>
            </a:pPr>
            <a:r>
              <a:rPr sz="1700" b="0" i="0">
                <a:solidFill>
                  <a:srgbClr val="1A1A1A"/>
                </a:solidFill>
                <a:latin typeface="Arial"/>
              </a:rPr>
              <a:t>Prefer read-only database accounts for validation.</a:t>
            </a:r>
          </a:p>
          <a:p>
            <a:pPr marL="228600" indent="-228600" algn="l">
              <a:spcAft>
                <a:spcPts val="1000"/>
              </a:spcAft>
              <a:buFont typeface="Arial"/>
              <a:buChar char="•"/>
            </a:pPr>
            <a:r>
              <a:rPr sz="1700" b="0" i="0">
                <a:solidFill>
                  <a:srgbClr val="1A1A1A"/>
                </a:solidFill>
                <a:latin typeface="Arial"/>
              </a:rPr>
              <a:t>Limit output when exploring large tables (</a:t>
            </a:r>
            <a:r>
              <a:rPr sz="1650" b="0" i="0">
                <a:solidFill>
                  <a:srgbClr val="330066"/>
                </a:solidFill>
                <a:latin typeface="Courier New"/>
              </a:rPr>
              <a:t>LIMIT 20</a:t>
            </a:r>
            <a:r>
              <a:rPr sz="1700" b="0" i="0">
                <a:solidFill>
                  <a:srgbClr val="1A1A1A"/>
                </a:solidFill>
                <a:latin typeface="Arial"/>
              </a:rPr>
              <a:t>): a careless </a:t>
            </a:r>
            <a:r>
              <a:rPr sz="1650" b="0" i="0">
                <a:solidFill>
                  <a:srgbClr val="330066"/>
                </a:solidFill>
                <a:latin typeface="Courier New"/>
              </a:rPr>
              <a:t>SELECT *</a:t>
            </a:r>
            <a:r>
              <a:rPr sz="1700" b="0" i="0">
                <a:solidFill>
                  <a:srgbClr val="1A1A1A"/>
                </a:solidFill>
                <a:latin typeface="Arial"/>
              </a:rPr>
              <a:t> on 100 million rows can slow a shared server.</a:t>
            </a:r>
          </a:p>
          <a:p>
            <a:pPr marL="228600" indent="-228600" algn="l">
              <a:spcAft>
                <a:spcPts val="1000"/>
              </a:spcAft>
              <a:buFont typeface="Arial"/>
              <a:buChar char="•"/>
            </a:pPr>
            <a:r>
              <a:rPr sz="1700" b="0" i="0">
                <a:solidFill>
                  <a:srgbClr val="1A1A1A"/>
                </a:solidFill>
                <a:latin typeface="Arial"/>
              </a:rPr>
              <a:t>Mind personal data: do not paste emails, names or addresses into public chats or bug trackers without masking.</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51 / 62</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Working Safely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Do not hard-code secrets in scripts committed to Git; use environment variables or a secrets manager.</a:t>
            </a:r>
          </a:p>
          <a:p>
            <a:pPr marL="228600" indent="-228600" algn="l">
              <a:spcAft>
                <a:spcPts val="1000"/>
              </a:spcAft>
              <a:buFont typeface="Arial"/>
              <a:buChar char="•"/>
            </a:pPr>
            <a:r>
              <a:rPr sz="1700" b="0" i="0">
                <a:solidFill>
                  <a:srgbClr val="1A1A1A"/>
                </a:solidFill>
                <a:latin typeface="Arial"/>
              </a:rPr>
              <a:t>Record the query you ran with the date and environment, so results can be reproduced.</a:t>
            </a:r>
          </a:p>
          <a:p>
            <a:pPr marL="228600" indent="-228600" algn="l">
              <a:spcAft>
                <a:spcPts val="1000"/>
              </a:spcAft>
              <a:buFont typeface="Arial"/>
              <a:buChar char="•"/>
            </a:pPr>
            <a:r>
              <a:rPr sz="1700" b="0" i="0">
                <a:solidFill>
                  <a:srgbClr val="1A1A1A"/>
                </a:solidFill>
                <a:latin typeface="Arial"/>
              </a:rPr>
              <a:t>Check which database you are connected to before running anything: querying staging while thinking it is dev is very common.</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52 / 62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Dialects for Validation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graphicFrame>
        <p:nvGraphicFramePr>
          <p:cNvPr id="4" name="Table 3"/>
          <p:cNvGraphicFramePr>
            <a:graphicFrameLocks noGrp="1"/>
          </p:cNvGraphicFramePr>
          <p:nvPr/>
        </p:nvGraphicFramePr>
        <p:xfrm>
          <a:off x="609904" y="1783080"/>
          <a:ext cx="10971882" cy="2327910"/>
        </p:xfrm>
        <a:graphic>
          <a:graphicData uri="http://schemas.openxmlformats.org/drawingml/2006/table">
            <a:tbl>
              <a:tblPr/>
              <a:tblGrid>
                <a:gridCol w="1755501">
                  <a:extLst>
                    <a:ext uri="{9D8B030D-6E8A-4147-A177-3AD203B41FA5}">
                      <a16:colId xmlns:a16="http://schemas.microsoft.com/office/drawing/2014/main" val="20000"/>
                    </a:ext>
                  </a:extLst>
                </a:gridCol>
                <a:gridCol w="1536063">
                  <a:extLst>
                    <a:ext uri="{9D8B030D-6E8A-4147-A177-3AD203B41FA5}">
                      <a16:colId xmlns:a16="http://schemas.microsoft.com/office/drawing/2014/main" val="20001"/>
                    </a:ext>
                  </a:extLst>
                </a:gridCol>
                <a:gridCol w="1865220">
                  <a:extLst>
                    <a:ext uri="{9D8B030D-6E8A-4147-A177-3AD203B41FA5}">
                      <a16:colId xmlns:a16="http://schemas.microsoft.com/office/drawing/2014/main" val="20002"/>
                    </a:ext>
                  </a:extLst>
                </a:gridCol>
                <a:gridCol w="1865220">
                  <a:extLst>
                    <a:ext uri="{9D8B030D-6E8A-4147-A177-3AD203B41FA5}">
                      <a16:colId xmlns:a16="http://schemas.microsoft.com/office/drawing/2014/main" val="20003"/>
                    </a:ext>
                  </a:extLst>
                </a:gridCol>
                <a:gridCol w="2084658">
                  <a:extLst>
                    <a:ext uri="{9D8B030D-6E8A-4147-A177-3AD203B41FA5}">
                      <a16:colId xmlns:a16="http://schemas.microsoft.com/office/drawing/2014/main" val="20004"/>
                    </a:ext>
                  </a:extLst>
                </a:gridCol>
                <a:gridCol w="1865220">
                  <a:extLst>
                    <a:ext uri="{9D8B030D-6E8A-4147-A177-3AD203B41FA5}">
                      <a16:colId xmlns:a16="http://schemas.microsoft.com/office/drawing/2014/main" val="20005"/>
                    </a:ext>
                  </a:extLst>
                </a:gridCol>
              </a:tblGrid>
              <a:tr h="384048">
                <a:tc>
                  <a:txBody>
                    <a:bodyPr/>
                    <a:lstStyle/>
                    <a:p>
                      <a:r>
                        <a:rPr sz="1150" b="1">
                          <a:solidFill>
                            <a:srgbClr val="FFFFFF"/>
                          </a:solidFill>
                          <a:latin typeface="Arial"/>
                        </a:rPr>
                        <a:t>Task</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150" b="1">
                          <a:solidFill>
                            <a:srgbClr val="FFFFFF"/>
                          </a:solidFill>
                          <a:latin typeface="Arial"/>
                        </a:rPr>
                        <a:t>SQLite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150" b="1">
                          <a:solidFill>
                            <a:srgbClr val="FFFFFF"/>
                          </a:solidFill>
                          <a:latin typeface="Arial"/>
                        </a:rPr>
                        <a:t>MySQL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150" b="1">
                          <a:solidFill>
                            <a:srgbClr val="FFFFFF"/>
                          </a:solidFill>
                          <a:latin typeface="Arial"/>
                        </a:rPr>
                        <a:t>PostgreSQL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150" b="1">
                          <a:solidFill>
                            <a:srgbClr val="FFFFFF"/>
                          </a:solidFill>
                          <a:latin typeface="Arial"/>
                        </a:rPr>
                        <a:t>SQL Server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150" b="1">
                          <a:solidFill>
                            <a:srgbClr val="FFFFFF"/>
                          </a:solidFill>
                          <a:latin typeface="Arial"/>
                        </a:rPr>
                        <a:t>Oracle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526034">
                <a:tc>
                  <a:txBody>
                    <a:bodyPr/>
                    <a:lstStyle/>
                    <a:p>
                      <a:r>
                        <a:rPr sz="1150" b="0">
                          <a:solidFill>
                            <a:srgbClr val="1A1A1A"/>
                          </a:solidFill>
                          <a:latin typeface="Arial"/>
                        </a:rPr>
                        <a:t>Today's date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00" b="0" i="0">
                          <a:solidFill>
                            <a:srgbClr val="330066"/>
                          </a:solidFill>
                          <a:latin typeface="Courier New"/>
                        </a:rPr>
                        <a:t>date('now')</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00" b="0" i="0">
                          <a:solidFill>
                            <a:srgbClr val="330066"/>
                          </a:solidFill>
                          <a:latin typeface="Courier New"/>
                        </a:rPr>
                        <a:t>CURDATE()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00" b="0" i="0">
                          <a:solidFill>
                            <a:srgbClr val="330066"/>
                          </a:solidFill>
                          <a:latin typeface="Courier New"/>
                        </a:rPr>
                        <a:t>CURRENT_DATE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00" b="0" i="0">
                          <a:solidFill>
                            <a:srgbClr val="330066"/>
                          </a:solidFill>
                          <a:latin typeface="Courier New"/>
                        </a:rPr>
                        <a:t>CAST(GETDATE() AS DATE)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00" b="0" i="0">
                          <a:solidFill>
                            <a:srgbClr val="330066"/>
                          </a:solidFill>
                          <a:latin typeface="Courier New"/>
                        </a:rPr>
                        <a:t>TRUNC(SYSDATE)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526034">
                <a:tc>
                  <a:txBody>
                    <a:bodyPr/>
                    <a:lstStyle/>
                    <a:p>
                      <a:r>
                        <a:rPr sz="1150" b="0">
                          <a:solidFill>
                            <a:srgbClr val="1A1A1A"/>
                          </a:solidFill>
                          <a:latin typeface="Arial"/>
                        </a:rPr>
                        <a:t>Regex match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150" b="0">
                          <a:solidFill>
                            <a:srgbClr val="1A1A1A"/>
                          </a:solidFill>
                          <a:latin typeface="Arial"/>
                        </a:rPr>
                        <a:t>(extension needed)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100" b="0" i="0">
                          <a:solidFill>
                            <a:srgbClr val="330066"/>
                          </a:solidFill>
                          <a:latin typeface="Courier New"/>
                        </a:rPr>
                        <a:t>col REGEXP 'pat'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100" b="0" i="0">
                          <a:solidFill>
                            <a:srgbClr val="330066"/>
                          </a:solidFill>
                          <a:latin typeface="Courier New"/>
                        </a:rPr>
                        <a:t>col ~ 'pat'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150" b="0" i="0">
                          <a:solidFill>
                            <a:srgbClr val="1A1A1A"/>
                          </a:solidFill>
                          <a:latin typeface="Arial"/>
                        </a:rPr>
                        <a:t>(use </a:t>
                      </a:r>
                      <a:r>
                        <a:rPr sz="1100" b="0" i="0">
                          <a:solidFill>
                            <a:srgbClr val="330066"/>
                          </a:solidFill>
                          <a:latin typeface="Courier New"/>
                        </a:rPr>
                        <a:t>LIKE</a:t>
                      </a:r>
                      <a:r>
                        <a:rPr sz="1150" b="0" i="0">
                          <a:solidFill>
                            <a:srgbClr val="1A1A1A"/>
                          </a:solidFill>
                          <a:latin typeface="Arial"/>
                        </a:rPr>
                        <a:t> / CLR)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100" b="0" i="0">
                          <a:solidFill>
                            <a:srgbClr val="330066"/>
                          </a:solidFill>
                          <a:latin typeface="Courier New"/>
                        </a:rPr>
                        <a:t>REGEXP_LIKE(col, 'pat')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365760">
                <a:tc>
                  <a:txBody>
                    <a:bodyPr/>
                    <a:lstStyle/>
                    <a:p>
                      <a:r>
                        <a:rPr sz="1150" b="0">
                          <a:solidFill>
                            <a:srgbClr val="1A1A1A"/>
                          </a:solidFill>
                          <a:latin typeface="Arial"/>
                        </a:rPr>
                        <a:t>Text equality case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50" b="0">
                          <a:solidFill>
                            <a:srgbClr val="1A1A1A"/>
                          </a:solidFill>
                          <a:latin typeface="Arial"/>
                        </a:rPr>
                        <a:t>sensitive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50" b="0">
                          <a:solidFill>
                            <a:srgbClr val="1A1A1A"/>
                          </a:solidFill>
                          <a:latin typeface="Arial"/>
                        </a:rPr>
                        <a:t>insensitive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50" b="0">
                          <a:solidFill>
                            <a:srgbClr val="1A1A1A"/>
                          </a:solidFill>
                          <a:latin typeface="Arial"/>
                        </a:rPr>
                        <a:t>sensitive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50" b="0">
                          <a:solidFill>
                            <a:srgbClr val="1A1A1A"/>
                          </a:solidFill>
                          <a:latin typeface="Arial"/>
                        </a:rPr>
                        <a:t>insensitive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50" b="0">
                          <a:solidFill>
                            <a:srgbClr val="1A1A1A"/>
                          </a:solidFill>
                          <a:latin typeface="Arial"/>
                        </a:rPr>
                        <a:t>sensitive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526034">
                <a:tc>
                  <a:txBody>
                    <a:bodyPr/>
                    <a:lstStyle/>
                    <a:p>
                      <a:r>
                        <a:rPr sz="1150" b="0">
                          <a:solidFill>
                            <a:srgbClr val="1A1A1A"/>
                          </a:solidFill>
                          <a:latin typeface="Arial"/>
                        </a:rPr>
                        <a:t>String length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100" b="0" i="0">
                          <a:solidFill>
                            <a:srgbClr val="330066"/>
                          </a:solidFill>
                          <a:latin typeface="Courier New"/>
                        </a:rPr>
                        <a:t>LENGTH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100" b="0" i="0">
                          <a:solidFill>
                            <a:srgbClr val="330066"/>
                          </a:solidFill>
                          <a:latin typeface="Courier New"/>
                        </a:rPr>
                        <a:t>LENGTH</a:t>
                      </a:r>
                      <a:r>
                        <a:rPr sz="1150" b="0" i="0">
                          <a:solidFill>
                            <a:srgbClr val="1A1A1A"/>
                          </a:solidFill>
                          <a:latin typeface="Arial"/>
                        </a:rPr>
                        <a:t> / </a:t>
                      </a:r>
                      <a:r>
                        <a:rPr sz="1100" b="0" i="0">
                          <a:solidFill>
                            <a:srgbClr val="330066"/>
                          </a:solidFill>
                          <a:latin typeface="Courier New"/>
                        </a:rPr>
                        <a:t>CHAR_LENGTH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100" b="0" i="0">
                          <a:solidFill>
                            <a:srgbClr val="330066"/>
                          </a:solidFill>
                          <a:latin typeface="Courier New"/>
                        </a:rPr>
                        <a:t>LENGTH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100" b="0" i="0">
                          <a:solidFill>
                            <a:srgbClr val="330066"/>
                          </a:solidFill>
                          <a:latin typeface="Courier New"/>
                        </a:rPr>
                        <a:t>LEN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100" b="0" i="0">
                          <a:solidFill>
                            <a:srgbClr val="330066"/>
                          </a:solidFill>
                          <a:latin typeface="Courier New"/>
                        </a:rPr>
                        <a:t>LENGTH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53 / 62</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Dialects for Validation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graphicFrame>
        <p:nvGraphicFramePr>
          <p:cNvPr id="4" name="Table 3"/>
          <p:cNvGraphicFramePr>
            <a:graphicFrameLocks noGrp="1"/>
          </p:cNvGraphicFramePr>
          <p:nvPr/>
        </p:nvGraphicFramePr>
        <p:xfrm>
          <a:off x="609904" y="1783080"/>
          <a:ext cx="10971882" cy="1481328"/>
        </p:xfrm>
        <a:graphic>
          <a:graphicData uri="http://schemas.openxmlformats.org/drawingml/2006/table">
            <a:tbl>
              <a:tblPr/>
              <a:tblGrid>
                <a:gridCol w="1755501">
                  <a:extLst>
                    <a:ext uri="{9D8B030D-6E8A-4147-A177-3AD203B41FA5}">
                      <a16:colId xmlns:a16="http://schemas.microsoft.com/office/drawing/2014/main" val="20000"/>
                    </a:ext>
                  </a:extLst>
                </a:gridCol>
                <a:gridCol w="1536063">
                  <a:extLst>
                    <a:ext uri="{9D8B030D-6E8A-4147-A177-3AD203B41FA5}">
                      <a16:colId xmlns:a16="http://schemas.microsoft.com/office/drawing/2014/main" val="20001"/>
                    </a:ext>
                  </a:extLst>
                </a:gridCol>
                <a:gridCol w="1865220">
                  <a:extLst>
                    <a:ext uri="{9D8B030D-6E8A-4147-A177-3AD203B41FA5}">
                      <a16:colId xmlns:a16="http://schemas.microsoft.com/office/drawing/2014/main" val="20002"/>
                    </a:ext>
                  </a:extLst>
                </a:gridCol>
                <a:gridCol w="1865220">
                  <a:extLst>
                    <a:ext uri="{9D8B030D-6E8A-4147-A177-3AD203B41FA5}">
                      <a16:colId xmlns:a16="http://schemas.microsoft.com/office/drawing/2014/main" val="20003"/>
                    </a:ext>
                  </a:extLst>
                </a:gridCol>
                <a:gridCol w="2084658">
                  <a:extLst>
                    <a:ext uri="{9D8B030D-6E8A-4147-A177-3AD203B41FA5}">
                      <a16:colId xmlns:a16="http://schemas.microsoft.com/office/drawing/2014/main" val="20004"/>
                    </a:ext>
                  </a:extLst>
                </a:gridCol>
                <a:gridCol w="1865220">
                  <a:extLst>
                    <a:ext uri="{9D8B030D-6E8A-4147-A177-3AD203B41FA5}">
                      <a16:colId xmlns:a16="http://schemas.microsoft.com/office/drawing/2014/main" val="20005"/>
                    </a:ext>
                  </a:extLst>
                </a:gridCol>
              </a:tblGrid>
              <a:tr h="384048">
                <a:tc>
                  <a:txBody>
                    <a:bodyPr/>
                    <a:lstStyle/>
                    <a:p>
                      <a:r>
                        <a:rPr sz="1150" b="1">
                          <a:solidFill>
                            <a:srgbClr val="FFFFFF"/>
                          </a:solidFill>
                          <a:latin typeface="Arial"/>
                        </a:rPr>
                        <a:t>Task</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150" b="1">
                          <a:solidFill>
                            <a:srgbClr val="FFFFFF"/>
                          </a:solidFill>
                          <a:latin typeface="Arial"/>
                        </a:rPr>
                        <a:t>SQLite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150" b="1">
                          <a:solidFill>
                            <a:srgbClr val="FFFFFF"/>
                          </a:solidFill>
                          <a:latin typeface="Arial"/>
                        </a:rPr>
                        <a:t>MySQL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150" b="1">
                          <a:solidFill>
                            <a:srgbClr val="FFFFFF"/>
                          </a:solidFill>
                          <a:latin typeface="Arial"/>
                        </a:rPr>
                        <a:t>PostgreSQL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150" b="1">
                          <a:solidFill>
                            <a:srgbClr val="FFFFFF"/>
                          </a:solidFill>
                          <a:latin typeface="Arial"/>
                        </a:rPr>
                        <a:t>SQL Server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150" b="1">
                          <a:solidFill>
                            <a:srgbClr val="FFFFFF"/>
                          </a:solidFill>
                          <a:latin typeface="Arial"/>
                        </a:rPr>
                        <a:t>Oracle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65760">
                <a:tc>
                  <a:txBody>
                    <a:bodyPr/>
                    <a:lstStyle/>
                    <a:p>
                      <a:r>
                        <a:rPr sz="1150" b="0">
                          <a:solidFill>
                            <a:srgbClr val="1A1A1A"/>
                          </a:solidFill>
                          <a:latin typeface="Arial"/>
                        </a:rPr>
                        <a:t>Blank vs NULL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50" b="0">
                          <a:solidFill>
                            <a:srgbClr val="1A1A1A"/>
                          </a:solidFill>
                          <a:latin typeface="Arial"/>
                        </a:rPr>
                        <a:t>different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50" b="0">
                          <a:solidFill>
                            <a:srgbClr val="1A1A1A"/>
                          </a:solidFill>
                          <a:latin typeface="Arial"/>
                        </a:rPr>
                        <a:t>different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50" b="0">
                          <a:solidFill>
                            <a:srgbClr val="1A1A1A"/>
                          </a:solidFill>
                          <a:latin typeface="Arial"/>
                        </a:rPr>
                        <a:t>different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50" b="0">
                          <a:solidFill>
                            <a:srgbClr val="1A1A1A"/>
                          </a:solidFill>
                          <a:latin typeface="Arial"/>
                        </a:rPr>
                        <a:t>different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00" b="0" i="0">
                          <a:solidFill>
                            <a:srgbClr val="330066"/>
                          </a:solidFill>
                          <a:latin typeface="Courier New"/>
                        </a:rPr>
                        <a:t>''</a:t>
                      </a:r>
                      <a:r>
                        <a:rPr sz="1150" b="0" i="0">
                          <a:solidFill>
                            <a:srgbClr val="1A1A1A"/>
                          </a:solidFill>
                          <a:latin typeface="Arial"/>
                        </a:rPr>
                        <a:t> is NULL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365760">
                <a:tc>
                  <a:txBody>
                    <a:bodyPr/>
                    <a:lstStyle/>
                    <a:p>
                      <a:r>
                        <a:rPr sz="1150" b="0">
                          <a:solidFill>
                            <a:srgbClr val="1A1A1A"/>
                          </a:solidFill>
                          <a:latin typeface="Arial"/>
                        </a:rPr>
                        <a:t>Limit rows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100" b="0" i="0">
                          <a:solidFill>
                            <a:srgbClr val="330066"/>
                          </a:solidFill>
                          <a:latin typeface="Courier New"/>
                        </a:rPr>
                        <a:t>LIMIT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100" b="0" i="0">
                          <a:solidFill>
                            <a:srgbClr val="330066"/>
                          </a:solidFill>
                          <a:latin typeface="Courier New"/>
                        </a:rPr>
                        <a:t>LIMIT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100" b="0" i="0">
                          <a:solidFill>
                            <a:srgbClr val="330066"/>
                          </a:solidFill>
                          <a:latin typeface="Courier New"/>
                        </a:rPr>
                        <a:t>LIMIT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100" b="0" i="0">
                          <a:solidFill>
                            <a:srgbClr val="330066"/>
                          </a:solidFill>
                          <a:latin typeface="Courier New"/>
                        </a:rPr>
                        <a:t>TOP</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100" b="0" i="0">
                          <a:solidFill>
                            <a:srgbClr val="330066"/>
                          </a:solidFill>
                          <a:latin typeface="Courier New"/>
                        </a:rPr>
                        <a:t>FETCH FIRST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365760">
                <a:tc>
                  <a:txBody>
                    <a:bodyPr/>
                    <a:lstStyle/>
                    <a:p>
                      <a:r>
                        <a:rPr sz="1150" b="0">
                          <a:solidFill>
                            <a:srgbClr val="1A1A1A"/>
                          </a:solidFill>
                          <a:latin typeface="Arial"/>
                        </a:rPr>
                        <a:t>Type strictness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50" b="0">
                          <a:solidFill>
                            <a:srgbClr val="1A1A1A"/>
                          </a:solidFill>
                          <a:latin typeface="Arial"/>
                        </a:rPr>
                        <a:t>lenient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50" b="0">
                          <a:solidFill>
                            <a:srgbClr val="1A1A1A"/>
                          </a:solidFill>
                          <a:latin typeface="Arial"/>
                        </a:rPr>
                        <a:t>strict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50" b="0">
                          <a:solidFill>
                            <a:srgbClr val="1A1A1A"/>
                          </a:solidFill>
                          <a:latin typeface="Arial"/>
                        </a:rPr>
                        <a:t>strict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50" b="0">
                          <a:solidFill>
                            <a:srgbClr val="1A1A1A"/>
                          </a:solidFill>
                          <a:latin typeface="Arial"/>
                        </a:rPr>
                        <a:t>strict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150" b="0">
                          <a:solidFill>
                            <a:srgbClr val="1A1A1A"/>
                          </a:solidFill>
                          <a:latin typeface="Arial"/>
                        </a:rPr>
                        <a:t>strict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54 / 62</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Dialect Takeaways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Rounded Rectangle 3"/>
          <p:cNvSpPr/>
          <p:nvPr/>
        </p:nvSpPr>
        <p:spPr>
          <a:xfrm>
            <a:off x="609904"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Case sensitivity</a:t>
            </a:r>
          </a:p>
          <a:p>
            <a:pPr algn="l">
              <a:lnSpc>
                <a:spcPct val="110000"/>
              </a:lnSpc>
              <a:spcAft>
                <a:spcPts val="600"/>
              </a:spcAft>
            </a:pPr>
            <a:r>
              <a:rPr sz="1400" b="0" i="0">
                <a:solidFill>
                  <a:srgbClr val="1A1A1A"/>
                </a:solidFill>
                <a:latin typeface="Arial"/>
              </a:rPr>
              <a:t>A rule can pass on one engine and fail on another. Test on the real target.</a:t>
            </a:r>
          </a:p>
        </p:txBody>
      </p:sp>
      <p:sp>
        <p:nvSpPr>
          <p:cNvPr id="6" name="Rounded Rectangle 5"/>
          <p:cNvSpPr/>
          <p:nvPr/>
        </p:nvSpPr>
        <p:spPr>
          <a:xfrm>
            <a:off x="4358640" y="1783080"/>
            <a:ext cx="3474415" cy="4361688"/>
          </a:xfrm>
          <a:prstGeom prst="roundRect">
            <a:avLst>
              <a:gd name="adj" fmla="val 2368"/>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87240"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Oracle</a:t>
            </a:r>
          </a:p>
          <a:p>
            <a:pPr algn="l">
              <a:lnSpc>
                <a:spcPct val="110000"/>
              </a:lnSpc>
              <a:spcAft>
                <a:spcPts val="600"/>
              </a:spcAft>
            </a:pPr>
            <a:r>
              <a:rPr sz="1400" b="0" i="0">
                <a:solidFill>
                  <a:srgbClr val="1A1A1A"/>
                </a:solidFill>
                <a:latin typeface="Arial"/>
              </a:rPr>
              <a:t>Empty string is NULL, which changes how you write "missing" checks.</a:t>
            </a:r>
          </a:p>
        </p:txBody>
      </p:sp>
      <p:sp>
        <p:nvSpPr>
          <p:cNvPr id="8" name="Rounded Rectangle 7"/>
          <p:cNvSpPr/>
          <p:nvPr/>
        </p:nvSpPr>
        <p:spPr>
          <a:xfrm>
            <a:off x="8107375"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35975"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SQLite</a:t>
            </a:r>
          </a:p>
          <a:p>
            <a:pPr algn="l">
              <a:lnSpc>
                <a:spcPct val="110000"/>
              </a:lnSpc>
              <a:spcAft>
                <a:spcPts val="600"/>
              </a:spcAft>
            </a:pPr>
            <a:r>
              <a:rPr sz="1400" b="0" i="0">
                <a:solidFill>
                  <a:srgbClr val="1A1A1A"/>
                </a:solidFill>
                <a:latin typeface="Arial"/>
              </a:rPr>
              <a:t>Lenient with types, so it may let in bad data stricter engines reject: more validation, not less.</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55 / 62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Beyond One Table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graphicFrame>
        <p:nvGraphicFramePr>
          <p:cNvPr id="4" name="Table 3"/>
          <p:cNvGraphicFramePr>
            <a:graphicFrameLocks noGrp="1"/>
          </p:cNvGraphicFramePr>
          <p:nvPr/>
        </p:nvGraphicFramePr>
        <p:xfrm>
          <a:off x="609904" y="1783080"/>
          <a:ext cx="10971884" cy="1900934"/>
        </p:xfrm>
        <a:graphic>
          <a:graphicData uri="http://schemas.openxmlformats.org/drawingml/2006/table">
            <a:tbl>
              <a:tblPr/>
              <a:tblGrid>
                <a:gridCol w="4169316">
                  <a:extLst>
                    <a:ext uri="{9D8B030D-6E8A-4147-A177-3AD203B41FA5}">
                      <a16:colId xmlns:a16="http://schemas.microsoft.com/office/drawing/2014/main" val="20000"/>
                    </a:ext>
                  </a:extLst>
                </a:gridCol>
                <a:gridCol w="3291565">
                  <a:extLst>
                    <a:ext uri="{9D8B030D-6E8A-4147-A177-3AD203B41FA5}">
                      <a16:colId xmlns:a16="http://schemas.microsoft.com/office/drawing/2014/main" val="20001"/>
                    </a:ext>
                  </a:extLst>
                </a:gridCol>
                <a:gridCol w="3511003">
                  <a:extLst>
                    <a:ext uri="{9D8B030D-6E8A-4147-A177-3AD203B41FA5}">
                      <a16:colId xmlns:a16="http://schemas.microsoft.com/office/drawing/2014/main" val="20002"/>
                    </a:ext>
                  </a:extLst>
                </a:gridCol>
              </a:tblGrid>
              <a:tr h="384048">
                <a:tc>
                  <a:txBody>
                    <a:bodyPr/>
                    <a:lstStyle/>
                    <a:p>
                      <a:r>
                        <a:rPr sz="1300" b="1">
                          <a:solidFill>
                            <a:srgbClr val="FFFFFF"/>
                          </a:solidFill>
                          <a:latin typeface="Arial"/>
                        </a:rPr>
                        <a:t>Need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Today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Coming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575563">
                <a:tc>
                  <a:txBody>
                    <a:bodyPr/>
                    <a:lstStyle/>
                    <a:p>
                      <a:r>
                        <a:rPr sz="1300" b="0">
                          <a:solidFill>
                            <a:srgbClr val="1A1A1A"/>
                          </a:solidFill>
                          <a:latin typeface="Arial"/>
                        </a:rPr>
                        <a:t>Find duplicate business keys automatically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i="0">
                          <a:solidFill>
                            <a:srgbClr val="1A1A1A"/>
                          </a:solidFill>
                          <a:latin typeface="Arial"/>
                        </a:rPr>
                        <a:t>Eyeball with </a:t>
                      </a:r>
                      <a:r>
                        <a:rPr sz="1250" b="0" i="0">
                          <a:solidFill>
                            <a:srgbClr val="330066"/>
                          </a:solidFill>
                          <a:latin typeface="Courier New"/>
                        </a:rPr>
                        <a:t>ORDER BY</a:t>
                      </a:r>
                      <a:r>
                        <a:rPr sz="1300" b="0" i="0">
                          <a:solidFill>
                            <a:srgbClr val="1A1A1A"/>
                          </a:solidFill>
                          <a:latin typeface="Arial"/>
                        </a:rPr>
                        <a:t> / </a:t>
                      </a:r>
                      <a:r>
                        <a:rPr sz="1250" b="0" i="0">
                          <a:solidFill>
                            <a:srgbClr val="330066"/>
                          </a:solidFill>
                          <a:latin typeface="Courier New"/>
                        </a:rPr>
                        <a:t>DISTINCT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i="0">
                          <a:solidFill>
                            <a:srgbClr val="1A1A1A"/>
                          </a:solidFill>
                          <a:latin typeface="Arial"/>
                        </a:rPr>
                        <a:t>Friday: </a:t>
                      </a:r>
                      <a:r>
                        <a:rPr sz="1250" b="0" i="0">
                          <a:solidFill>
                            <a:srgbClr val="330066"/>
                          </a:solidFill>
                          <a:latin typeface="Courier New"/>
                        </a:rPr>
                        <a:t>GROUP BY</a:t>
                      </a:r>
                      <a:r>
                        <a:rPr sz="1300" b="0" i="0">
                          <a:solidFill>
                            <a:srgbClr val="1A1A1A"/>
                          </a:solidFill>
                          <a:latin typeface="Arial"/>
                        </a:rPr>
                        <a:t>, </a:t>
                      </a:r>
                      <a:r>
                        <a:rPr sz="1250" b="0" i="0">
                          <a:solidFill>
                            <a:srgbClr val="330066"/>
                          </a:solidFill>
                          <a:latin typeface="Courier New"/>
                        </a:rPr>
                        <a:t>HAVING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365760">
                <a:tc>
                  <a:txBody>
                    <a:bodyPr/>
                    <a:lstStyle/>
                    <a:p>
                      <a:r>
                        <a:rPr sz="1300" b="0">
                          <a:solidFill>
                            <a:srgbClr val="1A1A1A"/>
                          </a:solidFill>
                          <a:latin typeface="Arial"/>
                        </a:rPr>
                        <a:t>Totals, averages, min/max, counts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Calculated columns only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Friday: aggregate functions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575563">
                <a:tc>
                  <a:txBody>
                    <a:bodyPr/>
                    <a:lstStyle/>
                    <a:p>
                      <a:r>
                        <a:rPr sz="1300" b="0">
                          <a:solidFill>
                            <a:srgbClr val="1A1A1A"/>
                          </a:solidFill>
                          <a:latin typeface="Arial"/>
                        </a:rPr>
                        <a:t>Compare data across tables (orders vs customers)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Not possible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Friday: JOINs, multi-table queries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56 / 62</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Beyond One Table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graphicFrame>
        <p:nvGraphicFramePr>
          <p:cNvPr id="4" name="Table 3"/>
          <p:cNvGraphicFramePr>
            <a:graphicFrameLocks noGrp="1"/>
          </p:cNvGraphicFramePr>
          <p:nvPr/>
        </p:nvGraphicFramePr>
        <p:xfrm>
          <a:off x="609904" y="1783080"/>
          <a:ext cx="10971884" cy="1900934"/>
        </p:xfrm>
        <a:graphic>
          <a:graphicData uri="http://schemas.openxmlformats.org/drawingml/2006/table">
            <a:tbl>
              <a:tblPr/>
              <a:tblGrid>
                <a:gridCol w="4169316">
                  <a:extLst>
                    <a:ext uri="{9D8B030D-6E8A-4147-A177-3AD203B41FA5}">
                      <a16:colId xmlns:a16="http://schemas.microsoft.com/office/drawing/2014/main" val="20000"/>
                    </a:ext>
                  </a:extLst>
                </a:gridCol>
                <a:gridCol w="3291565">
                  <a:extLst>
                    <a:ext uri="{9D8B030D-6E8A-4147-A177-3AD203B41FA5}">
                      <a16:colId xmlns:a16="http://schemas.microsoft.com/office/drawing/2014/main" val="20001"/>
                    </a:ext>
                  </a:extLst>
                </a:gridCol>
                <a:gridCol w="3511003">
                  <a:extLst>
                    <a:ext uri="{9D8B030D-6E8A-4147-A177-3AD203B41FA5}">
                      <a16:colId xmlns:a16="http://schemas.microsoft.com/office/drawing/2014/main" val="20002"/>
                    </a:ext>
                  </a:extLst>
                </a:gridCol>
              </a:tblGrid>
              <a:tr h="384048">
                <a:tc>
                  <a:txBody>
                    <a:bodyPr/>
                    <a:lstStyle/>
                    <a:p>
                      <a:r>
                        <a:rPr sz="1300" b="1">
                          <a:solidFill>
                            <a:srgbClr val="FFFFFF"/>
                          </a:solidFill>
                          <a:latin typeface="Arial"/>
                        </a:rPr>
                        <a:t>Need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Today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Coming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575563">
                <a:tc>
                  <a:txBody>
                    <a:bodyPr/>
                    <a:lstStyle/>
                    <a:p>
                      <a:r>
                        <a:rPr sz="1300" b="0">
                          <a:solidFill>
                            <a:srgbClr val="1A1A1A"/>
                          </a:solidFill>
                          <a:latin typeface="Arial"/>
                        </a:rPr>
                        <a:t>Find "orphan" rows (orders with no customer)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Not possible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Friday: LEFT JOIN, subqueries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575563">
                <a:tc>
                  <a:txBody>
                    <a:bodyPr/>
                    <a:lstStyle/>
                    <a:p>
                      <a:r>
                        <a:rPr sz="1300" b="0">
                          <a:solidFill>
                            <a:srgbClr val="1A1A1A"/>
                          </a:solidFill>
                          <a:latin typeface="Arial"/>
                        </a:rPr>
                        <a:t>Enforce rules inside the database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i="0">
                          <a:solidFill>
                            <a:srgbClr val="1A1A1A"/>
                          </a:solidFill>
                          <a:latin typeface="Arial"/>
                        </a:rPr>
                        <a:t>Only noticed in passing (</a:t>
                      </a:r>
                      <a:r>
                        <a:rPr sz="1250" b="0" i="0">
                          <a:solidFill>
                            <a:srgbClr val="330066"/>
                          </a:solidFill>
                          <a:latin typeface="Courier New"/>
                        </a:rPr>
                        <a:t>PRIMARY KEY</a:t>
                      </a:r>
                      <a:r>
                        <a:rPr sz="1300" b="0" i="0">
                          <a:solidFill>
                            <a:srgbClr val="1A1A1A"/>
                          </a:solidFill>
                          <a:latin typeface="Arial"/>
                        </a:rPr>
                        <a:t>, </a:t>
                      </a:r>
                      <a:r>
                        <a:rPr sz="1250" b="0" i="0">
                          <a:solidFill>
                            <a:srgbClr val="330066"/>
                          </a:solidFill>
                          <a:latin typeface="Courier New"/>
                        </a:rPr>
                        <a:t>NOT NULL</a:t>
                      </a:r>
                      <a:r>
                        <a:rPr sz="1300" b="0" i="0">
                          <a:solidFill>
                            <a:srgbClr val="1A1A1A"/>
                          </a:solidFill>
                          <a:latin typeface="Arial"/>
                        </a:rPr>
                        <a: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Friday: constraints, primary and foreign keys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365760">
                <a:tc>
                  <a:txBody>
                    <a:bodyPr/>
                    <a:lstStyle/>
                    <a:p>
                      <a:r>
                        <a:rPr sz="1300" b="0">
                          <a:solidFill>
                            <a:srgbClr val="1A1A1A"/>
                          </a:solidFill>
                          <a:latin typeface="Arial"/>
                        </a:rPr>
                        <a:t>Create or fix test data</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Only read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i="0">
                          <a:solidFill>
                            <a:srgbClr val="1A1A1A"/>
                          </a:solidFill>
                          <a:latin typeface="Arial"/>
                        </a:rPr>
                        <a:t>Friday: </a:t>
                      </a:r>
                      <a:r>
                        <a:rPr sz="1250" b="0" i="0">
                          <a:solidFill>
                            <a:srgbClr val="330066"/>
                          </a:solidFill>
                          <a:latin typeface="Courier New"/>
                        </a:rPr>
                        <a:t>INSERT</a:t>
                      </a:r>
                      <a:r>
                        <a:rPr sz="1300" b="0" i="0">
                          <a:solidFill>
                            <a:srgbClr val="1A1A1A"/>
                          </a:solidFill>
                          <a:latin typeface="Arial"/>
                        </a:rPr>
                        <a:t>, </a:t>
                      </a:r>
                      <a:r>
                        <a:rPr sz="1250" b="0" i="0">
                          <a:solidFill>
                            <a:srgbClr val="330066"/>
                          </a:solidFill>
                          <a:latin typeface="Courier New"/>
                        </a:rPr>
                        <a:t>UPDATE</a:t>
                      </a:r>
                      <a:r>
                        <a:rPr sz="1300" b="0" i="0">
                          <a:solidFill>
                            <a:srgbClr val="1A1A1A"/>
                          </a:solidFill>
                          <a:latin typeface="Arial"/>
                        </a:rPr>
                        <a:t>, </a:t>
                      </a:r>
                      <a:r>
                        <a:rPr sz="1250" b="0" i="0">
                          <a:solidFill>
                            <a:srgbClr val="330066"/>
                          </a:solidFill>
                          <a:latin typeface="Courier New"/>
                        </a:rPr>
                        <a:t>DELETE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bl>
          </a:graphicData>
        </a:graphic>
      </p:graphicFrame>
      <p:sp>
        <p:nvSpPr>
          <p:cNvPr id="5" name="Rounded Rectangle 4"/>
          <p:cNvSpPr/>
          <p:nvPr/>
        </p:nvSpPr>
        <p:spPr>
          <a:xfrm>
            <a:off x="609904" y="5047488"/>
            <a:ext cx="10971885" cy="1005840"/>
          </a:xfrm>
          <a:prstGeom prst="roundRect">
            <a:avLst>
              <a:gd name="adj" fmla="val 8181"/>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38504" y="5184648"/>
            <a:ext cx="10514685" cy="73152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NEXT</a:t>
            </a:r>
          </a:p>
          <a:p>
            <a:pPr algn="l">
              <a:lnSpc>
                <a:spcPct val="110000"/>
              </a:lnSpc>
              <a:spcAft>
                <a:spcPts val="600"/>
              </a:spcAft>
            </a:pPr>
            <a:r>
              <a:rPr sz="1400" b="0" i="0">
                <a:solidFill>
                  <a:srgbClr val="1A1A1A"/>
                </a:solidFill>
                <a:latin typeface="Arial"/>
              </a:rPr>
              <a:t>Everything today was one table. Each need is covered on Friday under Test-data validation using SQL; every Friday query still has a SELECT, a FROM and a WHERE.</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57 / 62</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Pair Working Guide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Driver types; navigator thinks, reads the spec and spots problems. Swap roles every 30 minutes.</a:t>
            </a:r>
          </a:p>
          <a:p>
            <a:pPr marL="228600" indent="-228600" algn="l">
              <a:spcAft>
                <a:spcPts val="1000"/>
              </a:spcAft>
              <a:buFont typeface="Arial"/>
              <a:buChar char="•"/>
            </a:pPr>
            <a:r>
              <a:rPr sz="1700" b="0" i="0">
                <a:solidFill>
                  <a:srgbClr val="1A1A1A"/>
                </a:solidFill>
                <a:latin typeface="Arial"/>
              </a:rPr>
              <a:t>The navigator reads the rule in plain English; the driver writes the SQL. Then swap: the navigator explains the query back in plain English.</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58 / 62</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Pair Working Guide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Before running a violation query, predict the result aloud ("two rows: 1007 and 1011"). Surprises are where learning happens.</a:t>
            </a:r>
          </a:p>
          <a:p>
            <a:pPr marL="228600" indent="-228600" algn="l">
              <a:spcAft>
                <a:spcPts val="1000"/>
              </a:spcAft>
              <a:buFont typeface="Arial"/>
              <a:buChar char="•"/>
            </a:pPr>
            <a:r>
              <a:rPr sz="1700" b="0" i="0">
                <a:solidFill>
                  <a:srgbClr val="1A1A1A"/>
                </a:solidFill>
                <a:latin typeface="Arial"/>
              </a:rPr>
              <a:t>Keep each rule in its own </a:t>
            </a:r>
            <a:r>
              <a:rPr sz="1650" b="0" i="0">
                <a:solidFill>
                  <a:srgbClr val="330066"/>
                </a:solidFill>
                <a:latin typeface="Courier New"/>
              </a:rPr>
              <a:t>.sql</a:t>
            </a:r>
            <a:r>
              <a:rPr sz="1700" b="0" i="0">
                <a:solidFill>
                  <a:srgbClr val="1A1A1A"/>
                </a:solidFill>
                <a:latin typeface="Arial"/>
              </a:rPr>
              <a:t> file with a header comment, and commit often with clear messages.</a:t>
            </a:r>
          </a:p>
          <a:p>
            <a:pPr marL="228600" indent="-228600" algn="l">
              <a:spcAft>
                <a:spcPts val="1000"/>
              </a:spcAft>
              <a:buFont typeface="Arial"/>
              <a:buChar char="•"/>
            </a:pPr>
            <a:r>
              <a:rPr sz="1700" b="0" i="0">
                <a:solidFill>
                  <a:srgbClr val="1A1A1A"/>
                </a:solidFill>
                <a:latin typeface="Arial"/>
              </a:rPr>
              <a:t>In your retrospective note the hardest rule, the dialect pitfalls that surprised you, and the unexpected defect you found.</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59 / 62</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Summary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SUMMARY</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5" name="TextBox 4"/>
          <p:cNvSpPr txBox="1"/>
          <p:nvPr/>
        </p:nvSpPr>
        <p:spPr>
          <a:xfrm>
            <a:off x="1158544" y="1856231"/>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Data validation checks that stored data is correct, complete, consistent and follows business rules, behind the UI.</a:t>
            </a:r>
          </a:p>
        </p:txBody>
      </p:sp>
      <p:sp>
        <p:nvSpPr>
          <p:cNvPr id="6" name="Oval 5"/>
          <p:cNvSpPr/>
          <p:nvPr/>
        </p:nvSpPr>
        <p:spPr>
          <a:xfrm>
            <a:off x="609904" y="243789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7" name="TextBox 6"/>
          <p:cNvSpPr txBox="1"/>
          <p:nvPr/>
        </p:nvSpPr>
        <p:spPr>
          <a:xfrm>
            <a:off x="1158544" y="2511044"/>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Data-quality dimensions give a checklist of problem kinds: completeness, validity, consistency, uniqueness, accuracy, timeliness.</a:t>
            </a:r>
          </a:p>
        </p:txBody>
      </p:sp>
      <p:sp>
        <p:nvSpPr>
          <p:cNvPr id="8" name="Oval 7"/>
          <p:cNvSpPr/>
          <p:nvPr/>
        </p:nvSpPr>
        <p:spPr>
          <a:xfrm>
            <a:off x="609904" y="3092704"/>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9" name="TextBox 8"/>
          <p:cNvSpPr txBox="1"/>
          <p:nvPr/>
        </p:nvSpPr>
        <p:spPr>
          <a:xfrm>
            <a:off x="1158544" y="3165856"/>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A violation query describes what is wrong; an empty result means the rule holds. Test it against known-bad data to avoid a false pass.</a:t>
            </a:r>
          </a:p>
        </p:txBody>
      </p:sp>
      <p:sp>
        <p:nvSpPr>
          <p:cNvPr id="10" name="Oval 9"/>
          <p:cNvSpPr/>
          <p:nvPr/>
        </p:nvSpPr>
        <p:spPr>
          <a:xfrm>
            <a:off x="609904" y="3747516"/>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1" name="TextBox 10"/>
          <p:cNvSpPr txBox="1"/>
          <p:nvPr/>
        </p:nvSpPr>
        <p:spPr>
          <a:xfrm>
            <a:off x="1158544" y="3820668"/>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Expectation queries confirm a specific record; fetch by key and compare fields for precise messages.</a:t>
            </a:r>
          </a:p>
        </p:txBody>
      </p:sp>
      <p:sp>
        <p:nvSpPr>
          <p:cNvPr id="12" name="TextBox 11"/>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60 / 62</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Summary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SUMMARY</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5" name="TextBox 4"/>
          <p:cNvSpPr txBox="1"/>
          <p:nvPr/>
        </p:nvSpPr>
        <p:spPr>
          <a:xfrm>
            <a:off x="1158544" y="1856231"/>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A numbered rule catalogue (V-01 to V-10) beats one combined query for reporting and automation; keep both.</a:t>
            </a:r>
          </a:p>
        </p:txBody>
      </p:sp>
      <p:sp>
        <p:nvSpPr>
          <p:cNvPr id="6" name="Oval 5"/>
          <p:cNvSpPr/>
          <p:nvPr/>
        </p:nvSpPr>
        <p:spPr>
          <a:xfrm>
            <a:off x="609904" y="243789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7" name="TextBox 6"/>
          <p:cNvSpPr txBox="1"/>
          <p:nvPr/>
        </p:nvSpPr>
        <p:spPr>
          <a:xfrm>
            <a:off x="1158544" y="2511044"/>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NULLs need explicit handling (</a:t>
            </a:r>
            <a:r>
              <a:rPr sz="1350" b="0" i="0">
                <a:solidFill>
                  <a:srgbClr val="330066"/>
                </a:solidFill>
                <a:latin typeface="Courier New"/>
              </a:rPr>
              <a:t>IS NULL</a:t>
            </a:r>
            <a:r>
              <a:rPr sz="1400" b="0" i="0">
                <a:solidFill>
                  <a:srgbClr val="1A1A1A"/>
                </a:solidFill>
                <a:latin typeface="Arial"/>
              </a:rPr>
              <a:t>); "clean" is not simply </a:t>
            </a:r>
            <a:r>
              <a:rPr sz="1350" b="0" i="0">
                <a:solidFill>
                  <a:srgbClr val="330066"/>
                </a:solidFill>
                <a:latin typeface="Courier New"/>
              </a:rPr>
              <a:t>NOT</a:t>
            </a:r>
            <a:r>
              <a:rPr sz="1400" b="0" i="0">
                <a:solidFill>
                  <a:srgbClr val="1A1A1A"/>
                </a:solidFill>
                <a:latin typeface="Arial"/>
              </a:rPr>
              <a:t> dirty.</a:t>
            </a:r>
          </a:p>
        </p:txBody>
      </p:sp>
      <p:sp>
        <p:nvSpPr>
          <p:cNvPr id="8" name="Oval 7"/>
          <p:cNvSpPr/>
          <p:nvPr/>
        </p:nvSpPr>
        <p:spPr>
          <a:xfrm>
            <a:off x="609904" y="298653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9" name="TextBox 8"/>
          <p:cNvSpPr txBox="1"/>
          <p:nvPr/>
        </p:nvSpPr>
        <p:spPr>
          <a:xfrm>
            <a:off x="1158544" y="3059684"/>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Automate: rules as data, one test per rule, helpful assertion messages that list offending rows.</a:t>
            </a:r>
          </a:p>
        </p:txBody>
      </p:sp>
      <p:sp>
        <p:nvSpPr>
          <p:cNvPr id="10" name="Oval 9"/>
          <p:cNvSpPr/>
          <p:nvPr/>
        </p:nvSpPr>
        <p:spPr>
          <a:xfrm>
            <a:off x="609904" y="353517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1" name="TextBox 10"/>
          <p:cNvSpPr txBox="1"/>
          <p:nvPr/>
        </p:nvSpPr>
        <p:spPr>
          <a:xfrm>
            <a:off x="1158544" y="3608324"/>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Report with title, rule, query, evidence, impact and priority; separate defects from questions.</a:t>
            </a:r>
          </a:p>
        </p:txBody>
      </p:sp>
      <p:sp>
        <p:nvSpPr>
          <p:cNvPr id="12" name="Oval 11"/>
          <p:cNvSpPr/>
          <p:nvPr/>
        </p:nvSpPr>
        <p:spPr>
          <a:xfrm>
            <a:off x="609904" y="408381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5</a:t>
            </a:r>
          </a:p>
        </p:txBody>
      </p:sp>
      <p:sp>
        <p:nvSpPr>
          <p:cNvPr id="13" name="TextBox 12"/>
          <p:cNvSpPr txBox="1"/>
          <p:nvPr/>
        </p:nvSpPr>
        <p:spPr>
          <a:xfrm>
            <a:off x="1158544" y="4156964"/>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Work safely; know the dialect differences; Friday adds </a:t>
            </a:r>
            <a:r>
              <a:rPr sz="1350" b="0" i="0">
                <a:solidFill>
                  <a:srgbClr val="330066"/>
                </a:solidFill>
                <a:latin typeface="Courier New"/>
              </a:rPr>
              <a:t>GROUP BY</a:t>
            </a:r>
            <a:r>
              <a:rPr sz="1400" b="0" i="0">
                <a:solidFill>
                  <a:srgbClr val="1A1A1A"/>
                </a:solidFill>
                <a:latin typeface="Arial"/>
              </a:rPr>
              <a:t>, aggregates, JOINs, constraints and data changes.</a:t>
            </a:r>
          </a:p>
        </p:txBody>
      </p:sp>
      <p:sp>
        <p:nvSpPr>
          <p:cNvPr id="14" name="TextBox 13"/>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61 / 62</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Additional Resources</a:t>
            </a:r>
          </a:p>
        </p:txBody>
      </p:sp>
      <p:sp>
        <p:nvSpPr>
          <p:cNvPr id="3" name="Oval 2"/>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58544" y="1819656"/>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PostgreSQL: Pattern Matching</a:t>
            </a:r>
          </a:p>
          <a:p>
            <a:pPr algn="l">
              <a:lnSpc>
                <a:spcPct val="110000"/>
              </a:lnSpc>
              <a:spcAft>
                <a:spcPts val="600"/>
              </a:spcAft>
            </a:pPr>
            <a:r>
              <a:rPr sz="1200" b="0" i="0">
                <a:solidFill>
                  <a:srgbClr val="330066"/>
                </a:solidFill>
                <a:latin typeface="Courier New"/>
              </a:rPr>
              <a:t>https://www.postgresql.org/docs/current/functions-matching.html</a:t>
            </a:r>
          </a:p>
        </p:txBody>
      </p:sp>
      <p:sp>
        <p:nvSpPr>
          <p:cNvPr id="5" name="Oval 4"/>
          <p:cNvSpPr/>
          <p:nvPr/>
        </p:nvSpPr>
        <p:spPr>
          <a:xfrm>
            <a:off x="609904" y="24347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58544" y="2471356"/>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SQLite: Date And Time Functions</a:t>
            </a:r>
          </a:p>
          <a:p>
            <a:pPr algn="l">
              <a:lnSpc>
                <a:spcPct val="110000"/>
              </a:lnSpc>
              <a:spcAft>
                <a:spcPts val="600"/>
              </a:spcAft>
            </a:pPr>
            <a:r>
              <a:rPr sz="1200" b="0" i="0">
                <a:solidFill>
                  <a:srgbClr val="330066"/>
                </a:solidFill>
                <a:latin typeface="Courier New"/>
              </a:rPr>
              <a:t>https://www.sqlite.org/lang_datefunc.html</a:t>
            </a:r>
          </a:p>
        </p:txBody>
      </p:sp>
      <p:sp>
        <p:nvSpPr>
          <p:cNvPr id="7" name="Oval 6"/>
          <p:cNvSpPr/>
          <p:nvPr/>
        </p:nvSpPr>
        <p:spPr>
          <a:xfrm>
            <a:off x="609904" y="3086481"/>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58544" y="3123057"/>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Python documentation: sqlite3</a:t>
            </a:r>
          </a:p>
          <a:p>
            <a:pPr algn="l">
              <a:lnSpc>
                <a:spcPct val="110000"/>
              </a:lnSpc>
              <a:spcAft>
                <a:spcPts val="600"/>
              </a:spcAft>
            </a:pPr>
            <a:r>
              <a:rPr sz="1200" b="0" i="0">
                <a:solidFill>
                  <a:srgbClr val="330066"/>
                </a:solidFill>
                <a:latin typeface="Courier New"/>
              </a:rPr>
              <a:t>https://docs.python.org/3/library/sqlite3.html</a:t>
            </a:r>
          </a:p>
        </p:txBody>
      </p:sp>
      <p:sp>
        <p:nvSpPr>
          <p:cNvPr id="9" name="TextBox 8"/>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62 / 62</a:t>
            </a:r>
          </a:p>
        </p:txBody>
      </p:sp>
    </p:spTree>
  </p:cSld>
  <p:clrMapOvr>
    <a:masterClrMapping/>
  </p:clrMapOvr>
</p:sld>
</file>

<file path=ppt/theme/theme1.xml><?xml version="1.0" encoding="utf-8"?>
<a:theme xmlns:a="http://schemas.openxmlformats.org/drawingml/2006/main" name="Learners Point">
  <a:themeElements>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1_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earners Point" id="{5ABB7BE2-076F-42C1-9907-FD58862889C1}" vid="{2565D177-60C2-4381-BEC4-E0C09BB79CBA}"/>
    </a:ext>
  </a:extLst>
</a:theme>
</file>

<file path=docProps/app.xml><?xml version="1.0" encoding="utf-8"?>
<Properties xmlns="http://schemas.openxmlformats.org/officeDocument/2006/extended-properties" xmlns:vt="http://schemas.openxmlformats.org/officeDocument/2006/docPropsVTypes">
  <TotalTime>0</TotalTime>
  <Words>5163</Words>
  <Application>Microsoft Office PowerPoint</Application>
  <PresentationFormat>Widescreen</PresentationFormat>
  <Paragraphs>644</Paragraphs>
  <Slides>59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59</vt:i4>
      </vt:variant>
    </vt:vector>
  </HeadingPairs>
  <TitlesOfParts>
    <vt:vector size="63" baseType="lpstr">
      <vt:lpstr>Arial</vt:lpstr>
      <vt:lpstr>Courier New</vt:lpstr>
      <vt:lpstr>Wingdings</vt:lpstr>
      <vt:lpstr>Learners Point</vt:lpstr>
      <vt:lpstr>Using SQL for QA Data Validation</vt:lpstr>
      <vt:lpstr>Learning Objectives (1 of 2)</vt:lpstr>
      <vt:lpstr>Learning Objectives (2 of 2)</vt:lpstr>
      <vt:lpstr>What Is Data Validation?</vt:lpstr>
      <vt:lpstr>Data Validation</vt:lpstr>
      <vt:lpstr>Data Validation vs Other Tests</vt:lpstr>
      <vt:lpstr>Where QA Uses SQL Validation (1 of 2)</vt:lpstr>
      <vt:lpstr>Where QA Uses SQL Validation (2 of 2)</vt:lpstr>
      <vt:lpstr>Data-Quality Dimensions (1 of 2)</vt:lpstr>
      <vt:lpstr>Data-Quality Dimensions (2 of 2)</vt:lpstr>
      <vt:lpstr>Style A: The Violation Query</vt:lpstr>
      <vt:lpstr>Style B: The Expectation Query</vt:lpstr>
      <vt:lpstr>Mind the False Pass</vt:lpstr>
      <vt:lpstr>The Rule Catalogue for orders</vt:lpstr>
      <vt:lpstr>V-01: Required Email</vt:lpstr>
      <vt:lpstr>V-02: Email Looks Valid</vt:lpstr>
      <vt:lpstr>V-02 Limitations</vt:lpstr>
      <vt:lpstr>V-03: Quantity Is Positive</vt:lpstr>
      <vt:lpstr>V-04: Price Is Positive</vt:lpstr>
      <vt:lpstr>V-05: Allowed Status Values</vt:lpstr>
      <vt:lpstr>Discovery: Real Statuses</vt:lpstr>
      <vt:lpstr>V-06: Allowed Lists</vt:lpstr>
      <vt:lpstr>V-07: No Stray Whitespace</vt:lpstr>
      <vt:lpstr>V-08a: Date Format</vt:lpstr>
      <vt:lpstr>V-08b and V-08c: Dates</vt:lpstr>
      <vt:lpstr>V-09: Cross-Column Logic</vt:lpstr>
      <vt:lpstr>V-10: Duplicates (Uniqueness)</vt:lpstr>
      <vt:lpstr>V-10: Eyeball Checks</vt:lpstr>
      <vt:lpstr>Combining and Confirming</vt:lpstr>
      <vt:lpstr>The Combined Dirty-Rows Query</vt:lpstr>
      <vt:lpstr>Overview vs Numbered Rules</vt:lpstr>
      <vt:lpstr>The Clean Rows Query</vt:lpstr>
      <vt:lpstr>Expected State of Order 1014</vt:lpstr>
      <vt:lpstr>Expectation: Fetch by Key</vt:lpstr>
      <vt:lpstr>Expectation: Strict Form</vt:lpstr>
      <vt:lpstr>Floating-Point Caution</vt:lpstr>
      <vt:lpstr>Row-Count Checks</vt:lpstr>
      <vt:lpstr>Automation, Reporting and Safety</vt:lpstr>
      <vt:lpstr>Automation: The RULES List</vt:lpstr>
      <vt:lpstr>Automation: Running the Rules</vt:lpstr>
      <vt:lpstr>Runner Output</vt:lpstr>
      <vt:lpstr>Failures Report</vt:lpstr>
      <vt:lpstr>One Rule, One Test</vt:lpstr>
      <vt:lpstr>A Good Defect Report (1 of 2)</vt:lpstr>
      <vt:lpstr>A Good Defect Report (2 of 2)</vt:lpstr>
      <vt:lpstr>Example Write-Up</vt:lpstr>
      <vt:lpstr>Defects, False Alarms, Questions</vt:lpstr>
      <vt:lpstr>Working Safely (1 of 2)</vt:lpstr>
      <vt:lpstr>Working Safely (2 of 2)</vt:lpstr>
      <vt:lpstr>Dialects for Validation (1 of 2)</vt:lpstr>
      <vt:lpstr>Dialects for Validation (2 of 2)</vt:lpstr>
      <vt:lpstr>Dialect Takeaways</vt:lpstr>
      <vt:lpstr>Beyond One Table (1 of 2)</vt:lpstr>
      <vt:lpstr>Beyond One Table (2 of 2)</vt:lpstr>
      <vt:lpstr>Pair Working Guide (1 of 2)</vt:lpstr>
      <vt:lpstr>Pair Working Guide (2 of 2)</vt:lpstr>
      <vt:lpstr>Summary (1 of 2)</vt:lpstr>
      <vt:lpstr>Summary (2 of 2)</vt:lpstr>
      <vt:lpstr>Additional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Learners Point Template</dc:title>
  <dc:creator>Learners Point</dc:creator>
  <cp:lastModifiedBy>Jasdhir Singh</cp:lastModifiedBy>
  <cp:revision>2</cp:revision>
  <dcterms:modified xsi:type="dcterms:W3CDTF">2026-10-19T19:23:40Z</dcterms:modified>
</cp:coreProperties>
</file>