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Line 2"/>
          <p:cNvSpPr>
            <a:spLocks noChangeShapeType="1"/>
          </p:cNvSpPr>
          <p:nvPr/>
        </p:nvSpPr>
        <p:spPr bwMode="auto">
          <a:xfrm>
            <a:off x="9753600" y="1066800"/>
            <a:ext cx="0" cy="1752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016000" y="457200"/>
            <a:ext cx="8519584" cy="213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F304A9D6-1313-4D51-A62E-402D441D9A7B}" type="datetime1">
              <a:rPr lang="en-US" smtClean="0"/>
              <a:t>10/19/2026</a:t>
            </a:fld>
            <a:endParaRPr lang="en-US"/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sp>
        <p:nvSpPr>
          <p:cNvPr id="66568" name="Line 8"/>
          <p:cNvSpPr>
            <a:spLocks noChangeShapeType="1"/>
          </p:cNvSpPr>
          <p:nvPr/>
        </p:nvSpPr>
        <p:spPr bwMode="auto">
          <a:xfrm>
            <a:off x="1117600" y="2819400"/>
            <a:ext cx="86360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grpSp>
        <p:nvGrpSpPr>
          <p:cNvPr id="66569" name="Group 9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570" name="Oval 10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1" name="Oval 11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2" name="Oval 12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3" name="Oval 13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4" name="Oval 14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5" name="Oval 15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6" name="Oval 16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7" name="Oval 17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8" name="Oval 18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79" name="Oval 19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0" name="Oval 20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1" name="Oval 21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2" name="Oval 22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3" name="Oval 23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4" name="Oval 24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5" name="Oval 25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6" name="Oval 26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7" name="Oval 27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8" name="Oval 28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89" name="Oval 29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0" name="Oval 30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1" name="Oval 31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2" name="Oval 32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3" name="Oval 33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4" name="Oval 34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5" name="Oval 35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6" name="Oval 36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7" name="Oval 37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8" name="Oval 38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599" name="Oval 39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0" name="Oval 40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grpSp>
        <p:nvGrpSpPr>
          <p:cNvPr id="66601" name="Group 41" descr="decorative graphic made up of dots"/>
          <p:cNvGrpSpPr>
            <a:grpSpLocks/>
          </p:cNvGrpSpPr>
          <p:nvPr/>
        </p:nvGrpSpPr>
        <p:grpSpPr bwMode="auto">
          <a:xfrm>
            <a:off x="9956801" y="1219200"/>
            <a:ext cx="1056217" cy="1295400"/>
            <a:chOff x="5136" y="960"/>
            <a:chExt cx="528" cy="864"/>
          </a:xfrm>
        </p:grpSpPr>
        <p:sp>
          <p:nvSpPr>
            <p:cNvPr id="66602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3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4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5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6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7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8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09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0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1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2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3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4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5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6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7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8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19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0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1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2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3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4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5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6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7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8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29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0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1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6632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955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256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4A8556-2F07-416B-A81B-5F1C3AFD01EF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7954" y="6261305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722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6729637-7636-4388-949A-FC8BFDAA4705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09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F5DED8-6456-47A2-A5CC-BE8BEC6BD892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17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595759-8665-4708-8376-28A90FA13BDD}" type="datetime1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9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B0C243-4A55-4741-8265-C0A2FA769F7B}" type="datetime1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546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9A12F7-971D-41C1-A2B7-EBB58FF381A3}" type="datetime1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2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3C3D28-2E0C-4F8B-A45D-9E87921943BF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99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020A2-9D30-48AD-A70D-69AD2B027FCA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0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1F6343-4644-43E3-AA07-6869EC7CEA0D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5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A0A126-F3CA-45B4-970B-597BE67A203E}" type="datetime1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46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16815F9B-CAFE-4C37-897A-C6403744783F}" type="datetime1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209" y="6247726"/>
            <a:ext cx="499764" cy="46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79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Line 2"/>
          <p:cNvSpPr>
            <a:spLocks noChangeShapeType="1"/>
          </p:cNvSpPr>
          <p:nvPr/>
        </p:nvSpPr>
        <p:spPr bwMode="auto">
          <a:xfrm>
            <a:off x="10668000" y="0"/>
            <a:ext cx="0" cy="15240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8"/>
            <a:ext cx="100584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6554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55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C569D4A1-8BB6-4430-9601-3FBC79908E8C}" type="datetime1">
              <a:rPr lang="en-US" smtClean="0"/>
              <a:t>10/19/2026</a:t>
            </a:fld>
            <a:endParaRPr lang="en-US"/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83385899-0B10-4821-AAA8-DC5305EDD7F2}" type="slidenum">
              <a:rPr lang="en-US" smtClean="0"/>
              <a:t>‹#›</a:t>
            </a:fld>
            <a:endParaRPr lang="en-US"/>
          </a:p>
        </p:txBody>
      </p:sp>
      <p:grpSp>
        <p:nvGrpSpPr>
          <p:cNvPr id="65544" name="Group 8" descr="decorative graphic made up of dots"/>
          <p:cNvGrpSpPr>
            <a:grpSpLocks/>
          </p:cNvGrpSpPr>
          <p:nvPr/>
        </p:nvGrpSpPr>
        <p:grpSpPr bwMode="auto">
          <a:xfrm>
            <a:off x="10871201" y="152400"/>
            <a:ext cx="1056217" cy="1295400"/>
            <a:chOff x="5136" y="960"/>
            <a:chExt cx="528" cy="864"/>
          </a:xfrm>
        </p:grpSpPr>
        <p:sp>
          <p:nvSpPr>
            <p:cNvPr id="6554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4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5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6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  <p:sp>
          <p:nvSpPr>
            <p:cNvPr id="6557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1800"/>
            </a:p>
          </p:txBody>
        </p:sp>
      </p:grpSp>
      <p:sp>
        <p:nvSpPr>
          <p:cNvPr id="65576" name="Line 40"/>
          <p:cNvSpPr>
            <a:spLocks noChangeShapeType="1"/>
          </p:cNvSpPr>
          <p:nvPr/>
        </p:nvSpPr>
        <p:spPr bwMode="auto">
          <a:xfrm>
            <a:off x="609600" y="1524000"/>
            <a:ext cx="100584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 sz="1800"/>
          </a:p>
        </p:txBody>
      </p:sp>
    </p:spTree>
    <p:extLst>
      <p:ext uri="{BB962C8B-B14F-4D97-AF65-F5344CB8AC3E}">
        <p14:creationId xmlns:p14="http://schemas.microsoft.com/office/powerpoint/2010/main" val="26342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SQL Syntax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2057400"/>
            <a:ext cx="87775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 i="0">
                <a:solidFill>
                  <a:srgbClr val="5A5A5A"/>
                </a:solidFill>
                <a:latin typeface="Arial"/>
              </a:rPr>
              <a:t>The grammar of SQL: statement anatomy, quoting rules, operators, functions, clause order and reading errors.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3520439"/>
            <a:ext cx="1777365" cy="402336"/>
          </a:xfrm>
          <a:prstGeom prst="roundRect">
            <a:avLst>
              <a:gd name="adj" fmla="val 50000"/>
            </a:avLst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declarative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7870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44469" y="3520439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keywords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35322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718989" y="3520439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literals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22774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93509" y="3520439"/>
            <a:ext cx="153733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operators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222284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588044" y="3520439"/>
            <a:ext cx="1537335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functions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21681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582579" y="3520439"/>
            <a:ext cx="189738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clause order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2571399" y="3630167"/>
            <a:ext cx="274320" cy="182880"/>
          </a:xfrm>
          <a:prstGeom prst="rightArrow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2937159" y="3520439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ED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50" b="1">
                <a:solidFill>
                  <a:srgbClr val="330066"/>
                </a:solidFill>
                <a:latin typeface="Arial"/>
              </a:rPr>
              <a:t>dialects</a:t>
            </a:r>
          </a:p>
        </p:txBody>
      </p:sp>
      <p:sp>
        <p:nvSpPr>
          <p:cNvPr id="18" name="Oval 17"/>
          <p:cNvSpPr/>
          <p:nvPr/>
        </p:nvSpPr>
        <p:spPr>
          <a:xfrm>
            <a:off x="609904" y="5596128"/>
            <a:ext cx="292608" cy="29260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67104" y="5596128"/>
            <a:ext cx="292608" cy="292608"/>
          </a:xfrm>
          <a:prstGeom prst="ellipse">
            <a:avLst/>
          </a:prstGeom>
          <a:solidFill>
            <a:srgbClr val="66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524304" y="5596128"/>
            <a:ext cx="292608" cy="292608"/>
          </a:xfrm>
          <a:prstGeom prst="ellipse">
            <a:avLst/>
          </a:prstGeom>
          <a:solidFill>
            <a:srgbClr val="CC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(1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Explain what SQL is, who maintains it, and what it means that SQL is declarative.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Identify the parts of a statement: keywords, identifiers, literals, operators, expressions, clauses and the terminator.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Write readable, consistently formatted SQL, including comments.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84962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758184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Use the correct quoting rules for text, numbers, dates, NULL and identifiers, including an apostrophe inside text.</a:t>
            </a:r>
          </a:p>
        </p:txBody>
      </p:sp>
      <p:sp>
        <p:nvSpPr>
          <p:cNvPr id="11" name="Oval 10"/>
          <p:cNvSpPr/>
          <p:nvPr/>
        </p:nvSpPr>
        <p:spPr>
          <a:xfrm>
            <a:off x="609904" y="4507992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6832" y="4416552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Apply arithmetic, comparison, logical and string operators in expressions.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 / 59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Learning Objectives (2 of 2)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874519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6832" y="1783079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Use everyday built-in functions such as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UPPER</a:t>
            </a:r>
            <a:r>
              <a:rPr sz="16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LENGTH</a:t>
            </a:r>
            <a:r>
              <a:rPr sz="16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550" b="0" i="0">
                <a:solidFill>
                  <a:srgbClr val="330066"/>
                </a:solidFill>
                <a:latin typeface="Courier New"/>
              </a:rPr>
              <a:t>ROUND</a:t>
            </a:r>
            <a:r>
              <a:rPr sz="16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532887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6832" y="2441447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Describe the written order and the logical order in which a database processes the clauses of a query.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191256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832" y="3099815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Read the most common syntax error messages and fix the mistake they point at.</a:t>
            </a:r>
          </a:p>
        </p:txBody>
      </p:sp>
      <p:sp>
        <p:nvSpPr>
          <p:cNvPr id="9" name="Oval 8"/>
          <p:cNvSpPr/>
          <p:nvPr/>
        </p:nvSpPr>
        <p:spPr>
          <a:xfrm>
            <a:off x="609904" y="3849624"/>
            <a:ext cx="402336" cy="402336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832" y="3758184"/>
            <a:ext cx="10404957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Arial"/>
              </a:rPr>
              <a:t>Recognise the main dialect differences between SQLite, MySQL, PostgreSQL, SQL Server and Oracle.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 / 59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What Is SQL?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Standard, dialects and the declarative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 / 59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SQL: Key 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Name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Structured Query Language. Say "S-Q-L" or "sequel"; both are accepted. The standard language for relational databases.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783080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1607" y="1965960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Standardised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Defined by the ANSI and ISO standards. Every major RDBMS implements most of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4101083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8504" y="4283964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Dialects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Vendor variants: SQLite SQL, MySQL SQL, PostgreSQL SQL, Microsoft T-SQL, Oracle PL/SQL. The core (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35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35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ORDER BY</a:t>
            </a:r>
            <a:r>
              <a:rPr sz="1350" b="0" i="0">
                <a:solidFill>
                  <a:srgbClr val="1A1A1A"/>
                </a:solidFill>
                <a:latin typeface="Arial"/>
              </a:rPr>
              <a:t>) is shared.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4101083"/>
            <a:ext cx="5348782" cy="2043684"/>
          </a:xfrm>
          <a:prstGeom prst="roundRect">
            <a:avLst>
              <a:gd name="adj" fmla="val 402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1607" y="4283964"/>
            <a:ext cx="4891582" cy="16779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Keywords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A1A1A"/>
                </a:solidFill>
                <a:latin typeface="Arial"/>
              </a:rPr>
              <a:t>Not case-sensitive: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0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350" b="0" i="0">
                <a:solidFill>
                  <a:srgbClr val="1A1A1A"/>
                </a:solidFill>
                <a:latin typeface="Arial"/>
              </a:rPr>
              <a:t> are the same command.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6 / 59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Procedural: HOW (Python)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852160" cy="1283208"/>
          </a:xfrm>
          <a:prstGeom prst="roundRect">
            <a:avLst>
              <a:gd name="adj" fmla="val 570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449824" cy="990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5C8A8A"/>
                </a:solidFill>
                <a:latin typeface="Courier New"/>
              </a:rPr>
              <a:t># Python (procedural): HOW to find the pending orders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pending = []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for row in orders: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if row["status"] == "PENDING":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 pending.append(row)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27824" y="1783080"/>
            <a:ext cx="47539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In Python you write procedural code: you tell the computer how to do something, step by step.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Here: loop over the rows, test each one, append the matches.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7 / 59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Declarative: WHAT (SQL)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486400" cy="1146048"/>
          </a:xfrm>
          <a:prstGeom prst="roundRect">
            <a:avLst>
              <a:gd name="adj" fmla="val 638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084064" cy="85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-- SQL (declarative): WHAT we want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order_id, customer_name, status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status = 'PENDING';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62064" y="1783080"/>
            <a:ext cx="51197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In SQL you describe what result you want; the database decides the best way to get it.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4 rows (orders 1004, 1007, 1011, 1014).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You did not say "loop" or "use an index". The query optimiser chooses the method.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Beginner-friendly, and the same query that runs on 15 rows can run on 15 million.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8 / 59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Anatomy of a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Building blocks, reading like a sentence, case rules and formatting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9 / 59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Anatomy: Example 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852160" cy="1115568"/>
          </a:xfrm>
          <a:prstGeom prst="roundRect">
            <a:avLst>
              <a:gd name="adj" fmla="val 655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449824" cy="822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SELECT product, quantity * unit_price AS line_total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WHERE status = 'SHIPPED'</a:t>
            </a:r>
          </a:p>
          <a:p>
            <a:pPr algn="l">
              <a:lnSpc>
                <a:spcPct val="100000"/>
              </a:lnSpc>
            </a:pPr>
            <a:r>
              <a:rPr sz="1350">
                <a:solidFill>
                  <a:srgbClr val="1A1A1A"/>
                </a:solidFill>
                <a:latin typeface="Courier New"/>
              </a:rPr>
              <a:t>ORDER BY line_total DESC;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27824" y="1783080"/>
            <a:ext cx="47539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4 SHIPPED orders, biggest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line_total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first (Laptop 2300.0, Office Chair 220.0, USB-C Cable 99.9, Wireless Mouse 51.0).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 statement (a query, when it only reads data) is one complete command.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It is made of clauses; each clause is made of keywords, identifiers, literals and expressions.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10 / 59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Building Blocks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2040382"/>
        </p:xfrm>
        <a:graphic>
          <a:graphicData uri="http://schemas.openxmlformats.org/drawingml/2006/table">
            <a:tbl>
              <a:tblPr/>
              <a:tblGrid>
                <a:gridCol w="1865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7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8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Building block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What it is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Examples in the query above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Keyword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A word with a special meaning in the language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SELECT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FROM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WHERE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ORDER BY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AS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DESC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05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Identifier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A name you (or the schema designer) chose for a table, column or alias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product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quantity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unit_price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orders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status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line_total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Literal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A fixed value typed directly in the query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'SHIPPED'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 (text)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Operator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A symbol that combines or compares values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*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 (multiply),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=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 (equals)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11 / 59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Building Blocks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2426970"/>
        </p:xfrm>
        <a:graphic>
          <a:graphicData uri="http://schemas.openxmlformats.org/drawingml/2006/table">
            <a:tbl>
              <a:tblPr/>
              <a:tblGrid>
                <a:gridCol w="1865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7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8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Building block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What it is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Examples in the query above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05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Expression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Anything that produces a value: a column, a literal, or a combination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quantity * unit_price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05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Alias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A temporary nickname for a column or table, introduced with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AS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line_total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05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Clause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A named part of a statement that begins with a keyword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the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SELECT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 clause, the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FROM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 clause, the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WHERE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 clause, the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ORDER BY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 clause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A1A1A"/>
                          </a:solidFill>
                          <a:latin typeface="Arial"/>
                        </a:rPr>
                        <a:t>Terminator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The semicolon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;</a:t>
                      </a:r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 that ends a statement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A1A1A"/>
                          </a:solidFill>
                          <a:latin typeface="Arial"/>
                        </a:rPr>
                        <a:t>the final </a:t>
                      </a:r>
                      <a:r>
                        <a:rPr sz="1200" b="0" i="0">
                          <a:solidFill>
                            <a:srgbClr val="330066"/>
                          </a:solidFill>
                          <a:latin typeface="Courier New"/>
                        </a:rPr>
                        <a:t>;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12 / 59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Reading a Query Like a Sentence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Read each clause as a short English instruction. If you can say the question in English, you can translate it one clause at a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569464"/>
            <a:ext cx="10971885" cy="1024127"/>
          </a:xfrm>
          <a:prstGeom prst="roundRect">
            <a:avLst>
              <a:gd name="adj" fmla="val 714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715768"/>
            <a:ext cx="10569549" cy="731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product, quantity * unit_price AS line_total   -&gt; "Show me the product and the line total..."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orders                                           -&gt; "...from the orders table..."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WHERE status = 'SHIPPED'                              -&gt; "...but only for shipped orders..."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ORDER BY line_total DESC;                             -&gt; "...biggest line total first."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13 / 59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Case Sensitivity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2330195"/>
        </p:xfrm>
        <a:graphic>
          <a:graphicData uri="http://schemas.openxmlformats.org/drawingml/2006/table">
            <a:tbl>
              <a:tblPr/>
              <a:tblGrid>
                <a:gridCol w="2413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36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Case-sensitive?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Notes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Keywords (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SELECT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from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select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Select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and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SELECT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are identical.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482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Column and table names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Usually no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PostgreSQL folds unquoted names to lower case; SQL Server depends on its collation; MySQL on Linux treats table names as case-sensitive (because they map to files). Using a consistent lower-case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snake_case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avoids all trouble.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Text values (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'SHIPPED'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Depends on the product!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See below.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14 / 59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Case Trap: Text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12064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718303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order_id, status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status = 'DELIVERED';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304" y="1783080"/>
            <a:ext cx="54854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Order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1008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has status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delivered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in lower case; all others are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DELIVERED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SQLite (and PostgreSQL, Oracle):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=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on text is case-sensitive, so 1008 is not returned. Result: 5 rows.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MySQL and SQL Server: the default collation is case-insensitive, so 1008 would be returned.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same query gives different answers on different engines: a "works on my machine" source. Order 1008 is a planted defect used again later today.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15 / 59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Course Style Convention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Keywords in UPPER CASE (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FROM</a:t>
            </a:r>
            <a:r>
              <a:rPr sz="17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700" b="0" i="0">
                <a:solidFill>
                  <a:srgbClr val="1A1A1A"/>
                </a:solidFill>
                <a:latin typeface="Arial"/>
              </a:rPr>
              <a:t>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Table and column names in lower_snake_case (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order_date</a:t>
            </a:r>
            <a:r>
              <a:rPr sz="1700" b="0" i="0">
                <a:solidFill>
                  <a:srgbClr val="1A1A1A"/>
                </a:solidFill>
                <a:latin typeface="Arial"/>
              </a:rPr>
              <a:t>).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One clause per line.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A semicolon at the end of every statement.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Conventions are not required by the engine; they exist so humans read queries quickly. Pick one and stick to it, especially when sharing queries in a repository.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16 / 59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Whitespace Is Ignored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Layout 1: one 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5852160" cy="467868"/>
          </a:xfrm>
          <a:prstGeom prst="roundRect">
            <a:avLst>
              <a:gd name="adj" fmla="val 1563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449824" cy="1752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SELECT order_id, status FROM orders WHERE status = 'PENDING';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708148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Layout 2: one clause per 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2982468"/>
            <a:ext cx="5852160" cy="1146048"/>
          </a:xfrm>
          <a:prstGeom prst="roundRect">
            <a:avLst>
              <a:gd name="adj" fmla="val 6382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128772"/>
            <a:ext cx="5449824" cy="85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order_id,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       status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 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 status = 'PENDING';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7824" y="1783080"/>
            <a:ext cx="47539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SQL ignores extra spaces, tabs and blank lines. Both statements return the same 4 PENDING orders.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second layout is easier to read, to review in Git, and to edit later; changing only the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line gives a small clear diff.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Rule of thumb: if a query does not fit comfortably on one line, start each clause on its own line.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17 / 59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Comments and Literals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Notes for humans, and how to write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18 / 59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359408"/>
          </a:xfrm>
          <a:prstGeom prst="roundRect">
            <a:avLst>
              <a:gd name="adj" fmla="val 538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1066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-- This is a single-line comment. Everything after the two dashes is ignored.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SELECT order_id, quantity   -- you can also put a comment at the end of a line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/* This is a block comment.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It can span several lines.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   Useful for explaining the purpose of a whole query. */</a:t>
            </a:r>
          </a:p>
          <a:p>
            <a:pPr algn="l">
              <a:lnSpc>
                <a:spcPct val="100000"/>
              </a:lnSpc>
            </a:pPr>
            <a:r>
              <a:rPr sz="1000">
                <a:solidFill>
                  <a:srgbClr val="1A1A1A"/>
                </a:solidFill>
                <a:latin typeface="Courier New"/>
              </a:rPr>
              <a:t>WHERE quantity &lt;= 0;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Comments are ignored by the database. Good ones explain what rule is tested and why.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--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/ ... /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work in all five products.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2 rows (1007 with 0, 1011 with -1).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19 / 59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Comment Dialect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348782" cy="4361688"/>
          </a:xfrm>
          <a:prstGeom prst="roundRect">
            <a:avLst>
              <a:gd name="adj" fmla="val 1886"/>
            </a:avLst>
          </a:prstGeom>
          <a:solidFill>
            <a:srgbClr val="EDE6F5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65960"/>
            <a:ext cx="4891582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MySQL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--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form needs a space after the two dashes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-- comment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). MySQL also supports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#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for comments.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783080"/>
            <a:ext cx="5348782" cy="4361688"/>
          </a:xfrm>
          <a:prstGeom prst="roundRect">
            <a:avLst>
              <a:gd name="adj" fmla="val 1886"/>
            </a:avLst>
          </a:prstGeom>
          <a:solidFill>
            <a:srgbClr val="E9F1F1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1607" y="1965960"/>
            <a:ext cx="4891582" cy="3995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1" i="0">
                <a:solidFill>
                  <a:srgbClr val="330066"/>
                </a:solidFill>
                <a:latin typeface="Arial"/>
              </a:rPr>
              <a:t>Common mistake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Commenting out an important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line by accident. Be careful which lines you comment.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20 / 59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Literals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3" cy="2110737"/>
        </p:xfrm>
        <a:graphic>
          <a:graphicData uri="http://schemas.openxmlformats.org/drawingml/2006/table">
            <a:tbl>
              <a:tblPr/>
              <a:tblGrid>
                <a:gridCol w="1974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21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32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Kind of value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How to write it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Notes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Text (string)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Single quotes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'SHIPPED'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'Alice Johnson'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Double quotes are for identifiers in standard SQL.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Number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No quotes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42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-1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9.99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Use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.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as the decimal point; no thousands separators.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Single quotes, ISO format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YYYY-MM-DD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'2025-02-01'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Dialects differ; see below.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21 / 59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Literals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3" cy="1325371"/>
        </p:xfrm>
        <a:graphic>
          <a:graphicData uri="http://schemas.openxmlformats.org/drawingml/2006/table">
            <a:tbl>
              <a:tblPr/>
              <a:tblGrid>
                <a:gridCol w="1974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721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32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Kind of value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How to write it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Notes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NULL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The bare word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NULL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no quotes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NULL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Not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'NULL'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!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Boolean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TRUE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/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FALSE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in most products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TRUE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SQL Server uses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1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/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0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with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BIT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; SQLite uses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1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/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0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22 / 59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Apostrophe Inside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Correct: double the apostrophe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08406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order_id, customer_name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customer_name = 'Jack O''Brien';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2064" y="1783080"/>
            <a:ext cx="51197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Text is wrapped in single quotes, so an apostrophe (surname O'Brien, order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1011</a:t>
            </a:r>
            <a:r>
              <a:rPr sz="1300" b="0" i="0">
                <a:solidFill>
                  <a:srgbClr val="1A1A1A"/>
                </a:solidFill>
                <a:latin typeface="Arial"/>
              </a:rPr>
              <a:t>) is doubled.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'Jack O''Brien'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read as the text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Jack O'Brien</a:t>
            </a:r>
            <a:r>
              <a:rPr sz="1300" b="0" i="0">
                <a:solidFill>
                  <a:srgbClr val="1A1A1A"/>
                </a:solidFill>
                <a:latin typeface="Arial"/>
              </a:rPr>
              <a:t>: two single quotes mean one literal apostrophe.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Do not wrap text in double quotes, even if some engines tolerate it.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1 row (1011, Jack O'Brien).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23 / 59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Forgetting to Double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Query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08406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customer_name = 'Jack O'Brien';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31729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Result (error in SQLite)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447287"/>
            <a:ext cx="5486400" cy="505968"/>
          </a:xfrm>
          <a:prstGeom prst="roundRect">
            <a:avLst>
              <a:gd name="adj" fmla="val 1445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593591"/>
            <a:ext cx="5084064" cy="21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Error: near "Brien": syntax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2064" y="1783080"/>
            <a:ext cx="51197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database sees the text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'Jack O'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then the unexpected word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Brien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then an unterminated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';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message differs by product, but it always involves the quote.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24 / 59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QA Connection: SQL 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2194560"/>
          </a:xfrm>
          <a:prstGeom prst="roundRect">
            <a:avLst>
              <a:gd name="adj" fmla="val 375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20240"/>
            <a:ext cx="10514685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SECURITY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Quotes in text are the reason for a class of security bugs called SQL injection. When test automation builds SQL by gluing strings together, a value such as O'Brien can break the statement. Real code uses parameterised queries (placeholders) so the library handles quoting. Python's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sqlite3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supports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?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placeholders, for example: conn.execute("SELECT * FROM orders WHERE order_id = ?", (1001,))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25 / 59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30352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901183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order_id, order_date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order_date &gt;= '2025-03-01';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9184" y="1783080"/>
            <a:ext cx="530260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Our dates are ISO text, so comparing with text literals works. Result: 4 rows (1012 to 1015).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ISO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YYYY-MM-DD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(year, month, day, leading zeros) makes alphabetical order equal chronological order.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PostgreSQL and MySQL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DATE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columns: the literal looks the same. Oracle often prefers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DATE '2025-03-01'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SQL Server accepts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'2025-03-01'</a:t>
            </a:r>
            <a:r>
              <a:rPr sz="1300" b="0" i="0">
                <a:solidFill>
                  <a:srgbClr val="1A1A1A"/>
                </a:solidFill>
                <a:latin typeface="Arial"/>
              </a:rPr>
              <a:t>;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'YYYYMMDD'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safest.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26 / 59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Identifiers and Operators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Quoting names, then arithmetic, comparison, logical and string 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27 / 59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Quoting Identifiers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5" cy="1893824"/>
        </p:xfrm>
        <a:graphic>
          <a:graphicData uri="http://schemas.openxmlformats.org/drawingml/2006/table">
            <a:tbl>
              <a:tblPr/>
              <a:tblGrid>
                <a:gridCol w="4937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4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Product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Identifier quoting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ANSI SQL, PostgreSQL, Oracle, SQLite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"order date"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(double quotes)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MySQL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order date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 (backticks)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SQL Server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[order date]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(square brackets) or double quotes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SQLite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accepts all three styles above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28 / 59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Quoted Aliases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035040" cy="818388"/>
          </a:xfrm>
          <a:prstGeom prst="roundRect">
            <a:avLst>
              <a:gd name="adj" fmla="val 893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632703" cy="5257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SELECT order_id AS "Order Number", customer_name AS "Customer"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150">
                <a:solidFill>
                  <a:srgbClr val="1A1A1A"/>
                </a:solidFill>
                <a:latin typeface="Courier New"/>
              </a:rPr>
              <a:t>WHERE order_id &lt;= 1003;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0704" y="1783080"/>
            <a:ext cx="45710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An identifier names a table, column, alias or schema. Quote it only if it has a space or is a reserved word.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3 rows with headings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Order Number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Customer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29 / 59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Reserved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Query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4937760" cy="505968"/>
          </a:xfrm>
          <a:prstGeom prst="roundRect">
            <a:avLst>
              <a:gd name="adj" fmla="val 1445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4535424" cy="21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* FROM order;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74624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Result (error in SQLite)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020568"/>
            <a:ext cx="4937760" cy="505968"/>
          </a:xfrm>
          <a:prstGeom prst="roundRect">
            <a:avLst>
              <a:gd name="adj" fmla="val 1445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166872"/>
            <a:ext cx="4535424" cy="21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Error: near "order": syntax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3424" y="1783080"/>
            <a:ext cx="56683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Words like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FROM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ORDER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GROUP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TABLE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USER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KEY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have special meaning; avoid them as names.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 table called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order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collides with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ORDER BY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which is why teams name tables in the plural (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orders</a:t>
            </a:r>
            <a:r>
              <a:rPr sz="13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users</a:t>
            </a:r>
            <a:r>
              <a:rPr sz="1300" b="0" i="0">
                <a:solidFill>
                  <a:srgbClr val="1A1A1A"/>
                </a:solidFill>
                <a:latin typeface="Arial"/>
              </a:rPr>
              <a:t>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If you must use one, quote it.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Best practice: simple lower-case names with underscores, no spaces, no reserved words.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30 / 59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Arithmetic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2271268"/>
        </p:xfrm>
        <a:graphic>
          <a:graphicData uri="http://schemas.openxmlformats.org/drawingml/2006/table">
            <a:tbl>
              <a:tblPr/>
              <a:tblGrid>
                <a:gridCol w="16457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8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3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Operator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+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add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quantity + 1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-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subtract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unit_price - 1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*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multiply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quantity * unit_price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/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divide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unit_price / 2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%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remainder (modulo)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330066"/>
                          </a:solidFill>
                          <a:latin typeface="Courier New"/>
                        </a:rPr>
                        <a:t>quantity % 2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31 / 59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Computed Columns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572000" cy="1435607"/>
          </a:xfrm>
          <a:prstGeom prst="roundRect">
            <a:avLst>
              <a:gd name="adj" fmla="val 50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169663" cy="1142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SELECT order_id,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quantity,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unit_price,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quantity * unit_price AS line_total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WHERE order_id &lt;= 1005;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47664" y="1783080"/>
            <a:ext cx="60341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quantity * unit_price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is an expression computed for each row;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AS line_total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names the output column.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330066"/>
                </a:solidFill>
                <a:latin typeface="Courier New"/>
              </a:rPr>
              <a:t>line_total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does not exist in the table: it is calculated on the fly and nothing is stored or changed.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5 rows, e.g. order 1002 gives 51.0 and order 1003 gives 49.95.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32 / 59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Integer Division Trap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035040" cy="483108"/>
          </a:xfrm>
          <a:prstGeom prst="roundRect">
            <a:avLst>
              <a:gd name="adj" fmla="val 151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632703" cy="190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SELECT 7 / 2 AS int_division, 7 / 2.0 AS decimal_division;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0704" y="1783080"/>
            <a:ext cx="45710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SQLite, SQL Server and PostgreSQL: dividing two integers gives an integer (decimal part dropped).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int_division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= 3,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decimal_division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= 3.5.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MySQL's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/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returns a decimal and uses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DIV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for integer division.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A query can have no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FROM</a:t>
            </a:r>
            <a:r>
              <a:rPr sz="1300" b="0" i="0">
                <a:solidFill>
                  <a:srgbClr val="1A1A1A"/>
                </a:solidFill>
                <a:latin typeface="Arial"/>
              </a:rPr>
              <a:t> clause when you only calculate. Oracle requires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FROM dual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33 / 59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Comparison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1893824"/>
        </p:xfrm>
        <a:graphic>
          <a:graphicData uri="http://schemas.openxmlformats.org/drawingml/2006/table">
            <a:tbl>
              <a:tblPr/>
              <a:tblGrid>
                <a:gridCol w="2413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58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Operator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=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equal to (a single equals sign in SQL, unlike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==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in Python)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&lt;&gt;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or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!=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not equal to (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&lt;&gt;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is the standard;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!=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works almost everywhere)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&lt;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&gt;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less than, greater than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&lt;=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&gt;=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less than or equal, greater than or equal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34 / 59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Single = Not ==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493776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535424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order_id, quantity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quantity == 0;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13424" y="1783080"/>
            <a:ext cx="56683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Comparisons produce a truth value per row;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keeps rows where it is true.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Python habit: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==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 SQLite is lenient (result: order 1007), but PostgreSQL, MySQL and SQL Server reject it.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Always use a single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=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so your SQL works everywhere.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35 / 59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Logical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30352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901183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order_id, country, status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country = 'UK' AND status = 'PENDING';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9184" y="1783080"/>
            <a:ext cx="530260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AND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NOT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combine conditions. Covered in detail in Filtering and Sorting Data.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1 row (1011, UK, PENDING).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36 / 59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Concatenation by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4" cy="1747519"/>
        </p:xfrm>
        <a:graphic>
          <a:graphicData uri="http://schemas.openxmlformats.org/drawingml/2006/table">
            <a:tbl>
              <a:tblPr/>
              <a:tblGrid>
                <a:gridCol w="3840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Product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Concatenation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SQLite, PostgreSQL, Oracle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a || b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583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MySQL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CONCAT(a, b)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(the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||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operator means OR unless a special mode is enabled)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444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</a:rPr>
                        <a:t>SQL Server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a + b</a:t>
                      </a:r>
                      <a:r>
                        <a:rPr sz="1400" b="0" i="0">
                          <a:solidFill>
                            <a:srgbClr val="1A1A1A"/>
                          </a:solidFill>
                          <a:latin typeface="Arial"/>
                        </a:rPr>
                        <a:t> or </a:t>
                      </a:r>
                      <a:r>
                        <a:rPr sz="1350" b="0" i="0">
                          <a:solidFill>
                            <a:srgbClr val="330066"/>
                          </a:solidFill>
                          <a:latin typeface="Courier New"/>
                        </a:rPr>
                        <a:t>CONCAT(a, b)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37 / 59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Concatenation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852160" cy="1054608"/>
          </a:xfrm>
          <a:prstGeom prst="roundRect">
            <a:avLst>
              <a:gd name="adj" fmla="val 693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449824" cy="761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SELECT order_id,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       customer_name || ' (' || country || ')' AS buyer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250">
                <a:solidFill>
                  <a:srgbClr val="1A1A1A"/>
                </a:solidFill>
                <a:latin typeface="Courier New"/>
              </a:rPr>
              <a:t>WHERE order_id &lt;= 1003;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27824" y="1783080"/>
            <a:ext cx="475396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Joining text is concatenation.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||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standard in SQLite, PostgreSQL and Oracle.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3 rows, e.g.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Alice Johnson (USA)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38 / 59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Functions and Query Order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Row-by-row functions, written vs logical order of clauses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39 / 59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Everyday Functions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3" cy="1691131"/>
        </p:xfrm>
        <a:graphic>
          <a:graphicData uri="http://schemas.openxmlformats.org/drawingml/2006/table">
            <a:tbl>
              <a:tblPr/>
              <a:tblGrid>
                <a:gridCol w="2194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498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Function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Purpose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Dialect note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UPPER(x)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,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LOWER(x)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change case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UPPER(status)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Same everywhere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LENGTH(x)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number of characters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LENGTH(email)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SQL Server uses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LEN(x)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TRIM(x)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remove leading / trailing spaces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TRIM(country)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Same everywhere (SQLite, PostgreSQL, MySQL, Oracle, modern SQL Server)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40 / 59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Everyday Functions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3" cy="1691131"/>
        </p:xfrm>
        <a:graphic>
          <a:graphicData uri="http://schemas.openxmlformats.org/drawingml/2006/table">
            <a:tbl>
              <a:tblPr/>
              <a:tblGrid>
                <a:gridCol w="21943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498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Function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Purpose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Dialect note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ROUND(x, n)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round to </a:t>
                      </a:r>
                      <a:r>
                        <a:rPr sz="1250" b="0" i="0">
                          <a:solidFill>
                            <a:srgbClr val="330066"/>
                          </a:solidFill>
                          <a:latin typeface="Courier New"/>
                        </a:rPr>
                        <a:t>n</a:t>
                      </a:r>
                      <a:r>
                        <a:rPr sz="1300" b="0" i="0">
                          <a:solidFill>
                            <a:srgbClr val="1A1A1A"/>
                          </a:solidFill>
                          <a:latin typeface="Arial"/>
                        </a:rPr>
                        <a:t> decimals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ROUND(9.987, 2)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Same everywhere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ABS(x)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absolute value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ABS(-1)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Same everywhere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563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COALESCE(a, b, ...)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first non-NULL argument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330066"/>
                          </a:solidFill>
                          <a:latin typeface="Courier New"/>
                        </a:rPr>
                        <a:t>COALESCE(email, 'none')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Arial"/>
                        </a:rPr>
                        <a:t>Same everywhere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41 / 59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Functions in a 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120640" cy="1481328"/>
          </a:xfrm>
          <a:prstGeom prst="roundRect">
            <a:avLst>
              <a:gd name="adj" fmla="val 4938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718303" cy="11887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order_id,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status,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UPPER(status) AS status_upper,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       LENGTH(customer_name) AS name_length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WHERE order_id IN (1007, 1008, 1015);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304" y="1783080"/>
            <a:ext cx="54854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 function takes arguments in parentheses and returns a value, for each row individually.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order 1008 gives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delivered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DELIVERED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name length 11; 1007 gives 9; 1015 gives 10.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42 / 59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rgbClr val="330066"/>
                </a:solidFill>
              </a:rPr>
              <a:t>COALESCE for NULLs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217920" cy="841247"/>
          </a:xfrm>
          <a:prstGeom prst="roundRect">
            <a:avLst>
              <a:gd name="adj" fmla="val 8695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815583" cy="548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SELECT order_id, COALESCE(email, '(no email)') AS email_shown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200">
                <a:solidFill>
                  <a:srgbClr val="1A1A1A"/>
                </a:solidFill>
                <a:latin typeface="Courier New"/>
              </a:rPr>
              <a:t>WHERE order_id IN (1003, 1004, 1014);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93584" y="1783080"/>
            <a:ext cx="438820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Handy when displaying NULLs in a report.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Result: 1003 shows its email; 1004 and 1014 show </a:t>
            </a:r>
            <a:r>
              <a:rPr sz="1250" b="0" i="0">
                <a:solidFill>
                  <a:srgbClr val="330066"/>
                </a:solidFill>
                <a:latin typeface="Courier New"/>
              </a:rPr>
              <a:t>(no email)</a:t>
            </a:r>
            <a:r>
              <a:rPr sz="13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00" b="0" i="0">
                <a:solidFill>
                  <a:srgbClr val="1A1A1A"/>
                </a:solidFill>
                <a:latin typeface="Arial"/>
              </a:rPr>
              <a:t>Functions that summarise a whole column (totals, averages) are aggregate functions, covered Friday.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43 / 59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Written Order of Clauses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400800" cy="1283208"/>
          </a:xfrm>
          <a:prstGeom prst="roundRect">
            <a:avLst>
              <a:gd name="adj" fmla="val 5700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998464" cy="990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  what columns / expressions to show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    which table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WHERE    which rows to keep (optional)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ORDER BY how to sort the result (optional)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LIMIT    how many rows to return (optional; dialect varies)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76464" y="1783080"/>
            <a:ext cx="42053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For today's read-only queries, clauses are written in this fixed order.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Two more clauses that go between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ORDER BY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arrive on Friday.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44 / 59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Logical Order of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19656"/>
            <a:ext cx="10423245" cy="5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FROM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Find the table.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22715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459291"/>
            <a:ext cx="10423245" cy="5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WHERE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Throw away the rows that do not satisfy the condition.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306235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098927"/>
            <a:ext cx="10423245" cy="5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SELECT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Compute the requested columns and expressions, and create aliases.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70198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738562"/>
            <a:ext cx="10423245" cy="5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ORDER BY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Sort what remains.</a:t>
            </a:r>
          </a:p>
        </p:txBody>
      </p:sp>
      <p:sp>
        <p:nvSpPr>
          <p:cNvPr id="12" name="Oval 11"/>
          <p:cNvSpPr/>
          <p:nvPr/>
        </p:nvSpPr>
        <p:spPr>
          <a:xfrm>
            <a:off x="609904" y="434162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8544" y="4378198"/>
            <a:ext cx="10423245" cy="529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50" b="1" i="0">
                <a:solidFill>
                  <a:srgbClr val="330066"/>
                </a:solidFill>
                <a:latin typeface="Arial"/>
              </a:rPr>
              <a:t>LIMIT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Arial"/>
              </a:rPr>
              <a:t>Cut off the result at the requested number of rows.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45 / 59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Why the Order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669280" cy="1085087"/>
          </a:xfrm>
          <a:prstGeom prst="roundRect">
            <a:avLst>
              <a:gd name="adj" fmla="val 6741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266944" cy="792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order_id, quantity * unit_price AS line_total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WHERE quantity * unit_price &gt; 1000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ORDER BY line_total DESC;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44944" y="1783080"/>
            <a:ext cx="493684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You cannot use a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alias inside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in standard SQL: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WHERE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runs before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creates it. SQLite is lenient; PostgreSQL, MySQL, SQL Server and Oracle are strict. Repeat the expression.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You can use the alias in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ORDER BY</a:t>
            </a:r>
            <a:r>
              <a:rPr sz="1250" b="0" i="0">
                <a:solidFill>
                  <a:srgbClr val="1A1A1A"/>
                </a:solidFill>
                <a:latin typeface="Arial"/>
              </a:rPr>
              <a:t>, which runs after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SELECT</a:t>
            </a:r>
            <a:r>
              <a:rPr sz="125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Result: 1006 (2300.0), 1001 (1200.0).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46 / 59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Errors, Semicolons and Dialects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800">
                <a:solidFill>
                  <a:srgbClr val="5A5A5A"/>
                </a:solidFill>
              </a:rPr>
              <a:t>Reading syntax errors and knowing what differs between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" y="1600200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 i="0">
                <a:solidFill>
                  <a:srgbClr val="669999"/>
                </a:solidFill>
                <a:latin typeface="Arial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47 / 59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Errors Are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109718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Errors are not failures. Messages shown here are from SQLite; other engines word them differently but point to the same place.</a:t>
            </a:r>
          </a:p>
          <a:p>
            <a:pPr marL="228600" indent="-228600" algn="l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A1A1A"/>
                </a:solidFill>
                <a:latin typeface="Arial"/>
              </a:rPr>
              <a:t>Common mistakes: misspelled keyword, missing comma, unknown column, unknown table, trailing comma before </a:t>
            </a:r>
            <a:r>
              <a:rPr sz="1650" b="0" i="0">
                <a:solidFill>
                  <a:srgbClr val="330066"/>
                </a:solidFill>
                <a:latin typeface="Courier New"/>
              </a:rPr>
              <a:t>FROM</a:t>
            </a:r>
            <a:r>
              <a:rPr sz="17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48 / 59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Misspelled Keyword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Query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5486400" cy="505968"/>
          </a:xfrm>
          <a:prstGeom prst="roundRect">
            <a:avLst>
              <a:gd name="adj" fmla="val 1445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084064" cy="21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 order_id FROM orders;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7462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Result (error in SQLite)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020568"/>
            <a:ext cx="5486400" cy="505968"/>
          </a:xfrm>
          <a:prstGeom prst="roundRect">
            <a:avLst>
              <a:gd name="adj" fmla="val 1445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166872"/>
            <a:ext cx="5084064" cy="21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Error: near "SELEC": syntax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2064" y="1783080"/>
            <a:ext cx="51197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message names the word the parser did not recognise.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49 / 59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Missing Comma: Silent Error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512064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4718303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 customer_name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FROM orders</a:t>
            </a:r>
          </a:p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WHERE order_id = 1001;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304" y="1783080"/>
            <a:ext cx="548548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No error!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AS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optional, so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customer_name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is read as an alias for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order_id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Result: one column called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customer_name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holding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1001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Always check the column headings of your result.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50 / 59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Unknown Column or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Unknown column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5486400" cy="490727"/>
          </a:xfrm>
          <a:prstGeom prst="roundRect">
            <a:avLst>
              <a:gd name="adj" fmla="val 1490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084064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order_number FROM orders;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731007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Error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005327"/>
            <a:ext cx="5486400" cy="490727"/>
          </a:xfrm>
          <a:prstGeom prst="roundRect">
            <a:avLst>
              <a:gd name="adj" fmla="val 1490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151631"/>
            <a:ext cx="5084064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Error: no such column: order_number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3678935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Unknown 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04" y="3953255"/>
            <a:ext cx="5486400" cy="490727"/>
          </a:xfrm>
          <a:prstGeom prst="roundRect">
            <a:avLst>
              <a:gd name="adj" fmla="val 1490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1072" y="4099559"/>
            <a:ext cx="5084064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* FROM order_items;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4626863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" y="4901183"/>
            <a:ext cx="5486400" cy="490727"/>
          </a:xfrm>
          <a:prstGeom prst="roundRect">
            <a:avLst>
              <a:gd name="adj" fmla="val 14906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1072" y="5047487"/>
            <a:ext cx="5084064" cy="1981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Error: no such table: order_items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2064" y="1783080"/>
            <a:ext cx="51197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350" b="0" i="0">
                <a:solidFill>
                  <a:srgbClr val="330066"/>
                </a:solidFill>
                <a:latin typeface="Courier New"/>
              </a:rPr>
              <a:t>no such column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no such table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point straight at the misspelled or missing name.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51 / 59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Trailing Comma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Query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904" y="2057400"/>
            <a:ext cx="5486400" cy="505968"/>
          </a:xfrm>
          <a:prstGeom prst="roundRect">
            <a:avLst>
              <a:gd name="adj" fmla="val 1445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1072" y="2203704"/>
            <a:ext cx="5084064" cy="21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SELECT order_id, FROM orders;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274624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Result (error in SQLite)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904" y="3020568"/>
            <a:ext cx="5486400" cy="505968"/>
          </a:xfrm>
          <a:prstGeom prst="roundRect">
            <a:avLst>
              <a:gd name="adj" fmla="val 14457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1072" y="3166872"/>
            <a:ext cx="5084064" cy="21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>
                <a:solidFill>
                  <a:srgbClr val="1A1A1A"/>
                </a:solidFill>
                <a:latin typeface="Courier New"/>
              </a:rPr>
              <a:t>Error: near "FROM": syntax error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2064" y="1783080"/>
            <a:ext cx="511972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error points at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FROM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but the real mistake is the comma just before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52 / 59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 Debugging Routine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10971885" cy="1828800"/>
          </a:xfrm>
          <a:prstGeom prst="roundRect">
            <a:avLst>
              <a:gd name="adj" fmla="val 45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504" y="1920240"/>
            <a:ext cx="10514685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FIVE STEPS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(1) Read the first line of the error. (2) Note the word or position it mentions. (3) Look at the text just before that position: the real mistake is often one token earlier. (4) Fix one thing at a time. (5) Re-run. This is the same discipline you used with Python's debugger on Wednesday.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53 / 59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Multiple Statements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904" y="1783080"/>
            <a:ext cx="6217920" cy="688848"/>
          </a:xfrm>
          <a:prstGeom prst="roundRect">
            <a:avLst>
              <a:gd name="adj" fmla="val 10619"/>
            </a:avLst>
          </a:prstGeom>
          <a:solidFill>
            <a:srgbClr val="F5F5F5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1072" y="1929384"/>
            <a:ext cx="5815583" cy="3962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COUNT(*) AS total_rows FROM orders;</a:t>
            </a:r>
          </a:p>
          <a:p>
            <a:pPr algn="l">
              <a:lnSpc>
                <a:spcPct val="100000"/>
              </a:lnSpc>
            </a:pPr>
            <a:r>
              <a:rPr sz="1300">
                <a:solidFill>
                  <a:srgbClr val="1A1A1A"/>
                </a:solidFill>
                <a:latin typeface="Courier New"/>
              </a:rPr>
              <a:t>SELECT order_id FROM orders WHERE order_id = 1001;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93584" y="1783080"/>
            <a:ext cx="4388205" cy="43616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A semicolon ends a statement; a script runs several in order.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Result: the first returns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total_rows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= 15, the second returns order 1001.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COUNT(*)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is an aggregate function, explained Friday.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In Python's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sqlite3</a:t>
            </a:r>
            <a:r>
              <a:rPr sz="1250" b="0" i="0">
                <a:solidFill>
                  <a:srgbClr val="1A1A1A"/>
                </a:solidFill>
                <a:latin typeface="Arial"/>
              </a:rPr>
              <a:t>,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execute()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takes one statement;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executescript()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runs many.</a:t>
            </a:r>
          </a:p>
          <a:p>
            <a:pPr marL="228600" indent="-228600" algn="l">
              <a:spcAft>
                <a:spcPts val="800"/>
              </a:spcAft>
              <a:buFont typeface="Arial"/>
              <a:buChar char="•"/>
            </a:pPr>
            <a:r>
              <a:rPr sz="1250" b="0" i="0">
                <a:solidFill>
                  <a:srgbClr val="1A1A1A"/>
                </a:solidFill>
                <a:latin typeface="Arial"/>
              </a:rPr>
              <a:t>Always end statements with </a:t>
            </a:r>
            <a:r>
              <a:rPr sz="1200" b="0" i="0">
                <a:solidFill>
                  <a:srgbClr val="330066"/>
                </a:solidFill>
                <a:latin typeface="Courier New"/>
              </a:rPr>
              <a:t>;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so scripts are portable.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54 / 59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Dialect Cheat Sheet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2" cy="2167636"/>
        </p:xfrm>
        <a:graphic>
          <a:graphicData uri="http://schemas.openxmlformats.org/drawingml/2006/table">
            <a:tbl>
              <a:tblPr/>
              <a:tblGrid>
                <a:gridCol w="1755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4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6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49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43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SQLite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MySQL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PostgreSQL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SQL Server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Oracle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03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Limit rows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LIMIT 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LIMIT 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LIMIT 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SELECT TOP n ...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FETCH FIRST n ROWS ONLY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 (12c+)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Concatenate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a || b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CONCAT(a,b)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a || b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a + b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 /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CONCAT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a || b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String length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LENGTH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LENGTH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 /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CHAR_LENGTH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LENGTH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LEN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LENGTH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03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Text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=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 compare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case-sensitive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case-insensitive (default)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case-sensitive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case-insensitive (default)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case-sensitive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55 / 59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Dialect Cheat Sheet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PART 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904" y="1783080"/>
          <a:ext cx="10971882" cy="1801876"/>
        </p:xfrm>
        <a:graphic>
          <a:graphicData uri="http://schemas.openxmlformats.org/drawingml/2006/table">
            <a:tbl>
              <a:tblPr/>
              <a:tblGrid>
                <a:gridCol w="1755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4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6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49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43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SQLite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MySQL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PostgreSQL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SQL Server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Oracle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330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Quote identifiers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"x"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 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x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 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[x]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x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 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0066"/>
                          </a:solidFill>
                          <a:latin typeface="Courier New"/>
                        </a:rPr>
                        <a:t>"x"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[x]</a:t>
                      </a:r>
                      <a:r>
                        <a:rPr sz="1150" b="0" i="0">
                          <a:solidFill>
                            <a:srgbClr val="1A1A1A"/>
                          </a:solidFill>
                          <a:latin typeface="Arial"/>
                        </a:rPr>
                        <a:t> or </a:t>
                      </a:r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"x"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0066"/>
                          </a:solidFill>
                          <a:latin typeface="Courier New"/>
                        </a:rPr>
                        <a:t>"x"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03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Today's date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date('now')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CURDATE()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0066"/>
                          </a:solidFill>
                          <a:latin typeface="Courier New"/>
                        </a:rPr>
                        <a:t>CURRENT_DATE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CAST(GETDATE() AS DATE)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0066"/>
                          </a:solidFill>
                          <a:latin typeface="Courier New"/>
                        </a:rPr>
                        <a:t>SYSDATE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7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034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A1A1A"/>
                          </a:solidFill>
                          <a:latin typeface="Arial"/>
                        </a:rPr>
                        <a:t>Query with no table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SELECT 1;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SELECT 1;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0066"/>
                          </a:solidFill>
                          <a:latin typeface="Courier New"/>
                        </a:rPr>
                        <a:t>SELECT 1;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330066"/>
                          </a:solidFill>
                          <a:latin typeface="Courier New"/>
                        </a:rPr>
                        <a:t>SELECT 1;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0066"/>
                          </a:solidFill>
                          <a:latin typeface="Courier New"/>
                        </a:rPr>
                        <a:t>SELECT 1 FROM dual;</a:t>
                      </a:r>
                    </a:p>
                  </a:txBody>
                  <a:tcPr marL="109728" marR="109728" marT="36576" marB="36576" anchor="ctr">
                    <a:lnL w="3175" cap="flat">
                      <a:solidFill>
                        <a:srgbClr val="D9D9D9"/>
                      </a:solidFill>
                    </a:lnL>
                    <a:lnR w="3175" cap="flat">
                      <a:solidFill>
                        <a:srgbClr val="D9D9D9"/>
                      </a:solidFill>
                    </a:lnR>
                    <a:lnT w="3175" cap="flat">
                      <a:solidFill>
                        <a:srgbClr val="D9D9D9"/>
                      </a:solidFill>
                    </a:lnT>
                    <a:lnB w="317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09904" y="5138927"/>
            <a:ext cx="10971885" cy="914400"/>
          </a:xfrm>
          <a:prstGeom prst="roundRect">
            <a:avLst>
              <a:gd name="adj" fmla="val 9000"/>
            </a:avLst>
          </a:prstGeom>
          <a:solidFill>
            <a:srgbClr val="F5F5C2"/>
          </a:solidFill>
          <a:ln w="12700">
            <a:solidFill>
              <a:srgbClr val="F5F5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8504" y="5276088"/>
            <a:ext cx="1051468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 i="0">
                <a:solidFill>
                  <a:srgbClr val="5C8A8A"/>
                </a:solidFill>
                <a:latin typeface="Arial"/>
              </a:rPr>
              <a:t>TIP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You do not need to memorise this table. When a query copied from the internet fails in your environment, check dialect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56 / 59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Summary (1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SQL is the standard declarative language: you describe what you want, the engine decides how.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33172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404872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statement is built from keywords, identifiers, literals, operators, expressions and clauses, and ends with a semicolon.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98653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059684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Keywords are case-insensitive; we use UPPER CASE keywords and lower_snake_case names.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53517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60832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Text uses single quotes (double an apostrophe: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'O''Brien'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); numbers have no quotes; NULL is a bare word; dates are ISO strings.</a:t>
            </a:r>
          </a:p>
        </p:txBody>
      </p:sp>
      <p:sp>
        <p:nvSpPr>
          <p:cNvPr id="12" name="Oval 11"/>
          <p:cNvSpPr/>
          <p:nvPr/>
        </p:nvSpPr>
        <p:spPr>
          <a:xfrm>
            <a:off x="609904" y="418998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8544" y="4263136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Use a single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=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for equality,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&lt;&gt;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for not-equal,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AND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/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OR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/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NOT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for logic.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57 / 59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Summary (2 of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8288"/>
            <a:ext cx="1097188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9999"/>
                </a:solidFill>
                <a:latin typeface="Arial"/>
              </a:rPr>
              <a:t>SUMMARY</a:t>
            </a:r>
          </a:p>
        </p:txBody>
      </p:sp>
      <p:sp>
        <p:nvSpPr>
          <p:cNvPr id="4" name="Oval 3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8544" y="1856231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Text comparison case-sensitivity depends on the product, which can give different test results across environments.</a:t>
            </a:r>
          </a:p>
        </p:txBody>
      </p:sp>
      <p:sp>
        <p:nvSpPr>
          <p:cNvPr id="6" name="Oval 5"/>
          <p:cNvSpPr/>
          <p:nvPr/>
        </p:nvSpPr>
        <p:spPr>
          <a:xfrm>
            <a:off x="609904" y="243789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8544" y="2511044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Comments: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-- line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and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/ block /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609904" y="2986532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544" y="3059684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Clauses are written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SELECT, FROM, WHERE, ORDER BY, LIMIT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but processed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FROM, WHERE, SELECT, ORDER BY, LIMIT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10" name="Oval 9"/>
          <p:cNvSpPr/>
          <p:nvPr/>
        </p:nvSpPr>
        <p:spPr>
          <a:xfrm>
            <a:off x="609904" y="3641344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8544" y="3714496"/>
            <a:ext cx="10423245" cy="490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Read errors calmly: look at the word the message mentions and the token just before it; beware silent errors like a missing comma.</a:t>
            </a:r>
          </a:p>
        </p:txBody>
      </p:sp>
      <p:sp>
        <p:nvSpPr>
          <p:cNvPr id="12" name="Oval 11"/>
          <p:cNvSpPr/>
          <p:nvPr/>
        </p:nvSpPr>
        <p:spPr>
          <a:xfrm>
            <a:off x="609904" y="4296156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8544" y="4369308"/>
            <a:ext cx="10423245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Dialect differences (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LIMIT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vs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TOP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||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vs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CONCAT</a:t>
            </a:r>
            <a:r>
              <a:rPr sz="1400" b="0" i="0">
                <a:solidFill>
                  <a:srgbClr val="1A1A1A"/>
                </a:solidFill>
                <a:latin typeface="Arial"/>
              </a:rPr>
              <a:t>,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LENGTH</a:t>
            </a:r>
            <a:r>
              <a:rPr sz="1400" b="0" i="0">
                <a:solidFill>
                  <a:srgbClr val="1A1A1A"/>
                </a:solidFill>
                <a:latin typeface="Arial"/>
              </a:rPr>
              <a:t> vs </a:t>
            </a:r>
            <a:r>
              <a:rPr sz="1350" b="0" i="0">
                <a:solidFill>
                  <a:srgbClr val="330066"/>
                </a:solidFill>
                <a:latin typeface="Courier New"/>
              </a:rPr>
              <a:t>LEN</a:t>
            </a:r>
            <a:r>
              <a:rPr sz="1400" b="0" i="0">
                <a:solidFill>
                  <a:srgbClr val="1A1A1A"/>
                </a:solidFill>
                <a:latin typeface="Arial"/>
              </a:rPr>
              <a:t>) are small but real.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58 / 59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330066"/>
                </a:solidFill>
              </a:rPr>
              <a:t>Additional Resources</a:t>
            </a:r>
          </a:p>
        </p:txBody>
      </p:sp>
      <p:sp>
        <p:nvSpPr>
          <p:cNvPr id="3" name="Oval 2"/>
          <p:cNvSpPr/>
          <p:nvPr/>
        </p:nvSpPr>
        <p:spPr>
          <a:xfrm>
            <a:off x="609904" y="17830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8544" y="18196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PostgreSQL documentation: SQL Syntax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https://www.postgresql.org/docs/current/sql-syntax.html</a:t>
            </a:r>
          </a:p>
        </p:txBody>
      </p:sp>
      <p:sp>
        <p:nvSpPr>
          <p:cNvPr id="5" name="Oval 4"/>
          <p:cNvSpPr/>
          <p:nvPr/>
        </p:nvSpPr>
        <p:spPr>
          <a:xfrm>
            <a:off x="609904" y="2434780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544" y="2471356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SQLite documentation: SQL As Understood By SQLite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https://www.sqlite.org/lang.html</a:t>
            </a:r>
          </a:p>
        </p:txBody>
      </p:sp>
      <p:sp>
        <p:nvSpPr>
          <p:cNvPr id="7" name="Oval 6"/>
          <p:cNvSpPr/>
          <p:nvPr/>
        </p:nvSpPr>
        <p:spPr>
          <a:xfrm>
            <a:off x="609904" y="3086481"/>
            <a:ext cx="384048" cy="384048"/>
          </a:xfrm>
          <a:prstGeom prst="ellipse">
            <a:avLst/>
          </a:prstGeom>
          <a:solidFill>
            <a:srgbClr val="33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8544" y="3123057"/>
            <a:ext cx="10423245" cy="4505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1" i="0">
                <a:solidFill>
                  <a:srgbClr val="330066"/>
                </a:solidFill>
                <a:latin typeface="Arial"/>
              </a:rPr>
              <a:t>MySQL Reference Manual: Language Structure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>
                <a:solidFill>
                  <a:srgbClr val="330066"/>
                </a:solidFill>
                <a:latin typeface="Courier New"/>
              </a:rPr>
              <a:t>https://dev.mysql.com/doc/refman/8.0/en/language-structure.html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6382512"/>
            <a:ext cx="8686800" cy="140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900" b="0" i="0" dirty="0">
                <a:solidFill>
                  <a:srgbClr val="5A5A5A"/>
                </a:solidFill>
                <a:latin typeface="Arial"/>
              </a:rPr>
              <a:t>59 / 59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rners Point">
  <a:themeElements>
    <a:clrScheme name="1_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1_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earners Point" id="{5ABB7BE2-076F-42C1-9907-FD58862889C1}" vid="{2565D177-60C2-4381-BEC4-E0C09BB79C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4278</Words>
  <Application>Microsoft Office PowerPoint</Application>
  <PresentationFormat>Widescreen</PresentationFormat>
  <Paragraphs>653</Paragraphs>
  <Slides>58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2" baseType="lpstr">
      <vt:lpstr>Arial</vt:lpstr>
      <vt:lpstr>Courier New</vt:lpstr>
      <vt:lpstr>Wingdings</vt:lpstr>
      <vt:lpstr>Learners Point</vt:lpstr>
      <vt:lpstr>SQL Syntax</vt:lpstr>
      <vt:lpstr>Learning Objectives (1 of 2)</vt:lpstr>
      <vt:lpstr>Learning Objectives (2 of 2)</vt:lpstr>
      <vt:lpstr>What Is SQL?</vt:lpstr>
      <vt:lpstr>SQL: Key Facts</vt:lpstr>
      <vt:lpstr>Procedural: HOW (Python)</vt:lpstr>
      <vt:lpstr>Declarative: WHAT (SQL)</vt:lpstr>
      <vt:lpstr>Anatomy of a Statement</vt:lpstr>
      <vt:lpstr>Anatomy: Example Query</vt:lpstr>
      <vt:lpstr>Building Blocks (1 of 2)</vt:lpstr>
      <vt:lpstr>Building Blocks (2 of 2)</vt:lpstr>
      <vt:lpstr>Reading a Query Like a Sentence</vt:lpstr>
      <vt:lpstr>Case Sensitivity</vt:lpstr>
      <vt:lpstr>Case Trap: Text Values</vt:lpstr>
      <vt:lpstr>Course Style Convention</vt:lpstr>
      <vt:lpstr>Whitespace Is Ignored</vt:lpstr>
      <vt:lpstr>Comments and Literals</vt:lpstr>
      <vt:lpstr>Comments</vt:lpstr>
      <vt:lpstr>Comment Dialect Notes</vt:lpstr>
      <vt:lpstr>Literals (1 of 2)</vt:lpstr>
      <vt:lpstr>Literals (2 of 2)</vt:lpstr>
      <vt:lpstr>Apostrophe Inside Text</vt:lpstr>
      <vt:lpstr>Forgetting to Double It</vt:lpstr>
      <vt:lpstr>QA Connection: SQL Injection</vt:lpstr>
      <vt:lpstr>Dates</vt:lpstr>
      <vt:lpstr>Identifiers and Operators</vt:lpstr>
      <vt:lpstr>Quoting Identifiers</vt:lpstr>
      <vt:lpstr>Quoted Aliases</vt:lpstr>
      <vt:lpstr>Reserved Words</vt:lpstr>
      <vt:lpstr>Arithmetic Operators</vt:lpstr>
      <vt:lpstr>Computed Columns</vt:lpstr>
      <vt:lpstr>Integer Division Trap</vt:lpstr>
      <vt:lpstr>Comparison Operators</vt:lpstr>
      <vt:lpstr>Single = Not ==</vt:lpstr>
      <vt:lpstr>Logical Operators</vt:lpstr>
      <vt:lpstr>Concatenation by Product</vt:lpstr>
      <vt:lpstr>Concatenation Example</vt:lpstr>
      <vt:lpstr>Functions and Query Order</vt:lpstr>
      <vt:lpstr>Everyday Functions (1 of 2)</vt:lpstr>
      <vt:lpstr>Everyday Functions (2 of 2)</vt:lpstr>
      <vt:lpstr>Functions in a Query</vt:lpstr>
      <vt:lpstr>COALESCE for NULLs</vt:lpstr>
      <vt:lpstr>Written Order of Clauses</vt:lpstr>
      <vt:lpstr>Logical Order of Processing</vt:lpstr>
      <vt:lpstr>Why the Order Matters</vt:lpstr>
      <vt:lpstr>Errors, Semicolons and Dialects</vt:lpstr>
      <vt:lpstr>Errors Are Feedback</vt:lpstr>
      <vt:lpstr>Misspelled Keyword</vt:lpstr>
      <vt:lpstr>Missing Comma: Silent Error</vt:lpstr>
      <vt:lpstr>Unknown Column or Table</vt:lpstr>
      <vt:lpstr>Trailing Comma</vt:lpstr>
      <vt:lpstr>A Debugging Routine</vt:lpstr>
      <vt:lpstr>Multiple Statements</vt:lpstr>
      <vt:lpstr>Dialect Cheat Sheet (1 of 2)</vt:lpstr>
      <vt:lpstr>Dialect Cheat Sheet (2 of 2)</vt:lpstr>
      <vt:lpstr>Summary (1 of 2)</vt:lpstr>
      <vt:lpstr>Summary (2 of 2)</vt:lpstr>
      <vt:lpstr>Additional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Learners Point Template</dc:title>
  <dc:creator>Learners Point</dc:creator>
  <cp:lastModifiedBy>Jasdhir Singh</cp:lastModifiedBy>
  <cp:revision>2</cp:revision>
  <dcterms:modified xsi:type="dcterms:W3CDTF">2026-10-19T19:15:54Z</dcterms:modified>
</cp:coreProperties>
</file>