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10/19/2026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10/19/2026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Filtering and Sorting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Return exactly the rows that matter, in a reliable order: WHERE, IN, BETWEEN, LIKE, NULL, DISTINCT, ORDER BY and LIMIT.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5861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24379" y="3520439"/>
            <a:ext cx="213741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AND / OR / NOT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5322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18989" y="3520439"/>
            <a:ext cx="69723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0765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73419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BETWEEN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621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627924" y="3520439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LIKE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5662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22384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IS NULL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41112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76889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DISTINCT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22856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2651409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ORDER BY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416016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4525929" y="3520439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LIMIT</a:t>
            </a:r>
          </a:p>
        </p:txBody>
      </p:sp>
      <p:sp>
        <p:nvSpPr>
          <p:cNvPr id="22" name="Oval 21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return only the rows that satisfy a condition.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Apply comparison operators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&lt;&gt;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&lt;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&gt;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&lt;=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&gt;=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to numbers, text and dates.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Combine conditions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AND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NOT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control evaluation order with parentheses.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for lists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BETWEEN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for (inclusive) ranges.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Search text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LIKE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the wildcards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%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71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 for missing values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IS NOT NULL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explain why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= NULL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never works.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Remove duplicate rows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DISTINCT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Sort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(ascending / descending, several columns) and make sorts deterministic.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Restrict rows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LIMIT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(and the dialect equivalents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TOP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FETCH FIRST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Combine filtering, sorting and limiting in a single query.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Filtering with WHERE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Comparisons for numbers, text and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71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WHERE Clause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  columns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    table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   condition;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71830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customer_name, country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country = 'Canada';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After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picks the table, the database checks each row against your condition. TRUE keeps the row; FALSE (or unknown) discards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Example: orders from Canada. Three rows say yes.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WHERE Filters Rows, SELECT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customer_name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WHERE country = 'Mexico';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can filter on a column you do not display.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Here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country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used in the condition but not shown. Result: Isabel Torres and Maria Lopez.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71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Comparison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893824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Works 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=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equal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numbers, text, dates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&lt;&gt;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(or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!=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not equal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numbers, text, dates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&lt;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&lt;=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less than / less than or equal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numbers, text, dates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&gt;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&gt;=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greater than / greater than or equal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numbers, text, dates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product, quantity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quantity &gt; 2;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product, unit_price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unit_price &gt;= 300;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Numbers are written without quotes.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'300'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quotes becomes text: some engines convert it, others reject it. Do not rely on automatic conversion.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Text: Exact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status = 'PENDING';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status &lt;&gt; 'DELIVERED';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Text is in single quotes and the comparison is exact.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In the second result order 1008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lower case) appears, because in SQLite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'delivered' &lt;&gt; 'DELIVERED'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MySQL and SQL Server (case-insensitive by default) would not show it. It is also a data-quality bug.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Text: Normalise the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WHERE UPPER(status) &lt;&gt; 'DELIVERED';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UPPER(status)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compares ignoring case, in a way that works on every engine.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Now order 1008 is correctly treated as delivered.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71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order_date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order_date &gt; '2025-02-15';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52928"/>
            <a:ext cx="640080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99232"/>
            <a:ext cx="5998464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order_id, order_date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order_date &gt;= '2025-02-01' AND order_date &lt; '2025-03-01';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ISO text dates compare in calendar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second query is "everything in February".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Ending at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&lt; '2025-03-01'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(the first moment of next month) is robust: it also works for timestamps where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'2025-02-28 15:30:00'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must count as February.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Combining Conditions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AND, OR, NOT, precedence, IN and BETWEEN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71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AND, OR,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565910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Result is true when...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A AND 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both A and B are true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A OR 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at least one of A, B is true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NOT 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 is not true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AND Narrows, OR Widens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country, 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country = 'USA' AND status = 'PENDING';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58521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54498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status = 'PENDING' OR status = 'CANCELLED';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additional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makes the filter stricter: fewer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additional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makes it looser: more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71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NOT Negates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754880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35254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order_id, country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WHERE NOT country = 'USA';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0544" y="1783080"/>
            <a:ext cx="58512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Equivalent 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country &lt;&gt; 'USA'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NOT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most useful in front of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BETWEEN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LIKE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 BETWEEN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 LIKE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 NOT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71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Precedence: The Wrong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Goal: pending or shipped orders from the UK.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21792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8155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order_id, country, status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status = 'PENDING' OR status = 'SHIPPED' AND country = 'UK';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93584" y="2221991"/>
            <a:ext cx="438820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AND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evaluated before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like multiplication before addition.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Read as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status = 'PENDING' OR (status = 'SHIPPED' AND country = 'UK')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all pending orders from any country, plus only shipped UK 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71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Precedence: The Correct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21792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8155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order_id, country, status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(status = 'PENDING' OR status = 'SHIPPED') AND country = 'UK';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3584" y="1783080"/>
            <a:ext cx="43882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Parentheses override the default.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Only one order is both (pending or shipped) and from the UK: order 1011.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71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Habit for Testers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645920"/>
          </a:xfrm>
          <a:prstGeom prst="roundRect">
            <a:avLst>
              <a:gd name="adj" fmla="val 5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HABIT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Whenever you mix AND and OR, add parentheses, even when you are confident about precedence. A validation query with missing parentheses can return nothing wrong when there is something wrong: a false pass, the worst kind of test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71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 and NOT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country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country IN ('UK', 'Mexico');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5120640" cy="909827"/>
          </a:xfrm>
          <a:prstGeom prst="roundRect">
            <a:avLst>
              <a:gd name="adj" fmla="val 804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718303" cy="617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WHERE status NOT IN ('DELIVERED', 'SHIPPED');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shorthand for several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s on one column: exactly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country = 'UK' OR country = 'Mexico'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Numbers work too: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order_id IN (1001, 1005, 1010)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rows whose value is not in the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71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Valid-Values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status NOT IN ('PENDING', 'SHIPPED', 'DELIVERED', 'CANCELLED');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very useful QA pattern: find rows that violate the specification.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Order 1008 (lower-case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 is flagged as invalid: right spelling, wrong case, which a case-sensitive system may mishandle.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Warning: a NULL inside the list makes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return no rows (see Part 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71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BETWEEN: Inclusive Ranges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unit_price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unit_price BETWEEN 20 AND 100;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52928"/>
            <a:ext cx="512064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99232"/>
            <a:ext cx="471830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order_id, order_date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order_date BETWEEN '2025-01-10' AND '2025-01-20';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BETWEEN low AND high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shorthand for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&gt;= low AND &lt;= high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Both ends are included.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Order 1002 (exactly 25.5) is in. On dates, orders on exactly 2025-01-10 (1003) and 2025-01-20 (1006) are both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71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BETWEEN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7548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quantity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quantity NOT BETWEEN 1 AND 5;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0544" y="1783080"/>
            <a:ext cx="58512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Order of bounds matters: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BETWEEN 100 AND 20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returns nothing.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On a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TIMESTAMP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column,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BETWEEN '2025-01-10' AND '2025-01-20'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stops at midnight at the start of the 20th and loses most of that day. Use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&gt;= ... AND &lt; next_day</a:t>
            </a:r>
            <a:r>
              <a:rPr sz="1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NOT BETWEEN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finds quantities outside an allowed 1 to 5: the zero, the negative, and the bulk order of 10. Ask the team whether 10 is legitimate.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71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Pattern Matching and NULL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LIKE wildcards, then the most important subsection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71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LIKE Wildcards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138936"/>
        </p:xfrm>
        <a:graphic>
          <a:graphicData uri="http://schemas.openxmlformats.org/drawingml/2006/table">
            <a:tbl>
              <a:tblPr/>
              <a:tblGrid>
                <a:gridCol w="1645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Wildcard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Matches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%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any number of characters (including zero)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'A%'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matches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Alice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Alan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_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exactly one character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'_at'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matches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Bat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not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or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Chat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Pattern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271268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'A%'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starts with 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'%son'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ends with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'%an%'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contains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anywhere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'_o%'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second letter is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'%@example.com'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ends with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71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LIKE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customer_name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customer_name LIKE 'A%';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customer_name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customer_name LIKE '%son';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'A%'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names starting with A.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'%son'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names ending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NOT LIKE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inverts the match.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More LIKE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product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product LIKE '%USB%';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customer_name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customer_name LIKE '_a%';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'%USB%'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finds products containing USB.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'_a%'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second letter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Matches Carla, David, Jack, Karen and Maria; not Frank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 or Isabel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_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exactly one character, then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then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%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for whatever follows.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71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QA Use: Malformed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754880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35254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order_id, email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WHERE email NOT LIKE '%@%.%';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0544" y="1783080"/>
            <a:ext cx="58512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'%@%.%'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means some text, an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@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some text, a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.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some text.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Only order 1006 (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frank.moore@example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 fails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NULL emails do not appear either: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NULL NOT LIKE ...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unknown.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Regular expressions are more precise (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REGEXP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in MySQL,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~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in PostgreSQL) but not portable.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71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LIKE: Case and Literal Wildcards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product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product LIKE 'laptop';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52928"/>
            <a:ext cx="5852160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99232"/>
            <a:ext cx="5449824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'SAVE_10%' AS code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'SAVE_10%' LIKE 'SAVE\_10\%' ESCAPE '\';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SQLite, MySQL, SQL Server: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LIKE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is case-insensitive by default. PostgreSQL and Oracle: case-sensitive (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ILIKE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in PostgreSQL). Portable: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LOWER(product) LIKE 'laptop'</a:t>
            </a:r>
            <a:r>
              <a:rPr sz="1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ESCAPE '\'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makes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\_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\%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mean the literal characters (SQL Server also allows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[_]</a:t>
            </a:r>
            <a:r>
              <a:rPr sz="12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[%]</a:t>
            </a:r>
            <a:r>
              <a:rPr sz="12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LIKE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463040"/>
          </a:xfrm>
          <a:prstGeom prst="roundRect">
            <a:avLst>
              <a:gd name="adj" fmla="val 5624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PERFORMANCE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LIKE 'abc%'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(starts with) can use an index, but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LIKE '%abc'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'%abc%'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usually forces the database to read every row. Fine on small test databases; on production-sized data, ask a developer before running leading-wildcard searches.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71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= NULL Never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7548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email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email = NULL;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47548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email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email &lt;&gt; NULL;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544" y="1783080"/>
            <a:ext cx="58512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Both return zero rows, even though two orders have a NULL email.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For a NULL row,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NULL = 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asks whether an unknown equals an unknown: the answer is UNKNOWN.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keeps only rows where the condition is TRUE, so UNKNOWN rows are dropped.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71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IS NULL and IS NOT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7548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customer_name, email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email IS NULL;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475488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352544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email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email IS NOT NULL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AND order_id &lt;= 1003;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544" y="1783080"/>
            <a:ext cx="58512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 NOT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are the correct tools.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Order 1004 and 1014 are the NULL-email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71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Three-Valued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Three truth values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TRUE, FALSE and UNKNOWN. Any comparison with NULL gives UNKNOWN.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WHERE keeps TRUE only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UNKNOWN rows are filtered out along with FALSE 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Consequence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"Not equal" queries silently skip NULL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71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Truth Table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959864"/>
        </p:xfrm>
        <a:graphic>
          <a:graphicData uri="http://schemas.openxmlformats.org/drawingml/2006/table">
            <a:tbl>
              <a:tblPr/>
              <a:tblGrid>
                <a:gridCol w="548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Expression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NULL =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NULL &lt;&gt; 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5 &gt;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NULL IS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71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Truth Table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959864"/>
        </p:xfrm>
        <a:graphic>
          <a:graphicData uri="http://schemas.openxmlformats.org/drawingml/2006/table">
            <a:tbl>
              <a:tblPr/>
              <a:tblGrid>
                <a:gridCol w="548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Expression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TRUE AND UNKNOWN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FALSE AND UNKNOWN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TRUE OR UNKNOWN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NOT UNKNOWN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71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Not Equal Skips NULLs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email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email &lt;&gt; 'alice.j@example.com'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AND order_id &lt;= 1004;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051048"/>
            <a:ext cx="58521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197352"/>
            <a:ext cx="54498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order_id, email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(email &lt;&gt; 'alice.j@example.com' OR email IS NULL)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AND order_id &lt;= 1004;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Order 1004 (NULL email) is not in the first output, though its email certainly is not Alice's.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To include NULLs say so: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 email IS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with parentheses.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71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NOT IN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90118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status NOT IN ('PENDING', NULL);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9184" y="1783080"/>
            <a:ext cx="53026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You might expect all non-pending orders. You get nothing.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It expands to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status &lt;&gt; 'PENDING' AND status &lt;&gt; 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the second part is always UNKNOWN.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single NULL in the list ruins the whole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71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Empty String Versus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email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email IS NULL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OR TRIM(email) = ''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OR UPPER(email) IN ('NULL', 'N/A');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missing value can be stored as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''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or a placeholder like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'N/A'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'NULL'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 These are not NULL, so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will not find them.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thorough validation checks several shapes of missing.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In our dataset only genuine NULLs exist. On Oracle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''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NULL, so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TRIM(email) = ''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never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71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DISTINCT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Removing duplicates and discovering real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71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DISTINCT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380390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country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15768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862072"/>
            <a:ext cx="380390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DISTINCT country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904" y="1783080"/>
            <a:ext cx="6399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Only want to know which different values exist? Put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DISTINCT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right after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first query returns 15 rows with repeats; the second returns four different countries.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71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DISTINCT on Several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3525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DISTINCT country, status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0544" y="1783080"/>
            <a:ext cx="58512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DISTINCT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applies to the whole row of selected columns, not just the first.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This lists each combination of country and status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71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QA Uses for DISTINCT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Discover real values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SELECT DISTINCT status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shows five values, including lower-case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which the spec says should not exist.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Check consistency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Of categories, countries or 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Spot variants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USA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U.S.A.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United States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71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DISTINCT and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90118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DISTINCT email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order_id IN (1001, 1004, 1009, 1014);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9184" y="1783080"/>
            <a:ext cx="53026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NULLs are treated as equal for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DISTINCT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so all NULLs collapse into one.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Alice's repeated email appears once; the two NULLs appear as one NULL row.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Counting distinct values and finding duplicates belong to aggregates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on Friday.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71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Sorting and Limiting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ORDER BY, tiebreakers, NULL position, LIMIT and OFFSET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71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ORDER BY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Only reliable order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Without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row order is not guaranteed. It is written near the end of the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ASC and DESC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Ascending is default: smallest to largest, A to Z, oldest to newest.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DESC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reverses it. Writing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ASC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explicitly can aid readability.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71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Sorting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product, unit_price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ORDER BY unit_price;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product, unit_price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ORDER BY unit_price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First query ascending (the default); second descending.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71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Sorting Text and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customer_name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ORDER BY customer_name;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898648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044952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order_date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ORDER BY order_date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Text sorts alphabetically according to the collation (rules about case and accents). ISO dates sort chronologically.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order_date DESC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the most-recent-first pattern for finding the order you just created.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Numbers stored as text sort wrongly (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'10'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before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'9'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); check the column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71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Several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country, unit_price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ORDER BY country ASC, unit_price DESC;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When rows tie on the first key, the second decides; each key has its own direction.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Sort by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country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 to Z; within each country, most expensive first. Within Canada: 1150, 9.99, 9.99.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Orders 1003 and 1013 tie (both Canada, 9.99): the database may return them in either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71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Deterministic Sorts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909827"/>
          </a:xfrm>
          <a:prstGeom prst="roundRect">
            <a:avLst>
              <a:gd name="adj" fmla="val 804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617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SELECT order_id, country, unit_price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ORDER BY country ASC, unit_price DESC, order_id ASC;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Tied rows have unspecified order: a test comparing to an expected list could pass one day and fail the next.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Add a tiebreaker: a final unique key, usually the primary key.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Now 1003 always comes before 1013.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71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Sort by Alias, Expression,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818388"/>
          </a:xfrm>
          <a:prstGeom prst="roundRect">
            <a:avLst>
              <a:gd name="adj" fmla="val 8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525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order_id, quantity * unit_price AS line_total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line_total DESC;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84348"/>
            <a:ext cx="512064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30652"/>
            <a:ext cx="4718303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customer_name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ORDER BY order_date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LIMIT 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Alias is allowed because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runs after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 You can also sort by an expression or by position (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ORDER BY 2 DESC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Positions are fragile: reordering columns changes the sort silently. Prefer names.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You can sort by a column you do not show. Result: Alice Johnson, Bob Smith, Carla Gomez.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71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NULLs Sort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1171956"/>
        </p:xfrm>
        <a:graphic>
          <a:graphicData uri="http://schemas.openxmlformats.org/drawingml/2006/table">
            <a:tbl>
              <a:tblPr/>
              <a:tblGrid>
                <a:gridCol w="493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NULLs in ascending order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SQLite, MySQL, 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first (treated as the smallest)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PostgreSQL, Oracle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last (treated as the largest)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71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Controlling NULL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email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order_id IN (1003, 1004, 1005, 1014)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email;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051048"/>
            <a:ext cx="512064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197352"/>
            <a:ext cx="4718303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email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order_id IN (1003, 1004, 1005, 1014)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email NULLS LAST;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PostgreSQL, Oracle, and recent SQLite support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NULLS FIRST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NULLS LAST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MySQL: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 BY email IS NULL, email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SQL Server: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 BY CASE WHEN email IS NULL THEN 1 ELSE 0 END, email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54 / 71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572000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169663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order_id, customer_name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LIMIT 3;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7664" y="1783080"/>
            <a:ext cx="60341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LIMIT 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at most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rows, at the very end of the query.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Without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it returns some three rows, not a meaningful "first three". Pair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unless any sample will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55 / 71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Top-N and Latest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-- The 3 most expensive products ordered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product, unit_price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unit_price DESC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LIMIT 3;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249168"/>
            <a:ext cx="585216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395472"/>
            <a:ext cx="544982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-- The most recent order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customer_name, order_date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order_date DESC, order_id DESC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LIMIT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Top-N pattern combines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ORDER BY ... DESC LIMIT 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finds the record your test just created when you do not know its 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56 / 71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OFFSET: Paging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38912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3986783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order_id, customer_name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ORDER BY order_id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LIMIT 5 OFFSET 5;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4784" y="1783080"/>
            <a:ext cx="62170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OFFSET 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skips the first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rows.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LIMIT 5 OFFSET 5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the second page of five.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Testers use it to verify pagination.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MySQL also accepts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LIMIT 5, 5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(offset first): confusing; avoid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57 / 71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Limiting Rows in Other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306574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Syntax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SQLite, MySQL, PostgreSQL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... ORDER BY x LIMIT 3 OFFSET 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TOP 3 ... ORDER BY x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or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ORDER BY x OFFSET 5 ROWS FETCH NEXT 3 ROWS ONLY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Oracle 12c+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ORDER BY x OFFSET 5 ROWS FETCH NEXT 3 ROWS ONLY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(or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FETCH FIRST 3 ROWS ONLY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Standard 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OFFSET 5 ROWS FETCH FIRST 3 ROWS ONLY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58 / 71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Older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Before 12c, Oracle used the pseudo-column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ROWNUM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which you may meet in legacy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59 / 71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Putting It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Full clause order, QA scenarios and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60 / 71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Full Clause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  [DISTINCT] columns / expressions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    table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   row conditions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ORDER BY sort keys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LIMIT    count [OFFSET skip];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Processed as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DISTINCT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So rows are filtered first, sorted second and limited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61 / 71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Two Largest Pending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1786128"/>
          </a:xfrm>
          <a:prstGeom prst="roundRect">
            <a:avLst>
              <a:gd name="adj" fmla="val 4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149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customer_name,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quantity * unit_price AS line_total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status = 'PENDING'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ORDER BY line_total DESC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LIMIT 2;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(1) Keep PENDING rows: 1004, 1007, 1011, 1014.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(2) Compute line totals: 300, 0, -25.5, 450.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(3) Sort descending: 450, 300, 0, -25.5.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(4) Take the first two.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62 / 71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1: Did My Order Arrive?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customer_name, product, status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customer_name = 'Karen White'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order_id DESC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LIMIT 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UI test placed an order for Karen White and must confirm it exists.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Latest-first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LIMIT 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her newest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63 / 71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2: Find Test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customer_name, status, country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status = 'PENDING'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AND country = 'UK'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order_id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LIMIT 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need a pending UK order to test the cancel feature.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LIMIT 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a deterministic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one usable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64 / 71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3: Needs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product, quantity, unit_price, status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(quantity &gt;= 5 OR unit_price &gt;= 1000)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AND UPPER(status) &lt;&gt; 'DELIVERED'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unit_price DESC, 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Large (quantity 5 or more) or expensive (price at least 1000) orders not yet delivered.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Parentheses around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UPPER(status)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handles the lower-case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65 / 71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4: Is the Data Clean?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product, quantity, unit_price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quantity NOT BETWEEN 1 AND 100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OR unit_price &lt;= 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Orders with quantity outside 1..100 or a zero price.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returned row is a potential defect to investigate: three suspicious rows from one short query.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66 / 71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229993"/>
        </p:xfrm>
        <a:graphic>
          <a:graphicData uri="http://schemas.openxmlformats.org/drawingml/2006/table">
            <a:tbl>
              <a:tblPr/>
              <a:tblGrid>
                <a:gridCol w="3511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What goes wrong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WHERE col =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Zero rows, silently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IS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NOT IN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list containing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Zero 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Remove NULLs from the list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AND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/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without parentheses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Wrong 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Add parentheses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BETWEEN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with reversed bounds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Zero 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Low value first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BETWEEN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on timestamps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Last day truncated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&gt;= start AND &lt; next_day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67 / 71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675763"/>
        </p:xfrm>
        <a:graphic>
          <a:graphicData uri="http://schemas.openxmlformats.org/drawingml/2006/table">
            <a:tbl>
              <a:tblPr/>
              <a:tblGrid>
                <a:gridCol w="3511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What goes wrong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Comparing text with wrong case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Missed (or extra) rows depending on engine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UPPER(col) = 'VALUE'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LIKE '%x'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on large tables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Slow query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Avoid leading wildcards where possible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LIMIT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without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ORDER BY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Random-looking 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Always sort first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Ties in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ORDER BY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Unstable order between runs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Add the primary key last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&lt;&gt;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expecting NULL 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NULL rows skipped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 col IS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68 / 71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keeps rows whose condition is TRUE; it filters rows,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chooses columns.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Text and dates go in single quotes; numbers do not.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narrows,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widens,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negates.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binds tighter than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use parentheses.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429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0215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matches a list,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BETWEEN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 inclusive range,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LIKE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 pattern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%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397763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05079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NULL is unknown.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 NOT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never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69 / 71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&lt;&gt;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skip NULL rows, and a NULL in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list returns nothing.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DISTINCT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removes duplicates and reveals the real set of values.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only way to guarantee order; use a unique tiebreaker.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429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0215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LIMIT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OFFSET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restricts rows; always combine it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Other engines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TOP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FETCH FIRST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08381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15696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Dialect watch-outs: text comparison case,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LIKE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case, NULL sort position, row-limiting syntax.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70 / 71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PostgreSQL: Table Expressions (WHERE)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https://www.postgresql.org/docs/current/queries-table-expressions.html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PostgreSQL: Sorting Rows (ORDER BY)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https://www.postgresql.org/docs/current/queries-order.html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PostgreSQL: LIMIT and OFFSET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https://www.postgresql.org/docs/current/queries-limit.html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SQLite: NULL Handling in SQLite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https://www.sqlite.org/nulls.html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71 / 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4623</Words>
  <Application>Microsoft Office PowerPoint</Application>
  <PresentationFormat>Widescreen</PresentationFormat>
  <Paragraphs>713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3" baseType="lpstr">
      <vt:lpstr>Arial</vt:lpstr>
      <vt:lpstr>Courier New</vt:lpstr>
      <vt:lpstr>Wingdings</vt:lpstr>
      <vt:lpstr>Learners Point</vt:lpstr>
      <vt:lpstr>Filtering and Sorting Data</vt:lpstr>
      <vt:lpstr>Learning Objectives (1 of 2)</vt:lpstr>
      <vt:lpstr>Learning Objectives (2 of 2)</vt:lpstr>
      <vt:lpstr>Filtering with WHERE</vt:lpstr>
      <vt:lpstr>The WHERE Clause</vt:lpstr>
      <vt:lpstr>WHERE Filters Rows, SELECT Columns</vt:lpstr>
      <vt:lpstr>Comparison Operators</vt:lpstr>
      <vt:lpstr>Numbers</vt:lpstr>
      <vt:lpstr>Text: Exact Comparison</vt:lpstr>
      <vt:lpstr>Text: Normalise the Case</vt:lpstr>
      <vt:lpstr>Dates</vt:lpstr>
      <vt:lpstr>Combining Conditions</vt:lpstr>
      <vt:lpstr>AND, OR, NOT</vt:lpstr>
      <vt:lpstr>AND Narrows, OR Widens</vt:lpstr>
      <vt:lpstr>NOT Negates</vt:lpstr>
      <vt:lpstr>Precedence: The Wrong Version</vt:lpstr>
      <vt:lpstr>Precedence: The Correct Version</vt:lpstr>
      <vt:lpstr>Habit for Testers</vt:lpstr>
      <vt:lpstr>IN and NOT IN</vt:lpstr>
      <vt:lpstr>Valid-Values Check</vt:lpstr>
      <vt:lpstr>BETWEEN: Inclusive Ranges</vt:lpstr>
      <vt:lpstr>BETWEEN Pitfalls</vt:lpstr>
      <vt:lpstr>Pattern Matching and NULL</vt:lpstr>
      <vt:lpstr>LIKE Wildcards</vt:lpstr>
      <vt:lpstr>Common Pattern Shapes</vt:lpstr>
      <vt:lpstr>LIKE Examples</vt:lpstr>
      <vt:lpstr>More LIKE Examples</vt:lpstr>
      <vt:lpstr>QA Use: Malformed Emails</vt:lpstr>
      <vt:lpstr>LIKE: Case and Literal Wildcards</vt:lpstr>
      <vt:lpstr>LIKE Performance</vt:lpstr>
      <vt:lpstr>= NULL Never Works</vt:lpstr>
      <vt:lpstr>IS NULL and IS NOT NULL</vt:lpstr>
      <vt:lpstr>Three-Valued Logic</vt:lpstr>
      <vt:lpstr>Truth Table (1 of 2)</vt:lpstr>
      <vt:lpstr>Truth Table (2 of 2)</vt:lpstr>
      <vt:lpstr>Not Equal Skips NULLs</vt:lpstr>
      <vt:lpstr>The NOT IN Trap</vt:lpstr>
      <vt:lpstr>Empty String Versus NULL</vt:lpstr>
      <vt:lpstr>DISTINCT</vt:lpstr>
      <vt:lpstr>DISTINCT</vt:lpstr>
      <vt:lpstr>DISTINCT on Several Columns</vt:lpstr>
      <vt:lpstr>QA Uses for DISTINCT</vt:lpstr>
      <vt:lpstr>DISTINCT and NULL</vt:lpstr>
      <vt:lpstr>Sorting and Limiting</vt:lpstr>
      <vt:lpstr>ORDER BY Basics</vt:lpstr>
      <vt:lpstr>Sorting Numbers</vt:lpstr>
      <vt:lpstr>Sorting Text and Dates</vt:lpstr>
      <vt:lpstr>Several Columns</vt:lpstr>
      <vt:lpstr>Deterministic Sorts</vt:lpstr>
      <vt:lpstr>Sort by Alias, Expression, Position</vt:lpstr>
      <vt:lpstr>Where NULLs Sort</vt:lpstr>
      <vt:lpstr>Controlling NULL Position</vt:lpstr>
      <vt:lpstr>LIMIT</vt:lpstr>
      <vt:lpstr>Top-N and Latest</vt:lpstr>
      <vt:lpstr>OFFSET: Paging</vt:lpstr>
      <vt:lpstr>Limiting Rows in Other Databases</vt:lpstr>
      <vt:lpstr>Older Oracle</vt:lpstr>
      <vt:lpstr>Putting It Together</vt:lpstr>
      <vt:lpstr>Full Clause Order</vt:lpstr>
      <vt:lpstr>Two Largest Pending Orders</vt:lpstr>
      <vt:lpstr>Scenario 1: Did My Order Arrive?</vt:lpstr>
      <vt:lpstr>Scenario 2: Find Test Data</vt:lpstr>
      <vt:lpstr>Scenario 3: Needs Attention</vt:lpstr>
      <vt:lpstr>Scenario 4: Is the Data Clean?</vt:lpstr>
      <vt:lpstr>Common Mistakes (1 of 2)</vt:lpstr>
      <vt:lpstr>Common Mistakes (2 of 2)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1</cp:revision>
  <dcterms:modified xsi:type="dcterms:W3CDTF">2026-10-19T19:20:22Z</dcterms:modified>
</cp:coreProperties>
</file>