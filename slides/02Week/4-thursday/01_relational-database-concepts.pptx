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10/21/2026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10/21/2026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Relational Database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The vocabulary and mental model behind every SQL query: tables, rows, columns, types, NULL, keys and RDBMS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712" y="3502153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table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65427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731187" y="3502153"/>
            <a:ext cx="81724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9872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5632" y="3502153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column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74362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40122" y="3502153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data type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68897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34657" y="3502153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NULL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63357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29117" y="3502153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schema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97847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63608" y="3502153"/>
            <a:ext cx="135331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 dirty="0">
                <a:solidFill>
                  <a:srgbClr val="330066"/>
                </a:solidFill>
                <a:latin typeface="Arial"/>
              </a:rPr>
              <a:t>primary key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1082757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357077" y="3502153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 dirty="0">
                <a:solidFill>
                  <a:srgbClr val="330066"/>
                </a:solidFill>
                <a:latin typeface="Arial"/>
              </a:rPr>
              <a:t>RDBMS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database is and why applications store data in databases rather than loose files.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the relational model using table, row, column, schema and RDBMS, mapped to spreadsheet and CSV ideas.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the common SQL data types and why every column has one.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NULL means and why it is not zero or an empty string.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Describe, at a conceptual level, primary keys and foreign keys and why data is split across tables.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Name the major RDBMS products (SQLite, MySQL, PostgreSQL, SQL Server, Oracle) and how they differ at a high level.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Set up the small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practice database used for the rest of Thursday and run a first query.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a QA / test automation engineer needs to read from databases.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Week 2 hardens your Python, teaches collaborative Git, then adds SQL for QA data validation. Almost every real application you test keeps its important data in a relational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97180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After a tester clicks "Place Order", the interesting questions are: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429000"/>
            <a:ext cx="1097188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Did exactly one order row get created?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Is the quantity stored correctly?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Is the order status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PENDING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as the requirements say?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Did the system store a negative quantity or a missing email?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Why This Matters: The Truth Lives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The user interface can lie, or at least hide problems. The database is where the truth lives.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606040"/>
            <a:ext cx="1097188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Find bugs that UI-only testers miss.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Prepare test data quickly.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Verify that automated tests changed the system state they claim to have changed.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Project 1: QE Foundations has a milestone of data validation queries. This lesson gives the mental model, with no heavy syntax.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5257800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5394960"/>
            <a:ext cx="105146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PRIOR KNOWLEDGE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 Tuesday you read and wrote CSV files with Python. A CSV file is a table of rows and columns stored as text. A relational database is that idea made more powerful, safer and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Databases and Why They Exist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a database is, and why files are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 Database?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Database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organised collection of data stored so it can be searched, changed and protected by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DBMS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Database Management System: the software that manages a database for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RDBMS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Relational Database Management System: a DBMS where the database is relational.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Filing cabinet 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go to the right drawer and folder instead of reading every sheet. A database does this at thousands or millions of look-ups per second, with rules that stop wrong data going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Not Just Use Files?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539997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8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 with a plain CSV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 an RDBMS helps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19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Concurrent access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Two users place orders at the same moment and both programs try to write to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orders.csv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. One overwrites the other.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RDBMS coordinates simultaneous readers and writers safely.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19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Speed on large data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find one order among 10 million, the program must read the file line by line.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RDBMS can use indexes (like the index at the back of a book) to jump straight to the answer.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No rules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Nothing stops someone typing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abc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into a quantity column.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Columns have data types and rules.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Not Just Use Files?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110737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8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 with a plain CSV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 an RDBMS helps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Querying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Every question needs new Python code.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You ask questions in one standard language, SQL.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Partial failures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crash in the middle of saving leaves a half-written file.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Transactions ensure that a change either happens completely or not at all.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Anyone who can read the file can read everything.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Accounts and permissions control who can see or change what.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4956048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093208"/>
            <a:ext cx="105146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FILES STILL HAVE A PLACE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CSV and JSON are excellent for exchanging data and for test fixtures. But for the system of record of a serious application, a database is the standard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Tables, Rows and Columns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relational model and the rules every table follows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Relational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Origin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1970 E. F. Codd proposed storing data in relations, which we call tables. It underpins nearly every mainstream database in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Table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Holds data about one kind of thing: customers, products,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Columns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Run vertically (also fields or attributes). They define what facts we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Rows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Run horizontally (also records or tuples). Each row is one instance of the 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Tiny orders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2" cy="1516380"/>
        </p:xfrm>
        <a:graphic>
          <a:graphicData uri="http://schemas.openxmlformats.org/drawingml/2006/table">
            <a:tbl>
              <a:tblPr/>
              <a:tblGrid>
                <a:gridCol w="153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3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order_id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customer_name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1001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Alice Johnson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Laptop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1002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Bob Smith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Wireless Mouse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1003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Carla Gomez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USB-C Cable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the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customer_name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product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quantity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are columns. Together they describe the structure of the 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row starting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1002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one record: Bob Smith ordered 2 Wireless Mice and the order has shipped.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single cell, such as the value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SHIPPED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sits at the intersection of one row and one column. It is the smallest piece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Spreadsheet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353818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Spreadsheet term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Database term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Worksheet / tab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Header row (column titles)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Column names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Each following row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Row / record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Cell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Value (a single field in a record)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Whole workbook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Tables Are Stricter Than Spreadsheets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645920"/>
          </a:xfrm>
          <a:prstGeom prst="roundRect">
            <a:avLst>
              <a:gd name="adj" fmla="val 5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KEY IDEA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a spreadsheet you can type text in a number column, merge cells or leave a hole in the middle. In a database table every column has a fixed data type and every row has exactly the same columns. This strictness is a feature: predictable data is testable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Properties of Tables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row has the same columns. If something does not apply, the cell holds NULL.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Column names are unique within a table: you cannot have two columns called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Each cell holds one value: not "Laptop, Mouse, Keyboard" in one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product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cell. Several products means more rows or another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Properties of Tables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Rows are conceptually unordered. A table is a set of rows. Unless you ask for an order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later today), the database may return rows in any order. You may see insertion order on your laptop, but never rely on that in a test.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 identity: each row should be uniquely identifiable, usually by a key column (Part 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Data Types, NULL and Schemas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a column may hold, what "no value" means, and what a schema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Data Types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Restriction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column is declared with a data type that restricts what it can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Correct comparisons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Is 10 bigger than 9? As numbers yes, as text no, because '10' sorts before '9'.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Storage and validation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type also affects how data is stored and what the database can validate.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Data Type Families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115564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type names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Whole numbers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INTEGER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INT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BIGINT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SMALLINT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42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-1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No decimal point.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19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Exact decimals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DECIMAL(p,s)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NUMERIC(p,s)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1200.00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9.99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Preferred for money.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DECIMAL(10,2)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means up to 10 digits in total, 2 after the point.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Approximate decimals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REAL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FLOAT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DOUBLE PRECISION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3.14159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Fast but can have tiny rounding errors. Avoid for currency in production.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Data Type Families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1691131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type names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VARCHAR(n)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CHAR(n)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'Alice'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'USA'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VARCHAR(50)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holds up to 50 characters.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Dates and times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DATE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TIME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TIMESTAMP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DATETIME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'2025-01-05'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Standard format is year-month-day.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True / 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BOOLEAN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(MySQL: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TINYINT(1)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; SQL Server: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BIT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Dialects differ.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Note and QA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SQLite is unusual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It uses type affinity: a declared type is more of a preference than a strict rule, and there is no true DATE type. We store order_date as ISO text (YYYY-MM-DD), which sorts chronologically.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Other engines are stricter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MySQL, PostgreSQL and SQL Server are much stricter. In production you would declare the column DATE. Everything written today works either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QA connection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Type problems are a classic defect source: a price stored as text, a phone number stored as an integer (drops a leading zero), dates in DD/MM/YYYY in one row and MM/DD/YYYY in another.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NULL: The "No Value" Marker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What it is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special marker for a fact that is unknown, missing or not applicable, such as no email given or no delivery date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Not the number 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quantity of 0 is a known value (nothing ordered). A NULL quantity means we do not know.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Not an empty string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empty string is a known text of length zero. NULL is the absence of any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Not the text 'NULL'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 data sometimes contains this by mistake. That is a bug worth catching.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Because NULL means unknown, comparing anything to it gives an unknown answer, not true or false.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788920"/>
            <a:ext cx="1097188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This is why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email =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never works.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SQL has the special test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the Filtering lesson explores it thoroughly.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In our practice data, orders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1004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1014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have a NULL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email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Schemas: Two Meanings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Meaning 1: the blueprint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table name, columns, data types and rules. "Has the schema changed?" means tables or columns were added, removed or modified. Schema changes break queries and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Meaning 2: a namespace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PostgreSQL and SQL Server a database can hold several schemas (public, sales, hr). A table is then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sales.orders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In MySQL, schema is a synonym for database. SQLite has none.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Schema of Our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schema of the orders table, as columns only: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780288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48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orders(order_id, customer_name, email, product, category,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       quantity, unit_price, status, order_date, country)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"Schema" Means by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271268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"schema" means in practice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Namespace inside a database (default: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public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Namespace inside a database (default: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dbo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MySQL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Same thing as the database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 schemas; one set of tables per database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Oracle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 schema is tied to a user account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230368"/>
            <a:ext cx="10971885" cy="822960"/>
          </a:xfrm>
          <a:prstGeom prst="roundRect">
            <a:avLst>
              <a:gd name="adj" fmla="val 10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367528"/>
            <a:ext cx="105146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HIERARCHY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From largest to smallest: server, database, schema, table, row, column or cell.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Keys and Relationships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 conceptual introduction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Primary Key and Foreign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problem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table is a set of rows. Two customers might both be named John Smith. We need a dependable way to point to exactly one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Primary key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column (or set of columns) whose value uniquely identifies each row and is never NULL. In our table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the primary key. It is the ID card of a 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Foreign key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column in one table that refers to the primary key of another table. This is how tables are linked, and where the name relational comes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Split Data Into Tables?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Repetition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Alice ordered twice (orders 1001 and 1009). In our single teaching table her name and email are typed twice.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Inconsistency risk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If she changes her email we must update every row, and if we miss one the data is inconsistent.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real-shop approach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Store each customer once in a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table. Each order carries only a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customer_id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pointing at that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Customers and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Splitting data this way to avoid repetition is called normalisation, a design topic for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981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customers                         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+-------------+-------------+      +----------+-------------+------------+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| customer_id | name        |      | order_id | customer_id | product    |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+-------------+-------------+      +----------+-------------+------------+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| 1           | Alice       |&lt;-----| 1001     | 1           | Laptop     |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| 2           | Bob         |&lt;--+  | 1009     | 1           | Headphones |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+-------------+-------------+   +--| 1002     | 2           | Mouse      |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                       +----------+-------------+------------+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customer_id is the PRIMARY KEY      customer_id here is a FOREIGN KEY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of customers                         pointing back at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Relationships Between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One-to-many: one customer has many orders. By far the most common.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Many-to-many: many students attend many courses. Usually modelled with a third linking 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One-to-one: one user has one profile record. Rare.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If a single-table query seems to miss information (such as a phone number), it is probably stored in another table. Friday teaches how to bring it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RDBMS, SQL Families and QA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software behind the tables, the groups of SQL commands, and where testers meet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an RDBMS?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program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Stores tables on disk, lets many users connect, enforces rules and answers SQL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Librarian 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You hand a written request (SQL) to a diligent librarian, who finds the books (rows), checks your library card (permissions) and returns exactly what you asked for.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Client / server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The database runs as a service, often on another machine; you connect with a client such as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psql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MySQL Workbench, SQL Server Management Studio, DBeaver or test framework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Embedded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SQLite is just a file that your program opens directly.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Popular RDBMS Products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061210"/>
        </p:xfrm>
        <a:graphic>
          <a:graphicData uri="http://schemas.openxmlformats.org/drawingml/2006/table">
            <a:tbl>
              <a:tblPr/>
              <a:tblGrid>
                <a:gridCol w="186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7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Typical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Notes for testers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Mobile apps, browsers, local tools, teaching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 single file; no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Zero setup. We use it for practice because it needs nothing installed beyond Python.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MySQL / MariaDB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Web applications (WordPress, many startups)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Client /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Very common in web QA. Default text comparisons are case-insensitive.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Modern web back-ends, analytics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Client /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Strict, standards-focused, rich features. Text comparison is case-sensitive.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Popular RDBMS Products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1502156"/>
        </p:xfrm>
        <a:graphic>
          <a:graphicData uri="http://schemas.openxmlformats.org/drawingml/2006/table">
            <a:tbl>
              <a:tblPr/>
              <a:tblGrid>
                <a:gridCol w="186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7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Typical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Notes for testers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Microsoft 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Enterprise Windows / .NET shops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Client /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Uses T-SQL dialect (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TOP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instead of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LIMIT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).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Oracle Database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Large enterprises, banks, telecoms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Client /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Own dialect (PL/SQL).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FETCH FIRST n ROWS ONLY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for limiting.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One Language, Small Dialects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SQL is standard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Structured Query Language has been standardised (ANSI/ISO SQL) since the 1980s.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About 90 percent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Roughly 90 percent of what you learn today works unchanged on all of these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About 10 percent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Dialect differences. We flag them as we go (for example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TOP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vs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vs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FETCH FIRST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Families of SQL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934740"/>
              </p:ext>
            </p:extLst>
          </p:nvPr>
        </p:nvGraphicFramePr>
        <p:xfrm>
          <a:off x="609904" y="1783080"/>
          <a:ext cx="10536633" cy="3108961"/>
        </p:xfrm>
        <a:graphic>
          <a:graphicData uri="http://schemas.openxmlformats.org/drawingml/2006/table">
            <a:tbl>
              <a:tblPr/>
              <a:tblGrid>
                <a:gridCol w="113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0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4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53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Data Query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Read data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5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DDL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Data Definition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Define structure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CREATE TABLE</a:t>
                      </a:r>
                      <a:r>
                        <a:rPr sz="1250" b="0" i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ALTER</a:t>
                      </a:r>
                      <a:r>
                        <a:rPr sz="1250" b="0" i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DROP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5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DML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Data Manipulation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Change data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INSERT</a:t>
                      </a:r>
                      <a:r>
                        <a:rPr sz="1250" b="0" i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UPDATE</a:t>
                      </a:r>
                      <a:r>
                        <a:rPr sz="1250" b="0" i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DELETE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1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DCL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Data Control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Permissions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GRANT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REVOKE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5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TCL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Transaction Control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Group changes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COMMIT</a:t>
                      </a:r>
                      <a:r>
                        <a:rPr sz="1250" b="0" i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 dirty="0">
                          <a:solidFill>
                            <a:srgbClr val="330066"/>
                          </a:solidFill>
                          <a:latin typeface="Courier New"/>
                        </a:rPr>
                        <a:t>ROLLBACK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Where QA Engineers Meet Databases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Verifying the back end after a UI or API test: submit the Place Order form, then query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to confirm the row exists with the right values.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Preparing test data: "three customers from Canada with PENDING orders".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Investigating a defect: a wrong total could be a UI, API or data bug; look at the stored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Where QA Engineers Meet Databases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Data migration testing: compare record counts and values after moving to a new system.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Reporting and monitoring tests: check that a nightly job loaded yesterday's data.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environment health: confirm the database contains the baseline data a suite expects.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Data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974921" cy="4361688"/>
          </a:xfrm>
          <a:prstGeom prst="roundRect">
            <a:avLst>
              <a:gd name="adj" fmla="val 4167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1517721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Completeness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Is everything there?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9145" y="1783080"/>
            <a:ext cx="1974921" cy="4361688"/>
          </a:xfrm>
          <a:prstGeom prst="roundRect">
            <a:avLst>
              <a:gd name="adj" fmla="val 4167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87745" y="1965960"/>
            <a:ext cx="1517721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Correctness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Is it right?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8387" y="1783080"/>
            <a:ext cx="1974921" cy="4361688"/>
          </a:xfrm>
          <a:prstGeom prst="roundRect">
            <a:avLst>
              <a:gd name="adj" fmla="val 4167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6987" y="1965960"/>
            <a:ext cx="1517721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Consistency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Does it agree with itself?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7628" y="1783080"/>
            <a:ext cx="1974921" cy="4361688"/>
          </a:xfrm>
          <a:prstGeom prst="roundRect">
            <a:avLst>
              <a:gd name="adj" fmla="val 4167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6228" y="1965960"/>
            <a:ext cx="1517721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Uniqueness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Is each thing stored once?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6869" y="1783080"/>
            <a:ext cx="1974921" cy="4361688"/>
          </a:xfrm>
          <a:prstGeom prst="roundRect">
            <a:avLst>
              <a:gd name="adj" fmla="val 4167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35469" y="1965960"/>
            <a:ext cx="1517721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Validity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Does it follow the rules?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5230368"/>
            <a:ext cx="10971885" cy="822960"/>
          </a:xfrm>
          <a:prstGeom prst="roundRect">
            <a:avLst>
              <a:gd name="adj" fmla="val 10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" y="5367528"/>
            <a:ext cx="105146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COMING UP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We build queries for each of these five checks by the end of the 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Our Practice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60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6749E0-CCDD-D61C-A861-053516C4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Practice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small table called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from an imaginary online electronics shop.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example, exercise and answer in the day's materials uses the same 15 rows, so you can compare your results with ours.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Three ways to run examples: Python's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module, the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command-line tool, or a graphical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Option A: Python as a Launcher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426208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13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sqlite3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Create (or open) a database file; use ":memory:" for a throw-away database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conn = sqlite3.connect("shop.db")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Read our setup script and run all of its statements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with open("setup.sql") as f: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conn.executescript(f.read())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Run a query and print the rows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for row in conn.execute("SELECT * FROM orders LIMIT 3;"):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print(row)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conn.close()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 built-in module; Python is only the launcher.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connect("shop.db")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opens or creates the file and returns a connection.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executescript(...)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runs a script of many statements.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conn.execute(...)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a cursor; loop over it to get rows as tuples.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conn.close()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releases the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Options B and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Option B: command-line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tool (preinstalled on macOS and many Linux distributions, a small download on Windows). Run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sqlite3 shop.db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paste the setup script and type queries. Useful: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.headers 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.mode column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.quit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Option C: graphical tool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DB Browser for SQLite or DBeaver: a window to type queries and see results as a grid.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Running the setup twice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You will see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table orders already exists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Delete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shop.db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:memory: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run the script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Setup Script: CREATE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852928"/>
          </a:xfrm>
          <a:prstGeom prst="roundRect">
            <a:avLst>
              <a:gd name="adj" fmla="val 25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CREATE TABLE orders (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order_id       INTEGER PRIMARY KEY,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customer_name  TEXT NOT NULL,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email          TEXT,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product        TEXT NOT NULL,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category       TEXT,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quantity       INTEGER,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unit_price     REAL,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status         TEXT,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order_date     TEXT,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country        TEXT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statement defines the structure.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separate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statement loads the 15 sample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Today you only run the script;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taught on Friday.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Full script: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setup.sql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the lesson.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CREATE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Table and columns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CREATE TABLE orders (...)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creates a table named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; column definitions go in the parentheses, separated by commas.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Primary key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order_id INTEGER PRIMARY KEY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: whole numbers, unique and non-NULL for every 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Required value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customer_name TEXT NOT NULL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: a constraint, a rule the database enforces. NULL is not allowed.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NULL allowed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email TEXT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has no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NOT NULL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which is why two orders can have no email.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7240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Numbers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quantity INTEGER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unit_price REAL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 In MySQL or PostgreSQL you would typically 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DECIMAL(10,2)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375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5975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Dates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order_date TEXT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holds ISO dates. In other engines, 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DATE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Column Dictionary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422651"/>
        </p:xfrm>
        <a:graphic>
          <a:graphicData uri="http://schemas.openxmlformats.org/drawingml/2006/table">
            <a:tbl>
              <a:tblPr/>
              <a:tblGrid>
                <a:gridCol w="186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1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Column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INTEGER, primary key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Unique id of the order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1001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customer_name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TEXT, required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Full name of the buyer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Alice Johnson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TEXT, may be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Buyer's email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alice.j@example.com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TEXT, required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Product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Laptop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Product group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Electronics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Accessories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Home Office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Column Dictionary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422651"/>
        </p:xfrm>
        <a:graphic>
          <a:graphicData uri="http://schemas.openxmlformats.org/drawingml/2006/table">
            <a:tbl>
              <a:tblPr/>
              <a:tblGrid>
                <a:gridCol w="186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1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Column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Units ordered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REAL (decimal)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Price per unit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25.5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Order lifecycle state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PENDING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SHIPPED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DELIVERED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CANCELLED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 (ISO date)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Date the order was placed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2025-01-05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Shipping country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USA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UK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Canada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Mexico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Data (rows 1001-1008)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79" cy="4328160"/>
        </p:xfrm>
        <a:graphic>
          <a:graphicData uri="http://schemas.openxmlformats.org/drawingml/2006/table">
            <a:tbl>
              <a:tblPr/>
              <a:tblGrid>
                <a:gridCol w="768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4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74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0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order_id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customer_name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email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order_date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country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Alice Johnson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alice.j@example.com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Laptop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Electronics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1200.0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2025-01-05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Bob Smith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bob.smith@example.com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Wireless Mouse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2025-01-07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Carla Gomez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carla.g@example.com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USB-C Cable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9.99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2025-01-10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Canada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David Lee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Electronics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300.0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2025-01-12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Emma Wilson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emma.w@example.com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Keyboard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80.0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CANCELLED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2025-01-15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1006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Frank Moore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frank.moore@example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Laptop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Electronics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1150.0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2025-01-20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Canada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1007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Grace Kim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grace.k@example.com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Webcam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Electronics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49.99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2025-02-01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Henry Adams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henry.a@example.com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Desk Lamp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Home Office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19.99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2025-02-03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Data (rows 1009-1015)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79" cy="3835146"/>
        </p:xfrm>
        <a:graphic>
          <a:graphicData uri="http://schemas.openxmlformats.org/drawingml/2006/table">
            <a:tbl>
              <a:tblPr/>
              <a:tblGrid>
                <a:gridCol w="768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4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74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0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order_id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customer_name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email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order_date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country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1009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Alice Johnson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alice.j@example.com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Headphones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Electronics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2025-02-10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Isabel Torres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isabel.t@example.com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Office Chair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Home Office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220.0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2025-02-14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Mexico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1011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Jack O'Brien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jack.ob@example.com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Wireless Mouse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2025-02-18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1012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Karen White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karen.w@example.com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Electronics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300.0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2025-03-02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1013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Liam Chen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liam.c@example.com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USB-C Cable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9.99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2025-03-05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Canada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1014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Maria Lopez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Standing Desk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Home Office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450.0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2025-03-09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Mexico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1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1015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Noah Brown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noah.b@example.com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Keyboard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2025-03-12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USA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 the Data as a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463040"/>
          </a:xfrm>
          <a:prstGeom prst="roundRect">
            <a:avLst>
              <a:gd name="adj" fmla="val 5624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THINK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Do you notice anything odd? You may spot a few suspicious values. Hold on to those thoughts: the last lesson of today, Using SQL for QA Data Validation, is all about finding them with queries.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Your First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SELECT chooses columns, FROM names the table. This is the shape of nearly everything you write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1A1A1A"/>
                </a:solidFill>
                <a:latin typeface="Courier New"/>
              </a:rPr>
              <a:t>SELECT order_id, customer_name, product</a:t>
            </a:r>
          </a:p>
          <a:p>
            <a:pPr algn="l">
              <a:lnSpc>
                <a:spcPct val="100000"/>
              </a:lnSpc>
            </a:pPr>
            <a:r>
              <a:rPr sz="20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First Query: Result (rows 1-8 of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3310128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order_id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customer_name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Alice Johnson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Laptop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Bob Smith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Wireless Mouse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Carla Gomez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USB-C Cable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David Lee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Emma Wilson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Keyboard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1006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Frank Moore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Laptop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1007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Grace Kim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Webcam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Henry Adams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Desk Lamp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First Query: Result (rows 9-15 of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944368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order_id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customer_name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1009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Alice Johnson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Headphones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Isabel Torres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Office Chair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1011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Jack O'Brien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Wireless Mouse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1012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Karen White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1013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Liam Chen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USB-C Cable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1014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Maria Lopez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Standing Desk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1015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Noah Brown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Keyboard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database is an organised, software-managed collection of data; an RDBMS manages relational databases.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Data lives in tables: columns are the structure, rows are the records.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column has a data type and every row has the same columns, which makes data predictable and testable.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NULL means unknown or no value: not zero, not an empty string.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18998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263136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schema is the blueprint of tables (and in some products a namespace).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primary key identifies a row; a foreign key points to a row in another table. Keys and JOINs come on Friday.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Rows have no guaranteed order unless you ask for one.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SQL is standard, with small dialect differences between products.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3517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60832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QA engineers use databases to verify results behind the UI, prepare data, investigate defects and validate migrations.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18998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263136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Our teaching dataset is a single 15-row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table reused throughout Thursday.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59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documentation: Datatypes In SQLite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https://www.sqlite.org/datatype3.html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tutorial: Concepts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https://www.postgresql.org/docs/current/tutorial-concepts.html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tutorial: Creating a New Table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https://www.postgresql.org/docs/current/tutorial-table.html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60 /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4642</Words>
  <Application>Microsoft Office PowerPoint</Application>
  <PresentationFormat>Widescreen</PresentationFormat>
  <Paragraphs>843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Arial</vt:lpstr>
      <vt:lpstr>Courier New</vt:lpstr>
      <vt:lpstr>Wingdings</vt:lpstr>
      <vt:lpstr>Learners Point</vt:lpstr>
      <vt:lpstr>Relational Database Concepts</vt:lpstr>
      <vt:lpstr>Learning Objectives (1 of 2)</vt:lpstr>
      <vt:lpstr>Learning Objectives (2 of 2)</vt:lpstr>
      <vt:lpstr>Why This Matters</vt:lpstr>
      <vt:lpstr>Why This Matters: The Truth Lives Here</vt:lpstr>
      <vt:lpstr>Databases and Why They Exist</vt:lpstr>
      <vt:lpstr>What Is a Database?</vt:lpstr>
      <vt:lpstr>Why Not Just Use Files? (1 of 2)</vt:lpstr>
      <vt:lpstr>Why Not Just Use Files? (2 of 2)</vt:lpstr>
      <vt:lpstr>Tables, Rows and Columns</vt:lpstr>
      <vt:lpstr>The Relational Model</vt:lpstr>
      <vt:lpstr>A Tiny orders Table</vt:lpstr>
      <vt:lpstr>Reading the Grid</vt:lpstr>
      <vt:lpstr>Spreadsheet Analogy</vt:lpstr>
      <vt:lpstr>Tables Are Stricter Than Spreadsheets</vt:lpstr>
      <vt:lpstr>Properties of Tables (1 of 2)</vt:lpstr>
      <vt:lpstr>Properties of Tables (2 of 2)</vt:lpstr>
      <vt:lpstr>Data Types, NULL and Schemas</vt:lpstr>
      <vt:lpstr>Why Data Types Matter</vt:lpstr>
      <vt:lpstr>Data Type Families (1 of 2)</vt:lpstr>
      <vt:lpstr>Data Type Families (2 of 2)</vt:lpstr>
      <vt:lpstr>Dialect Note and QA Connection</vt:lpstr>
      <vt:lpstr>NULL: The "No Value" Marker</vt:lpstr>
      <vt:lpstr>NULL Comparisons</vt:lpstr>
      <vt:lpstr>Schemas: Two Meanings</vt:lpstr>
      <vt:lpstr>Schema of Our Table</vt:lpstr>
      <vt:lpstr>What "Schema" Means by Product</vt:lpstr>
      <vt:lpstr>Keys and Relationships</vt:lpstr>
      <vt:lpstr>Primary Key and Foreign Key</vt:lpstr>
      <vt:lpstr>Why Split Data Into Tables?</vt:lpstr>
      <vt:lpstr>Customers and Orders</vt:lpstr>
      <vt:lpstr>Relationships Between Tables</vt:lpstr>
      <vt:lpstr>RDBMS, SQL Families and QA</vt:lpstr>
      <vt:lpstr>What Is an RDBMS?</vt:lpstr>
      <vt:lpstr>Popular RDBMS Products (1 of 2)</vt:lpstr>
      <vt:lpstr>Popular RDBMS Products (2 of 2)</vt:lpstr>
      <vt:lpstr>One Language, Small Dialects</vt:lpstr>
      <vt:lpstr>The Families of SQL Commands</vt:lpstr>
      <vt:lpstr>Where QA Engineers Meet Databases (1 of 2)</vt:lpstr>
      <vt:lpstr>Where QA Engineers Meet Databases (2 of 2)</vt:lpstr>
      <vt:lpstr>QA Data Checklist</vt:lpstr>
      <vt:lpstr>Our Practice Database</vt:lpstr>
      <vt:lpstr>The Practice Table</vt:lpstr>
      <vt:lpstr>Option A: Python as a Launcher</vt:lpstr>
      <vt:lpstr>Options B and C</vt:lpstr>
      <vt:lpstr>The Setup Script: CREATE TABLE</vt:lpstr>
      <vt:lpstr>Reading CREATE TABLE</vt:lpstr>
      <vt:lpstr>Column Dictionary (1 of 2)</vt:lpstr>
      <vt:lpstr>Column Dictionary (2 of 2)</vt:lpstr>
      <vt:lpstr>The Data (rows 1001-1008)</vt:lpstr>
      <vt:lpstr>The Data (rows 1009-1015)</vt:lpstr>
      <vt:lpstr>Read the Data as a Tester</vt:lpstr>
      <vt:lpstr>Your First Query</vt:lpstr>
      <vt:lpstr>First Query: Result (rows 1-8 of 15)</vt:lpstr>
      <vt:lpstr>First Query: Result (rows 9-15 of 15)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6</cp:revision>
  <dcterms:modified xsi:type="dcterms:W3CDTF">2026-10-21T15:01:26Z</dcterms:modified>
</cp:coreProperties>
</file>