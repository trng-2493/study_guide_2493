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6562" name="Line 2"/>
          <p:cNvSpPr>
            <a:spLocks noChangeShapeType="1"/>
          </p:cNvSpPr>
          <p:nvPr/>
        </p:nvSpPr>
        <p:spPr bwMode="auto">
          <a:xfrm>
            <a:off x="9753600" y="1066800"/>
            <a:ext cx="0" cy="17526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6563" name="Rectangle 3"/>
          <p:cNvSpPr>
            <a:spLocks noGrp="1" noChangeArrowheads="1"/>
          </p:cNvSpPr>
          <p:nvPr>
            <p:ph type="ctrTitle"/>
          </p:nvPr>
        </p:nvSpPr>
        <p:spPr>
          <a:xfrm>
            <a:off x="1016000" y="457200"/>
            <a:ext cx="8519584" cy="2133600"/>
          </a:xfrm>
        </p:spPr>
        <p:txBody>
          <a:bodyPr/>
          <a:lstStyle>
            <a:lvl1pPr>
              <a:defRPr/>
            </a:lvl1pPr>
          </a:lstStyle>
          <a:p>
            <a:pPr lvl="0"/>
            <a:r>
              <a:rPr lang="en-US" altLang="en-US" noProof="0"/>
              <a:t>Click to edit Master title style</a:t>
            </a:r>
          </a:p>
        </p:txBody>
      </p:sp>
      <p:sp>
        <p:nvSpPr>
          <p:cNvPr id="66564"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a:lvl1pPr>
          </a:lstStyle>
          <a:p>
            <a:pPr lvl="0"/>
            <a:r>
              <a:rPr lang="en-US" altLang="en-US" noProof="0"/>
              <a:t>Click to edit Master subtitle style</a:t>
            </a:r>
          </a:p>
        </p:txBody>
      </p:sp>
      <p:sp>
        <p:nvSpPr>
          <p:cNvPr id="66565" name="Rectangle 5"/>
          <p:cNvSpPr>
            <a:spLocks noGrp="1" noChangeArrowheads="1"/>
          </p:cNvSpPr>
          <p:nvPr>
            <p:ph type="dt" sz="half" idx="2"/>
          </p:nvPr>
        </p:nvSpPr>
        <p:spPr/>
        <p:txBody>
          <a:bodyPr/>
          <a:lstStyle>
            <a:lvl1pPr>
              <a:defRPr/>
            </a:lvl1pPr>
          </a:lstStyle>
          <a:p>
            <a:fld id="{F304A9D6-1313-4D51-A62E-402D441D9A7B}" type="datetime1">
              <a:rPr lang="en-US" smtClean="0"/>
              <a:t>10/19/2026</a:t>
            </a:fld>
            <a:endParaRPr lang="en-US"/>
          </a:p>
        </p:txBody>
      </p:sp>
      <p:sp>
        <p:nvSpPr>
          <p:cNvPr id="66566" name="Rectangle 6"/>
          <p:cNvSpPr>
            <a:spLocks noGrp="1" noChangeArrowheads="1"/>
          </p:cNvSpPr>
          <p:nvPr>
            <p:ph type="ftr" sz="quarter" idx="3"/>
          </p:nvPr>
        </p:nvSpPr>
        <p:spPr/>
        <p:txBody>
          <a:bodyPr/>
          <a:lstStyle>
            <a:lvl1pPr>
              <a:defRPr/>
            </a:lvl1pPr>
          </a:lstStyle>
          <a:p>
            <a:endParaRPr lang="en-US"/>
          </a:p>
        </p:txBody>
      </p:sp>
      <p:sp>
        <p:nvSpPr>
          <p:cNvPr id="66567" name="Rectangle 7"/>
          <p:cNvSpPr>
            <a:spLocks noGrp="1" noChangeArrowheads="1"/>
          </p:cNvSpPr>
          <p:nvPr>
            <p:ph type="sldNum" sz="quarter" idx="4"/>
          </p:nvPr>
        </p:nvSpPr>
        <p:spPr/>
        <p:txBody>
          <a:bodyPr/>
          <a:lstStyle>
            <a:lvl1pPr>
              <a:defRPr/>
            </a:lvl1pPr>
          </a:lstStyle>
          <a:p>
            <a:fld id="{83385899-0B10-4821-AAA8-DC5305EDD7F2}" type="slidenum">
              <a:rPr lang="en-US" smtClean="0"/>
              <a:t>‹#›</a:t>
            </a:fld>
            <a:endParaRPr lang="en-US"/>
          </a:p>
        </p:txBody>
      </p:sp>
      <p:sp>
        <p:nvSpPr>
          <p:cNvPr id="66568" name="Line 8"/>
          <p:cNvSpPr>
            <a:spLocks noChangeShapeType="1"/>
          </p:cNvSpPr>
          <p:nvPr/>
        </p:nvSpPr>
        <p:spPr bwMode="auto">
          <a:xfrm>
            <a:off x="1117600" y="2819400"/>
            <a:ext cx="8636000" cy="0"/>
          </a:xfrm>
          <a:prstGeom prst="line">
            <a:avLst/>
          </a:prstGeom>
          <a:noFill/>
          <a:ln w="63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grpSp>
        <p:nvGrpSpPr>
          <p:cNvPr id="66569" name="Group 9" descr="decorative graphic made up of dots"/>
          <p:cNvGrpSpPr>
            <a:grpSpLocks/>
          </p:cNvGrpSpPr>
          <p:nvPr/>
        </p:nvGrpSpPr>
        <p:grpSpPr bwMode="auto">
          <a:xfrm>
            <a:off x="9956801" y="1219200"/>
            <a:ext cx="1056217" cy="1295400"/>
            <a:chOff x="5136" y="960"/>
            <a:chExt cx="528" cy="864"/>
          </a:xfrm>
        </p:grpSpPr>
        <p:sp>
          <p:nvSpPr>
            <p:cNvPr id="66570" name="Oval 10"/>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1" name="Oval 11"/>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2" name="Oval 12"/>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3" name="Oval 13"/>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4" name="Oval 14"/>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5" name="Oval 15"/>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6" name="Oval 16"/>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7" name="Oval 17"/>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8" name="Oval 18"/>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9" name="Oval 19"/>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0" name="Oval 20"/>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1" name="Oval 21"/>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2" name="Oval 22"/>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3" name="Oval 23"/>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4" name="Oval 24"/>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5" name="Oval 25"/>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6" name="Oval 26"/>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7" name="Oval 27"/>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8" name="Oval 28"/>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9" name="Oval 29"/>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0" name="Oval 30"/>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1" name="Oval 31"/>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2" name="Oval 32"/>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3" name="Oval 33"/>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4" name="Oval 34"/>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5" name="Oval 35"/>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6" name="Oval 36"/>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7" name="Oval 37"/>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8" name="Oval 38"/>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9" name="Oval 39"/>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0" name="Oval 40"/>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grpSp>
        <p:nvGrpSpPr>
          <p:cNvPr id="66601" name="Group 41" descr="decorative graphic made up of dots"/>
          <p:cNvGrpSpPr>
            <a:grpSpLocks/>
          </p:cNvGrpSpPr>
          <p:nvPr/>
        </p:nvGrpSpPr>
        <p:grpSpPr bwMode="auto">
          <a:xfrm>
            <a:off x="9956801" y="1219200"/>
            <a:ext cx="1056217" cy="1295400"/>
            <a:chOff x="5136" y="960"/>
            <a:chExt cx="528" cy="864"/>
          </a:xfrm>
        </p:grpSpPr>
        <p:sp>
          <p:nvSpPr>
            <p:cNvPr id="66602" name="Oval 42"/>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3" name="Oval 43"/>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4" name="Oval 44"/>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5" name="Oval 45"/>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6" name="Oval 46"/>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7" name="Oval 47"/>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8" name="Oval 48"/>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9" name="Oval 49"/>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0" name="Oval 50"/>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1" name="Oval 51"/>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2" name="Oval 52"/>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3" name="Oval 53"/>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4" name="Oval 54"/>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5" name="Oval 55"/>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6" name="Oval 56"/>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7" name="Oval 57"/>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8" name="Oval 58"/>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9" name="Oval 59"/>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0" name="Oval 60"/>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1" name="Oval 61"/>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2" name="Oval 62"/>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3" name="Oval 63"/>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4" name="Oval 64"/>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5" name="Oval 65"/>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6" name="Oval 66"/>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7" name="Oval 67"/>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8" name="Oval 68"/>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9" name="Oval 69"/>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0" name="Oval 70"/>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1" name="Oval 71"/>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2" name="Oval 72"/>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8955" y="6247726"/>
            <a:ext cx="499764" cy="460309"/>
          </a:xfrm>
          <a:prstGeom prst="rect">
            <a:avLst/>
          </a:prstGeom>
        </p:spPr>
      </p:pic>
    </p:spTree>
    <p:extLst>
      <p:ext uri="{BB962C8B-B14F-4D97-AF65-F5344CB8AC3E}">
        <p14:creationId xmlns:p14="http://schemas.microsoft.com/office/powerpoint/2010/main" val="3085256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44A8556-2F07-416B-A81B-5F1C3AFD01EF}"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954" y="6261305"/>
            <a:ext cx="499764" cy="460309"/>
          </a:xfrm>
          <a:prstGeom prst="rect">
            <a:avLst/>
          </a:prstGeom>
        </p:spPr>
      </p:pic>
    </p:spTree>
    <p:extLst>
      <p:ext uri="{BB962C8B-B14F-4D97-AF65-F5344CB8AC3E}">
        <p14:creationId xmlns:p14="http://schemas.microsoft.com/office/powerpoint/2010/main" val="673722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6729637-7636-4388-949A-FC8BFDAA4705}"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706092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fld id="{A0F5DED8-6456-47A2-A5CC-BE8BEC6BD892}" type="datetime1">
              <a:rPr lang="en-US" smtClean="0"/>
              <a:t>10/19/2026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919174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fld id="{17595759-8665-4708-8376-28A90FA13BDD}" type="datetime1">
              <a:rPr lang="en-US" smtClean="0"/>
              <a:t>10/19/2026</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8297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fld id="{A3B0C243-4A55-4741-8265-C0A2FA769F7B}" type="datetime1">
              <a:rPr lang="en-US" smtClean="0"/>
              <a:t>10/19/2026</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278546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A99A12F7-971D-41C1-A2B7-EBB58FF381A3}" type="datetime1">
              <a:rPr lang="en-US" smtClean="0"/>
              <a:t>10/19/2026</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38111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E3C3D28-2E0C-4F8B-A45D-9E87921943BF}" type="datetime1">
              <a:rPr lang="en-US" smtClean="0"/>
              <a:t>10/19/2026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480995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020A2-9D30-48AD-A70D-69AD2B027FCA}" type="datetime1">
              <a:rPr lang="en-US" smtClean="0"/>
              <a:t>10/19/2026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2110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01F6343-4644-43E3-AA07-6869EC7CEA0D}"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892150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0CA0A126-F3CA-45B4-970B-597BE67A203E}"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4029465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600" y="6248400"/>
            <a:ext cx="2844800" cy="457200"/>
          </a:xfrm>
        </p:spPr>
        <p:txBody>
          <a:bodyPr/>
          <a:lstStyle>
            <a:lvl1pPr>
              <a:defRPr/>
            </a:lvl1pPr>
          </a:lstStyle>
          <a:p>
            <a:fld id="{16815F9B-CAFE-4C37-897A-C6403744783F}" type="datetime1">
              <a:rPr lang="en-US" smtClean="0"/>
              <a:t>10/19/2026</a:t>
            </a:fld>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737879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538" name="Line 2"/>
          <p:cNvSpPr>
            <a:spLocks noChangeShapeType="1"/>
          </p:cNvSpPr>
          <p:nvPr/>
        </p:nvSpPr>
        <p:spPr bwMode="auto">
          <a:xfrm>
            <a:off x="10668000" y="0"/>
            <a:ext cx="0" cy="15240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5539"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5540" name="Rectangle 4"/>
          <p:cNvSpPr>
            <a:spLocks noGrp="1" noChangeArrowheads="1"/>
          </p:cNvSpPr>
          <p:nvPr>
            <p:ph type="body" idx="1"/>
          </p:nvPr>
        </p:nvSpPr>
        <p:spPr bwMode="auto">
          <a:xfrm>
            <a:off x="609600" y="1719263"/>
            <a:ext cx="109728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5541" name="Rectangle 5"/>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fld id="{C569D4A1-8BB6-4430-9601-3FBC79908E8C}" type="datetime1">
              <a:rPr lang="en-US" smtClean="0"/>
              <a:t>10/19/2026</a:t>
            </a:fld>
            <a:endParaRPr lang="en-US"/>
          </a:p>
        </p:txBody>
      </p:sp>
      <p:sp>
        <p:nvSpPr>
          <p:cNvPr id="65542" name="Rectangle 6"/>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p>
        </p:txBody>
      </p:sp>
      <p:sp>
        <p:nvSpPr>
          <p:cNvPr id="65543" name="Rectangle 7"/>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fld id="{83385899-0B10-4821-AAA8-DC5305EDD7F2}" type="slidenum">
              <a:rPr lang="en-US" smtClean="0"/>
              <a:t>‹#›</a:t>
            </a:fld>
            <a:endParaRPr lang="en-US"/>
          </a:p>
        </p:txBody>
      </p:sp>
      <p:grpSp>
        <p:nvGrpSpPr>
          <p:cNvPr id="65544" name="Group 8" descr="decorative graphic made up of dots"/>
          <p:cNvGrpSpPr>
            <a:grpSpLocks/>
          </p:cNvGrpSpPr>
          <p:nvPr/>
        </p:nvGrpSpPr>
        <p:grpSpPr bwMode="auto">
          <a:xfrm>
            <a:off x="10871201" y="152400"/>
            <a:ext cx="1056217" cy="1295400"/>
            <a:chOff x="5136" y="960"/>
            <a:chExt cx="528" cy="864"/>
          </a:xfrm>
        </p:grpSpPr>
        <p:sp>
          <p:nvSpPr>
            <p:cNvPr id="65545"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6"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7"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8"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9"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0"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1"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2"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3"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4"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5"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6"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7"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8"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9"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0"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1"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2"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3"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4"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5"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6"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7"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8"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9"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0"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1"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2"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3"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4"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5"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65576" name="Line 40"/>
          <p:cNvSpPr>
            <a:spLocks noChangeShapeType="1"/>
          </p:cNvSpPr>
          <p:nvPr/>
        </p:nvSpPr>
        <p:spPr bwMode="auto">
          <a:xfrm>
            <a:off x="609600" y="1524000"/>
            <a:ext cx="10058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Tree>
    <p:extLst>
      <p:ext uri="{BB962C8B-B14F-4D97-AF65-F5344CB8AC3E}">
        <p14:creationId xmlns:p14="http://schemas.microsoft.com/office/powerpoint/2010/main" val="2634220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900" b="1" kern="1200">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defRPr>
      </a:lvl2pPr>
      <a:lvl3pPr algn="l" rtl="0" eaLnBrk="1" fontAlgn="base" hangingPunct="1">
        <a:spcBef>
          <a:spcPct val="0"/>
        </a:spcBef>
        <a:spcAft>
          <a:spcPct val="0"/>
        </a:spcAft>
        <a:defRPr sz="3900" b="1">
          <a:solidFill>
            <a:schemeClr val="tx2"/>
          </a:solidFill>
          <a:latin typeface="Arial" panose="020B0604020202020204" pitchFamily="34" charset="0"/>
        </a:defRPr>
      </a:lvl3pPr>
      <a:lvl4pPr algn="l" rtl="0" eaLnBrk="1" fontAlgn="base" hangingPunct="1">
        <a:spcBef>
          <a:spcPct val="0"/>
        </a:spcBef>
        <a:spcAft>
          <a:spcPct val="0"/>
        </a:spcAft>
        <a:defRPr sz="3900" b="1">
          <a:solidFill>
            <a:schemeClr val="tx2"/>
          </a:solidFill>
          <a:latin typeface="Arial" panose="020B0604020202020204" pitchFamily="34" charset="0"/>
        </a:defRPr>
      </a:lvl4pPr>
      <a:lvl5pPr algn="l" rtl="0" eaLnBrk="1" fontAlgn="base" hangingPunct="1">
        <a:spcBef>
          <a:spcPct val="0"/>
        </a:spcBef>
        <a:spcAft>
          <a:spcPct val="0"/>
        </a:spcAft>
        <a:defRPr sz="3900" b="1">
          <a:solidFill>
            <a:schemeClr val="tx2"/>
          </a:solidFill>
          <a:latin typeface="Arial" panose="020B0604020202020204" pitchFamily="34" charset="0"/>
        </a:defRPr>
      </a:lvl5pPr>
      <a:lvl6pPr marL="457200" algn="l" rtl="0" eaLnBrk="1" fontAlgn="base" hangingPunct="1">
        <a:spcBef>
          <a:spcPct val="0"/>
        </a:spcBef>
        <a:spcAft>
          <a:spcPct val="0"/>
        </a:spcAft>
        <a:defRPr sz="3900" b="1">
          <a:solidFill>
            <a:schemeClr val="tx2"/>
          </a:solidFill>
          <a:latin typeface="Arial" panose="020B0604020202020204" pitchFamily="34" charset="0"/>
        </a:defRPr>
      </a:lvl6pPr>
      <a:lvl7pPr marL="914400" algn="l" rtl="0" eaLnBrk="1" fontAlgn="base" hangingPunct="1">
        <a:spcBef>
          <a:spcPct val="0"/>
        </a:spcBef>
        <a:spcAft>
          <a:spcPct val="0"/>
        </a:spcAft>
        <a:defRPr sz="3900" b="1">
          <a:solidFill>
            <a:schemeClr val="tx2"/>
          </a:solidFill>
          <a:latin typeface="Arial" panose="020B0604020202020204" pitchFamily="34" charset="0"/>
        </a:defRPr>
      </a:lvl7pPr>
      <a:lvl8pPr marL="1371600" algn="l" rtl="0" eaLnBrk="1" fontAlgn="base" hangingPunct="1">
        <a:spcBef>
          <a:spcPct val="0"/>
        </a:spcBef>
        <a:spcAft>
          <a:spcPct val="0"/>
        </a:spcAft>
        <a:defRPr sz="3900" b="1">
          <a:solidFill>
            <a:schemeClr val="tx2"/>
          </a:solidFill>
          <a:latin typeface="Arial" panose="020B0604020202020204" pitchFamily="34" charset="0"/>
        </a:defRPr>
      </a:lvl8pPr>
      <a:lvl9pPr marL="1828800" algn="l" rtl="0" eaLnBrk="1" fontAlgn="base" hangingPunct="1">
        <a:spcBef>
          <a:spcPct val="0"/>
        </a:spcBef>
        <a:spcAft>
          <a:spcPct val="0"/>
        </a:spcAft>
        <a:defRPr sz="3900" b="1">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Basic Query Construction</a:t>
            </a:r>
          </a:p>
        </p:txBody>
      </p:sp>
      <p:sp>
        <p:nvSpPr>
          <p:cNvPr id="4" name="TextBox 3"/>
          <p:cNvSpPr txBox="1"/>
          <p:nvPr/>
        </p:nvSpPr>
        <p:spPr>
          <a:xfrm>
            <a:off x="609904" y="2057400"/>
            <a:ext cx="8777508" cy="1097280"/>
          </a:xfrm>
          <a:prstGeom prst="rect">
            <a:avLst/>
          </a:prstGeom>
          <a:noFill/>
        </p:spPr>
        <p:txBody>
          <a:bodyPr wrap="square" lIns="0" tIns="0" rIns="0" bIns="0" anchor="t">
            <a:spAutoFit/>
          </a:bodyPr>
          <a:lstStyle/>
          <a:p>
            <a:pPr algn="l">
              <a:lnSpc>
                <a:spcPct val="110000"/>
              </a:lnSpc>
              <a:spcAft>
                <a:spcPts val="600"/>
              </a:spcAft>
            </a:pPr>
            <a:r>
              <a:rPr sz="2200" b="0" i="0">
                <a:solidFill>
                  <a:srgbClr val="5A5A5A"/>
                </a:solidFill>
                <a:latin typeface="Arial"/>
              </a:rPr>
              <a:t>A repeatable method for turning a plain-English requirement into a correct, readable, verified SQL query.</a:t>
            </a:r>
          </a:p>
        </p:txBody>
      </p:sp>
      <p:sp>
        <p:nvSpPr>
          <p:cNvPr id="5" name="Rounded Rectangle 4"/>
          <p:cNvSpPr/>
          <p:nvPr/>
        </p:nvSpPr>
        <p:spPr>
          <a:xfrm>
            <a:off x="609904" y="3520439"/>
            <a:ext cx="1177290" cy="402336"/>
          </a:xfrm>
          <a:prstGeom prst="roundRect">
            <a:avLst>
              <a:gd name="adj" fmla="val 50000"/>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FFFFFF"/>
                </a:solidFill>
                <a:latin typeface="Arial"/>
              </a:rPr>
              <a:t>method</a:t>
            </a:r>
          </a:p>
        </p:txBody>
      </p:sp>
      <p:sp>
        <p:nvSpPr>
          <p:cNvPr id="6" name="Right Arrow 5"/>
          <p:cNvSpPr/>
          <p:nvPr/>
        </p:nvSpPr>
        <p:spPr>
          <a:xfrm>
            <a:off x="187863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244394" y="3520439"/>
            <a:ext cx="249745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incremental build</a:t>
            </a:r>
          </a:p>
        </p:txBody>
      </p:sp>
      <p:sp>
        <p:nvSpPr>
          <p:cNvPr id="8" name="Right Arrow 7"/>
          <p:cNvSpPr/>
          <p:nvPr/>
        </p:nvSpPr>
        <p:spPr>
          <a:xfrm>
            <a:off x="483328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199049" y="3520439"/>
            <a:ext cx="141732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patterns</a:t>
            </a:r>
          </a:p>
        </p:txBody>
      </p:sp>
      <p:sp>
        <p:nvSpPr>
          <p:cNvPr id="10" name="Right Arrow 9"/>
          <p:cNvSpPr/>
          <p:nvPr/>
        </p:nvSpPr>
        <p:spPr>
          <a:xfrm>
            <a:off x="670780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073569" y="3520439"/>
            <a:ext cx="225742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troubleshooting</a:t>
            </a:r>
          </a:p>
        </p:txBody>
      </p:sp>
      <p:sp>
        <p:nvSpPr>
          <p:cNvPr id="12" name="Right Arrow 11"/>
          <p:cNvSpPr/>
          <p:nvPr/>
        </p:nvSpPr>
        <p:spPr>
          <a:xfrm>
            <a:off x="942243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788194" y="3520439"/>
            <a:ext cx="105727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style</a:t>
            </a:r>
          </a:p>
        </p:txBody>
      </p:sp>
      <p:sp>
        <p:nvSpPr>
          <p:cNvPr id="14" name="Right Arrow 13"/>
          <p:cNvSpPr/>
          <p:nvPr/>
        </p:nvSpPr>
        <p:spPr>
          <a:xfrm rot="8541989">
            <a:off x="9554254" y="4313674"/>
            <a:ext cx="1001602" cy="24992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340394" y="4879909"/>
            <a:ext cx="165735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.sql files</a:t>
            </a:r>
          </a:p>
        </p:txBody>
      </p:sp>
      <p:sp>
        <p:nvSpPr>
          <p:cNvPr id="16" name="Right Arrow 15"/>
          <p:cNvSpPr/>
          <p:nvPr/>
        </p:nvSpPr>
        <p:spPr>
          <a:xfrm>
            <a:off x="10089184" y="498963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0454944" y="4879909"/>
            <a:ext cx="153733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dirty="0">
                <a:solidFill>
                  <a:srgbClr val="330066"/>
                </a:solidFill>
                <a:latin typeface="Arial"/>
              </a:rPr>
              <a:t>checklist</a:t>
            </a:r>
          </a:p>
        </p:txBody>
      </p:sp>
      <p:sp>
        <p:nvSpPr>
          <p:cNvPr id="18" name="Oval 17"/>
          <p:cNvSpPr/>
          <p:nvPr/>
        </p:nvSpPr>
        <p:spPr>
          <a:xfrm>
            <a:off x="609904" y="5596128"/>
            <a:ext cx="292608" cy="29260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9" name="Oval 18"/>
          <p:cNvSpPr/>
          <p:nvPr/>
        </p:nvSpPr>
        <p:spPr>
          <a:xfrm>
            <a:off x="1067104" y="5596128"/>
            <a:ext cx="292608" cy="292608"/>
          </a:xfrm>
          <a:prstGeom prst="ellipse">
            <a:avLst/>
          </a:prstGeom>
          <a:solidFill>
            <a:srgbClr val="66999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0" name="Oval 19"/>
          <p:cNvSpPr/>
          <p:nvPr/>
        </p:nvSpPr>
        <p:spPr>
          <a:xfrm>
            <a:off x="1524304" y="5596128"/>
            <a:ext cx="292608" cy="292608"/>
          </a:xfrm>
          <a:prstGeom prst="ellipse">
            <a:avLst/>
          </a:prstGeom>
          <a:solidFill>
            <a:srgbClr val="CCCC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Learning Objectives (1 of 2)</a:t>
            </a:r>
          </a:p>
        </p:txBody>
      </p:sp>
      <p:sp>
        <p:nvSpPr>
          <p:cNvPr id="3" name="Oval 2"/>
          <p:cNvSpPr/>
          <p:nvPr/>
        </p:nvSpPr>
        <p:spPr>
          <a:xfrm>
            <a:off x="609904" y="1874519"/>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76832" y="1783079"/>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Turn a plain-English question or test requirement into a correct SQL query using a step-by-step method.</a:t>
            </a:r>
          </a:p>
        </p:txBody>
      </p:sp>
      <p:sp>
        <p:nvSpPr>
          <p:cNvPr id="5" name="Oval 4"/>
          <p:cNvSpPr/>
          <p:nvPr/>
        </p:nvSpPr>
        <p:spPr>
          <a:xfrm>
            <a:off x="609904" y="2532887"/>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76832" y="2441447"/>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Build a query incrementally, one clause at a time, checking the result after every step.</a:t>
            </a:r>
          </a:p>
        </p:txBody>
      </p:sp>
      <p:sp>
        <p:nvSpPr>
          <p:cNvPr id="7" name="Oval 6"/>
          <p:cNvSpPr/>
          <p:nvPr/>
        </p:nvSpPr>
        <p:spPr>
          <a:xfrm>
            <a:off x="609904" y="319125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76832" y="3099815"/>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Assemble </a:t>
            </a:r>
            <a:r>
              <a:rPr sz="1550" b="0" i="0">
                <a:solidFill>
                  <a:srgbClr val="330066"/>
                </a:solidFill>
                <a:latin typeface="Courier New"/>
              </a:rPr>
              <a:t>SELECT</a:t>
            </a:r>
            <a:r>
              <a:rPr sz="1600" b="0" i="0">
                <a:solidFill>
                  <a:srgbClr val="1A1A1A"/>
                </a:solidFill>
                <a:latin typeface="Arial"/>
              </a:rPr>
              <a:t>, </a:t>
            </a:r>
            <a:r>
              <a:rPr sz="1550" b="0" i="0">
                <a:solidFill>
                  <a:srgbClr val="330066"/>
                </a:solidFill>
                <a:latin typeface="Courier New"/>
              </a:rPr>
              <a:t>FROM</a:t>
            </a:r>
            <a:r>
              <a:rPr sz="1600" b="0" i="0">
                <a:solidFill>
                  <a:srgbClr val="1A1A1A"/>
                </a:solidFill>
                <a:latin typeface="Arial"/>
              </a:rPr>
              <a:t>, </a:t>
            </a:r>
            <a:r>
              <a:rPr sz="1550" b="0" i="0">
                <a:solidFill>
                  <a:srgbClr val="330066"/>
                </a:solidFill>
                <a:latin typeface="Courier New"/>
              </a:rPr>
              <a:t>WHERE</a:t>
            </a:r>
            <a:r>
              <a:rPr sz="1600" b="0" i="0">
                <a:solidFill>
                  <a:srgbClr val="1A1A1A"/>
                </a:solidFill>
                <a:latin typeface="Arial"/>
              </a:rPr>
              <a:t>, </a:t>
            </a:r>
            <a:r>
              <a:rPr sz="1550" b="0" i="0">
                <a:solidFill>
                  <a:srgbClr val="330066"/>
                </a:solidFill>
                <a:latin typeface="Courier New"/>
              </a:rPr>
              <a:t>DISTINCT</a:t>
            </a:r>
            <a:r>
              <a:rPr sz="1600" b="0" i="0">
                <a:solidFill>
                  <a:srgbClr val="1A1A1A"/>
                </a:solidFill>
                <a:latin typeface="Arial"/>
              </a:rPr>
              <a:t>, </a:t>
            </a:r>
            <a:r>
              <a:rPr sz="1550" b="0" i="0">
                <a:solidFill>
                  <a:srgbClr val="330066"/>
                </a:solidFill>
                <a:latin typeface="Courier New"/>
              </a:rPr>
              <a:t>ORDER BY</a:t>
            </a:r>
            <a:r>
              <a:rPr sz="1600" b="0" i="0">
                <a:solidFill>
                  <a:srgbClr val="1A1A1A"/>
                </a:solidFill>
                <a:latin typeface="Arial"/>
              </a:rPr>
              <a:t> and </a:t>
            </a:r>
            <a:r>
              <a:rPr sz="1550" b="0" i="0">
                <a:solidFill>
                  <a:srgbClr val="330066"/>
                </a:solidFill>
                <a:latin typeface="Courier New"/>
              </a:rPr>
              <a:t>LIMIT</a:t>
            </a:r>
            <a:r>
              <a:rPr sz="1600" b="0" i="0">
                <a:solidFill>
                  <a:srgbClr val="1A1A1A"/>
                </a:solidFill>
                <a:latin typeface="Arial"/>
              </a:rPr>
              <a:t> in the correct clause order.</a:t>
            </a:r>
          </a:p>
        </p:txBody>
      </p:sp>
      <p:sp>
        <p:nvSpPr>
          <p:cNvPr id="9" name="Oval 8"/>
          <p:cNvSpPr/>
          <p:nvPr/>
        </p:nvSpPr>
        <p:spPr>
          <a:xfrm>
            <a:off x="609904" y="3849624"/>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0" name="TextBox 9"/>
          <p:cNvSpPr txBox="1"/>
          <p:nvPr/>
        </p:nvSpPr>
        <p:spPr>
          <a:xfrm>
            <a:off x="1176832" y="3758184"/>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Format and comment queries so teammates (and Git diffs) can read them easily.</a:t>
            </a:r>
          </a:p>
        </p:txBody>
      </p:sp>
      <p:sp>
        <p:nvSpPr>
          <p:cNvPr id="11" name="Oval 10"/>
          <p:cNvSpPr/>
          <p:nvPr/>
        </p:nvSpPr>
        <p:spPr>
          <a:xfrm>
            <a:off x="609904" y="4507992"/>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5</a:t>
            </a:r>
          </a:p>
        </p:txBody>
      </p:sp>
      <p:sp>
        <p:nvSpPr>
          <p:cNvPr id="12" name="TextBox 11"/>
          <p:cNvSpPr txBox="1"/>
          <p:nvPr/>
        </p:nvSpPr>
        <p:spPr>
          <a:xfrm>
            <a:off x="1176832" y="4416552"/>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Read an unfamiliar query and explain it in plain English, clause by clause.</a:t>
            </a:r>
          </a:p>
        </p:txBody>
      </p:sp>
      <p:sp>
        <p:nvSpPr>
          <p:cNvPr id="13" name="TextBox 12"/>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 / 55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Learning Objectives (2 of 2)</a:t>
            </a:r>
          </a:p>
        </p:txBody>
      </p:sp>
      <p:sp>
        <p:nvSpPr>
          <p:cNvPr id="3" name="Oval 2"/>
          <p:cNvSpPr/>
          <p:nvPr/>
        </p:nvSpPr>
        <p:spPr>
          <a:xfrm>
            <a:off x="609904" y="1874519"/>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76832" y="1783079"/>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Diagnose queries that return too many rows, too few rows, or the wrong rows.</a:t>
            </a:r>
          </a:p>
        </p:txBody>
      </p:sp>
      <p:sp>
        <p:nvSpPr>
          <p:cNvPr id="5" name="Oval 4"/>
          <p:cNvSpPr/>
          <p:nvPr/>
        </p:nvSpPr>
        <p:spPr>
          <a:xfrm>
            <a:off x="609904" y="2532887"/>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76832" y="2441447"/>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Use a small library of reusable query patterns (find by key, latest, missing, invalid, recent).</a:t>
            </a:r>
          </a:p>
        </p:txBody>
      </p:sp>
      <p:sp>
        <p:nvSpPr>
          <p:cNvPr id="7" name="Oval 6"/>
          <p:cNvSpPr/>
          <p:nvPr/>
        </p:nvSpPr>
        <p:spPr>
          <a:xfrm>
            <a:off x="609904" y="319125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76832" y="3099815"/>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Sanity-check a query result against an expected answer you can verify by hand.</a:t>
            </a:r>
          </a:p>
        </p:txBody>
      </p:sp>
      <p:sp>
        <p:nvSpPr>
          <p:cNvPr id="9" name="Oval 8"/>
          <p:cNvSpPr/>
          <p:nvPr/>
        </p:nvSpPr>
        <p:spPr>
          <a:xfrm>
            <a:off x="609904" y="3849624"/>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0" name="TextBox 9"/>
          <p:cNvSpPr txBox="1"/>
          <p:nvPr/>
        </p:nvSpPr>
        <p:spPr>
          <a:xfrm>
            <a:off x="1176832" y="3758184"/>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Store validation queries as </a:t>
            </a:r>
            <a:r>
              <a:rPr sz="1550" b="0" i="0">
                <a:solidFill>
                  <a:srgbClr val="330066"/>
                </a:solidFill>
                <a:latin typeface="Courier New"/>
              </a:rPr>
              <a:t>.sql</a:t>
            </a:r>
            <a:r>
              <a:rPr sz="1600" b="0" i="0">
                <a:solidFill>
                  <a:srgbClr val="1A1A1A"/>
                </a:solidFill>
                <a:latin typeface="Arial"/>
              </a:rPr>
              <a:t> files in a repository and run them from a Python test.</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 / 55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 Method for Any Query</a:t>
            </a:r>
          </a:p>
        </p:txBody>
      </p:sp>
      <p:sp>
        <p:nvSpPr>
          <p:cNvPr id="3" name="Text Placeholder 2"/>
          <p:cNvSpPr>
            <a:spLocks noGrp="1"/>
          </p:cNvSpPr>
          <p:nvPr>
            <p:ph type="body" idx="1"/>
          </p:nvPr>
        </p:nvSpPr>
        <p:spPr/>
        <p:txBody>
          <a:bodyPr/>
          <a:lstStyle/>
          <a:p>
            <a:r>
              <a:rPr sz="1800">
                <a:solidFill>
                  <a:srgbClr val="5A5A5A"/>
                </a:solidFill>
              </a:rPr>
              <a:t>Eight steps, and the first worked example built incrementally</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01</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6 / 55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Do Not Write It All at Once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Rounded Rectangle 3"/>
          <p:cNvSpPr/>
          <p:nvPr/>
        </p:nvSpPr>
        <p:spPr>
          <a:xfrm>
            <a:off x="609904"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The beginner habit</a:t>
            </a:r>
          </a:p>
          <a:p>
            <a:pPr algn="l">
              <a:lnSpc>
                <a:spcPct val="110000"/>
              </a:lnSpc>
              <a:spcAft>
                <a:spcPts val="600"/>
              </a:spcAft>
            </a:pPr>
            <a:r>
              <a:rPr sz="1400" b="0" i="0">
                <a:solidFill>
                  <a:srgbClr val="1A1A1A"/>
                </a:solidFill>
                <a:latin typeface="Arial"/>
              </a:rPr>
              <a:t>Staring at an empty editor and trying to write the whole query in one go.</a:t>
            </a:r>
          </a:p>
        </p:txBody>
      </p:sp>
      <p:sp>
        <p:nvSpPr>
          <p:cNvPr id="6" name="Rounded Rectangle 5"/>
          <p:cNvSpPr/>
          <p:nvPr/>
        </p:nvSpPr>
        <p:spPr>
          <a:xfrm>
            <a:off x="4358640" y="1783080"/>
            <a:ext cx="3474415" cy="4361688"/>
          </a:xfrm>
          <a:prstGeom prst="roundRect">
            <a:avLst>
              <a:gd name="adj" fmla="val 2368"/>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7240"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The professional habit</a:t>
            </a:r>
          </a:p>
          <a:p>
            <a:pPr algn="l">
              <a:lnSpc>
                <a:spcPct val="110000"/>
              </a:lnSpc>
              <a:spcAft>
                <a:spcPts val="600"/>
              </a:spcAft>
            </a:pPr>
            <a:r>
              <a:rPr sz="1400" b="0" i="0">
                <a:solidFill>
                  <a:srgbClr val="1A1A1A"/>
                </a:solidFill>
                <a:latin typeface="Arial"/>
              </a:rPr>
              <a:t>Follow a short routine, then build one clause at a time.</a:t>
            </a:r>
          </a:p>
        </p:txBody>
      </p:sp>
      <p:sp>
        <p:nvSpPr>
          <p:cNvPr id="8" name="Rounded Rectangle 7"/>
          <p:cNvSpPr/>
          <p:nvPr/>
        </p:nvSpPr>
        <p:spPr>
          <a:xfrm>
            <a:off x="8107375"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35975"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Thinking order</a:t>
            </a:r>
          </a:p>
          <a:p>
            <a:pPr algn="l">
              <a:lnSpc>
                <a:spcPct val="110000"/>
              </a:lnSpc>
              <a:spcAft>
                <a:spcPts val="600"/>
              </a:spcAft>
            </a:pPr>
            <a:r>
              <a:rPr sz="1400" b="0" i="0">
                <a:solidFill>
                  <a:srgbClr val="1A1A1A"/>
                </a:solidFill>
                <a:latin typeface="Arial"/>
              </a:rPr>
              <a:t>"Where is it, what do I want, which ones?" Table, columns, conditions. This differs from the order you write the clauses.</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7 / 55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Eight-Step Method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graphicFrame>
        <p:nvGraphicFramePr>
          <p:cNvPr id="4" name="Table 3"/>
          <p:cNvGraphicFramePr>
            <a:graphicFrameLocks noGrp="1"/>
          </p:cNvGraphicFramePr>
          <p:nvPr/>
        </p:nvGraphicFramePr>
        <p:xfrm>
          <a:off x="609904" y="1783080"/>
          <a:ext cx="10971884" cy="2306574"/>
        </p:xfrm>
        <a:graphic>
          <a:graphicData uri="http://schemas.openxmlformats.org/drawingml/2006/table">
            <a:tbl>
              <a:tblPr/>
              <a:tblGrid>
                <a:gridCol w="2194377">
                  <a:extLst>
                    <a:ext uri="{9D8B030D-6E8A-4147-A177-3AD203B41FA5}">
                      <a16:colId xmlns:a16="http://schemas.microsoft.com/office/drawing/2014/main" val="20000"/>
                    </a:ext>
                  </a:extLst>
                </a:gridCol>
                <a:gridCol w="5485942">
                  <a:extLst>
                    <a:ext uri="{9D8B030D-6E8A-4147-A177-3AD203B41FA5}">
                      <a16:colId xmlns:a16="http://schemas.microsoft.com/office/drawing/2014/main" val="20001"/>
                    </a:ext>
                  </a:extLst>
                </a:gridCol>
                <a:gridCol w="3291565">
                  <a:extLst>
                    <a:ext uri="{9D8B030D-6E8A-4147-A177-3AD203B41FA5}">
                      <a16:colId xmlns:a16="http://schemas.microsoft.com/office/drawing/2014/main" val="20002"/>
                    </a:ext>
                  </a:extLst>
                </a:gridCol>
              </a:tblGrid>
              <a:tr h="384048">
                <a:tc>
                  <a:txBody>
                    <a:bodyPr/>
                    <a:lstStyle/>
                    <a:p>
                      <a:r>
                        <a:rPr sz="1350" b="1">
                          <a:solidFill>
                            <a:srgbClr val="FFFFFF"/>
                          </a:solidFill>
                          <a:latin typeface="Arial"/>
                        </a:rPr>
                        <a:t>Step</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50" b="1">
                          <a:solidFill>
                            <a:srgbClr val="FFFFFF"/>
                          </a:solidFill>
                          <a:latin typeface="Arial"/>
                        </a:rPr>
                        <a:t>Question to ask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50" b="1">
                          <a:solidFill>
                            <a:srgbClr val="FFFFFF"/>
                          </a:solidFill>
                          <a:latin typeface="Arial"/>
                        </a:rPr>
                        <a:t>Clause it produces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592074">
                <a:tc>
                  <a:txBody>
                    <a:bodyPr/>
                    <a:lstStyle/>
                    <a:p>
                      <a:r>
                        <a:rPr sz="1350" b="0">
                          <a:solidFill>
                            <a:srgbClr val="1A1A1A"/>
                          </a:solidFill>
                          <a:latin typeface="Arial"/>
                        </a:rPr>
                        <a:t>1. Understand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a:solidFill>
                            <a:srgbClr val="1A1A1A"/>
                          </a:solidFill>
                          <a:latin typeface="Arial"/>
                        </a:rPr>
                        <a:t>What exactly is being asked? What would a correct answer look like?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a:solidFill>
                            <a:srgbClr val="1A1A1A"/>
                          </a:solidFill>
                          <a:latin typeface="Arial"/>
                        </a:rPr>
                        <a:t>(none yet: restate the question)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592074">
                <a:tc>
                  <a:txBody>
                    <a:bodyPr/>
                    <a:lstStyle/>
                    <a:p>
                      <a:r>
                        <a:rPr sz="1350" b="0">
                          <a:solidFill>
                            <a:srgbClr val="1A1A1A"/>
                          </a:solidFill>
                          <a:latin typeface="Arial"/>
                        </a:rPr>
                        <a:t>2. Locate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a:solidFill>
                            <a:srgbClr val="1A1A1A"/>
                          </a:solidFill>
                          <a:latin typeface="Arial"/>
                        </a:rPr>
                        <a:t>Which table holds the data? Which columns are involved?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i="0">
                          <a:solidFill>
                            <a:srgbClr val="330066"/>
                          </a:solidFill>
                          <a:latin typeface="Courier New"/>
                        </a:rPr>
                        <a:t>FROM</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69189">
                <a:tc>
                  <a:txBody>
                    <a:bodyPr/>
                    <a:lstStyle/>
                    <a:p>
                      <a:r>
                        <a:rPr sz="1350" b="0">
                          <a:solidFill>
                            <a:srgbClr val="1A1A1A"/>
                          </a:solidFill>
                          <a:latin typeface="Arial"/>
                        </a:rPr>
                        <a:t>3. Choose output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a:solidFill>
                            <a:srgbClr val="1A1A1A"/>
                          </a:solidFill>
                          <a:latin typeface="Arial"/>
                        </a:rPr>
                        <a:t>What columns does the person need to see?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330066"/>
                          </a:solidFill>
                          <a:latin typeface="Courier New"/>
                        </a:rPr>
                        <a:t>SELECT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69189">
                <a:tc>
                  <a:txBody>
                    <a:bodyPr/>
                    <a:lstStyle/>
                    <a:p>
                      <a:r>
                        <a:rPr sz="1350" b="0">
                          <a:solidFill>
                            <a:srgbClr val="1A1A1A"/>
                          </a:solidFill>
                          <a:latin typeface="Arial"/>
                        </a:rPr>
                        <a:t>4. Filter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a:solidFill>
                            <a:srgbClr val="1A1A1A"/>
                          </a:solidFill>
                          <a:latin typeface="Arial"/>
                        </a:rPr>
                        <a:t>Which rows qualify? What are the conditions?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i="0">
                          <a:solidFill>
                            <a:srgbClr val="330066"/>
                          </a:solidFill>
                          <a:latin typeface="Courier New"/>
                        </a:rPr>
                        <a:t>WHERE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8 / 55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Eight-Step Method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graphicFrame>
        <p:nvGraphicFramePr>
          <p:cNvPr id="4" name="Table 3"/>
          <p:cNvGraphicFramePr>
            <a:graphicFrameLocks noGrp="1"/>
          </p:cNvGraphicFramePr>
          <p:nvPr/>
        </p:nvGraphicFramePr>
        <p:xfrm>
          <a:off x="609904" y="1783080"/>
          <a:ext cx="10971884" cy="2083689"/>
        </p:xfrm>
        <a:graphic>
          <a:graphicData uri="http://schemas.openxmlformats.org/drawingml/2006/table">
            <a:tbl>
              <a:tblPr/>
              <a:tblGrid>
                <a:gridCol w="2194377">
                  <a:extLst>
                    <a:ext uri="{9D8B030D-6E8A-4147-A177-3AD203B41FA5}">
                      <a16:colId xmlns:a16="http://schemas.microsoft.com/office/drawing/2014/main" val="20000"/>
                    </a:ext>
                  </a:extLst>
                </a:gridCol>
                <a:gridCol w="5485942">
                  <a:extLst>
                    <a:ext uri="{9D8B030D-6E8A-4147-A177-3AD203B41FA5}">
                      <a16:colId xmlns:a16="http://schemas.microsoft.com/office/drawing/2014/main" val="20001"/>
                    </a:ext>
                  </a:extLst>
                </a:gridCol>
                <a:gridCol w="3291565">
                  <a:extLst>
                    <a:ext uri="{9D8B030D-6E8A-4147-A177-3AD203B41FA5}">
                      <a16:colId xmlns:a16="http://schemas.microsoft.com/office/drawing/2014/main" val="20002"/>
                    </a:ext>
                  </a:extLst>
                </a:gridCol>
              </a:tblGrid>
              <a:tr h="384048">
                <a:tc>
                  <a:txBody>
                    <a:bodyPr/>
                    <a:lstStyle/>
                    <a:p>
                      <a:r>
                        <a:rPr sz="1350" b="1">
                          <a:solidFill>
                            <a:srgbClr val="FFFFFF"/>
                          </a:solidFill>
                          <a:latin typeface="Arial"/>
                        </a:rPr>
                        <a:t>Step</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50" b="1">
                          <a:solidFill>
                            <a:srgbClr val="FFFFFF"/>
                          </a:solidFill>
                          <a:latin typeface="Arial"/>
                        </a:rPr>
                        <a:t>Question to ask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50" b="1">
                          <a:solidFill>
                            <a:srgbClr val="FFFFFF"/>
                          </a:solidFill>
                          <a:latin typeface="Arial"/>
                        </a:rPr>
                        <a:t>Clause it produces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69189">
                <a:tc>
                  <a:txBody>
                    <a:bodyPr/>
                    <a:lstStyle/>
                    <a:p>
                      <a:r>
                        <a:rPr sz="1350" b="0">
                          <a:solidFill>
                            <a:srgbClr val="1A1A1A"/>
                          </a:solidFill>
                          <a:latin typeface="Arial"/>
                        </a:rPr>
                        <a:t>5. Order &amp; limit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a:solidFill>
                            <a:srgbClr val="1A1A1A"/>
                          </a:solidFill>
                          <a:latin typeface="Arial"/>
                        </a:rPr>
                        <a:t>Does order matter? Do I need only the top 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330066"/>
                          </a:solidFill>
                          <a:latin typeface="Courier New"/>
                        </a:rPr>
                        <a:t>ORDER BY</a:t>
                      </a:r>
                      <a:r>
                        <a:rPr sz="1350" b="0" i="0">
                          <a:solidFill>
                            <a:srgbClr val="1A1A1A"/>
                          </a:solidFill>
                          <a:latin typeface="Arial"/>
                        </a:rPr>
                        <a:t>, </a:t>
                      </a:r>
                      <a:r>
                        <a:rPr sz="1300" b="0" i="0">
                          <a:solidFill>
                            <a:srgbClr val="330066"/>
                          </a:solidFill>
                          <a:latin typeface="Courier New"/>
                        </a:rPr>
                        <a:t>LIMIT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69189">
                <a:tc>
                  <a:txBody>
                    <a:bodyPr/>
                    <a:lstStyle/>
                    <a:p>
                      <a:r>
                        <a:rPr sz="1350" b="0">
                          <a:solidFill>
                            <a:srgbClr val="1A1A1A"/>
                          </a:solidFill>
                          <a:latin typeface="Arial"/>
                        </a:rPr>
                        <a:t>6. Run &amp; inspect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a:solidFill>
                            <a:srgbClr val="1A1A1A"/>
                          </a:solidFill>
                          <a:latin typeface="Arial"/>
                        </a:rPr>
                        <a:t>Does the result look right? Are headings correct?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a:solidFill>
                            <a:srgbClr val="1A1A1A"/>
                          </a:solidFill>
                          <a:latin typeface="Arial"/>
                        </a:rPr>
                        <a:t>(check)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592074">
                <a:tc>
                  <a:txBody>
                    <a:bodyPr/>
                    <a:lstStyle/>
                    <a:p>
                      <a:r>
                        <a:rPr sz="1350" b="0">
                          <a:solidFill>
                            <a:srgbClr val="1A1A1A"/>
                          </a:solidFill>
                          <a:latin typeface="Arial"/>
                        </a:rPr>
                        <a:t>7. Verify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a:solidFill>
                            <a:srgbClr val="1A1A1A"/>
                          </a:solidFill>
                          <a:latin typeface="Arial"/>
                        </a:rPr>
                        <a:t>Can I confirm at least one row, or the row count, by hand?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a:solidFill>
                            <a:srgbClr val="1A1A1A"/>
                          </a:solidFill>
                          <a:latin typeface="Arial"/>
                        </a:rPr>
                        <a:t>(check)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69189">
                <a:tc>
                  <a:txBody>
                    <a:bodyPr/>
                    <a:lstStyle/>
                    <a:p>
                      <a:r>
                        <a:rPr sz="1350" b="0">
                          <a:solidFill>
                            <a:srgbClr val="1A1A1A"/>
                          </a:solidFill>
                          <a:latin typeface="Arial"/>
                        </a:rPr>
                        <a:t>8. Tidy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a:solidFill>
                            <a:srgbClr val="1A1A1A"/>
                          </a:solidFill>
                          <a:latin typeface="Arial"/>
                        </a:rPr>
                        <a:t>Is it formatted, commented, and named well?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a:solidFill>
                            <a:srgbClr val="1A1A1A"/>
                          </a:solidFill>
                          <a:latin typeface="Arial"/>
                        </a:rPr>
                        <a:t>(style)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9 / 55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1: A Simple Lookup</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 · WORKED EXAMPLE 1</a:t>
            </a:r>
          </a:p>
        </p:txBody>
      </p:sp>
      <p:sp>
        <p:nvSpPr>
          <p:cNvPr id="4" name="TextBox 3"/>
          <p:cNvSpPr txBox="1"/>
          <p:nvPr/>
        </p:nvSpPr>
        <p:spPr>
          <a:xfrm>
            <a:off x="609904" y="1783080"/>
            <a:ext cx="10971885" cy="822960"/>
          </a:xfrm>
          <a:prstGeom prst="rect">
            <a:avLst/>
          </a:prstGeom>
          <a:noFill/>
        </p:spPr>
        <p:txBody>
          <a:bodyPr wrap="square" lIns="0" tIns="0" rIns="0" bIns="0" anchor="t">
            <a:spAutoFit/>
          </a:bodyPr>
          <a:lstStyle/>
          <a:p>
            <a:pPr algn="l">
              <a:lnSpc>
                <a:spcPct val="110000"/>
              </a:lnSpc>
              <a:spcAft>
                <a:spcPts val="600"/>
              </a:spcAft>
            </a:pPr>
            <a:r>
              <a:rPr sz="1600" b="1" i="0">
                <a:solidFill>
                  <a:srgbClr val="330066"/>
                </a:solidFill>
                <a:latin typeface="Arial"/>
              </a:rPr>
              <a:t>Request (from a test case): "After the checkout test runs, verify that the order for Karen White exists and show its status."</a:t>
            </a:r>
          </a:p>
        </p:txBody>
      </p:sp>
      <p:sp>
        <p:nvSpPr>
          <p:cNvPr id="5" name="Oval 4"/>
          <p:cNvSpPr/>
          <p:nvPr/>
        </p:nvSpPr>
        <p:spPr>
          <a:xfrm>
            <a:off x="609904" y="26974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6" name="TextBox 5"/>
          <p:cNvSpPr txBox="1"/>
          <p:nvPr/>
        </p:nvSpPr>
        <p:spPr>
          <a:xfrm>
            <a:off x="1158544" y="2734056"/>
            <a:ext cx="10423245" cy="49815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Understand</a:t>
            </a:r>
          </a:p>
          <a:p>
            <a:pPr algn="l">
              <a:lnSpc>
                <a:spcPct val="110000"/>
              </a:lnSpc>
              <a:spcAft>
                <a:spcPts val="600"/>
              </a:spcAft>
            </a:pPr>
            <a:r>
              <a:rPr sz="1400" b="0" i="0">
                <a:solidFill>
                  <a:srgbClr val="1A1A1A"/>
                </a:solidFill>
                <a:latin typeface="Arial"/>
              </a:rPr>
              <a:t>One customer, find her order(s), report the status.</a:t>
            </a:r>
          </a:p>
        </p:txBody>
      </p:sp>
      <p:sp>
        <p:nvSpPr>
          <p:cNvPr id="7" name="Oval 6"/>
          <p:cNvSpPr/>
          <p:nvPr/>
        </p:nvSpPr>
        <p:spPr>
          <a:xfrm>
            <a:off x="609904" y="3287077"/>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8" name="TextBox 7"/>
          <p:cNvSpPr txBox="1"/>
          <p:nvPr/>
        </p:nvSpPr>
        <p:spPr>
          <a:xfrm>
            <a:off x="1158544" y="3323653"/>
            <a:ext cx="10423245" cy="49815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Locate</a:t>
            </a:r>
          </a:p>
          <a:p>
            <a:pPr algn="l">
              <a:lnSpc>
                <a:spcPct val="110000"/>
              </a:lnSpc>
              <a:spcAft>
                <a:spcPts val="600"/>
              </a:spcAft>
            </a:pPr>
            <a:r>
              <a:rPr sz="1400" b="0" i="0">
                <a:solidFill>
                  <a:srgbClr val="1A1A1A"/>
                </a:solidFill>
                <a:latin typeface="Arial"/>
              </a:rPr>
              <a:t>The </a:t>
            </a:r>
            <a:r>
              <a:rPr sz="1350" b="0" i="0">
                <a:solidFill>
                  <a:srgbClr val="330066"/>
                </a:solidFill>
                <a:latin typeface="Courier New"/>
              </a:rPr>
              <a:t>orders</a:t>
            </a:r>
            <a:r>
              <a:rPr sz="1400" b="0" i="0">
                <a:solidFill>
                  <a:srgbClr val="1A1A1A"/>
                </a:solidFill>
                <a:latin typeface="Arial"/>
              </a:rPr>
              <a:t> table; columns </a:t>
            </a:r>
            <a:r>
              <a:rPr sz="1350" b="0" i="0">
                <a:solidFill>
                  <a:srgbClr val="330066"/>
                </a:solidFill>
                <a:latin typeface="Courier New"/>
              </a:rPr>
              <a:t>customer_name</a:t>
            </a:r>
            <a:r>
              <a:rPr sz="1400" b="0" i="0">
                <a:solidFill>
                  <a:srgbClr val="1A1A1A"/>
                </a:solidFill>
                <a:latin typeface="Arial"/>
              </a:rPr>
              <a:t>, </a:t>
            </a:r>
            <a:r>
              <a:rPr sz="1350" b="0" i="0">
                <a:solidFill>
                  <a:srgbClr val="330066"/>
                </a:solidFill>
                <a:latin typeface="Courier New"/>
              </a:rPr>
              <a:t>status</a:t>
            </a:r>
            <a:r>
              <a:rPr sz="1400" b="0" i="0">
                <a:solidFill>
                  <a:srgbClr val="1A1A1A"/>
                </a:solidFill>
                <a:latin typeface="Arial"/>
              </a:rPr>
              <a:t>.</a:t>
            </a:r>
          </a:p>
        </p:txBody>
      </p:sp>
      <p:sp>
        <p:nvSpPr>
          <p:cNvPr id="9" name="Oval 8"/>
          <p:cNvSpPr/>
          <p:nvPr/>
        </p:nvSpPr>
        <p:spPr>
          <a:xfrm>
            <a:off x="609904" y="387667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10" name="TextBox 9"/>
          <p:cNvSpPr txBox="1"/>
          <p:nvPr/>
        </p:nvSpPr>
        <p:spPr>
          <a:xfrm>
            <a:off x="1158544" y="3913250"/>
            <a:ext cx="10423245" cy="49815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Choose output</a:t>
            </a:r>
          </a:p>
          <a:p>
            <a:pPr algn="l">
              <a:lnSpc>
                <a:spcPct val="110000"/>
              </a:lnSpc>
              <a:spcAft>
                <a:spcPts val="600"/>
              </a:spcAft>
            </a:pPr>
            <a:r>
              <a:rPr sz="1350" b="0" i="0">
                <a:solidFill>
                  <a:srgbClr val="330066"/>
                </a:solidFill>
                <a:latin typeface="Courier New"/>
              </a:rPr>
              <a:t>order_id</a:t>
            </a:r>
            <a:r>
              <a:rPr sz="1400" b="0" i="0">
                <a:solidFill>
                  <a:srgbClr val="1A1A1A"/>
                </a:solidFill>
                <a:latin typeface="Arial"/>
              </a:rPr>
              <a:t>, </a:t>
            </a:r>
            <a:r>
              <a:rPr sz="1350" b="0" i="0">
                <a:solidFill>
                  <a:srgbClr val="330066"/>
                </a:solidFill>
                <a:latin typeface="Courier New"/>
              </a:rPr>
              <a:t>customer_name</a:t>
            </a:r>
            <a:r>
              <a:rPr sz="1400" b="0" i="0">
                <a:solidFill>
                  <a:srgbClr val="1A1A1A"/>
                </a:solidFill>
                <a:latin typeface="Arial"/>
              </a:rPr>
              <a:t>, </a:t>
            </a:r>
            <a:r>
              <a:rPr sz="1350" b="0" i="0">
                <a:solidFill>
                  <a:srgbClr val="330066"/>
                </a:solidFill>
                <a:latin typeface="Courier New"/>
              </a:rPr>
              <a:t>product</a:t>
            </a:r>
            <a:r>
              <a:rPr sz="1400" b="0" i="0">
                <a:solidFill>
                  <a:srgbClr val="1A1A1A"/>
                </a:solidFill>
                <a:latin typeface="Arial"/>
              </a:rPr>
              <a:t>, </a:t>
            </a:r>
            <a:r>
              <a:rPr sz="1350" b="0" i="0">
                <a:solidFill>
                  <a:srgbClr val="330066"/>
                </a:solidFill>
                <a:latin typeface="Courier New"/>
              </a:rPr>
              <a:t>status</a:t>
            </a:r>
            <a:r>
              <a:rPr sz="1400" b="0" i="0">
                <a:solidFill>
                  <a:srgbClr val="1A1A1A"/>
                </a:solidFill>
                <a:latin typeface="Arial"/>
              </a:rPr>
              <a:t>.</a:t>
            </a:r>
          </a:p>
        </p:txBody>
      </p:sp>
      <p:sp>
        <p:nvSpPr>
          <p:cNvPr id="11" name="Oval 10"/>
          <p:cNvSpPr/>
          <p:nvPr/>
        </p:nvSpPr>
        <p:spPr>
          <a:xfrm>
            <a:off x="609904" y="446627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2" name="TextBox 11"/>
          <p:cNvSpPr txBox="1"/>
          <p:nvPr/>
        </p:nvSpPr>
        <p:spPr>
          <a:xfrm>
            <a:off x="1158544" y="4502848"/>
            <a:ext cx="10423245" cy="49815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Filter</a:t>
            </a:r>
          </a:p>
          <a:p>
            <a:pPr algn="l">
              <a:lnSpc>
                <a:spcPct val="110000"/>
              </a:lnSpc>
              <a:spcAft>
                <a:spcPts val="600"/>
              </a:spcAft>
            </a:pPr>
            <a:r>
              <a:rPr sz="1350" b="0" i="0">
                <a:solidFill>
                  <a:srgbClr val="330066"/>
                </a:solidFill>
                <a:latin typeface="Courier New"/>
              </a:rPr>
              <a:t>customer_name = 'Karen White'</a:t>
            </a:r>
            <a:r>
              <a:rPr sz="1400" b="0" i="0">
                <a:solidFill>
                  <a:srgbClr val="1A1A1A"/>
                </a:solidFill>
                <a:latin typeface="Arial"/>
              </a:rPr>
              <a:t> (text, so single quotes).</a:t>
            </a:r>
          </a:p>
        </p:txBody>
      </p:sp>
      <p:sp>
        <p:nvSpPr>
          <p:cNvPr id="13" name="TextBox 12"/>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10 / 55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1: Build 1 and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 · WORKED EXAMPLE 1</a:t>
            </a:r>
          </a:p>
        </p:txBody>
      </p:sp>
      <p:sp>
        <p:nvSpPr>
          <p:cNvPr id="4" name="TextBox 3"/>
          <p:cNvSpPr txBox="1"/>
          <p:nvPr/>
        </p:nvSpPr>
        <p:spPr>
          <a:xfrm>
            <a:off x="609904" y="1783080"/>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Build 1: just the table</a:t>
            </a:r>
          </a:p>
        </p:txBody>
      </p:sp>
      <p:sp>
        <p:nvSpPr>
          <p:cNvPr id="5" name="Rounded Rectangle 4"/>
          <p:cNvSpPr/>
          <p:nvPr/>
        </p:nvSpPr>
        <p:spPr>
          <a:xfrm>
            <a:off x="609904" y="2057400"/>
            <a:ext cx="5852160" cy="719328"/>
          </a:xfrm>
          <a:prstGeom prst="roundRect">
            <a:avLst>
              <a:gd name="adj" fmla="val 1016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449824" cy="426719"/>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a:t>
            </a:r>
          </a:p>
          <a:p>
            <a:pPr algn="l">
              <a:lnSpc>
                <a:spcPct val="100000"/>
              </a:lnSpc>
            </a:pPr>
            <a:r>
              <a:rPr sz="1400">
                <a:solidFill>
                  <a:srgbClr val="1A1A1A"/>
                </a:solidFill>
                <a:latin typeface="Courier New"/>
              </a:rPr>
              <a:t>FROM orders;</a:t>
            </a:r>
          </a:p>
        </p:txBody>
      </p:sp>
      <p:sp>
        <p:nvSpPr>
          <p:cNvPr id="7" name="TextBox 6"/>
          <p:cNvSpPr txBox="1"/>
          <p:nvPr/>
        </p:nvSpPr>
        <p:spPr>
          <a:xfrm>
            <a:off x="609904" y="2959607"/>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Build 2: choose the columns</a:t>
            </a:r>
          </a:p>
        </p:txBody>
      </p:sp>
      <p:sp>
        <p:nvSpPr>
          <p:cNvPr id="8" name="Rounded Rectangle 7"/>
          <p:cNvSpPr/>
          <p:nvPr/>
        </p:nvSpPr>
        <p:spPr>
          <a:xfrm>
            <a:off x="609904" y="3233927"/>
            <a:ext cx="5852160" cy="719328"/>
          </a:xfrm>
          <a:prstGeom prst="roundRect">
            <a:avLst>
              <a:gd name="adj" fmla="val 1016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380231"/>
            <a:ext cx="5449824" cy="426719"/>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order_id, customer_name, product, status</a:t>
            </a:r>
          </a:p>
          <a:p>
            <a:pPr algn="l">
              <a:lnSpc>
                <a:spcPct val="100000"/>
              </a:lnSpc>
            </a:pPr>
            <a:r>
              <a:rPr sz="1400">
                <a:solidFill>
                  <a:srgbClr val="1A1A1A"/>
                </a:solidFill>
                <a:latin typeface="Courier New"/>
              </a:rPr>
              <a:t>FROM orders;</a:t>
            </a:r>
          </a:p>
        </p:txBody>
      </p:sp>
      <p:sp>
        <p:nvSpPr>
          <p:cNvPr id="10" name="TextBox 9"/>
          <p:cNvSpPr txBox="1"/>
          <p:nvPr/>
        </p:nvSpPr>
        <p:spPr>
          <a:xfrm>
            <a:off x="6827824" y="1783080"/>
            <a:ext cx="475396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Start with the smallest query that runs.</a:t>
            </a:r>
          </a:p>
          <a:p>
            <a:pPr marL="228600" indent="-228600" algn="l">
              <a:spcAft>
                <a:spcPts val="800"/>
              </a:spcAft>
              <a:buFont typeface="Arial"/>
              <a:buChar char="•"/>
            </a:pPr>
            <a:r>
              <a:rPr sz="1400" b="0" i="0">
                <a:solidFill>
                  <a:srgbClr val="1A1A1A"/>
                </a:solidFill>
                <a:latin typeface="Arial"/>
              </a:rPr>
              <a:t>Build 1 returns 15 rows: the table exists and its name is spelled right. We do not print the full output.</a:t>
            </a:r>
          </a:p>
          <a:p>
            <a:pPr marL="228600" indent="-228600" algn="l">
              <a:spcAft>
                <a:spcPts val="800"/>
              </a:spcAft>
              <a:buFont typeface="Arial"/>
              <a:buChar char="•"/>
            </a:pPr>
            <a:r>
              <a:rPr sz="1400" b="0" i="0">
                <a:solidFill>
                  <a:srgbClr val="1A1A1A"/>
                </a:solidFill>
                <a:latin typeface="Arial"/>
              </a:rPr>
              <a:t>Build 2 adds the column list.</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11 / 55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1: Build 3 and 4</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 · WORKED EXAMPLE 1</a:t>
            </a:r>
          </a:p>
        </p:txBody>
      </p:sp>
      <p:sp>
        <p:nvSpPr>
          <p:cNvPr id="4" name="TextBox 3"/>
          <p:cNvSpPr txBox="1"/>
          <p:nvPr/>
        </p:nvSpPr>
        <p:spPr>
          <a:xfrm>
            <a:off x="609904" y="1783080"/>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Build 3: add the filter</a:t>
            </a:r>
          </a:p>
        </p:txBody>
      </p:sp>
      <p:sp>
        <p:nvSpPr>
          <p:cNvPr id="5" name="Rounded Rectangle 4"/>
          <p:cNvSpPr/>
          <p:nvPr/>
        </p:nvSpPr>
        <p:spPr>
          <a:xfrm>
            <a:off x="609904" y="2057400"/>
            <a:ext cx="5852160" cy="932688"/>
          </a:xfrm>
          <a:prstGeom prst="roundRect">
            <a:avLst>
              <a:gd name="adj" fmla="val 784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449824" cy="640080"/>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order_id, customer_name, product, status</a:t>
            </a:r>
          </a:p>
          <a:p>
            <a:pPr algn="l">
              <a:lnSpc>
                <a:spcPct val="100000"/>
              </a:lnSpc>
            </a:pPr>
            <a:r>
              <a:rPr sz="1400">
                <a:solidFill>
                  <a:srgbClr val="1A1A1A"/>
                </a:solidFill>
                <a:latin typeface="Courier New"/>
              </a:rPr>
              <a:t>FROM orders</a:t>
            </a:r>
          </a:p>
          <a:p>
            <a:pPr algn="l">
              <a:lnSpc>
                <a:spcPct val="100000"/>
              </a:lnSpc>
            </a:pPr>
            <a:r>
              <a:rPr sz="1400">
                <a:solidFill>
                  <a:srgbClr val="1A1A1A"/>
                </a:solidFill>
                <a:latin typeface="Courier New"/>
              </a:rPr>
              <a:t>WHERE customer_name = 'Karen White';</a:t>
            </a:r>
          </a:p>
        </p:txBody>
      </p:sp>
      <p:sp>
        <p:nvSpPr>
          <p:cNvPr id="7" name="TextBox 6"/>
          <p:cNvSpPr txBox="1"/>
          <p:nvPr/>
        </p:nvSpPr>
        <p:spPr>
          <a:xfrm>
            <a:off x="609904" y="3172968"/>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Build 4: add the order</a:t>
            </a:r>
          </a:p>
        </p:txBody>
      </p:sp>
      <p:sp>
        <p:nvSpPr>
          <p:cNvPr id="8" name="Rounded Rectangle 7"/>
          <p:cNvSpPr/>
          <p:nvPr/>
        </p:nvSpPr>
        <p:spPr>
          <a:xfrm>
            <a:off x="609904" y="3447287"/>
            <a:ext cx="5852160" cy="1146048"/>
          </a:xfrm>
          <a:prstGeom prst="roundRect">
            <a:avLst>
              <a:gd name="adj" fmla="val 6382"/>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593591"/>
            <a:ext cx="5449824" cy="853440"/>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order_id, customer_name, product, status</a:t>
            </a:r>
          </a:p>
          <a:p>
            <a:pPr algn="l">
              <a:lnSpc>
                <a:spcPct val="100000"/>
              </a:lnSpc>
            </a:pPr>
            <a:r>
              <a:rPr sz="1400">
                <a:solidFill>
                  <a:srgbClr val="1A1A1A"/>
                </a:solidFill>
                <a:latin typeface="Courier New"/>
              </a:rPr>
              <a:t>FROM orders</a:t>
            </a:r>
          </a:p>
          <a:p>
            <a:pPr algn="l">
              <a:lnSpc>
                <a:spcPct val="100000"/>
              </a:lnSpc>
            </a:pPr>
            <a:r>
              <a:rPr sz="1400">
                <a:solidFill>
                  <a:srgbClr val="1A1A1A"/>
                </a:solidFill>
                <a:latin typeface="Courier New"/>
              </a:rPr>
              <a:t>WHERE customer_name = 'Karen White'</a:t>
            </a:r>
          </a:p>
          <a:p>
            <a:pPr algn="l">
              <a:lnSpc>
                <a:spcPct val="100000"/>
              </a:lnSpc>
            </a:pPr>
            <a:r>
              <a:rPr sz="1400">
                <a:solidFill>
                  <a:srgbClr val="1A1A1A"/>
                </a:solidFill>
                <a:latin typeface="Courier New"/>
              </a:rPr>
              <a:t>ORDER BY order_id DESC;</a:t>
            </a:r>
          </a:p>
        </p:txBody>
      </p:sp>
      <p:sp>
        <p:nvSpPr>
          <p:cNvPr id="10" name="TextBox 9"/>
          <p:cNvSpPr txBox="1"/>
          <p:nvPr/>
        </p:nvSpPr>
        <p:spPr>
          <a:xfrm>
            <a:off x="6827824" y="1783080"/>
            <a:ext cx="475396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Each build returns 1 row: order 1012, a Monitor, DELIVERED.</a:t>
            </a:r>
          </a:p>
          <a:p>
            <a:pPr marL="228600" indent="-228600" algn="l">
              <a:spcAft>
                <a:spcPts val="800"/>
              </a:spcAft>
              <a:buFont typeface="Arial"/>
              <a:buChar char="•"/>
            </a:pPr>
            <a:r>
              <a:rPr sz="1400" b="0" i="0">
                <a:solidFill>
                  <a:srgbClr val="1A1A1A"/>
                </a:solidFill>
                <a:latin typeface="Arial"/>
              </a:rPr>
              <a:t>Step 5: with several orders we would want the latest, so </a:t>
            </a:r>
            <a:r>
              <a:rPr sz="1350" b="0" i="0">
                <a:solidFill>
                  <a:srgbClr val="330066"/>
                </a:solidFill>
                <a:latin typeface="Courier New"/>
              </a:rPr>
              <a:t>ORDER BY order_id DESC</a:t>
            </a:r>
            <a:r>
              <a:rPr sz="1400" b="0" i="0">
                <a:solidFill>
                  <a:srgbClr val="1A1A1A"/>
                </a:solidFill>
                <a:latin typeface="Arial"/>
              </a:rPr>
              <a:t>.</a:t>
            </a:r>
          </a:p>
          <a:p>
            <a:pPr marL="228600" indent="-228600" algn="l">
              <a:spcAft>
                <a:spcPts val="800"/>
              </a:spcAft>
              <a:buFont typeface="Arial"/>
              <a:buChar char="•"/>
            </a:pPr>
            <a:r>
              <a:rPr sz="1400" b="0" i="0">
                <a:solidFill>
                  <a:srgbClr val="1A1A1A"/>
                </a:solidFill>
                <a:latin typeface="Arial"/>
              </a:rPr>
              <a:t>Step 7, verify: Karen White appears once in the dataset. The query matches.</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12 / 55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Why Build Incrementally?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Rounded Rectangle 3"/>
          <p:cNvSpPr/>
          <p:nvPr/>
        </p:nvSpPr>
        <p:spPr>
          <a:xfrm>
            <a:off x="609904" y="1783080"/>
            <a:ext cx="10971885" cy="1645920"/>
          </a:xfrm>
          <a:prstGeom prst="roundRect">
            <a:avLst>
              <a:gd name="adj" fmla="val 5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20240"/>
            <a:ext cx="10514685" cy="137160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PRINCIPLE</a:t>
            </a:r>
          </a:p>
          <a:p>
            <a:pPr algn="l">
              <a:lnSpc>
                <a:spcPct val="110000"/>
              </a:lnSpc>
              <a:spcAft>
                <a:spcPts val="600"/>
              </a:spcAft>
            </a:pPr>
            <a:r>
              <a:rPr sz="1400" b="0" i="0">
                <a:solidFill>
                  <a:srgbClr val="1A1A1A"/>
                </a:solidFill>
                <a:latin typeface="Arial"/>
              </a:rPr>
              <a:t>If you write all four clauses at once and the result is wrong, you have four suspects. If you run after every addition, the defect is always in the last thing you added. This is the Wednesday debugging principle: change one thing at a time.</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13 / 55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Worked Examples</a:t>
            </a:r>
          </a:p>
        </p:txBody>
      </p:sp>
      <p:sp>
        <p:nvSpPr>
          <p:cNvPr id="3" name="Text Placeholder 2"/>
          <p:cNvSpPr>
            <a:spLocks noGrp="1"/>
          </p:cNvSpPr>
          <p:nvPr>
            <p:ph type="body" idx="1"/>
          </p:nvPr>
        </p:nvSpPr>
        <p:spPr/>
        <p:txBody>
          <a:bodyPr/>
          <a:lstStyle/>
          <a:p>
            <a:r>
              <a:rPr sz="1800">
                <a:solidFill>
                  <a:srgbClr val="5A5A5A"/>
                </a:solidFill>
              </a:rPr>
              <a:t>Five more requirements, each turned into a query and verified by hand</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02</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14 / 55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Example 2: Understand the Request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WORKED EXAMPLE 2</a:t>
            </a:r>
          </a:p>
        </p:txBody>
      </p:sp>
      <p:sp>
        <p:nvSpPr>
          <p:cNvPr id="4" name="TextBox 3"/>
          <p:cNvSpPr txBox="1"/>
          <p:nvPr/>
        </p:nvSpPr>
        <p:spPr>
          <a:xfrm>
            <a:off x="609904" y="1783080"/>
            <a:ext cx="10971885" cy="731520"/>
          </a:xfrm>
          <a:prstGeom prst="rect">
            <a:avLst/>
          </a:prstGeom>
          <a:noFill/>
        </p:spPr>
        <p:txBody>
          <a:bodyPr wrap="square" lIns="0" tIns="0" rIns="0" bIns="0" anchor="t">
            <a:spAutoFit/>
          </a:bodyPr>
          <a:lstStyle/>
          <a:p>
            <a:pPr algn="l">
              <a:lnSpc>
                <a:spcPct val="110000"/>
              </a:lnSpc>
              <a:spcAft>
                <a:spcPts val="600"/>
              </a:spcAft>
            </a:pPr>
            <a:r>
              <a:rPr sz="1600" b="1" i="0">
                <a:solidFill>
                  <a:srgbClr val="330066"/>
                </a:solidFill>
                <a:latin typeface="Arial"/>
              </a:rPr>
              <a:t>Request: "Find orders from the USA that have not shipped yet. We need them for the warehouse team."</a:t>
            </a:r>
          </a:p>
        </p:txBody>
      </p:sp>
      <p:sp>
        <p:nvSpPr>
          <p:cNvPr id="5" name="Rounded Rectangle 4"/>
          <p:cNvSpPr/>
          <p:nvPr/>
        </p:nvSpPr>
        <p:spPr>
          <a:xfrm>
            <a:off x="609904" y="2697480"/>
            <a:ext cx="10971885" cy="1554480"/>
          </a:xfrm>
          <a:prstGeom prst="roundRect">
            <a:avLst>
              <a:gd name="adj" fmla="val 5294"/>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8504" y="2834640"/>
            <a:ext cx="10514685" cy="128016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STEP 1: UNDERSTAND</a:t>
            </a:r>
          </a:p>
          <a:p>
            <a:pPr algn="l">
              <a:lnSpc>
                <a:spcPct val="110000"/>
              </a:lnSpc>
              <a:spcAft>
                <a:spcPts val="600"/>
              </a:spcAft>
            </a:pPr>
            <a:r>
              <a:rPr sz="1400" b="0" i="0">
                <a:solidFill>
                  <a:srgbClr val="1A1A1A"/>
                </a:solidFill>
                <a:latin typeface="Arial"/>
              </a:rPr>
              <a:t>"Not shipped yet" is ambiguous. The lifecycle is PENDING, SHIPPED, DELIVERED, with CANCELLED as a side exit. It most likely means PENDING; a cancelled order never ships. When requirements are ambiguous, a tester asks. Assume the answer: PENDING only.</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15 / 55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2: Two Conditions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WORKED EXAMPLE 2</a:t>
            </a:r>
          </a:p>
        </p:txBody>
      </p:sp>
      <p:sp>
        <p:nvSpPr>
          <p:cNvPr id="4" name="Rounded Rectangle 3"/>
          <p:cNvSpPr/>
          <p:nvPr/>
        </p:nvSpPr>
        <p:spPr>
          <a:xfrm>
            <a:off x="609904" y="1783080"/>
            <a:ext cx="5120640" cy="1207007"/>
          </a:xfrm>
          <a:prstGeom prst="roundRect">
            <a:avLst>
              <a:gd name="adj" fmla="val 606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4718303" cy="914399"/>
          </a:xfrm>
          <a:prstGeom prst="rect">
            <a:avLst/>
          </a:prstGeom>
          <a:noFill/>
        </p:spPr>
        <p:txBody>
          <a:bodyPr wrap="square" lIns="0" tIns="0" rIns="0" bIns="0">
            <a:spAutoFit/>
          </a:bodyPr>
          <a:lstStyle/>
          <a:p>
            <a:pPr algn="l">
              <a:lnSpc>
                <a:spcPct val="100000"/>
              </a:lnSpc>
            </a:pPr>
            <a:r>
              <a:rPr sz="1200">
                <a:solidFill>
                  <a:srgbClr val="1A1A1A"/>
                </a:solidFill>
                <a:latin typeface="Courier New"/>
              </a:rPr>
              <a:t>SELECT order_id, product, quantity, status, country</a:t>
            </a:r>
          </a:p>
          <a:p>
            <a:pPr algn="l">
              <a:lnSpc>
                <a:spcPct val="100000"/>
              </a:lnSpc>
            </a:pPr>
            <a:r>
              <a:rPr sz="1200">
                <a:solidFill>
                  <a:srgbClr val="1A1A1A"/>
                </a:solidFill>
                <a:latin typeface="Courier New"/>
              </a:rPr>
              <a:t>FROM orders</a:t>
            </a:r>
          </a:p>
          <a:p>
            <a:pPr algn="l">
              <a:lnSpc>
                <a:spcPct val="100000"/>
              </a:lnSpc>
            </a:pPr>
            <a:r>
              <a:rPr sz="1200">
                <a:solidFill>
                  <a:srgbClr val="1A1A1A"/>
                </a:solidFill>
                <a:latin typeface="Courier New"/>
              </a:rPr>
              <a:t>WHERE country = 'USA'</a:t>
            </a:r>
          </a:p>
          <a:p>
            <a:pPr algn="l">
              <a:lnSpc>
                <a:spcPct val="100000"/>
              </a:lnSpc>
            </a:pPr>
            <a:r>
              <a:rPr sz="1200">
                <a:solidFill>
                  <a:srgbClr val="1A1A1A"/>
                </a:solidFill>
                <a:latin typeface="Courier New"/>
              </a:rPr>
              <a:t>  AND status = 'PENDING'</a:t>
            </a:r>
          </a:p>
          <a:p>
            <a:pPr algn="l">
              <a:lnSpc>
                <a:spcPct val="100000"/>
              </a:lnSpc>
            </a:pPr>
            <a:r>
              <a:rPr sz="1200">
                <a:solidFill>
                  <a:srgbClr val="1A1A1A"/>
                </a:solidFill>
                <a:latin typeface="Courier New"/>
              </a:rPr>
              <a:t>ORDER BY order_id;</a:t>
            </a:r>
          </a:p>
        </p:txBody>
      </p:sp>
      <p:sp>
        <p:nvSpPr>
          <p:cNvPr id="6" name="TextBox 5"/>
          <p:cNvSpPr txBox="1"/>
          <p:nvPr/>
        </p:nvSpPr>
        <p:spPr>
          <a:xfrm>
            <a:off x="6096304" y="1783080"/>
            <a:ext cx="5485485" cy="4361688"/>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Columns the warehouse needs: </a:t>
            </a:r>
            <a:r>
              <a:rPr sz="1200" b="0" i="0">
                <a:solidFill>
                  <a:srgbClr val="330066"/>
                </a:solidFill>
                <a:latin typeface="Courier New"/>
              </a:rPr>
              <a:t>order_id</a:t>
            </a:r>
            <a:r>
              <a:rPr sz="1250" b="0" i="0">
                <a:solidFill>
                  <a:srgbClr val="1A1A1A"/>
                </a:solidFill>
                <a:latin typeface="Arial"/>
              </a:rPr>
              <a:t>, </a:t>
            </a:r>
            <a:r>
              <a:rPr sz="1200" b="0" i="0">
                <a:solidFill>
                  <a:srgbClr val="330066"/>
                </a:solidFill>
                <a:latin typeface="Courier New"/>
              </a:rPr>
              <a:t>product</a:t>
            </a:r>
            <a:r>
              <a:rPr sz="1250" b="0" i="0">
                <a:solidFill>
                  <a:srgbClr val="1A1A1A"/>
                </a:solidFill>
                <a:latin typeface="Arial"/>
              </a:rPr>
              <a:t>, </a:t>
            </a:r>
            <a:r>
              <a:rPr sz="1200" b="0" i="0">
                <a:solidFill>
                  <a:srgbClr val="330066"/>
                </a:solidFill>
                <a:latin typeface="Courier New"/>
              </a:rPr>
              <a:t>quantity</a:t>
            </a:r>
            <a:r>
              <a:rPr sz="1250" b="0" i="0">
                <a:solidFill>
                  <a:srgbClr val="1A1A1A"/>
                </a:solidFill>
                <a:latin typeface="Arial"/>
              </a:rPr>
              <a:t>, </a:t>
            </a:r>
            <a:r>
              <a:rPr sz="1200" b="0" i="0">
                <a:solidFill>
                  <a:srgbClr val="330066"/>
                </a:solidFill>
                <a:latin typeface="Courier New"/>
              </a:rPr>
              <a:t>status</a:t>
            </a:r>
            <a:r>
              <a:rPr sz="1250" b="0" i="0">
                <a:solidFill>
                  <a:srgbClr val="1A1A1A"/>
                </a:solidFill>
                <a:latin typeface="Arial"/>
              </a:rPr>
              <a:t>, </a:t>
            </a:r>
            <a:r>
              <a:rPr sz="1200" b="0" i="0">
                <a:solidFill>
                  <a:srgbClr val="330066"/>
                </a:solidFill>
                <a:latin typeface="Courier New"/>
              </a:rPr>
              <a:t>country</a:t>
            </a:r>
            <a:r>
              <a:rPr sz="1250" b="0" i="0">
                <a:solidFill>
                  <a:srgbClr val="1A1A1A"/>
                </a:solidFill>
                <a:latin typeface="Arial"/>
              </a:rPr>
              <a:t>.</a:t>
            </a:r>
          </a:p>
          <a:p>
            <a:pPr marL="228600" indent="-228600" algn="l">
              <a:spcAft>
                <a:spcPts val="800"/>
              </a:spcAft>
              <a:buFont typeface="Arial"/>
              <a:buChar char="•"/>
            </a:pPr>
            <a:r>
              <a:rPr sz="1250" b="0" i="0">
                <a:solidFill>
                  <a:srgbClr val="1A1A1A"/>
                </a:solidFill>
                <a:latin typeface="Arial"/>
              </a:rPr>
              <a:t>Both conditions must be true, so </a:t>
            </a:r>
            <a:r>
              <a:rPr sz="1200" b="0" i="0">
                <a:solidFill>
                  <a:srgbClr val="330066"/>
                </a:solidFill>
                <a:latin typeface="Courier New"/>
              </a:rPr>
              <a:t>AND</a:t>
            </a:r>
            <a:r>
              <a:rPr sz="1250" b="0" i="0">
                <a:solidFill>
                  <a:srgbClr val="1A1A1A"/>
                </a:solidFill>
                <a:latin typeface="Arial"/>
              </a:rPr>
              <a:t>.</a:t>
            </a:r>
          </a:p>
          <a:p>
            <a:pPr marL="228600" indent="-228600" algn="l">
              <a:spcAft>
                <a:spcPts val="800"/>
              </a:spcAft>
              <a:buFont typeface="Arial"/>
              <a:buChar char="•"/>
            </a:pPr>
            <a:r>
              <a:rPr sz="1250" b="0" i="0">
                <a:solidFill>
                  <a:srgbClr val="1A1A1A"/>
                </a:solidFill>
                <a:latin typeface="Arial"/>
              </a:rPr>
              <a:t>Result: 2 rows, 1004 and 1007. Verify: USA orders are 1001, 1002, 1004, 1007, 1009, 1012, 1015; the PENDING ones are 1004 and 1007.</a:t>
            </a:r>
          </a:p>
          <a:p>
            <a:pPr marL="228600" indent="-228600" algn="l">
              <a:spcAft>
                <a:spcPts val="800"/>
              </a:spcAft>
              <a:buFont typeface="Arial"/>
              <a:buChar char="•"/>
            </a:pPr>
            <a:r>
              <a:rPr sz="1250" b="0" i="0">
                <a:solidFill>
                  <a:srgbClr val="1A1A1A"/>
                </a:solidFill>
                <a:latin typeface="Arial"/>
              </a:rPr>
              <a:t>Order 1007 has quantity 0: a data oddity spotted on the way. Report such observations separately.</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16 / 55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Example 3: Ranges and Allowed Values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WORKED EXAMPLE 3</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Request: orders placed in February 2025 for Electronics or Home Office, most expensive first.</a:t>
            </a:r>
          </a:p>
        </p:txBody>
      </p:sp>
      <p:sp>
        <p:nvSpPr>
          <p:cNvPr id="5" name="Rounded Rectangle 4"/>
          <p:cNvSpPr/>
          <p:nvPr/>
        </p:nvSpPr>
        <p:spPr>
          <a:xfrm>
            <a:off x="609904" y="2221991"/>
            <a:ext cx="6035040" cy="1435607"/>
          </a:xfrm>
          <a:prstGeom prst="roundRect">
            <a:avLst>
              <a:gd name="adj" fmla="val 50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5632703" cy="1142999"/>
          </a:xfrm>
          <a:prstGeom prst="rect">
            <a:avLst/>
          </a:prstGeom>
          <a:noFill/>
        </p:spPr>
        <p:txBody>
          <a:bodyPr wrap="square" lIns="0" tIns="0" rIns="0" bIns="0">
            <a:spAutoFit/>
          </a:bodyPr>
          <a:lstStyle/>
          <a:p>
            <a:pPr algn="l">
              <a:lnSpc>
                <a:spcPct val="100000"/>
              </a:lnSpc>
            </a:pPr>
            <a:r>
              <a:rPr sz="1250">
                <a:solidFill>
                  <a:srgbClr val="1A1A1A"/>
                </a:solidFill>
                <a:latin typeface="Courier New"/>
              </a:rPr>
              <a:t>SELECT order_id, product, category, unit_price, order_date</a:t>
            </a:r>
          </a:p>
          <a:p>
            <a:pPr algn="l">
              <a:lnSpc>
                <a:spcPct val="100000"/>
              </a:lnSpc>
            </a:pPr>
            <a:r>
              <a:rPr sz="1250">
                <a:solidFill>
                  <a:srgbClr val="1A1A1A"/>
                </a:solidFill>
                <a:latin typeface="Courier New"/>
              </a:rPr>
              <a:t>FROM orders</a:t>
            </a:r>
          </a:p>
          <a:p>
            <a:pPr algn="l">
              <a:lnSpc>
                <a:spcPct val="100000"/>
              </a:lnSpc>
            </a:pPr>
            <a:r>
              <a:rPr sz="1250">
                <a:solidFill>
                  <a:srgbClr val="1A1A1A"/>
                </a:solidFill>
                <a:latin typeface="Courier New"/>
              </a:rPr>
              <a:t>WHERE order_date &gt;= '2025-02-01'</a:t>
            </a:r>
          </a:p>
          <a:p>
            <a:pPr algn="l">
              <a:lnSpc>
                <a:spcPct val="100000"/>
              </a:lnSpc>
            </a:pPr>
            <a:r>
              <a:rPr sz="1250">
                <a:solidFill>
                  <a:srgbClr val="1A1A1A"/>
                </a:solidFill>
                <a:latin typeface="Courier New"/>
              </a:rPr>
              <a:t>  AND order_date &lt;  '2025-03-01'</a:t>
            </a:r>
          </a:p>
          <a:p>
            <a:pPr algn="l">
              <a:lnSpc>
                <a:spcPct val="100000"/>
              </a:lnSpc>
            </a:pPr>
            <a:r>
              <a:rPr sz="1250">
                <a:solidFill>
                  <a:srgbClr val="1A1A1A"/>
                </a:solidFill>
                <a:latin typeface="Courier New"/>
              </a:rPr>
              <a:t>  AND category IN ('Electronics', 'Home Office')</a:t>
            </a:r>
          </a:p>
          <a:p>
            <a:pPr algn="l">
              <a:lnSpc>
                <a:spcPct val="100000"/>
              </a:lnSpc>
            </a:pPr>
            <a:r>
              <a:rPr sz="1250">
                <a:solidFill>
                  <a:srgbClr val="1A1A1A"/>
                </a:solidFill>
                <a:latin typeface="Courier New"/>
              </a:rPr>
              <a:t>ORDER BY unit_price DESC, order_id;</a:t>
            </a:r>
          </a:p>
        </p:txBody>
      </p:sp>
      <p:sp>
        <p:nvSpPr>
          <p:cNvPr id="7" name="TextBox 6"/>
          <p:cNvSpPr txBox="1"/>
          <p:nvPr/>
        </p:nvSpPr>
        <p:spPr>
          <a:xfrm>
            <a:off x="7010704" y="2221991"/>
            <a:ext cx="4571085" cy="3922776"/>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Date range with a half-open window.</a:t>
            </a:r>
          </a:p>
          <a:p>
            <a:pPr marL="228600" indent="-228600" algn="l">
              <a:spcAft>
                <a:spcPts val="800"/>
              </a:spcAft>
              <a:buFont typeface="Arial"/>
              <a:buChar char="•"/>
            </a:pPr>
            <a:r>
              <a:rPr sz="1200" b="0" i="0">
                <a:solidFill>
                  <a:srgbClr val="330066"/>
                </a:solidFill>
                <a:latin typeface="Courier New"/>
              </a:rPr>
              <a:t>category IN (...)</a:t>
            </a:r>
            <a:r>
              <a:rPr sz="1250" b="0" i="0">
                <a:solidFill>
                  <a:srgbClr val="1A1A1A"/>
                </a:solidFill>
                <a:latin typeface="Arial"/>
              </a:rPr>
              <a:t> for allowed values.</a:t>
            </a:r>
          </a:p>
          <a:p>
            <a:pPr marL="228600" indent="-228600" algn="l">
              <a:spcAft>
                <a:spcPts val="800"/>
              </a:spcAft>
              <a:buFont typeface="Arial"/>
              <a:buChar char="•"/>
            </a:pPr>
            <a:r>
              <a:rPr sz="1250" b="0" i="0">
                <a:solidFill>
                  <a:srgbClr val="1A1A1A"/>
                </a:solidFill>
                <a:latin typeface="Arial"/>
              </a:rPr>
              <a:t>Sort by </a:t>
            </a:r>
            <a:r>
              <a:rPr sz="1200" b="0" i="0">
                <a:solidFill>
                  <a:srgbClr val="330066"/>
                </a:solidFill>
                <a:latin typeface="Courier New"/>
              </a:rPr>
              <a:t>unit_price DESC</a:t>
            </a:r>
            <a:r>
              <a:rPr sz="1250" b="0" i="0">
                <a:solidFill>
                  <a:srgbClr val="1A1A1A"/>
                </a:solidFill>
                <a:latin typeface="Arial"/>
              </a:rPr>
              <a:t> with </a:t>
            </a:r>
            <a:r>
              <a:rPr sz="1200" b="0" i="0">
                <a:solidFill>
                  <a:srgbClr val="330066"/>
                </a:solidFill>
                <a:latin typeface="Courier New"/>
              </a:rPr>
              <a:t>order_id</a:t>
            </a:r>
            <a:r>
              <a:rPr sz="1250" b="0" i="0">
                <a:solidFill>
                  <a:srgbClr val="1A1A1A"/>
                </a:solidFill>
                <a:latin typeface="Arial"/>
              </a:rPr>
              <a:t> as tiebreaker.</a:t>
            </a:r>
          </a:p>
          <a:p>
            <a:pPr marL="228600" indent="-228600" algn="l">
              <a:spcAft>
                <a:spcPts val="800"/>
              </a:spcAft>
              <a:buFont typeface="Arial"/>
              <a:buChar char="•"/>
            </a:pPr>
            <a:r>
              <a:rPr sz="1250" b="0" i="0">
                <a:solidFill>
                  <a:srgbClr val="1A1A1A"/>
                </a:solidFill>
                <a:latin typeface="Arial"/>
              </a:rPr>
              <a:t>Result: 4 rows, prices 220, 150, 49.99, 19.99. The Wireless Mouse (Accessories, 1011) is correctly excluded.</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17 / 55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4: The Latest Pattern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WORKED EXAMPLE 4</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"What is the most recently placed order?" or "Which order did my test just create?"</a:t>
            </a:r>
          </a:p>
        </p:txBody>
      </p:sp>
      <p:sp>
        <p:nvSpPr>
          <p:cNvPr id="5" name="Rounded Rectangle 4"/>
          <p:cNvSpPr/>
          <p:nvPr/>
        </p:nvSpPr>
        <p:spPr>
          <a:xfrm>
            <a:off x="609904" y="2221991"/>
            <a:ext cx="5120640" cy="1024127"/>
          </a:xfrm>
          <a:prstGeom prst="roundRect">
            <a:avLst>
              <a:gd name="adj" fmla="val 7142"/>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4718303" cy="731519"/>
          </a:xfrm>
          <a:prstGeom prst="rect">
            <a:avLst/>
          </a:prstGeom>
          <a:noFill/>
        </p:spPr>
        <p:txBody>
          <a:bodyPr wrap="square" lIns="0" tIns="0" rIns="0" bIns="0">
            <a:spAutoFit/>
          </a:bodyPr>
          <a:lstStyle/>
          <a:p>
            <a:pPr algn="l">
              <a:lnSpc>
                <a:spcPct val="100000"/>
              </a:lnSpc>
            </a:pPr>
            <a:r>
              <a:rPr sz="1200">
                <a:solidFill>
                  <a:srgbClr val="1A1A1A"/>
                </a:solidFill>
                <a:latin typeface="Courier New"/>
              </a:rPr>
              <a:t>SELECT order_id, customer_name, order_date, status</a:t>
            </a:r>
          </a:p>
          <a:p>
            <a:pPr algn="l">
              <a:lnSpc>
                <a:spcPct val="100000"/>
              </a:lnSpc>
            </a:pPr>
            <a:r>
              <a:rPr sz="1200">
                <a:solidFill>
                  <a:srgbClr val="1A1A1A"/>
                </a:solidFill>
                <a:latin typeface="Courier New"/>
              </a:rPr>
              <a:t>FROM orders</a:t>
            </a:r>
          </a:p>
          <a:p>
            <a:pPr algn="l">
              <a:lnSpc>
                <a:spcPct val="100000"/>
              </a:lnSpc>
            </a:pPr>
            <a:r>
              <a:rPr sz="1200">
                <a:solidFill>
                  <a:srgbClr val="1A1A1A"/>
                </a:solidFill>
                <a:latin typeface="Courier New"/>
              </a:rPr>
              <a:t>ORDER BY order_date DESC, order_id DESC</a:t>
            </a:r>
          </a:p>
          <a:p>
            <a:pPr algn="l">
              <a:lnSpc>
                <a:spcPct val="100000"/>
              </a:lnSpc>
            </a:pPr>
            <a:r>
              <a:rPr sz="1200">
                <a:solidFill>
                  <a:srgbClr val="1A1A1A"/>
                </a:solidFill>
                <a:latin typeface="Courier New"/>
              </a:rPr>
              <a:t>LIMIT 1;</a:t>
            </a:r>
          </a:p>
        </p:txBody>
      </p:sp>
      <p:sp>
        <p:nvSpPr>
          <p:cNvPr id="7" name="TextBox 6"/>
          <p:cNvSpPr txBox="1"/>
          <p:nvPr/>
        </p:nvSpPr>
        <p:spPr>
          <a:xfrm>
            <a:off x="6096304" y="2221991"/>
            <a:ext cx="5485485" cy="3922776"/>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Why both </a:t>
            </a:r>
            <a:r>
              <a:rPr sz="1200" b="0" i="0">
                <a:solidFill>
                  <a:srgbClr val="330066"/>
                </a:solidFill>
                <a:latin typeface="Courier New"/>
              </a:rPr>
              <a:t>order_date DESC</a:t>
            </a:r>
            <a:r>
              <a:rPr sz="1250" b="0" i="0">
                <a:solidFill>
                  <a:srgbClr val="1A1A1A"/>
                </a:solidFill>
                <a:latin typeface="Arial"/>
              </a:rPr>
              <a:t> and </a:t>
            </a:r>
            <a:r>
              <a:rPr sz="1200" b="0" i="0">
                <a:solidFill>
                  <a:srgbClr val="330066"/>
                </a:solidFill>
                <a:latin typeface="Courier New"/>
              </a:rPr>
              <a:t>order_id DESC</a:t>
            </a:r>
            <a:r>
              <a:rPr sz="1250" b="0" i="0">
                <a:solidFill>
                  <a:srgbClr val="1A1A1A"/>
                </a:solidFill>
                <a:latin typeface="Arial"/>
              </a:rPr>
              <a:t>? If two orders share a date the first key ties; the second makes the result deterministic.</a:t>
            </a:r>
          </a:p>
          <a:p>
            <a:pPr marL="228600" indent="-228600" algn="l">
              <a:spcAft>
                <a:spcPts val="800"/>
              </a:spcAft>
              <a:buFont typeface="Arial"/>
              <a:buChar char="•"/>
            </a:pPr>
            <a:r>
              <a:rPr sz="1250" b="0" i="0">
                <a:solidFill>
                  <a:srgbClr val="1A1A1A"/>
                </a:solidFill>
                <a:latin typeface="Arial"/>
              </a:rPr>
              <a:t>Perhaps the most common SQL pattern in test automation.</a:t>
            </a:r>
          </a:p>
          <a:p>
            <a:pPr marL="228600" indent="-228600" algn="l">
              <a:spcAft>
                <a:spcPts val="800"/>
              </a:spcAft>
              <a:buFont typeface="Arial"/>
              <a:buChar char="•"/>
            </a:pPr>
            <a:r>
              <a:rPr sz="1250" b="0" i="0">
                <a:solidFill>
                  <a:srgbClr val="1A1A1A"/>
                </a:solidFill>
                <a:latin typeface="Arial"/>
              </a:rPr>
              <a:t>SQL Server: </a:t>
            </a:r>
            <a:r>
              <a:rPr sz="1200" b="0" i="0">
                <a:solidFill>
                  <a:srgbClr val="330066"/>
                </a:solidFill>
                <a:latin typeface="Courier New"/>
              </a:rPr>
              <a:t>SELECT TOP 1 ...</a:t>
            </a:r>
            <a:r>
              <a:rPr sz="1250" b="0" i="0">
                <a:solidFill>
                  <a:srgbClr val="1A1A1A"/>
                </a:solidFill>
                <a:latin typeface="Arial"/>
              </a:rPr>
              <a:t>. Oracle 12c+: </a:t>
            </a:r>
            <a:r>
              <a:rPr sz="1200" b="0" i="0">
                <a:solidFill>
                  <a:srgbClr val="330066"/>
                </a:solidFill>
                <a:latin typeface="Courier New"/>
              </a:rPr>
              <a:t>FETCH FIRST 1 ROW ONLY</a:t>
            </a:r>
            <a:r>
              <a:rPr sz="1250" b="0" i="0">
                <a:solidFill>
                  <a:srgbClr val="1A1A1A"/>
                </a:solidFill>
                <a:latin typeface="Arial"/>
              </a:rPr>
              <a:t>.</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18 / 55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5: Missing or Wrong</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WORKED EXAMPLE 5</a:t>
            </a:r>
          </a:p>
        </p:txBody>
      </p:sp>
      <p:sp>
        <p:nvSpPr>
          <p:cNvPr id="4" name="TextBox 3"/>
          <p:cNvSpPr txBox="1"/>
          <p:nvPr/>
        </p:nvSpPr>
        <p:spPr>
          <a:xfrm>
            <a:off x="609904" y="1783080"/>
            <a:ext cx="10971885" cy="822960"/>
          </a:xfrm>
          <a:prstGeom prst="rect">
            <a:avLst/>
          </a:prstGeom>
          <a:noFill/>
        </p:spPr>
        <p:txBody>
          <a:bodyPr wrap="square" lIns="0" tIns="0" rIns="0" bIns="0" anchor="t">
            <a:spAutoFit/>
          </a:bodyPr>
          <a:lstStyle/>
          <a:p>
            <a:pPr algn="l">
              <a:lnSpc>
                <a:spcPct val="110000"/>
              </a:lnSpc>
              <a:spcAft>
                <a:spcPts val="600"/>
              </a:spcAft>
            </a:pPr>
            <a:r>
              <a:rPr sz="1600" b="1" i="0">
                <a:solidFill>
                  <a:srgbClr val="330066"/>
                </a:solidFill>
                <a:latin typeface="Arial"/>
              </a:rPr>
              <a:t>Request: "Some customers never received a confirmation email. Find orders where we have no usable email address."</a:t>
            </a:r>
          </a:p>
        </p:txBody>
      </p:sp>
      <p:sp>
        <p:nvSpPr>
          <p:cNvPr id="5" name="TextBox 4"/>
          <p:cNvSpPr txBox="1"/>
          <p:nvPr/>
        </p:nvSpPr>
        <p:spPr>
          <a:xfrm>
            <a:off x="609904" y="260604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"No usable email" means one of:</a:t>
            </a:r>
          </a:p>
        </p:txBody>
      </p:sp>
      <p:sp>
        <p:nvSpPr>
          <p:cNvPr id="6" name="TextBox 5"/>
          <p:cNvSpPr txBox="1"/>
          <p:nvPr/>
        </p:nvSpPr>
        <p:spPr>
          <a:xfrm>
            <a:off x="609904" y="3063239"/>
            <a:ext cx="10971885" cy="1645920"/>
          </a:xfrm>
          <a:prstGeom prst="rect">
            <a:avLst/>
          </a:prstGeom>
          <a:noFill/>
        </p:spPr>
        <p:txBody>
          <a:bodyPr wrap="square" lIns="0" tIns="0" rIns="0" bIns="0">
            <a:spAutoFit/>
          </a:bodyPr>
          <a:lstStyle/>
          <a:p>
            <a:pPr marL="228600" indent="-228600" algn="l">
              <a:spcAft>
                <a:spcPts val="800"/>
              </a:spcAft>
              <a:buFont typeface="Arial"/>
              <a:buChar char="•"/>
            </a:pPr>
            <a:r>
              <a:rPr sz="1600" b="0" i="0">
                <a:solidFill>
                  <a:srgbClr val="1A1A1A"/>
                </a:solidFill>
                <a:latin typeface="Arial"/>
              </a:rPr>
              <a:t>(a) email is NULL</a:t>
            </a:r>
          </a:p>
          <a:p>
            <a:pPr marL="228600" indent="-228600" algn="l">
              <a:spcAft>
                <a:spcPts val="800"/>
              </a:spcAft>
              <a:buFont typeface="Arial"/>
              <a:buChar char="•"/>
            </a:pPr>
            <a:r>
              <a:rPr sz="1600" b="0" i="0">
                <a:solidFill>
                  <a:srgbClr val="1A1A1A"/>
                </a:solidFill>
                <a:latin typeface="Arial"/>
              </a:rPr>
              <a:t>(b) email is blank</a:t>
            </a:r>
          </a:p>
          <a:p>
            <a:pPr marL="228600" indent="-228600" algn="l">
              <a:spcAft>
                <a:spcPts val="800"/>
              </a:spcAft>
              <a:buFont typeface="Arial"/>
              <a:buChar char="•"/>
            </a:pPr>
            <a:r>
              <a:rPr sz="1600" b="0" i="0">
                <a:solidFill>
                  <a:srgbClr val="1A1A1A"/>
                </a:solidFill>
                <a:latin typeface="Arial"/>
              </a:rPr>
              <a:t>(c) email does not look like an address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19 / 55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5: Three Definitions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WORKED EXAMPLE 5</a:t>
            </a:r>
          </a:p>
        </p:txBody>
      </p:sp>
      <p:sp>
        <p:nvSpPr>
          <p:cNvPr id="4" name="Rounded Rectangle 3"/>
          <p:cNvSpPr/>
          <p:nvPr/>
        </p:nvSpPr>
        <p:spPr>
          <a:xfrm>
            <a:off x="609904" y="1783080"/>
            <a:ext cx="4937760" cy="1572768"/>
          </a:xfrm>
          <a:prstGeom prst="roundRect">
            <a:avLst>
              <a:gd name="adj" fmla="val 465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4535424" cy="1280160"/>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order_id, customer_name, email</a:t>
            </a:r>
          </a:p>
          <a:p>
            <a:pPr algn="l">
              <a:lnSpc>
                <a:spcPct val="100000"/>
              </a:lnSpc>
            </a:pPr>
            <a:r>
              <a:rPr sz="1400">
                <a:solidFill>
                  <a:srgbClr val="1A1A1A"/>
                </a:solidFill>
                <a:latin typeface="Courier New"/>
              </a:rPr>
              <a:t>FROM orders</a:t>
            </a:r>
          </a:p>
          <a:p>
            <a:pPr algn="l">
              <a:lnSpc>
                <a:spcPct val="100000"/>
              </a:lnSpc>
            </a:pPr>
            <a:r>
              <a:rPr sz="1400">
                <a:solidFill>
                  <a:srgbClr val="1A1A1A"/>
                </a:solidFill>
                <a:latin typeface="Courier New"/>
              </a:rPr>
              <a:t>WHERE email IS NULL</a:t>
            </a:r>
          </a:p>
          <a:p>
            <a:pPr algn="l">
              <a:lnSpc>
                <a:spcPct val="100000"/>
              </a:lnSpc>
            </a:pPr>
            <a:r>
              <a:rPr sz="1400">
                <a:solidFill>
                  <a:srgbClr val="1A1A1A"/>
                </a:solidFill>
                <a:latin typeface="Courier New"/>
              </a:rPr>
              <a:t>   OR TRIM(email) = ''</a:t>
            </a:r>
          </a:p>
          <a:p>
            <a:pPr algn="l">
              <a:lnSpc>
                <a:spcPct val="100000"/>
              </a:lnSpc>
            </a:pPr>
            <a:r>
              <a:rPr sz="1400">
                <a:solidFill>
                  <a:srgbClr val="1A1A1A"/>
                </a:solidFill>
                <a:latin typeface="Courier New"/>
              </a:rPr>
              <a:t>   OR email NOT LIKE '%@%.%'</a:t>
            </a:r>
          </a:p>
          <a:p>
            <a:pPr algn="l">
              <a:lnSpc>
                <a:spcPct val="100000"/>
              </a:lnSpc>
            </a:pPr>
            <a:r>
              <a:rPr sz="1400">
                <a:solidFill>
                  <a:srgbClr val="1A1A1A"/>
                </a:solidFill>
                <a:latin typeface="Courier New"/>
              </a:rPr>
              <a:t>ORDER BY order_id;</a:t>
            </a:r>
          </a:p>
        </p:txBody>
      </p:sp>
      <p:sp>
        <p:nvSpPr>
          <p:cNvPr id="6" name="TextBox 5"/>
          <p:cNvSpPr txBox="1"/>
          <p:nvPr/>
        </p:nvSpPr>
        <p:spPr>
          <a:xfrm>
            <a:off x="5913424" y="1783080"/>
            <a:ext cx="5668365" cy="4361688"/>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Each definition of unusable became one </a:t>
            </a:r>
            <a:r>
              <a:rPr sz="1200" b="0" i="0">
                <a:solidFill>
                  <a:srgbClr val="330066"/>
                </a:solidFill>
                <a:latin typeface="Courier New"/>
              </a:rPr>
              <a:t>OR</a:t>
            </a:r>
            <a:r>
              <a:rPr sz="1250" b="0" i="0">
                <a:solidFill>
                  <a:srgbClr val="1A1A1A"/>
                </a:solidFill>
                <a:latin typeface="Arial"/>
              </a:rPr>
              <a:t> branch.</a:t>
            </a:r>
          </a:p>
          <a:p>
            <a:pPr marL="228600" indent="-228600" algn="l">
              <a:spcAft>
                <a:spcPts val="800"/>
              </a:spcAft>
              <a:buFont typeface="Arial"/>
              <a:buChar char="•"/>
            </a:pPr>
            <a:r>
              <a:rPr sz="1250" b="0" i="0">
                <a:solidFill>
                  <a:srgbClr val="1A1A1A"/>
                </a:solidFill>
                <a:latin typeface="Arial"/>
              </a:rPr>
              <a:t>Result: 3 rows: two NULLs (1004, 1014) and one malformed value (1006, </a:t>
            </a:r>
            <a:r>
              <a:rPr sz="1200" b="0" i="0">
                <a:solidFill>
                  <a:srgbClr val="330066"/>
                </a:solidFill>
                <a:latin typeface="Courier New"/>
              </a:rPr>
              <a:t>frank.moore@example</a:t>
            </a:r>
            <a:r>
              <a:rPr sz="1250" b="0" i="0">
                <a:solidFill>
                  <a:srgbClr val="1A1A1A"/>
                </a:solidFill>
                <a:latin typeface="Arial"/>
              </a:rPr>
              <a:t>, no top-level domain).</a:t>
            </a:r>
          </a:p>
          <a:p>
            <a:pPr marL="228600" indent="-228600" algn="l">
              <a:spcAft>
                <a:spcPts val="800"/>
              </a:spcAft>
              <a:buFont typeface="Arial"/>
              <a:buChar char="•"/>
            </a:pPr>
            <a:r>
              <a:rPr sz="1250" b="0" i="0">
                <a:solidFill>
                  <a:srgbClr val="1A1A1A"/>
                </a:solidFill>
                <a:latin typeface="Arial"/>
              </a:rPr>
              <a:t>Translating a vague requirement into concrete conditions is a core QA skill.</a:t>
            </a:r>
          </a:p>
          <a:p>
            <a:pPr marL="228600" indent="-228600" algn="l">
              <a:spcAft>
                <a:spcPts val="800"/>
              </a:spcAft>
              <a:buFont typeface="Arial"/>
              <a:buChar char="•"/>
            </a:pPr>
            <a:r>
              <a:rPr sz="1200" b="0" i="0">
                <a:solidFill>
                  <a:srgbClr val="330066"/>
                </a:solidFill>
                <a:latin typeface="Courier New"/>
              </a:rPr>
              <a:t>NOT LIKE</a:t>
            </a:r>
            <a:r>
              <a:rPr sz="1250" b="0" i="0">
                <a:solidFill>
                  <a:srgbClr val="1A1A1A"/>
                </a:solidFill>
                <a:latin typeface="Arial"/>
              </a:rPr>
              <a:t> alone would not catch NULL emails (NULL </a:t>
            </a:r>
            <a:r>
              <a:rPr sz="1200" b="0" i="0">
                <a:solidFill>
                  <a:srgbClr val="330066"/>
                </a:solidFill>
                <a:latin typeface="Courier New"/>
              </a:rPr>
              <a:t>NOT LIKE</a:t>
            </a:r>
            <a:r>
              <a:rPr sz="1250" b="0" i="0">
                <a:solidFill>
                  <a:srgbClr val="1A1A1A"/>
                </a:solidFill>
                <a:latin typeface="Arial"/>
              </a:rPr>
              <a:t> anything is unknown), hence the separate </a:t>
            </a:r>
            <a:r>
              <a:rPr sz="1200" b="0" i="0">
                <a:solidFill>
                  <a:srgbClr val="330066"/>
                </a:solidFill>
                <a:latin typeface="Courier New"/>
              </a:rPr>
              <a:t>IS NULL</a:t>
            </a:r>
            <a:r>
              <a:rPr sz="1250" b="0" i="0">
                <a:solidFill>
                  <a:srgbClr val="1A1A1A"/>
                </a:solidFill>
                <a:latin typeface="Arial"/>
              </a:rPr>
              <a:t> branch.</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20 / 55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6: Calculated Value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WORKED EXAMPLE 6</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Request: the three largest orders by value (quantity times price), excluding cancelled orders.</a:t>
            </a:r>
          </a:p>
        </p:txBody>
      </p:sp>
      <p:sp>
        <p:nvSpPr>
          <p:cNvPr id="5" name="Rounded Rectangle 4"/>
          <p:cNvSpPr/>
          <p:nvPr/>
        </p:nvSpPr>
        <p:spPr>
          <a:xfrm>
            <a:off x="609904" y="2221991"/>
            <a:ext cx="4754880" cy="2075688"/>
          </a:xfrm>
          <a:prstGeom prst="roundRect">
            <a:avLst>
              <a:gd name="adj" fmla="val 352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4352544" cy="1783080"/>
          </a:xfrm>
          <a:prstGeom prst="rect">
            <a:avLst/>
          </a:prstGeom>
          <a:noFill/>
        </p:spPr>
        <p:txBody>
          <a:bodyPr wrap="square" lIns="0" tIns="0" rIns="0" bIns="0">
            <a:spAutoFit/>
          </a:bodyPr>
          <a:lstStyle/>
          <a:p>
            <a:pPr algn="l">
              <a:lnSpc>
                <a:spcPct val="100000"/>
              </a:lnSpc>
            </a:pPr>
            <a:r>
              <a:rPr sz="1300">
                <a:solidFill>
                  <a:srgbClr val="1A1A1A"/>
                </a:solidFill>
                <a:latin typeface="Courier New"/>
              </a:rPr>
              <a:t>SELECT order_id,</a:t>
            </a:r>
          </a:p>
          <a:p>
            <a:pPr algn="l">
              <a:lnSpc>
                <a:spcPct val="100000"/>
              </a:lnSpc>
            </a:pPr>
            <a:r>
              <a:rPr sz="1300">
                <a:solidFill>
                  <a:srgbClr val="1A1A1A"/>
                </a:solidFill>
                <a:latin typeface="Courier New"/>
              </a:rPr>
              <a:t>       product,</a:t>
            </a:r>
          </a:p>
          <a:p>
            <a:pPr algn="l">
              <a:lnSpc>
                <a:spcPct val="100000"/>
              </a:lnSpc>
            </a:pPr>
            <a:r>
              <a:rPr sz="1300">
                <a:solidFill>
                  <a:srgbClr val="1A1A1A"/>
                </a:solidFill>
                <a:latin typeface="Courier New"/>
              </a:rPr>
              <a:t>       quantity,</a:t>
            </a:r>
          </a:p>
          <a:p>
            <a:pPr algn="l">
              <a:lnSpc>
                <a:spcPct val="100000"/>
              </a:lnSpc>
            </a:pPr>
            <a:r>
              <a:rPr sz="1300">
                <a:solidFill>
                  <a:srgbClr val="1A1A1A"/>
                </a:solidFill>
                <a:latin typeface="Courier New"/>
              </a:rPr>
              <a:t>       unit_price,</a:t>
            </a:r>
          </a:p>
          <a:p>
            <a:pPr algn="l">
              <a:lnSpc>
                <a:spcPct val="100000"/>
              </a:lnSpc>
            </a:pPr>
            <a:r>
              <a:rPr sz="1300">
                <a:solidFill>
                  <a:srgbClr val="1A1A1A"/>
                </a:solidFill>
                <a:latin typeface="Courier New"/>
              </a:rPr>
              <a:t>       quantity * unit_price AS line_total</a:t>
            </a:r>
          </a:p>
          <a:p>
            <a:pPr algn="l">
              <a:lnSpc>
                <a:spcPct val="100000"/>
              </a:lnSpc>
            </a:pPr>
            <a:r>
              <a:rPr sz="1300">
                <a:solidFill>
                  <a:srgbClr val="1A1A1A"/>
                </a:solidFill>
                <a:latin typeface="Courier New"/>
              </a:rPr>
              <a:t>FROM orders</a:t>
            </a:r>
          </a:p>
          <a:p>
            <a:pPr algn="l">
              <a:lnSpc>
                <a:spcPct val="100000"/>
              </a:lnSpc>
            </a:pPr>
            <a:r>
              <a:rPr sz="1300">
                <a:solidFill>
                  <a:srgbClr val="1A1A1A"/>
                </a:solidFill>
                <a:latin typeface="Courier New"/>
              </a:rPr>
              <a:t>WHERE status &lt;&gt; 'CANCELLED'</a:t>
            </a:r>
          </a:p>
          <a:p>
            <a:pPr algn="l">
              <a:lnSpc>
                <a:spcPct val="100000"/>
              </a:lnSpc>
            </a:pPr>
            <a:r>
              <a:rPr sz="1300">
                <a:solidFill>
                  <a:srgbClr val="1A1A1A"/>
                </a:solidFill>
                <a:latin typeface="Courier New"/>
              </a:rPr>
              <a:t>ORDER BY line_total DESC, order_id</a:t>
            </a:r>
          </a:p>
          <a:p>
            <a:pPr algn="l">
              <a:lnSpc>
                <a:spcPct val="100000"/>
              </a:lnSpc>
            </a:pPr>
            <a:r>
              <a:rPr sz="1300">
                <a:solidFill>
                  <a:srgbClr val="1A1A1A"/>
                </a:solidFill>
                <a:latin typeface="Courier New"/>
              </a:rPr>
              <a:t>LIMIT 3;</a:t>
            </a:r>
          </a:p>
        </p:txBody>
      </p:sp>
      <p:sp>
        <p:nvSpPr>
          <p:cNvPr id="7" name="TextBox 6"/>
          <p:cNvSpPr txBox="1"/>
          <p:nvPr/>
        </p:nvSpPr>
        <p:spPr>
          <a:xfrm>
            <a:off x="5730544" y="2221991"/>
            <a:ext cx="5851245" cy="3922776"/>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Result: 1006 (2300), 1001 (1200), 1012 (600).</a:t>
            </a:r>
          </a:p>
          <a:p>
            <a:pPr marL="228600" indent="-228600" algn="l">
              <a:spcAft>
                <a:spcPts val="800"/>
              </a:spcAft>
              <a:buFont typeface="Arial"/>
              <a:buChar char="•"/>
            </a:pPr>
            <a:r>
              <a:rPr sz="1300" b="0" i="0">
                <a:solidFill>
                  <a:srgbClr val="1A1A1A"/>
                </a:solidFill>
                <a:latin typeface="Arial"/>
              </a:rPr>
              <a:t>Check: 2 x 1150 = 2300; 1 x 1200 = 1200; 2 x 300 = 600. Next is 1014 (450). Verified.</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21 / 55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Reading and Troubleshooting</a:t>
            </a:r>
          </a:p>
        </p:txBody>
      </p:sp>
      <p:sp>
        <p:nvSpPr>
          <p:cNvPr id="3" name="Text Placeholder 2"/>
          <p:cNvSpPr>
            <a:spLocks noGrp="1"/>
          </p:cNvSpPr>
          <p:nvPr>
            <p:ph type="body" idx="1"/>
          </p:nvPr>
        </p:nvSpPr>
        <p:spPr/>
        <p:txBody>
          <a:bodyPr/>
          <a:lstStyle/>
          <a:p>
            <a:r>
              <a:rPr sz="1800">
                <a:solidFill>
                  <a:srgbClr val="5A5A5A"/>
                </a:solidFill>
              </a:rPr>
              <a:t>Translating SQL back to English and diagnosing wrong results</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03</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22 / 55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Reading a Query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Go clause by clause and say each one in plain English.</a:t>
            </a:r>
          </a:p>
        </p:txBody>
      </p:sp>
      <p:sp>
        <p:nvSpPr>
          <p:cNvPr id="5" name="Rounded Rectangle 4"/>
          <p:cNvSpPr/>
          <p:nvPr/>
        </p:nvSpPr>
        <p:spPr>
          <a:xfrm>
            <a:off x="609904" y="2221991"/>
            <a:ext cx="475488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4352544" cy="1066799"/>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DISTINCT country</a:t>
            </a:r>
          </a:p>
          <a:p>
            <a:pPr algn="l">
              <a:lnSpc>
                <a:spcPct val="100000"/>
              </a:lnSpc>
            </a:pPr>
            <a:r>
              <a:rPr sz="1400">
                <a:solidFill>
                  <a:srgbClr val="1A1A1A"/>
                </a:solidFill>
                <a:latin typeface="Courier New"/>
              </a:rPr>
              <a:t>FROM orders</a:t>
            </a:r>
          </a:p>
          <a:p>
            <a:pPr algn="l">
              <a:lnSpc>
                <a:spcPct val="100000"/>
              </a:lnSpc>
            </a:pPr>
            <a:r>
              <a:rPr sz="1400">
                <a:solidFill>
                  <a:srgbClr val="1A1A1A"/>
                </a:solidFill>
                <a:latin typeface="Courier New"/>
              </a:rPr>
              <a:t>WHERE status IN ('SHIPPED', 'DELIVERED')</a:t>
            </a:r>
          </a:p>
          <a:p>
            <a:pPr algn="l">
              <a:lnSpc>
                <a:spcPct val="100000"/>
              </a:lnSpc>
            </a:pPr>
            <a:r>
              <a:rPr sz="1400">
                <a:solidFill>
                  <a:srgbClr val="1A1A1A"/>
                </a:solidFill>
                <a:latin typeface="Courier New"/>
              </a:rPr>
              <a:t>  AND unit_price &gt; 100</a:t>
            </a:r>
          </a:p>
          <a:p>
            <a:pPr algn="l">
              <a:lnSpc>
                <a:spcPct val="100000"/>
              </a:lnSpc>
            </a:pPr>
            <a:r>
              <a:rPr sz="1400">
                <a:solidFill>
                  <a:srgbClr val="1A1A1A"/>
                </a:solidFill>
                <a:latin typeface="Courier New"/>
              </a:rPr>
              <a:t>ORDER BY country;</a:t>
            </a:r>
          </a:p>
        </p:txBody>
      </p:sp>
      <p:sp>
        <p:nvSpPr>
          <p:cNvPr id="7" name="TextBox 6"/>
          <p:cNvSpPr txBox="1"/>
          <p:nvPr/>
        </p:nvSpPr>
        <p:spPr>
          <a:xfrm>
            <a:off x="5730544" y="2221991"/>
            <a:ext cx="5851245" cy="3922776"/>
          </a:xfrm>
          <a:prstGeom prst="rect">
            <a:avLst/>
          </a:prstGeom>
          <a:noFill/>
        </p:spPr>
        <p:txBody>
          <a:bodyPr wrap="square" lIns="0" tIns="0" rIns="0" bIns="0">
            <a:spAutoFit/>
          </a:bodyPr>
          <a:lstStyle/>
          <a:p>
            <a:pPr marL="228600" indent="-228600" algn="l">
              <a:spcAft>
                <a:spcPts val="800"/>
              </a:spcAft>
              <a:buFont typeface="Arial"/>
              <a:buChar char="•"/>
            </a:pPr>
            <a:r>
              <a:rPr sz="1200" b="0" i="0">
                <a:solidFill>
                  <a:srgbClr val="330066"/>
                </a:solidFill>
                <a:latin typeface="Courier New"/>
              </a:rPr>
              <a:t>FROM orders</a:t>
            </a:r>
            <a:r>
              <a:rPr sz="1250" b="0" i="0">
                <a:solidFill>
                  <a:srgbClr val="1A1A1A"/>
                </a:solidFill>
                <a:latin typeface="Arial"/>
              </a:rPr>
              <a:t>: look in the orders table.</a:t>
            </a:r>
          </a:p>
          <a:p>
            <a:pPr marL="228600" indent="-228600" algn="l">
              <a:spcAft>
                <a:spcPts val="800"/>
              </a:spcAft>
              <a:buFont typeface="Arial"/>
              <a:buChar char="•"/>
            </a:pPr>
            <a:r>
              <a:rPr sz="1200" b="0" i="0">
                <a:solidFill>
                  <a:srgbClr val="330066"/>
                </a:solidFill>
                <a:latin typeface="Courier New"/>
              </a:rPr>
              <a:t>WHERE status IN (...)</a:t>
            </a:r>
            <a:r>
              <a:rPr sz="1250" b="0" i="0">
                <a:solidFill>
                  <a:srgbClr val="1A1A1A"/>
                </a:solidFill>
                <a:latin typeface="Arial"/>
              </a:rPr>
              <a:t>: only shipped or delivered...</a:t>
            </a:r>
          </a:p>
          <a:p>
            <a:pPr marL="228600" indent="-228600" algn="l">
              <a:spcAft>
                <a:spcPts val="800"/>
              </a:spcAft>
              <a:buFont typeface="Arial"/>
              <a:buChar char="•"/>
            </a:pPr>
            <a:r>
              <a:rPr sz="1200" b="0" i="0">
                <a:solidFill>
                  <a:srgbClr val="330066"/>
                </a:solidFill>
                <a:latin typeface="Courier New"/>
              </a:rPr>
              <a:t>AND unit_price &gt; 100</a:t>
            </a:r>
            <a:r>
              <a:rPr sz="1250" b="0" i="0">
                <a:solidFill>
                  <a:srgbClr val="1A1A1A"/>
                </a:solidFill>
                <a:latin typeface="Arial"/>
              </a:rPr>
              <a:t>: ...priced above 100.</a:t>
            </a:r>
          </a:p>
          <a:p>
            <a:pPr marL="228600" indent="-228600" algn="l">
              <a:spcAft>
                <a:spcPts val="800"/>
              </a:spcAft>
              <a:buFont typeface="Arial"/>
              <a:buChar char="•"/>
            </a:pPr>
            <a:r>
              <a:rPr sz="1200" b="0" i="0">
                <a:solidFill>
                  <a:srgbClr val="330066"/>
                </a:solidFill>
                <a:latin typeface="Courier New"/>
              </a:rPr>
              <a:t>SELECT DISTINCT country</a:t>
            </a:r>
            <a:r>
              <a:rPr sz="1250" b="0" i="0">
                <a:solidFill>
                  <a:srgbClr val="1A1A1A"/>
                </a:solidFill>
                <a:latin typeface="Arial"/>
              </a:rPr>
              <a:t>: each country once.</a:t>
            </a:r>
          </a:p>
          <a:p>
            <a:pPr marL="228600" indent="-228600" algn="l">
              <a:spcAft>
                <a:spcPts val="800"/>
              </a:spcAft>
              <a:buFont typeface="Arial"/>
              <a:buChar char="•"/>
            </a:pPr>
            <a:r>
              <a:rPr sz="1200" b="0" i="0">
                <a:solidFill>
                  <a:srgbClr val="330066"/>
                </a:solidFill>
                <a:latin typeface="Courier New"/>
              </a:rPr>
              <a:t>ORDER BY country</a:t>
            </a:r>
            <a:r>
              <a:rPr sz="1250" b="0" i="0">
                <a:solidFill>
                  <a:srgbClr val="1A1A1A"/>
                </a:solidFill>
                <a:latin typeface="Arial"/>
              </a:rPr>
              <a:t>: alphabetically. Result: Canada, Mexico, USA.</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23 / 55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Reading Summary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Rounded Rectangle 3"/>
          <p:cNvSpPr/>
          <p:nvPr/>
        </p:nvSpPr>
        <p:spPr>
          <a:xfrm>
            <a:off x="609904" y="1783080"/>
            <a:ext cx="10971885" cy="1371600"/>
          </a:xfrm>
          <a:prstGeom prst="roundRect">
            <a:avLst>
              <a:gd name="adj" fmla="val 6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20240"/>
            <a:ext cx="10514685" cy="109728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PLAIN ENGLISH</a:t>
            </a:r>
          </a:p>
          <a:p>
            <a:pPr algn="l">
              <a:lnSpc>
                <a:spcPct val="110000"/>
              </a:lnSpc>
              <a:spcAft>
                <a:spcPts val="600"/>
              </a:spcAft>
            </a:pPr>
            <a:r>
              <a:rPr sz="1400" b="0" i="0">
                <a:solidFill>
                  <a:srgbClr val="1A1A1A"/>
                </a:solidFill>
                <a:latin typeface="Arial"/>
              </a:rPr>
              <a:t>In English: "In which countries have we shipped or delivered an item priced above 100?" Case matters here: </a:t>
            </a:r>
            <a:r>
              <a:rPr sz="1350" b="0" i="0">
                <a:solidFill>
                  <a:srgbClr val="330066"/>
                </a:solidFill>
                <a:latin typeface="Courier New"/>
              </a:rPr>
              <a:t>delivered</a:t>
            </a:r>
            <a:r>
              <a:rPr sz="1400" b="0" i="0">
                <a:solidFill>
                  <a:srgbClr val="1A1A1A"/>
                </a:solidFill>
                <a:latin typeface="Arial"/>
              </a:rPr>
              <a:t> (order 1008) would not match 'DELIVERED' in SQLite, but its price (19.99) is below 100 anyway.</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24 / 55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Spot the Problem</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Rounded Rectangle 3"/>
          <p:cNvSpPr/>
          <p:nvPr/>
        </p:nvSpPr>
        <p:spPr>
          <a:xfrm>
            <a:off x="609904" y="1783080"/>
            <a:ext cx="6766560" cy="864107"/>
          </a:xfrm>
          <a:prstGeom prst="roundRect">
            <a:avLst>
              <a:gd name="adj" fmla="val 846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6364224" cy="571499"/>
          </a:xfrm>
          <a:prstGeom prst="rect">
            <a:avLst/>
          </a:prstGeom>
          <a:noFill/>
        </p:spPr>
        <p:txBody>
          <a:bodyPr wrap="square" lIns="0" tIns="0" rIns="0" bIns="0">
            <a:spAutoFit/>
          </a:bodyPr>
          <a:lstStyle/>
          <a:p>
            <a:pPr algn="l">
              <a:lnSpc>
                <a:spcPct val="100000"/>
              </a:lnSpc>
            </a:pPr>
            <a:r>
              <a:rPr sz="1250">
                <a:solidFill>
                  <a:srgbClr val="1A1A1A"/>
                </a:solidFill>
                <a:latin typeface="Courier New"/>
              </a:rPr>
              <a:t>SELECT order_id, status, country</a:t>
            </a:r>
          </a:p>
          <a:p>
            <a:pPr algn="l">
              <a:lnSpc>
                <a:spcPct val="100000"/>
              </a:lnSpc>
            </a:pPr>
            <a:r>
              <a:rPr sz="1250">
                <a:solidFill>
                  <a:srgbClr val="1A1A1A"/>
                </a:solidFill>
                <a:latin typeface="Courier New"/>
              </a:rPr>
              <a:t>FROM orders</a:t>
            </a:r>
          </a:p>
          <a:p>
            <a:pPr algn="l">
              <a:lnSpc>
                <a:spcPct val="100000"/>
              </a:lnSpc>
            </a:pPr>
            <a:r>
              <a:rPr sz="1250">
                <a:solidFill>
                  <a:srgbClr val="1A1A1A"/>
                </a:solidFill>
                <a:latin typeface="Courier New"/>
              </a:rPr>
              <a:t>WHERE status = 'PENDING' OR status = 'SHIPPED' AND country = 'UK';</a:t>
            </a:r>
          </a:p>
        </p:txBody>
      </p:sp>
      <p:sp>
        <p:nvSpPr>
          <p:cNvPr id="6" name="TextBox 5"/>
          <p:cNvSpPr txBox="1"/>
          <p:nvPr/>
        </p:nvSpPr>
        <p:spPr>
          <a:xfrm>
            <a:off x="7742224" y="1783080"/>
            <a:ext cx="3839565" cy="4361688"/>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Probably intended: pending-or-shipped orders from the UK.</a:t>
            </a:r>
          </a:p>
          <a:p>
            <a:pPr marL="228600" indent="-228600" algn="l">
              <a:spcAft>
                <a:spcPts val="800"/>
              </a:spcAft>
              <a:buFont typeface="Arial"/>
              <a:buChar char="•"/>
            </a:pPr>
            <a:r>
              <a:rPr sz="1250" b="0" i="0">
                <a:solidFill>
                  <a:srgbClr val="1A1A1A"/>
                </a:solidFill>
                <a:latin typeface="Arial"/>
              </a:rPr>
              <a:t>Actually: </a:t>
            </a:r>
            <a:r>
              <a:rPr sz="1200" b="0" i="0">
                <a:solidFill>
                  <a:srgbClr val="330066"/>
                </a:solidFill>
                <a:latin typeface="Courier New"/>
              </a:rPr>
              <a:t>AND</a:t>
            </a:r>
            <a:r>
              <a:rPr sz="1250" b="0" i="0">
                <a:solidFill>
                  <a:srgbClr val="1A1A1A"/>
                </a:solidFill>
                <a:latin typeface="Arial"/>
              </a:rPr>
              <a:t> binds tighter than </a:t>
            </a:r>
            <a:r>
              <a:rPr sz="1200" b="0" i="0">
                <a:solidFill>
                  <a:srgbClr val="330066"/>
                </a:solidFill>
                <a:latin typeface="Courier New"/>
              </a:rPr>
              <a:t>OR</a:t>
            </a:r>
            <a:r>
              <a:rPr sz="1250" b="0" i="0">
                <a:solidFill>
                  <a:srgbClr val="1A1A1A"/>
                </a:solidFill>
                <a:latin typeface="Arial"/>
              </a:rPr>
              <a:t>, so it returns all pending orders from every country plus shipped UK orders.</a:t>
            </a:r>
          </a:p>
          <a:p>
            <a:pPr marL="228600" indent="-228600" algn="l">
              <a:spcAft>
                <a:spcPts val="800"/>
              </a:spcAft>
              <a:buFont typeface="Arial"/>
              <a:buChar char="•"/>
            </a:pPr>
            <a:r>
              <a:rPr sz="1250" b="0" i="0">
                <a:solidFill>
                  <a:srgbClr val="1A1A1A"/>
                </a:solidFill>
                <a:latin typeface="Arial"/>
              </a:rPr>
              <a:t>Parentheses fix it. Spotting this in review is a valuable skill.</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25 / 55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Too Many Rows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 · TROUBLESHOOTING</a:t>
            </a:r>
          </a:p>
        </p:txBody>
      </p:sp>
      <p:graphicFrame>
        <p:nvGraphicFramePr>
          <p:cNvPr id="4" name="Table 3"/>
          <p:cNvGraphicFramePr>
            <a:graphicFrameLocks noGrp="1"/>
          </p:cNvGraphicFramePr>
          <p:nvPr/>
        </p:nvGraphicFramePr>
        <p:xfrm>
          <a:off x="609904" y="1783080"/>
          <a:ext cx="10971885" cy="1691131"/>
        </p:xfrm>
        <a:graphic>
          <a:graphicData uri="http://schemas.openxmlformats.org/drawingml/2006/table">
            <a:tbl>
              <a:tblPr/>
              <a:tblGrid>
                <a:gridCol w="3730441">
                  <a:extLst>
                    <a:ext uri="{9D8B030D-6E8A-4147-A177-3AD203B41FA5}">
                      <a16:colId xmlns:a16="http://schemas.microsoft.com/office/drawing/2014/main" val="20000"/>
                    </a:ext>
                  </a:extLst>
                </a:gridCol>
                <a:gridCol w="3620722">
                  <a:extLst>
                    <a:ext uri="{9D8B030D-6E8A-4147-A177-3AD203B41FA5}">
                      <a16:colId xmlns:a16="http://schemas.microsoft.com/office/drawing/2014/main" val="20001"/>
                    </a:ext>
                  </a:extLst>
                </a:gridCol>
                <a:gridCol w="3620722">
                  <a:extLst>
                    <a:ext uri="{9D8B030D-6E8A-4147-A177-3AD203B41FA5}">
                      <a16:colId xmlns:a16="http://schemas.microsoft.com/office/drawing/2014/main" val="20002"/>
                    </a:ext>
                  </a:extLst>
                </a:gridCol>
              </a:tblGrid>
              <a:tr h="384048">
                <a:tc>
                  <a:txBody>
                    <a:bodyPr/>
                    <a:lstStyle/>
                    <a:p>
                      <a:r>
                        <a:rPr sz="1300" b="1">
                          <a:solidFill>
                            <a:srgbClr val="FFFFFF"/>
                          </a:solidFill>
                          <a:latin typeface="Arial"/>
                        </a:rPr>
                        <a:t>Likely cause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How to check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Fix</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65760">
                <a:tc>
                  <a:txBody>
                    <a:bodyPr/>
                    <a:lstStyle/>
                    <a:p>
                      <a:r>
                        <a:rPr sz="1300" b="0" i="0">
                          <a:solidFill>
                            <a:srgbClr val="1A1A1A"/>
                          </a:solidFill>
                          <a:latin typeface="Arial"/>
                        </a:rPr>
                        <a:t>Missing </a:t>
                      </a:r>
                      <a:r>
                        <a:rPr sz="1250" b="0" i="0">
                          <a:solidFill>
                            <a:srgbClr val="330066"/>
                          </a:solidFill>
                          <a:latin typeface="Courier New"/>
                        </a:rPr>
                        <a:t>WHERE</a:t>
                      </a:r>
                      <a:r>
                        <a:rPr sz="1300" b="0" i="0">
                          <a:solidFill>
                            <a:srgbClr val="1A1A1A"/>
                          </a:solidFill>
                          <a:latin typeface="Arial"/>
                        </a:rPr>
                        <a:t> clause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Does the query have one?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Add the condition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575563">
                <a:tc>
                  <a:txBody>
                    <a:bodyPr/>
                    <a:lstStyle/>
                    <a:p>
                      <a:r>
                        <a:rPr sz="1250" b="0" i="0">
                          <a:solidFill>
                            <a:srgbClr val="330066"/>
                          </a:solidFill>
                          <a:latin typeface="Courier New"/>
                        </a:rPr>
                        <a:t>OR</a:t>
                      </a:r>
                      <a:r>
                        <a:rPr sz="1300" b="0" i="0">
                          <a:solidFill>
                            <a:srgbClr val="1A1A1A"/>
                          </a:solidFill>
                          <a:latin typeface="Arial"/>
                        </a:rPr>
                        <a:t> where </a:t>
                      </a:r>
                      <a:r>
                        <a:rPr sz="1250" b="0" i="0">
                          <a:solidFill>
                            <a:srgbClr val="330066"/>
                          </a:solidFill>
                          <a:latin typeface="Courier New"/>
                        </a:rPr>
                        <a:t>AND</a:t>
                      </a:r>
                      <a:r>
                        <a:rPr sz="1300" b="0" i="0">
                          <a:solidFill>
                            <a:srgbClr val="1A1A1A"/>
                          </a:solidFill>
                          <a:latin typeface="Arial"/>
                        </a:rPr>
                        <a:t> was meant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Re-read the English: "both" vs "either"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i="0">
                          <a:solidFill>
                            <a:srgbClr val="1A1A1A"/>
                          </a:solidFill>
                          <a:latin typeface="Arial"/>
                        </a:rPr>
                        <a:t>Use </a:t>
                      </a:r>
                      <a:r>
                        <a:rPr sz="1250" b="0" i="0">
                          <a:solidFill>
                            <a:srgbClr val="330066"/>
                          </a:solidFill>
                          <a:latin typeface="Courier New"/>
                        </a:rPr>
                        <a:t>AND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65760">
                <a:tc>
                  <a:txBody>
                    <a:bodyPr/>
                    <a:lstStyle/>
                    <a:p>
                      <a:r>
                        <a:rPr sz="1250" b="0" i="0">
                          <a:solidFill>
                            <a:srgbClr val="330066"/>
                          </a:solidFill>
                          <a:latin typeface="Courier New"/>
                        </a:rPr>
                        <a:t>AND</a:t>
                      </a:r>
                      <a:r>
                        <a:rPr sz="1300" b="0" i="0">
                          <a:solidFill>
                            <a:srgbClr val="1A1A1A"/>
                          </a:solidFill>
                          <a:latin typeface="Arial"/>
                        </a:rPr>
                        <a:t>/</a:t>
                      </a:r>
                      <a:r>
                        <a:rPr sz="1250" b="0" i="0">
                          <a:solidFill>
                            <a:srgbClr val="330066"/>
                          </a:solidFill>
                          <a:latin typeface="Courier New"/>
                        </a:rPr>
                        <a:t>OR</a:t>
                      </a:r>
                      <a:r>
                        <a:rPr sz="1300" b="0" i="0">
                          <a:solidFill>
                            <a:srgbClr val="1A1A1A"/>
                          </a:solidFill>
                          <a:latin typeface="Arial"/>
                        </a:rPr>
                        <a:t> mixed without parentheses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1A1A1A"/>
                          </a:solidFill>
                          <a:latin typeface="Arial"/>
                        </a:rPr>
                        <a:t>Look for both in one </a:t>
                      </a:r>
                      <a:r>
                        <a:rPr sz="1250" b="0" i="0">
                          <a:solidFill>
                            <a:srgbClr val="330066"/>
                          </a:solidFill>
                          <a:latin typeface="Courier New"/>
                        </a:rPr>
                        <a:t>WHERE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Add parentheses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26 / 55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Too Many Rows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 · TROUBLESHOOTING</a:t>
            </a:r>
          </a:p>
        </p:txBody>
      </p:sp>
      <p:graphicFrame>
        <p:nvGraphicFramePr>
          <p:cNvPr id="4" name="Table 3"/>
          <p:cNvGraphicFramePr>
            <a:graphicFrameLocks noGrp="1"/>
          </p:cNvGraphicFramePr>
          <p:nvPr/>
        </p:nvGraphicFramePr>
        <p:xfrm>
          <a:off x="609904" y="1783080"/>
          <a:ext cx="10971885" cy="1691131"/>
        </p:xfrm>
        <a:graphic>
          <a:graphicData uri="http://schemas.openxmlformats.org/drawingml/2006/table">
            <a:tbl>
              <a:tblPr/>
              <a:tblGrid>
                <a:gridCol w="3730441">
                  <a:extLst>
                    <a:ext uri="{9D8B030D-6E8A-4147-A177-3AD203B41FA5}">
                      <a16:colId xmlns:a16="http://schemas.microsoft.com/office/drawing/2014/main" val="20000"/>
                    </a:ext>
                  </a:extLst>
                </a:gridCol>
                <a:gridCol w="3620722">
                  <a:extLst>
                    <a:ext uri="{9D8B030D-6E8A-4147-A177-3AD203B41FA5}">
                      <a16:colId xmlns:a16="http://schemas.microsoft.com/office/drawing/2014/main" val="20001"/>
                    </a:ext>
                  </a:extLst>
                </a:gridCol>
                <a:gridCol w="3620722">
                  <a:extLst>
                    <a:ext uri="{9D8B030D-6E8A-4147-A177-3AD203B41FA5}">
                      <a16:colId xmlns:a16="http://schemas.microsoft.com/office/drawing/2014/main" val="20002"/>
                    </a:ext>
                  </a:extLst>
                </a:gridCol>
              </a:tblGrid>
              <a:tr h="384048">
                <a:tc>
                  <a:txBody>
                    <a:bodyPr/>
                    <a:lstStyle/>
                    <a:p>
                      <a:r>
                        <a:rPr sz="1300" b="1">
                          <a:solidFill>
                            <a:srgbClr val="FFFFFF"/>
                          </a:solidFill>
                          <a:latin typeface="Arial"/>
                        </a:rPr>
                        <a:t>Likely cause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How to check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Fix</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65760">
                <a:tc>
                  <a:txBody>
                    <a:bodyPr/>
                    <a:lstStyle/>
                    <a:p>
                      <a:r>
                        <a:rPr sz="1300" b="0" i="0">
                          <a:solidFill>
                            <a:srgbClr val="1A1A1A"/>
                          </a:solidFill>
                          <a:latin typeface="Arial"/>
                        </a:rPr>
                        <a:t>Pattern too broad (</a:t>
                      </a:r>
                      <a:r>
                        <a:rPr sz="1250" b="0" i="0">
                          <a:solidFill>
                            <a:srgbClr val="330066"/>
                          </a:solidFill>
                          <a:latin typeface="Courier New"/>
                        </a:rPr>
                        <a:t>LIKE '%an%'</a:t>
                      </a:r>
                      <a:r>
                        <a:rPr sz="1300" b="0" i="0">
                          <a:solidFill>
                            <a:srgbClr val="1A1A1A"/>
                          </a:solidFill>
                          <a:latin typeface="Arial"/>
                        </a:rPr>
                        <a: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Look at the unexpected rows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Tighten the pattern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65760">
                <a:tc>
                  <a:txBody>
                    <a:bodyPr/>
                    <a:lstStyle/>
                    <a:p>
                      <a:r>
                        <a:rPr sz="1300" b="0">
                          <a:solidFill>
                            <a:srgbClr val="1A1A1A"/>
                          </a:solidFill>
                          <a:latin typeface="Arial"/>
                        </a:rPr>
                        <a:t>Duplicates in the data</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i="0">
                          <a:solidFill>
                            <a:srgbClr val="1A1A1A"/>
                          </a:solidFill>
                          <a:latin typeface="Arial"/>
                        </a:rPr>
                        <a:t>Compare with </a:t>
                      </a:r>
                      <a:r>
                        <a:rPr sz="1250" b="0" i="0">
                          <a:solidFill>
                            <a:srgbClr val="330066"/>
                          </a:solidFill>
                          <a:latin typeface="Courier New"/>
                        </a:rPr>
                        <a:t>SELECT DISTINCT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Decide if duplicates are legitimate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575563">
                <a:tc>
                  <a:txBody>
                    <a:bodyPr/>
                    <a:lstStyle/>
                    <a:p>
                      <a:r>
                        <a:rPr sz="1300" b="0">
                          <a:solidFill>
                            <a:srgbClr val="1A1A1A"/>
                          </a:solidFill>
                          <a:latin typeface="Arial"/>
                        </a:rPr>
                        <a:t>(Friday) Combining tables incorrectly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Not applicable today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Learn joins on Friday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27 / 55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Too Few Rows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 · TROUBLESHOOTING</a:t>
            </a:r>
          </a:p>
        </p:txBody>
      </p:sp>
      <p:graphicFrame>
        <p:nvGraphicFramePr>
          <p:cNvPr id="4" name="Table 3"/>
          <p:cNvGraphicFramePr>
            <a:graphicFrameLocks noGrp="1"/>
          </p:cNvGraphicFramePr>
          <p:nvPr/>
        </p:nvGraphicFramePr>
        <p:xfrm>
          <a:off x="609904" y="1783080"/>
          <a:ext cx="10971884" cy="2266694"/>
        </p:xfrm>
        <a:graphic>
          <a:graphicData uri="http://schemas.openxmlformats.org/drawingml/2006/table">
            <a:tbl>
              <a:tblPr/>
              <a:tblGrid>
                <a:gridCol w="3949878">
                  <a:extLst>
                    <a:ext uri="{9D8B030D-6E8A-4147-A177-3AD203B41FA5}">
                      <a16:colId xmlns:a16="http://schemas.microsoft.com/office/drawing/2014/main" val="20000"/>
                    </a:ext>
                  </a:extLst>
                </a:gridCol>
                <a:gridCol w="3511003">
                  <a:extLst>
                    <a:ext uri="{9D8B030D-6E8A-4147-A177-3AD203B41FA5}">
                      <a16:colId xmlns:a16="http://schemas.microsoft.com/office/drawing/2014/main" val="20001"/>
                    </a:ext>
                  </a:extLst>
                </a:gridCol>
                <a:gridCol w="3511003">
                  <a:extLst>
                    <a:ext uri="{9D8B030D-6E8A-4147-A177-3AD203B41FA5}">
                      <a16:colId xmlns:a16="http://schemas.microsoft.com/office/drawing/2014/main" val="20002"/>
                    </a:ext>
                  </a:extLst>
                </a:gridCol>
              </a:tblGrid>
              <a:tr h="384048">
                <a:tc>
                  <a:txBody>
                    <a:bodyPr/>
                    <a:lstStyle/>
                    <a:p>
                      <a:r>
                        <a:rPr sz="1300" b="1">
                          <a:solidFill>
                            <a:srgbClr val="FFFFFF"/>
                          </a:solidFill>
                          <a:latin typeface="Arial"/>
                        </a:rPr>
                        <a:t>Likely cause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How to check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Fix</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575563">
                <a:tc>
                  <a:txBody>
                    <a:bodyPr/>
                    <a:lstStyle/>
                    <a:p>
                      <a:r>
                        <a:rPr sz="1300" b="0" i="0">
                          <a:solidFill>
                            <a:srgbClr val="1A1A1A"/>
                          </a:solidFill>
                          <a:latin typeface="Arial"/>
                        </a:rPr>
                        <a:t>Case mismatch (</a:t>
                      </a:r>
                      <a:r>
                        <a:rPr sz="1250" b="0" i="0">
                          <a:solidFill>
                            <a:srgbClr val="330066"/>
                          </a:solidFill>
                          <a:latin typeface="Courier New"/>
                        </a:rPr>
                        <a:t>'Delivered'</a:t>
                      </a:r>
                      <a:r>
                        <a:rPr sz="1300" b="0" i="0">
                          <a:solidFill>
                            <a:srgbClr val="1A1A1A"/>
                          </a:solidFill>
                          <a:latin typeface="Arial"/>
                        </a:rPr>
                        <a:t> vs </a:t>
                      </a:r>
                      <a:r>
                        <a:rPr sz="1250" b="0" i="0">
                          <a:solidFill>
                            <a:srgbClr val="330066"/>
                          </a:solidFill>
                          <a:latin typeface="Courier New"/>
                        </a:rPr>
                        <a:t>'DELIVERED'</a:t>
                      </a:r>
                      <a:r>
                        <a:rPr sz="1300" b="0" i="0">
                          <a:solidFill>
                            <a:srgbClr val="1A1A1A"/>
                          </a:solidFill>
                          <a:latin typeface="Arial"/>
                        </a:rPr>
                        <a: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i="0">
                          <a:solidFill>
                            <a:srgbClr val="330066"/>
                          </a:solidFill>
                          <a:latin typeface="Courier New"/>
                        </a:rPr>
                        <a:t>SELECT DISTINCT col</a:t>
                      </a:r>
                      <a:r>
                        <a:rPr sz="1300" b="0" i="0">
                          <a:solidFill>
                            <a:srgbClr val="1A1A1A"/>
                          </a:solidFill>
                          <a:latin typeface="Arial"/>
                        </a:rPr>
                        <a:t> to see the real values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1A1A1A"/>
                          </a:solidFill>
                          <a:latin typeface="Arial"/>
                        </a:rPr>
                        <a:t>Use the exact value or </a:t>
                      </a:r>
                      <a:r>
                        <a:rPr sz="1250" b="0" i="0">
                          <a:solidFill>
                            <a:srgbClr val="330066"/>
                          </a:solidFill>
                          <a:latin typeface="Courier New"/>
                        </a:rPr>
                        <a:t>UPPER(col)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575563">
                <a:tc>
                  <a:txBody>
                    <a:bodyPr/>
                    <a:lstStyle/>
                    <a:p>
                      <a:r>
                        <a:rPr sz="1300" b="0">
                          <a:solidFill>
                            <a:srgbClr val="1A1A1A"/>
                          </a:solidFill>
                          <a:latin typeface="Arial"/>
                        </a:rPr>
                        <a:t>Trailing / leading spaces in data</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i="0">
                          <a:solidFill>
                            <a:srgbClr val="330066"/>
                          </a:solidFill>
                          <a:latin typeface="Courier New"/>
                        </a:rPr>
                        <a:t>LENGTH(col)</a:t>
                      </a:r>
                      <a:r>
                        <a:rPr sz="1300" b="0" i="0">
                          <a:solidFill>
                            <a:srgbClr val="1A1A1A"/>
                          </a:solidFill>
                          <a:latin typeface="Arial"/>
                        </a:rPr>
                        <a:t> versus the expected length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i="0">
                          <a:solidFill>
                            <a:srgbClr val="330066"/>
                          </a:solidFill>
                          <a:latin typeface="Courier New"/>
                        </a:rPr>
                        <a:t>TRIM(col)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65760">
                <a:tc>
                  <a:txBody>
                    <a:bodyPr/>
                    <a:lstStyle/>
                    <a:p>
                      <a:r>
                        <a:rPr sz="1250" b="0" i="0">
                          <a:solidFill>
                            <a:srgbClr val="330066"/>
                          </a:solidFill>
                          <a:latin typeface="Courier New"/>
                        </a:rPr>
                        <a:t>= NULL</a:t>
                      </a:r>
                      <a:r>
                        <a:rPr sz="1300" b="0" i="0">
                          <a:solidFill>
                            <a:srgbClr val="1A1A1A"/>
                          </a:solidFill>
                          <a:latin typeface="Arial"/>
                        </a:rPr>
                        <a:t> used instead of </a:t>
                      </a:r>
                      <a:r>
                        <a:rPr sz="1250" b="0" i="0">
                          <a:solidFill>
                            <a:srgbClr val="330066"/>
                          </a:solidFill>
                          <a:latin typeface="Courier New"/>
                        </a:rPr>
                        <a:t>IS NULL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1A1A1A"/>
                          </a:solidFill>
                          <a:latin typeface="Arial"/>
                        </a:rPr>
                        <a:t>Look for </a:t>
                      </a:r>
                      <a:r>
                        <a:rPr sz="1250" b="0" i="0">
                          <a:solidFill>
                            <a:srgbClr val="330066"/>
                          </a:solidFill>
                          <a:latin typeface="Courier New"/>
                        </a:rPr>
                        <a:t>NULL</a:t>
                      </a:r>
                      <a:r>
                        <a:rPr sz="1300" b="0" i="0">
                          <a:solidFill>
                            <a:srgbClr val="1A1A1A"/>
                          </a:solidFill>
                          <a:latin typeface="Arial"/>
                        </a:rPr>
                        <a:t> in the </a:t>
                      </a:r>
                      <a:r>
                        <a:rPr sz="1250" b="0" i="0">
                          <a:solidFill>
                            <a:srgbClr val="330066"/>
                          </a:solidFill>
                          <a:latin typeface="Courier New"/>
                        </a:rPr>
                        <a:t>WHERE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i="0">
                          <a:solidFill>
                            <a:srgbClr val="330066"/>
                          </a:solidFill>
                          <a:latin typeface="Courier New"/>
                        </a:rPr>
                        <a:t>IS NULL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65760">
                <a:tc>
                  <a:txBody>
                    <a:bodyPr/>
                    <a:lstStyle/>
                    <a:p>
                      <a:r>
                        <a:rPr sz="1250" b="0" i="0">
                          <a:solidFill>
                            <a:srgbClr val="330066"/>
                          </a:solidFill>
                          <a:latin typeface="Courier New"/>
                        </a:rPr>
                        <a:t>&lt;&gt;</a:t>
                      </a:r>
                      <a:r>
                        <a:rPr sz="1300" b="0" i="0">
                          <a:solidFill>
                            <a:srgbClr val="1A1A1A"/>
                          </a:solidFill>
                          <a:latin typeface="Arial"/>
                        </a:rPr>
                        <a:t> or </a:t>
                      </a:r>
                      <a:r>
                        <a:rPr sz="1250" b="0" i="0">
                          <a:solidFill>
                            <a:srgbClr val="330066"/>
                          </a:solidFill>
                          <a:latin typeface="Courier New"/>
                        </a:rPr>
                        <a:t>NOT IN</a:t>
                      </a:r>
                      <a:r>
                        <a:rPr sz="1300" b="0" i="0">
                          <a:solidFill>
                            <a:srgbClr val="1A1A1A"/>
                          </a:solidFill>
                          <a:latin typeface="Arial"/>
                        </a:rPr>
                        <a:t> skipping NULL rows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Is NULL possible in that column?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i="0">
                          <a:solidFill>
                            <a:srgbClr val="1A1A1A"/>
                          </a:solidFill>
                          <a:latin typeface="Arial"/>
                        </a:rPr>
                        <a:t>Add </a:t>
                      </a:r>
                      <a:r>
                        <a:rPr sz="1250" b="0" i="0">
                          <a:solidFill>
                            <a:srgbClr val="330066"/>
                          </a:solidFill>
                          <a:latin typeface="Courier New"/>
                        </a:rPr>
                        <a:t>OR col IS NULL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28 / 55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Too Few Rows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 · TROUBLESHOOTING</a:t>
            </a:r>
          </a:p>
        </p:txBody>
      </p:sp>
      <p:graphicFrame>
        <p:nvGraphicFramePr>
          <p:cNvPr id="4" name="Table 3"/>
          <p:cNvGraphicFramePr>
            <a:graphicFrameLocks noGrp="1"/>
          </p:cNvGraphicFramePr>
          <p:nvPr/>
        </p:nvGraphicFramePr>
        <p:xfrm>
          <a:off x="609904" y="1783080"/>
          <a:ext cx="10971884" cy="2266694"/>
        </p:xfrm>
        <a:graphic>
          <a:graphicData uri="http://schemas.openxmlformats.org/drawingml/2006/table">
            <a:tbl>
              <a:tblPr/>
              <a:tblGrid>
                <a:gridCol w="3949878">
                  <a:extLst>
                    <a:ext uri="{9D8B030D-6E8A-4147-A177-3AD203B41FA5}">
                      <a16:colId xmlns:a16="http://schemas.microsoft.com/office/drawing/2014/main" val="20000"/>
                    </a:ext>
                  </a:extLst>
                </a:gridCol>
                <a:gridCol w="3511003">
                  <a:extLst>
                    <a:ext uri="{9D8B030D-6E8A-4147-A177-3AD203B41FA5}">
                      <a16:colId xmlns:a16="http://schemas.microsoft.com/office/drawing/2014/main" val="20001"/>
                    </a:ext>
                  </a:extLst>
                </a:gridCol>
                <a:gridCol w="3511003">
                  <a:extLst>
                    <a:ext uri="{9D8B030D-6E8A-4147-A177-3AD203B41FA5}">
                      <a16:colId xmlns:a16="http://schemas.microsoft.com/office/drawing/2014/main" val="20002"/>
                    </a:ext>
                  </a:extLst>
                </a:gridCol>
              </a:tblGrid>
              <a:tr h="384048">
                <a:tc>
                  <a:txBody>
                    <a:bodyPr/>
                    <a:lstStyle/>
                    <a:p>
                      <a:r>
                        <a:rPr sz="1300" b="1">
                          <a:solidFill>
                            <a:srgbClr val="FFFFFF"/>
                          </a:solidFill>
                          <a:latin typeface="Arial"/>
                        </a:rPr>
                        <a:t>Likely cause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How to check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Fix</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65760">
                <a:tc>
                  <a:txBody>
                    <a:bodyPr/>
                    <a:lstStyle/>
                    <a:p>
                      <a:r>
                        <a:rPr sz="1250" b="0" i="0">
                          <a:solidFill>
                            <a:srgbClr val="330066"/>
                          </a:solidFill>
                          <a:latin typeface="Courier New"/>
                        </a:rPr>
                        <a:t>AND</a:t>
                      </a:r>
                      <a:r>
                        <a:rPr sz="1300" b="0" i="0">
                          <a:solidFill>
                            <a:srgbClr val="1A1A1A"/>
                          </a:solidFill>
                          <a:latin typeface="Arial"/>
                        </a:rPr>
                        <a:t> where </a:t>
                      </a:r>
                      <a:r>
                        <a:rPr sz="1250" b="0" i="0">
                          <a:solidFill>
                            <a:srgbClr val="330066"/>
                          </a:solidFill>
                          <a:latin typeface="Courier New"/>
                        </a:rPr>
                        <a:t>OR</a:t>
                      </a:r>
                      <a:r>
                        <a:rPr sz="1300" b="0" i="0">
                          <a:solidFill>
                            <a:srgbClr val="1A1A1A"/>
                          </a:solidFill>
                          <a:latin typeface="Arial"/>
                        </a:rPr>
                        <a:t> was meant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Re-read the English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1A1A1A"/>
                          </a:solidFill>
                          <a:latin typeface="Arial"/>
                        </a:rPr>
                        <a:t>Use </a:t>
                      </a:r>
                      <a:r>
                        <a:rPr sz="1250" b="0" i="0">
                          <a:solidFill>
                            <a:srgbClr val="330066"/>
                          </a:solidFill>
                          <a:latin typeface="Courier New"/>
                        </a:rPr>
                        <a:t>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65760">
                <a:tc>
                  <a:txBody>
                    <a:bodyPr/>
                    <a:lstStyle/>
                    <a:p>
                      <a:r>
                        <a:rPr sz="1300" b="0" i="0">
                          <a:solidFill>
                            <a:srgbClr val="1A1A1A"/>
                          </a:solidFill>
                          <a:latin typeface="Arial"/>
                        </a:rPr>
                        <a:t>Reversed </a:t>
                      </a:r>
                      <a:r>
                        <a:rPr sz="1250" b="0" i="0">
                          <a:solidFill>
                            <a:srgbClr val="330066"/>
                          </a:solidFill>
                          <a:latin typeface="Courier New"/>
                        </a:rPr>
                        <a:t>BETWEEN</a:t>
                      </a:r>
                      <a:r>
                        <a:rPr sz="1300" b="0" i="0">
                          <a:solidFill>
                            <a:srgbClr val="1A1A1A"/>
                          </a:solidFill>
                          <a:latin typeface="Arial"/>
                        </a:rPr>
                        <a:t> bounds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Low value first?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Swap</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575563">
                <a:tc>
                  <a:txBody>
                    <a:bodyPr/>
                    <a:lstStyle/>
                    <a:p>
                      <a:r>
                        <a:rPr sz="1300" b="0" i="0">
                          <a:solidFill>
                            <a:srgbClr val="1A1A1A"/>
                          </a:solidFill>
                          <a:latin typeface="Arial"/>
                        </a:rPr>
                        <a:t>Wrong data type literal (</a:t>
                      </a:r>
                      <a:r>
                        <a:rPr sz="1250" b="0" i="0">
                          <a:solidFill>
                            <a:srgbClr val="330066"/>
                          </a:solidFill>
                          <a:latin typeface="Courier New"/>
                        </a:rPr>
                        <a:t>'5'</a:t>
                      </a:r>
                      <a:r>
                        <a:rPr sz="1300" b="0" i="0">
                          <a:solidFill>
                            <a:srgbClr val="1A1A1A"/>
                          </a:solidFill>
                          <a:latin typeface="Arial"/>
                        </a:rPr>
                        <a:t> vs </a:t>
                      </a:r>
                      <a:r>
                        <a:rPr sz="1250" b="0" i="0">
                          <a:solidFill>
                            <a:srgbClr val="330066"/>
                          </a:solidFill>
                          <a:latin typeface="Courier New"/>
                        </a:rPr>
                        <a:t>5</a:t>
                      </a:r>
                      <a:r>
                        <a:rPr sz="1300" b="0" i="0">
                          <a:solidFill>
                            <a:srgbClr val="1A1A1A"/>
                          </a:solidFill>
                          <a:latin typeface="Arial"/>
                        </a:rPr>
                        <a:t>, wrong date format)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Look at the column type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Match the type; use ISO dates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575563">
                <a:tc>
                  <a:txBody>
                    <a:bodyPr/>
                    <a:lstStyle/>
                    <a:p>
                      <a:r>
                        <a:rPr sz="1300" b="0">
                          <a:solidFill>
                            <a:srgbClr val="1A1A1A"/>
                          </a:solidFill>
                          <a:latin typeface="Arial"/>
                        </a:rPr>
                        <a:t>The data genuinely is not there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Remove conditions one at a time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The result may be correct: report 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29 / 55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An Empty Result May Be Right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Rounded Rectangle 3"/>
          <p:cNvSpPr/>
          <p:nvPr/>
        </p:nvSpPr>
        <p:spPr>
          <a:xfrm>
            <a:off x="609904" y="1783080"/>
            <a:ext cx="10971885" cy="1371600"/>
          </a:xfrm>
          <a:prstGeom prst="roundRect">
            <a:avLst>
              <a:gd name="adj" fmla="val 6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20240"/>
            <a:ext cx="10514685" cy="109728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EMPHASIS</a:t>
            </a:r>
          </a:p>
          <a:p>
            <a:pPr algn="l">
              <a:lnSpc>
                <a:spcPct val="110000"/>
              </a:lnSpc>
              <a:spcAft>
                <a:spcPts val="600"/>
              </a:spcAft>
            </a:pPr>
            <a:r>
              <a:rPr sz="1400" b="0" i="0">
                <a:solidFill>
                  <a:srgbClr val="1A1A1A"/>
                </a:solidFill>
                <a:latin typeface="Arial"/>
              </a:rPr>
              <a:t>For a "find bad data" query an empty result is the goal. For a "find the order I just created" query it is a failure. Always know in advance which one you expect.</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30 / 55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Peel the Onion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Rounded Rectangle 3"/>
          <p:cNvSpPr/>
          <p:nvPr/>
        </p:nvSpPr>
        <p:spPr>
          <a:xfrm>
            <a:off x="609904" y="1783080"/>
            <a:ext cx="5120640" cy="1572768"/>
          </a:xfrm>
          <a:prstGeom prst="roundRect">
            <a:avLst>
              <a:gd name="adj" fmla="val 465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4718303" cy="1280160"/>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order_id, status, country, quantity</a:t>
            </a:r>
          </a:p>
          <a:p>
            <a:pPr algn="l">
              <a:lnSpc>
                <a:spcPct val="100000"/>
              </a:lnSpc>
            </a:pPr>
            <a:r>
              <a:rPr sz="1400">
                <a:solidFill>
                  <a:srgbClr val="1A1A1A"/>
                </a:solidFill>
                <a:latin typeface="Courier New"/>
              </a:rPr>
              <a:t>FROM orders</a:t>
            </a:r>
          </a:p>
          <a:p>
            <a:pPr algn="l">
              <a:lnSpc>
                <a:spcPct val="100000"/>
              </a:lnSpc>
            </a:pPr>
            <a:r>
              <a:rPr sz="1400">
                <a:solidFill>
                  <a:srgbClr val="1A1A1A"/>
                </a:solidFill>
                <a:latin typeface="Courier New"/>
              </a:rPr>
              <a:t>WHERE status = 'PENDING'</a:t>
            </a:r>
          </a:p>
          <a:p>
            <a:pPr algn="l">
              <a:lnSpc>
                <a:spcPct val="100000"/>
              </a:lnSpc>
            </a:pPr>
            <a:r>
              <a:rPr sz="1400">
                <a:solidFill>
                  <a:srgbClr val="1A1A1A"/>
                </a:solidFill>
                <a:latin typeface="Courier New"/>
              </a:rPr>
              <a:t>  AND country = 'UK'</a:t>
            </a:r>
          </a:p>
          <a:p>
            <a:pPr algn="l">
              <a:lnSpc>
                <a:spcPct val="100000"/>
              </a:lnSpc>
            </a:pPr>
            <a:r>
              <a:rPr sz="1400">
                <a:solidFill>
                  <a:srgbClr val="1A1A1A"/>
                </a:solidFill>
                <a:latin typeface="Courier New"/>
              </a:rPr>
              <a:t>  -- AND quantity &gt; 0</a:t>
            </a:r>
          </a:p>
          <a:p>
            <a:pPr algn="l">
              <a:lnSpc>
                <a:spcPct val="100000"/>
              </a:lnSpc>
            </a:pPr>
            <a:r>
              <a:rPr sz="1400">
                <a:solidFill>
                  <a:srgbClr val="1A1A1A"/>
                </a:solidFill>
                <a:latin typeface="Courier New"/>
              </a:rPr>
              <a:t>  ;</a:t>
            </a:r>
          </a:p>
        </p:txBody>
      </p:sp>
      <p:sp>
        <p:nvSpPr>
          <p:cNvPr id="6" name="TextBox 5"/>
          <p:cNvSpPr txBox="1"/>
          <p:nvPr/>
        </p:nvSpPr>
        <p:spPr>
          <a:xfrm>
            <a:off x="6096304" y="1783080"/>
            <a:ext cx="5485485" cy="4361688"/>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If a many-condition query returns nothing, remove (or comment out with </a:t>
            </a:r>
            <a:r>
              <a:rPr sz="1200" b="0" i="0">
                <a:solidFill>
                  <a:srgbClr val="330066"/>
                </a:solidFill>
                <a:latin typeface="Courier New"/>
              </a:rPr>
              <a:t>--</a:t>
            </a:r>
            <a:r>
              <a:rPr sz="1250" b="0" i="0">
                <a:solidFill>
                  <a:srgbClr val="1A1A1A"/>
                </a:solidFill>
                <a:latin typeface="Arial"/>
              </a:rPr>
              <a:t>) one condition at a time and rerun until rows appear. The condition removed last is the culprit.</a:t>
            </a:r>
          </a:p>
          <a:p>
            <a:pPr marL="228600" indent="-228600" algn="l">
              <a:spcAft>
                <a:spcPts val="800"/>
              </a:spcAft>
              <a:buFont typeface="Arial"/>
              <a:buChar char="•"/>
            </a:pPr>
            <a:r>
              <a:rPr sz="1250" b="0" i="0">
                <a:solidFill>
                  <a:srgbClr val="1A1A1A"/>
                </a:solidFill>
                <a:latin typeface="Arial"/>
              </a:rPr>
              <a:t>Result: 1 row, order 1011: status and country match, but </a:t>
            </a:r>
            <a:r>
              <a:rPr sz="1200" b="0" i="0">
                <a:solidFill>
                  <a:srgbClr val="330066"/>
                </a:solidFill>
                <a:latin typeface="Courier New"/>
              </a:rPr>
              <a:t>quantity</a:t>
            </a:r>
            <a:r>
              <a:rPr sz="1250" b="0" i="0">
                <a:solidFill>
                  <a:srgbClr val="1A1A1A"/>
                </a:solidFill>
                <a:latin typeface="Arial"/>
              </a:rPr>
              <a:t> is -1, so </a:t>
            </a:r>
            <a:r>
              <a:rPr sz="1200" b="0" i="0">
                <a:solidFill>
                  <a:srgbClr val="330066"/>
                </a:solidFill>
                <a:latin typeface="Courier New"/>
              </a:rPr>
              <a:t>AND quantity &gt; 0</a:t>
            </a:r>
            <a:r>
              <a:rPr sz="1250" b="0" i="0">
                <a:solidFill>
                  <a:srgbClr val="1A1A1A"/>
                </a:solidFill>
                <a:latin typeface="Arial"/>
              </a:rPr>
              <a:t> would hide it.</a:t>
            </a:r>
          </a:p>
          <a:p>
            <a:pPr marL="228600" indent="-228600" algn="l">
              <a:spcAft>
                <a:spcPts val="800"/>
              </a:spcAft>
              <a:buFont typeface="Arial"/>
              <a:buChar char="•"/>
            </a:pPr>
            <a:r>
              <a:rPr sz="1250" b="0" i="0">
                <a:solidFill>
                  <a:srgbClr val="1A1A1A"/>
                </a:solidFill>
                <a:latin typeface="Arial"/>
              </a:rPr>
              <a:t>In data validation you probably would not want that condition.</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31 / 55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Reusable Query Patterns</a:t>
            </a:r>
          </a:p>
        </p:txBody>
      </p:sp>
      <p:sp>
        <p:nvSpPr>
          <p:cNvPr id="3" name="Text Placeholder 2"/>
          <p:cNvSpPr>
            <a:spLocks noGrp="1"/>
          </p:cNvSpPr>
          <p:nvPr>
            <p:ph type="body" idx="1"/>
          </p:nvPr>
        </p:nvSpPr>
        <p:spPr/>
        <p:txBody>
          <a:bodyPr/>
          <a:lstStyle/>
          <a:p>
            <a:r>
              <a:rPr sz="1800">
                <a:solidFill>
                  <a:srgbClr val="5A5A5A"/>
                </a:solidFill>
              </a:rPr>
              <a:t>Seven shapes that cover most everyday QA queries</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04</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32 / 55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Patterns: Overview</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Most QA queries are variations of a few shapes. Replace the names in </a:t>
            </a:r>
            <a:r>
              <a:rPr sz="1650" b="0" i="0">
                <a:solidFill>
                  <a:srgbClr val="330066"/>
                </a:solidFill>
                <a:latin typeface="Courier New"/>
              </a:rPr>
              <a:t>&lt;angle brackets&gt;</a:t>
            </a:r>
            <a:r>
              <a:rPr sz="1700" b="0" i="0">
                <a:solidFill>
                  <a:srgbClr val="1A1A1A"/>
                </a:solidFill>
                <a:latin typeface="Arial"/>
              </a:rPr>
              <a:t>.</a:t>
            </a:r>
          </a:p>
          <a:p>
            <a:pPr marL="228600" indent="-228600" algn="l">
              <a:spcAft>
                <a:spcPts val="1000"/>
              </a:spcAft>
              <a:buFont typeface="Arial"/>
              <a:buChar char="•"/>
            </a:pPr>
            <a:r>
              <a:rPr sz="1700" b="0" i="0">
                <a:solidFill>
                  <a:srgbClr val="1A1A1A"/>
                </a:solidFill>
                <a:latin typeface="Arial"/>
              </a:rPr>
              <a:t>Pattern 1: find by key. Pattern 2: find the latest N. Pattern 3: allowed or forbidden set.</a:t>
            </a:r>
          </a:p>
          <a:p>
            <a:pPr marL="228600" indent="-228600" algn="l">
              <a:spcAft>
                <a:spcPts val="1000"/>
              </a:spcAft>
              <a:buFont typeface="Arial"/>
              <a:buChar char="•"/>
            </a:pPr>
            <a:r>
              <a:rPr sz="1700" b="0" i="0">
                <a:solidFill>
                  <a:srgbClr val="1A1A1A"/>
                </a:solidFill>
                <a:latin typeface="Arial"/>
              </a:rPr>
              <a:t>Pattern 4: find missing data. Pattern 5: find invalid values. Pattern 6: date window. Pattern 7: discover real values.</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33 / 55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Pattern 1: Find by Key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49377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Template</a:t>
            </a:r>
          </a:p>
        </p:txBody>
      </p:sp>
      <p:sp>
        <p:nvSpPr>
          <p:cNvPr id="5" name="Rounded Rectangle 4"/>
          <p:cNvSpPr/>
          <p:nvPr/>
        </p:nvSpPr>
        <p:spPr>
          <a:xfrm>
            <a:off x="609904" y="2057400"/>
            <a:ext cx="4937760" cy="932688"/>
          </a:xfrm>
          <a:prstGeom prst="roundRect">
            <a:avLst>
              <a:gd name="adj" fmla="val 784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4535424" cy="640080"/>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&lt;columns&gt;</a:t>
            </a:r>
          </a:p>
          <a:p>
            <a:pPr algn="l">
              <a:lnSpc>
                <a:spcPct val="100000"/>
              </a:lnSpc>
            </a:pPr>
            <a:r>
              <a:rPr sz="1400">
                <a:solidFill>
                  <a:srgbClr val="1A1A1A"/>
                </a:solidFill>
                <a:latin typeface="Courier New"/>
              </a:rPr>
              <a:t>FROM &lt;table&gt;</a:t>
            </a:r>
          </a:p>
          <a:p>
            <a:pPr algn="l">
              <a:lnSpc>
                <a:spcPct val="100000"/>
              </a:lnSpc>
            </a:pPr>
            <a:r>
              <a:rPr sz="1400">
                <a:solidFill>
                  <a:srgbClr val="1A1A1A"/>
                </a:solidFill>
                <a:latin typeface="Courier New"/>
              </a:rPr>
              <a:t>WHERE &lt;primary_key&gt; = &lt;value&gt;;</a:t>
            </a:r>
          </a:p>
        </p:txBody>
      </p:sp>
      <p:sp>
        <p:nvSpPr>
          <p:cNvPr id="7" name="TextBox 6"/>
          <p:cNvSpPr txBox="1"/>
          <p:nvPr/>
        </p:nvSpPr>
        <p:spPr>
          <a:xfrm>
            <a:off x="609904" y="3172968"/>
            <a:ext cx="49377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Example</a:t>
            </a:r>
          </a:p>
        </p:txBody>
      </p:sp>
      <p:sp>
        <p:nvSpPr>
          <p:cNvPr id="8" name="Rounded Rectangle 7"/>
          <p:cNvSpPr/>
          <p:nvPr/>
        </p:nvSpPr>
        <p:spPr>
          <a:xfrm>
            <a:off x="609904" y="3447287"/>
            <a:ext cx="4937760" cy="932688"/>
          </a:xfrm>
          <a:prstGeom prst="roundRect">
            <a:avLst>
              <a:gd name="adj" fmla="val 784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593591"/>
            <a:ext cx="4535424" cy="640080"/>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order_id, customer_name, status</a:t>
            </a:r>
          </a:p>
          <a:p>
            <a:pPr algn="l">
              <a:lnSpc>
                <a:spcPct val="100000"/>
              </a:lnSpc>
            </a:pPr>
            <a:r>
              <a:rPr sz="1400">
                <a:solidFill>
                  <a:srgbClr val="1A1A1A"/>
                </a:solidFill>
                <a:latin typeface="Courier New"/>
              </a:rPr>
              <a:t>FROM orders</a:t>
            </a:r>
          </a:p>
          <a:p>
            <a:pPr algn="l">
              <a:lnSpc>
                <a:spcPct val="100000"/>
              </a:lnSpc>
            </a:pPr>
            <a:r>
              <a:rPr sz="1400">
                <a:solidFill>
                  <a:srgbClr val="1A1A1A"/>
                </a:solidFill>
                <a:latin typeface="Courier New"/>
              </a:rPr>
              <a:t>WHERE order_id = 1010;</a:t>
            </a:r>
          </a:p>
        </p:txBody>
      </p:sp>
      <p:sp>
        <p:nvSpPr>
          <p:cNvPr id="10" name="TextBox 9"/>
          <p:cNvSpPr txBox="1"/>
          <p:nvPr/>
        </p:nvSpPr>
        <p:spPr>
          <a:xfrm>
            <a:off x="5913424" y="1783080"/>
            <a:ext cx="566836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Expect exactly one row, since primary keys are unique.</a:t>
            </a:r>
          </a:p>
          <a:p>
            <a:pPr marL="228600" indent="-228600" algn="l">
              <a:spcAft>
                <a:spcPts val="800"/>
              </a:spcAft>
              <a:buFont typeface="Arial"/>
              <a:buChar char="•"/>
            </a:pPr>
            <a:r>
              <a:rPr sz="1400" b="0" i="0">
                <a:solidFill>
                  <a:srgbClr val="1A1A1A"/>
                </a:solidFill>
                <a:latin typeface="Arial"/>
              </a:rPr>
              <a:t>Zero rows means the order does not exist; more than one would be a serious data problem.</a:t>
            </a:r>
          </a:p>
          <a:p>
            <a:pPr marL="228600" indent="-228600" algn="l">
              <a:spcAft>
                <a:spcPts val="800"/>
              </a:spcAft>
              <a:buFont typeface="Arial"/>
              <a:buChar char="•"/>
            </a:pPr>
            <a:r>
              <a:rPr sz="1400" b="0" i="0">
                <a:solidFill>
                  <a:srgbClr val="1A1A1A"/>
                </a:solidFill>
                <a:latin typeface="Arial"/>
              </a:rPr>
              <a:t>Example result: order 1010.</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34 / 55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Pattern 2: Latest 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49377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Template</a:t>
            </a:r>
          </a:p>
        </p:txBody>
      </p:sp>
      <p:sp>
        <p:nvSpPr>
          <p:cNvPr id="5" name="Rounded Rectangle 4"/>
          <p:cNvSpPr/>
          <p:nvPr/>
        </p:nvSpPr>
        <p:spPr>
          <a:xfrm>
            <a:off x="609904" y="2057400"/>
            <a:ext cx="4937760" cy="932688"/>
          </a:xfrm>
          <a:prstGeom prst="roundRect">
            <a:avLst>
              <a:gd name="adj" fmla="val 784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4535424" cy="640080"/>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&lt;columns&gt; FROM &lt;table&gt;</a:t>
            </a:r>
          </a:p>
          <a:p>
            <a:pPr algn="l">
              <a:lnSpc>
                <a:spcPct val="100000"/>
              </a:lnSpc>
            </a:pPr>
            <a:r>
              <a:rPr sz="1400">
                <a:solidFill>
                  <a:srgbClr val="1A1A1A"/>
                </a:solidFill>
                <a:latin typeface="Courier New"/>
              </a:rPr>
              <a:t>ORDER BY &lt;date_or_id&gt; DESC</a:t>
            </a:r>
          </a:p>
          <a:p>
            <a:pPr algn="l">
              <a:lnSpc>
                <a:spcPct val="100000"/>
              </a:lnSpc>
            </a:pPr>
            <a:r>
              <a:rPr sz="1400">
                <a:solidFill>
                  <a:srgbClr val="1A1A1A"/>
                </a:solidFill>
                <a:latin typeface="Courier New"/>
              </a:rPr>
              <a:t>LIMIT &lt;N&gt;;</a:t>
            </a:r>
          </a:p>
        </p:txBody>
      </p:sp>
      <p:sp>
        <p:nvSpPr>
          <p:cNvPr id="7" name="TextBox 6"/>
          <p:cNvSpPr txBox="1"/>
          <p:nvPr/>
        </p:nvSpPr>
        <p:spPr>
          <a:xfrm>
            <a:off x="609904" y="3172968"/>
            <a:ext cx="49377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Example</a:t>
            </a:r>
          </a:p>
        </p:txBody>
      </p:sp>
      <p:sp>
        <p:nvSpPr>
          <p:cNvPr id="8" name="Rounded Rectangle 7"/>
          <p:cNvSpPr/>
          <p:nvPr/>
        </p:nvSpPr>
        <p:spPr>
          <a:xfrm>
            <a:off x="609904" y="3447287"/>
            <a:ext cx="4937760" cy="1146048"/>
          </a:xfrm>
          <a:prstGeom prst="roundRect">
            <a:avLst>
              <a:gd name="adj" fmla="val 6382"/>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593591"/>
            <a:ext cx="4535424" cy="853440"/>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order_id, order_date</a:t>
            </a:r>
          </a:p>
          <a:p>
            <a:pPr algn="l">
              <a:lnSpc>
                <a:spcPct val="100000"/>
              </a:lnSpc>
            </a:pPr>
            <a:r>
              <a:rPr sz="1400">
                <a:solidFill>
                  <a:srgbClr val="1A1A1A"/>
                </a:solidFill>
                <a:latin typeface="Courier New"/>
              </a:rPr>
              <a:t>FROM orders</a:t>
            </a:r>
          </a:p>
          <a:p>
            <a:pPr algn="l">
              <a:lnSpc>
                <a:spcPct val="100000"/>
              </a:lnSpc>
            </a:pPr>
            <a:r>
              <a:rPr sz="1400">
                <a:solidFill>
                  <a:srgbClr val="1A1A1A"/>
                </a:solidFill>
                <a:latin typeface="Courier New"/>
              </a:rPr>
              <a:t>ORDER BY order_date DESC, order_id DESC</a:t>
            </a:r>
          </a:p>
          <a:p>
            <a:pPr algn="l">
              <a:lnSpc>
                <a:spcPct val="100000"/>
              </a:lnSpc>
            </a:pPr>
            <a:r>
              <a:rPr sz="1400">
                <a:solidFill>
                  <a:srgbClr val="1A1A1A"/>
                </a:solidFill>
                <a:latin typeface="Courier New"/>
              </a:rPr>
              <a:t>LIMIT 3;</a:t>
            </a:r>
          </a:p>
        </p:txBody>
      </p:sp>
      <p:sp>
        <p:nvSpPr>
          <p:cNvPr id="10" name="TextBox 9"/>
          <p:cNvSpPr txBox="1"/>
          <p:nvPr/>
        </p:nvSpPr>
        <p:spPr>
          <a:xfrm>
            <a:off x="5913424" y="1783080"/>
            <a:ext cx="566836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Example result: 3 rows, the latest by date then id (1015, 1014, 1013).</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35 / 55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Pattern 3: Allowed Set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493776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4535424" cy="1066799"/>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order_id, country</a:t>
            </a:r>
          </a:p>
          <a:p>
            <a:pPr algn="l">
              <a:lnSpc>
                <a:spcPct val="100000"/>
              </a:lnSpc>
            </a:pPr>
            <a:r>
              <a:rPr sz="1400">
                <a:solidFill>
                  <a:srgbClr val="1A1A1A"/>
                </a:solidFill>
                <a:latin typeface="Courier New"/>
              </a:rPr>
              <a:t>FROM orders</a:t>
            </a:r>
          </a:p>
          <a:p>
            <a:pPr algn="l">
              <a:lnSpc>
                <a:spcPct val="100000"/>
              </a:lnSpc>
            </a:pPr>
            <a:r>
              <a:rPr sz="1400">
                <a:solidFill>
                  <a:srgbClr val="1A1A1A"/>
                </a:solidFill>
                <a:latin typeface="Courier New"/>
              </a:rPr>
              <a:t>WHERE country IN ('USA', 'Canada')</a:t>
            </a:r>
          </a:p>
          <a:p>
            <a:pPr algn="l">
              <a:lnSpc>
                <a:spcPct val="100000"/>
              </a:lnSpc>
            </a:pPr>
            <a:r>
              <a:rPr sz="1400">
                <a:solidFill>
                  <a:srgbClr val="1A1A1A"/>
                </a:solidFill>
                <a:latin typeface="Courier New"/>
              </a:rPr>
              <a:t>ORDER BY order_id</a:t>
            </a:r>
          </a:p>
          <a:p>
            <a:pPr algn="l">
              <a:lnSpc>
                <a:spcPct val="100000"/>
              </a:lnSpc>
            </a:pPr>
            <a:r>
              <a:rPr sz="1400">
                <a:solidFill>
                  <a:srgbClr val="1A1A1A"/>
                </a:solidFill>
                <a:latin typeface="Courier New"/>
              </a:rPr>
              <a:t>LIMIT 4;</a:t>
            </a:r>
          </a:p>
        </p:txBody>
      </p:sp>
      <p:sp>
        <p:nvSpPr>
          <p:cNvPr id="6" name="TextBox 5"/>
          <p:cNvSpPr txBox="1"/>
          <p:nvPr/>
        </p:nvSpPr>
        <p:spPr>
          <a:xfrm>
            <a:off x="5913424" y="1783080"/>
            <a:ext cx="5668365" cy="4361688"/>
          </a:xfrm>
          <a:prstGeom prst="rect">
            <a:avLst/>
          </a:prstGeom>
          <a:noFill/>
        </p:spPr>
        <p:txBody>
          <a:bodyPr wrap="square" lIns="0" tIns="0" rIns="0" bIns="0">
            <a:spAutoFit/>
          </a:bodyPr>
          <a:lstStyle/>
          <a:p>
            <a:pPr marL="228600" indent="-228600" algn="l">
              <a:spcAft>
                <a:spcPts val="800"/>
              </a:spcAft>
              <a:buFont typeface="Arial"/>
              <a:buChar char="•"/>
            </a:pPr>
            <a:r>
              <a:rPr sz="1350" b="0" i="0">
                <a:solidFill>
                  <a:srgbClr val="330066"/>
                </a:solidFill>
                <a:latin typeface="Courier New"/>
              </a:rPr>
              <a:t>IN</a:t>
            </a:r>
            <a:r>
              <a:rPr sz="1400" b="0" i="0">
                <a:solidFill>
                  <a:srgbClr val="1A1A1A"/>
                </a:solidFill>
                <a:latin typeface="Arial"/>
              </a:rPr>
              <a:t> for an allowed set; use </a:t>
            </a:r>
            <a:r>
              <a:rPr sz="1350" b="0" i="0">
                <a:solidFill>
                  <a:srgbClr val="330066"/>
                </a:solidFill>
                <a:latin typeface="Courier New"/>
              </a:rPr>
              <a:t>NOT IN</a:t>
            </a:r>
            <a:r>
              <a:rPr sz="1400" b="0" i="0">
                <a:solidFill>
                  <a:srgbClr val="1A1A1A"/>
                </a:solidFill>
                <a:latin typeface="Arial"/>
              </a:rPr>
              <a:t> for a forbidden set.</a:t>
            </a:r>
          </a:p>
          <a:p>
            <a:pPr marL="228600" indent="-228600" algn="l">
              <a:spcAft>
                <a:spcPts val="800"/>
              </a:spcAft>
              <a:buFont typeface="Arial"/>
              <a:buChar char="•"/>
            </a:pPr>
            <a:r>
              <a:rPr sz="1400" b="0" i="0">
                <a:solidFill>
                  <a:srgbClr val="1A1A1A"/>
                </a:solidFill>
                <a:latin typeface="Arial"/>
              </a:rPr>
              <a:t>Result: 4 rows (USA or Canada).</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36 / 55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Pattern 4: Missing Data</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49377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Template</a:t>
            </a:r>
          </a:p>
        </p:txBody>
      </p:sp>
      <p:sp>
        <p:nvSpPr>
          <p:cNvPr id="5" name="Rounded Rectangle 4"/>
          <p:cNvSpPr/>
          <p:nvPr/>
        </p:nvSpPr>
        <p:spPr>
          <a:xfrm>
            <a:off x="609904" y="2057400"/>
            <a:ext cx="4937760" cy="719328"/>
          </a:xfrm>
          <a:prstGeom prst="roundRect">
            <a:avLst>
              <a:gd name="adj" fmla="val 1016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4535424" cy="426719"/>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&lt;key&gt;, &lt;column&gt; FROM &lt;table&gt;</a:t>
            </a:r>
          </a:p>
          <a:p>
            <a:pPr algn="l">
              <a:lnSpc>
                <a:spcPct val="100000"/>
              </a:lnSpc>
            </a:pPr>
            <a:r>
              <a:rPr sz="1400">
                <a:solidFill>
                  <a:srgbClr val="1A1A1A"/>
                </a:solidFill>
                <a:latin typeface="Courier New"/>
              </a:rPr>
              <a:t>WHERE &lt;column&gt; IS NULL;</a:t>
            </a:r>
          </a:p>
        </p:txBody>
      </p:sp>
      <p:sp>
        <p:nvSpPr>
          <p:cNvPr id="7" name="TextBox 6"/>
          <p:cNvSpPr txBox="1"/>
          <p:nvPr/>
        </p:nvSpPr>
        <p:spPr>
          <a:xfrm>
            <a:off x="609904" y="2959607"/>
            <a:ext cx="49377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Example</a:t>
            </a:r>
          </a:p>
        </p:txBody>
      </p:sp>
      <p:sp>
        <p:nvSpPr>
          <p:cNvPr id="8" name="Rounded Rectangle 7"/>
          <p:cNvSpPr/>
          <p:nvPr/>
        </p:nvSpPr>
        <p:spPr>
          <a:xfrm>
            <a:off x="609904" y="3233927"/>
            <a:ext cx="4937760" cy="1146048"/>
          </a:xfrm>
          <a:prstGeom prst="roundRect">
            <a:avLst>
              <a:gd name="adj" fmla="val 6382"/>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380231"/>
            <a:ext cx="4535424" cy="853440"/>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order_id, customer_name</a:t>
            </a:r>
          </a:p>
          <a:p>
            <a:pPr algn="l">
              <a:lnSpc>
                <a:spcPct val="100000"/>
              </a:lnSpc>
            </a:pPr>
            <a:r>
              <a:rPr sz="1400">
                <a:solidFill>
                  <a:srgbClr val="1A1A1A"/>
                </a:solidFill>
                <a:latin typeface="Courier New"/>
              </a:rPr>
              <a:t>FROM orders</a:t>
            </a:r>
          </a:p>
          <a:p>
            <a:pPr algn="l">
              <a:lnSpc>
                <a:spcPct val="100000"/>
              </a:lnSpc>
            </a:pPr>
            <a:r>
              <a:rPr sz="1400">
                <a:solidFill>
                  <a:srgbClr val="1A1A1A"/>
                </a:solidFill>
                <a:latin typeface="Courier New"/>
              </a:rPr>
              <a:t>WHERE email IS NULL</a:t>
            </a:r>
          </a:p>
          <a:p>
            <a:pPr algn="l">
              <a:lnSpc>
                <a:spcPct val="100000"/>
              </a:lnSpc>
            </a:pPr>
            <a:r>
              <a:rPr sz="1400">
                <a:solidFill>
                  <a:srgbClr val="1A1A1A"/>
                </a:solidFill>
                <a:latin typeface="Courier New"/>
              </a:rPr>
              <a:t>ORDER BY order_id;</a:t>
            </a:r>
          </a:p>
        </p:txBody>
      </p:sp>
      <p:sp>
        <p:nvSpPr>
          <p:cNvPr id="10" name="TextBox 9"/>
          <p:cNvSpPr txBox="1"/>
          <p:nvPr/>
        </p:nvSpPr>
        <p:spPr>
          <a:xfrm>
            <a:off x="5913424" y="1783080"/>
            <a:ext cx="566836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Example result: 2 rows, 1004 David Lee and 1014 Maria Lopez.</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37 / 55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Pattern 5: Violation Query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4572000" cy="1207008"/>
          </a:xfrm>
          <a:prstGeom prst="roundRect">
            <a:avLst>
              <a:gd name="adj" fmla="val 606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4169663" cy="914400"/>
          </a:xfrm>
          <a:prstGeom prst="rect">
            <a:avLst/>
          </a:prstGeom>
          <a:noFill/>
        </p:spPr>
        <p:txBody>
          <a:bodyPr wrap="square" lIns="0" tIns="0" rIns="0" bIns="0">
            <a:spAutoFit/>
          </a:bodyPr>
          <a:lstStyle/>
          <a:p>
            <a:pPr algn="l">
              <a:lnSpc>
                <a:spcPct val="100000"/>
              </a:lnSpc>
            </a:pPr>
            <a:r>
              <a:rPr sz="1500">
                <a:solidFill>
                  <a:srgbClr val="1A1A1A"/>
                </a:solidFill>
                <a:latin typeface="Courier New"/>
              </a:rPr>
              <a:t>SELECT order_id, quantity</a:t>
            </a:r>
          </a:p>
          <a:p>
            <a:pPr algn="l">
              <a:lnSpc>
                <a:spcPct val="100000"/>
              </a:lnSpc>
            </a:pPr>
            <a:r>
              <a:rPr sz="1500">
                <a:solidFill>
                  <a:srgbClr val="1A1A1A"/>
                </a:solidFill>
                <a:latin typeface="Courier New"/>
              </a:rPr>
              <a:t>FROM orders</a:t>
            </a:r>
          </a:p>
          <a:p>
            <a:pPr algn="l">
              <a:lnSpc>
                <a:spcPct val="100000"/>
              </a:lnSpc>
            </a:pPr>
            <a:r>
              <a:rPr sz="1500">
                <a:solidFill>
                  <a:srgbClr val="1A1A1A"/>
                </a:solidFill>
                <a:latin typeface="Courier New"/>
              </a:rPr>
              <a:t>WHERE quantity &lt; 1</a:t>
            </a:r>
          </a:p>
          <a:p>
            <a:pPr algn="l">
              <a:lnSpc>
                <a:spcPct val="100000"/>
              </a:lnSpc>
            </a:pPr>
            <a:r>
              <a:rPr sz="1500">
                <a:solidFill>
                  <a:srgbClr val="1A1A1A"/>
                </a:solidFill>
                <a:latin typeface="Courier New"/>
              </a:rPr>
              <a:t>ORDER BY order_id;</a:t>
            </a:r>
          </a:p>
        </p:txBody>
      </p:sp>
      <p:sp>
        <p:nvSpPr>
          <p:cNvPr id="6" name="TextBox 5"/>
          <p:cNvSpPr txBox="1"/>
          <p:nvPr/>
        </p:nvSpPr>
        <p:spPr>
          <a:xfrm>
            <a:off x="5547664" y="1783080"/>
            <a:ext cx="603412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Describe the opposite of the business rule. Rule: quantity must be at least 1; violation: </a:t>
            </a:r>
            <a:r>
              <a:rPr sz="1250" b="0" i="0">
                <a:solidFill>
                  <a:srgbClr val="330066"/>
                </a:solidFill>
                <a:latin typeface="Courier New"/>
              </a:rPr>
              <a:t>quantity &lt; 1</a:t>
            </a:r>
            <a:r>
              <a:rPr sz="1300" b="0" i="0">
                <a:solidFill>
                  <a:srgbClr val="1A1A1A"/>
                </a:solidFill>
                <a:latin typeface="Arial"/>
              </a:rPr>
              <a:t>.</a:t>
            </a:r>
          </a:p>
          <a:p>
            <a:pPr marL="228600" indent="-228600" algn="l">
              <a:spcAft>
                <a:spcPts val="800"/>
              </a:spcAft>
              <a:buFont typeface="Arial"/>
              <a:buChar char="•"/>
            </a:pPr>
            <a:r>
              <a:rPr sz="1300" b="0" i="0">
                <a:solidFill>
                  <a:srgbClr val="1A1A1A"/>
                </a:solidFill>
                <a:latin typeface="Arial"/>
              </a:rPr>
              <a:t>An empty result means the data passes.</a:t>
            </a:r>
          </a:p>
          <a:p>
            <a:pPr marL="228600" indent="-228600" algn="l">
              <a:spcAft>
                <a:spcPts val="800"/>
              </a:spcAft>
              <a:buFont typeface="Arial"/>
              <a:buChar char="•"/>
            </a:pPr>
            <a:r>
              <a:rPr sz="1300" b="0" i="0">
                <a:solidFill>
                  <a:srgbClr val="1A1A1A"/>
                </a:solidFill>
                <a:latin typeface="Arial"/>
              </a:rPr>
              <a:t>Here the result is not empty: two violating rows (1007 and 1011), so the data fails the rule.</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38 / 55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Pattern 6: Date Window</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493776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4535424" cy="1066799"/>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order_id, order_date, status</a:t>
            </a:r>
          </a:p>
          <a:p>
            <a:pPr algn="l">
              <a:lnSpc>
                <a:spcPct val="100000"/>
              </a:lnSpc>
            </a:pPr>
            <a:r>
              <a:rPr sz="1400">
                <a:solidFill>
                  <a:srgbClr val="1A1A1A"/>
                </a:solidFill>
                <a:latin typeface="Courier New"/>
              </a:rPr>
              <a:t>FROM orders</a:t>
            </a:r>
          </a:p>
          <a:p>
            <a:pPr algn="l">
              <a:lnSpc>
                <a:spcPct val="100000"/>
              </a:lnSpc>
            </a:pPr>
            <a:r>
              <a:rPr sz="1400">
                <a:solidFill>
                  <a:srgbClr val="1A1A1A"/>
                </a:solidFill>
                <a:latin typeface="Courier New"/>
              </a:rPr>
              <a:t>WHERE order_date &gt;= '2025-02-10'</a:t>
            </a:r>
          </a:p>
          <a:p>
            <a:pPr algn="l">
              <a:lnSpc>
                <a:spcPct val="100000"/>
              </a:lnSpc>
            </a:pPr>
            <a:r>
              <a:rPr sz="1400">
                <a:solidFill>
                  <a:srgbClr val="1A1A1A"/>
                </a:solidFill>
                <a:latin typeface="Courier New"/>
              </a:rPr>
              <a:t>  AND order_date &lt;  '2025-02-20'</a:t>
            </a:r>
          </a:p>
          <a:p>
            <a:pPr algn="l">
              <a:lnSpc>
                <a:spcPct val="100000"/>
              </a:lnSpc>
            </a:pPr>
            <a:r>
              <a:rPr sz="1400">
                <a:solidFill>
                  <a:srgbClr val="1A1A1A"/>
                </a:solidFill>
                <a:latin typeface="Courier New"/>
              </a:rPr>
              <a:t>ORDER BY order_date;</a:t>
            </a:r>
          </a:p>
        </p:txBody>
      </p:sp>
      <p:sp>
        <p:nvSpPr>
          <p:cNvPr id="6" name="TextBox 5"/>
          <p:cNvSpPr txBox="1"/>
          <p:nvPr/>
        </p:nvSpPr>
        <p:spPr>
          <a:xfrm>
            <a:off x="5913424" y="1783080"/>
            <a:ext cx="566836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Half-open range: start inclusive, end exclusive. It never misses the last day, and consecutive windows never overlap.</a:t>
            </a:r>
          </a:p>
          <a:p>
            <a:pPr marL="228600" indent="-228600" algn="l">
              <a:spcAft>
                <a:spcPts val="800"/>
              </a:spcAft>
              <a:buFont typeface="Arial"/>
              <a:buChar char="•"/>
            </a:pPr>
            <a:r>
              <a:rPr sz="1400" b="0" i="0">
                <a:solidFill>
                  <a:srgbClr val="1A1A1A"/>
                </a:solidFill>
                <a:latin typeface="Arial"/>
              </a:rPr>
              <a:t>Result: 3 rows.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39 / 55</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Pattern 7: Discover Values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4206240" cy="1024127"/>
          </a:xfrm>
          <a:prstGeom prst="roundRect">
            <a:avLst>
              <a:gd name="adj" fmla="val 7142"/>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3803903" cy="731519"/>
          </a:xfrm>
          <a:prstGeom prst="rect">
            <a:avLst/>
          </a:prstGeom>
          <a:noFill/>
        </p:spPr>
        <p:txBody>
          <a:bodyPr wrap="square" lIns="0" tIns="0" rIns="0" bIns="0">
            <a:spAutoFit/>
          </a:bodyPr>
          <a:lstStyle/>
          <a:p>
            <a:pPr algn="l">
              <a:lnSpc>
                <a:spcPct val="100000"/>
              </a:lnSpc>
            </a:pPr>
            <a:r>
              <a:rPr sz="1600">
                <a:solidFill>
                  <a:srgbClr val="1A1A1A"/>
                </a:solidFill>
                <a:latin typeface="Courier New"/>
              </a:rPr>
              <a:t>SELECT DISTINCT status</a:t>
            </a:r>
          </a:p>
          <a:p>
            <a:pPr algn="l">
              <a:lnSpc>
                <a:spcPct val="100000"/>
              </a:lnSpc>
            </a:pPr>
            <a:r>
              <a:rPr sz="1600">
                <a:solidFill>
                  <a:srgbClr val="1A1A1A"/>
                </a:solidFill>
                <a:latin typeface="Courier New"/>
              </a:rPr>
              <a:t>FROM orders</a:t>
            </a:r>
          </a:p>
          <a:p>
            <a:pPr algn="l">
              <a:lnSpc>
                <a:spcPct val="100000"/>
              </a:lnSpc>
            </a:pPr>
            <a:r>
              <a:rPr sz="1600">
                <a:solidFill>
                  <a:srgbClr val="1A1A1A"/>
                </a:solidFill>
                <a:latin typeface="Courier New"/>
              </a:rPr>
              <a:t>ORDER BY status;</a:t>
            </a:r>
          </a:p>
        </p:txBody>
      </p:sp>
      <p:sp>
        <p:nvSpPr>
          <p:cNvPr id="6" name="TextBox 5"/>
          <p:cNvSpPr txBox="1"/>
          <p:nvPr/>
        </p:nvSpPr>
        <p:spPr>
          <a:xfrm>
            <a:off x="5181904" y="1783080"/>
            <a:ext cx="639988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Run this on any unfamiliar column: it shows what you are really dealing with, not what the documentation promises.</a:t>
            </a:r>
          </a:p>
          <a:p>
            <a:pPr marL="228600" indent="-228600" algn="l">
              <a:spcAft>
                <a:spcPts val="800"/>
              </a:spcAft>
              <a:buFont typeface="Arial"/>
              <a:buChar char="•"/>
            </a:pPr>
            <a:r>
              <a:rPr sz="1300" b="0" i="0">
                <a:solidFill>
                  <a:srgbClr val="1A1A1A"/>
                </a:solidFill>
                <a:latin typeface="Arial"/>
              </a:rPr>
              <a:t>Result: CANCELLED, DELIVERED, PENDING, SHIPPED, delivered. It reveals the case variant </a:t>
            </a:r>
            <a:r>
              <a:rPr sz="1250" b="0" i="0">
                <a:solidFill>
                  <a:srgbClr val="330066"/>
                </a:solidFill>
                <a:latin typeface="Courier New"/>
              </a:rPr>
              <a:t>delivered</a:t>
            </a:r>
            <a:r>
              <a:rPr sz="1300" b="0" i="0">
                <a:solidFill>
                  <a:srgbClr val="1A1A1A"/>
                </a:solidFill>
                <a:latin typeface="Arial"/>
              </a:rPr>
              <a:t>.</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40 / 55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Style, Files and Checklist</a:t>
            </a:r>
          </a:p>
        </p:txBody>
      </p:sp>
      <p:sp>
        <p:nvSpPr>
          <p:cNvPr id="3" name="Text Placeholder 2"/>
          <p:cNvSpPr>
            <a:spLocks noGrp="1"/>
          </p:cNvSpPr>
          <p:nvPr>
            <p:ph type="body" idx="1"/>
          </p:nvPr>
        </p:nvSpPr>
        <p:spPr/>
        <p:txBody>
          <a:bodyPr/>
          <a:lstStyle/>
          <a:p>
            <a:r>
              <a:rPr sz="1800">
                <a:solidFill>
                  <a:srgbClr val="5A5A5A"/>
                </a:solidFill>
              </a:rPr>
              <a:t>Shared-query conventions, .sql files run from Python, and dialects</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05</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41 / 55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Style Rules for Shared Queries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Keywords in UPPER CASE; names in lower_snake_case.</a:t>
            </a:r>
          </a:p>
          <a:p>
            <a:pPr marL="228600" indent="-228600" algn="l">
              <a:spcAft>
                <a:spcPts val="1000"/>
              </a:spcAft>
              <a:buFont typeface="Arial"/>
              <a:buChar char="•"/>
            </a:pPr>
            <a:r>
              <a:rPr sz="1700" b="0" i="0">
                <a:solidFill>
                  <a:srgbClr val="1A1A1A"/>
                </a:solidFill>
                <a:latin typeface="Arial"/>
              </a:rPr>
              <a:t>One clause per line, aligned at the left margin.</a:t>
            </a:r>
          </a:p>
          <a:p>
            <a:pPr marL="228600" indent="-228600" algn="l">
              <a:spcAft>
                <a:spcPts val="1000"/>
              </a:spcAft>
              <a:buFont typeface="Arial"/>
              <a:buChar char="•"/>
            </a:pPr>
            <a:r>
              <a:rPr sz="1700" b="0" i="0">
                <a:solidFill>
                  <a:srgbClr val="1A1A1A"/>
                </a:solidFill>
                <a:latin typeface="Arial"/>
              </a:rPr>
              <a:t>One condition per line in </a:t>
            </a:r>
            <a:r>
              <a:rPr sz="1650" b="0" i="0">
                <a:solidFill>
                  <a:srgbClr val="330066"/>
                </a:solidFill>
                <a:latin typeface="Courier New"/>
              </a:rPr>
              <a:t>WHERE</a:t>
            </a:r>
            <a:r>
              <a:rPr sz="1700" b="0" i="0">
                <a:solidFill>
                  <a:srgbClr val="1A1A1A"/>
                </a:solidFill>
                <a:latin typeface="Arial"/>
              </a:rPr>
              <a:t>, with </a:t>
            </a:r>
            <a:r>
              <a:rPr sz="1650" b="0" i="0">
                <a:solidFill>
                  <a:srgbClr val="330066"/>
                </a:solidFill>
                <a:latin typeface="Courier New"/>
              </a:rPr>
              <a:t>AND</a:t>
            </a:r>
            <a:r>
              <a:rPr sz="1700" b="0" i="0">
                <a:solidFill>
                  <a:srgbClr val="1A1A1A"/>
                </a:solidFill>
                <a:latin typeface="Arial"/>
              </a:rPr>
              <a:t> / </a:t>
            </a:r>
            <a:r>
              <a:rPr sz="1650" b="0" i="0">
                <a:solidFill>
                  <a:srgbClr val="330066"/>
                </a:solidFill>
                <a:latin typeface="Courier New"/>
              </a:rPr>
              <a:t>OR</a:t>
            </a:r>
            <a:r>
              <a:rPr sz="1700" b="0" i="0">
                <a:solidFill>
                  <a:srgbClr val="1A1A1A"/>
                </a:solidFill>
                <a:latin typeface="Arial"/>
              </a:rPr>
              <a:t> at the start of the line, indented two spaces.</a:t>
            </a:r>
          </a:p>
          <a:p>
            <a:pPr marL="228600" indent="-228600" algn="l">
              <a:spcAft>
                <a:spcPts val="1000"/>
              </a:spcAft>
              <a:buFont typeface="Arial"/>
              <a:buChar char="•"/>
            </a:pPr>
            <a:r>
              <a:rPr sz="1700" b="0" i="0">
                <a:solidFill>
                  <a:srgbClr val="1A1A1A"/>
                </a:solidFill>
                <a:latin typeface="Arial"/>
              </a:rPr>
              <a:t>Parentheses around any </a:t>
            </a:r>
            <a:r>
              <a:rPr sz="1650" b="0" i="0">
                <a:solidFill>
                  <a:srgbClr val="330066"/>
                </a:solidFill>
                <a:latin typeface="Courier New"/>
              </a:rPr>
              <a:t>OR</a:t>
            </a:r>
            <a:r>
              <a:rPr sz="1700" b="0" i="0">
                <a:solidFill>
                  <a:srgbClr val="1A1A1A"/>
                </a:solidFill>
                <a:latin typeface="Arial"/>
              </a:rPr>
              <a:t> group, with a line break if long.</a:t>
            </a:r>
          </a:p>
          <a:p>
            <a:pPr marL="228600" indent="-228600" algn="l">
              <a:spcAft>
                <a:spcPts val="1000"/>
              </a:spcAft>
              <a:buFont typeface="Arial"/>
              <a:buChar char="•"/>
            </a:pPr>
            <a:r>
              <a:rPr sz="1700" b="0" i="0">
                <a:solidFill>
                  <a:srgbClr val="1A1A1A"/>
                </a:solidFill>
                <a:latin typeface="Arial"/>
              </a:rPr>
              <a:t>List columns explicitly; avoid </a:t>
            </a:r>
            <a:r>
              <a:rPr sz="1650" b="0" i="0">
                <a:solidFill>
                  <a:srgbClr val="330066"/>
                </a:solidFill>
                <a:latin typeface="Courier New"/>
              </a:rPr>
              <a:t>SELECT *</a:t>
            </a:r>
            <a:r>
              <a:rPr sz="1700" b="0" i="0">
                <a:solidFill>
                  <a:srgbClr val="1A1A1A"/>
                </a:solidFill>
                <a:latin typeface="Arial"/>
              </a:rPr>
              <a:t> in saved queries.</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42 / 55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Style Rules for Shared Queries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Aliases with </a:t>
            </a:r>
            <a:r>
              <a:rPr sz="1650" b="0" i="0">
                <a:solidFill>
                  <a:srgbClr val="330066"/>
                </a:solidFill>
                <a:latin typeface="Courier New"/>
              </a:rPr>
              <a:t>AS</a:t>
            </a:r>
            <a:r>
              <a:rPr sz="1700" b="0" i="0">
                <a:solidFill>
                  <a:srgbClr val="1A1A1A"/>
                </a:solidFill>
                <a:latin typeface="Arial"/>
              </a:rPr>
              <a:t>, descriptive names.</a:t>
            </a:r>
          </a:p>
          <a:p>
            <a:pPr marL="228600" indent="-228600" algn="l">
              <a:spcAft>
                <a:spcPts val="1000"/>
              </a:spcAft>
              <a:buFont typeface="Arial"/>
              <a:buChar char="•"/>
            </a:pPr>
            <a:r>
              <a:rPr sz="1700" b="0" i="0">
                <a:solidFill>
                  <a:srgbClr val="1A1A1A"/>
                </a:solidFill>
                <a:latin typeface="Arial"/>
              </a:rPr>
              <a:t>Always </a:t>
            </a:r>
            <a:r>
              <a:rPr sz="1650" b="0" i="0">
                <a:solidFill>
                  <a:srgbClr val="330066"/>
                </a:solidFill>
                <a:latin typeface="Courier New"/>
              </a:rPr>
              <a:t>ORDER BY</a:t>
            </a:r>
            <a:r>
              <a:rPr sz="1700" b="0" i="0">
                <a:solidFill>
                  <a:srgbClr val="1A1A1A"/>
                </a:solidFill>
                <a:latin typeface="Arial"/>
              </a:rPr>
              <a:t> when order matters; add a unique tiebreaker.</a:t>
            </a:r>
          </a:p>
          <a:p>
            <a:pPr marL="228600" indent="-228600" algn="l">
              <a:spcAft>
                <a:spcPts val="1000"/>
              </a:spcAft>
              <a:buFont typeface="Arial"/>
              <a:buChar char="•"/>
            </a:pPr>
            <a:r>
              <a:rPr sz="1700" b="0" i="0">
                <a:solidFill>
                  <a:srgbClr val="1A1A1A"/>
                </a:solidFill>
                <a:latin typeface="Arial"/>
              </a:rPr>
              <a:t>Comment the intent, not the syntax: say what rule is checked and why.</a:t>
            </a:r>
          </a:p>
          <a:p>
            <a:pPr marL="228600" indent="-228600" algn="l">
              <a:spcAft>
                <a:spcPts val="1000"/>
              </a:spcAft>
              <a:buFont typeface="Arial"/>
              <a:buChar char="•"/>
            </a:pPr>
            <a:r>
              <a:rPr sz="1700" b="0" i="0">
                <a:solidFill>
                  <a:srgbClr val="1A1A1A"/>
                </a:solidFill>
                <a:latin typeface="Arial"/>
              </a:rPr>
              <a:t>End with a semicolon.</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43 / 55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 Model Query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Rounded Rectangle 3"/>
          <p:cNvSpPr/>
          <p:nvPr/>
        </p:nvSpPr>
        <p:spPr>
          <a:xfrm>
            <a:off x="609904" y="1783080"/>
            <a:ext cx="5852160" cy="1633728"/>
          </a:xfrm>
          <a:prstGeom prst="roundRect">
            <a:avLst>
              <a:gd name="adj" fmla="val 447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449824" cy="1341120"/>
          </a:xfrm>
          <a:prstGeom prst="rect">
            <a:avLst/>
          </a:prstGeom>
          <a:noFill/>
        </p:spPr>
        <p:txBody>
          <a:bodyPr wrap="square" lIns="0" tIns="0" rIns="0" bIns="0">
            <a:spAutoFit/>
          </a:bodyPr>
          <a:lstStyle/>
          <a:p>
            <a:pPr algn="l">
              <a:lnSpc>
                <a:spcPct val="100000"/>
              </a:lnSpc>
            </a:pPr>
            <a:r>
              <a:rPr sz="1100">
                <a:solidFill>
                  <a:srgbClr val="1A1A1A"/>
                </a:solidFill>
                <a:latin typeface="Courier New"/>
              </a:rPr>
              <a:t>-- Rule V-03: Orders must have a quantity of at least 1.</a:t>
            </a:r>
          </a:p>
          <a:p>
            <a:pPr algn="l">
              <a:lnSpc>
                <a:spcPct val="100000"/>
              </a:lnSpc>
            </a:pPr>
            <a:r>
              <a:rPr sz="1100">
                <a:solidFill>
                  <a:srgbClr val="1A1A1A"/>
                </a:solidFill>
                <a:latin typeface="Courier New"/>
              </a:rPr>
              <a:t>-- Expected result: 0 rows. Any row returned is a data defect.</a:t>
            </a:r>
          </a:p>
          <a:p>
            <a:pPr algn="l">
              <a:lnSpc>
                <a:spcPct val="100000"/>
              </a:lnSpc>
            </a:pPr>
            <a:r>
              <a:rPr sz="1100">
                <a:solidFill>
                  <a:srgbClr val="1A1A1A"/>
                </a:solidFill>
                <a:latin typeface="Courier New"/>
              </a:rPr>
              <a:t>SELECT order_id,</a:t>
            </a:r>
          </a:p>
          <a:p>
            <a:pPr algn="l">
              <a:lnSpc>
                <a:spcPct val="100000"/>
              </a:lnSpc>
            </a:pPr>
            <a:r>
              <a:rPr sz="1100">
                <a:solidFill>
                  <a:srgbClr val="1A1A1A"/>
                </a:solidFill>
                <a:latin typeface="Courier New"/>
              </a:rPr>
              <a:t>       customer_name,</a:t>
            </a:r>
          </a:p>
          <a:p>
            <a:pPr algn="l">
              <a:lnSpc>
                <a:spcPct val="100000"/>
              </a:lnSpc>
            </a:pPr>
            <a:r>
              <a:rPr sz="1100">
                <a:solidFill>
                  <a:srgbClr val="1A1A1A"/>
                </a:solidFill>
                <a:latin typeface="Courier New"/>
              </a:rPr>
              <a:t>       quantity</a:t>
            </a:r>
          </a:p>
          <a:p>
            <a:pPr algn="l">
              <a:lnSpc>
                <a:spcPct val="100000"/>
              </a:lnSpc>
            </a:pPr>
            <a:r>
              <a:rPr sz="1100">
                <a:solidFill>
                  <a:srgbClr val="1A1A1A"/>
                </a:solidFill>
                <a:latin typeface="Courier New"/>
              </a:rPr>
              <a:t>FROM orders</a:t>
            </a:r>
          </a:p>
          <a:p>
            <a:pPr algn="l">
              <a:lnSpc>
                <a:spcPct val="100000"/>
              </a:lnSpc>
            </a:pPr>
            <a:r>
              <a:rPr sz="1100">
                <a:solidFill>
                  <a:srgbClr val="1A1A1A"/>
                </a:solidFill>
                <a:latin typeface="Courier New"/>
              </a:rPr>
              <a:t>WHERE quantity &lt; 1</a:t>
            </a:r>
          </a:p>
          <a:p>
            <a:pPr algn="l">
              <a:lnSpc>
                <a:spcPct val="100000"/>
              </a:lnSpc>
            </a:pPr>
            <a:r>
              <a:rPr sz="1100">
                <a:solidFill>
                  <a:srgbClr val="1A1A1A"/>
                </a:solidFill>
                <a:latin typeface="Courier New"/>
              </a:rPr>
              <a:t>ORDER BY order_id;</a:t>
            </a:r>
          </a:p>
        </p:txBody>
      </p:sp>
      <p:sp>
        <p:nvSpPr>
          <p:cNvPr id="6" name="TextBox 5"/>
          <p:cNvSpPr txBox="1"/>
          <p:nvPr/>
        </p:nvSpPr>
        <p:spPr>
          <a:xfrm>
            <a:off x="6827824" y="1783080"/>
            <a:ext cx="4753965" cy="4361688"/>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Result: 2 rows (1007, 1011).</a:t>
            </a:r>
          </a:p>
          <a:p>
            <a:pPr marL="228600" indent="-228600" algn="l">
              <a:spcAft>
                <a:spcPts val="800"/>
              </a:spcAft>
              <a:buFont typeface="Arial"/>
              <a:buChar char="•"/>
            </a:pPr>
            <a:r>
              <a:rPr sz="1250" b="0" i="0">
                <a:solidFill>
                  <a:srgbClr val="1A1A1A"/>
                </a:solidFill>
                <a:latin typeface="Arial"/>
              </a:rPr>
              <a:t>Bad comment: </a:t>
            </a:r>
            <a:r>
              <a:rPr sz="1200" b="0" i="0">
                <a:solidFill>
                  <a:srgbClr val="330066"/>
                </a:solidFill>
                <a:latin typeface="Courier New"/>
              </a:rPr>
              <a:t>-- selects orders</a:t>
            </a:r>
            <a:r>
              <a:rPr sz="1250" b="0" i="0">
                <a:solidFill>
                  <a:srgbClr val="1A1A1A"/>
                </a:solidFill>
                <a:latin typeface="Arial"/>
              </a:rPr>
              <a:t> (obvious from the code).</a:t>
            </a:r>
          </a:p>
          <a:p>
            <a:pPr marL="228600" indent="-228600" algn="l">
              <a:spcAft>
                <a:spcPts val="800"/>
              </a:spcAft>
              <a:buFont typeface="Arial"/>
              <a:buChar char="•"/>
            </a:pPr>
            <a:r>
              <a:rPr sz="1250" b="0" i="0">
                <a:solidFill>
                  <a:srgbClr val="1A1A1A"/>
                </a:solidFill>
                <a:latin typeface="Arial"/>
              </a:rPr>
              <a:t>Good comment: </a:t>
            </a:r>
            <a:r>
              <a:rPr sz="1200" b="0" i="0">
                <a:solidFill>
                  <a:srgbClr val="330066"/>
                </a:solidFill>
                <a:latin typeface="Courier New"/>
              </a:rPr>
              <a:t>-- Rule V-03: quantity must be &gt;= 1 (spec section 4.2)</a:t>
            </a:r>
            <a:r>
              <a:rPr sz="1250" b="0" i="0">
                <a:solidFill>
                  <a:srgbClr val="1A1A1A"/>
                </a:solidFill>
                <a:latin typeface="Arial"/>
              </a:rPr>
              <a:t> (tells the reader why).</a:t>
            </a:r>
          </a:p>
          <a:p>
            <a:pPr marL="228600" indent="-228600" algn="l">
              <a:spcAft>
                <a:spcPts val="800"/>
              </a:spcAft>
              <a:buFont typeface="Arial"/>
              <a:buChar char="•"/>
            </a:pPr>
            <a:r>
              <a:rPr sz="1250" b="0" i="0">
                <a:solidFill>
                  <a:srgbClr val="1A1A1A"/>
                </a:solidFill>
                <a:latin typeface="Arial"/>
              </a:rPr>
              <a:t>A good header has the rule ID, a one-line description, the expected result, optionally author and date.</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44 / 55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Queries Are Code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Rounded Rectangle 3"/>
          <p:cNvSpPr/>
          <p:nvPr/>
        </p:nvSpPr>
        <p:spPr>
          <a:xfrm>
            <a:off x="609904"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Store</a:t>
            </a:r>
          </a:p>
          <a:p>
            <a:pPr algn="l">
              <a:lnSpc>
                <a:spcPct val="110000"/>
              </a:lnSpc>
              <a:spcAft>
                <a:spcPts val="600"/>
              </a:spcAft>
            </a:pPr>
            <a:r>
              <a:rPr sz="1400" b="0" i="0">
                <a:solidFill>
                  <a:srgbClr val="1A1A1A"/>
                </a:solidFill>
                <a:latin typeface="Arial"/>
              </a:rPr>
              <a:t>Each validation query in a </a:t>
            </a:r>
            <a:r>
              <a:rPr sz="1350" b="0" i="0">
                <a:solidFill>
                  <a:srgbClr val="330066"/>
                </a:solidFill>
                <a:latin typeface="Courier New"/>
              </a:rPr>
              <a:t>.sql</a:t>
            </a:r>
            <a:r>
              <a:rPr sz="1400" b="0" i="0">
                <a:solidFill>
                  <a:srgbClr val="1A1A1A"/>
                </a:solidFill>
                <a:latin typeface="Arial"/>
              </a:rPr>
              <a:t> file in the repository, for example </a:t>
            </a:r>
            <a:r>
              <a:rPr sz="1350" b="0" i="0">
                <a:solidFill>
                  <a:srgbClr val="330066"/>
                </a:solidFill>
                <a:latin typeface="Courier New"/>
              </a:rPr>
              <a:t>sql/validation/v03_quantity_positive.sql</a:t>
            </a:r>
            <a:r>
              <a:rPr sz="1400" b="0" i="0">
                <a:solidFill>
                  <a:srgbClr val="1A1A1A"/>
                </a:solidFill>
                <a:latin typeface="Arial"/>
              </a:rPr>
              <a:t>.</a:t>
            </a:r>
          </a:p>
        </p:txBody>
      </p:sp>
      <p:sp>
        <p:nvSpPr>
          <p:cNvPr id="6" name="Rounded Rectangle 5"/>
          <p:cNvSpPr/>
          <p:nvPr/>
        </p:nvSpPr>
        <p:spPr>
          <a:xfrm>
            <a:off x="4358640" y="1783080"/>
            <a:ext cx="3474415" cy="4361688"/>
          </a:xfrm>
          <a:prstGeom prst="roundRect">
            <a:avLst>
              <a:gd name="adj" fmla="val 2368"/>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7240"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Commit</a:t>
            </a:r>
          </a:p>
          <a:p>
            <a:pPr algn="l">
              <a:lnSpc>
                <a:spcPct val="110000"/>
              </a:lnSpc>
              <a:spcAft>
                <a:spcPts val="600"/>
              </a:spcAft>
            </a:pPr>
            <a:r>
              <a:rPr sz="1400" b="0" i="0">
                <a:solidFill>
                  <a:srgbClr val="1A1A1A"/>
                </a:solidFill>
                <a:latin typeface="Arial"/>
              </a:rPr>
              <a:t>With Git and meaningful messages.</a:t>
            </a:r>
          </a:p>
        </p:txBody>
      </p:sp>
      <p:sp>
        <p:nvSpPr>
          <p:cNvPr id="8" name="Rounded Rectangle 7"/>
          <p:cNvSpPr/>
          <p:nvPr/>
        </p:nvSpPr>
        <p:spPr>
          <a:xfrm>
            <a:off x="8107375"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35975"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Review</a:t>
            </a:r>
          </a:p>
          <a:p>
            <a:pPr algn="l">
              <a:lnSpc>
                <a:spcPct val="110000"/>
              </a:lnSpc>
              <a:spcAft>
                <a:spcPts val="600"/>
              </a:spcAft>
            </a:pPr>
            <a:r>
              <a:rPr sz="1400" b="0" i="0">
                <a:solidFill>
                  <a:srgbClr val="1A1A1A"/>
                </a:solidFill>
                <a:latin typeface="Arial"/>
              </a:rPr>
              <a:t>With pull requests.</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45 / 55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 Validation .sql File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Rounded Rectangle 3"/>
          <p:cNvSpPr/>
          <p:nvPr/>
        </p:nvSpPr>
        <p:spPr>
          <a:xfrm>
            <a:off x="609904" y="1783080"/>
            <a:ext cx="6035040" cy="1389888"/>
          </a:xfrm>
          <a:prstGeom prst="roundRect">
            <a:avLst>
              <a:gd name="adj" fmla="val 526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632703" cy="1097280"/>
          </a:xfrm>
          <a:prstGeom prst="rect">
            <a:avLst/>
          </a:prstGeom>
          <a:noFill/>
        </p:spPr>
        <p:txBody>
          <a:bodyPr wrap="square" lIns="0" tIns="0" rIns="0" bIns="0">
            <a:spAutoFit/>
          </a:bodyPr>
          <a:lstStyle/>
          <a:p>
            <a:pPr algn="l">
              <a:lnSpc>
                <a:spcPct val="100000"/>
              </a:lnSpc>
            </a:pPr>
            <a:r>
              <a:rPr sz="1200">
                <a:solidFill>
                  <a:srgbClr val="1A1A1A"/>
                </a:solidFill>
                <a:latin typeface="Courier New"/>
              </a:rPr>
              <a:t>-- File: sql/validation/v03_quantity_positive.sql</a:t>
            </a:r>
          </a:p>
          <a:p>
            <a:pPr algn="l">
              <a:lnSpc>
                <a:spcPct val="100000"/>
              </a:lnSpc>
            </a:pPr>
            <a:r>
              <a:rPr sz="1200">
                <a:solidFill>
                  <a:srgbClr val="1A1A1A"/>
                </a:solidFill>
                <a:latin typeface="Courier New"/>
              </a:rPr>
              <a:t>-- Rule V-03: quantity must be at least 1. Expected: 0 rows.</a:t>
            </a:r>
          </a:p>
          <a:p>
            <a:pPr algn="l">
              <a:lnSpc>
                <a:spcPct val="100000"/>
              </a:lnSpc>
            </a:pPr>
            <a:r>
              <a:rPr sz="1200">
                <a:solidFill>
                  <a:srgbClr val="1A1A1A"/>
                </a:solidFill>
                <a:latin typeface="Courier New"/>
              </a:rPr>
              <a:t>SELECT order_id, quantity</a:t>
            </a:r>
          </a:p>
          <a:p>
            <a:pPr algn="l">
              <a:lnSpc>
                <a:spcPct val="100000"/>
              </a:lnSpc>
            </a:pPr>
            <a:r>
              <a:rPr sz="1200">
                <a:solidFill>
                  <a:srgbClr val="1A1A1A"/>
                </a:solidFill>
                <a:latin typeface="Courier New"/>
              </a:rPr>
              <a:t>FROM orders</a:t>
            </a:r>
          </a:p>
          <a:p>
            <a:pPr algn="l">
              <a:lnSpc>
                <a:spcPct val="100000"/>
              </a:lnSpc>
            </a:pPr>
            <a:r>
              <a:rPr sz="1200">
                <a:solidFill>
                  <a:srgbClr val="1A1A1A"/>
                </a:solidFill>
                <a:latin typeface="Courier New"/>
              </a:rPr>
              <a:t>WHERE quantity &lt; 1</a:t>
            </a:r>
          </a:p>
          <a:p>
            <a:pPr algn="l">
              <a:lnSpc>
                <a:spcPct val="100000"/>
              </a:lnSpc>
            </a:pPr>
            <a:r>
              <a:rPr sz="1200">
                <a:solidFill>
                  <a:srgbClr val="1A1A1A"/>
                </a:solidFill>
                <a:latin typeface="Courier New"/>
              </a:rPr>
              <a:t>ORDER BY order_id;</a:t>
            </a:r>
          </a:p>
        </p:txBody>
      </p:sp>
      <p:sp>
        <p:nvSpPr>
          <p:cNvPr id="6" name="TextBox 5"/>
          <p:cNvSpPr txBox="1"/>
          <p:nvPr/>
        </p:nvSpPr>
        <p:spPr>
          <a:xfrm>
            <a:off x="7010704" y="1783080"/>
            <a:ext cx="457108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A query that lives only in your head or a chat window is lost when you close it.</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46 / 55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Running It From Python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Rounded Rectangle 3"/>
          <p:cNvSpPr/>
          <p:nvPr/>
        </p:nvSpPr>
        <p:spPr>
          <a:xfrm>
            <a:off x="609904" y="1783080"/>
            <a:ext cx="6949440" cy="2578608"/>
          </a:xfrm>
          <a:prstGeom prst="roundRect">
            <a:avLst>
              <a:gd name="adj" fmla="val 283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6547103" cy="22860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import sqlite3</a:t>
            </a:r>
          </a:p>
          <a:p>
            <a:pPr algn="l">
              <a:lnSpc>
                <a:spcPct val="100000"/>
              </a:lnSpc>
            </a:pPr>
            <a:r>
              <a:rPr sz="1000">
                <a:solidFill>
                  <a:srgbClr val="1A1A1A"/>
                </a:solidFill>
                <a:latin typeface="Courier New"/>
              </a:rPr>
              <a:t>from pathlib import Path</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def run_validation(db_path, sql_file):</a:t>
            </a:r>
          </a:p>
          <a:p>
            <a:pPr algn="l">
              <a:lnSpc>
                <a:spcPct val="100000"/>
              </a:lnSpc>
            </a:pPr>
            <a:r>
              <a:rPr sz="1000">
                <a:solidFill>
                  <a:srgbClr val="1A1A1A"/>
                </a:solidFill>
                <a:latin typeface="Courier New"/>
              </a:rPr>
              <a:t>    """Run a validation query and return the offending rows."""</a:t>
            </a:r>
          </a:p>
          <a:p>
            <a:pPr algn="l">
              <a:lnSpc>
                <a:spcPct val="100000"/>
              </a:lnSpc>
            </a:pPr>
            <a:r>
              <a:rPr sz="1000">
                <a:solidFill>
                  <a:srgbClr val="1A1A1A"/>
                </a:solidFill>
                <a:latin typeface="Courier New"/>
              </a:rPr>
              <a:t>    sql = Path(sql_file).read_text()</a:t>
            </a:r>
          </a:p>
          <a:p>
            <a:pPr algn="l">
              <a:lnSpc>
                <a:spcPct val="100000"/>
              </a:lnSpc>
            </a:pPr>
            <a:r>
              <a:rPr sz="1000">
                <a:solidFill>
                  <a:srgbClr val="1A1A1A"/>
                </a:solidFill>
                <a:latin typeface="Courier New"/>
              </a:rPr>
              <a:t>    conn = sqlite3.connect(db_path)</a:t>
            </a:r>
          </a:p>
          <a:p>
            <a:pPr algn="l">
              <a:lnSpc>
                <a:spcPct val="100000"/>
              </a:lnSpc>
            </a:pPr>
            <a:r>
              <a:rPr sz="1000">
                <a:solidFill>
                  <a:srgbClr val="1A1A1A"/>
                </a:solidFill>
                <a:latin typeface="Courier New"/>
              </a:rPr>
              <a:t>    try:</a:t>
            </a:r>
          </a:p>
          <a:p>
            <a:pPr algn="l">
              <a:lnSpc>
                <a:spcPct val="100000"/>
              </a:lnSpc>
            </a:pPr>
            <a:r>
              <a:rPr sz="1000">
                <a:solidFill>
                  <a:srgbClr val="1A1A1A"/>
                </a:solidFill>
                <a:latin typeface="Courier New"/>
              </a:rPr>
              <a:t>        return conn.execute(sql).fetchall()</a:t>
            </a:r>
          </a:p>
          <a:p>
            <a:pPr algn="l">
              <a:lnSpc>
                <a:spcPct val="100000"/>
              </a:lnSpc>
            </a:pPr>
            <a:r>
              <a:rPr sz="1000">
                <a:solidFill>
                  <a:srgbClr val="1A1A1A"/>
                </a:solidFill>
                <a:latin typeface="Courier New"/>
              </a:rPr>
              <a:t>    finally:</a:t>
            </a:r>
          </a:p>
          <a:p>
            <a:pPr algn="l">
              <a:lnSpc>
                <a:spcPct val="100000"/>
              </a:lnSpc>
            </a:pPr>
            <a:r>
              <a:rPr sz="1000">
                <a:solidFill>
                  <a:srgbClr val="1A1A1A"/>
                </a:solidFill>
                <a:latin typeface="Courier New"/>
              </a:rPr>
              <a:t>        conn.close()</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def test_quantity_is_positive():</a:t>
            </a:r>
          </a:p>
          <a:p>
            <a:pPr algn="l">
              <a:lnSpc>
                <a:spcPct val="100000"/>
              </a:lnSpc>
            </a:pPr>
            <a:r>
              <a:rPr sz="1000">
                <a:solidFill>
                  <a:srgbClr val="1A1A1A"/>
                </a:solidFill>
                <a:latin typeface="Courier New"/>
              </a:rPr>
              <a:t>    bad_rows = run_validation("shop.db", "sql/validation/v03_quantity_positive.sql")</a:t>
            </a:r>
          </a:p>
          <a:p>
            <a:pPr algn="l">
              <a:lnSpc>
                <a:spcPct val="100000"/>
              </a:lnSpc>
            </a:pPr>
            <a:r>
              <a:rPr sz="1000">
                <a:solidFill>
                  <a:srgbClr val="1A1A1A"/>
                </a:solidFill>
                <a:latin typeface="Courier New"/>
              </a:rPr>
              <a:t>    assert bad_rows == [], f"Rows with invalid quantity: {bad_rows}"</a:t>
            </a:r>
          </a:p>
        </p:txBody>
      </p:sp>
      <p:sp>
        <p:nvSpPr>
          <p:cNvPr id="6" name="TextBox 5"/>
          <p:cNvSpPr txBox="1"/>
          <p:nvPr/>
        </p:nvSpPr>
        <p:spPr>
          <a:xfrm>
            <a:off x="7925104" y="1783080"/>
            <a:ext cx="3656685" cy="4361688"/>
          </a:xfrm>
          <a:prstGeom prst="rect">
            <a:avLst/>
          </a:prstGeom>
          <a:noFill/>
        </p:spPr>
        <p:txBody>
          <a:bodyPr wrap="square" lIns="0" tIns="0" rIns="0" bIns="0">
            <a:spAutoFit/>
          </a:bodyPr>
          <a:lstStyle/>
          <a:p>
            <a:pPr marL="228600" indent="-228600" algn="l">
              <a:spcAft>
                <a:spcPts val="800"/>
              </a:spcAft>
              <a:buFont typeface="Arial"/>
              <a:buChar char="•"/>
            </a:pPr>
            <a:r>
              <a:rPr sz="1150" b="0" i="0">
                <a:solidFill>
                  <a:srgbClr val="330066"/>
                </a:solidFill>
                <a:latin typeface="Courier New"/>
              </a:rPr>
              <a:t>Path(...).read_text()</a:t>
            </a:r>
            <a:r>
              <a:rPr sz="1200" b="0" i="0">
                <a:solidFill>
                  <a:srgbClr val="1A1A1A"/>
                </a:solidFill>
                <a:latin typeface="Arial"/>
              </a:rPr>
              <a:t> loads the query.</a:t>
            </a:r>
          </a:p>
          <a:p>
            <a:pPr marL="228600" indent="-228600" algn="l">
              <a:spcAft>
                <a:spcPts val="800"/>
              </a:spcAft>
              <a:buFont typeface="Arial"/>
              <a:buChar char="•"/>
            </a:pPr>
            <a:r>
              <a:rPr sz="1150" b="0" i="0">
                <a:solidFill>
                  <a:srgbClr val="330066"/>
                </a:solidFill>
                <a:latin typeface="Courier New"/>
              </a:rPr>
              <a:t>fetchall()</a:t>
            </a:r>
            <a:r>
              <a:rPr sz="1200" b="0" i="0">
                <a:solidFill>
                  <a:srgbClr val="1A1A1A"/>
                </a:solidFill>
                <a:latin typeface="Arial"/>
              </a:rPr>
              <a:t> returns a list; empty means no violations.</a:t>
            </a:r>
          </a:p>
          <a:p>
            <a:pPr marL="228600" indent="-228600" algn="l">
              <a:spcAft>
                <a:spcPts val="800"/>
              </a:spcAft>
              <a:buFont typeface="Arial"/>
              <a:buChar char="•"/>
            </a:pPr>
            <a:r>
              <a:rPr sz="1150" b="0" i="0">
                <a:solidFill>
                  <a:srgbClr val="330066"/>
                </a:solidFill>
                <a:latin typeface="Courier New"/>
              </a:rPr>
              <a:t>try / finally</a:t>
            </a:r>
            <a:r>
              <a:rPr sz="1200" b="0" i="0">
                <a:solidFill>
                  <a:srgbClr val="1A1A1A"/>
                </a:solidFill>
                <a:latin typeface="Arial"/>
              </a:rPr>
              <a:t> closes the connection even on failure.</a:t>
            </a:r>
          </a:p>
          <a:p>
            <a:pPr marL="228600" indent="-228600" algn="l">
              <a:spcAft>
                <a:spcPts val="800"/>
              </a:spcAft>
              <a:buFont typeface="Arial"/>
              <a:buChar char="•"/>
            </a:pPr>
            <a:r>
              <a:rPr sz="1200" b="0" i="0">
                <a:solidFill>
                  <a:srgbClr val="1A1A1A"/>
                </a:solidFill>
                <a:latin typeface="Arial"/>
              </a:rPr>
              <a:t>The assertion message includes the offending rows.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47 / 55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What the Python Test Shows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650" b="0" i="0">
                <a:solidFill>
                  <a:srgbClr val="330066"/>
                </a:solidFill>
                <a:latin typeface="Courier New"/>
              </a:rPr>
              <a:t>pathlib.Path</a:t>
            </a:r>
            <a:r>
              <a:rPr sz="1700" b="0" i="0">
                <a:solidFill>
                  <a:srgbClr val="1A1A1A"/>
                </a:solidFill>
                <a:latin typeface="Arial"/>
              </a:rPr>
              <a:t> is a convenient built-in way to read files (file reading was Tuesday).</a:t>
            </a:r>
          </a:p>
          <a:p>
            <a:pPr marL="228600" indent="-228600" algn="l">
              <a:spcAft>
                <a:spcPts val="1000"/>
              </a:spcAft>
              <a:buFont typeface="Arial"/>
              <a:buChar char="•"/>
            </a:pPr>
            <a:r>
              <a:rPr sz="1650" b="0" i="0">
                <a:solidFill>
                  <a:srgbClr val="330066"/>
                </a:solidFill>
                <a:latin typeface="Courier New"/>
              </a:rPr>
              <a:t>try / finally</a:t>
            </a:r>
            <a:r>
              <a:rPr sz="1700" b="0" i="0">
                <a:solidFill>
                  <a:srgbClr val="1A1A1A"/>
                </a:solidFill>
                <a:latin typeface="Arial"/>
              </a:rPr>
              <a:t> is the same idea as the context managers from Tuesday.</a:t>
            </a:r>
          </a:p>
          <a:p>
            <a:pPr marL="228600" indent="-228600" algn="l">
              <a:spcAft>
                <a:spcPts val="1000"/>
              </a:spcAft>
              <a:buFont typeface="Arial"/>
              <a:buChar char="•"/>
            </a:pPr>
            <a:r>
              <a:rPr sz="1700" b="0" i="0">
                <a:solidFill>
                  <a:srgbClr val="1A1A1A"/>
                </a:solidFill>
                <a:latin typeface="Arial"/>
              </a:rPr>
              <a:t>A helpful assertion message tells you which data is bad, as in unit tests.</a:t>
            </a:r>
          </a:p>
          <a:p>
            <a:pPr marL="228600" indent="-228600" algn="l">
              <a:spcAft>
                <a:spcPts val="1000"/>
              </a:spcAft>
              <a:buFont typeface="Arial"/>
              <a:buChar char="•"/>
            </a:pPr>
            <a:r>
              <a:rPr sz="1700" b="0" i="0">
                <a:solidFill>
                  <a:srgbClr val="1A1A1A"/>
                </a:solidFill>
                <a:latin typeface="Arial"/>
              </a:rPr>
              <a:t>With our sample data this test would fail, correctly, because orders 1007 and 1011 violate the rule. That is the validation working as designed.</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48 / 55</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Construction Checklist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Can I say what the query returns in one English sentence?</a:t>
            </a:r>
          </a:p>
          <a:p>
            <a:pPr marL="228600" indent="-228600" algn="l">
              <a:spcAft>
                <a:spcPts val="1000"/>
              </a:spcAft>
              <a:buFont typeface="Arial"/>
              <a:buChar char="•"/>
            </a:pPr>
            <a:r>
              <a:rPr sz="1700" b="0" i="0">
                <a:solidFill>
                  <a:srgbClr val="1A1A1A"/>
                </a:solidFill>
                <a:latin typeface="Arial"/>
              </a:rPr>
              <a:t>Did I identify the table and columns?</a:t>
            </a:r>
          </a:p>
          <a:p>
            <a:pPr marL="228600" indent="-228600" algn="l">
              <a:spcAft>
                <a:spcPts val="1000"/>
              </a:spcAft>
              <a:buFont typeface="Arial"/>
              <a:buChar char="•"/>
            </a:pPr>
            <a:r>
              <a:rPr sz="1700" b="0" i="0">
                <a:solidFill>
                  <a:srgbClr val="1A1A1A"/>
                </a:solidFill>
                <a:latin typeface="Arial"/>
              </a:rPr>
              <a:t>Do I know whether I expect zero, one or many rows?</a:t>
            </a:r>
          </a:p>
          <a:p>
            <a:pPr marL="228600" indent="-228600" algn="l">
              <a:spcAft>
                <a:spcPts val="1000"/>
              </a:spcAft>
              <a:buFont typeface="Arial"/>
              <a:buChar char="•"/>
            </a:pPr>
            <a:r>
              <a:rPr sz="1700" b="0" i="0">
                <a:solidFill>
                  <a:srgbClr val="1A1A1A"/>
                </a:solidFill>
                <a:latin typeface="Arial"/>
              </a:rPr>
              <a:t>Are text values in single quotes, numbers bare, dates ISO?</a:t>
            </a:r>
          </a:p>
          <a:p>
            <a:pPr marL="228600" indent="-228600" algn="l">
              <a:spcAft>
                <a:spcPts val="1000"/>
              </a:spcAft>
              <a:buFont typeface="Arial"/>
              <a:buChar char="•"/>
            </a:pPr>
            <a:r>
              <a:rPr sz="1700" b="0" i="0">
                <a:solidFill>
                  <a:srgbClr val="1A1A1A"/>
                </a:solidFill>
                <a:latin typeface="Arial"/>
              </a:rPr>
              <a:t>Did I use </a:t>
            </a:r>
            <a:r>
              <a:rPr sz="1650" b="0" i="0">
                <a:solidFill>
                  <a:srgbClr val="330066"/>
                </a:solidFill>
                <a:latin typeface="Courier New"/>
              </a:rPr>
              <a:t>IS NULL</a:t>
            </a:r>
            <a:r>
              <a:rPr sz="1700" b="0" i="0">
                <a:solidFill>
                  <a:srgbClr val="1A1A1A"/>
                </a:solidFill>
                <a:latin typeface="Arial"/>
              </a:rPr>
              <a:t>, not </a:t>
            </a:r>
            <a:r>
              <a:rPr sz="1650" b="0" i="0">
                <a:solidFill>
                  <a:srgbClr val="330066"/>
                </a:solidFill>
                <a:latin typeface="Courier New"/>
              </a:rPr>
              <a:t>= NULL</a:t>
            </a:r>
            <a:r>
              <a:rPr sz="1700" b="0" i="0">
                <a:solidFill>
                  <a:srgbClr val="1A1A1A"/>
                </a:solidFill>
                <a:latin typeface="Arial"/>
              </a:rPr>
              <a:t>?</a:t>
            </a:r>
          </a:p>
          <a:p>
            <a:pPr marL="228600" indent="-228600" algn="l">
              <a:spcAft>
                <a:spcPts val="1000"/>
              </a:spcAft>
              <a:buFont typeface="Arial"/>
              <a:buChar char="•"/>
            </a:pPr>
            <a:r>
              <a:rPr sz="1700" b="0" i="0">
                <a:solidFill>
                  <a:srgbClr val="1A1A1A"/>
                </a:solidFill>
                <a:latin typeface="Arial"/>
              </a:rPr>
              <a:t>Did I think about NULLs with </a:t>
            </a:r>
            <a:r>
              <a:rPr sz="1650" b="0" i="0">
                <a:solidFill>
                  <a:srgbClr val="330066"/>
                </a:solidFill>
                <a:latin typeface="Courier New"/>
              </a:rPr>
              <a:t>&lt;&gt;</a:t>
            </a:r>
            <a:r>
              <a:rPr sz="1700" b="0" i="0">
                <a:solidFill>
                  <a:srgbClr val="1A1A1A"/>
                </a:solidFill>
                <a:latin typeface="Arial"/>
              </a:rPr>
              <a:t> or </a:t>
            </a:r>
            <a:r>
              <a:rPr sz="1650" b="0" i="0">
                <a:solidFill>
                  <a:srgbClr val="330066"/>
                </a:solidFill>
                <a:latin typeface="Courier New"/>
              </a:rPr>
              <a:t>NOT IN</a:t>
            </a:r>
            <a:r>
              <a:rPr sz="1700" b="0" i="0">
                <a:solidFill>
                  <a:srgbClr val="1A1A1A"/>
                </a:solidFill>
                <a:latin typeface="Arial"/>
              </a:rPr>
              <a:t>?</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49 / 55</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Construction Checklist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Did I think about upper/lower case and spaces in text comparisons?</a:t>
            </a:r>
          </a:p>
          <a:p>
            <a:pPr marL="228600" indent="-228600" algn="l">
              <a:spcAft>
                <a:spcPts val="1000"/>
              </a:spcAft>
              <a:buFont typeface="Arial"/>
              <a:buChar char="•"/>
            </a:pPr>
            <a:r>
              <a:rPr sz="1700" b="0" i="0">
                <a:solidFill>
                  <a:srgbClr val="1A1A1A"/>
                </a:solidFill>
                <a:latin typeface="Arial"/>
              </a:rPr>
              <a:t>Did I add parentheses around mixed </a:t>
            </a:r>
            <a:r>
              <a:rPr sz="1650" b="0" i="0">
                <a:solidFill>
                  <a:srgbClr val="330066"/>
                </a:solidFill>
                <a:latin typeface="Courier New"/>
              </a:rPr>
              <a:t>AND</a:t>
            </a:r>
            <a:r>
              <a:rPr sz="1700" b="0" i="0">
                <a:solidFill>
                  <a:srgbClr val="1A1A1A"/>
                </a:solidFill>
                <a:latin typeface="Arial"/>
              </a:rPr>
              <a:t> / </a:t>
            </a:r>
            <a:r>
              <a:rPr sz="1650" b="0" i="0">
                <a:solidFill>
                  <a:srgbClr val="330066"/>
                </a:solidFill>
                <a:latin typeface="Courier New"/>
              </a:rPr>
              <a:t>OR</a:t>
            </a:r>
            <a:r>
              <a:rPr sz="1700" b="0" i="0">
                <a:solidFill>
                  <a:srgbClr val="1A1A1A"/>
                </a:solidFill>
                <a:latin typeface="Arial"/>
              </a:rPr>
              <a:t>?</a:t>
            </a:r>
          </a:p>
          <a:p>
            <a:pPr marL="228600" indent="-228600" algn="l">
              <a:spcAft>
                <a:spcPts val="1000"/>
              </a:spcAft>
              <a:buFont typeface="Arial"/>
              <a:buChar char="•"/>
            </a:pPr>
            <a:r>
              <a:rPr sz="1700" b="0" i="0">
                <a:solidFill>
                  <a:srgbClr val="1A1A1A"/>
                </a:solidFill>
                <a:latin typeface="Arial"/>
              </a:rPr>
              <a:t>If I used </a:t>
            </a:r>
            <a:r>
              <a:rPr sz="1650" b="0" i="0">
                <a:solidFill>
                  <a:srgbClr val="330066"/>
                </a:solidFill>
                <a:latin typeface="Courier New"/>
              </a:rPr>
              <a:t>LIMIT</a:t>
            </a:r>
            <a:r>
              <a:rPr sz="1700" b="0" i="0">
                <a:solidFill>
                  <a:srgbClr val="1A1A1A"/>
                </a:solidFill>
                <a:latin typeface="Arial"/>
              </a:rPr>
              <a:t>, did I also use </a:t>
            </a:r>
            <a:r>
              <a:rPr sz="1650" b="0" i="0">
                <a:solidFill>
                  <a:srgbClr val="330066"/>
                </a:solidFill>
                <a:latin typeface="Courier New"/>
              </a:rPr>
              <a:t>ORDER BY</a:t>
            </a:r>
            <a:r>
              <a:rPr sz="1700" b="0" i="0">
                <a:solidFill>
                  <a:srgbClr val="1A1A1A"/>
                </a:solidFill>
                <a:latin typeface="Arial"/>
              </a:rPr>
              <a:t> with a tiebreaker?</a:t>
            </a:r>
          </a:p>
          <a:p>
            <a:pPr marL="228600" indent="-228600" algn="l">
              <a:spcAft>
                <a:spcPts val="1000"/>
              </a:spcAft>
              <a:buFont typeface="Arial"/>
              <a:buChar char="•"/>
            </a:pPr>
            <a:r>
              <a:rPr sz="1700" b="0" i="0">
                <a:solidFill>
                  <a:srgbClr val="1A1A1A"/>
                </a:solidFill>
                <a:latin typeface="Arial"/>
              </a:rPr>
              <a:t>Did I build and run it incrementally?</a:t>
            </a:r>
          </a:p>
          <a:p>
            <a:pPr marL="228600" indent="-228600" algn="l">
              <a:spcAft>
                <a:spcPts val="1000"/>
              </a:spcAft>
              <a:buFont typeface="Arial"/>
              <a:buChar char="•"/>
            </a:pPr>
            <a:r>
              <a:rPr sz="1700" b="0" i="0">
                <a:solidFill>
                  <a:srgbClr val="1A1A1A"/>
                </a:solidFill>
                <a:latin typeface="Arial"/>
              </a:rPr>
              <a:t>Did I verify at least one row or the row count by hand?</a:t>
            </a:r>
          </a:p>
          <a:p>
            <a:pPr marL="228600" indent="-228600" algn="l">
              <a:spcAft>
                <a:spcPts val="1000"/>
              </a:spcAft>
              <a:buFont typeface="Arial"/>
              <a:buChar char="•"/>
            </a:pPr>
            <a:r>
              <a:rPr sz="1700" b="0" i="0">
                <a:solidFill>
                  <a:srgbClr val="1A1A1A"/>
                </a:solidFill>
                <a:latin typeface="Arial"/>
              </a:rPr>
              <a:t>Is it formatted and commented?</a:t>
            </a:r>
          </a:p>
          <a:p>
            <a:pPr marL="228600" indent="-228600" algn="l">
              <a:spcAft>
                <a:spcPts val="1000"/>
              </a:spcAft>
              <a:buFont typeface="Arial"/>
              <a:buChar char="•"/>
            </a:pPr>
            <a:r>
              <a:rPr sz="1700" b="0" i="0">
                <a:solidFill>
                  <a:srgbClr val="1A1A1A"/>
                </a:solidFill>
                <a:latin typeface="Arial"/>
              </a:rPr>
              <a:t>Does it avoid anything unavailable in my dialect?</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50 / 55</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Dialect Considerations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graphicFrame>
        <p:nvGraphicFramePr>
          <p:cNvPr id="4" name="Table 3"/>
          <p:cNvGraphicFramePr>
            <a:graphicFrameLocks noGrp="1"/>
          </p:cNvGraphicFramePr>
          <p:nvPr/>
        </p:nvGraphicFramePr>
        <p:xfrm>
          <a:off x="609904" y="1783080"/>
          <a:ext cx="10971884" cy="2306574"/>
        </p:xfrm>
        <a:graphic>
          <a:graphicData uri="http://schemas.openxmlformats.org/drawingml/2006/table">
            <a:tbl>
              <a:tblPr/>
              <a:tblGrid>
                <a:gridCol w="3072127">
                  <a:extLst>
                    <a:ext uri="{9D8B030D-6E8A-4147-A177-3AD203B41FA5}">
                      <a16:colId xmlns:a16="http://schemas.microsoft.com/office/drawing/2014/main" val="20000"/>
                    </a:ext>
                  </a:extLst>
                </a:gridCol>
                <a:gridCol w="7899757">
                  <a:extLst>
                    <a:ext uri="{9D8B030D-6E8A-4147-A177-3AD203B41FA5}">
                      <a16:colId xmlns:a16="http://schemas.microsoft.com/office/drawing/2014/main" val="20001"/>
                    </a:ext>
                  </a:extLst>
                </a:gridCol>
              </a:tblGrid>
              <a:tr h="384048">
                <a:tc>
                  <a:txBody>
                    <a:bodyPr/>
                    <a:lstStyle/>
                    <a:p>
                      <a:r>
                        <a:rPr sz="1350" b="1">
                          <a:solidFill>
                            <a:srgbClr val="FFFFFF"/>
                          </a:solidFill>
                          <a:latin typeface="Arial"/>
                        </a:rPr>
                        <a:t>Concern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50" b="1">
                          <a:solidFill>
                            <a:srgbClr val="FFFFFF"/>
                          </a:solidFill>
                          <a:latin typeface="Arial"/>
                        </a:rPr>
                        <a:t>Portable approach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69189">
                <a:tc>
                  <a:txBody>
                    <a:bodyPr/>
                    <a:lstStyle/>
                    <a:p>
                      <a:r>
                        <a:rPr sz="1350" b="0">
                          <a:solidFill>
                            <a:srgbClr val="1A1A1A"/>
                          </a:solidFill>
                          <a:latin typeface="Arial"/>
                        </a:rPr>
                        <a:t>Limiting rows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i="0">
                          <a:solidFill>
                            <a:srgbClr val="1A1A1A"/>
                          </a:solidFill>
                          <a:latin typeface="Arial"/>
                        </a:rPr>
                        <a:t>Know all three: </a:t>
                      </a:r>
                      <a:r>
                        <a:rPr sz="1300" b="0" i="0">
                          <a:solidFill>
                            <a:srgbClr val="330066"/>
                          </a:solidFill>
                          <a:latin typeface="Courier New"/>
                        </a:rPr>
                        <a:t>LIMIT</a:t>
                      </a:r>
                      <a:r>
                        <a:rPr sz="1350" b="0" i="0">
                          <a:solidFill>
                            <a:srgbClr val="1A1A1A"/>
                          </a:solidFill>
                          <a:latin typeface="Arial"/>
                        </a:rPr>
                        <a:t>, </a:t>
                      </a:r>
                      <a:r>
                        <a:rPr sz="1300" b="0" i="0">
                          <a:solidFill>
                            <a:srgbClr val="330066"/>
                          </a:solidFill>
                          <a:latin typeface="Courier New"/>
                        </a:rPr>
                        <a:t>TOP</a:t>
                      </a:r>
                      <a:r>
                        <a:rPr sz="1350" b="0" i="0">
                          <a:solidFill>
                            <a:srgbClr val="1A1A1A"/>
                          </a:solidFill>
                          <a:latin typeface="Arial"/>
                        </a:rPr>
                        <a:t>, </a:t>
                      </a:r>
                      <a:r>
                        <a:rPr sz="1300" b="0" i="0">
                          <a:solidFill>
                            <a:srgbClr val="330066"/>
                          </a:solidFill>
                          <a:latin typeface="Courier New"/>
                        </a:rPr>
                        <a:t>FETCH FIRST</a:t>
                      </a:r>
                      <a:r>
                        <a:rPr sz="1350" b="0" i="0">
                          <a:solidFill>
                            <a:srgbClr val="1A1A1A"/>
                          </a:solidFill>
                          <a:latin typeface="Arial"/>
                        </a:rPr>
                        <a:t>. Ask which engine the project uses.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592074">
                <a:tc>
                  <a:txBody>
                    <a:bodyPr/>
                    <a:lstStyle/>
                    <a:p>
                      <a:r>
                        <a:rPr sz="1350" b="0">
                          <a:solidFill>
                            <a:srgbClr val="1A1A1A"/>
                          </a:solidFill>
                          <a:latin typeface="Arial"/>
                        </a:rPr>
                        <a:t>Case-insensitive text matching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i="0">
                          <a:solidFill>
                            <a:srgbClr val="330066"/>
                          </a:solidFill>
                          <a:latin typeface="Courier New"/>
                        </a:rPr>
                        <a:t>UPPER(col) = 'VALUE'</a:t>
                      </a:r>
                      <a:r>
                        <a:rPr sz="1350" b="0" i="0">
                          <a:solidFill>
                            <a:srgbClr val="1A1A1A"/>
                          </a:solidFill>
                          <a:latin typeface="Arial"/>
                        </a:rPr>
                        <a:t> or </a:t>
                      </a:r>
                      <a:r>
                        <a:rPr sz="1300" b="0" i="0">
                          <a:solidFill>
                            <a:srgbClr val="330066"/>
                          </a:solidFill>
                          <a:latin typeface="Courier New"/>
                        </a:rPr>
                        <a:t>LOWER(...)</a:t>
                      </a:r>
                      <a:r>
                        <a:rPr sz="1350" b="0" i="0">
                          <a:solidFill>
                            <a:srgbClr val="1A1A1A"/>
                          </a:solidFill>
                          <a:latin typeface="Arial"/>
                        </a:rPr>
                        <a:t>; works everywhere.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592074">
                <a:tc>
                  <a:txBody>
                    <a:bodyPr/>
                    <a:lstStyle/>
                    <a:p>
                      <a:r>
                        <a:rPr sz="1350" b="0">
                          <a:solidFill>
                            <a:srgbClr val="1A1A1A"/>
                          </a:solidFill>
                          <a:latin typeface="Arial"/>
                        </a:rPr>
                        <a:t>Concatenation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330066"/>
                          </a:solidFill>
                          <a:latin typeface="Courier New"/>
                        </a:rPr>
                        <a:t>CONCAT()</a:t>
                      </a:r>
                      <a:r>
                        <a:rPr sz="1350" b="0" i="0">
                          <a:solidFill>
                            <a:srgbClr val="1A1A1A"/>
                          </a:solidFill>
                          <a:latin typeface="Arial"/>
                        </a:rPr>
                        <a:t> exists in MySQL, PostgreSQL, SQL Server; </a:t>
                      </a:r>
                      <a:r>
                        <a:rPr sz="1300" b="0" i="0">
                          <a:solidFill>
                            <a:srgbClr val="330066"/>
                          </a:solidFill>
                          <a:latin typeface="Courier New"/>
                        </a:rPr>
                        <a:t>||</a:t>
                      </a:r>
                      <a:r>
                        <a:rPr sz="1350" b="0" i="0">
                          <a:solidFill>
                            <a:srgbClr val="1A1A1A"/>
                          </a:solidFill>
                          <a:latin typeface="Arial"/>
                        </a:rPr>
                        <a:t> in SQLite, PostgreSQL, Oracle.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69189">
                <a:tc>
                  <a:txBody>
                    <a:bodyPr/>
                    <a:lstStyle/>
                    <a:p>
                      <a:r>
                        <a:rPr sz="1350" b="0">
                          <a:solidFill>
                            <a:srgbClr val="1A1A1A"/>
                          </a:solidFill>
                          <a:latin typeface="Arial"/>
                        </a:rPr>
                        <a:t>Dates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i="0">
                          <a:solidFill>
                            <a:srgbClr val="1A1A1A"/>
                          </a:solidFill>
                          <a:latin typeface="Arial"/>
                        </a:rPr>
                        <a:t>ISO </a:t>
                      </a:r>
                      <a:r>
                        <a:rPr sz="1300" b="0" i="0">
                          <a:solidFill>
                            <a:srgbClr val="330066"/>
                          </a:solidFill>
                          <a:latin typeface="Courier New"/>
                        </a:rPr>
                        <a:t>'YYYY-MM-DD'</a:t>
                      </a:r>
                      <a:r>
                        <a:rPr sz="1350" b="0" i="0">
                          <a:solidFill>
                            <a:srgbClr val="1A1A1A"/>
                          </a:solidFill>
                          <a:latin typeface="Arial"/>
                        </a:rPr>
                        <a:t> literals work almost everywhere; use half-open ranges.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51 / 55</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Dialect Considerations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graphicFrame>
        <p:nvGraphicFramePr>
          <p:cNvPr id="4" name="Table 3"/>
          <p:cNvGraphicFramePr>
            <a:graphicFrameLocks noGrp="1"/>
          </p:cNvGraphicFramePr>
          <p:nvPr/>
        </p:nvGraphicFramePr>
        <p:xfrm>
          <a:off x="609904" y="1783080"/>
          <a:ext cx="10971884" cy="1860804"/>
        </p:xfrm>
        <a:graphic>
          <a:graphicData uri="http://schemas.openxmlformats.org/drawingml/2006/table">
            <a:tbl>
              <a:tblPr/>
              <a:tblGrid>
                <a:gridCol w="3072127">
                  <a:extLst>
                    <a:ext uri="{9D8B030D-6E8A-4147-A177-3AD203B41FA5}">
                      <a16:colId xmlns:a16="http://schemas.microsoft.com/office/drawing/2014/main" val="20000"/>
                    </a:ext>
                  </a:extLst>
                </a:gridCol>
                <a:gridCol w="7899757">
                  <a:extLst>
                    <a:ext uri="{9D8B030D-6E8A-4147-A177-3AD203B41FA5}">
                      <a16:colId xmlns:a16="http://schemas.microsoft.com/office/drawing/2014/main" val="20001"/>
                    </a:ext>
                  </a:extLst>
                </a:gridCol>
              </a:tblGrid>
              <a:tr h="384048">
                <a:tc>
                  <a:txBody>
                    <a:bodyPr/>
                    <a:lstStyle/>
                    <a:p>
                      <a:r>
                        <a:rPr sz="1350" b="1">
                          <a:solidFill>
                            <a:srgbClr val="FFFFFF"/>
                          </a:solidFill>
                          <a:latin typeface="Arial"/>
                        </a:rPr>
                        <a:t>Concern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50" b="1">
                          <a:solidFill>
                            <a:srgbClr val="FFFFFF"/>
                          </a:solidFill>
                          <a:latin typeface="Arial"/>
                        </a:rPr>
                        <a:t>Portable approach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69189">
                <a:tc>
                  <a:txBody>
                    <a:bodyPr/>
                    <a:lstStyle/>
                    <a:p>
                      <a:r>
                        <a:rPr sz="1350" b="0">
                          <a:solidFill>
                            <a:srgbClr val="1A1A1A"/>
                          </a:solidFill>
                          <a:latin typeface="Arial"/>
                        </a:rPr>
                        <a:t>String length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330066"/>
                          </a:solidFill>
                          <a:latin typeface="Courier New"/>
                        </a:rPr>
                        <a:t>LENGTH()</a:t>
                      </a:r>
                      <a:r>
                        <a:rPr sz="1350" b="0" i="0">
                          <a:solidFill>
                            <a:srgbClr val="1A1A1A"/>
                          </a:solidFill>
                          <a:latin typeface="Arial"/>
                        </a:rPr>
                        <a:t> (most) vs </a:t>
                      </a:r>
                      <a:r>
                        <a:rPr sz="1300" b="0" i="0">
                          <a:solidFill>
                            <a:srgbClr val="330066"/>
                          </a:solidFill>
                          <a:latin typeface="Courier New"/>
                        </a:rPr>
                        <a:t>LEN()</a:t>
                      </a:r>
                      <a:r>
                        <a:rPr sz="1350" b="0" i="0">
                          <a:solidFill>
                            <a:srgbClr val="1A1A1A"/>
                          </a:solidFill>
                          <a:latin typeface="Arial"/>
                        </a:rPr>
                        <a:t> (SQL Server).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69189">
                <a:tc>
                  <a:txBody>
                    <a:bodyPr/>
                    <a:lstStyle/>
                    <a:p>
                      <a:r>
                        <a:rPr sz="1350" b="0">
                          <a:solidFill>
                            <a:srgbClr val="1A1A1A"/>
                          </a:solidFill>
                          <a:latin typeface="Arial"/>
                        </a:rPr>
                        <a:t>NULL ordering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i="0">
                          <a:solidFill>
                            <a:srgbClr val="1A1A1A"/>
                          </a:solidFill>
                          <a:latin typeface="Arial"/>
                        </a:rPr>
                        <a:t>Add an explicit tiebreaker or </a:t>
                      </a:r>
                      <a:r>
                        <a:rPr sz="1300" b="0" i="0">
                          <a:solidFill>
                            <a:srgbClr val="330066"/>
                          </a:solidFill>
                          <a:latin typeface="Courier New"/>
                        </a:rPr>
                        <a:t>NULLS FIRST/LAST</a:t>
                      </a:r>
                      <a:r>
                        <a:rPr sz="1350" b="0" i="0">
                          <a:solidFill>
                            <a:srgbClr val="1A1A1A"/>
                          </a:solidFill>
                          <a:latin typeface="Arial"/>
                        </a:rPr>
                        <a:t> where supported.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69189">
                <a:tc>
                  <a:txBody>
                    <a:bodyPr/>
                    <a:lstStyle/>
                    <a:p>
                      <a:r>
                        <a:rPr sz="1350" b="0">
                          <a:solidFill>
                            <a:srgbClr val="1A1A1A"/>
                          </a:solidFill>
                          <a:latin typeface="Arial"/>
                        </a:rPr>
                        <a:t>Identifier quoting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a:solidFill>
                            <a:srgbClr val="1A1A1A"/>
                          </a:solidFill>
                          <a:latin typeface="Arial"/>
                        </a:rPr>
                        <a:t>Avoid needing it: use plain snake_case names.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69189">
                <a:tc>
                  <a:txBody>
                    <a:bodyPr/>
                    <a:lstStyle/>
                    <a:p>
                      <a:r>
                        <a:rPr sz="1350" b="0">
                          <a:solidFill>
                            <a:srgbClr val="1A1A1A"/>
                          </a:solidFill>
                          <a:latin typeface="Arial"/>
                        </a:rPr>
                        <a:t>Statement terminator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i="0">
                          <a:solidFill>
                            <a:srgbClr val="1A1A1A"/>
                          </a:solidFill>
                          <a:latin typeface="Arial"/>
                        </a:rPr>
                        <a:t>End with </a:t>
                      </a:r>
                      <a:r>
                        <a:rPr sz="1300" b="0" i="0">
                          <a:solidFill>
                            <a:srgbClr val="330066"/>
                          </a:solidFill>
                          <a:latin typeface="Courier New"/>
                        </a:rPr>
                        <a:t>;</a:t>
                      </a:r>
                      <a:r>
                        <a:rPr sz="1350" b="0" i="0">
                          <a:solidFill>
                            <a:srgbClr val="1A1A1A"/>
                          </a:solidFill>
                          <a:latin typeface="Arial"/>
                        </a:rPr>
                        <a:t> (SQL Server tolerates omission in most cases but not always).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609904" y="5138927"/>
            <a:ext cx="10971885" cy="914400"/>
          </a:xfrm>
          <a:prstGeom prst="roundRect">
            <a:avLst>
              <a:gd name="adj" fmla="val 9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8504" y="5276088"/>
            <a:ext cx="10514685" cy="64008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COMMON SUBSET</a:t>
            </a:r>
          </a:p>
          <a:p>
            <a:pPr algn="l">
              <a:lnSpc>
                <a:spcPct val="110000"/>
              </a:lnSpc>
              <a:spcAft>
                <a:spcPts val="600"/>
              </a:spcAft>
            </a:pPr>
            <a:r>
              <a:rPr sz="1400" b="0" i="0">
                <a:solidFill>
                  <a:srgbClr val="1A1A1A"/>
                </a:solidFill>
                <a:latin typeface="Arial"/>
              </a:rPr>
              <a:t>If a team uses more than one database product (for example SQLite locally and PostgreSQL in CI), write for the common subset and test on both.</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52 / 55</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Summary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56231"/>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Writing SQL is a process: understand, locate, choose columns, filter, order and limit, run, verify, tidy.</a:t>
            </a:r>
          </a:p>
        </p:txBody>
      </p:sp>
      <p:sp>
        <p:nvSpPr>
          <p:cNvPr id="6" name="Oval 5"/>
          <p:cNvSpPr/>
          <p:nvPr/>
        </p:nvSpPr>
        <p:spPr>
          <a:xfrm>
            <a:off x="609904" y="243789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511044"/>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Build incrementally so any problem is in the last thing you added.</a:t>
            </a:r>
          </a:p>
        </p:txBody>
      </p:sp>
      <p:sp>
        <p:nvSpPr>
          <p:cNvPr id="8" name="Oval 7"/>
          <p:cNvSpPr/>
          <p:nvPr/>
        </p:nvSpPr>
        <p:spPr>
          <a:xfrm>
            <a:off x="609904" y="298653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3059684"/>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Convert vague requirements into concrete conditions; ask when they are ambiguous.</a:t>
            </a:r>
          </a:p>
        </p:txBody>
      </p:sp>
      <p:sp>
        <p:nvSpPr>
          <p:cNvPr id="10" name="Oval 9"/>
          <p:cNvSpPr/>
          <p:nvPr/>
        </p:nvSpPr>
        <p:spPr>
          <a:xfrm>
            <a:off x="609904" y="353517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1" name="TextBox 10"/>
          <p:cNvSpPr txBox="1"/>
          <p:nvPr/>
        </p:nvSpPr>
        <p:spPr>
          <a:xfrm>
            <a:off x="1158544" y="3608324"/>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Write clauses as </a:t>
            </a:r>
            <a:r>
              <a:rPr sz="1350" b="0" i="0">
                <a:solidFill>
                  <a:srgbClr val="330066"/>
                </a:solidFill>
                <a:latin typeface="Courier New"/>
              </a:rPr>
              <a:t>SELECT</a:t>
            </a:r>
            <a:r>
              <a:rPr sz="1400" b="0" i="0">
                <a:solidFill>
                  <a:srgbClr val="1A1A1A"/>
                </a:solidFill>
                <a:latin typeface="Arial"/>
              </a:rPr>
              <a:t>, </a:t>
            </a:r>
            <a:r>
              <a:rPr sz="1350" b="0" i="0">
                <a:solidFill>
                  <a:srgbClr val="330066"/>
                </a:solidFill>
                <a:latin typeface="Courier New"/>
              </a:rPr>
              <a:t>FROM</a:t>
            </a:r>
            <a:r>
              <a:rPr sz="1400" b="0" i="0">
                <a:solidFill>
                  <a:srgbClr val="1A1A1A"/>
                </a:solidFill>
                <a:latin typeface="Arial"/>
              </a:rPr>
              <a:t>, </a:t>
            </a:r>
            <a:r>
              <a:rPr sz="1350" b="0" i="0">
                <a:solidFill>
                  <a:srgbClr val="330066"/>
                </a:solidFill>
                <a:latin typeface="Courier New"/>
              </a:rPr>
              <a:t>WHERE</a:t>
            </a:r>
            <a:r>
              <a:rPr sz="1400" b="0" i="0">
                <a:solidFill>
                  <a:srgbClr val="1A1A1A"/>
                </a:solidFill>
                <a:latin typeface="Arial"/>
              </a:rPr>
              <a:t>, </a:t>
            </a:r>
            <a:r>
              <a:rPr sz="1350" b="0" i="0">
                <a:solidFill>
                  <a:srgbClr val="330066"/>
                </a:solidFill>
                <a:latin typeface="Courier New"/>
              </a:rPr>
              <a:t>ORDER BY</a:t>
            </a:r>
            <a:r>
              <a:rPr sz="1400" b="0" i="0">
                <a:solidFill>
                  <a:srgbClr val="1A1A1A"/>
                </a:solidFill>
                <a:latin typeface="Arial"/>
              </a:rPr>
              <a:t>, </a:t>
            </a:r>
            <a:r>
              <a:rPr sz="1350" b="0" i="0">
                <a:solidFill>
                  <a:srgbClr val="330066"/>
                </a:solidFill>
                <a:latin typeface="Courier New"/>
              </a:rPr>
              <a:t>LIMIT</a:t>
            </a:r>
            <a:r>
              <a:rPr sz="1400" b="0" i="0">
                <a:solidFill>
                  <a:srgbClr val="1A1A1A"/>
                </a:solidFill>
                <a:latin typeface="Arial"/>
              </a:rPr>
              <a:t>; think table, columns, conditions.</a:t>
            </a:r>
          </a:p>
        </p:txBody>
      </p:sp>
      <p:sp>
        <p:nvSpPr>
          <p:cNvPr id="12" name="Oval 11"/>
          <p:cNvSpPr/>
          <p:nvPr/>
        </p:nvSpPr>
        <p:spPr>
          <a:xfrm>
            <a:off x="609904" y="408381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5</a:t>
            </a:r>
          </a:p>
        </p:txBody>
      </p:sp>
      <p:sp>
        <p:nvSpPr>
          <p:cNvPr id="13" name="TextBox 12"/>
          <p:cNvSpPr txBox="1"/>
          <p:nvPr/>
        </p:nvSpPr>
        <p:spPr>
          <a:xfrm>
            <a:off x="1158544" y="4156964"/>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A violation query describes the opposite of a rule; an empty result means the rule holds.</a:t>
            </a:r>
          </a:p>
        </p:txBody>
      </p:sp>
      <p:sp>
        <p:nvSpPr>
          <p:cNvPr id="14" name="TextBox 13"/>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53 / 55</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Summary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56231"/>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Read queries by translating each clause to English; this is how you review colleagues' work.</a:t>
            </a:r>
          </a:p>
        </p:txBody>
      </p:sp>
      <p:sp>
        <p:nvSpPr>
          <p:cNvPr id="6" name="Oval 5"/>
          <p:cNvSpPr/>
          <p:nvPr/>
        </p:nvSpPr>
        <p:spPr>
          <a:xfrm>
            <a:off x="609904" y="233172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404872"/>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Troubleshoot too many or too few rows: NULLs, case, whitespace, </a:t>
            </a:r>
            <a:r>
              <a:rPr sz="1350" b="0" i="0">
                <a:solidFill>
                  <a:srgbClr val="330066"/>
                </a:solidFill>
                <a:latin typeface="Courier New"/>
              </a:rPr>
              <a:t>AND</a:t>
            </a:r>
            <a:r>
              <a:rPr sz="1400" b="0" i="0">
                <a:solidFill>
                  <a:srgbClr val="1A1A1A"/>
                </a:solidFill>
                <a:latin typeface="Arial"/>
              </a:rPr>
              <a:t>/</a:t>
            </a:r>
            <a:r>
              <a:rPr sz="1350" b="0" i="0">
                <a:solidFill>
                  <a:srgbClr val="330066"/>
                </a:solidFill>
                <a:latin typeface="Courier New"/>
              </a:rPr>
              <a:t>OR</a:t>
            </a:r>
            <a:r>
              <a:rPr sz="1400" b="0" i="0">
                <a:solidFill>
                  <a:srgbClr val="1A1A1A"/>
                </a:solidFill>
                <a:latin typeface="Arial"/>
              </a:rPr>
              <a:t> precedence, </a:t>
            </a:r>
            <a:r>
              <a:rPr sz="1350" b="0" i="0">
                <a:solidFill>
                  <a:srgbClr val="330066"/>
                </a:solidFill>
                <a:latin typeface="Courier New"/>
              </a:rPr>
              <a:t>BETWEEN</a:t>
            </a:r>
            <a:r>
              <a:rPr sz="1400" b="0" i="0">
                <a:solidFill>
                  <a:srgbClr val="1A1A1A"/>
                </a:solidFill>
                <a:latin typeface="Arial"/>
              </a:rPr>
              <a:t> bounds, data types.</a:t>
            </a:r>
          </a:p>
        </p:txBody>
      </p:sp>
      <p:sp>
        <p:nvSpPr>
          <p:cNvPr id="8" name="Oval 7"/>
          <p:cNvSpPr/>
          <p:nvPr/>
        </p:nvSpPr>
        <p:spPr>
          <a:xfrm>
            <a:off x="609904" y="298653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3059684"/>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Reusable patterns cover most everyday QA needs.</a:t>
            </a:r>
          </a:p>
        </p:txBody>
      </p:sp>
      <p:sp>
        <p:nvSpPr>
          <p:cNvPr id="10" name="Oval 9"/>
          <p:cNvSpPr/>
          <p:nvPr/>
        </p:nvSpPr>
        <p:spPr>
          <a:xfrm>
            <a:off x="609904" y="353517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1" name="TextBox 10"/>
          <p:cNvSpPr txBox="1"/>
          <p:nvPr/>
        </p:nvSpPr>
        <p:spPr>
          <a:xfrm>
            <a:off x="1158544" y="3608324"/>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Treat queries as code: consistent style, intent-revealing comments, </a:t>
            </a:r>
            <a:r>
              <a:rPr sz="1350" b="0" i="0">
                <a:solidFill>
                  <a:srgbClr val="330066"/>
                </a:solidFill>
                <a:latin typeface="Courier New"/>
              </a:rPr>
              <a:t>.sql</a:t>
            </a:r>
            <a:r>
              <a:rPr sz="1400" b="0" i="0">
                <a:solidFill>
                  <a:srgbClr val="1A1A1A"/>
                </a:solidFill>
                <a:latin typeface="Arial"/>
              </a:rPr>
              <a:t> files in Git, Python tests with helpful assertion messages.</a:t>
            </a:r>
          </a:p>
        </p:txBody>
      </p:sp>
      <p:sp>
        <p:nvSpPr>
          <p:cNvPr id="12" name="Oval 11"/>
          <p:cNvSpPr/>
          <p:nvPr/>
        </p:nvSpPr>
        <p:spPr>
          <a:xfrm>
            <a:off x="609904" y="418998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5</a:t>
            </a:r>
          </a:p>
        </p:txBody>
      </p:sp>
      <p:sp>
        <p:nvSpPr>
          <p:cNvPr id="13" name="TextBox 12"/>
          <p:cNvSpPr txBox="1"/>
          <p:nvPr/>
        </p:nvSpPr>
        <p:spPr>
          <a:xfrm>
            <a:off x="1158544" y="4263136"/>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Always verify at least one result by hand, and know what result you expect.</a:t>
            </a:r>
          </a:p>
        </p:txBody>
      </p:sp>
      <p:sp>
        <p:nvSpPr>
          <p:cNvPr id="14" name="TextBox 13"/>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54 / 55</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Additional Resources</a:t>
            </a:r>
          </a:p>
        </p:txBody>
      </p:sp>
      <p:sp>
        <p:nvSpPr>
          <p:cNvPr id="3" name="Oval 2"/>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58544" y="18196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PostgreSQL Tutorial: The SQL Language: Queries</a:t>
            </a:r>
          </a:p>
          <a:p>
            <a:pPr algn="l">
              <a:lnSpc>
                <a:spcPct val="110000"/>
              </a:lnSpc>
              <a:spcAft>
                <a:spcPts val="600"/>
              </a:spcAft>
            </a:pPr>
            <a:r>
              <a:rPr sz="1200" b="0" i="0">
                <a:solidFill>
                  <a:srgbClr val="330066"/>
                </a:solidFill>
                <a:latin typeface="Courier New"/>
              </a:rPr>
              <a:t>https://www.postgresql.org/docs/current/tutorial-sql.html</a:t>
            </a:r>
          </a:p>
        </p:txBody>
      </p:sp>
      <p:sp>
        <p:nvSpPr>
          <p:cNvPr id="5" name="Oval 4"/>
          <p:cNvSpPr/>
          <p:nvPr/>
        </p:nvSpPr>
        <p:spPr>
          <a:xfrm>
            <a:off x="609904" y="24347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58544" y="24713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SQLite documentation: SELECT</a:t>
            </a:r>
          </a:p>
          <a:p>
            <a:pPr algn="l">
              <a:lnSpc>
                <a:spcPct val="110000"/>
              </a:lnSpc>
              <a:spcAft>
                <a:spcPts val="600"/>
              </a:spcAft>
            </a:pPr>
            <a:r>
              <a:rPr sz="1200" b="0" i="0">
                <a:solidFill>
                  <a:srgbClr val="330066"/>
                </a:solidFill>
                <a:latin typeface="Courier New"/>
              </a:rPr>
              <a:t>https://www.sqlite.org/lang_select.html</a:t>
            </a:r>
          </a:p>
        </p:txBody>
      </p:sp>
      <p:sp>
        <p:nvSpPr>
          <p:cNvPr id="7" name="Oval 6"/>
          <p:cNvSpPr/>
          <p:nvPr/>
        </p:nvSpPr>
        <p:spPr>
          <a:xfrm>
            <a:off x="609904" y="3086481"/>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58544" y="3123057"/>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Python documentation: sqlite3</a:t>
            </a:r>
          </a:p>
          <a:p>
            <a:pPr algn="l">
              <a:lnSpc>
                <a:spcPct val="110000"/>
              </a:lnSpc>
              <a:spcAft>
                <a:spcPts val="600"/>
              </a:spcAft>
            </a:pPr>
            <a:r>
              <a:rPr sz="1200" b="0" i="0">
                <a:solidFill>
                  <a:srgbClr val="330066"/>
                </a:solidFill>
                <a:latin typeface="Courier New"/>
              </a:rPr>
              <a:t>https://docs.python.org/3/library/sqlite3.html</a:t>
            </a:r>
          </a:p>
        </p:txBody>
      </p:sp>
      <p:sp>
        <p:nvSpPr>
          <p:cNvPr id="9" name="TextBox 8"/>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55 / 55</a:t>
            </a:r>
          </a:p>
        </p:txBody>
      </p:sp>
    </p:spTree>
  </p:cSld>
  <p:clrMapOvr>
    <a:masterClrMapping/>
  </p:clrMapOvr>
</p:sld>
</file>

<file path=ppt/theme/theme1.xml><?xml version="1.0" encoding="utf-8"?>
<a:theme xmlns:a="http://schemas.openxmlformats.org/drawingml/2006/main" name="Learners Point">
  <a:themeElements>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1_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earners Point" id="{5ABB7BE2-076F-42C1-9907-FD58862889C1}" vid="{2565D177-60C2-4381-BEC4-E0C09BB79CBA}"/>
    </a:ext>
  </a:extLst>
</a:theme>
</file>

<file path=docProps/app.xml><?xml version="1.0" encoding="utf-8"?>
<Properties xmlns="http://schemas.openxmlformats.org/officeDocument/2006/extended-properties" xmlns:vt="http://schemas.openxmlformats.org/officeDocument/2006/docPropsVTypes">
  <TotalTime>1</TotalTime>
  <Words>4296</Words>
  <Application>Microsoft Office PowerPoint</Application>
  <PresentationFormat>Widescreen</PresentationFormat>
  <Paragraphs>579</Paragraphs>
  <Slides>53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Arial</vt:lpstr>
      <vt:lpstr>Courier New</vt:lpstr>
      <vt:lpstr>Wingdings</vt:lpstr>
      <vt:lpstr>Learners Point</vt:lpstr>
      <vt:lpstr>Basic Query Construction</vt:lpstr>
      <vt:lpstr>Learning Objectives (1 of 2)</vt:lpstr>
      <vt:lpstr>Learning Objectives (2 of 2)</vt:lpstr>
      <vt:lpstr>A Method for Any Query</vt:lpstr>
      <vt:lpstr>Do Not Write It All at Once</vt:lpstr>
      <vt:lpstr>The Eight-Step Method (1 of 2)</vt:lpstr>
      <vt:lpstr>The Eight-Step Method (2 of 2)</vt:lpstr>
      <vt:lpstr>Example 1: A Simple Lookup</vt:lpstr>
      <vt:lpstr>Example 1: Build 1 and 2</vt:lpstr>
      <vt:lpstr>Example 1: Build 3 and 4</vt:lpstr>
      <vt:lpstr>Why Build Incrementally?</vt:lpstr>
      <vt:lpstr>Worked Examples</vt:lpstr>
      <vt:lpstr>Example 2: Understand the Request</vt:lpstr>
      <vt:lpstr>Example 2: Two Conditions</vt:lpstr>
      <vt:lpstr>Example 3: Ranges and Allowed Values</vt:lpstr>
      <vt:lpstr>Example 4: The Latest Pattern</vt:lpstr>
      <vt:lpstr>Example 5: Missing or Wrong</vt:lpstr>
      <vt:lpstr>Example 5: Three Definitions</vt:lpstr>
      <vt:lpstr>Example 6: Calculated Value</vt:lpstr>
      <vt:lpstr>Reading and Troubleshooting</vt:lpstr>
      <vt:lpstr>Reading a Query</vt:lpstr>
      <vt:lpstr>Reading Summary</vt:lpstr>
      <vt:lpstr>Spot the Problem</vt:lpstr>
      <vt:lpstr>Too Many Rows (1 of 2)</vt:lpstr>
      <vt:lpstr>Too Many Rows (2 of 2)</vt:lpstr>
      <vt:lpstr>Too Few Rows (1 of 2)</vt:lpstr>
      <vt:lpstr>Too Few Rows (2 of 2)</vt:lpstr>
      <vt:lpstr>An Empty Result May Be Right</vt:lpstr>
      <vt:lpstr>Peel the Onion</vt:lpstr>
      <vt:lpstr>Reusable Query Patterns</vt:lpstr>
      <vt:lpstr>Patterns: Overview</vt:lpstr>
      <vt:lpstr>Pattern 1: Find by Key</vt:lpstr>
      <vt:lpstr>Pattern 2: Latest N</vt:lpstr>
      <vt:lpstr>Pattern 3: Allowed Set</vt:lpstr>
      <vt:lpstr>Pattern 4: Missing Data</vt:lpstr>
      <vt:lpstr>Pattern 5: Violation Query</vt:lpstr>
      <vt:lpstr>Pattern 6: Date Window</vt:lpstr>
      <vt:lpstr>Pattern 7: Discover Values</vt:lpstr>
      <vt:lpstr>Style, Files and Checklist</vt:lpstr>
      <vt:lpstr>Style Rules for Shared Queries (1 of 2)</vt:lpstr>
      <vt:lpstr>Style Rules for Shared Queries (2 of 2)</vt:lpstr>
      <vt:lpstr>A Model Query</vt:lpstr>
      <vt:lpstr>Queries Are Code</vt:lpstr>
      <vt:lpstr>A Validation .sql File</vt:lpstr>
      <vt:lpstr>Running It From Python</vt:lpstr>
      <vt:lpstr>What the Python Test Shows</vt:lpstr>
      <vt:lpstr>Construction Checklist (1 of 2)</vt:lpstr>
      <vt:lpstr>Construction Checklist (2 of 2)</vt:lpstr>
      <vt:lpstr>Dialect Considerations (1 of 2)</vt:lpstr>
      <vt:lpstr>Dialect Considerations (2 of 2)</vt:lpstr>
      <vt:lpstr>Summary (1 of 2)</vt:lpstr>
      <vt:lpstr>Summary (2 of 2)</vt:lpstr>
      <vt:lpstr>Additional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Learners Point Template</dc:title>
  <dc:creator>Learners Point</dc:creator>
  <cp:lastModifiedBy>Jasdhir Singh</cp:lastModifiedBy>
  <cp:revision>2</cp:revision>
  <dcterms:modified xsi:type="dcterms:W3CDTF">2026-10-19T19:22:17Z</dcterms:modified>
</cp:coreProperties>
</file>