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10/19/2026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10/19/2026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SELECT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Choose columns, name them, calculate new ones and read the result set, the way a QA engineer inspects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1177290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SELECT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7863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44394" y="3520439"/>
            <a:ext cx="937259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FROM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7309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38854" y="3520439"/>
            <a:ext cx="57721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*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30750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73269" y="3520439"/>
            <a:ext cx="177736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column list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54207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907834" y="352043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AS alias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41659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782354" y="3520439"/>
            <a:ext cx="177736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expressions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65115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1016919" y="3520439"/>
            <a:ext cx="937259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NULL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204561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2411379" y="3520439"/>
            <a:ext cx="129730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sqlite3</a:t>
            </a:r>
          </a:p>
        </p:txBody>
      </p:sp>
      <p:sp>
        <p:nvSpPr>
          <p:cNvPr id="20" name="Oval 19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what a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statement does and what a result set is.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Write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SELECT ... FROM ...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returning all columns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*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 or a chosen list.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Decide when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SELECT *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acceptable and when to list columns explicitly.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Create aliases for columns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AS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to give readable headings.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507992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32" y="4416552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Write calculated columns using arithmetic, string functions and literals.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how NULL behaves inside expressions in a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list.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Qualify column names with the table name and understand why it will matter later.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Run a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from Python (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sqlite3</a:t>
            </a:r>
            <a:r>
              <a:rPr sz="1600" b="0" i="0">
                <a:solidFill>
                  <a:srgbClr val="1A1A1A"/>
                </a:solidFill>
                <a:latin typeface="Arial"/>
              </a:rPr>
              <a:t>) and read the rows back, as test automation does.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Understand that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is read-only and therefore safe for exploring a test database.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44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SELECT Does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Result sets, all columns and chosen columns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44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SELECT Retrieves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Result set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retrieves data from one or more tables and presents it as a new table called a result 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It only reads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never changes stored data, so you can run it as often as you like.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INSERT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UPDATE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DELETE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come on Friday.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The result is a table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It has columns and rows but is temporary: a photocopy of part of the cabinet, not the cabinet itself.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Simplest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572000" cy="780288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169663" cy="48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SELECT  &lt;what to show&gt;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FROM    &lt;where it lives&gt;;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47664" y="1783080"/>
            <a:ext cx="60341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the projection (which columns);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FROM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the source (which table).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third clause,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will later decide which rows.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44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SELECT, FROM, 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1747519"/>
        </p:xfrm>
        <a:graphic>
          <a:graphicData uri="http://schemas.openxmlformats.org/drawingml/2006/table">
            <a:tbl>
              <a:tblPr/>
              <a:tblGrid>
                <a:gridCol w="2194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Clause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Chooses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Think of it as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SELECT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columns (and calculated values)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Which vertical slices do I want?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FROM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Where is the data?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WHERE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rows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Which horizontal slices do I want? (next lesson)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All Columns with 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206240" cy="841247"/>
          </a:xfrm>
          <a:prstGeom prst="roundRect">
            <a:avLst>
              <a:gd name="adj" fmla="val 86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3803903" cy="54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>
                <a:solidFill>
                  <a:srgbClr val="1A1A1A"/>
                </a:solidFill>
                <a:latin typeface="Courier New"/>
              </a:rPr>
              <a:t>SELECT *</a:t>
            </a:r>
          </a:p>
          <a:p>
            <a:pPr algn="l">
              <a:lnSpc>
                <a:spcPct val="100000"/>
              </a:lnSpc>
            </a:pPr>
            <a:r>
              <a:rPr sz="1800">
                <a:solidFill>
                  <a:srgbClr val="1A1A1A"/>
                </a:solidFill>
                <a:latin typeface="Courier New"/>
              </a:rPr>
              <a:t>FROM orders;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81904" y="1783080"/>
            <a:ext cx="6399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asterisk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*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a wildcard: every column, in the order defined in the table.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all ten columns of all 15 rows.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44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When to Use SELECT 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Good idea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Exploring an unfamiliar table for the first time. Quickly eyeballing the one or two rows involved in a bug. Ad hoc checks you will throw away.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Avoid in tests and saved queries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If someone adds, removes or reorders a column, a test reading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row[3]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silently reads the wrong thing. Named columns are stable and self-documenting.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4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Avoid on large tables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Fetching every column of millions of rows is slow and wastes network and 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1607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Avoid with sensitive data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Passwords and personal data you do not need.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44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Rule for 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914400"/>
          </a:xfrm>
          <a:prstGeom prst="roundRect">
            <a:avLst>
              <a:gd name="adj" fmla="val 9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GOOD RULE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* for exploring, named columns for anything you keep.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44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Selecting Specific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749808"/>
          </a:xfrm>
          <a:prstGeom prst="roundRect">
            <a:avLst>
              <a:gd name="adj" fmla="val 975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SELECT customer_name, product, quantity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FROM orders;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List columns separated by commas. The result shows them in the order you wrote them.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3 columns, all 15 rows (no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No comma after the last column: a trailing comma is a syntax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44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Reorder and Repeat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978408"/>
          </a:xfrm>
          <a:prstGeom prst="roundRect">
            <a:avLst>
              <a:gd name="adj" fmla="val 747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SELECT status, order_id, order_id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WHERE order_id &lt;= 1002;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You can change the order or repeat a column.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2 rows;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order_id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appears twice (DELIVERED 1001 1001, SHIPPED 1002 1002).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small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just keeps the output short; it is explained next lesson.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44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Choosing Columns Deliberately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order_id, product, quantity, unit_price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order_id = 1002;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When validating against the application you rarely need everything.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If the UI confirmation page shows product, quantity and unit price, select exactly those so you can compare side by side.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1 row for order 1002.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44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Aliases and Calculated Columns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Naming columns, expressions, rounding, strings and literals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44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Column Aliases with 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106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    AS id,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customer_name AS customer,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unit_price  AS price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order_id &lt;= 1003;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An alias gives a column a different name in the result; the table is untouched.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3 rows with headings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customer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price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44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Use Aliases?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Readable headings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customer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reads better than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customer_name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in reports and test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Naming calculated columns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An expression like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quantity * unit_price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has no natural name; the engine invents an ugly heading.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Matching expected names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If a test compares against a dictionary or CSV with headers like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Order ID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aliasing makes the keys line 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44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Alias Syntax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4361688"/>
          </a:xfrm>
          <a:prstGeom prst="roundRect">
            <a:avLst>
              <a:gd name="adj" fmla="val 188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AS is optional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order_id id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works in most dialects, but writing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clearer and avoids the accidental-alias bug (a forgotten comma turns the next column into an alias). Oracle allows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columns but not table aliases.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4361688"/>
          </a:xfrm>
          <a:prstGeom prst="roundRect">
            <a:avLst>
              <a:gd name="adj" fmla="val 188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Quoting an alias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If an alias has spaces or mixed case you want to keep, use double quotes (brackets in SQL Server, backticks in MySQL).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44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Quoted Alias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03520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901183" cy="85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 AS "Order Number",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customer_name AS "Customer Name"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order_id = 1001;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9184" y="1783080"/>
            <a:ext cx="53026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1 row with headings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Order Number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Customer Name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44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Arithmetic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1572768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product,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quantity,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unit_price,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quantity * unit_price AS line_total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list can hold any expression, not only column names.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Each row multiplies its own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quantity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unit_price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 By hand: order 1002 is 2 x 25.50 = 51.0; order 1003 is 5 x 9.99 = 49.95.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all 15 rows.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44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Spotting Suspicious 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Order 1007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line_total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of 0.0 because quantity is 0. Is an order of zero items valid? Looks like a bug.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Order 1011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Negative line total (-25.5) because quantity is -1. Almost certainly invalid.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Order 1015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330066"/>
                </a:solidFill>
                <a:latin typeface="Courier New"/>
              </a:rPr>
              <a:t>line_total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0.0 because unit price is 0.00. Is a free keyboard intentional?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44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Data Validation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188720"/>
          </a:xfrm>
          <a:prstGeom prst="roundRect">
            <a:avLst>
              <a:gd name="adj" fmla="val 6923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SPIRIT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You found three suspicious rows without writing any filter, only by selecting a calculated column and reading it carefully. This is the spirit of data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44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Number Formatting Differs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371600"/>
          </a:xfrm>
          <a:prstGeom prst="roundRect">
            <a:avLst>
              <a:gd name="adj" fmla="val 6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BY ENGINE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SQLite prints 1200.0; PostgreSQL with a NUMERIC(10,2) column shows 1200.00; MySQL is similar. The values are the same, only the display differs. If your test compares text output, be aware of that.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44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1092708"/>
          </a:xfrm>
          <a:prstGeom prst="roundRect">
            <a:avLst>
              <a:gd name="adj" fmla="val 66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800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order_id,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unit_price,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ROUND(unit_price * 1.0825, 2) AS price_with_tax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WHERE order_id IN (1002, 1003, 1008);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ROUND(value, digits)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tidies long fractions.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1.0825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stands for 8.25% tax purely as an example. Result: 3 rows.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Money in real systems should use exact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DECIMAL</a:t>
            </a:r>
            <a:r>
              <a:rPr sz="1250" b="0" i="0">
                <a:solidFill>
                  <a:srgbClr val="1A1A1A"/>
                </a:solidFill>
                <a:latin typeface="Arial"/>
              </a:rPr>
              <a:t>, not floating-point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REAL</a:t>
            </a:r>
            <a:r>
              <a:rPr sz="1250" b="0" i="0">
                <a:solidFill>
                  <a:srgbClr val="1A1A1A"/>
                </a:solidFill>
                <a:latin typeface="Arial"/>
              </a:rPr>
              <a:t>: binary floating point cannot represent values like 0.1 exactly, a classic source of one-cent defects.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44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String Expressions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Concatenation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303520" cy="993648"/>
          </a:xfrm>
          <a:prstGeom prst="roundRect">
            <a:avLst>
              <a:gd name="adj" fmla="val 736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4901183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order_id,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customer_name || ' &lt;' || email || '&gt;' AS contact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WHERE order_id IN (1001, 1002);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2339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Functions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508248"/>
            <a:ext cx="5303520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654552"/>
            <a:ext cx="4901183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order_id,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UPPER(country) AS country_upper,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LENGTH(product) AS product_name_length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order_id &lt;= 1003;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9184" y="1783080"/>
            <a:ext cx="53026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Build text from several columns with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||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(SQLite, PostgreSQL, Oracle);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CONCAT()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in MySQL;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+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CONCAT()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in SQL Server.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Results: 2 contact strings; 3 rows with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country_upper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product_name_length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44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Literals as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1066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'orders' AS source_table,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1 AS check_number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order_id &lt;= 1002;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constant can be a column, repeated for every row.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Useful for labelling the output of several queries you plan to combine or compare.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2 rows,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source_table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=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check_number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=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44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 SELECT With No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583680" cy="460248"/>
          </a:xfrm>
          <a:prstGeom prst="roundRect">
            <a:avLst>
              <a:gd name="adj" fmla="val 158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181344" cy="16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2 + 3 AS five, 'hello' AS greeting, 10 / 4 AS integer_division;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9344" y="1783080"/>
            <a:ext cx="40224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Many engines let you omit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FROM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 Handy for testing a function in isolation. Oracle needs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FROM dual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5, hello, 2.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10 / 4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2, not 2.5: both are integers in SQLite, PostgreSQL and SQL Server.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44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NULL, Qualified Names and Python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NULL in expressions, table.column, and running SELECT from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44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NULL Inside Expressions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NULL means unknown. What is unknown + 1? Still unknown.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Any arithmetic or concatenation involving NULL produces NULL.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Orders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1004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1014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have a NULL email.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44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NULL Breaks Concatenation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852160" cy="1245108"/>
          </a:xfrm>
          <a:prstGeom prst="roundRect">
            <a:avLst>
              <a:gd name="adj" fmla="val 587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449824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order_id,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email,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customer_name || ' &lt;' || email || '&gt;' AS contact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WHERE order_id IN (1003, 1004, 1014);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For the rows with no email the entire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contact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becomes NULL, not just the missing part: unknown text glued to known text is unknown.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order 1003 has a contact; 1004 and 1014 show NULL.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44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Handling NULL with COALESCE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902207"/>
          </a:xfrm>
          <a:prstGeom prst="roundRect">
            <a:avLst>
              <a:gd name="adj" fmla="val 810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609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order_id,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customer_name || ' &lt;' || COALESCE(email, 'no email') || '&gt;' AS contact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WHERE order_id IN (1003, 1004, 1014);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COALESCE(value, replacement)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returns the first non-NULL argument.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Other option: leave it NULL on purpose, if you want the gap visible during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44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NULL Dialect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Oracle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An empty string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''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treated as NULL, unlike all other major databases.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MySQL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CONCAT(a, NULL)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also returns NULL.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4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SQL Server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CONCAT()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function treats NULL as an empty string, but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+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operator returns NULL by default.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1607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Rule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Always test null-handling on your actual engine.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44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Qualified Column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852160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449824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orders.order_id, orders.product, orders.status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orders.order_id = 1001;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Write a column as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table_name.column_name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 With one table this is redundant.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It becomes essential with two or more tables sharing a column name; this arises with JOINs on Friday.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 table can also have a short alias (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FROM orders AS o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then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o.order_id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44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Controlling 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Plain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120640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4718303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order_id, customer_name, status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order_id &lt;= 1002;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12724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Reordered and renamed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401568"/>
            <a:ext cx="5120640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547872"/>
            <a:ext cx="4718303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status AS order_state,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customer_name AS buyer,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order_id AS id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order_id &lt;= 1002;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gives you control of three things: which columns, in which order, and with which names.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Both queries return the same data in different presentations: the second shows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order_state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buyer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id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44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DISTINCT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206240" cy="780288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3803903" cy="48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SELECT DISTINCT status</a:t>
            </a:r>
          </a:p>
          <a:p>
            <a:pPr algn="l">
              <a:lnSpc>
                <a:spcPct val="100000"/>
              </a:lnSpc>
            </a:pPr>
            <a:r>
              <a:rPr sz="1600">
                <a:solidFill>
                  <a:srgbClr val="1A1A1A"/>
                </a:solidFill>
                <a:latin typeface="Courier New"/>
              </a:rPr>
              <a:t>FROM orders;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81904" y="1783080"/>
            <a:ext cx="6399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DISTINCT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removes duplicate rows;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LIMIT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returns the first N rows. Both are covered fully next lesson.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5 values: DELIVERED, SHIPPED, PENDING, CANCELLED, delivered.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delivered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DELIVERED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appear as separate values. Spotting that inconsistency is a real validation win.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44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SELECT From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583680" cy="2372868"/>
          </a:xfrm>
          <a:prstGeom prst="roundRect">
            <a:avLst>
              <a:gd name="adj" fmla="val 30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181344" cy="20802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import sqlite3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conn = sqlite3.connect("shop.db")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conn.row_factory = sqlite3.Row   # lets us access columns by name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cursor = conn.execute(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"SELECT order_id, customer_name, status FROM orders WHERE order_id = ?",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(1001,),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row = cursor.fetchone()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assert row is not None, "Order 1001 should exist"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assert row["status"] == "DELIVERED"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9344" y="1783080"/>
            <a:ext cx="40224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Python code that carries SQL: test frameworks are Python, and the SQL text is what you have been learning.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150" b="0" i="0">
                <a:solidFill>
                  <a:srgbClr val="330066"/>
                </a:solidFill>
                <a:latin typeface="Courier New"/>
              </a:rPr>
              <a:t>row_factory = sqlite3.Row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gives named access (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row["status"]</a:t>
            </a:r>
            <a:r>
              <a:rPr sz="1200" b="0" i="0">
                <a:solidFill>
                  <a:srgbClr val="1A1A1A"/>
                </a:solidFill>
                <a:latin typeface="Arial"/>
              </a:rPr>
              <a:t>) instead of fragile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row[2]</a:t>
            </a:r>
            <a:r>
              <a:rPr sz="12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?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placeholder is filled safely from the tuple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(1001,)</a:t>
            </a:r>
            <a:r>
              <a:rPr sz="1200" b="0" i="0">
                <a:solidFill>
                  <a:srgbClr val="1A1A1A"/>
                </a:solidFill>
                <a:latin typeface="Arial"/>
              </a:rPr>
              <a:t>: no quoting bugs, no SQL injection. The trailing comma makes a one-element tuple.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44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Fetching and Asserting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fetchone / fetchall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fetchone()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returns the next row, or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None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if there are none.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fetchall()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returns a list of all rows.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640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240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The validation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two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assert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statements are Wednesday's unit-testing skills (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assert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clear failure messages) applied to database content.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375" y="1783080"/>
            <a:ext cx="3474415" cy="4361688"/>
          </a:xfrm>
          <a:prstGeom prst="roundRect">
            <a:avLst>
              <a:gd name="adj" fmla="val 2368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5975" y="1965960"/>
            <a:ext cx="3017215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Other engines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psycopg2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(PostgreSQL),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mysql-connector-python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(MySQL),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pyodbc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(SQL Server): nearly the same pattern of connect, execute, fetch.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44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Symptoms and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44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2476497"/>
        </p:xfrm>
        <a:graphic>
          <a:graphicData uri="http://schemas.openxmlformats.org/drawingml/2006/table">
            <a:tbl>
              <a:tblPr/>
              <a:tblGrid>
                <a:gridCol w="3072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9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9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Symptom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Fix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Trailing comma before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FROM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syntax error near "FROM"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Remove the last comma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Missing comma between two columns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One column silently becomes an alias of the other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Check headings; add the comma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Misspelled column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no such column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Compare with the schema (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SELECT * ... LIMIT 1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shows the names)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Using double quotes for text values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Works in SQLite by accident, fails elsewhere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Use single quotes for text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44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2110737"/>
        </p:xfrm>
        <a:graphic>
          <a:graphicData uri="http://schemas.openxmlformats.org/drawingml/2006/table">
            <a:tbl>
              <a:tblPr/>
              <a:tblGrid>
                <a:gridCol w="3072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9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9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Symptom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Fix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Relying on row order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Test passes locally, fails in CI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Add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ORDER BY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(next lesson) or look up by key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Assuming calculated columns are saved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Looking for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line_total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in the 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They exist only in the result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SELECT *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inside automated tests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Test breaks when schema changes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List the columns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44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reads data and returns a result set, a temporary table; it never changes stored data.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SELECT *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returns all columns: good for exploring, poor for saved or automated queries.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8803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295351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List columns to control which columns, their order, and (with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their names.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42900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502152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list can include expressions: arithmetic, functions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UPPER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LENGTH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ROUND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), concatenation and literals.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08381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544" y="415696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Calculated columns are computed per row at query time and are not stored.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44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NULL propagates: arithmetic or concatenation with NULL gives NULL.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COALESCE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supplies a default.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table.column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optional with one table, mandatory when column names clash across tables (Friday).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8803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2953512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 Python tests, fetch with named columns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?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placeholders, then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assert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on the values.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42900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502152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Dialect watch-outs: number formatting, concatenation syntax, empty-string-as-NULL in Oracle, integer division.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44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PostgreSQL documentation: Select Lists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https://www.postgresql.org/docs/current/queries-select-lists.html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 documentation: SELECT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https://www.sqlite.org/lang_select.html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documentation: sqlite3 module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https://docs.python.org/3/library/sqlite3.html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2891</Words>
  <Application>Microsoft Office PowerPoint</Application>
  <PresentationFormat>Widescreen</PresentationFormat>
  <Paragraphs>402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Courier New</vt:lpstr>
      <vt:lpstr>Wingdings</vt:lpstr>
      <vt:lpstr>Learners Point</vt:lpstr>
      <vt:lpstr>SELECT Statements</vt:lpstr>
      <vt:lpstr>Learning Objectives (1 of 2)</vt:lpstr>
      <vt:lpstr>Learning Objectives (2 of 2)</vt:lpstr>
      <vt:lpstr>What SELECT Does</vt:lpstr>
      <vt:lpstr>SELECT Retrieves Data</vt:lpstr>
      <vt:lpstr>The Simplest Shape</vt:lpstr>
      <vt:lpstr>SELECT, FROM, WHERE</vt:lpstr>
      <vt:lpstr>All Columns with *</vt:lpstr>
      <vt:lpstr>When to Use SELECT *</vt:lpstr>
      <vt:lpstr>Rule for *</vt:lpstr>
      <vt:lpstr>Selecting Specific Columns</vt:lpstr>
      <vt:lpstr>Reorder and Repeat</vt:lpstr>
      <vt:lpstr>Choosing Columns Deliberately</vt:lpstr>
      <vt:lpstr>Aliases and Calculated Columns</vt:lpstr>
      <vt:lpstr>Column Aliases with AS</vt:lpstr>
      <vt:lpstr>Why Use Aliases?</vt:lpstr>
      <vt:lpstr>Alias Syntax Details</vt:lpstr>
      <vt:lpstr>Quoted Alias</vt:lpstr>
      <vt:lpstr>Arithmetic Columns</vt:lpstr>
      <vt:lpstr>Spotting Suspicious Rows</vt:lpstr>
      <vt:lpstr>Data Validation in Action</vt:lpstr>
      <vt:lpstr>Number Formatting Differs</vt:lpstr>
      <vt:lpstr>Rounding</vt:lpstr>
      <vt:lpstr>String Expressions</vt:lpstr>
      <vt:lpstr>Literals as Columns</vt:lpstr>
      <vt:lpstr>A SELECT With No Table</vt:lpstr>
      <vt:lpstr>NULL, Qualified Names and Python</vt:lpstr>
      <vt:lpstr>NULL Inside Expressions</vt:lpstr>
      <vt:lpstr>NULL Breaks Concatenation</vt:lpstr>
      <vt:lpstr>Handling NULL with COALESCE</vt:lpstr>
      <vt:lpstr>NULL Dialect Notes</vt:lpstr>
      <vt:lpstr>Qualified Column Names</vt:lpstr>
      <vt:lpstr>Controlling the Result</vt:lpstr>
      <vt:lpstr>DISTINCT Preview</vt:lpstr>
      <vt:lpstr>SELECT From Python</vt:lpstr>
      <vt:lpstr>Fetching and Asserting</vt:lpstr>
      <vt:lpstr>Common Mistakes</vt:lpstr>
      <vt:lpstr>Common Mistakes (1 of 2)</vt:lpstr>
      <vt:lpstr>Common Mistakes (2 of 2)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4</cp:revision>
  <dcterms:modified xsi:type="dcterms:W3CDTF">2026-10-19T19:16:41Z</dcterms:modified>
</cp:coreProperties>
</file>