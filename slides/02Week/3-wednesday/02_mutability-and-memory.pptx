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10/18/2026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10/18/2026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Mutability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See Python variables as labels on objects, predict aliasing, copy data safely, and keep test data from leaking between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89738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id / is / ==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9872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64484" y="3520439"/>
            <a:ext cx="285750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mutable vs immutable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1342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79184" y="3520439"/>
            <a:ext cx="18973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default args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6800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3376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deepcopy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the object model: every value has an identity, a type and a value; a variable is a name bound to an object.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id()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type()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correctly; explain identity versus equality.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Classify types as mutable (list, dict, set, most user-defined objects) or immutable (int, float, bool, str, tuple, frozenset, bytes, None).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Predict what happens when two names share a mutable object (aliasing) or a function receives a mutable argument.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and avoid the mutable default argument bug.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Make shallow and deep copies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copy.copy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copy.deepcopy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slicing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list()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/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dict()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 reference counting and garbage collection at a high level; explain why only hashable objects can be dictionary keys.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Apply this to test automation: shared test data, fixtures that leak between tests, config dictionaries modified by accident.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Few things destroy trust in a test suite faster than shared state that changes unexpectedly.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60604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67919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test modifies a shared list of sample users, and the next test starts with the wrong data.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546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227832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helper with a default argument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results=[]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accumulates values across calls: test 5 sees the output of tests 1 to 4.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124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914394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config dictionary copied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.copy()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still shares an inner dictionary, so changing the staging config changes production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This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Files and exceptions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Data you loaded (rows, JSON dictionaries) is exactly the mutable data that gets passed around and modified.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339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70568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Namespaces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Names live in namespaces; today you learn what those names point at.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46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4833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Debugging, logging, unit tests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You will inspect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id()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 and values in a debugger, and every test must start from a clean, predictable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773168"/>
            <a:ext cx="10971885" cy="1188720"/>
          </a:xfrm>
          <a:prstGeom prst="roundRect">
            <a:avLst>
              <a:gd name="adj" fmla="val 692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4910328"/>
            <a:ext cx="105146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ONE SENTENCE TO REMEMBER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Python, a variable is not a box that holds a value; it is a label attached to an object. Assignment never copies an object; it just attaches another label.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Objects and Names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Identity, type, value, labels, is versus ==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Everything Is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4572000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Identity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unique ID for the object's lifetime; in CPython, its memory address.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id(obj)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64064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677223"/>
            <a:ext cx="4572000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Type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What kind of object it is.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type(obj)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decides which operations are allowed.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9821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534791"/>
            <a:ext cx="4572000" cy="498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Value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data it contains.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4864" y="1783080"/>
            <a:ext cx="5576925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06032" y="1929384"/>
            <a:ext cx="517458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1A"/>
                </a:solidFill>
                <a:latin typeface="Courier New"/>
              </a:rPr>
              <a:t>x = [10, 20]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1A1A1A"/>
                </a:solidFill>
                <a:latin typeface="Courier New"/>
              </a:rPr>
              <a:t>print(type(x))    # &lt;class 'list'&gt;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1A1A1A"/>
                </a:solidFill>
                <a:latin typeface="Courier New"/>
              </a:rPr>
              <a:t>print(x)          # [10, 20]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1A1A1A"/>
                </a:solidFill>
                <a:latin typeface="Courier New"/>
              </a:rPr>
              <a:t>print(id(x))      # some large integer such as 140101300110704 (differs on every run)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4864" y="3337560"/>
            <a:ext cx="557692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Identity and type never change during an object's life. The value of some objects can change; those are the mutable 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Names Are Labels, Not Boxes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Not a box that stores a value, but a label on an object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669280" cy="1572768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26694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names                objects in memory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+------+            +-----------------+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|  a   |-----------&gt;|  [1, 2, 3]      |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+------+      +----&gt;|  (a list object)|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|  b   |------+     +-----------------+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+------+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After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 = [1, 2, 3]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 = a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there is one list and two names pointing at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Nothing was copied.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Two Labels, One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 = [1, 2]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b = a              # attach a second label to the SAME list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b.append(3)        # change the list through label b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print(a)           # [1, 2, 3]   &lt;-- a "changed" too, because it is the same object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print(a is b)      # True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print(id(a) == id(b))   #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 = [1, 2]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creates a list object and binds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b = 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does not make a new list; it binds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the object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refers to.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b.append(3)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asks the list to change itself; both names see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 is 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asks: are these names bound to the exact same object? Yes.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53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Analogy: the Shared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965960"/>
            <a:ext cx="10971885" cy="1371600"/>
          </a:xfrm>
          <a:prstGeom prst="roundRect">
            <a:avLst>
              <a:gd name="adj" fmla="val 6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2103120"/>
            <a:ext cx="105146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Giving a colleague "the link"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 = 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does not create a second document; if they edit it, you see the edits. To get an independent document you must explicitly make a copy (section 8).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53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Identity versus Equality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138936"/>
        </p:xfrm>
        <a:graphic>
          <a:graphicData uri="http://schemas.openxmlformats.org/drawingml/2006/table">
            <a:tbl>
              <a:tblPr/>
              <a:tblGrid>
                <a:gridCol w="1316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Question it answers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How it works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==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Do these two objects have the same value?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Calls the object's equality logic (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__eq__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is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Are these the same object?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Compares identities (like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id(a) == id(b)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53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is versus ==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267968"/>
          </a:xfrm>
          <a:prstGeom prst="roundRect">
            <a:avLst>
              <a:gd name="adj" fmla="val 57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975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l1 = [1, 2]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l2 = [1, 2]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print(l1 == l2)    # True   (same contents)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print(l1 is l2)    # False  (two separate list objects)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53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Rules of Thumb: is and ==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Use == for values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vast majority of cases, including test assertions.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Use is for singletons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Mainly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write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if result is None: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not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if result == None: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Never is for numbers or strings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Small integers are cached in CPython, so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256 is 256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but that is an implementation detail. Python 3.8+ emits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SyntaxWarning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a literal. It betrays you when the value is 257.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Mutable versus Immutable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Which objects change in place, and which get replaced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53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Two Kinds of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Immutable: the value cannot change after creation.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Mutable: the object can be modified in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53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Classifying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141726"/>
        </p:xfrm>
        <a:graphic>
          <a:graphicData uri="http://schemas.openxmlformats.org/drawingml/2006/table">
            <a:tbl>
              <a:tblPr/>
              <a:tblGrid>
                <a:gridCol w="548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Immutable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Mutable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int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float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complex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list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bool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dict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str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set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tuple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bytearray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frozenset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Most instances of your own classes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bytes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collections.deque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collections.defaultdict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, ...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53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Immutable: Changing Makes a New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Integers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963168"/>
          </a:xfrm>
          <a:prstGeom prst="roundRect">
            <a:avLst>
              <a:gd name="adj" fmla="val 75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x = 5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y = x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y += 1             # not "change the 5", but "make 6 and re-label y"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print(x, y)        # 5 6   &lt;-- x is unaffected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2034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Strings: the id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477768"/>
            <a:ext cx="640080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624072"/>
            <a:ext cx="5998464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 = "qa"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print(id(s))       # e.g. 140101300110704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 += "e"           # builds a NEW string "qae" and re-binds 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print(id(s))       # a different number: it is a different 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y += 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not "change the 5"; it makes 6 and re-labels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s += "e"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builds a new string and re-binds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53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Strings Cannot Be Edited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name = "test"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name[0] = "T"      # TypeError: 'str' object does not support item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063239"/>
            <a:ext cx="1097188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 change a string, create a new one: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name = "T" + name[1:]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or use methods such as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.upper()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.replace()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which return new strings and leave the original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53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Mutable: Methods Change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Same object before and after: the id does not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1435608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tests = ["login", "logout"]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print(id(tests))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tests.append("search")     # modifies the same object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print(id(tests))           # same id as before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print(tests)               # ['login', 'logout', 'search']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53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In-Place Methods Return None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4389120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append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extend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remove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pop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sort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reverse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6715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40305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setdefault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pop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clear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6092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34081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add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discard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88620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All change the object they are called on, and most return </a:t>
            </a:r>
            <a:r>
              <a:rPr sz="1350" b="1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1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1984" y="1783080"/>
            <a:ext cx="5759805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23152" y="1929384"/>
            <a:ext cx="5357469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data = [3, 1, 2]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result = data.sort()       # sorts IN PLACE and returns None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print(result, data)        # None [1, 2, 3]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print(sorted([3, 1, 2]))   # [1, 2, 3]   sorted() builds a NEW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1984" y="3886200"/>
            <a:ext cx="5759805" cy="1463040"/>
          </a:xfrm>
          <a:prstGeom prst="roundRect">
            <a:avLst>
              <a:gd name="adj" fmla="val 5624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50584" y="4023360"/>
            <a:ext cx="530260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REMEMBER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frequent bug: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data = data.sort()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sets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data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In-place methods return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functions that return new objects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sorted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reversed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str.upper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do not alter the original.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53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Tuple Subtlety: Mutable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Allowed: the inner list changes, the tuple does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58368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181344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 = (1, [2, 3])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t[1].append(4)              # allowed! we are changing the inner list, not the tuple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print(t)                    # (1, [2, 3, 4])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t[0] = 9                    # TypeError: 'tuple' object does not support item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Immutable means you cannot add, remove or replace the tuple's items.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An item that is itself mutable can still change.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tuple still holds the same two objects: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1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and that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53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Tuple Subtlety: the Odd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 = (1, [2, 3])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t[1] += [5]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except TypeError as e: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print(e)                # 'tuple' object does not support item assignment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print(t)                    # (1, [2, 3, 5])   &lt;-- the list WAS extended anyway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t[1] += [5]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first extends the inner list in place (succeeds).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Then it tries to assign the result back into the tuple slot (fails).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 well-known gotcha: "immutable" describes the container's slots, not the objects inside.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53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Functions and Arguments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Pass by object reference and the default argument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53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Passing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argument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2471928"/>
          </a:xfrm>
          <a:prstGeom prst="roundRect">
            <a:avLst>
              <a:gd name="adj" fmla="val 29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2179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add_marker(items):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items.append("done")        # mutates the caller's list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rebind(items):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items = items + ["done"]    # builds a NEW list; only the local name changes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 = []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add_marker(a)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print(a)        # ['done']   &lt;-- caller's list was changed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b = []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rebind(b)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print(b)        # []         &lt;-- caller's list untouched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Parameters share objects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Python binds the parameter name to the same object the caller passed in ("pass by object reference").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30300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3066669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Mutating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items.append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changes the caller's list for everyone.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88023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91680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Re-binding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items + [...]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builds a new list; only the local name changes. The caller's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b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untouched.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53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Arguments: Consequences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Immutable arguments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function cannot change the caller's int, string or tuple, because the object cannot be changed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Link to namespaces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Assignment inside a function creates or rebinds a local name.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Practical rule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If a function should not modify its input, do not mutate it, or copy it first. If it should, say so in the name and docstring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sort_in_place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normalize_inplace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or return a new object instead.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53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The Mutable Default Argument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Default values are evaluated once, when the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def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statement runs, not on every call.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If the default is a mutable object, every call that uses the default shares the same object.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53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BUG: one shared list for all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76656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364224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add_item(item, bucket=[]):      # BUG: one shared list for all calls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bucket.append(item)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bucket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print(add_item(1))     # [1]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print(add_item(2))     # [1, 2]   &lt;-- surprise! the first call's data is still there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59968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874007"/>
            <a:ext cx="676656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020312"/>
            <a:ext cx="6364224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[1]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[1,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first call's data is still there on the second call.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add_item.__defaults__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shows the one list that accumulates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53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Fix: a None Sentinel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664208"/>
          </a:xfrm>
          <a:prstGeom prst="roundRect">
            <a:avLst>
              <a:gd name="adj" fmla="val 43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add_item(item, bucket=None):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if bucket is None: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bucket = []                 # a fresh list on every call that needs one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bucket.append(item)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bucket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print(add_item(1))     # [1]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print(add_item(2))     # [2]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as a sentinel and create the list inside the function.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 fresh list on every call that needs one.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Second call now returns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[2]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53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 Scenario: collect_errors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965960"/>
            <a:ext cx="10971885" cy="1463040"/>
          </a:xfrm>
          <a:prstGeom prst="roundRect">
            <a:avLst>
              <a:gd name="adj" fmla="val 5624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2103120"/>
            <a:ext cx="1051468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SCENARIO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helper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collect_errors(message, errors=[])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Test A adds an error; test B, which should start clean, sees it and fails. The tests pass individually and fail together: a nightmare to debug.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53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Aliasing and Copying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Traps inside data structures, shallow and deep copies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53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Multiplying a List of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Wrong: all three rows 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766560" cy="772668"/>
          </a:xfrm>
          <a:prstGeom prst="roundRect">
            <a:avLst>
              <a:gd name="adj" fmla="val 946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364224" cy="480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rows = [[0] * 2] * 3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rows[0][0] = 1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print(rows)           # [[1, 0], [1, 0], [1, 0]]   &lt;-- all three rows changed!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01294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Right: a comprehension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87268"/>
            <a:ext cx="67665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433572"/>
            <a:ext cx="63642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rows = [[0] * 2 for _ in range(3)]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rows[0][0] = 1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print(rows)           # [[1, 0], [0, 0], [0, 0]]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[[0]  2]  3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repeats the same inner list object three times.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comprehension runs the inner expression per row, creating a new list each time.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Classic way to corrupt a matrix of test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53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Shared Test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869948"/>
          </a:xfrm>
          <a:prstGeom prst="roundRect">
            <a:avLst>
              <a:gd name="adj" fmla="val 391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5773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BASE_USER = {"name": "alice", "roles": ["viewer"]}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make_admin():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user = BASE_USER              # alias, not a copy!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user["roles"].append("admin")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return user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make_admin()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print(BASE_USER)                  # {'name': 'alice', 'roles': ['viewer', 'admin']}  &lt;-- constant corrupted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16052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constant that is mutated is no longer constant.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user = BASE_USER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an alias, not a copy.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53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Shallow Copies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281427"/>
          </a:xfrm>
          <a:prstGeom prst="roundRect">
            <a:avLst>
              <a:gd name="adj" fmla="val 32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9888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1A1A1A"/>
                </a:solidFill>
                <a:latin typeface="Courier New"/>
              </a:rPr>
              <a:t>import copy</a:t>
            </a:r>
          </a:p>
          <a:p>
            <a:pPr algn="l">
              <a:lnSpc>
                <a:spcPct val="100000"/>
              </a:lnSpc>
            </a:pPr>
            <a:r>
              <a:rPr sz="14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50">
                <a:solidFill>
                  <a:srgbClr val="1A1A1A"/>
                </a:solidFill>
                <a:latin typeface="Courier New"/>
              </a:rPr>
              <a:t>original = [1, 2, 3]</a:t>
            </a:r>
          </a:p>
          <a:p>
            <a:pPr algn="l">
              <a:lnSpc>
                <a:spcPct val="100000"/>
              </a:lnSpc>
            </a:pPr>
            <a:r>
              <a:rPr sz="1450">
                <a:solidFill>
                  <a:srgbClr val="1A1A1A"/>
                </a:solidFill>
                <a:latin typeface="Courier New"/>
              </a:rPr>
              <a:t>c1 = original[:]            # slice copy</a:t>
            </a:r>
          </a:p>
          <a:p>
            <a:pPr algn="l">
              <a:lnSpc>
                <a:spcPct val="100000"/>
              </a:lnSpc>
            </a:pPr>
            <a:r>
              <a:rPr sz="1450">
                <a:solidFill>
                  <a:srgbClr val="1A1A1A"/>
                </a:solidFill>
                <a:latin typeface="Courier New"/>
              </a:rPr>
              <a:t>c2 = list(original)         # constructor copy</a:t>
            </a:r>
          </a:p>
          <a:p>
            <a:pPr algn="l">
              <a:lnSpc>
                <a:spcPct val="100000"/>
              </a:lnSpc>
            </a:pPr>
            <a:r>
              <a:rPr sz="1450">
                <a:solidFill>
                  <a:srgbClr val="1A1A1A"/>
                </a:solidFill>
                <a:latin typeface="Courier New"/>
              </a:rPr>
              <a:t>c3 = original.copy()        # list/dict/set method</a:t>
            </a:r>
          </a:p>
          <a:p>
            <a:pPr algn="l">
              <a:lnSpc>
                <a:spcPct val="100000"/>
              </a:lnSpc>
            </a:pPr>
            <a:r>
              <a:rPr sz="1450">
                <a:solidFill>
                  <a:srgbClr val="1A1A1A"/>
                </a:solidFill>
                <a:latin typeface="Courier New"/>
              </a:rPr>
              <a:t>c4 = copy.copy(original)    # generic function</a:t>
            </a:r>
          </a:p>
          <a:p>
            <a:pPr algn="l">
              <a:lnSpc>
                <a:spcPct val="100000"/>
              </a:lnSpc>
            </a:pPr>
            <a:r>
              <a:rPr sz="14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50">
                <a:solidFill>
                  <a:srgbClr val="1A1A1A"/>
                </a:solidFill>
                <a:latin typeface="Courier New"/>
              </a:rPr>
              <a:t>print(c1 is original, c1 == original)    # False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 shallow copy makes a new outer container filled with references to the same inner objects.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Slice,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list()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.copy()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copy.copy()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all make one.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For a list of immutable items that is all you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53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Shallow Copy Shares Inner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With nested mutable objects, the inner objects are still shared.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orig = {"user": {"name": "a", "roles": ["x"]}}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shallow = orig.copy()                      # new outer dict, same inner dict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shallow["user"]["roles"].append("y")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print(orig)       # {'user': {'name': 'a', 'roles': ['x', 'y']}}   &lt;-- original changed!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Deep 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deep copy recursively copies everything: a completely independent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1786128"/>
          </a:xfrm>
          <a:prstGeom prst="roundRect">
            <a:avLst>
              <a:gd name="adj" fmla="val 4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149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import copy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orig = {"user": {"name": "a", "roles": ["x"]}}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deep = copy.deepcopy(orig)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deep["user"]["roles"].append("z")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print(orig)       # {'user': {'name': 'a', 'roles': ['x']}}         &lt;-- untouched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print(deep)       # {'user': {'name': 'a', 'roles': ['x', 'z']}}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53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Shallow versus Deep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124963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Shallow copy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Deep copy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Outer container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Nested objects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Shared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Copied too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Speed / memory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Fast, small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Slower, bigger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Use when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Contents are all immutable (flat data)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Nested mutable data that must be independent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5230368"/>
            <a:ext cx="10971885" cy="822960"/>
          </a:xfrm>
          <a:prstGeom prst="roundRect">
            <a:avLst>
              <a:gd name="adj" fmla="val 10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5367528"/>
            <a:ext cx="105146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PATTERN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For test data,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copy.deepcopy(BASE_USER)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at the start of each test (or fixture) is a common, safe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53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Hashing and Memory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Dictionary keys, reference counting, garbage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53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Dict Keys Must Be Hashable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dictionary finds entries using a hash computed from the key's value. If a key could change, its hash would change and the entry could not be found.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d = {}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d[(1, 2)] = "ok"           # tuple of immutables: fine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d["name"] = "also fine"    # string: fine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d[[1, 2]] = "nope"         # TypeError: unhashable type: 'list'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25196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Only hashable objects, in practice immutable ones, can be dictionary keys or set members. A tuple containing a list is also unhashable.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53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Python Manages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1. Reference counting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object counts the names/containers referring to it. Binding a name raises the count; deleting, re-binding or leaving scope lowers it. At zero the object is destroyed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2. Garbage collector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Reference counting cannot free objects in a cycle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points 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points 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 The cyclic garbage collector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gc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module) finds and cleans such groups.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53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Watching Reference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816608"/>
          </a:xfrm>
          <a:prstGeom prst="roundRect">
            <a:avLst>
              <a:gd name="adj" fmla="val 40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52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data = [1, 2, 3]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print(sys.getrefcount(data))   # typically 2: the name 'data' + the temporary argument to getrefcount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other = data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print(sys.getrefcount(data))   # typically 3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del other                      # removes one label; the list stays because 'data' still points to it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print(sys.getrefcount(data))   # back to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del name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removes the name, not necessarily the object.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object disappears only when nothing refers to it any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a Tester Should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Resource leaks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Holding references to large objects (a big module-level results list) keeps them in memory for the entire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Files and connections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Context managers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with open(...)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close resources deterministically. Do not rely on memory management to close them eventually.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Interning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CPython reuses some small ints and strings. An optimisation, not a promise; never write logic that depends on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Choosing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964685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Prefer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Constants / configuration that must not change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tuple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frozenset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str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or a deep-copied dict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Prevents accidental modification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Dictionary keys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str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tuple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of immutables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Required to be hashable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Collecting results as a test runs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list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Needs to grow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Function parameters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Avoid mutating inputs unless documented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Prevents surprising callers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Default arguments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None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or immutable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Avoids the shared-default bug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53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Code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Five worked snippets from 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53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A: Identity and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mutability_demo.py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2304288"/>
          </a:xfrm>
          <a:prstGeom prst="roundRect">
            <a:avLst>
              <a:gd name="adj" fmla="val 31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nums = [1, 2, 3]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alias = nums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copy1 = nums.copy()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nums.append(4)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print("nums  :", nums)               # [1, 2, 3, 4]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print("alias :", alias)              # [1, 2, 3, 4]  (same object)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print("copy1 :", copy1)              # [1, 2, 3]     (independent)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print("alias is nums :", alias is nums)   # True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print("copy1 is nums :", copy1 is nums)   # False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print("copy1 == [1, 2, 3] :", copy1 == [1, 2, 3])   # True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alias vs copy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alias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the same object as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nums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copy1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an independent list.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868231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After append(4)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nums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alias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show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[1, 2, 3, 4]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copy1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stays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[1, 2, 3]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6817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718369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 versus ==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alias is nums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True;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copy1 is nums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False;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copy1 == [1, 2, 3]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True.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53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B: A Leak-Free Data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user_factory.py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make_user(**overrides):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"""Return a NEW user dict each time; never modifies DEFAULT_USER."""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user = copy.deepcopy(DEFAULT_USER)      # independent copy, nested data included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user.update(overrides)                  # apply per-test changes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user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admin = make_user(name="alice", roles=["admin"])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viewer = make_user()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viewer["profile"]["newsletter"] = True      # safe: only 'viewer' changes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5C8A8A"/>
                </a:solidFill>
                <a:latin typeface="Courier New"/>
              </a:rPr>
              <a:t># ...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deepcopy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Nested dicts and lists are new, so editing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viewer["profile"]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cannot touch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DEFAULT_USER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868231"/>
            <a:ext cx="2833725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update(overrides)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Replaces top-level keys with the caller's values;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**overrides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collects keyword arguments into a dict.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407866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4115244"/>
            <a:ext cx="2833725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Test isolation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Each test calls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make_user()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and gets an independent object; fixtures later formalise this idea.</a:t>
            </a:r>
          </a:p>
        </p:txBody>
      </p:sp>
      <p:sp>
        <p:nvSpPr>
          <p:cNvPr id="13" name="Oval 12"/>
          <p:cNvSpPr/>
          <p:nvPr/>
        </p:nvSpPr>
        <p:spPr>
          <a:xfrm>
            <a:off x="8199424" y="53256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64" y="5362257"/>
            <a:ext cx="2833725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Try breaking it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Swap in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DEFAULT_USER.copy()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newsletter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becomes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in the default, because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.copy()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shallow.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53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C: Fixing the Default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result collector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2746247"/>
          </a:xfrm>
          <a:prstGeom prst="roundRect">
            <a:avLst>
              <a:gd name="adj" fmla="val 26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2453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 Buggy version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record_failure(message, failures=[]):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failures.append(message)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return failures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print(record_failure("timeout"))       # ['timeout']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print(record_failure("404"))           # ['timeout', '404']   &lt;- leaked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 Fixed version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record_failure_fixed(message, failures=None):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if failures is None: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failures = []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failures.append(message)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return failures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 ...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Buggy version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second call returns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['timeout', '404']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: leaked.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Fixed version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sentinel and a fresh list inside the function; the second call returns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['404']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53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D: Spotting Aliasing with id()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527048"/>
          </a:xfrm>
          <a:prstGeom prst="roundRect">
            <a:avLst>
              <a:gd name="adj" fmla="val 479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config = {"retries": 3}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alias = config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clone = dict(config)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for label, obj in [("config", config), ("alias", alias), ("clone", clone)]: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print(f"{label:7} id={id(obj)} value={obj}")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794760"/>
            <a:ext cx="640080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941064"/>
            <a:ext cx="5998464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config  id=140101300110704 value={'retries': 3}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alias   id=140101300110704 value={'retries': 3}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clone   id=140101298848608 value={'retries': 3}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3584" y="3794760"/>
            <a:ext cx="438820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Typical output; the IDs differ on your machine. Same id means same object. Comparing ids in a debugger quickly tells you whether the object you modify is also used elsewhere.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53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E: Tuple Keys for Lookups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expected_status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2136648"/>
          </a:xfrm>
          <a:prstGeom prst="roundRect">
            <a:avLst>
              <a:gd name="adj" fmla="val 342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1844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expected_status = {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("GET", "/users"): 200,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("POST", "/users"): 201,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("GET", "/missing"): 404,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expected(method, path):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expected_status.get((method, path), "unknown")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print(expected("GET", "/users"))      # 200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print(expected("DELETE", "/users"))   # unknown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Composite key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("GET", "/users")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immutable and therefore hashable: an ideal key.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868231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Default value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.get((method, path), "unknown")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returns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"unknown"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for a missing pair.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8802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916807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Results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expected("GET", "/users")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gives 200;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expected("DELETE", "/users")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gives unknown.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53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WRAP-UP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Treating assignment as a copy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b = a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attaches a second label. Use a shallow or deep copy for an independent object.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data = data.sort()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In-place methods return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so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data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becomes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Default </a:t>
            </a:r>
            <a:r>
              <a:rPr sz="1550" b="1" i="0">
                <a:solidFill>
                  <a:srgbClr val="330066"/>
                </a:solidFill>
                <a:latin typeface="Courier New"/>
              </a:rPr>
              <a:t>[]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One shared list for all calls;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build inside the function.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50" b="1" i="0">
                <a:solidFill>
                  <a:srgbClr val="330066"/>
                </a:solidFill>
                <a:latin typeface="Courier New"/>
              </a:rPr>
              <a:t>.copy()</a:t>
            </a:r>
            <a:r>
              <a:rPr sz="1600" b="1" i="0">
                <a:solidFill>
                  <a:srgbClr val="330066"/>
                </a:solidFill>
                <a:latin typeface="Arial"/>
              </a:rPr>
              <a:t> on nested data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Shallow: the inner objects are still shared.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copy.deepcopy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7240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50" b="1" i="0">
                <a:solidFill>
                  <a:srgbClr val="330066"/>
                </a:solidFill>
                <a:latin typeface="Courier New"/>
              </a:rPr>
              <a:t>[[0]*n]*m</a:t>
            </a:r>
            <a:r>
              <a:rPr sz="1600" b="1" i="0">
                <a:solidFill>
                  <a:srgbClr val="330066"/>
                </a:solidFill>
                <a:latin typeface="Arial"/>
              </a:rPr>
              <a:t> and </a:t>
            </a:r>
            <a:r>
              <a:rPr sz="1550" b="1" i="0">
                <a:solidFill>
                  <a:srgbClr val="330066"/>
                </a:solidFill>
                <a:latin typeface="Courier New"/>
              </a:rPr>
              <a:t>is</a:t>
            </a:r>
            <a:r>
              <a:rPr sz="1600" b="1" i="0">
                <a:solidFill>
                  <a:srgbClr val="330066"/>
                </a:solidFill>
                <a:latin typeface="Arial"/>
              </a:rPr>
              <a:t> on values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first repeats one inner list; the second relies on caching that breaks at 257.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375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5975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Relying on memory for cleanup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Use context managers for files and connections.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53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WRAP-UP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Give each test its own copy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Unexpected mutation of shared data is a leading cause of flaky and order-dependent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Do not mutate inputs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Unless documented, or copy first; name in-place functions clearly.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Constants stay constant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tuple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frozenset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or a deep-copied dict.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53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value is an object with an identity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a type and a value. Variables are names bound to objects; assignment attaches a label and never copies.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compares values;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compares identity.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almost only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Immutable: int, float, bool, str, tuple, frozenset, bytes, None. Mutable: list, dict, set and most custom objects.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4134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1449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In-place methods return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do not write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x = x.sort()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A tuple is immutable but can contain mutable objects.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53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Mutating a mutable argument affects the caller; re-binding the parameter name does not. Never use a mutable default argument: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Slicing,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.copy()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copy.copy()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are shallow;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copy.deepcopy()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fully independent. Beware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[[0]*n]*m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Only hashable (practically immutable) objects can be dict keys or set elements.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53517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60832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CPython uses reference counting plus a cyclic garbage collector; use context managers for files and connections. Give each test its own copy of the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53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Language Reference, "Data model"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https://docs.python.org/3/reference/datamodel.html#objects-values-and-types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Standard Library, copy module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https://docs.python.org/3/library/copy.html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Programming FAQ, shared default values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https://docs.python.org/3/faq/programming.html#why-are-default-values-shared-between-objects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4903</Words>
  <Application>Microsoft Office PowerPoint</Application>
  <PresentationFormat>Widescreen</PresentationFormat>
  <Paragraphs>624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Courier New</vt:lpstr>
      <vt:lpstr>Wingdings</vt:lpstr>
      <vt:lpstr>Learners Point</vt:lpstr>
      <vt:lpstr>Mutability and Memory</vt:lpstr>
      <vt:lpstr>Learning Objectives (1 of 2)</vt:lpstr>
      <vt:lpstr>Learning Objectives (2 of 2)</vt:lpstr>
      <vt:lpstr>Why This Matters</vt:lpstr>
      <vt:lpstr>Where This Fits</vt:lpstr>
      <vt:lpstr>Objects and Names</vt:lpstr>
      <vt:lpstr>Everything Is an Object</vt:lpstr>
      <vt:lpstr>Names Are Labels, Not Boxes</vt:lpstr>
      <vt:lpstr>Two Labels, One List</vt:lpstr>
      <vt:lpstr>Analogy: the Shared Document</vt:lpstr>
      <vt:lpstr>Identity versus Equality</vt:lpstr>
      <vt:lpstr>is versus == in Practice</vt:lpstr>
      <vt:lpstr>Rules of Thumb: is and ==</vt:lpstr>
      <vt:lpstr>Mutable versus Immutable</vt:lpstr>
      <vt:lpstr>Two Kinds of Objects</vt:lpstr>
      <vt:lpstr>Classifying Types</vt:lpstr>
      <vt:lpstr>Immutable: Changing Makes a New Object</vt:lpstr>
      <vt:lpstr>Strings Cannot Be Edited In Place</vt:lpstr>
      <vt:lpstr>Mutable: Methods Change In Place</vt:lpstr>
      <vt:lpstr>In-Place Methods Return None</vt:lpstr>
      <vt:lpstr>Tuple Subtlety: Mutable Contents</vt:lpstr>
      <vt:lpstr>Tuple Subtlety: the Odd Case</vt:lpstr>
      <vt:lpstr>Functions and Arguments</vt:lpstr>
      <vt:lpstr>Passing Arguments</vt:lpstr>
      <vt:lpstr>Arguments: Consequences</vt:lpstr>
      <vt:lpstr>The Mutable Default Argument Trap</vt:lpstr>
      <vt:lpstr>The Bug</vt:lpstr>
      <vt:lpstr>The Fix: a None Sentinel</vt:lpstr>
      <vt:lpstr>Test Scenario: collect_errors</vt:lpstr>
      <vt:lpstr>Aliasing and Copying</vt:lpstr>
      <vt:lpstr>Multiplying a List of Lists</vt:lpstr>
      <vt:lpstr>Shared Test Data</vt:lpstr>
      <vt:lpstr>Shallow Copies</vt:lpstr>
      <vt:lpstr>Shallow Copy Shares Inner Objects</vt:lpstr>
      <vt:lpstr>Deep Copy</vt:lpstr>
      <vt:lpstr>Shallow versus Deep</vt:lpstr>
      <vt:lpstr>Hashing and Memory</vt:lpstr>
      <vt:lpstr>Why Dict Keys Must Be Hashable</vt:lpstr>
      <vt:lpstr>How Python Manages Memory</vt:lpstr>
      <vt:lpstr>Watching Reference Counts</vt:lpstr>
      <vt:lpstr>Why a Tester Should Care</vt:lpstr>
      <vt:lpstr>Choosing On Purpose</vt:lpstr>
      <vt:lpstr>Code Examples</vt:lpstr>
      <vt:lpstr>Example A: Identity and Mutation</vt:lpstr>
      <vt:lpstr>Example B: A Leak-Free Data Factory</vt:lpstr>
      <vt:lpstr>Example C: Fixing the Default Bug</vt:lpstr>
      <vt:lpstr>Example D: Spotting Aliasing with id()</vt:lpstr>
      <vt:lpstr>Example E: Tuple Keys for Lookups</vt:lpstr>
      <vt:lpstr>Common Mistakes</vt:lpstr>
      <vt:lpstr>Best Practices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1</cp:revision>
  <dcterms:modified xsi:type="dcterms:W3CDTF">2026-10-18T10:16:40Z</dcterms:modified>
</cp:coreProperties>
</file>