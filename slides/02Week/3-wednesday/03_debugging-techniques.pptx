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12192000" cy="6858000"/>
  <p:notesSz cx="6858000" cy="9144000"/>
  <p:defaultTextStyle>
    <a:defPPr>
      <a:defRPr lang="en-I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6562" name="Line 2"/>
          <p:cNvSpPr>
            <a:spLocks noChangeShapeType="1"/>
          </p:cNvSpPr>
          <p:nvPr/>
        </p:nvSpPr>
        <p:spPr bwMode="auto">
          <a:xfrm>
            <a:off x="9753600" y="1066800"/>
            <a:ext cx="0" cy="17526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6563" name="Rectangle 3"/>
          <p:cNvSpPr>
            <a:spLocks noGrp="1" noChangeArrowheads="1"/>
          </p:cNvSpPr>
          <p:nvPr>
            <p:ph type="ctrTitle"/>
          </p:nvPr>
        </p:nvSpPr>
        <p:spPr>
          <a:xfrm>
            <a:off x="1016000" y="457200"/>
            <a:ext cx="8519584" cy="2133600"/>
          </a:xfrm>
        </p:spPr>
        <p:txBody>
          <a:bodyPr/>
          <a:lstStyle>
            <a:lvl1pPr>
              <a:defRPr/>
            </a:lvl1pPr>
          </a:lstStyle>
          <a:p>
            <a:pPr lvl="0"/>
            <a:r>
              <a:rPr lang="en-US" altLang="en-US" noProof="0"/>
              <a:t>Click to edit Master title style</a:t>
            </a:r>
          </a:p>
        </p:txBody>
      </p:sp>
      <p:sp>
        <p:nvSpPr>
          <p:cNvPr id="66564" name="Rectangle 4"/>
          <p:cNvSpPr>
            <a:spLocks noGrp="1" noChangeArrowheads="1"/>
          </p:cNvSpPr>
          <p:nvPr>
            <p:ph type="subTitle" idx="1"/>
          </p:nvPr>
        </p:nvSpPr>
        <p:spPr>
          <a:xfrm>
            <a:off x="1132417" y="3049588"/>
            <a:ext cx="8331200" cy="2362200"/>
          </a:xfrm>
        </p:spPr>
        <p:txBody>
          <a:bodyPr/>
          <a:lstStyle>
            <a:lvl1pPr marL="0" indent="0" algn="r">
              <a:buFont typeface="Wingdings" panose="05000000000000000000" pitchFamily="2" charset="2"/>
              <a:buNone/>
              <a:defRPr/>
            </a:lvl1pPr>
          </a:lstStyle>
          <a:p>
            <a:pPr lvl="0"/>
            <a:r>
              <a:rPr lang="en-US" altLang="en-US" noProof="0"/>
              <a:t>Click to edit Master subtitle style</a:t>
            </a:r>
          </a:p>
        </p:txBody>
      </p:sp>
      <p:sp>
        <p:nvSpPr>
          <p:cNvPr id="66565" name="Rectangle 5"/>
          <p:cNvSpPr>
            <a:spLocks noGrp="1" noChangeArrowheads="1"/>
          </p:cNvSpPr>
          <p:nvPr>
            <p:ph type="dt" sz="half" idx="2"/>
          </p:nvPr>
        </p:nvSpPr>
        <p:spPr/>
        <p:txBody>
          <a:bodyPr/>
          <a:lstStyle>
            <a:lvl1pPr>
              <a:defRPr/>
            </a:lvl1pPr>
          </a:lstStyle>
          <a:p>
            <a:fld id="{F304A9D6-1313-4D51-A62E-402D441D9A7B}" type="datetime1">
              <a:rPr lang="en-US" smtClean="0"/>
              <a:t>10/18/2026</a:t>
            </a:fld>
            <a:endParaRPr lang="en-US"/>
          </a:p>
        </p:txBody>
      </p:sp>
      <p:sp>
        <p:nvSpPr>
          <p:cNvPr id="66566" name="Rectangle 6"/>
          <p:cNvSpPr>
            <a:spLocks noGrp="1" noChangeArrowheads="1"/>
          </p:cNvSpPr>
          <p:nvPr>
            <p:ph type="ftr" sz="quarter" idx="3"/>
          </p:nvPr>
        </p:nvSpPr>
        <p:spPr/>
        <p:txBody>
          <a:bodyPr/>
          <a:lstStyle>
            <a:lvl1pPr>
              <a:defRPr/>
            </a:lvl1pPr>
          </a:lstStyle>
          <a:p>
            <a:endParaRPr lang="en-US"/>
          </a:p>
        </p:txBody>
      </p:sp>
      <p:sp>
        <p:nvSpPr>
          <p:cNvPr id="66567" name="Rectangle 7"/>
          <p:cNvSpPr>
            <a:spLocks noGrp="1" noChangeArrowheads="1"/>
          </p:cNvSpPr>
          <p:nvPr>
            <p:ph type="sldNum" sz="quarter" idx="4"/>
          </p:nvPr>
        </p:nvSpPr>
        <p:spPr/>
        <p:txBody>
          <a:bodyPr/>
          <a:lstStyle>
            <a:lvl1pPr>
              <a:defRPr/>
            </a:lvl1pPr>
          </a:lstStyle>
          <a:p>
            <a:fld id="{83385899-0B10-4821-AAA8-DC5305EDD7F2}" type="slidenum">
              <a:rPr lang="en-US" smtClean="0"/>
              <a:t>‹#›</a:t>
            </a:fld>
            <a:endParaRPr lang="en-US"/>
          </a:p>
        </p:txBody>
      </p:sp>
      <p:sp>
        <p:nvSpPr>
          <p:cNvPr id="66568" name="Line 8"/>
          <p:cNvSpPr>
            <a:spLocks noChangeShapeType="1"/>
          </p:cNvSpPr>
          <p:nvPr/>
        </p:nvSpPr>
        <p:spPr bwMode="auto">
          <a:xfrm>
            <a:off x="1117600" y="2819400"/>
            <a:ext cx="8636000" cy="0"/>
          </a:xfrm>
          <a:prstGeom prst="line">
            <a:avLst/>
          </a:prstGeom>
          <a:noFill/>
          <a:ln w="63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grpSp>
        <p:nvGrpSpPr>
          <p:cNvPr id="66569" name="Group 9" descr="decorative graphic made up of dots"/>
          <p:cNvGrpSpPr>
            <a:grpSpLocks/>
          </p:cNvGrpSpPr>
          <p:nvPr/>
        </p:nvGrpSpPr>
        <p:grpSpPr bwMode="auto">
          <a:xfrm>
            <a:off x="9956801" y="1219200"/>
            <a:ext cx="1056217" cy="1295400"/>
            <a:chOff x="5136" y="960"/>
            <a:chExt cx="528" cy="864"/>
          </a:xfrm>
        </p:grpSpPr>
        <p:sp>
          <p:nvSpPr>
            <p:cNvPr id="66570" name="Oval 10"/>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1" name="Oval 11"/>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2" name="Oval 12"/>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3" name="Oval 13"/>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4" name="Oval 14"/>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5" name="Oval 15"/>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6" name="Oval 16"/>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7" name="Oval 17"/>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8" name="Oval 18"/>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79" name="Oval 19"/>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0" name="Oval 20"/>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1" name="Oval 21"/>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2" name="Oval 22"/>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3" name="Oval 23"/>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4" name="Oval 24"/>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5" name="Oval 25"/>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6" name="Oval 26"/>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7" name="Oval 27"/>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8" name="Oval 28"/>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89" name="Oval 29"/>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0" name="Oval 30"/>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1" name="Oval 31"/>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2" name="Oval 32"/>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3" name="Oval 33"/>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4" name="Oval 34"/>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5" name="Oval 35"/>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6" name="Oval 36"/>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7" name="Oval 37"/>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8" name="Oval 38"/>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599" name="Oval 39"/>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0" name="Oval 40"/>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grpSp>
        <p:nvGrpSpPr>
          <p:cNvPr id="66601" name="Group 41" descr="decorative graphic made up of dots"/>
          <p:cNvGrpSpPr>
            <a:grpSpLocks/>
          </p:cNvGrpSpPr>
          <p:nvPr/>
        </p:nvGrpSpPr>
        <p:grpSpPr bwMode="auto">
          <a:xfrm>
            <a:off x="9956801" y="1219200"/>
            <a:ext cx="1056217" cy="1295400"/>
            <a:chOff x="5136" y="960"/>
            <a:chExt cx="528" cy="864"/>
          </a:xfrm>
        </p:grpSpPr>
        <p:sp>
          <p:nvSpPr>
            <p:cNvPr id="66602" name="Oval 42"/>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3" name="Oval 43"/>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4" name="Oval 44"/>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5" name="Oval 45"/>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6" name="Oval 46"/>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7" name="Oval 47"/>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8" name="Oval 48"/>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09" name="Oval 49"/>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0" name="Oval 50"/>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1" name="Oval 51"/>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2" name="Oval 52"/>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3" name="Oval 53"/>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4" name="Oval 54"/>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5" name="Oval 55"/>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6" name="Oval 56"/>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7" name="Oval 57"/>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8" name="Oval 58"/>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19" name="Oval 59"/>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0" name="Oval 60"/>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1" name="Oval 61"/>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2" name="Oval 62"/>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3" name="Oval 63"/>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4" name="Oval 64"/>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5" name="Oval 65"/>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6" name="Oval 66"/>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7" name="Oval 67"/>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8" name="Oval 68"/>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29" name="Oval 69"/>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0" name="Oval 70"/>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1" name="Oval 71"/>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6632" name="Oval 72"/>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08955" y="6247726"/>
            <a:ext cx="499764" cy="460309"/>
          </a:xfrm>
          <a:prstGeom prst="rect">
            <a:avLst/>
          </a:prstGeom>
        </p:spPr>
      </p:pic>
    </p:spTree>
    <p:extLst>
      <p:ext uri="{BB962C8B-B14F-4D97-AF65-F5344CB8AC3E}">
        <p14:creationId xmlns:p14="http://schemas.microsoft.com/office/powerpoint/2010/main" val="3085256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44A8556-2F07-416B-A81B-5F1C3AFD01EF}"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7954" y="6261305"/>
            <a:ext cx="499764" cy="460309"/>
          </a:xfrm>
          <a:prstGeom prst="rect">
            <a:avLst/>
          </a:prstGeom>
        </p:spPr>
      </p:pic>
    </p:spTree>
    <p:extLst>
      <p:ext uri="{BB962C8B-B14F-4D97-AF65-F5344CB8AC3E}">
        <p14:creationId xmlns:p14="http://schemas.microsoft.com/office/powerpoint/2010/main" val="673722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6729637-7636-4388-949A-FC8BFDAA4705}"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706092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lvl1pPr>
              <a:defRPr/>
            </a:lvl1pPr>
          </a:lstStyle>
          <a:p>
            <a:fld id="{A0F5DED8-6456-47A2-A5CC-BE8BEC6BD892}"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9191744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lvl1pPr>
              <a:defRPr/>
            </a:lvl1pPr>
          </a:lstStyle>
          <a:p>
            <a:fld id="{17595759-8665-4708-8376-28A90FA13BDD}" type="datetime1">
              <a:rPr lang="en-US" smtClean="0"/>
              <a:t>10/18/2026</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8297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lvl1pPr>
              <a:defRPr/>
            </a:lvl1pPr>
          </a:lstStyle>
          <a:p>
            <a:fld id="{A3B0C243-4A55-4741-8265-C0A2FA769F7B}" type="datetime1">
              <a:rPr lang="en-US" smtClean="0"/>
              <a:t>10/18/2026</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278546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A99A12F7-971D-41C1-A2B7-EBB58FF381A3}" type="datetime1">
              <a:rPr lang="en-US" smtClean="0"/>
              <a:t>10/18/2026</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381112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E3C3D28-2E0C-4F8B-A45D-9E87921943BF}"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480995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020A2-9D30-48AD-A70D-69AD2B027FCA}" type="datetime1">
              <a:rPr lang="en-US" smtClean="0"/>
              <a:t>10/18/2026</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3121103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F01F6343-4644-43E3-AA07-6869EC7CEA0D}"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892150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22239"/>
            <a:ext cx="2743200" cy="6008687"/>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122239"/>
            <a:ext cx="80264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fld id="{0CA0A126-F3CA-45B4-970B-597BE67A203E}" type="datetime1">
              <a:rPr lang="en-US" smtClean="0"/>
              <a:t>10/18/2026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3385899-0B10-4821-AAA8-DC5305EDD7F2}" type="slidenum">
              <a:rPr lang="en-US" smtClean="0"/>
              <a:t>‹#›</a:t>
            </a:fld>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40294651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10058400" cy="12954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719263"/>
            <a:ext cx="53848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609600" y="6248400"/>
            <a:ext cx="2844800" cy="457200"/>
          </a:xfrm>
        </p:spPr>
        <p:txBody>
          <a:bodyPr/>
          <a:lstStyle>
            <a:lvl1pPr>
              <a:defRPr/>
            </a:lvl1pPr>
          </a:lstStyle>
          <a:p>
            <a:fld id="{16815F9B-CAFE-4C37-897A-C6403744783F}" type="datetime1">
              <a:rPr lang="en-US" smtClean="0"/>
              <a:t>10/18/2026</a:t>
            </a:fld>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844800" cy="457200"/>
          </a:xfrm>
        </p:spPr>
        <p:txBody>
          <a:bodyPr/>
          <a:lstStyle>
            <a:lvl1pPr>
              <a:defRPr/>
            </a:lvl1pPr>
          </a:lstStyle>
          <a:p>
            <a:fld id="{83385899-0B10-4821-AAA8-DC5305EDD7F2}" type="slidenum">
              <a:rPr lang="en-US" smtClean="0"/>
              <a:t>‹#›</a:t>
            </a:fld>
            <a:endParaRPr lang="en-US"/>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9209" y="6247726"/>
            <a:ext cx="499764" cy="460309"/>
          </a:xfrm>
          <a:prstGeom prst="rect">
            <a:avLst/>
          </a:prstGeom>
        </p:spPr>
      </p:pic>
    </p:spTree>
    <p:extLst>
      <p:ext uri="{BB962C8B-B14F-4D97-AF65-F5344CB8AC3E}">
        <p14:creationId xmlns:p14="http://schemas.microsoft.com/office/powerpoint/2010/main" val="1737879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5538" name="Line 2"/>
          <p:cNvSpPr>
            <a:spLocks noChangeShapeType="1"/>
          </p:cNvSpPr>
          <p:nvPr/>
        </p:nvSpPr>
        <p:spPr bwMode="auto">
          <a:xfrm>
            <a:off x="10668000" y="0"/>
            <a:ext cx="0" cy="152400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
        <p:nvSpPr>
          <p:cNvPr id="65539"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5540" name="Rectangle 4"/>
          <p:cNvSpPr>
            <a:spLocks noGrp="1" noChangeArrowheads="1"/>
          </p:cNvSpPr>
          <p:nvPr>
            <p:ph type="body" idx="1"/>
          </p:nvPr>
        </p:nvSpPr>
        <p:spPr bwMode="auto">
          <a:xfrm>
            <a:off x="609600" y="1719263"/>
            <a:ext cx="109728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5541" name="Rectangle 5"/>
          <p:cNvSpPr>
            <a:spLocks noGrp="1" noChangeArrowheads="1"/>
          </p:cNvSpPr>
          <p:nvPr>
            <p:ph type="dt" sz="half" idx="2"/>
          </p:nvPr>
        </p:nvSpPr>
        <p:spPr bwMode="auto">
          <a:xfrm>
            <a:off x="609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000"/>
            </a:lvl1pPr>
          </a:lstStyle>
          <a:p>
            <a:fld id="{C569D4A1-8BB6-4430-9601-3FBC79908E8C}" type="datetime1">
              <a:rPr lang="en-US" smtClean="0"/>
              <a:t>10/18/2026</a:t>
            </a:fld>
            <a:endParaRPr lang="en-US"/>
          </a:p>
        </p:txBody>
      </p:sp>
      <p:sp>
        <p:nvSpPr>
          <p:cNvPr id="65542" name="Rectangle 6"/>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000"/>
            </a:lvl1pPr>
          </a:lstStyle>
          <a:p>
            <a:endParaRPr lang="en-US"/>
          </a:p>
        </p:txBody>
      </p:sp>
      <p:sp>
        <p:nvSpPr>
          <p:cNvPr id="65543" name="Rectangle 7"/>
          <p:cNvSpPr>
            <a:spLocks noGrp="1" noChangeArrowheads="1"/>
          </p:cNvSpPr>
          <p:nvPr>
            <p:ph type="sldNum" sz="quarter" idx="4"/>
          </p:nvPr>
        </p:nvSpPr>
        <p:spPr bwMode="auto">
          <a:xfrm>
            <a:off x="8737600" y="6248400"/>
            <a:ext cx="284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000"/>
            </a:lvl1pPr>
          </a:lstStyle>
          <a:p>
            <a:fld id="{83385899-0B10-4821-AAA8-DC5305EDD7F2}" type="slidenum">
              <a:rPr lang="en-US" smtClean="0"/>
              <a:t>‹#›</a:t>
            </a:fld>
            <a:endParaRPr lang="en-US"/>
          </a:p>
        </p:txBody>
      </p:sp>
      <p:grpSp>
        <p:nvGrpSpPr>
          <p:cNvPr id="65544" name="Group 8" descr="decorative graphic made up of dots"/>
          <p:cNvGrpSpPr>
            <a:grpSpLocks/>
          </p:cNvGrpSpPr>
          <p:nvPr/>
        </p:nvGrpSpPr>
        <p:grpSpPr bwMode="auto">
          <a:xfrm>
            <a:off x="10871201" y="152400"/>
            <a:ext cx="1056217" cy="1295400"/>
            <a:chOff x="5136" y="960"/>
            <a:chExt cx="528" cy="864"/>
          </a:xfrm>
        </p:grpSpPr>
        <p:sp>
          <p:nvSpPr>
            <p:cNvPr id="65545"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6"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7"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8"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49"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0"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1"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2"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3"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4"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5"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6"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7"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8"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59"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0"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1"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2"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3"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4"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5"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6"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7"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8"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69"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0"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1"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2"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3"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4"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sp>
          <p:nvSpPr>
            <p:cNvPr id="65575"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sz="1800"/>
            </a:p>
          </p:txBody>
        </p:sp>
      </p:grpSp>
      <p:sp>
        <p:nvSpPr>
          <p:cNvPr id="65576" name="Line 40"/>
          <p:cNvSpPr>
            <a:spLocks noChangeShapeType="1"/>
          </p:cNvSpPr>
          <p:nvPr/>
        </p:nvSpPr>
        <p:spPr bwMode="auto">
          <a:xfrm>
            <a:off x="609600" y="1524000"/>
            <a:ext cx="10058400" cy="0"/>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sz="1800"/>
          </a:p>
        </p:txBody>
      </p:sp>
    </p:spTree>
    <p:extLst>
      <p:ext uri="{BB962C8B-B14F-4D97-AF65-F5344CB8AC3E}">
        <p14:creationId xmlns:p14="http://schemas.microsoft.com/office/powerpoint/2010/main" val="26342200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900" b="1" kern="1200">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panose="020B0604020202020204" pitchFamily="34" charset="0"/>
        </a:defRPr>
      </a:lvl2pPr>
      <a:lvl3pPr algn="l" rtl="0" eaLnBrk="1" fontAlgn="base" hangingPunct="1">
        <a:spcBef>
          <a:spcPct val="0"/>
        </a:spcBef>
        <a:spcAft>
          <a:spcPct val="0"/>
        </a:spcAft>
        <a:defRPr sz="3900" b="1">
          <a:solidFill>
            <a:schemeClr val="tx2"/>
          </a:solidFill>
          <a:latin typeface="Arial" panose="020B0604020202020204" pitchFamily="34" charset="0"/>
        </a:defRPr>
      </a:lvl3pPr>
      <a:lvl4pPr algn="l" rtl="0" eaLnBrk="1" fontAlgn="base" hangingPunct="1">
        <a:spcBef>
          <a:spcPct val="0"/>
        </a:spcBef>
        <a:spcAft>
          <a:spcPct val="0"/>
        </a:spcAft>
        <a:defRPr sz="3900" b="1">
          <a:solidFill>
            <a:schemeClr val="tx2"/>
          </a:solidFill>
          <a:latin typeface="Arial" panose="020B0604020202020204" pitchFamily="34" charset="0"/>
        </a:defRPr>
      </a:lvl4pPr>
      <a:lvl5pPr algn="l" rtl="0" eaLnBrk="1" fontAlgn="base" hangingPunct="1">
        <a:spcBef>
          <a:spcPct val="0"/>
        </a:spcBef>
        <a:spcAft>
          <a:spcPct val="0"/>
        </a:spcAft>
        <a:defRPr sz="3900" b="1">
          <a:solidFill>
            <a:schemeClr val="tx2"/>
          </a:solidFill>
          <a:latin typeface="Arial" panose="020B0604020202020204" pitchFamily="34" charset="0"/>
        </a:defRPr>
      </a:lvl5pPr>
      <a:lvl6pPr marL="457200" algn="l" rtl="0" eaLnBrk="1" fontAlgn="base" hangingPunct="1">
        <a:spcBef>
          <a:spcPct val="0"/>
        </a:spcBef>
        <a:spcAft>
          <a:spcPct val="0"/>
        </a:spcAft>
        <a:defRPr sz="3900" b="1">
          <a:solidFill>
            <a:schemeClr val="tx2"/>
          </a:solidFill>
          <a:latin typeface="Arial" panose="020B0604020202020204" pitchFamily="34" charset="0"/>
        </a:defRPr>
      </a:lvl6pPr>
      <a:lvl7pPr marL="914400" algn="l" rtl="0" eaLnBrk="1" fontAlgn="base" hangingPunct="1">
        <a:spcBef>
          <a:spcPct val="0"/>
        </a:spcBef>
        <a:spcAft>
          <a:spcPct val="0"/>
        </a:spcAft>
        <a:defRPr sz="3900" b="1">
          <a:solidFill>
            <a:schemeClr val="tx2"/>
          </a:solidFill>
          <a:latin typeface="Arial" panose="020B0604020202020204" pitchFamily="34" charset="0"/>
        </a:defRPr>
      </a:lvl7pPr>
      <a:lvl8pPr marL="1371600" algn="l" rtl="0" eaLnBrk="1" fontAlgn="base" hangingPunct="1">
        <a:spcBef>
          <a:spcPct val="0"/>
        </a:spcBef>
        <a:spcAft>
          <a:spcPct val="0"/>
        </a:spcAft>
        <a:defRPr sz="3900" b="1">
          <a:solidFill>
            <a:schemeClr val="tx2"/>
          </a:solidFill>
          <a:latin typeface="Arial" panose="020B0604020202020204" pitchFamily="34" charset="0"/>
        </a:defRPr>
      </a:lvl8pPr>
      <a:lvl9pPr marL="1828800" algn="l" rtl="0" eaLnBrk="1" fontAlgn="base" hangingPunct="1">
        <a:spcBef>
          <a:spcPct val="0"/>
        </a:spcBef>
        <a:spcAft>
          <a:spcPct val="0"/>
        </a:spcAft>
        <a:defRPr sz="3900" b="1">
          <a:solidFill>
            <a:schemeClr val="tx2"/>
          </a:solidFill>
          <a:latin typeface="Arial" panose="020B0604020202020204" pitchFamily="34" charset="0"/>
        </a:defRPr>
      </a:lvl9pPr>
    </p:titleStyle>
    <p:bodyStyle>
      <a:lvl1pPr marL="342900" indent="-342900" algn="l" rtl="0" eaLnBrk="1" fontAlgn="base" hangingPunct="1">
        <a:spcBef>
          <a:spcPct val="20000"/>
        </a:spcBef>
        <a:spcAft>
          <a:spcPct val="0"/>
        </a:spcAft>
        <a:buClr>
          <a:schemeClr val="tx2"/>
        </a:buClr>
        <a:buSzPct val="70000"/>
        <a:buFont typeface="Wingdings" panose="05000000000000000000" pitchFamily="2" charset="2"/>
        <a:buChar char="l"/>
        <a:defRPr sz="3000" kern="12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3688" algn="l" rtl="0" eaLnBrk="1" fontAlgn="base" hangingPunct="1">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113" indent="-292100" algn="l" rtl="0" eaLnBrk="1" fontAlgn="base" hangingPunct="1">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613" indent="-315913" algn="l" rtl="0" eaLnBrk="1" fontAlgn="base" hangingPunct="1">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Debugging Techniques</a:t>
            </a:r>
          </a:p>
        </p:txBody>
      </p:sp>
      <p:sp>
        <p:nvSpPr>
          <p:cNvPr id="4" name="TextBox 3"/>
          <p:cNvSpPr txBox="1"/>
          <p:nvPr/>
        </p:nvSpPr>
        <p:spPr>
          <a:xfrm>
            <a:off x="609904" y="2057400"/>
            <a:ext cx="8777508" cy="1097280"/>
          </a:xfrm>
          <a:prstGeom prst="rect">
            <a:avLst/>
          </a:prstGeom>
          <a:noFill/>
        </p:spPr>
        <p:txBody>
          <a:bodyPr wrap="square" lIns="0" tIns="0" rIns="0" bIns="0" anchor="t">
            <a:spAutoFit/>
          </a:bodyPr>
          <a:lstStyle/>
          <a:p>
            <a:pPr algn="l">
              <a:lnSpc>
                <a:spcPct val="110000"/>
              </a:lnSpc>
              <a:spcAft>
                <a:spcPts val="600"/>
              </a:spcAft>
            </a:pPr>
            <a:r>
              <a:rPr sz="2200" b="0" i="0">
                <a:solidFill>
                  <a:srgbClr val="5A5A5A"/>
                </a:solidFill>
                <a:latin typeface="Arial"/>
              </a:rPr>
              <a:t>Find the root cause of a failure with evidence: read tracebacks, use print, assertions and pdb, and isolate the problem.</a:t>
            </a:r>
          </a:p>
        </p:txBody>
      </p:sp>
      <p:sp>
        <p:nvSpPr>
          <p:cNvPr id="5" name="Rounded Rectangle 4"/>
          <p:cNvSpPr/>
          <p:nvPr/>
        </p:nvSpPr>
        <p:spPr>
          <a:xfrm>
            <a:off x="609904" y="3520439"/>
            <a:ext cx="1537335" cy="402336"/>
          </a:xfrm>
          <a:prstGeom prst="roundRect">
            <a:avLst>
              <a:gd name="adj" fmla="val 50000"/>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FFFFFF"/>
                </a:solidFill>
                <a:latin typeface="Arial"/>
              </a:rPr>
              <a:t>traceback</a:t>
            </a:r>
          </a:p>
        </p:txBody>
      </p:sp>
      <p:sp>
        <p:nvSpPr>
          <p:cNvPr id="6" name="Right Arrow 5"/>
          <p:cNvSpPr/>
          <p:nvPr/>
        </p:nvSpPr>
        <p:spPr>
          <a:xfrm>
            <a:off x="223867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2604439" y="3520439"/>
            <a:ext cx="105727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print</a:t>
            </a:r>
          </a:p>
        </p:txBody>
      </p:sp>
      <p:sp>
        <p:nvSpPr>
          <p:cNvPr id="8" name="Right Arrow 7"/>
          <p:cNvSpPr/>
          <p:nvPr/>
        </p:nvSpPr>
        <p:spPr>
          <a:xfrm>
            <a:off x="375315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118914" y="3520439"/>
            <a:ext cx="117729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assert</a:t>
            </a:r>
          </a:p>
        </p:txBody>
      </p:sp>
      <p:sp>
        <p:nvSpPr>
          <p:cNvPr id="10" name="Right Arrow 9"/>
          <p:cNvSpPr/>
          <p:nvPr/>
        </p:nvSpPr>
        <p:spPr>
          <a:xfrm>
            <a:off x="538764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753404" y="3520439"/>
            <a:ext cx="81724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pdb</a:t>
            </a:r>
          </a:p>
        </p:txBody>
      </p:sp>
      <p:sp>
        <p:nvSpPr>
          <p:cNvPr id="12" name="Right Arrow 11"/>
          <p:cNvSpPr/>
          <p:nvPr/>
        </p:nvSpPr>
        <p:spPr>
          <a:xfrm>
            <a:off x="6662089"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027849" y="3520439"/>
            <a:ext cx="1537335"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isolation</a:t>
            </a:r>
          </a:p>
        </p:txBody>
      </p:sp>
      <p:sp>
        <p:nvSpPr>
          <p:cNvPr id="14" name="Right Arrow 13"/>
          <p:cNvSpPr/>
          <p:nvPr/>
        </p:nvSpPr>
        <p:spPr>
          <a:xfrm>
            <a:off x="8656624" y="3630167"/>
            <a:ext cx="274320" cy="18288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022384" y="3520439"/>
            <a:ext cx="1897380" cy="402336"/>
          </a:xfrm>
          <a:prstGeom prst="roundRect">
            <a:avLst>
              <a:gd name="adj" fmla="val 50000"/>
            </a:avLst>
          </a:prstGeom>
          <a:solidFill>
            <a:srgbClr val="EDE6F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50" b="1">
                <a:solidFill>
                  <a:srgbClr val="330066"/>
                </a:solidFill>
                <a:latin typeface="Arial"/>
              </a:rPr>
              <a:t>IDE debugger</a:t>
            </a:r>
          </a:p>
        </p:txBody>
      </p:sp>
      <p:sp>
        <p:nvSpPr>
          <p:cNvPr id="16" name="Oval 15"/>
          <p:cNvSpPr/>
          <p:nvPr/>
        </p:nvSpPr>
        <p:spPr>
          <a:xfrm>
            <a:off x="609904" y="5596128"/>
            <a:ext cx="292608" cy="29260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7" name="Oval 16"/>
          <p:cNvSpPr/>
          <p:nvPr/>
        </p:nvSpPr>
        <p:spPr>
          <a:xfrm>
            <a:off x="1067104" y="5596128"/>
            <a:ext cx="292608" cy="292608"/>
          </a:xfrm>
          <a:prstGeom prst="ellipse">
            <a:avLst/>
          </a:prstGeom>
          <a:solidFill>
            <a:srgbClr val="669999"/>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8" name="Oval 17"/>
          <p:cNvSpPr/>
          <p:nvPr/>
        </p:nvSpPr>
        <p:spPr>
          <a:xfrm>
            <a:off x="1524304" y="5596128"/>
            <a:ext cx="292608" cy="292608"/>
          </a:xfrm>
          <a:prstGeom prst="ellipse">
            <a:avLst/>
          </a:prstGeom>
          <a:solidFill>
            <a:srgbClr val="CCCC0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(1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Define bug, defect, failure and debugging; tell syntax, runtime and logic errors apart.</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Follow a repeatable debugging process: reproduce, isolate, hypothesise, test, fix, verify.</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Read a Python traceback from the bottom up: exception, message, file, line, call chain.</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Use print debugging effectively and know its limits.</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 / 63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Learning Objectives (2 of 2)</a:t>
            </a:r>
          </a:p>
        </p:txBody>
      </p:sp>
      <p:sp>
        <p:nvSpPr>
          <p:cNvPr id="3" name="Oval 2"/>
          <p:cNvSpPr/>
          <p:nvPr/>
        </p:nvSpPr>
        <p:spPr>
          <a:xfrm>
            <a:off x="609904" y="1874519"/>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76832" y="1783079"/>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Use assertions as debugging aids to catch bad assumptions early.</a:t>
            </a:r>
          </a:p>
        </p:txBody>
      </p:sp>
      <p:sp>
        <p:nvSpPr>
          <p:cNvPr id="5" name="Oval 4"/>
          <p:cNvSpPr/>
          <p:nvPr/>
        </p:nvSpPr>
        <p:spPr>
          <a:xfrm>
            <a:off x="609904" y="2532887"/>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76832" y="2441447"/>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Use </a:t>
            </a:r>
            <a:r>
              <a:rPr sz="1550" b="0" i="0">
                <a:solidFill>
                  <a:srgbClr val="330066"/>
                </a:solidFill>
                <a:latin typeface="Courier New"/>
              </a:rPr>
              <a:t>pdb</a:t>
            </a:r>
            <a:r>
              <a:rPr sz="1600" b="0" i="0">
                <a:solidFill>
                  <a:srgbClr val="1A1A1A"/>
                </a:solidFill>
                <a:latin typeface="Arial"/>
              </a:rPr>
              <a:t>: </a:t>
            </a:r>
            <a:r>
              <a:rPr sz="1550" b="0" i="0">
                <a:solidFill>
                  <a:srgbClr val="330066"/>
                </a:solidFill>
                <a:latin typeface="Courier New"/>
              </a:rPr>
              <a:t>breakpoint()</a:t>
            </a:r>
            <a:r>
              <a:rPr sz="1600" b="0" i="0">
                <a:solidFill>
                  <a:srgbClr val="1A1A1A"/>
                </a:solidFill>
                <a:latin typeface="Arial"/>
              </a:rPr>
              <a:t>, stepping, inspecting variables, the call stack, conditional breakpoints, post-mortem.</a:t>
            </a:r>
          </a:p>
        </p:txBody>
      </p:sp>
      <p:sp>
        <p:nvSpPr>
          <p:cNvPr id="7" name="Oval 6"/>
          <p:cNvSpPr/>
          <p:nvPr/>
        </p:nvSpPr>
        <p:spPr>
          <a:xfrm>
            <a:off x="609904" y="3191256"/>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76832" y="3099815"/>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Describe the IDE visual debugger (VS Code / PyCharm): breakpoints, watches, step over/into/out.</a:t>
            </a:r>
          </a:p>
        </p:txBody>
      </p:sp>
      <p:sp>
        <p:nvSpPr>
          <p:cNvPr id="9" name="Oval 8"/>
          <p:cNvSpPr/>
          <p:nvPr/>
        </p:nvSpPr>
        <p:spPr>
          <a:xfrm>
            <a:off x="609904" y="3849624"/>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0" name="TextBox 9"/>
          <p:cNvSpPr txBox="1"/>
          <p:nvPr/>
        </p:nvSpPr>
        <p:spPr>
          <a:xfrm>
            <a:off x="1176832" y="3758184"/>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Apply minimal reproducible examples, binary search and rubber-duck debugging.</a:t>
            </a:r>
          </a:p>
        </p:txBody>
      </p:sp>
      <p:sp>
        <p:nvSpPr>
          <p:cNvPr id="11" name="Oval 10"/>
          <p:cNvSpPr/>
          <p:nvPr/>
        </p:nvSpPr>
        <p:spPr>
          <a:xfrm>
            <a:off x="609904" y="4507992"/>
            <a:ext cx="402336" cy="402336"/>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2" name="TextBox 11"/>
          <p:cNvSpPr txBox="1"/>
          <p:nvPr/>
        </p:nvSpPr>
        <p:spPr>
          <a:xfrm>
            <a:off x="1176832" y="4416552"/>
            <a:ext cx="10404957" cy="585216"/>
          </a:xfrm>
          <a:prstGeom prst="rect">
            <a:avLst/>
          </a:prstGeom>
          <a:noFill/>
        </p:spPr>
        <p:txBody>
          <a:bodyPr wrap="square" lIns="0" tIns="0" rIns="0" bIns="0" anchor="ctr">
            <a:spAutoFit/>
          </a:bodyPr>
          <a:lstStyle/>
          <a:p>
            <a:pPr algn="l">
              <a:lnSpc>
                <a:spcPct val="110000"/>
              </a:lnSpc>
              <a:spcAft>
                <a:spcPts val="600"/>
              </a:spcAft>
            </a:pPr>
            <a:r>
              <a:rPr sz="1600" b="0" i="0">
                <a:solidFill>
                  <a:srgbClr val="1A1A1A"/>
                </a:solidFill>
                <a:latin typeface="Arial"/>
              </a:rPr>
              <a:t>Debug failing tests: tell a defect in the product from a defect in the test.</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 / 63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Why This Matters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TextBox 3"/>
          <p:cNvSpPr txBox="1"/>
          <p:nvPr/>
        </p:nvSpPr>
        <p:spPr>
          <a:xfrm>
            <a:off x="609904" y="1783080"/>
            <a:ext cx="10971885" cy="82296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Much of a developer's time goes into understanding why something does not behave as expected. For a Quality Engineer, your whole job is the gap between expected and actual behaviour. Is the cause in:</a:t>
            </a:r>
          </a:p>
        </p:txBody>
      </p:sp>
      <p:sp>
        <p:nvSpPr>
          <p:cNvPr id="5" name="Oval 4"/>
          <p:cNvSpPr/>
          <p:nvPr/>
        </p:nvSpPr>
        <p:spPr>
          <a:xfrm>
            <a:off x="609904" y="26974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6" name="TextBox 5"/>
          <p:cNvSpPr txBox="1"/>
          <p:nvPr/>
        </p:nvSpPr>
        <p:spPr>
          <a:xfrm>
            <a:off x="1158544" y="2734056"/>
            <a:ext cx="10423245" cy="545782"/>
          </a:xfrm>
          <a:prstGeom prst="rect">
            <a:avLst/>
          </a:prstGeom>
          <a:noFill/>
        </p:spPr>
        <p:txBody>
          <a:bodyPr wrap="square" lIns="0" tIns="0" rIns="0" bIns="0" anchor="t">
            <a:spAutoFit/>
          </a:bodyPr>
          <a:lstStyle/>
          <a:p>
            <a:pPr algn="l">
              <a:lnSpc>
                <a:spcPct val="110000"/>
              </a:lnSpc>
              <a:spcAft>
                <a:spcPts val="200"/>
              </a:spcAft>
            </a:pPr>
            <a:r>
              <a:rPr sz="1600" b="1" i="0">
                <a:solidFill>
                  <a:srgbClr val="330066"/>
                </a:solidFill>
                <a:latin typeface="Arial"/>
              </a:rPr>
              <a:t>The product</a:t>
            </a:r>
          </a:p>
          <a:p>
            <a:pPr algn="l">
              <a:lnSpc>
                <a:spcPct val="110000"/>
              </a:lnSpc>
              <a:spcAft>
                <a:spcPts val="600"/>
              </a:spcAft>
            </a:pPr>
            <a:r>
              <a:rPr sz="1550" b="0" i="0">
                <a:solidFill>
                  <a:srgbClr val="1A1A1A"/>
                </a:solidFill>
                <a:latin typeface="Arial"/>
              </a:rPr>
              <a:t>A real defect to report.</a:t>
            </a:r>
          </a:p>
        </p:txBody>
      </p:sp>
      <p:sp>
        <p:nvSpPr>
          <p:cNvPr id="7" name="Oval 6"/>
          <p:cNvSpPr/>
          <p:nvPr/>
        </p:nvSpPr>
        <p:spPr>
          <a:xfrm>
            <a:off x="609904" y="338042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8" name="TextBox 7"/>
          <p:cNvSpPr txBox="1"/>
          <p:nvPr/>
        </p:nvSpPr>
        <p:spPr>
          <a:xfrm>
            <a:off x="1158544" y="3416998"/>
            <a:ext cx="10423245" cy="545782"/>
          </a:xfrm>
          <a:prstGeom prst="rect">
            <a:avLst/>
          </a:prstGeom>
          <a:noFill/>
        </p:spPr>
        <p:txBody>
          <a:bodyPr wrap="square" lIns="0" tIns="0" rIns="0" bIns="0" anchor="t">
            <a:spAutoFit/>
          </a:bodyPr>
          <a:lstStyle/>
          <a:p>
            <a:pPr algn="l">
              <a:lnSpc>
                <a:spcPct val="110000"/>
              </a:lnSpc>
              <a:spcAft>
                <a:spcPts val="200"/>
              </a:spcAft>
            </a:pPr>
            <a:r>
              <a:rPr sz="1600" b="1" i="0">
                <a:solidFill>
                  <a:srgbClr val="330066"/>
                </a:solidFill>
                <a:latin typeface="Arial"/>
              </a:rPr>
              <a:t>The test code</a:t>
            </a:r>
          </a:p>
          <a:p>
            <a:pPr algn="l">
              <a:lnSpc>
                <a:spcPct val="110000"/>
              </a:lnSpc>
              <a:spcAft>
                <a:spcPts val="600"/>
              </a:spcAft>
            </a:pPr>
            <a:r>
              <a:rPr sz="1550" b="0" i="0">
                <a:solidFill>
                  <a:srgbClr val="1A1A1A"/>
                </a:solidFill>
                <a:latin typeface="Arial"/>
              </a:rPr>
              <a:t>A bug in your automation.</a:t>
            </a:r>
          </a:p>
        </p:txBody>
      </p:sp>
      <p:sp>
        <p:nvSpPr>
          <p:cNvPr id="9" name="Oval 8"/>
          <p:cNvSpPr/>
          <p:nvPr/>
        </p:nvSpPr>
        <p:spPr>
          <a:xfrm>
            <a:off x="609904" y="406336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0" name="TextBox 9"/>
          <p:cNvSpPr txBox="1"/>
          <p:nvPr/>
        </p:nvSpPr>
        <p:spPr>
          <a:xfrm>
            <a:off x="1158544" y="4099941"/>
            <a:ext cx="10423245" cy="545782"/>
          </a:xfrm>
          <a:prstGeom prst="rect">
            <a:avLst/>
          </a:prstGeom>
          <a:noFill/>
        </p:spPr>
        <p:txBody>
          <a:bodyPr wrap="square" lIns="0" tIns="0" rIns="0" bIns="0" anchor="t">
            <a:spAutoFit/>
          </a:bodyPr>
          <a:lstStyle/>
          <a:p>
            <a:pPr algn="l">
              <a:lnSpc>
                <a:spcPct val="110000"/>
              </a:lnSpc>
              <a:spcAft>
                <a:spcPts val="200"/>
              </a:spcAft>
            </a:pPr>
            <a:r>
              <a:rPr sz="1600" b="1" i="0">
                <a:solidFill>
                  <a:srgbClr val="330066"/>
                </a:solidFill>
                <a:latin typeface="Arial"/>
              </a:rPr>
              <a:t>Test data or environment</a:t>
            </a:r>
          </a:p>
          <a:p>
            <a:pPr algn="l">
              <a:lnSpc>
                <a:spcPct val="110000"/>
              </a:lnSpc>
              <a:spcAft>
                <a:spcPts val="600"/>
              </a:spcAft>
            </a:pPr>
            <a:r>
              <a:rPr sz="1550" b="0" i="0">
                <a:solidFill>
                  <a:srgbClr val="1A1A1A"/>
                </a:solidFill>
                <a:latin typeface="Arial"/>
              </a:rPr>
              <a:t>Stale data, missing config, a service that is down.</a:t>
            </a:r>
          </a:p>
        </p:txBody>
      </p:sp>
      <p:sp>
        <p:nvSpPr>
          <p:cNvPr id="11" name="Rounded Rectangle 10"/>
          <p:cNvSpPr/>
          <p:nvPr/>
        </p:nvSpPr>
        <p:spPr>
          <a:xfrm>
            <a:off x="609904" y="5093208"/>
            <a:ext cx="10971885" cy="960120"/>
          </a:xfrm>
          <a:prstGeom prst="roundRect">
            <a:avLst>
              <a:gd name="adj" fmla="val 8571"/>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8504" y="5230368"/>
            <a:ext cx="10514685" cy="68580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EVIDENCE</a:t>
            </a:r>
          </a:p>
          <a:p>
            <a:pPr algn="l">
              <a:lnSpc>
                <a:spcPct val="110000"/>
              </a:lnSpc>
              <a:spcAft>
                <a:spcPts val="600"/>
              </a:spcAft>
            </a:pPr>
            <a:r>
              <a:rPr sz="1400" b="0" i="0">
                <a:solidFill>
                  <a:srgbClr val="1A1A1A"/>
                </a:solidFill>
                <a:latin typeface="Arial"/>
              </a:rPr>
              <a:t>Not "the test failed", but "the test fails because the </a:t>
            </a:r>
            <a:r>
              <a:rPr sz="1350" b="0" i="0">
                <a:solidFill>
                  <a:srgbClr val="330066"/>
                </a:solidFill>
                <a:latin typeface="Courier New"/>
              </a:rPr>
              <a:t>discount</a:t>
            </a:r>
            <a:r>
              <a:rPr sz="1400" b="0" i="0">
                <a:solidFill>
                  <a:srgbClr val="1A1A1A"/>
                </a:solidFill>
                <a:latin typeface="Arial"/>
              </a:rPr>
              <a:t> key is missing from the second cart item; the fixture is wrong, not the pricing function."</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 / 63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Where This Fits in the Week</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INTRODUCTION</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Tuesday: exceptions and assertions are the signals a program gives. Today you learn to read and investigate them.</a:t>
            </a:r>
          </a:p>
          <a:p>
            <a:pPr marL="228600" indent="-228600" algn="l">
              <a:spcAft>
                <a:spcPts val="1000"/>
              </a:spcAft>
              <a:buFont typeface="Arial"/>
              <a:buChar char="•"/>
            </a:pPr>
            <a:r>
              <a:rPr sz="1700" b="0" i="0">
                <a:solidFill>
                  <a:srgbClr val="1A1A1A"/>
                </a:solidFill>
                <a:latin typeface="Arial"/>
              </a:rPr>
              <a:t>Earlier today: scope and mutability explain a large share of confusing bugs and give you vocabulary for debugging them.</a:t>
            </a:r>
          </a:p>
          <a:p>
            <a:pPr marL="228600" indent="-228600" algn="l">
              <a:spcAft>
                <a:spcPts val="1000"/>
              </a:spcAft>
              <a:buFont typeface="Arial"/>
              <a:buChar char="•"/>
            </a:pPr>
            <a:r>
              <a:rPr sz="1700" b="0" i="0">
                <a:solidFill>
                  <a:srgbClr val="1A1A1A"/>
                </a:solidFill>
                <a:latin typeface="Arial"/>
              </a:rPr>
              <a:t>Next: logging (a permanent, structured form of print debugging) and unit testing (keeps a bug from coming back).</a:t>
            </a:r>
          </a:p>
          <a:p>
            <a:pPr marL="228600" indent="-228600" algn="l">
              <a:spcAft>
                <a:spcPts val="1000"/>
              </a:spcAft>
              <a:buFont typeface="Arial"/>
              <a:buChar char="•"/>
            </a:pPr>
            <a:r>
              <a:rPr sz="1700" b="0" i="0">
                <a:solidFill>
                  <a:srgbClr val="1A1A1A"/>
                </a:solidFill>
                <a:latin typeface="Arial"/>
              </a:rPr>
              <a:t>Debugging is the first half of the cycle: find the bug now, then protect against it forever.</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 / 63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Concept</a:t>
            </a:r>
          </a:p>
        </p:txBody>
      </p:sp>
      <p:sp>
        <p:nvSpPr>
          <p:cNvPr id="3" name="Text Placeholder 2"/>
          <p:cNvSpPr>
            <a:spLocks noGrp="1"/>
          </p:cNvSpPr>
          <p:nvPr>
            <p:ph type="body" idx="1"/>
          </p:nvPr>
        </p:nvSpPr>
        <p:spPr/>
        <p:txBody>
          <a:bodyPr/>
          <a:lstStyle/>
          <a:p>
            <a:r>
              <a:rPr sz="1800">
                <a:solidFill>
                  <a:srgbClr val="5A5A5A"/>
                </a:solidFill>
              </a:rPr>
              <a:t>Vocabulary, error families, the scientific method, tracebacks</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01</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 / 63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Vocabulary</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a:t>
            </a:r>
          </a:p>
        </p:txBody>
      </p:sp>
      <p:graphicFrame>
        <p:nvGraphicFramePr>
          <p:cNvPr id="4" name="Table 3"/>
          <p:cNvGraphicFramePr>
            <a:graphicFrameLocks noGrp="1"/>
          </p:cNvGraphicFramePr>
          <p:nvPr/>
        </p:nvGraphicFramePr>
        <p:xfrm>
          <a:off x="609904" y="1783080"/>
          <a:ext cx="10971884" cy="2733546"/>
        </p:xfrm>
        <a:graphic>
          <a:graphicData uri="http://schemas.openxmlformats.org/drawingml/2006/table">
            <a:tbl>
              <a:tblPr/>
              <a:tblGrid>
                <a:gridCol w="2413814">
                  <a:extLst>
                    <a:ext uri="{9D8B030D-6E8A-4147-A177-3AD203B41FA5}">
                      <a16:colId xmlns:a16="http://schemas.microsoft.com/office/drawing/2014/main" val="20000"/>
                    </a:ext>
                  </a:extLst>
                </a:gridCol>
                <a:gridCol w="8558070">
                  <a:extLst>
                    <a:ext uri="{9D8B030D-6E8A-4147-A177-3AD203B41FA5}">
                      <a16:colId xmlns:a16="http://schemas.microsoft.com/office/drawing/2014/main" val="20001"/>
                    </a:ext>
                  </a:extLst>
                </a:gridCol>
              </a:tblGrid>
              <a:tr h="384048">
                <a:tc>
                  <a:txBody>
                    <a:bodyPr/>
                    <a:lstStyle/>
                    <a:p>
                      <a:r>
                        <a:rPr sz="1400" b="1">
                          <a:solidFill>
                            <a:srgbClr val="FFFFFF"/>
                          </a:solidFill>
                          <a:latin typeface="Arial"/>
                        </a:rPr>
                        <a:t>Term</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400" b="1">
                          <a:solidFill>
                            <a:srgbClr val="FFFFFF"/>
                          </a:solidFill>
                          <a:latin typeface="Arial"/>
                        </a:rPr>
                        <a:t>Meaning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608583">
                <a:tc>
                  <a:txBody>
                    <a:bodyPr/>
                    <a:lstStyle/>
                    <a:p>
                      <a:r>
                        <a:rPr sz="1400" b="0">
                          <a:solidFill>
                            <a:srgbClr val="1A1A1A"/>
                          </a:solidFill>
                          <a:latin typeface="Arial"/>
                        </a:rPr>
                        <a:t>Defect / bug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i="0">
                          <a:solidFill>
                            <a:srgbClr val="1A1A1A"/>
                          </a:solidFill>
                          <a:latin typeface="Arial"/>
                        </a:rPr>
                        <a:t>A mistake in the code (or data, or configuration), e.g. </a:t>
                      </a:r>
                      <a:r>
                        <a:rPr sz="1350" b="0" i="0">
                          <a:solidFill>
                            <a:srgbClr val="330066"/>
                          </a:solidFill>
                          <a:latin typeface="Courier New"/>
                        </a:rPr>
                        <a:t>- 1</a:t>
                      </a:r>
                      <a:r>
                        <a:rPr sz="1400" b="0" i="0">
                          <a:solidFill>
                            <a:srgbClr val="1A1A1A"/>
                          </a:solidFill>
                          <a:latin typeface="Arial"/>
                        </a:rPr>
                        <a:t> that should not be there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608583">
                <a:tc>
                  <a:txBody>
                    <a:bodyPr/>
                    <a:lstStyle/>
                    <a:p>
                      <a:r>
                        <a:rPr sz="1400" b="0">
                          <a:solidFill>
                            <a:srgbClr val="1A1A1A"/>
                          </a:solidFill>
                          <a:latin typeface="Arial"/>
                        </a:rPr>
                        <a:t>Failure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00" b="0">
                          <a:solidFill>
                            <a:srgbClr val="1A1A1A"/>
                          </a:solidFill>
                          <a:latin typeface="Arial"/>
                        </a:rPr>
                        <a:t>The visible wrong behaviour caused by the defect, e.g. "the average prints 89 instead of 90"</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77444">
                <a:tc>
                  <a:txBody>
                    <a:bodyPr/>
                    <a:lstStyle/>
                    <a:p>
                      <a:r>
                        <a:rPr sz="1400" b="0">
                          <a:solidFill>
                            <a:srgbClr val="1A1A1A"/>
                          </a:solidFill>
                          <a:latin typeface="Arial"/>
                        </a:rPr>
                        <a:t>Error (exception)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Python's way of signalling that something went wrong while running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77444">
                <a:tc>
                  <a:txBody>
                    <a:bodyPr/>
                    <a:lstStyle/>
                    <a:p>
                      <a:r>
                        <a:rPr sz="1400" b="0">
                          <a:solidFill>
                            <a:srgbClr val="1A1A1A"/>
                          </a:solidFill>
                          <a:latin typeface="Arial"/>
                        </a:rPr>
                        <a:t>Debugging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00" b="0">
                          <a:solidFill>
                            <a:srgbClr val="1A1A1A"/>
                          </a:solidFill>
                          <a:latin typeface="Arial"/>
                        </a:rPr>
                        <a:t>The process of finding the defect behind a failure and fixing 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77444">
                <a:tc>
                  <a:txBody>
                    <a:bodyPr/>
                    <a:lstStyle/>
                    <a:p>
                      <a:r>
                        <a:rPr sz="1400" b="0">
                          <a:solidFill>
                            <a:srgbClr val="1A1A1A"/>
                          </a:solidFill>
                          <a:latin typeface="Arial"/>
                        </a:rPr>
                        <a:t>Root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The original reason, not just the line where the crash appeared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609904" y="5138927"/>
            <a:ext cx="10971885" cy="914400"/>
          </a:xfrm>
          <a:prstGeom prst="roundRect">
            <a:avLst>
              <a:gd name="adj" fmla="val 9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5276088"/>
            <a:ext cx="10514685" cy="64008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ROOT CAUSE</a:t>
            </a:r>
          </a:p>
          <a:p>
            <a:pPr algn="l">
              <a:lnSpc>
                <a:spcPct val="110000"/>
              </a:lnSpc>
              <a:spcAft>
                <a:spcPts val="600"/>
              </a:spcAft>
            </a:pPr>
            <a:r>
              <a:rPr sz="1400" b="0" i="0">
                <a:solidFill>
                  <a:srgbClr val="1A1A1A"/>
                </a:solidFill>
                <a:latin typeface="Arial"/>
              </a:rPr>
              <a:t>A failure may appear far from its cause: a crash on line 40 because a function on line 5 returned the wrong value. Find the root cause, not just silence the symptom.</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7 / 63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Three Families of Problems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2</a:t>
            </a:r>
          </a:p>
        </p:txBody>
      </p:sp>
      <p:graphicFrame>
        <p:nvGraphicFramePr>
          <p:cNvPr id="4" name="Table 3"/>
          <p:cNvGraphicFramePr>
            <a:graphicFrameLocks noGrp="1"/>
          </p:cNvGraphicFramePr>
          <p:nvPr/>
        </p:nvGraphicFramePr>
        <p:xfrm>
          <a:off x="609904" y="1783080"/>
          <a:ext cx="10971883" cy="2325367"/>
        </p:xfrm>
        <a:graphic>
          <a:graphicData uri="http://schemas.openxmlformats.org/drawingml/2006/table">
            <a:tbl>
              <a:tblPr/>
              <a:tblGrid>
                <a:gridCol w="1645782">
                  <a:extLst>
                    <a:ext uri="{9D8B030D-6E8A-4147-A177-3AD203B41FA5}">
                      <a16:colId xmlns:a16="http://schemas.microsoft.com/office/drawing/2014/main" val="20000"/>
                    </a:ext>
                  </a:extLst>
                </a:gridCol>
                <a:gridCol w="2413814">
                  <a:extLst>
                    <a:ext uri="{9D8B030D-6E8A-4147-A177-3AD203B41FA5}">
                      <a16:colId xmlns:a16="http://schemas.microsoft.com/office/drawing/2014/main" val="20001"/>
                    </a:ext>
                  </a:extLst>
                </a:gridCol>
                <a:gridCol w="3730441">
                  <a:extLst>
                    <a:ext uri="{9D8B030D-6E8A-4147-A177-3AD203B41FA5}">
                      <a16:colId xmlns:a16="http://schemas.microsoft.com/office/drawing/2014/main" val="20002"/>
                    </a:ext>
                  </a:extLst>
                </a:gridCol>
                <a:gridCol w="3181846">
                  <a:extLst>
                    <a:ext uri="{9D8B030D-6E8A-4147-A177-3AD203B41FA5}">
                      <a16:colId xmlns:a16="http://schemas.microsoft.com/office/drawing/2014/main" val="20003"/>
                    </a:ext>
                  </a:extLst>
                </a:gridCol>
              </a:tblGrid>
              <a:tr h="384048">
                <a:tc>
                  <a:txBody>
                    <a:bodyPr/>
                    <a:lstStyle/>
                    <a:p>
                      <a:r>
                        <a:rPr sz="1300" b="1">
                          <a:solidFill>
                            <a:srgbClr val="FFFFFF"/>
                          </a:solidFill>
                          <a:latin typeface="Arial"/>
                        </a:rPr>
                        <a:t>Type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When detected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Example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Typical sign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790193">
                <a:tc>
                  <a:txBody>
                    <a:bodyPr/>
                    <a:lstStyle/>
                    <a:p>
                      <a:r>
                        <a:rPr sz="1300" b="0">
                          <a:solidFill>
                            <a:srgbClr val="1A1A1A"/>
                          </a:solidFill>
                          <a:latin typeface="Arial"/>
                        </a:rPr>
                        <a:t>Syntax 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Before the program starts running (compile time)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A missing colon: </a:t>
                      </a:r>
                      <a:r>
                        <a:rPr sz="1250" b="0" i="0">
                          <a:solidFill>
                            <a:srgbClr val="330066"/>
                          </a:solidFill>
                          <a:latin typeface="Courier New"/>
                        </a:rPr>
                        <a:t>if x &gt; 1</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330066"/>
                          </a:solidFill>
                          <a:latin typeface="Courier New"/>
                        </a:rPr>
                        <a:t>SyntaxError</a:t>
                      </a:r>
                      <a:r>
                        <a:rPr sz="1300" b="0" i="0">
                          <a:solidFill>
                            <a:srgbClr val="1A1A1A"/>
                          </a:solidFill>
                          <a:latin typeface="Arial"/>
                        </a:rPr>
                        <a:t>, </a:t>
                      </a:r>
                      <a:r>
                        <a:rPr sz="1250" b="0" i="0">
                          <a:solidFill>
                            <a:srgbClr val="330066"/>
                          </a:solidFill>
                          <a:latin typeface="Courier New"/>
                        </a:rPr>
                        <a:t>IndentationError</a:t>
                      </a:r>
                      <a:r>
                        <a:rPr sz="1300" b="0" i="0">
                          <a:solidFill>
                            <a:srgbClr val="1A1A1A"/>
                          </a:solidFill>
                          <a:latin typeface="Arial"/>
                        </a:rPr>
                        <a:t>, program does not start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75563">
                <a:tc>
                  <a:txBody>
                    <a:bodyPr/>
                    <a:lstStyle/>
                    <a:p>
                      <a:r>
                        <a:rPr sz="1300" b="0">
                          <a:solidFill>
                            <a:srgbClr val="1A1A1A"/>
                          </a:solidFill>
                          <a:latin typeface="Arial"/>
                        </a:rPr>
                        <a:t>Runtime 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While running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i="0">
                          <a:solidFill>
                            <a:srgbClr val="330066"/>
                          </a:solidFill>
                          <a:latin typeface="Courier New"/>
                        </a:rPr>
                        <a:t>int("abc")</a:t>
                      </a:r>
                      <a:r>
                        <a:rPr sz="1300" b="0" i="0">
                          <a:solidFill>
                            <a:srgbClr val="1A1A1A"/>
                          </a:solidFill>
                          <a:latin typeface="Arial"/>
                        </a:rPr>
                        <a:t>, dividing by zero, a missing key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Traceback with an exception name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75563">
                <a:tc>
                  <a:txBody>
                    <a:bodyPr/>
                    <a:lstStyle/>
                    <a:p>
                      <a:r>
                        <a:rPr sz="1300" b="0">
                          <a:solidFill>
                            <a:srgbClr val="1A1A1A"/>
                          </a:solidFill>
                          <a:latin typeface="Arial"/>
                        </a:rPr>
                        <a:t>Logic 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Never, Python cannot know what you meant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330066"/>
                          </a:solidFill>
                          <a:latin typeface="Courier New"/>
                        </a:rPr>
                        <a:t>total / len(values) - 1</a:t>
                      </a:r>
                      <a:r>
                        <a:rPr sz="1300" b="0" i="0">
                          <a:solidFill>
                            <a:srgbClr val="1A1A1A"/>
                          </a:solidFill>
                          <a:latin typeface="Arial"/>
                        </a:rPr>
                        <a:t> instead of </a:t>
                      </a:r>
                      <a:r>
                        <a:rPr sz="1250" b="0" i="0">
                          <a:solidFill>
                            <a:srgbClr val="330066"/>
                          </a:solidFill>
                          <a:latin typeface="Courier New"/>
                        </a:rPr>
                        <a:t>total / len(values)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No error at all, just wrong results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609904" y="5230368"/>
            <a:ext cx="10971885" cy="868680"/>
          </a:xfrm>
          <a:prstGeom prst="roundRect">
            <a:avLst>
              <a:gd name="adj" fmla="val 9473"/>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38504" y="5367528"/>
            <a:ext cx="10514685" cy="594359"/>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WHY TESTS EXIST</a:t>
            </a:r>
          </a:p>
          <a:p>
            <a:pPr algn="l">
              <a:lnSpc>
                <a:spcPct val="110000"/>
              </a:lnSpc>
              <a:spcAft>
                <a:spcPts val="600"/>
              </a:spcAft>
            </a:pPr>
            <a:r>
              <a:rPr sz="1400" b="0" i="0">
                <a:solidFill>
                  <a:srgbClr val="1A1A1A"/>
                </a:solidFill>
                <a:latin typeface="Arial"/>
              </a:rPr>
              <a:t>Logic errors are the hardest because nothing crashes. Automated tests with expected values tell the computer what "correct" means.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8 / 63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Scientific Method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 · DEBUG LIKE A SCIENTIST</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Random changes ("let me try this...") waste time and often introduce new bugs.</a:t>
            </a:r>
          </a:p>
          <a:p>
            <a:pPr marL="228600" indent="-228600" algn="l">
              <a:spcAft>
                <a:spcPts val="1000"/>
              </a:spcAft>
              <a:buFont typeface="Arial"/>
              <a:buChar char="•"/>
            </a:pPr>
            <a:r>
              <a:rPr sz="1700" b="0" i="0">
                <a:solidFill>
                  <a:srgbClr val="1A1A1A"/>
                </a:solidFill>
                <a:latin typeface="Arial"/>
              </a:rPr>
              <a:t>1. Reproduce: make the failure happen reliably. Note exact inputs, data, versions, commands.</a:t>
            </a:r>
          </a:p>
          <a:p>
            <a:pPr marL="228600" indent="-228600" algn="l">
              <a:spcAft>
                <a:spcPts val="1000"/>
              </a:spcAft>
              <a:buFont typeface="Arial"/>
              <a:buChar char="•"/>
            </a:pPr>
            <a:r>
              <a:rPr sz="1700" b="0" i="0">
                <a:solidFill>
                  <a:srgbClr val="1A1A1A"/>
                </a:solidFill>
                <a:latin typeface="Arial"/>
              </a:rPr>
              <a:t>2. Read the evidence: read the whole error message and traceback before touching code.</a:t>
            </a:r>
          </a:p>
          <a:p>
            <a:pPr marL="228600" indent="-228600" algn="l">
              <a:spcAft>
                <a:spcPts val="1000"/>
              </a:spcAft>
              <a:buFont typeface="Arial"/>
              <a:buChar char="•"/>
            </a:pPr>
            <a:r>
              <a:rPr sz="1700" b="0" i="0">
                <a:solidFill>
                  <a:srgbClr val="1A1A1A"/>
                </a:solidFill>
                <a:latin typeface="Arial"/>
              </a:rPr>
              <a:t>3. Isolate: narrow down which function, input or line (Part 8).</a:t>
            </a:r>
          </a:p>
          <a:p>
            <a:pPr marL="228600" indent="-228600" algn="l">
              <a:spcAft>
                <a:spcPts val="1000"/>
              </a:spcAft>
              <a:buFont typeface="Arial"/>
              <a:buChar char="•"/>
            </a:pPr>
            <a:r>
              <a:rPr sz="1700" b="0" i="0">
                <a:solidFill>
                  <a:srgbClr val="1A1A1A"/>
                </a:solidFill>
                <a:latin typeface="Arial"/>
              </a:rPr>
              <a:t>4. Hypothesise: a specific, testable guess, e.g. "</a:t>
            </a:r>
            <a:r>
              <a:rPr sz="1650" b="0" i="0">
                <a:solidFill>
                  <a:srgbClr val="330066"/>
                </a:solidFill>
                <a:latin typeface="Courier New"/>
              </a:rPr>
              <a:t>item</a:t>
            </a:r>
            <a:r>
              <a:rPr sz="1700" b="0" i="0">
                <a:solidFill>
                  <a:srgbClr val="1A1A1A"/>
                </a:solidFill>
                <a:latin typeface="Arial"/>
              </a:rPr>
              <a:t> has no </a:t>
            </a:r>
            <a:r>
              <a:rPr sz="1650" b="0" i="0">
                <a:solidFill>
                  <a:srgbClr val="330066"/>
                </a:solidFill>
                <a:latin typeface="Courier New"/>
              </a:rPr>
              <a:t>discount</a:t>
            </a:r>
            <a:r>
              <a:rPr sz="1700" b="0" i="0">
                <a:solidFill>
                  <a:srgbClr val="1A1A1A"/>
                </a:solidFill>
                <a:latin typeface="Arial"/>
              </a:rPr>
              <a:t> key for the second item."</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9 / 63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Scientific Method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3</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5" name="TextBox 4"/>
          <p:cNvSpPr txBox="1"/>
          <p:nvPr/>
        </p:nvSpPr>
        <p:spPr>
          <a:xfrm>
            <a:off x="1158544" y="1819656"/>
            <a:ext cx="10423245" cy="744220"/>
          </a:xfrm>
          <a:prstGeom prst="rect">
            <a:avLst/>
          </a:prstGeom>
          <a:noFill/>
        </p:spPr>
        <p:txBody>
          <a:bodyPr wrap="square" lIns="0" tIns="0" rIns="0" bIns="0" anchor="t">
            <a:spAutoFit/>
          </a:bodyPr>
          <a:lstStyle/>
          <a:p>
            <a:pPr algn="l">
              <a:lnSpc>
                <a:spcPct val="110000"/>
              </a:lnSpc>
              <a:spcAft>
                <a:spcPts val="200"/>
              </a:spcAft>
            </a:pPr>
            <a:r>
              <a:rPr sz="1500" b="1" i="0">
                <a:solidFill>
                  <a:srgbClr val="330066"/>
                </a:solidFill>
                <a:latin typeface="Arial"/>
              </a:rPr>
              <a:t>Test the hypothesis</a:t>
            </a:r>
          </a:p>
          <a:p>
            <a:pPr algn="l">
              <a:lnSpc>
                <a:spcPct val="110000"/>
              </a:lnSpc>
              <a:spcAft>
                <a:spcPts val="600"/>
              </a:spcAft>
            </a:pPr>
            <a:r>
              <a:rPr sz="1450" b="0" i="0">
                <a:solidFill>
                  <a:srgbClr val="1A1A1A"/>
                </a:solidFill>
                <a:latin typeface="Arial"/>
              </a:rPr>
              <a:t>Use a print, an assertion or the debugger. Do not change the code yet: confirm or reject your guess first.</a:t>
            </a:r>
          </a:p>
        </p:txBody>
      </p:sp>
      <p:sp>
        <p:nvSpPr>
          <p:cNvPr id="6" name="Oval 5"/>
          <p:cNvSpPr/>
          <p:nvPr/>
        </p:nvSpPr>
        <p:spPr>
          <a:xfrm>
            <a:off x="609904" y="263702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6</a:t>
            </a:r>
          </a:p>
        </p:txBody>
      </p:sp>
      <p:sp>
        <p:nvSpPr>
          <p:cNvPr id="7" name="TextBox 6"/>
          <p:cNvSpPr txBox="1"/>
          <p:nvPr/>
        </p:nvSpPr>
        <p:spPr>
          <a:xfrm>
            <a:off x="1158544" y="2673604"/>
            <a:ext cx="10423245" cy="514032"/>
          </a:xfrm>
          <a:prstGeom prst="rect">
            <a:avLst/>
          </a:prstGeom>
          <a:noFill/>
        </p:spPr>
        <p:txBody>
          <a:bodyPr wrap="square" lIns="0" tIns="0" rIns="0" bIns="0" anchor="t">
            <a:spAutoFit/>
          </a:bodyPr>
          <a:lstStyle/>
          <a:p>
            <a:pPr algn="l">
              <a:lnSpc>
                <a:spcPct val="110000"/>
              </a:lnSpc>
              <a:spcAft>
                <a:spcPts val="200"/>
              </a:spcAft>
            </a:pPr>
            <a:r>
              <a:rPr sz="1500" b="1" i="0">
                <a:solidFill>
                  <a:srgbClr val="330066"/>
                </a:solidFill>
                <a:latin typeface="Arial"/>
              </a:rPr>
              <a:t>Fix the root cause</a:t>
            </a:r>
          </a:p>
          <a:p>
            <a:pPr algn="l">
              <a:lnSpc>
                <a:spcPct val="110000"/>
              </a:lnSpc>
              <a:spcAft>
                <a:spcPts val="600"/>
              </a:spcAft>
            </a:pPr>
            <a:r>
              <a:rPr sz="1450" b="0" i="0">
                <a:solidFill>
                  <a:srgbClr val="1A1A1A"/>
                </a:solidFill>
                <a:latin typeface="Arial"/>
              </a:rPr>
              <a:t>Make the smallest sensible change.</a:t>
            </a:r>
          </a:p>
        </p:txBody>
      </p:sp>
      <p:sp>
        <p:nvSpPr>
          <p:cNvPr id="8" name="Oval 7"/>
          <p:cNvSpPr/>
          <p:nvPr/>
        </p:nvSpPr>
        <p:spPr>
          <a:xfrm>
            <a:off x="609904" y="326078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7</a:t>
            </a:r>
          </a:p>
        </p:txBody>
      </p:sp>
      <p:sp>
        <p:nvSpPr>
          <p:cNvPr id="9" name="TextBox 8"/>
          <p:cNvSpPr txBox="1"/>
          <p:nvPr/>
        </p:nvSpPr>
        <p:spPr>
          <a:xfrm>
            <a:off x="1158544" y="3297364"/>
            <a:ext cx="10423245" cy="744220"/>
          </a:xfrm>
          <a:prstGeom prst="rect">
            <a:avLst/>
          </a:prstGeom>
          <a:noFill/>
        </p:spPr>
        <p:txBody>
          <a:bodyPr wrap="square" lIns="0" tIns="0" rIns="0" bIns="0" anchor="t">
            <a:spAutoFit/>
          </a:bodyPr>
          <a:lstStyle/>
          <a:p>
            <a:pPr algn="l">
              <a:lnSpc>
                <a:spcPct val="110000"/>
              </a:lnSpc>
              <a:spcAft>
                <a:spcPts val="200"/>
              </a:spcAft>
            </a:pPr>
            <a:r>
              <a:rPr sz="1500" b="1" i="0">
                <a:solidFill>
                  <a:srgbClr val="330066"/>
                </a:solidFill>
                <a:latin typeface="Arial"/>
              </a:rPr>
              <a:t>Verify</a:t>
            </a:r>
          </a:p>
          <a:p>
            <a:pPr algn="l">
              <a:lnSpc>
                <a:spcPct val="110000"/>
              </a:lnSpc>
              <a:spcAft>
                <a:spcPts val="600"/>
              </a:spcAft>
            </a:pPr>
            <a:r>
              <a:rPr sz="1450" b="0" i="0">
                <a:solidFill>
                  <a:srgbClr val="1A1A1A"/>
                </a:solidFill>
                <a:latin typeface="Arial"/>
              </a:rPr>
              <a:t>Re-run the original scenario and related ones. Better: a test that fails before the fix and passes after.</a:t>
            </a:r>
          </a:p>
        </p:txBody>
      </p:sp>
      <p:sp>
        <p:nvSpPr>
          <p:cNvPr id="10" name="Oval 9"/>
          <p:cNvSpPr/>
          <p:nvPr/>
        </p:nvSpPr>
        <p:spPr>
          <a:xfrm>
            <a:off x="609904" y="411473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8</a:t>
            </a:r>
          </a:p>
        </p:txBody>
      </p:sp>
      <p:sp>
        <p:nvSpPr>
          <p:cNvPr id="11" name="TextBox 10"/>
          <p:cNvSpPr txBox="1"/>
          <p:nvPr/>
        </p:nvSpPr>
        <p:spPr>
          <a:xfrm>
            <a:off x="1158544" y="4151312"/>
            <a:ext cx="10423245" cy="744220"/>
          </a:xfrm>
          <a:prstGeom prst="rect">
            <a:avLst/>
          </a:prstGeom>
          <a:noFill/>
        </p:spPr>
        <p:txBody>
          <a:bodyPr wrap="square" lIns="0" tIns="0" rIns="0" bIns="0" anchor="t">
            <a:spAutoFit/>
          </a:bodyPr>
          <a:lstStyle/>
          <a:p>
            <a:pPr algn="l">
              <a:lnSpc>
                <a:spcPct val="110000"/>
              </a:lnSpc>
              <a:spcAft>
                <a:spcPts val="200"/>
              </a:spcAft>
            </a:pPr>
            <a:r>
              <a:rPr sz="1500" b="1" i="0">
                <a:solidFill>
                  <a:srgbClr val="330066"/>
                </a:solidFill>
                <a:latin typeface="Arial"/>
              </a:rPr>
              <a:t>Reflect</a:t>
            </a:r>
          </a:p>
          <a:p>
            <a:pPr algn="l">
              <a:lnSpc>
                <a:spcPct val="110000"/>
              </a:lnSpc>
              <a:spcAft>
                <a:spcPts val="600"/>
              </a:spcAft>
            </a:pPr>
            <a:r>
              <a:rPr sz="1450" b="0" i="0">
                <a:solidFill>
                  <a:srgbClr val="1A1A1A"/>
                </a:solidFill>
                <a:latin typeface="Arial"/>
              </a:rPr>
              <a:t>Why did it happen? Could it exist elsewhere? Could a validation or assertion have caught it earlier?</a:t>
            </a:r>
          </a:p>
        </p:txBody>
      </p:sp>
      <p:sp>
        <p:nvSpPr>
          <p:cNvPr id="12" name="Rounded Rectangle 11"/>
          <p:cNvSpPr/>
          <p:nvPr/>
        </p:nvSpPr>
        <p:spPr>
          <a:xfrm>
            <a:off x="609904" y="5367528"/>
            <a:ext cx="10971885" cy="731520"/>
          </a:xfrm>
          <a:prstGeom prst="roundRect">
            <a:avLst>
              <a:gd name="adj" fmla="val 11249"/>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8504" y="5504688"/>
            <a:ext cx="10514685" cy="45720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RULE</a:t>
            </a:r>
          </a:p>
          <a:p>
            <a:pPr algn="l">
              <a:lnSpc>
                <a:spcPct val="110000"/>
              </a:lnSpc>
              <a:spcAft>
                <a:spcPts val="600"/>
              </a:spcAft>
            </a:pPr>
            <a:r>
              <a:rPr sz="1400" b="0" i="0">
                <a:solidFill>
                  <a:srgbClr val="1A1A1A"/>
                </a:solidFill>
                <a:latin typeface="Arial"/>
              </a:rPr>
              <a:t>Change one thing at a time. If you change three things and the bug disappears, you will not know which fixed it.</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10 / 63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Reading a Traceback</a:t>
            </a:r>
          </a:p>
        </p:txBody>
      </p:sp>
      <p:sp>
        <p:nvSpPr>
          <p:cNvPr id="3" name="Text Placeholder 2"/>
          <p:cNvSpPr>
            <a:spLocks noGrp="1"/>
          </p:cNvSpPr>
          <p:nvPr>
            <p:ph type="body" idx="1"/>
          </p:nvPr>
        </p:nvSpPr>
        <p:spPr/>
        <p:txBody>
          <a:bodyPr/>
          <a:lstStyle/>
          <a:p>
            <a:r>
              <a:rPr sz="1800">
                <a:solidFill>
                  <a:srgbClr val="5A5A5A"/>
                </a:solidFill>
              </a:rPr>
              <a:t>Bottom up: what, where, how we got here</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02</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11 / 63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 Program That Crashes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 · READING A TRACEBACK</a:t>
            </a:r>
          </a:p>
        </p:txBody>
      </p:sp>
      <p:sp>
        <p:nvSpPr>
          <p:cNvPr id="4" name="Rounded Rectangle 3"/>
          <p:cNvSpPr/>
          <p:nvPr/>
        </p:nvSpPr>
        <p:spPr>
          <a:xfrm>
            <a:off x="609904" y="1783080"/>
            <a:ext cx="6400800" cy="2852928"/>
          </a:xfrm>
          <a:prstGeom prst="roundRect">
            <a:avLst>
              <a:gd name="adj" fmla="val 256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2560320"/>
          </a:xfrm>
          <a:prstGeom prst="rect">
            <a:avLst/>
          </a:prstGeom>
          <a:noFill/>
        </p:spPr>
        <p:txBody>
          <a:bodyPr wrap="square" lIns="0" tIns="0" rIns="0" bIns="0">
            <a:spAutoFit/>
          </a:bodyPr>
          <a:lstStyle/>
          <a:p>
            <a:pPr algn="l">
              <a:lnSpc>
                <a:spcPct val="100000"/>
              </a:lnSpc>
            </a:pPr>
            <a:r>
              <a:rPr sz="1050">
                <a:solidFill>
                  <a:srgbClr val="5C8A8A"/>
                </a:solidFill>
                <a:latin typeface="Courier New"/>
              </a:rPr>
              <a:t># cart.py</a:t>
            </a:r>
          </a:p>
          <a:p>
            <a:pPr algn="l">
              <a:lnSpc>
                <a:spcPct val="100000"/>
              </a:lnSpc>
            </a:pPr>
            <a:r>
              <a:rPr sz="1050">
                <a:solidFill>
                  <a:srgbClr val="1A1A1A"/>
                </a:solidFill>
                <a:latin typeface="Courier New"/>
              </a:rPr>
              <a:t>def apply_discount(price, percent):</a:t>
            </a:r>
          </a:p>
          <a:p>
            <a:pPr algn="l">
              <a:lnSpc>
                <a:spcPct val="100000"/>
              </a:lnSpc>
            </a:pPr>
            <a:r>
              <a:rPr sz="1050">
                <a:solidFill>
                  <a:srgbClr val="1A1A1A"/>
                </a:solidFill>
                <a:latin typeface="Courier New"/>
              </a:rPr>
              <a:t>    discount = price * percent / 100</a:t>
            </a:r>
          </a:p>
          <a:p>
            <a:pPr algn="l">
              <a:lnSpc>
                <a:spcPct val="100000"/>
              </a:lnSpc>
            </a:pPr>
            <a:r>
              <a:rPr sz="1050">
                <a:solidFill>
                  <a:srgbClr val="5C8A8A"/>
                </a:solidFill>
                <a:latin typeface="Courier New"/>
              </a:rPr>
              <a:t>    # ...</a:t>
            </a:r>
          </a:p>
          <a:p>
            <a:pPr algn="l">
              <a:lnSpc>
                <a:spcPct val="100000"/>
              </a:lnSpc>
            </a:pPr>
            <a:r>
              <a:rPr sz="1050">
                <a:solidFill>
                  <a:srgbClr val="1A1A1A"/>
                </a:solidFill>
                <a:latin typeface="Courier New"/>
              </a:rPr>
              <a:t>def cart_total(items):</a:t>
            </a:r>
          </a:p>
          <a:p>
            <a:pPr algn="l">
              <a:lnSpc>
                <a:spcPct val="100000"/>
              </a:lnSpc>
            </a:pPr>
            <a:r>
              <a:rPr sz="1050">
                <a:solidFill>
                  <a:srgbClr val="1A1A1A"/>
                </a:solidFill>
                <a:latin typeface="Courier New"/>
              </a:rPr>
              <a:t>    total = 0</a:t>
            </a:r>
          </a:p>
          <a:p>
            <a:pPr algn="l">
              <a:lnSpc>
                <a:spcPct val="100000"/>
              </a:lnSpc>
            </a:pPr>
            <a:r>
              <a:rPr sz="1050">
                <a:solidFill>
                  <a:srgbClr val="1A1A1A"/>
                </a:solidFill>
                <a:latin typeface="Courier New"/>
              </a:rPr>
              <a:t>    for item in items:</a:t>
            </a:r>
          </a:p>
          <a:p>
            <a:pPr algn="l">
              <a:lnSpc>
                <a:spcPct val="100000"/>
              </a:lnSpc>
            </a:pPr>
            <a:r>
              <a:rPr sz="1050">
                <a:solidFill>
                  <a:srgbClr val="1A1A1A"/>
                </a:solidFill>
                <a:latin typeface="Courier New"/>
              </a:rPr>
              <a:t>        total += apply_discount(item["price"], item["discount"])</a:t>
            </a:r>
          </a:p>
          <a:p>
            <a:pPr algn="l">
              <a:lnSpc>
                <a:spcPct val="100000"/>
              </a:lnSpc>
            </a:pPr>
            <a:r>
              <a:rPr sz="1050">
                <a:solidFill>
                  <a:srgbClr val="1A1A1A"/>
                </a:solidFill>
                <a:latin typeface="Courier New"/>
              </a:rPr>
              <a:t>    return total</a:t>
            </a:r>
          </a:p>
          <a:p>
            <a:pPr algn="l">
              <a:lnSpc>
                <a:spcPct val="100000"/>
              </a:lnSpc>
            </a:pPr>
            <a:r>
              <a:rPr sz="1050">
                <a:solidFill>
                  <a:srgbClr val="5C8A8A"/>
                </a:solidFill>
                <a:latin typeface="Courier New"/>
              </a:rPr>
              <a:t># ...</a:t>
            </a:r>
          </a:p>
          <a:p>
            <a:pPr algn="l">
              <a:lnSpc>
                <a:spcPct val="100000"/>
              </a:lnSpc>
            </a:pPr>
            <a:r>
              <a:rPr sz="1050">
                <a:solidFill>
                  <a:srgbClr val="1A1A1A"/>
                </a:solidFill>
                <a:latin typeface="Courier New"/>
              </a:rPr>
              <a:t>if __name__ == "__main__":</a:t>
            </a:r>
          </a:p>
          <a:p>
            <a:pPr algn="l">
              <a:lnSpc>
                <a:spcPct val="100000"/>
              </a:lnSpc>
            </a:pPr>
            <a:r>
              <a:rPr sz="1050">
                <a:solidFill>
                  <a:srgbClr val="1A1A1A"/>
                </a:solidFill>
                <a:latin typeface="Courier New"/>
              </a:rPr>
              <a:t>    cart = [</a:t>
            </a:r>
          </a:p>
          <a:p>
            <a:pPr algn="l">
              <a:lnSpc>
                <a:spcPct val="100000"/>
              </a:lnSpc>
            </a:pPr>
            <a:r>
              <a:rPr sz="1050">
                <a:solidFill>
                  <a:srgbClr val="1A1A1A"/>
                </a:solidFill>
                <a:latin typeface="Courier New"/>
              </a:rPr>
              <a:t>        {"name": "pen", "price": 2.0, "discount": 10},</a:t>
            </a:r>
          </a:p>
          <a:p>
            <a:pPr algn="l">
              <a:lnSpc>
                <a:spcPct val="100000"/>
              </a:lnSpc>
            </a:pPr>
            <a:r>
              <a:rPr sz="1050">
                <a:solidFill>
                  <a:srgbClr val="1A1A1A"/>
                </a:solidFill>
                <a:latin typeface="Courier New"/>
              </a:rPr>
              <a:t>        {"name": "book", "price": 15.0},          # &lt;-- no "discount" key</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    print(cart_total(cart))</a:t>
            </a:r>
          </a:p>
        </p:txBody>
      </p:sp>
      <p:sp>
        <p:nvSpPr>
          <p:cNvPr id="6" name="Oval 5"/>
          <p:cNvSpPr/>
          <p:nvPr/>
        </p:nvSpPr>
        <p:spPr>
          <a:xfrm>
            <a:off x="72850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7" name="TextBox 6"/>
          <p:cNvSpPr txBox="1"/>
          <p:nvPr/>
        </p:nvSpPr>
        <p:spPr>
          <a:xfrm>
            <a:off x="7833664" y="1819656"/>
            <a:ext cx="374812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Uncaught exception</a:t>
            </a:r>
          </a:p>
          <a:p>
            <a:pPr algn="l">
              <a:lnSpc>
                <a:spcPct val="110000"/>
              </a:lnSpc>
              <a:spcAft>
                <a:spcPts val="600"/>
              </a:spcAft>
            </a:pPr>
            <a:r>
              <a:rPr sz="1400" b="0" i="0">
                <a:solidFill>
                  <a:srgbClr val="1A1A1A"/>
                </a:solidFill>
                <a:latin typeface="Arial"/>
              </a:rPr>
              <a:t>Python prints a traceback: the chain of calls that led to the error.</a:t>
            </a:r>
          </a:p>
        </p:txBody>
      </p:sp>
      <p:sp>
        <p:nvSpPr>
          <p:cNvPr id="8" name="Oval 7"/>
          <p:cNvSpPr/>
          <p:nvPr/>
        </p:nvSpPr>
        <p:spPr>
          <a:xfrm>
            <a:off x="7285024" y="264064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9" name="TextBox 8"/>
          <p:cNvSpPr txBox="1"/>
          <p:nvPr/>
        </p:nvSpPr>
        <p:spPr>
          <a:xfrm>
            <a:off x="7833664" y="2677223"/>
            <a:ext cx="374812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The data</a:t>
            </a:r>
          </a:p>
          <a:p>
            <a:pPr algn="l">
              <a:lnSpc>
                <a:spcPct val="110000"/>
              </a:lnSpc>
              <a:spcAft>
                <a:spcPts val="600"/>
              </a:spcAft>
            </a:pPr>
            <a:r>
              <a:rPr sz="1400" b="0" i="0">
                <a:solidFill>
                  <a:srgbClr val="1A1A1A"/>
                </a:solidFill>
                <a:latin typeface="Arial"/>
              </a:rPr>
              <a:t>The second item has no </a:t>
            </a:r>
            <a:r>
              <a:rPr sz="1350" b="0" i="0">
                <a:solidFill>
                  <a:srgbClr val="330066"/>
                </a:solidFill>
                <a:latin typeface="Courier New"/>
              </a:rPr>
              <a:t>"discount"</a:t>
            </a:r>
            <a:r>
              <a:rPr sz="1400" b="0" i="0">
                <a:solidFill>
                  <a:srgbClr val="1A1A1A"/>
                </a:solidFill>
                <a:latin typeface="Arial"/>
              </a:rPr>
              <a:t> key.</a:t>
            </a:r>
          </a:p>
        </p:txBody>
      </p:sp>
      <p:sp>
        <p:nvSpPr>
          <p:cNvPr id="10" name="Oval 9"/>
          <p:cNvSpPr/>
          <p:nvPr/>
        </p:nvSpPr>
        <p:spPr>
          <a:xfrm>
            <a:off x="7285024" y="349821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1" name="TextBox 10"/>
          <p:cNvSpPr txBox="1"/>
          <p:nvPr/>
        </p:nvSpPr>
        <p:spPr>
          <a:xfrm>
            <a:off x="7833664" y="3534791"/>
            <a:ext cx="374812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Run it</a:t>
            </a:r>
          </a:p>
          <a:p>
            <a:pPr algn="l">
              <a:lnSpc>
                <a:spcPct val="110000"/>
              </a:lnSpc>
              <a:spcAft>
                <a:spcPts val="600"/>
              </a:spcAft>
            </a:pPr>
            <a:r>
              <a:rPr sz="1350" b="0" i="0">
                <a:solidFill>
                  <a:srgbClr val="330066"/>
                </a:solidFill>
                <a:latin typeface="Courier New"/>
              </a:rPr>
              <a:t>python cart.py</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12 / 63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Traceback</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7223760" cy="1633728"/>
          </a:xfrm>
          <a:prstGeom prst="roundRect">
            <a:avLst>
              <a:gd name="adj" fmla="val 447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6821424" cy="1341120"/>
          </a:xfrm>
          <a:prstGeom prst="rect">
            <a:avLst/>
          </a:prstGeom>
          <a:noFill/>
        </p:spPr>
        <p:txBody>
          <a:bodyPr wrap="square" lIns="0" tIns="0" rIns="0" bIns="0">
            <a:spAutoFit/>
          </a:bodyPr>
          <a:lstStyle/>
          <a:p>
            <a:pPr algn="l">
              <a:lnSpc>
                <a:spcPct val="100000"/>
              </a:lnSpc>
            </a:pPr>
            <a:r>
              <a:rPr sz="1100">
                <a:solidFill>
                  <a:srgbClr val="1A1A1A"/>
                </a:solidFill>
                <a:latin typeface="Courier New"/>
              </a:rPr>
              <a:t>Traceback (most recent call last):</a:t>
            </a:r>
          </a:p>
          <a:p>
            <a:pPr algn="l">
              <a:lnSpc>
                <a:spcPct val="100000"/>
              </a:lnSpc>
            </a:pPr>
            <a:r>
              <a:rPr sz="1100">
                <a:solidFill>
                  <a:srgbClr val="1A1A1A"/>
                </a:solidFill>
                <a:latin typeface="Courier New"/>
              </a:rPr>
              <a:t>  File "cart.py", line 18, in &lt;module&gt;</a:t>
            </a:r>
          </a:p>
          <a:p>
            <a:pPr algn="l">
              <a:lnSpc>
                <a:spcPct val="100000"/>
              </a:lnSpc>
            </a:pPr>
            <a:r>
              <a:rPr sz="1100">
                <a:solidFill>
                  <a:srgbClr val="1A1A1A"/>
                </a:solidFill>
                <a:latin typeface="Courier New"/>
              </a:rPr>
              <a:t>    print(cart_total(cart))</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  File "cart.py", line 9, in cart_total</a:t>
            </a:r>
          </a:p>
          <a:p>
            <a:pPr algn="l">
              <a:lnSpc>
                <a:spcPct val="100000"/>
              </a:lnSpc>
            </a:pPr>
            <a:r>
              <a:rPr sz="1100">
                <a:solidFill>
                  <a:srgbClr val="1A1A1A"/>
                </a:solidFill>
                <a:latin typeface="Courier New"/>
              </a:rPr>
              <a:t>    total += apply_discount(item["price"], item["discount"])</a:t>
            </a:r>
          </a:p>
          <a:p>
            <a:pPr algn="l">
              <a:lnSpc>
                <a:spcPct val="100000"/>
              </a:lnSpc>
            </a:pPr>
            <a:r>
              <a:rPr sz="1100">
                <a:solidFill>
                  <a:srgbClr val="1A1A1A"/>
                </a:solidFill>
                <a:latin typeface="Courier New"/>
              </a:rPr>
              <a:t>                                           ~~~~^^^^^^^^^^^^</a:t>
            </a:r>
          </a:p>
          <a:p>
            <a:pPr algn="l">
              <a:lnSpc>
                <a:spcPct val="100000"/>
              </a:lnSpc>
            </a:pPr>
            <a:r>
              <a:rPr sz="1100">
                <a:solidFill>
                  <a:srgbClr val="1A1A1A"/>
                </a:solidFill>
                <a:latin typeface="Courier New"/>
              </a:rPr>
              <a:t>KeyError: 'discount'</a:t>
            </a:r>
          </a:p>
        </p:txBody>
      </p:sp>
      <p:sp>
        <p:nvSpPr>
          <p:cNvPr id="6" name="Oval 5"/>
          <p:cNvSpPr/>
          <p:nvPr/>
        </p:nvSpPr>
        <p:spPr>
          <a:xfrm>
            <a:off x="81994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7" name="TextBox 6"/>
          <p:cNvSpPr txBox="1"/>
          <p:nvPr/>
        </p:nvSpPr>
        <p:spPr>
          <a:xfrm>
            <a:off x="8748064" y="1819656"/>
            <a:ext cx="2833725" cy="847407"/>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Last line: the what</a:t>
            </a:r>
          </a:p>
          <a:p>
            <a:pPr algn="l">
              <a:lnSpc>
                <a:spcPct val="110000"/>
              </a:lnSpc>
              <a:spcAft>
                <a:spcPts val="600"/>
              </a:spcAft>
            </a:pPr>
            <a:r>
              <a:rPr sz="1250" b="0" i="0">
                <a:solidFill>
                  <a:srgbClr val="1A1A1A"/>
                </a:solidFill>
                <a:latin typeface="Arial"/>
              </a:rPr>
              <a:t>Exception type </a:t>
            </a:r>
            <a:r>
              <a:rPr sz="1200" b="0" i="0">
                <a:solidFill>
                  <a:srgbClr val="330066"/>
                </a:solidFill>
                <a:latin typeface="Courier New"/>
              </a:rPr>
              <a:t>KeyError</a:t>
            </a:r>
            <a:r>
              <a:rPr sz="1250" b="0" i="0">
                <a:solidFill>
                  <a:srgbClr val="1A1A1A"/>
                </a:solidFill>
                <a:latin typeface="Arial"/>
              </a:rPr>
              <a:t> and message </a:t>
            </a:r>
            <a:r>
              <a:rPr sz="1200" b="0" i="0">
                <a:solidFill>
                  <a:srgbClr val="330066"/>
                </a:solidFill>
                <a:latin typeface="Courier New"/>
              </a:rPr>
              <a:t>'discount'</a:t>
            </a:r>
            <a:r>
              <a:rPr sz="1250" b="0" i="0">
                <a:solidFill>
                  <a:srgbClr val="1A1A1A"/>
                </a:solidFill>
                <a:latin typeface="Arial"/>
              </a:rPr>
              <a:t>, the missing key.</a:t>
            </a:r>
          </a:p>
        </p:txBody>
      </p:sp>
      <p:sp>
        <p:nvSpPr>
          <p:cNvPr id="8" name="Oval 7"/>
          <p:cNvSpPr/>
          <p:nvPr/>
        </p:nvSpPr>
        <p:spPr>
          <a:xfrm>
            <a:off x="8199424" y="283165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9" name="TextBox 8"/>
          <p:cNvSpPr txBox="1"/>
          <p:nvPr/>
        </p:nvSpPr>
        <p:spPr>
          <a:xfrm>
            <a:off x="8748064" y="2868231"/>
            <a:ext cx="2833725" cy="1045845"/>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Frame above it: the where</a:t>
            </a:r>
          </a:p>
          <a:p>
            <a:pPr algn="l">
              <a:lnSpc>
                <a:spcPct val="110000"/>
              </a:lnSpc>
              <a:spcAft>
                <a:spcPts val="600"/>
              </a:spcAft>
            </a:pPr>
            <a:r>
              <a:rPr sz="1250" b="0" i="0">
                <a:solidFill>
                  <a:srgbClr val="1A1A1A"/>
                </a:solidFill>
                <a:latin typeface="Arial"/>
              </a:rPr>
              <a:t>File </a:t>
            </a:r>
            <a:r>
              <a:rPr sz="1200" b="0" i="0">
                <a:solidFill>
                  <a:srgbClr val="330066"/>
                </a:solidFill>
                <a:latin typeface="Courier New"/>
              </a:rPr>
              <a:t>cart.py</a:t>
            </a:r>
            <a:r>
              <a:rPr sz="1250" b="0" i="0">
                <a:solidFill>
                  <a:srgbClr val="1A1A1A"/>
                </a:solidFill>
                <a:latin typeface="Arial"/>
              </a:rPr>
              <a:t>, line 9, in </a:t>
            </a:r>
            <a:r>
              <a:rPr sz="1200" b="0" i="0">
                <a:solidFill>
                  <a:srgbClr val="330066"/>
                </a:solidFill>
                <a:latin typeface="Courier New"/>
              </a:rPr>
              <a:t>cart_total</a:t>
            </a:r>
            <a:r>
              <a:rPr sz="1250" b="0" i="0">
                <a:solidFill>
                  <a:srgbClr val="1A1A1A"/>
                </a:solidFill>
                <a:latin typeface="Arial"/>
              </a:rPr>
              <a:t>, plus the code. Python 3.11+ adds </a:t>
            </a:r>
            <a:r>
              <a:rPr sz="1200" b="0" i="0">
                <a:solidFill>
                  <a:srgbClr val="330066"/>
                </a:solidFill>
                <a:latin typeface="Courier New"/>
              </a:rPr>
              <a:t>~~~~^^^^</a:t>
            </a:r>
            <a:r>
              <a:rPr sz="1250" b="0" i="0">
                <a:solidFill>
                  <a:srgbClr val="1A1A1A"/>
                </a:solidFill>
                <a:latin typeface="Arial"/>
              </a:rPr>
              <a:t> markers under the part that failed.</a:t>
            </a:r>
          </a:p>
        </p:txBody>
      </p:sp>
      <p:sp>
        <p:nvSpPr>
          <p:cNvPr id="10" name="Oval 9"/>
          <p:cNvSpPr/>
          <p:nvPr/>
        </p:nvSpPr>
        <p:spPr>
          <a:xfrm>
            <a:off x="8199424" y="4078668"/>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1" name="TextBox 10"/>
          <p:cNvSpPr txBox="1"/>
          <p:nvPr/>
        </p:nvSpPr>
        <p:spPr>
          <a:xfrm>
            <a:off x="8748064" y="4115244"/>
            <a:ext cx="2833725" cy="847407"/>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Frames above: how we got here</a:t>
            </a:r>
          </a:p>
          <a:p>
            <a:pPr algn="l">
              <a:lnSpc>
                <a:spcPct val="110000"/>
              </a:lnSpc>
              <a:spcAft>
                <a:spcPts val="600"/>
              </a:spcAft>
            </a:pPr>
            <a:r>
              <a:rPr sz="1250" b="0" i="0">
                <a:solidFill>
                  <a:srgbClr val="1A1A1A"/>
                </a:solidFill>
                <a:latin typeface="Arial"/>
              </a:rPr>
              <a:t>Chain of calls, outermost first. </a:t>
            </a:r>
            <a:r>
              <a:rPr sz="1200" b="0" i="0">
                <a:solidFill>
                  <a:srgbClr val="330066"/>
                </a:solidFill>
                <a:latin typeface="Courier New"/>
              </a:rPr>
              <a:t>&lt;module&gt;</a:t>
            </a:r>
            <a:r>
              <a:rPr sz="1250" b="0" i="0">
                <a:solidFill>
                  <a:srgbClr val="1A1A1A"/>
                </a:solidFill>
                <a:latin typeface="Arial"/>
              </a:rPr>
              <a:t> is the top level of the script.</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13 / 63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The Crash Line Is Not Always the Defect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Here the line that raised the error is correct code; the data (the second cart item) is the real culprit.</a:t>
            </a:r>
          </a:p>
          <a:p>
            <a:pPr marL="228600" indent="-228600" algn="l">
              <a:spcAft>
                <a:spcPts val="1000"/>
              </a:spcAft>
              <a:buFont typeface="Arial"/>
              <a:buChar char="•"/>
            </a:pPr>
            <a:r>
              <a:rPr sz="1700" b="0" i="0">
                <a:solidFill>
                  <a:srgbClr val="1A1A1A"/>
                </a:solidFill>
                <a:latin typeface="Arial"/>
              </a:rPr>
              <a:t>Hypothesis: "the second dictionary has no </a:t>
            </a:r>
            <a:r>
              <a:rPr sz="1650" b="0" i="0">
                <a:solidFill>
                  <a:srgbClr val="330066"/>
                </a:solidFill>
                <a:latin typeface="Courier New"/>
              </a:rPr>
              <a:t>discount</a:t>
            </a:r>
            <a:r>
              <a:rPr sz="1700" b="0" i="0">
                <a:solidFill>
                  <a:srgbClr val="1A1A1A"/>
                </a:solidFill>
                <a:latin typeface="Arial"/>
              </a:rPr>
              <a:t> key." Verify with a print, an assertion or the debugger.</a:t>
            </a:r>
          </a:p>
          <a:p>
            <a:pPr marL="228600" indent="-228600" algn="l">
              <a:spcAft>
                <a:spcPts val="1000"/>
              </a:spcAft>
              <a:buFont typeface="Arial"/>
              <a:buChar char="•"/>
            </a:pPr>
            <a:r>
              <a:rPr sz="1700" b="0" i="0">
                <a:solidFill>
                  <a:srgbClr val="1A1A1A"/>
                </a:solidFill>
                <a:latin typeface="Arial"/>
              </a:rPr>
              <a:t>Fix depends on the requirement:</a:t>
            </a:r>
          </a:p>
          <a:p>
            <a:pPr marL="228600" indent="-228600" algn="l">
              <a:spcAft>
                <a:spcPts val="1000"/>
              </a:spcAft>
              <a:buFont typeface="Arial"/>
              <a:buChar char="•"/>
            </a:pPr>
            <a:r>
              <a:rPr sz="1700" b="0" i="0">
                <a:solidFill>
                  <a:srgbClr val="1A1A1A"/>
                </a:solidFill>
                <a:latin typeface="Arial"/>
              </a:rPr>
              <a:t>Discount optional: use </a:t>
            </a:r>
            <a:r>
              <a:rPr sz="1650" b="0" i="0">
                <a:solidFill>
                  <a:srgbClr val="330066"/>
                </a:solidFill>
                <a:latin typeface="Courier New"/>
              </a:rPr>
              <a:t>item.get("discount", 0)</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Discount required: the test data or input validation is wrong; raise a clear custom exception when it is missing (Tuesday).</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14 / 63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Common Exception Types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graphicFrame>
        <p:nvGraphicFramePr>
          <p:cNvPr id="4" name="Table 3"/>
          <p:cNvGraphicFramePr>
            <a:graphicFrameLocks noGrp="1"/>
          </p:cNvGraphicFramePr>
          <p:nvPr/>
        </p:nvGraphicFramePr>
        <p:xfrm>
          <a:off x="609904" y="1783080"/>
          <a:ext cx="10971884" cy="3717544"/>
        </p:xfrm>
        <a:graphic>
          <a:graphicData uri="http://schemas.openxmlformats.org/drawingml/2006/table">
            <a:tbl>
              <a:tblPr/>
              <a:tblGrid>
                <a:gridCol w="2633252">
                  <a:extLst>
                    <a:ext uri="{9D8B030D-6E8A-4147-A177-3AD203B41FA5}">
                      <a16:colId xmlns:a16="http://schemas.microsoft.com/office/drawing/2014/main" val="20000"/>
                    </a:ext>
                  </a:extLst>
                </a:gridCol>
                <a:gridCol w="4388754">
                  <a:extLst>
                    <a:ext uri="{9D8B030D-6E8A-4147-A177-3AD203B41FA5}">
                      <a16:colId xmlns:a16="http://schemas.microsoft.com/office/drawing/2014/main" val="20001"/>
                    </a:ext>
                  </a:extLst>
                </a:gridCol>
                <a:gridCol w="3949878">
                  <a:extLst>
                    <a:ext uri="{9D8B030D-6E8A-4147-A177-3AD203B41FA5}">
                      <a16:colId xmlns:a16="http://schemas.microsoft.com/office/drawing/2014/main" val="20002"/>
                    </a:ext>
                  </a:extLst>
                </a:gridCol>
              </a:tblGrid>
              <a:tr h="384048">
                <a:tc>
                  <a:txBody>
                    <a:bodyPr/>
                    <a:lstStyle/>
                    <a:p>
                      <a:r>
                        <a:rPr sz="1250" b="1">
                          <a:solidFill>
                            <a:srgbClr val="FFFFFF"/>
                          </a:solidFill>
                          <a:latin typeface="Arial"/>
                        </a:rPr>
                        <a:t>Exception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250" b="1">
                          <a:solidFill>
                            <a:srgbClr val="FFFFFF"/>
                          </a:solidFill>
                          <a:latin typeface="Arial"/>
                        </a:rPr>
                        <a:t>Typical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250" b="1">
                          <a:solidFill>
                            <a:srgbClr val="FFFFFF"/>
                          </a:solidFill>
                          <a:latin typeface="Arial"/>
                        </a:rPr>
                        <a:t>First thing to check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559054">
                <a:tc>
                  <a:txBody>
                    <a:bodyPr/>
                    <a:lstStyle/>
                    <a:p>
                      <a:r>
                        <a:rPr sz="1200" b="0" i="0">
                          <a:solidFill>
                            <a:srgbClr val="330066"/>
                          </a:solidFill>
                          <a:latin typeface="Courier New"/>
                        </a:rPr>
                        <a:t>SyntaxError</a:t>
                      </a:r>
                      <a:r>
                        <a:rPr sz="1250" b="0" i="0">
                          <a:solidFill>
                            <a:srgbClr val="1A1A1A"/>
                          </a:solidFill>
                          <a:latin typeface="Arial"/>
                        </a:rPr>
                        <a:t> / </a:t>
                      </a:r>
                      <a:r>
                        <a:rPr sz="1200" b="0" i="0">
                          <a:solidFill>
                            <a:srgbClr val="330066"/>
                          </a:solidFill>
                          <a:latin typeface="Courier New"/>
                        </a:rPr>
                        <a:t>IndentationError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a:solidFill>
                            <a:srgbClr val="1A1A1A"/>
                          </a:solidFill>
                          <a:latin typeface="Arial"/>
                        </a:rPr>
                        <a:t>Typo, missing colon/bracket, mixed tabs and spaces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a:solidFill>
                            <a:srgbClr val="1A1A1A"/>
                          </a:solidFill>
                          <a:latin typeface="Arial"/>
                        </a:rPr>
                        <a:t>The line reported and the one before 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59054">
                <a:tc>
                  <a:txBody>
                    <a:bodyPr/>
                    <a:lstStyle/>
                    <a:p>
                      <a:r>
                        <a:rPr sz="1200" b="0" i="0">
                          <a:solidFill>
                            <a:srgbClr val="330066"/>
                          </a:solidFill>
                          <a:latin typeface="Courier New"/>
                        </a:rPr>
                        <a:t>NameError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a:solidFill>
                            <a:srgbClr val="1A1A1A"/>
                          </a:solidFill>
                          <a:latin typeface="Arial"/>
                        </a:rPr>
                        <a:t>Using a name that does not exist (typo, wrong scope, not imported)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a:solidFill>
                            <a:srgbClr val="1A1A1A"/>
                          </a:solidFill>
                          <a:latin typeface="Arial"/>
                        </a:rPr>
                        <a:t>Spelling; scope (previous lesson); the import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559054">
                <a:tc>
                  <a:txBody>
                    <a:bodyPr/>
                    <a:lstStyle/>
                    <a:p>
                      <a:r>
                        <a:rPr sz="1200" b="0" i="0">
                          <a:solidFill>
                            <a:srgbClr val="330066"/>
                          </a:solidFill>
                          <a:latin typeface="Courier New"/>
                        </a:rPr>
                        <a:t>UnboundLocalError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a:solidFill>
                            <a:srgbClr val="1A1A1A"/>
                          </a:solidFill>
                          <a:latin typeface="Arial"/>
                        </a:rPr>
                        <a:t>Assigning to a variable inside a function before reading 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00" b="0" i="0">
                          <a:solidFill>
                            <a:srgbClr val="330066"/>
                          </a:solidFill>
                          <a:latin typeface="Courier New"/>
                        </a:rPr>
                        <a:t>global</a:t>
                      </a:r>
                      <a:r>
                        <a:rPr sz="1250" b="0" i="0">
                          <a:solidFill>
                            <a:srgbClr val="1A1A1A"/>
                          </a:solidFill>
                          <a:latin typeface="Arial"/>
                        </a:rPr>
                        <a:t>/</a:t>
                      </a:r>
                      <a:r>
                        <a:rPr sz="1200" b="0" i="0">
                          <a:solidFill>
                            <a:srgbClr val="330066"/>
                          </a:solidFill>
                          <a:latin typeface="Courier New"/>
                        </a:rPr>
                        <a:t>nonlocal</a:t>
                      </a:r>
                      <a:r>
                        <a:rPr sz="1250" b="0" i="0">
                          <a:solidFill>
                            <a:srgbClr val="1A1A1A"/>
                          </a:solidFill>
                          <a:latin typeface="Arial"/>
                        </a:rPr>
                        <a:t>, or pass it in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559054">
                <a:tc>
                  <a:txBody>
                    <a:bodyPr/>
                    <a:lstStyle/>
                    <a:p>
                      <a:r>
                        <a:rPr sz="1200" b="0" i="0">
                          <a:solidFill>
                            <a:srgbClr val="330066"/>
                          </a:solidFill>
                          <a:latin typeface="Courier New"/>
                        </a:rPr>
                        <a:t>TypeError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i="0">
                          <a:solidFill>
                            <a:srgbClr val="1A1A1A"/>
                          </a:solidFill>
                          <a:latin typeface="Arial"/>
                        </a:rPr>
                        <a:t>Wrong type or wrong number of arguments: </a:t>
                      </a:r>
                      <a:r>
                        <a:rPr sz="1200" b="0" i="0">
                          <a:solidFill>
                            <a:srgbClr val="330066"/>
                          </a:solidFill>
                          <a:latin typeface="Courier New"/>
                        </a:rPr>
                        <a:t>"a" + 1</a:t>
                      </a:r>
                      <a:r>
                        <a:rPr sz="1250" b="0" i="0">
                          <a:solidFill>
                            <a:srgbClr val="1A1A1A"/>
                          </a:solidFill>
                          <a:latin typeface="Arial"/>
                        </a:rPr>
                        <a:t>, </a:t>
                      </a:r>
                      <a:r>
                        <a:rPr sz="1200" b="0" i="0">
                          <a:solidFill>
                            <a:srgbClr val="330066"/>
                          </a:solidFill>
                          <a:latin typeface="Courier New"/>
                        </a:rPr>
                        <a:t>len(5)</a:t>
                      </a:r>
                      <a:r>
                        <a:rPr sz="1250" b="0" i="0">
                          <a:solidFill>
                            <a:srgbClr val="1A1A1A"/>
                          </a:solidFill>
                          <a:latin typeface="Arial"/>
                        </a:rPr>
                        <a:t>, calling a non-callable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00" b="0" i="0">
                          <a:solidFill>
                            <a:srgbClr val="330066"/>
                          </a:solidFill>
                          <a:latin typeface="Courier New"/>
                        </a:rPr>
                        <a:t>type()</a:t>
                      </a:r>
                      <a:r>
                        <a:rPr sz="1250" b="0" i="0">
                          <a:solidFill>
                            <a:srgbClr val="1A1A1A"/>
                          </a:solidFill>
                          <a:latin typeface="Arial"/>
                        </a:rPr>
                        <a:t> / </a:t>
                      </a:r>
                      <a:r>
                        <a:rPr sz="1200" b="0" i="0">
                          <a:solidFill>
                            <a:srgbClr val="330066"/>
                          </a:solidFill>
                          <a:latin typeface="Courier New"/>
                        </a:rPr>
                        <a:t>repr()</a:t>
                      </a:r>
                      <a:r>
                        <a:rPr sz="1250" b="0" i="0">
                          <a:solidFill>
                            <a:srgbClr val="1A1A1A"/>
                          </a:solidFill>
                          <a:latin typeface="Arial"/>
                        </a:rPr>
                        <a:t> of the values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65760">
                <a:tc>
                  <a:txBody>
                    <a:bodyPr/>
                    <a:lstStyle/>
                    <a:p>
                      <a:r>
                        <a:rPr sz="1200" b="0" i="0">
                          <a:solidFill>
                            <a:srgbClr val="330066"/>
                          </a:solidFill>
                          <a:latin typeface="Courier New"/>
                        </a:rPr>
                        <a:t>ValueError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1A1A1A"/>
                          </a:solidFill>
                          <a:latin typeface="Arial"/>
                        </a:rPr>
                        <a:t>Right type, wrong value: </a:t>
                      </a:r>
                      <a:r>
                        <a:rPr sz="1200" b="0" i="0">
                          <a:solidFill>
                            <a:srgbClr val="330066"/>
                          </a:solidFill>
                          <a:latin typeface="Courier New"/>
                        </a:rPr>
                        <a:t>int("abc")</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1A1A1A"/>
                          </a:solidFill>
                          <a:latin typeface="Arial"/>
                        </a:rPr>
                        <a:t>The actual data (</a:t>
                      </a:r>
                      <a:r>
                        <a:rPr sz="1200" b="0" i="0">
                          <a:solidFill>
                            <a:srgbClr val="330066"/>
                          </a:solidFill>
                          <a:latin typeface="Courier New"/>
                        </a:rPr>
                        <a:t>repr</a:t>
                      </a:r>
                      <a:r>
                        <a:rPr sz="1250" b="0" i="0">
                          <a:solidFill>
                            <a:srgbClr val="1A1A1A"/>
                          </a:solidFill>
                          <a:latin typeface="Arial"/>
                        </a:rPr>
                        <a:t> 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r h="365760">
                <a:tc>
                  <a:txBody>
                    <a:bodyPr/>
                    <a:lstStyle/>
                    <a:p>
                      <a:r>
                        <a:rPr sz="1200" b="0" i="0">
                          <a:solidFill>
                            <a:srgbClr val="330066"/>
                          </a:solidFill>
                          <a:latin typeface="Courier New"/>
                        </a:rPr>
                        <a:t>KeyError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a:solidFill>
                            <a:srgbClr val="1A1A1A"/>
                          </a:solidFill>
                          <a:latin typeface="Arial"/>
                        </a:rPr>
                        <a:t>Dict key not found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i="0">
                          <a:solidFill>
                            <a:srgbClr val="1A1A1A"/>
                          </a:solidFill>
                          <a:latin typeface="Arial"/>
                        </a:rPr>
                        <a:t>Which key? Print the dict's </a:t>
                      </a:r>
                      <a:r>
                        <a:rPr sz="1200" b="0" i="0">
                          <a:solidFill>
                            <a:srgbClr val="330066"/>
                          </a:solidFill>
                          <a:latin typeface="Courier New"/>
                        </a:rPr>
                        <a:t>keys()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6"/>
                  </a:ext>
                </a:extLst>
              </a:tr>
              <a:tr h="365760">
                <a:tc>
                  <a:txBody>
                    <a:bodyPr/>
                    <a:lstStyle/>
                    <a:p>
                      <a:r>
                        <a:rPr sz="1200" b="0" i="0">
                          <a:solidFill>
                            <a:srgbClr val="330066"/>
                          </a:solidFill>
                          <a:latin typeface="Courier New"/>
                        </a:rPr>
                        <a:t>IndexError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a:solidFill>
                            <a:srgbClr val="1A1A1A"/>
                          </a:solidFill>
                          <a:latin typeface="Arial"/>
                        </a:rPr>
                        <a:t>List index out of range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00" b="0" i="0">
                          <a:solidFill>
                            <a:srgbClr val="330066"/>
                          </a:solidFill>
                          <a:latin typeface="Courier New"/>
                        </a:rPr>
                        <a:t>len()</a:t>
                      </a:r>
                      <a:r>
                        <a:rPr sz="1250" b="0" i="0">
                          <a:solidFill>
                            <a:srgbClr val="1A1A1A"/>
                          </a:solidFill>
                          <a:latin typeface="Arial"/>
                        </a:rPr>
                        <a:t> of the list; off-by-one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15 / 63</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Common Exception Types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graphicFrame>
        <p:nvGraphicFramePr>
          <p:cNvPr id="4" name="Table 3"/>
          <p:cNvGraphicFramePr>
            <a:graphicFrameLocks noGrp="1"/>
          </p:cNvGraphicFramePr>
          <p:nvPr/>
        </p:nvGraphicFramePr>
        <p:xfrm>
          <a:off x="609904" y="1783080"/>
          <a:ext cx="10971884" cy="2965196"/>
        </p:xfrm>
        <a:graphic>
          <a:graphicData uri="http://schemas.openxmlformats.org/drawingml/2006/table">
            <a:tbl>
              <a:tblPr/>
              <a:tblGrid>
                <a:gridCol w="2633252">
                  <a:extLst>
                    <a:ext uri="{9D8B030D-6E8A-4147-A177-3AD203B41FA5}">
                      <a16:colId xmlns:a16="http://schemas.microsoft.com/office/drawing/2014/main" val="20000"/>
                    </a:ext>
                  </a:extLst>
                </a:gridCol>
                <a:gridCol w="4388754">
                  <a:extLst>
                    <a:ext uri="{9D8B030D-6E8A-4147-A177-3AD203B41FA5}">
                      <a16:colId xmlns:a16="http://schemas.microsoft.com/office/drawing/2014/main" val="20001"/>
                    </a:ext>
                  </a:extLst>
                </a:gridCol>
                <a:gridCol w="3949878">
                  <a:extLst>
                    <a:ext uri="{9D8B030D-6E8A-4147-A177-3AD203B41FA5}">
                      <a16:colId xmlns:a16="http://schemas.microsoft.com/office/drawing/2014/main" val="20002"/>
                    </a:ext>
                  </a:extLst>
                </a:gridCol>
              </a:tblGrid>
              <a:tr h="384048">
                <a:tc>
                  <a:txBody>
                    <a:bodyPr/>
                    <a:lstStyle/>
                    <a:p>
                      <a:r>
                        <a:rPr sz="1250" b="1">
                          <a:solidFill>
                            <a:srgbClr val="FFFFFF"/>
                          </a:solidFill>
                          <a:latin typeface="Arial"/>
                        </a:rPr>
                        <a:t>Exception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250" b="1">
                          <a:solidFill>
                            <a:srgbClr val="FFFFFF"/>
                          </a:solidFill>
                          <a:latin typeface="Arial"/>
                        </a:rPr>
                        <a:t>Typical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250" b="1">
                          <a:solidFill>
                            <a:srgbClr val="FFFFFF"/>
                          </a:solidFill>
                          <a:latin typeface="Arial"/>
                        </a:rPr>
                        <a:t>First thing to check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559054">
                <a:tc>
                  <a:txBody>
                    <a:bodyPr/>
                    <a:lstStyle/>
                    <a:p>
                      <a:r>
                        <a:rPr sz="1200" b="0" i="0">
                          <a:solidFill>
                            <a:srgbClr val="330066"/>
                          </a:solidFill>
                          <a:latin typeface="Courier New"/>
                        </a:rPr>
                        <a:t>AttributeError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1A1A1A"/>
                          </a:solidFill>
                          <a:latin typeface="Arial"/>
                        </a:rPr>
                        <a:t>Object has no such attribute/method (often </a:t>
                      </a:r>
                      <a:r>
                        <a:rPr sz="1200" b="0" i="0">
                          <a:solidFill>
                            <a:srgbClr val="330066"/>
                          </a:solidFill>
                          <a:latin typeface="Courier New"/>
                        </a:rPr>
                        <a:t>None</a:t>
                      </a:r>
                      <a:r>
                        <a:rPr sz="1250" b="0" i="0">
                          <a:solidFill>
                            <a:srgbClr val="1A1A1A"/>
                          </a:solidFill>
                          <a:latin typeface="Arial"/>
                        </a:rPr>
                        <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1A1A1A"/>
                          </a:solidFill>
                          <a:latin typeface="Arial"/>
                        </a:rPr>
                        <a:t>Is the object </a:t>
                      </a:r>
                      <a:r>
                        <a:rPr sz="1200" b="0" i="0">
                          <a:solidFill>
                            <a:srgbClr val="330066"/>
                          </a:solidFill>
                          <a:latin typeface="Courier New"/>
                        </a:rPr>
                        <a:t>None</a:t>
                      </a:r>
                      <a:r>
                        <a:rPr sz="1250" b="0" i="0">
                          <a:solidFill>
                            <a:srgbClr val="1A1A1A"/>
                          </a:solidFill>
                          <a:latin typeface="Arial"/>
                        </a:rPr>
                        <a:t>? Is the name misspelled?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559054">
                <a:tc>
                  <a:txBody>
                    <a:bodyPr/>
                    <a:lstStyle/>
                    <a:p>
                      <a:r>
                        <a:rPr sz="1200" b="0" i="0">
                          <a:solidFill>
                            <a:srgbClr val="330066"/>
                          </a:solidFill>
                          <a:latin typeface="Courier New"/>
                        </a:rPr>
                        <a:t>ModuleNotFoundError</a:t>
                      </a:r>
                      <a:r>
                        <a:rPr sz="1250" b="0" i="0">
                          <a:solidFill>
                            <a:srgbClr val="1A1A1A"/>
                          </a:solidFill>
                          <a:latin typeface="Arial"/>
                        </a:rPr>
                        <a:t> / </a:t>
                      </a:r>
                      <a:r>
                        <a:rPr sz="1200" b="0" i="0">
                          <a:solidFill>
                            <a:srgbClr val="330066"/>
                          </a:solidFill>
                          <a:latin typeface="Courier New"/>
                        </a:rPr>
                        <a:t>ImportError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a:solidFill>
                            <a:srgbClr val="1A1A1A"/>
                          </a:solidFill>
                          <a:latin typeface="Arial"/>
                        </a:rPr>
                        <a:t>Module not installed or wrong name/path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i="0">
                          <a:solidFill>
                            <a:srgbClr val="1A1A1A"/>
                          </a:solidFill>
                          <a:latin typeface="Arial"/>
                        </a:rPr>
                        <a:t>Active virtual environment (Monday), </a:t>
                      </a:r>
                      <a:r>
                        <a:rPr sz="1200" b="0" i="0">
                          <a:solidFill>
                            <a:srgbClr val="330066"/>
                          </a:solidFill>
                          <a:latin typeface="Courier New"/>
                        </a:rPr>
                        <a:t>pip list</a:t>
                      </a:r>
                      <a:r>
                        <a:rPr sz="1250" b="0" i="0">
                          <a:solidFill>
                            <a:srgbClr val="1A1A1A"/>
                          </a:solidFill>
                          <a:latin typeface="Arial"/>
                        </a:rPr>
                        <a:t>, spelling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200" b="0" i="0">
                          <a:solidFill>
                            <a:srgbClr val="330066"/>
                          </a:solidFill>
                          <a:latin typeface="Courier New"/>
                        </a:rPr>
                        <a:t>FileNotFoundError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a:solidFill>
                            <a:srgbClr val="1A1A1A"/>
                          </a:solidFill>
                          <a:latin typeface="Arial"/>
                        </a:rPr>
                        <a:t>Wrong path or working directory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00" b="0" i="0">
                          <a:solidFill>
                            <a:srgbClr val="330066"/>
                          </a:solidFill>
                          <a:latin typeface="Courier New"/>
                        </a:rPr>
                        <a:t>os.getcwd()</a:t>
                      </a:r>
                      <a:r>
                        <a:rPr sz="1250" b="0" i="0">
                          <a:solidFill>
                            <a:srgbClr val="1A1A1A"/>
                          </a:solidFill>
                          <a:latin typeface="Arial"/>
                        </a:rPr>
                        <a:t>, the full path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65760">
                <a:tc>
                  <a:txBody>
                    <a:bodyPr/>
                    <a:lstStyle/>
                    <a:p>
                      <a:r>
                        <a:rPr sz="1200" b="0" i="0">
                          <a:solidFill>
                            <a:srgbClr val="330066"/>
                          </a:solidFill>
                          <a:latin typeface="Courier New"/>
                        </a:rPr>
                        <a:t>ZeroDivisionError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a:solidFill>
                            <a:srgbClr val="1A1A1A"/>
                          </a:solidFill>
                          <a:latin typeface="Arial"/>
                        </a:rPr>
                        <a:t>Dividing by zero</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a:solidFill>
                            <a:srgbClr val="1A1A1A"/>
                          </a:solidFill>
                          <a:latin typeface="Arial"/>
                        </a:rPr>
                        <a:t>Is a list/denominator empty?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65760">
                <a:tc>
                  <a:txBody>
                    <a:bodyPr/>
                    <a:lstStyle/>
                    <a:p>
                      <a:r>
                        <a:rPr sz="1200" b="0" i="0">
                          <a:solidFill>
                            <a:srgbClr val="330066"/>
                          </a:solidFill>
                          <a:latin typeface="Courier New"/>
                        </a:rPr>
                        <a:t>AssertionError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i="0">
                          <a:solidFill>
                            <a:srgbClr val="1A1A1A"/>
                          </a:solidFill>
                          <a:latin typeface="Arial"/>
                        </a:rPr>
                        <a:t>An </a:t>
                      </a:r>
                      <a:r>
                        <a:rPr sz="1200" b="0" i="0">
                          <a:solidFill>
                            <a:srgbClr val="330066"/>
                          </a:solidFill>
                          <a:latin typeface="Courier New"/>
                        </a:rPr>
                        <a:t>assert</a:t>
                      </a:r>
                      <a:r>
                        <a:rPr sz="1250" b="0" i="0">
                          <a:solidFill>
                            <a:srgbClr val="1A1A1A"/>
                          </a:solidFill>
                          <a:latin typeface="Arial"/>
                        </a:rPr>
                        <a:t> failed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250" b="0">
                          <a:solidFill>
                            <a:srgbClr val="1A1A1A"/>
                          </a:solidFill>
                          <a:latin typeface="Arial"/>
                        </a:rPr>
                        <a:t>The message, and the values compared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r h="365760">
                <a:tc>
                  <a:txBody>
                    <a:bodyPr/>
                    <a:lstStyle/>
                    <a:p>
                      <a:r>
                        <a:rPr sz="1200" b="0" i="0">
                          <a:solidFill>
                            <a:srgbClr val="330066"/>
                          </a:solidFill>
                          <a:latin typeface="Courier New"/>
                        </a:rPr>
                        <a:t>RecursionError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a:solidFill>
                            <a:srgbClr val="1A1A1A"/>
                          </a:solidFill>
                          <a:latin typeface="Arial"/>
                        </a:rPr>
                        <a:t>Function calls itself without stopping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250" b="0">
                          <a:solidFill>
                            <a:srgbClr val="1A1A1A"/>
                          </a:solidFill>
                          <a:latin typeface="Arial"/>
                        </a:rPr>
                        <a:t>Missing/incorrect base case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16 / 63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Two Frequent Cases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Rounded Rectangle 3"/>
          <p:cNvSpPr/>
          <p:nvPr/>
        </p:nvSpPr>
        <p:spPr>
          <a:xfrm>
            <a:off x="609904" y="1783080"/>
            <a:ext cx="5348782" cy="4361688"/>
          </a:xfrm>
          <a:prstGeom prst="roundRect">
            <a:avLst>
              <a:gd name="adj" fmla="val 188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4891582"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AttributeError on None</a:t>
            </a:r>
          </a:p>
          <a:p>
            <a:pPr algn="l">
              <a:lnSpc>
                <a:spcPct val="110000"/>
              </a:lnSpc>
              <a:spcAft>
                <a:spcPts val="600"/>
              </a:spcAft>
            </a:pPr>
            <a:r>
              <a:rPr sz="1350" b="0" i="0">
                <a:solidFill>
                  <a:srgbClr val="330066"/>
                </a:solidFill>
                <a:latin typeface="Courier New"/>
              </a:rPr>
              <a:t>AttributeError: 'NoneType' object has no attribute 'append'</a:t>
            </a:r>
            <a:r>
              <a:rPr sz="1400" b="0" i="0">
                <a:solidFill>
                  <a:srgbClr val="1A1A1A"/>
                </a:solidFill>
                <a:latin typeface="Arial"/>
              </a:rPr>
              <a:t> is extremely common. It nearly always means a function that should have returned an object returned </a:t>
            </a:r>
            <a:r>
              <a:rPr sz="1350" b="0" i="0">
                <a:solidFill>
                  <a:srgbClr val="330066"/>
                </a:solidFill>
                <a:latin typeface="Courier New"/>
              </a:rPr>
              <a:t>None</a:t>
            </a:r>
            <a:r>
              <a:rPr sz="1400" b="0" i="0">
                <a:solidFill>
                  <a:srgbClr val="1A1A1A"/>
                </a:solidFill>
                <a:latin typeface="Arial"/>
              </a:rPr>
              <a:t>, e.g. </a:t>
            </a:r>
            <a:r>
              <a:rPr sz="1350" b="0" i="0">
                <a:solidFill>
                  <a:srgbClr val="330066"/>
                </a:solidFill>
                <a:latin typeface="Courier New"/>
              </a:rPr>
              <a:t>x = my_list.sort()</a:t>
            </a:r>
            <a:r>
              <a:rPr sz="1400" b="0" i="0">
                <a:solidFill>
                  <a:srgbClr val="1A1A1A"/>
                </a:solidFill>
                <a:latin typeface="Arial"/>
              </a:rPr>
              <a:t> (see the Mutability lesson).</a:t>
            </a:r>
          </a:p>
        </p:txBody>
      </p:sp>
      <p:sp>
        <p:nvSpPr>
          <p:cNvPr id="6" name="Rounded Rectangle 5"/>
          <p:cNvSpPr/>
          <p:nvPr/>
        </p:nvSpPr>
        <p:spPr>
          <a:xfrm>
            <a:off x="6233007" y="1783080"/>
            <a:ext cx="5348782" cy="4361688"/>
          </a:xfrm>
          <a:prstGeom prst="roundRect">
            <a:avLst>
              <a:gd name="adj" fmla="val 188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61607" y="1965960"/>
            <a:ext cx="4891582"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Chained exceptions</a:t>
            </a:r>
          </a:p>
          <a:p>
            <a:pPr algn="l">
              <a:lnSpc>
                <a:spcPct val="110000"/>
              </a:lnSpc>
              <a:spcAft>
                <a:spcPts val="600"/>
              </a:spcAft>
            </a:pPr>
            <a:r>
              <a:rPr sz="1400" b="0" i="0">
                <a:solidFill>
                  <a:srgbClr val="1A1A1A"/>
                </a:solidFill>
                <a:latin typeface="Arial"/>
              </a:rPr>
              <a:t>If an exception is raised while handling another (or with </a:t>
            </a:r>
            <a:r>
              <a:rPr sz="1350" b="0" i="0">
                <a:solidFill>
                  <a:srgbClr val="330066"/>
                </a:solidFill>
                <a:latin typeface="Courier New"/>
              </a:rPr>
              <a:t>raise ... from ...</a:t>
            </a:r>
            <a:r>
              <a:rPr sz="1400" b="0" i="0">
                <a:solidFill>
                  <a:srgbClr val="1A1A1A"/>
                </a:solidFill>
                <a:latin typeface="Arial"/>
              </a:rPr>
              <a:t>, Tuesday), Python prints both tracebacks, separated by "The above exception was the direct cause of the following exception". Read the top group for the original problem, the bottom group for the final error.</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17 / 63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Capturing a Traceback</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4</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Use the </a:t>
            </a:r>
            <a:r>
              <a:rPr sz="1450" b="0" i="0">
                <a:solidFill>
                  <a:srgbClr val="330066"/>
                </a:solidFill>
                <a:latin typeface="Courier New"/>
              </a:rPr>
              <a:t>traceback</a:t>
            </a:r>
            <a:r>
              <a:rPr sz="1500" b="0" i="0">
                <a:solidFill>
                  <a:srgbClr val="1A1A1A"/>
                </a:solidFill>
                <a:latin typeface="Arial"/>
              </a:rPr>
              <a:t> module when you catch an exception but still want the details. The Logging lesson shows </a:t>
            </a:r>
            <a:r>
              <a:rPr sz="1450" b="0" i="0">
                <a:solidFill>
                  <a:srgbClr val="330066"/>
                </a:solidFill>
                <a:latin typeface="Courier New"/>
              </a:rPr>
              <a:t>logger.exception(...)</a:t>
            </a:r>
            <a:r>
              <a:rPr sz="1500" b="0" i="0">
                <a:solidFill>
                  <a:srgbClr val="1A1A1A"/>
                </a:solidFill>
                <a:latin typeface="Arial"/>
              </a:rPr>
              <a:t>.</a:t>
            </a:r>
          </a:p>
        </p:txBody>
      </p:sp>
      <p:sp>
        <p:nvSpPr>
          <p:cNvPr id="5" name="Rounded Rectangle 4"/>
          <p:cNvSpPr/>
          <p:nvPr/>
        </p:nvSpPr>
        <p:spPr>
          <a:xfrm>
            <a:off x="609904" y="2569464"/>
            <a:ext cx="10971885" cy="1786128"/>
          </a:xfrm>
          <a:prstGeom prst="roundRect">
            <a:avLst>
              <a:gd name="adj" fmla="val 409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715768"/>
            <a:ext cx="10569549" cy="1493520"/>
          </a:xfrm>
          <a:prstGeom prst="rect">
            <a:avLst/>
          </a:prstGeom>
          <a:noFill/>
        </p:spPr>
        <p:txBody>
          <a:bodyPr wrap="square" lIns="0" tIns="0" rIns="0" bIns="0">
            <a:spAutoFit/>
          </a:bodyPr>
          <a:lstStyle/>
          <a:p>
            <a:pPr algn="l">
              <a:lnSpc>
                <a:spcPct val="100000"/>
              </a:lnSpc>
            </a:pPr>
            <a:r>
              <a:rPr sz="1400">
                <a:solidFill>
                  <a:srgbClr val="1A1A1A"/>
                </a:solidFill>
                <a:latin typeface="Courier New"/>
              </a:rPr>
              <a:t>import traceback</a:t>
            </a:r>
          </a:p>
          <a:p>
            <a:pPr algn="l">
              <a:lnSpc>
                <a:spcPct val="100000"/>
              </a:lnSpc>
            </a:pPr>
            <a:r>
              <a:rPr sz="1400">
                <a:solidFill>
                  <a:srgbClr val="1A1A1A"/>
                </a:solidFill>
                <a:latin typeface="Courier New"/>
              </a:rPr>
              <a:t> </a:t>
            </a:r>
          </a:p>
          <a:p>
            <a:pPr algn="l">
              <a:lnSpc>
                <a:spcPct val="100000"/>
              </a:lnSpc>
            </a:pPr>
            <a:r>
              <a:rPr sz="1400">
                <a:solidFill>
                  <a:srgbClr val="1A1A1A"/>
                </a:solidFill>
                <a:latin typeface="Courier New"/>
              </a:rPr>
              <a:t>try:</a:t>
            </a:r>
          </a:p>
          <a:p>
            <a:pPr algn="l">
              <a:lnSpc>
                <a:spcPct val="100000"/>
              </a:lnSpc>
            </a:pPr>
            <a:r>
              <a:rPr sz="1400">
                <a:solidFill>
                  <a:srgbClr val="1A1A1A"/>
                </a:solidFill>
                <a:latin typeface="Courier New"/>
              </a:rPr>
              <a:t>    {}["missing"]</a:t>
            </a:r>
          </a:p>
          <a:p>
            <a:pPr algn="l">
              <a:lnSpc>
                <a:spcPct val="100000"/>
              </a:lnSpc>
            </a:pPr>
            <a:r>
              <a:rPr sz="1400">
                <a:solidFill>
                  <a:srgbClr val="1A1A1A"/>
                </a:solidFill>
                <a:latin typeface="Courier New"/>
              </a:rPr>
              <a:t>except KeyError:</a:t>
            </a:r>
          </a:p>
          <a:p>
            <a:pPr algn="l">
              <a:lnSpc>
                <a:spcPct val="100000"/>
              </a:lnSpc>
            </a:pPr>
            <a:r>
              <a:rPr sz="1400">
                <a:solidFill>
                  <a:srgbClr val="1A1A1A"/>
                </a:solidFill>
                <a:latin typeface="Courier New"/>
              </a:rPr>
              <a:t>    traceback.print_exc()            # prints the full traceback to the screen</a:t>
            </a:r>
          </a:p>
          <a:p>
            <a:pPr algn="l">
              <a:lnSpc>
                <a:spcPct val="100000"/>
              </a:lnSpc>
            </a:pPr>
            <a:r>
              <a:rPr sz="1400">
                <a:solidFill>
                  <a:srgbClr val="1A1A1A"/>
                </a:solidFill>
                <a:latin typeface="Courier New"/>
              </a:rPr>
              <a:t>    text = traceback.format_exc()    # or get it as a string, e.g. to log or attach to a report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18 / 63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Print and Assertions</a:t>
            </a:r>
          </a:p>
        </p:txBody>
      </p:sp>
      <p:sp>
        <p:nvSpPr>
          <p:cNvPr id="3" name="Text Placeholder 2"/>
          <p:cNvSpPr>
            <a:spLocks noGrp="1"/>
          </p:cNvSpPr>
          <p:nvPr>
            <p:ph type="body" idx="1"/>
          </p:nvPr>
        </p:nvSpPr>
        <p:spPr/>
        <p:txBody>
          <a:bodyPr/>
          <a:lstStyle/>
          <a:p>
            <a:r>
              <a:rPr sz="1800">
                <a:solidFill>
                  <a:srgbClr val="5A5A5A"/>
                </a:solidFill>
              </a:rPr>
              <a:t>Technique 1 and Technique 2</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03</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19 / 63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Technique 1: Print Debugging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Temporarily add </a:t>
            </a:r>
            <a:r>
              <a:rPr sz="1450" b="0" i="0">
                <a:solidFill>
                  <a:srgbClr val="330066"/>
                </a:solidFill>
                <a:latin typeface="Courier New"/>
              </a:rPr>
              <a:t>print</a:t>
            </a:r>
            <a:r>
              <a:rPr sz="1500" b="0" i="0">
                <a:solidFill>
                  <a:srgbClr val="1A1A1A"/>
                </a:solidFill>
                <a:latin typeface="Arial"/>
              </a:rPr>
              <a:t> statements to see variable values and the path the code takes.</a:t>
            </a:r>
          </a:p>
        </p:txBody>
      </p:sp>
      <p:sp>
        <p:nvSpPr>
          <p:cNvPr id="5" name="Rounded Rectangle 4"/>
          <p:cNvSpPr/>
          <p:nvPr/>
        </p:nvSpPr>
        <p:spPr>
          <a:xfrm>
            <a:off x="609904" y="2267712"/>
            <a:ext cx="10971885" cy="1892808"/>
          </a:xfrm>
          <a:prstGeom prst="roundRect">
            <a:avLst>
              <a:gd name="adj" fmla="val 386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414016"/>
            <a:ext cx="10569549" cy="1600200"/>
          </a:xfrm>
          <a:prstGeom prst="rect">
            <a:avLst/>
          </a:prstGeom>
          <a:noFill/>
        </p:spPr>
        <p:txBody>
          <a:bodyPr wrap="square" lIns="0" tIns="0" rIns="0" bIns="0">
            <a:spAutoFit/>
          </a:bodyPr>
          <a:lstStyle/>
          <a:p>
            <a:pPr algn="l">
              <a:lnSpc>
                <a:spcPct val="100000"/>
              </a:lnSpc>
            </a:pPr>
            <a:r>
              <a:rPr sz="1500">
                <a:solidFill>
                  <a:srgbClr val="1A1A1A"/>
                </a:solidFill>
                <a:latin typeface="Courier New"/>
              </a:rPr>
              <a:t>def average(values):</a:t>
            </a:r>
          </a:p>
          <a:p>
            <a:pPr algn="l">
              <a:lnSpc>
                <a:spcPct val="100000"/>
              </a:lnSpc>
            </a:pPr>
            <a:r>
              <a:rPr sz="1500">
                <a:solidFill>
                  <a:srgbClr val="1A1A1A"/>
                </a:solidFill>
                <a:latin typeface="Courier New"/>
              </a:rPr>
              <a:t>    total = 0</a:t>
            </a:r>
          </a:p>
          <a:p>
            <a:pPr algn="l">
              <a:lnSpc>
                <a:spcPct val="100000"/>
              </a:lnSpc>
            </a:pPr>
            <a:r>
              <a:rPr sz="1500">
                <a:solidFill>
                  <a:srgbClr val="1A1A1A"/>
                </a:solidFill>
                <a:latin typeface="Courier New"/>
              </a:rPr>
              <a:t>    for v in values:</a:t>
            </a:r>
          </a:p>
          <a:p>
            <a:pPr algn="l">
              <a:lnSpc>
                <a:spcPct val="100000"/>
              </a:lnSpc>
            </a:pPr>
            <a:r>
              <a:rPr sz="1500">
                <a:solidFill>
                  <a:srgbClr val="1A1A1A"/>
                </a:solidFill>
                <a:latin typeface="Courier New"/>
              </a:rPr>
              <a:t>        total += v</a:t>
            </a:r>
          </a:p>
          <a:p>
            <a:pPr algn="l">
              <a:lnSpc>
                <a:spcPct val="100000"/>
              </a:lnSpc>
            </a:pPr>
            <a:r>
              <a:rPr sz="1500">
                <a:solidFill>
                  <a:srgbClr val="1A1A1A"/>
                </a:solidFill>
                <a:latin typeface="Courier New"/>
              </a:rPr>
              <a:t>        print(f"DEBUG v={v!r} total={total!r}")   # temporary</a:t>
            </a:r>
          </a:p>
          <a:p>
            <a:pPr algn="l">
              <a:lnSpc>
                <a:spcPct val="100000"/>
              </a:lnSpc>
            </a:pPr>
            <a:r>
              <a:rPr sz="1500">
                <a:solidFill>
                  <a:srgbClr val="1A1A1A"/>
                </a:solidFill>
                <a:latin typeface="Courier New"/>
              </a:rPr>
              <a:t>    print(f"DEBUG len={len(values)!r}")           # temporary</a:t>
            </a:r>
          </a:p>
          <a:p>
            <a:pPr algn="l">
              <a:lnSpc>
                <a:spcPct val="100000"/>
              </a:lnSpc>
            </a:pPr>
            <a:r>
              <a:rPr sz="1500">
                <a:solidFill>
                  <a:srgbClr val="1A1A1A"/>
                </a:solidFill>
                <a:latin typeface="Courier New"/>
              </a:rPr>
              <a:t>    return total / len(values) - 1</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20 / 63</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Tips for Useful Prints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Label every value (</a:t>
            </a:r>
            <a:r>
              <a:rPr sz="1650" b="0" i="0">
                <a:solidFill>
                  <a:srgbClr val="330066"/>
                </a:solidFill>
                <a:latin typeface="Courier New"/>
              </a:rPr>
              <a:t>total=</a:t>
            </a:r>
            <a:r>
              <a:rPr sz="1700" b="0" i="0">
                <a:solidFill>
                  <a:srgbClr val="1A1A1A"/>
                </a:solidFill>
                <a:latin typeface="Arial"/>
              </a:rPr>
              <a:t>), otherwise you will not know which line produced which number.</a:t>
            </a:r>
          </a:p>
          <a:p>
            <a:pPr marL="228600" indent="-228600" algn="l">
              <a:spcAft>
                <a:spcPts val="1000"/>
              </a:spcAft>
              <a:buFont typeface="Arial"/>
              <a:buChar char="•"/>
            </a:pPr>
            <a:r>
              <a:rPr sz="1700" b="0" i="0">
                <a:solidFill>
                  <a:srgbClr val="1A1A1A"/>
                </a:solidFill>
                <a:latin typeface="Arial"/>
              </a:rPr>
              <a:t>Use </a:t>
            </a:r>
            <a:r>
              <a:rPr sz="1650" b="0" i="0">
                <a:solidFill>
                  <a:srgbClr val="330066"/>
                </a:solidFill>
                <a:latin typeface="Courier New"/>
              </a:rPr>
              <a:t>!r</a:t>
            </a:r>
            <a:r>
              <a:rPr sz="1700" b="0" i="0">
                <a:solidFill>
                  <a:srgbClr val="1A1A1A"/>
                </a:solidFill>
                <a:latin typeface="Arial"/>
              </a:rPr>
              <a:t> (the </a:t>
            </a:r>
            <a:r>
              <a:rPr sz="1650" b="0" i="0">
                <a:solidFill>
                  <a:srgbClr val="330066"/>
                </a:solidFill>
                <a:latin typeface="Courier New"/>
              </a:rPr>
              <a:t>repr</a:t>
            </a:r>
            <a:r>
              <a:rPr sz="1700" b="0" i="0">
                <a:solidFill>
                  <a:srgbClr val="1A1A1A"/>
                </a:solidFill>
                <a:latin typeface="Arial"/>
              </a:rPr>
              <a:t>) to reveal hidden whitespace and distinguish </a:t>
            </a:r>
            <a:r>
              <a:rPr sz="1650" b="0" i="0">
                <a:solidFill>
                  <a:srgbClr val="330066"/>
                </a:solidFill>
                <a:latin typeface="Courier New"/>
              </a:rPr>
              <a:t>'5'</a:t>
            </a:r>
            <a:r>
              <a:rPr sz="1700" b="0" i="0">
                <a:solidFill>
                  <a:srgbClr val="1A1A1A"/>
                </a:solidFill>
                <a:latin typeface="Arial"/>
              </a:rPr>
              <a:t>, </a:t>
            </a:r>
            <a:r>
              <a:rPr sz="1650" b="0" i="0">
                <a:solidFill>
                  <a:srgbClr val="330066"/>
                </a:solidFill>
                <a:latin typeface="Courier New"/>
              </a:rPr>
              <a:t>5</a:t>
            </a:r>
            <a:r>
              <a:rPr sz="1700" b="0" i="0">
                <a:solidFill>
                  <a:srgbClr val="1A1A1A"/>
                </a:solidFill>
                <a:latin typeface="Arial"/>
              </a:rPr>
              <a:t> and </a:t>
            </a:r>
            <a:r>
              <a:rPr sz="1650" b="0" i="0">
                <a:solidFill>
                  <a:srgbClr val="330066"/>
                </a:solidFill>
                <a:latin typeface="Courier New"/>
              </a:rPr>
              <a:t>None</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Print types when unsure: </a:t>
            </a:r>
            <a:r>
              <a:rPr sz="1650" b="0" i="0">
                <a:solidFill>
                  <a:srgbClr val="330066"/>
                </a:solidFill>
                <a:latin typeface="Courier New"/>
              </a:rPr>
              <a:t>print(type(x), x)</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Mark entry and exit of functions: </a:t>
            </a:r>
            <a:r>
              <a:rPr sz="1650" b="0" i="0">
                <a:solidFill>
                  <a:srgbClr val="330066"/>
                </a:solidFill>
                <a:latin typeface="Courier New"/>
              </a:rPr>
              <a:t>print("&gt;&gt; entering cart_total")</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Print at the boundaries: inputs before a function and outputs after it, to see which side is wrong.</a:t>
            </a:r>
          </a:p>
          <a:p>
            <a:pPr marL="228600" indent="-228600" algn="l">
              <a:spcAft>
                <a:spcPts val="1000"/>
              </a:spcAft>
              <a:buFont typeface="Arial"/>
              <a:buChar char="•"/>
            </a:pPr>
            <a:r>
              <a:rPr sz="1700" b="0" i="0">
                <a:solidFill>
                  <a:srgbClr val="1A1A1A"/>
                </a:solidFill>
                <a:latin typeface="Arial"/>
              </a:rPr>
              <a:t>Always remove debug prints afterwards, or convert the valuable ones into log statements (next lesson).</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21 / 63</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Print Debugging: Strengths and Limits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5</a:t>
            </a:r>
          </a:p>
        </p:txBody>
      </p:sp>
      <p:sp>
        <p:nvSpPr>
          <p:cNvPr id="4" name="Rounded Rectangle 3"/>
          <p:cNvSpPr/>
          <p:nvPr/>
        </p:nvSpPr>
        <p:spPr>
          <a:xfrm>
            <a:off x="609904" y="1783080"/>
            <a:ext cx="5348782" cy="4361688"/>
          </a:xfrm>
          <a:prstGeom prst="roundRect">
            <a:avLst>
              <a:gd name="adj" fmla="val 188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4891582"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Strengths</a:t>
            </a:r>
          </a:p>
          <a:p>
            <a:pPr algn="l">
              <a:lnSpc>
                <a:spcPct val="110000"/>
              </a:lnSpc>
              <a:spcAft>
                <a:spcPts val="600"/>
              </a:spcAft>
            </a:pPr>
            <a:r>
              <a:rPr sz="1500" b="0" i="0">
                <a:solidFill>
                  <a:srgbClr val="1A1A1A"/>
                </a:solidFill>
                <a:latin typeface="Arial"/>
              </a:rPr>
              <a:t>Instant; needs no tools.</a:t>
            </a:r>
          </a:p>
        </p:txBody>
      </p:sp>
      <p:sp>
        <p:nvSpPr>
          <p:cNvPr id="6" name="Rounded Rectangle 5"/>
          <p:cNvSpPr/>
          <p:nvPr/>
        </p:nvSpPr>
        <p:spPr>
          <a:xfrm>
            <a:off x="6233007" y="1783080"/>
            <a:ext cx="5348782" cy="4361688"/>
          </a:xfrm>
          <a:prstGeom prst="roundRect">
            <a:avLst>
              <a:gd name="adj" fmla="val 188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61607" y="1965960"/>
            <a:ext cx="4891582"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Weaknesses</a:t>
            </a:r>
          </a:p>
          <a:p>
            <a:pPr algn="l">
              <a:lnSpc>
                <a:spcPct val="110000"/>
              </a:lnSpc>
              <a:spcAft>
                <a:spcPts val="600"/>
              </a:spcAft>
            </a:pPr>
            <a:r>
              <a:rPr sz="1500" b="0" i="0">
                <a:solidFill>
                  <a:srgbClr val="1A1A1A"/>
                </a:solidFill>
                <a:latin typeface="Arial"/>
              </a:rPr>
              <a:t>You must edit and re-run each time you want to see something new; output can be overwhelming; you may forget to remove prints; it is easy to print the wrong thing. That is why a real debugger is worth learning.</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22 / 63</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Technique 2: Assertions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457200"/>
          </a:xfrm>
          <a:prstGeom prst="rect">
            <a:avLst/>
          </a:prstGeom>
          <a:noFill/>
        </p:spPr>
        <p:txBody>
          <a:bodyPr wrap="square" lIns="0" tIns="0" rIns="0" bIns="0" anchor="t">
            <a:spAutoFit/>
          </a:bodyPr>
          <a:lstStyle/>
          <a:p>
            <a:pPr algn="l">
              <a:lnSpc>
                <a:spcPct val="110000"/>
              </a:lnSpc>
              <a:spcAft>
                <a:spcPts val="600"/>
              </a:spcAft>
            </a:pPr>
            <a:r>
              <a:rPr sz="1500" b="0" i="0">
                <a:solidFill>
                  <a:srgbClr val="1A1A1A"/>
                </a:solidFill>
                <a:latin typeface="Arial"/>
              </a:rPr>
              <a:t>The failure message includes the actual value, so the failure explains itself.</a:t>
            </a:r>
          </a:p>
        </p:txBody>
      </p:sp>
      <p:sp>
        <p:nvSpPr>
          <p:cNvPr id="5" name="TextBox 4"/>
          <p:cNvSpPr txBox="1"/>
          <p:nvPr/>
        </p:nvSpPr>
        <p:spPr>
          <a:xfrm>
            <a:off x="609904" y="2221991"/>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Code</a:t>
            </a:r>
          </a:p>
        </p:txBody>
      </p:sp>
      <p:sp>
        <p:nvSpPr>
          <p:cNvPr id="6" name="Rounded Rectangle 5"/>
          <p:cNvSpPr/>
          <p:nvPr/>
        </p:nvSpPr>
        <p:spPr>
          <a:xfrm>
            <a:off x="609904" y="2496311"/>
            <a:ext cx="10971885" cy="1755648"/>
          </a:xfrm>
          <a:prstGeom prst="roundRect">
            <a:avLst>
              <a:gd name="adj" fmla="val 416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1072" y="2642615"/>
            <a:ext cx="10569549" cy="1463039"/>
          </a:xfrm>
          <a:prstGeom prst="rect">
            <a:avLst/>
          </a:prstGeom>
          <a:noFill/>
        </p:spPr>
        <p:txBody>
          <a:bodyPr wrap="square" lIns="0" tIns="0" rIns="0" bIns="0">
            <a:spAutoFit/>
          </a:bodyPr>
          <a:lstStyle/>
          <a:p>
            <a:pPr algn="l">
              <a:lnSpc>
                <a:spcPct val="100000"/>
              </a:lnSpc>
            </a:pPr>
            <a:r>
              <a:rPr sz="1200">
                <a:solidFill>
                  <a:srgbClr val="5C8A8A"/>
                </a:solidFill>
                <a:latin typeface="Courier New"/>
              </a:rPr>
              <a:t># cart4.py</a:t>
            </a:r>
          </a:p>
          <a:p>
            <a:pPr algn="l">
              <a:lnSpc>
                <a:spcPct val="100000"/>
              </a:lnSpc>
            </a:pPr>
            <a:r>
              <a:rPr sz="1200">
                <a:solidFill>
                  <a:srgbClr val="1A1A1A"/>
                </a:solidFill>
                <a:latin typeface="Courier New"/>
              </a:rPr>
              <a:t>def average(values):</a:t>
            </a:r>
          </a:p>
          <a:p>
            <a:pPr algn="l">
              <a:lnSpc>
                <a:spcPct val="100000"/>
              </a:lnSpc>
            </a:pPr>
            <a:r>
              <a:rPr sz="1200">
                <a:solidFill>
                  <a:srgbClr val="1A1A1A"/>
                </a:solidFill>
                <a:latin typeface="Courier New"/>
              </a:rPr>
              <a:t>    total = 0</a:t>
            </a:r>
          </a:p>
          <a:p>
            <a:pPr algn="l">
              <a:lnSpc>
                <a:spcPct val="100000"/>
              </a:lnSpc>
            </a:pPr>
            <a:r>
              <a:rPr sz="1200">
                <a:solidFill>
                  <a:srgbClr val="1A1A1A"/>
                </a:solidFill>
                <a:latin typeface="Courier New"/>
              </a:rPr>
              <a:t>    for v in values:</a:t>
            </a:r>
          </a:p>
          <a:p>
            <a:pPr algn="l">
              <a:lnSpc>
                <a:spcPct val="100000"/>
              </a:lnSpc>
            </a:pPr>
            <a:r>
              <a:rPr sz="1200">
                <a:solidFill>
                  <a:srgbClr val="1A1A1A"/>
                </a:solidFill>
                <a:latin typeface="Courier New"/>
              </a:rPr>
              <a:t>        total += v</a:t>
            </a:r>
          </a:p>
          <a:p>
            <a:pPr algn="l">
              <a:lnSpc>
                <a:spcPct val="100000"/>
              </a:lnSpc>
            </a:pPr>
            <a:r>
              <a:rPr sz="1200">
                <a:solidFill>
                  <a:srgbClr val="1A1A1A"/>
                </a:solidFill>
                <a:latin typeface="Courier New"/>
              </a:rPr>
              <a:t>    return total / len(values) - 1</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assert average([80, 90, 100]) == 90, f"average wrong: {average([80, 90, 100])}"</a:t>
            </a:r>
          </a:p>
        </p:txBody>
      </p:sp>
      <p:sp>
        <p:nvSpPr>
          <p:cNvPr id="8" name="TextBox 7"/>
          <p:cNvSpPr txBox="1"/>
          <p:nvPr/>
        </p:nvSpPr>
        <p:spPr>
          <a:xfrm>
            <a:off x="609904" y="4434840"/>
            <a:ext cx="10971885"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Output</a:t>
            </a:r>
          </a:p>
        </p:txBody>
      </p:sp>
      <p:sp>
        <p:nvSpPr>
          <p:cNvPr id="9" name="Rounded Rectangle 8"/>
          <p:cNvSpPr/>
          <p:nvPr/>
        </p:nvSpPr>
        <p:spPr>
          <a:xfrm>
            <a:off x="609904" y="4709159"/>
            <a:ext cx="10971885" cy="1207007"/>
          </a:xfrm>
          <a:prstGeom prst="roundRect">
            <a:avLst>
              <a:gd name="adj" fmla="val 606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11072" y="4855464"/>
            <a:ext cx="10569549" cy="914399"/>
          </a:xfrm>
          <a:prstGeom prst="rect">
            <a:avLst/>
          </a:prstGeom>
          <a:noFill/>
        </p:spPr>
        <p:txBody>
          <a:bodyPr wrap="square" lIns="0" tIns="0" rIns="0" bIns="0">
            <a:spAutoFit/>
          </a:bodyPr>
          <a:lstStyle/>
          <a:p>
            <a:pPr algn="l">
              <a:lnSpc>
                <a:spcPct val="100000"/>
              </a:lnSpc>
            </a:pPr>
            <a:r>
              <a:rPr sz="1200">
                <a:solidFill>
                  <a:srgbClr val="1A1A1A"/>
                </a:solidFill>
                <a:latin typeface="Courier New"/>
              </a:rPr>
              <a:t>Traceback (most recent call last):</a:t>
            </a:r>
          </a:p>
          <a:p>
            <a:pPr algn="l">
              <a:lnSpc>
                <a:spcPct val="100000"/>
              </a:lnSpc>
            </a:pPr>
            <a:r>
              <a:rPr sz="1200">
                <a:solidFill>
                  <a:srgbClr val="1A1A1A"/>
                </a:solidFill>
                <a:latin typeface="Courier New"/>
              </a:rPr>
              <a:t>  File "cart4.py", line 7, in &lt;module&gt;</a:t>
            </a:r>
          </a:p>
          <a:p>
            <a:pPr algn="l">
              <a:lnSpc>
                <a:spcPct val="100000"/>
              </a:lnSpc>
            </a:pPr>
            <a:r>
              <a:rPr sz="1200">
                <a:solidFill>
                  <a:srgbClr val="1A1A1A"/>
                </a:solidFill>
                <a:latin typeface="Courier New"/>
              </a:rPr>
              <a:t>    assert average([80, 90, 100]) == 90, f"average wrong: {average([80, 90, 100])}"</a:t>
            </a:r>
          </a:p>
          <a:p>
            <a:pPr algn="l">
              <a:lnSpc>
                <a:spcPct val="100000"/>
              </a:lnSpc>
            </a:pPr>
            <a:r>
              <a:rPr sz="1200">
                <a:solidFill>
                  <a:srgbClr val="1A1A1A"/>
                </a:solidFill>
                <a:latin typeface="Courier New"/>
              </a:rPr>
              <a:t>           ^^^^^^^^^^^^^^^^^^^^^^^^^^^^</a:t>
            </a:r>
          </a:p>
          <a:p>
            <a:pPr algn="l">
              <a:lnSpc>
                <a:spcPct val="100000"/>
              </a:lnSpc>
            </a:pPr>
            <a:r>
              <a:rPr sz="1200">
                <a:solidFill>
                  <a:srgbClr val="1A1A1A"/>
                </a:solidFill>
                <a:latin typeface="Courier New"/>
              </a:rPr>
              <a:t>AssertionError: average wrong: 89.0</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23 / 63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Assertions as Debugging Aids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6</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An </a:t>
            </a:r>
            <a:r>
              <a:rPr sz="1650" b="0" i="0">
                <a:solidFill>
                  <a:srgbClr val="330066"/>
                </a:solidFill>
                <a:latin typeface="Courier New"/>
              </a:rPr>
              <a:t>assert</a:t>
            </a:r>
            <a:r>
              <a:rPr sz="1700" b="0" i="0">
                <a:solidFill>
                  <a:srgbClr val="1A1A1A"/>
                </a:solidFill>
                <a:latin typeface="Arial"/>
              </a:rPr>
              <a:t> states something you believe must be true. If not, Python stops at the first point where reality differs, instead of letting bad data cause a puzzling failure later.</a:t>
            </a:r>
          </a:p>
          <a:p>
            <a:pPr marL="228600" indent="-228600" algn="l">
              <a:spcAft>
                <a:spcPts val="1000"/>
              </a:spcAft>
              <a:buFont typeface="Arial"/>
              <a:buChar char="•"/>
            </a:pPr>
            <a:r>
              <a:rPr sz="1700" b="0" i="0">
                <a:solidFill>
                  <a:srgbClr val="1A1A1A"/>
                </a:solidFill>
                <a:latin typeface="Arial"/>
              </a:rPr>
              <a:t>The message after the comma is printed when the assertion fails: include the actual value.</a:t>
            </a:r>
          </a:p>
          <a:p>
            <a:pPr marL="228600" indent="-228600" algn="l">
              <a:spcAft>
                <a:spcPts val="1000"/>
              </a:spcAft>
              <a:buFont typeface="Arial"/>
              <a:buChar char="•"/>
            </a:pPr>
            <a:r>
              <a:rPr sz="1700" b="0" i="0">
                <a:solidFill>
                  <a:srgbClr val="1A1A1A"/>
                </a:solidFill>
                <a:latin typeface="Arial"/>
              </a:rPr>
              <a:t>Inside functions, assertions document and enforce assumptions: </a:t>
            </a:r>
            <a:r>
              <a:rPr sz="1650" b="0" i="0">
                <a:solidFill>
                  <a:srgbClr val="330066"/>
                </a:solidFill>
                <a:latin typeface="Courier New"/>
              </a:rPr>
              <a:t>assert len(values) &gt; 0, "values must not be empty"</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Assertions catch programmer mistakes and can be switched off with </a:t>
            </a:r>
            <a:r>
              <a:rPr sz="1650" b="0" i="0">
                <a:solidFill>
                  <a:srgbClr val="330066"/>
                </a:solidFill>
                <a:latin typeface="Courier New"/>
              </a:rPr>
              <a:t>python -O</a:t>
            </a:r>
            <a:r>
              <a:rPr sz="1700" b="0" i="0">
                <a:solidFill>
                  <a:srgbClr val="1A1A1A"/>
                </a:solidFill>
                <a:latin typeface="Arial"/>
              </a:rPr>
              <a:t>: never the only protection for user input or file data. Raise proper exceptions there.</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24 / 63</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Debugger: pdb</a:t>
            </a:r>
          </a:p>
        </p:txBody>
      </p:sp>
      <p:sp>
        <p:nvSpPr>
          <p:cNvPr id="3" name="Text Placeholder 2"/>
          <p:cNvSpPr>
            <a:spLocks noGrp="1"/>
          </p:cNvSpPr>
          <p:nvPr>
            <p:ph type="body" idx="1"/>
          </p:nvPr>
        </p:nvSpPr>
        <p:spPr/>
        <p:txBody>
          <a:bodyPr/>
          <a:lstStyle/>
          <a:p>
            <a:r>
              <a:rPr sz="1800">
                <a:solidFill>
                  <a:srgbClr val="5A5A5A"/>
                </a:solidFill>
              </a:rPr>
              <a:t>breakpoint(), stepping, call stack, conditional and post-mortem</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04</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25 / 63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What Is pdb?</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A debugger lets you pause a running program, look at all its variables, and execute it one line at a time.</a:t>
            </a:r>
          </a:p>
          <a:p>
            <a:pPr marL="228600" indent="-228600" algn="l">
              <a:spcAft>
                <a:spcPts val="1000"/>
              </a:spcAft>
              <a:buFont typeface="Arial"/>
              <a:buChar char="•"/>
            </a:pPr>
            <a:r>
              <a:rPr sz="1650" b="0" i="0">
                <a:solidFill>
                  <a:srgbClr val="330066"/>
                </a:solidFill>
                <a:latin typeface="Courier New"/>
              </a:rPr>
              <a:t>pdb</a:t>
            </a:r>
            <a:r>
              <a:rPr sz="1700" b="0" i="0">
                <a:solidFill>
                  <a:srgbClr val="1A1A1A"/>
                </a:solidFill>
                <a:latin typeface="Arial"/>
              </a:rPr>
              <a:t> ("Python DeBugger") is in the standard library.</a:t>
            </a:r>
          </a:p>
          <a:p>
            <a:pPr marL="228600" indent="-228600" algn="l">
              <a:spcAft>
                <a:spcPts val="1000"/>
              </a:spcAft>
              <a:buFont typeface="Arial"/>
              <a:buChar char="•"/>
            </a:pPr>
            <a:r>
              <a:rPr sz="1700" b="0" i="0">
                <a:solidFill>
                  <a:srgbClr val="1A1A1A"/>
                </a:solidFill>
                <a:latin typeface="Arial"/>
              </a:rPr>
              <a:t>It runs in your terminal, so it works anywhere: a remote server or a CI machine with no graphical editor.</a:t>
            </a:r>
          </a:p>
          <a:p>
            <a:pPr marL="228600" indent="-228600" algn="l">
              <a:spcAft>
                <a:spcPts val="1000"/>
              </a:spcAft>
              <a:buFont typeface="Arial"/>
              <a:buChar char="•"/>
            </a:pPr>
            <a:r>
              <a:rPr sz="1700" b="0" i="0">
                <a:solidFill>
                  <a:srgbClr val="1A1A1A"/>
                </a:solidFill>
                <a:latin typeface="Arial"/>
              </a:rPr>
              <a:t>Three ways to start it: </a:t>
            </a:r>
            <a:r>
              <a:rPr sz="1650" b="0" i="0">
                <a:solidFill>
                  <a:srgbClr val="330066"/>
                </a:solidFill>
                <a:latin typeface="Courier New"/>
              </a:rPr>
              <a:t>breakpoint()</a:t>
            </a:r>
            <a:r>
              <a:rPr sz="1700" b="0" i="0">
                <a:solidFill>
                  <a:srgbClr val="1A1A1A"/>
                </a:solidFill>
                <a:latin typeface="Arial"/>
              </a:rPr>
              <a:t>, </a:t>
            </a:r>
            <a:r>
              <a:rPr sz="1650" b="0" i="0">
                <a:solidFill>
                  <a:srgbClr val="330066"/>
                </a:solidFill>
                <a:latin typeface="Courier New"/>
              </a:rPr>
              <a:t>python -m pdb</a:t>
            </a:r>
            <a:r>
              <a:rPr sz="1700" b="0" i="0">
                <a:solidFill>
                  <a:srgbClr val="1A1A1A"/>
                </a:solidFill>
                <a:latin typeface="Arial"/>
              </a:rPr>
              <a:t>, and post-mortem.</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26 / 63</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Option A: breakpoint()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7.1 · STARTING THE DEBUGGER</a:t>
            </a:r>
          </a:p>
        </p:txBody>
      </p:sp>
      <p:sp>
        <p:nvSpPr>
          <p:cNvPr id="4" name="Rounded Rectangle 3"/>
          <p:cNvSpPr/>
          <p:nvPr/>
        </p:nvSpPr>
        <p:spPr>
          <a:xfrm>
            <a:off x="609904" y="1783080"/>
            <a:ext cx="6400800" cy="1626108"/>
          </a:xfrm>
          <a:prstGeom prst="roundRect">
            <a:avLst>
              <a:gd name="adj" fmla="val 4498"/>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1333500"/>
          </a:xfrm>
          <a:prstGeom prst="rect">
            <a:avLst/>
          </a:prstGeom>
          <a:noFill/>
        </p:spPr>
        <p:txBody>
          <a:bodyPr wrap="square" lIns="0" tIns="0" rIns="0" bIns="0">
            <a:spAutoFit/>
          </a:bodyPr>
          <a:lstStyle/>
          <a:p>
            <a:pPr algn="l">
              <a:lnSpc>
                <a:spcPct val="100000"/>
              </a:lnSpc>
            </a:pPr>
            <a:r>
              <a:rPr sz="1250">
                <a:solidFill>
                  <a:srgbClr val="5C8A8A"/>
                </a:solidFill>
                <a:latin typeface="Courier New"/>
              </a:rPr>
              <a:t># cart3.py</a:t>
            </a:r>
          </a:p>
          <a:p>
            <a:pPr algn="l">
              <a:lnSpc>
                <a:spcPct val="100000"/>
              </a:lnSpc>
            </a:pPr>
            <a:r>
              <a:rPr sz="1250">
                <a:solidFill>
                  <a:srgbClr val="1A1A1A"/>
                </a:solidFill>
                <a:latin typeface="Courier New"/>
              </a:rPr>
              <a:t>def apply_discount(price, percent):</a:t>
            </a:r>
          </a:p>
          <a:p>
            <a:pPr algn="l">
              <a:lnSpc>
                <a:spcPct val="100000"/>
              </a:lnSpc>
            </a:pPr>
            <a:r>
              <a:rPr sz="1250">
                <a:solidFill>
                  <a:srgbClr val="1A1A1A"/>
                </a:solidFill>
                <a:latin typeface="Courier New"/>
              </a:rPr>
              <a:t>    discount = price * percent / 100</a:t>
            </a:r>
          </a:p>
          <a:p>
            <a:pPr algn="l">
              <a:lnSpc>
                <a:spcPct val="100000"/>
              </a:lnSpc>
            </a:pPr>
            <a:r>
              <a:rPr sz="1250">
                <a:solidFill>
                  <a:srgbClr val="1A1A1A"/>
                </a:solidFill>
                <a:latin typeface="Courier New"/>
              </a:rPr>
              <a:t>    breakpoint()                      # execution pauses here</a:t>
            </a:r>
          </a:p>
          <a:p>
            <a:pPr algn="l">
              <a:lnSpc>
                <a:spcPct val="100000"/>
              </a:lnSpc>
            </a:pPr>
            <a:r>
              <a:rPr sz="1250">
                <a:solidFill>
                  <a:srgbClr val="1A1A1A"/>
                </a:solidFill>
                <a:latin typeface="Courier New"/>
              </a:rPr>
              <a:t>    return price - discount</a:t>
            </a:r>
          </a:p>
          <a:p>
            <a:pPr algn="l">
              <a:lnSpc>
                <a:spcPct val="100000"/>
              </a:lnSpc>
            </a:pPr>
            <a:r>
              <a:rPr sz="1250">
                <a:solidFill>
                  <a:srgbClr val="1A1A1A"/>
                </a:solidFill>
                <a:latin typeface="Courier New"/>
              </a:rPr>
              <a:t> </a:t>
            </a:r>
          </a:p>
          <a:p>
            <a:pPr algn="l">
              <a:lnSpc>
                <a:spcPct val="100000"/>
              </a:lnSpc>
            </a:pPr>
            <a:r>
              <a:rPr sz="1250">
                <a:solidFill>
                  <a:srgbClr val="1A1A1A"/>
                </a:solidFill>
                <a:latin typeface="Courier New"/>
              </a:rPr>
              <a:t>print(apply_discount(15.0, 20))</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500" b="0" i="0">
                <a:solidFill>
                  <a:srgbClr val="1A1A1A"/>
                </a:solidFill>
                <a:latin typeface="Arial"/>
              </a:rPr>
              <a:t>Recommended. Add the call where you want the program to pause. Built into Python 3.7+.</a:t>
            </a:r>
          </a:p>
          <a:p>
            <a:pPr marL="228600" indent="-228600" algn="l">
              <a:spcAft>
                <a:spcPts val="800"/>
              </a:spcAft>
              <a:buFont typeface="Arial"/>
              <a:buChar char="•"/>
            </a:pPr>
            <a:r>
              <a:rPr sz="1500" b="0" i="0">
                <a:solidFill>
                  <a:srgbClr val="1A1A1A"/>
                </a:solidFill>
                <a:latin typeface="Arial"/>
              </a:rPr>
              <a:t>Run normally (</a:t>
            </a:r>
            <a:r>
              <a:rPr sz="1450" b="0" i="0">
                <a:solidFill>
                  <a:srgbClr val="330066"/>
                </a:solidFill>
                <a:latin typeface="Courier New"/>
              </a:rPr>
              <a:t>python cart3.py</a:t>
            </a:r>
            <a:r>
              <a:rPr sz="1500" b="0" i="0">
                <a:solidFill>
                  <a:srgbClr val="1A1A1A"/>
                </a:solidFill>
                <a:latin typeface="Arial"/>
              </a:rPr>
              <a:t>) and you land at a </a:t>
            </a:r>
            <a:r>
              <a:rPr sz="1450" b="0" i="0">
                <a:solidFill>
                  <a:srgbClr val="330066"/>
                </a:solidFill>
                <a:latin typeface="Courier New"/>
              </a:rPr>
              <a:t>(Pdb)</a:t>
            </a:r>
            <a:r>
              <a:rPr sz="1500" b="0" i="0">
                <a:solidFill>
                  <a:srgbClr val="1A1A1A"/>
                </a:solidFill>
                <a:latin typeface="Arial"/>
              </a:rPr>
              <a:t> prompt.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27 / 63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Options B and C</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7.1</a:t>
            </a:r>
          </a:p>
        </p:txBody>
      </p:sp>
      <p:sp>
        <p:nvSpPr>
          <p:cNvPr id="4" name="TextBox 3"/>
          <p:cNvSpPr txBox="1"/>
          <p:nvPr/>
        </p:nvSpPr>
        <p:spPr>
          <a:xfrm>
            <a:off x="609904" y="1783080"/>
            <a:ext cx="56692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B: run the whole script under the debugger</a:t>
            </a:r>
          </a:p>
        </p:txBody>
      </p:sp>
      <p:sp>
        <p:nvSpPr>
          <p:cNvPr id="5" name="Rounded Rectangle 4"/>
          <p:cNvSpPr/>
          <p:nvPr/>
        </p:nvSpPr>
        <p:spPr>
          <a:xfrm>
            <a:off x="609904" y="2057400"/>
            <a:ext cx="5669280" cy="521208"/>
          </a:xfrm>
          <a:prstGeom prst="roundRect">
            <a:avLst>
              <a:gd name="adj" fmla="val 1403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266944" cy="228600"/>
          </a:xfrm>
          <a:prstGeom prst="rect">
            <a:avLst/>
          </a:prstGeom>
          <a:noFill/>
        </p:spPr>
        <p:txBody>
          <a:bodyPr wrap="square" lIns="0" tIns="0" rIns="0" bIns="0">
            <a:spAutoFit/>
          </a:bodyPr>
          <a:lstStyle/>
          <a:p>
            <a:pPr algn="l">
              <a:lnSpc>
                <a:spcPct val="100000"/>
              </a:lnSpc>
            </a:pPr>
            <a:r>
              <a:rPr sz="1500">
                <a:solidFill>
                  <a:srgbClr val="1A1A1A"/>
                </a:solidFill>
                <a:latin typeface="Courier New"/>
              </a:rPr>
              <a:t>python -m pdb cart.py</a:t>
            </a:r>
          </a:p>
        </p:txBody>
      </p:sp>
      <p:sp>
        <p:nvSpPr>
          <p:cNvPr id="7" name="TextBox 6"/>
          <p:cNvSpPr txBox="1"/>
          <p:nvPr/>
        </p:nvSpPr>
        <p:spPr>
          <a:xfrm>
            <a:off x="609904" y="2761488"/>
            <a:ext cx="56692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 post-mortem debugging (after a crash)</a:t>
            </a:r>
          </a:p>
        </p:txBody>
      </p:sp>
      <p:sp>
        <p:nvSpPr>
          <p:cNvPr id="8" name="Rounded Rectangle 7"/>
          <p:cNvSpPr/>
          <p:nvPr/>
        </p:nvSpPr>
        <p:spPr>
          <a:xfrm>
            <a:off x="609904" y="3035808"/>
            <a:ext cx="5669280" cy="521208"/>
          </a:xfrm>
          <a:prstGeom prst="roundRect">
            <a:avLst>
              <a:gd name="adj" fmla="val 1403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182112"/>
            <a:ext cx="5266944" cy="228600"/>
          </a:xfrm>
          <a:prstGeom prst="rect">
            <a:avLst/>
          </a:prstGeom>
          <a:noFill/>
        </p:spPr>
        <p:txBody>
          <a:bodyPr wrap="square" lIns="0" tIns="0" rIns="0" bIns="0">
            <a:spAutoFit/>
          </a:bodyPr>
          <a:lstStyle/>
          <a:p>
            <a:pPr algn="l">
              <a:lnSpc>
                <a:spcPct val="100000"/>
              </a:lnSpc>
            </a:pPr>
            <a:r>
              <a:rPr sz="1500">
                <a:solidFill>
                  <a:srgbClr val="1A1A1A"/>
                </a:solidFill>
                <a:latin typeface="Courier New"/>
              </a:rPr>
              <a:t>python -m pdb -c continue cart.py</a:t>
            </a:r>
          </a:p>
        </p:txBody>
      </p:sp>
      <p:sp>
        <p:nvSpPr>
          <p:cNvPr id="10" name="TextBox 9"/>
          <p:cNvSpPr txBox="1"/>
          <p:nvPr/>
        </p:nvSpPr>
        <p:spPr>
          <a:xfrm>
            <a:off x="6644944" y="1783080"/>
            <a:ext cx="493684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B: the program stops at the first line; you then set breakpoints and continue.</a:t>
            </a:r>
          </a:p>
          <a:p>
            <a:pPr marL="228600" indent="-228600" algn="l">
              <a:spcAft>
                <a:spcPts val="800"/>
              </a:spcAft>
              <a:buFont typeface="Arial"/>
              <a:buChar char="•"/>
            </a:pPr>
            <a:r>
              <a:rPr sz="1400" b="0" i="0">
                <a:solidFill>
                  <a:srgbClr val="1A1A1A"/>
                </a:solidFill>
                <a:latin typeface="Arial"/>
              </a:rPr>
              <a:t>C: runs until an uncaught exception, then pdb opens at the crash site with all variables still alive.</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28 / 63</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Turning Breakpoints Off</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7.1</a:t>
            </a:r>
          </a:p>
        </p:txBody>
      </p:sp>
      <p:sp>
        <p:nvSpPr>
          <p:cNvPr id="4" name="Rounded Rectangle 3"/>
          <p:cNvSpPr/>
          <p:nvPr/>
        </p:nvSpPr>
        <p:spPr>
          <a:xfrm>
            <a:off x="609904" y="1783080"/>
            <a:ext cx="10971885" cy="1463040"/>
          </a:xfrm>
          <a:prstGeom prst="roundRect">
            <a:avLst>
              <a:gd name="adj" fmla="val 5624"/>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18872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PYTHONBREAKPOINT</a:t>
            </a:r>
          </a:p>
          <a:p>
            <a:pPr algn="l">
              <a:lnSpc>
                <a:spcPct val="110000"/>
              </a:lnSpc>
              <a:spcAft>
                <a:spcPts val="600"/>
              </a:spcAft>
            </a:pPr>
            <a:r>
              <a:rPr sz="1350" b="0" i="0">
                <a:solidFill>
                  <a:srgbClr val="330066"/>
                </a:solidFill>
                <a:latin typeface="Courier New"/>
              </a:rPr>
              <a:t>breakpoint()</a:t>
            </a:r>
            <a:r>
              <a:rPr sz="1400" b="0" i="0">
                <a:solidFill>
                  <a:srgbClr val="1A1A1A"/>
                </a:solidFill>
                <a:latin typeface="Arial"/>
              </a:rPr>
              <a:t> is controlled by the environment variable </a:t>
            </a:r>
            <a:r>
              <a:rPr sz="1350" b="0" i="0">
                <a:solidFill>
                  <a:srgbClr val="330066"/>
                </a:solidFill>
                <a:latin typeface="Courier New"/>
              </a:rPr>
              <a:t>PYTHONBREAKPOINT</a:t>
            </a:r>
            <a:r>
              <a:rPr sz="1400" b="0" i="0">
                <a:solidFill>
                  <a:srgbClr val="1A1A1A"/>
                </a:solidFill>
                <a:latin typeface="Arial"/>
              </a:rPr>
              <a:t>. Setting </a:t>
            </a:r>
            <a:r>
              <a:rPr sz="1350" b="0" i="0">
                <a:solidFill>
                  <a:srgbClr val="330066"/>
                </a:solidFill>
                <a:latin typeface="Courier New"/>
              </a:rPr>
              <a:t>PYTHONBREAKPOINT=0</a:t>
            </a:r>
            <a:r>
              <a:rPr sz="1400" b="0" i="0">
                <a:solidFill>
                  <a:srgbClr val="1A1A1A"/>
                </a:solidFill>
                <a:latin typeface="Arial"/>
              </a:rPr>
              <a:t> makes every </a:t>
            </a:r>
            <a:r>
              <a:rPr sz="1350" b="0" i="0">
                <a:solidFill>
                  <a:srgbClr val="330066"/>
                </a:solidFill>
                <a:latin typeface="Courier New"/>
              </a:rPr>
              <a:t>breakpoint()</a:t>
            </a:r>
            <a:r>
              <a:rPr sz="1400" b="0" i="0">
                <a:solidFill>
                  <a:srgbClr val="1A1A1A"/>
                </a:solidFill>
                <a:latin typeface="Arial"/>
              </a:rPr>
              <a:t> call do nothing, handy in CI. Still, never commit stray </a:t>
            </a:r>
            <a:r>
              <a:rPr sz="1350" b="0" i="0">
                <a:solidFill>
                  <a:srgbClr val="330066"/>
                </a:solidFill>
                <a:latin typeface="Courier New"/>
              </a:rPr>
              <a:t>breakpoint()</a:t>
            </a:r>
            <a:r>
              <a:rPr sz="1400" b="0" i="0">
                <a:solidFill>
                  <a:srgbClr val="1A1A1A"/>
                </a:solidFill>
                <a:latin typeface="Arial"/>
              </a:rPr>
              <a:t> calls into shared code.</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29 / 63</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 First Debugging Session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7.2</a:t>
            </a:r>
          </a:p>
        </p:txBody>
      </p:sp>
      <p:sp>
        <p:nvSpPr>
          <p:cNvPr id="4" name="TextBox 3"/>
          <p:cNvSpPr txBox="1"/>
          <p:nvPr/>
        </p:nvSpPr>
        <p:spPr>
          <a:xfrm>
            <a:off x="609904" y="1783080"/>
            <a:ext cx="56692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Paused</a:t>
            </a:r>
          </a:p>
        </p:txBody>
      </p:sp>
      <p:sp>
        <p:nvSpPr>
          <p:cNvPr id="5" name="Rounded Rectangle 4"/>
          <p:cNvSpPr/>
          <p:nvPr/>
        </p:nvSpPr>
        <p:spPr>
          <a:xfrm>
            <a:off x="609904" y="2057400"/>
            <a:ext cx="5669280" cy="886968"/>
          </a:xfrm>
          <a:prstGeom prst="roundRect">
            <a:avLst>
              <a:gd name="adj" fmla="val 824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11072" y="2203704"/>
            <a:ext cx="5266944" cy="594359"/>
          </a:xfrm>
          <a:prstGeom prst="rect">
            <a:avLst/>
          </a:prstGeom>
          <a:noFill/>
        </p:spPr>
        <p:txBody>
          <a:bodyPr wrap="square" lIns="0" tIns="0" rIns="0" bIns="0">
            <a:spAutoFit/>
          </a:bodyPr>
          <a:lstStyle/>
          <a:p>
            <a:pPr algn="l">
              <a:lnSpc>
                <a:spcPct val="100000"/>
              </a:lnSpc>
            </a:pPr>
            <a:r>
              <a:rPr sz="1300">
                <a:solidFill>
                  <a:srgbClr val="1A1A1A"/>
                </a:solidFill>
                <a:latin typeface="Courier New"/>
              </a:rPr>
              <a:t>&gt; cart3.py(3)apply_discount()</a:t>
            </a:r>
          </a:p>
          <a:p>
            <a:pPr algn="l">
              <a:lnSpc>
                <a:spcPct val="100000"/>
              </a:lnSpc>
            </a:pPr>
            <a:r>
              <a:rPr sz="1300">
                <a:solidFill>
                  <a:srgbClr val="1A1A1A"/>
                </a:solidFill>
                <a:latin typeface="Courier New"/>
              </a:rPr>
              <a:t>-&gt; breakpoint()</a:t>
            </a:r>
          </a:p>
          <a:p>
            <a:pPr algn="l">
              <a:lnSpc>
                <a:spcPct val="100000"/>
              </a:lnSpc>
            </a:pPr>
            <a:r>
              <a:rPr sz="1300">
                <a:solidFill>
                  <a:srgbClr val="1A1A1A"/>
                </a:solidFill>
                <a:latin typeface="Courier New"/>
              </a:rPr>
              <a:t>(Pdb)</a:t>
            </a:r>
          </a:p>
        </p:txBody>
      </p:sp>
      <p:sp>
        <p:nvSpPr>
          <p:cNvPr id="7" name="TextBox 6"/>
          <p:cNvSpPr txBox="1"/>
          <p:nvPr/>
        </p:nvSpPr>
        <p:spPr>
          <a:xfrm>
            <a:off x="609904" y="3127248"/>
            <a:ext cx="5669280" cy="274320"/>
          </a:xfrm>
          <a:prstGeom prst="rect">
            <a:avLst/>
          </a:prstGeom>
          <a:noFill/>
        </p:spPr>
        <p:txBody>
          <a:bodyPr wrap="square" lIns="0" tIns="0" rIns="0" bIns="0" anchor="t">
            <a:spAutoFit/>
          </a:bodyPr>
          <a:lstStyle/>
          <a:p>
            <a:pPr algn="l">
              <a:lnSpc>
                <a:spcPct val="110000"/>
              </a:lnSpc>
              <a:spcAft>
                <a:spcPts val="600"/>
              </a:spcAft>
            </a:pPr>
            <a:r>
              <a:rPr sz="1100" b="1" i="0">
                <a:solidFill>
                  <a:srgbClr val="5C8A8A"/>
                </a:solidFill>
                <a:latin typeface="Arial"/>
              </a:rPr>
              <a:t>Commands</a:t>
            </a:r>
          </a:p>
        </p:txBody>
      </p:sp>
      <p:sp>
        <p:nvSpPr>
          <p:cNvPr id="8" name="Rounded Rectangle 7"/>
          <p:cNvSpPr/>
          <p:nvPr/>
        </p:nvSpPr>
        <p:spPr>
          <a:xfrm>
            <a:off x="609904" y="3401568"/>
            <a:ext cx="5669280" cy="2670047"/>
          </a:xfrm>
          <a:prstGeom prst="roundRect">
            <a:avLst>
              <a:gd name="adj" fmla="val 273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1072" y="3547872"/>
            <a:ext cx="5266944" cy="2377439"/>
          </a:xfrm>
          <a:prstGeom prst="rect">
            <a:avLst/>
          </a:prstGeom>
          <a:noFill/>
        </p:spPr>
        <p:txBody>
          <a:bodyPr wrap="square" lIns="0" tIns="0" rIns="0" bIns="0">
            <a:spAutoFit/>
          </a:bodyPr>
          <a:lstStyle/>
          <a:p>
            <a:pPr algn="l">
              <a:lnSpc>
                <a:spcPct val="100000"/>
              </a:lnSpc>
            </a:pPr>
            <a:r>
              <a:rPr sz="1200">
                <a:solidFill>
                  <a:srgbClr val="1A1A1A"/>
                </a:solidFill>
                <a:latin typeface="Courier New"/>
              </a:rPr>
              <a:t>(Pdb) p price</a:t>
            </a:r>
          </a:p>
          <a:p>
            <a:pPr algn="l">
              <a:lnSpc>
                <a:spcPct val="100000"/>
              </a:lnSpc>
            </a:pPr>
            <a:r>
              <a:rPr sz="1200">
                <a:solidFill>
                  <a:srgbClr val="1A1A1A"/>
                </a:solidFill>
                <a:latin typeface="Courier New"/>
              </a:rPr>
              <a:t>15.0</a:t>
            </a:r>
          </a:p>
          <a:p>
            <a:pPr algn="l">
              <a:lnSpc>
                <a:spcPct val="100000"/>
              </a:lnSpc>
            </a:pPr>
            <a:r>
              <a:rPr sz="1200">
                <a:solidFill>
                  <a:srgbClr val="1A1A1A"/>
                </a:solidFill>
                <a:latin typeface="Courier New"/>
              </a:rPr>
              <a:t>(Pdb) p percent</a:t>
            </a:r>
          </a:p>
          <a:p>
            <a:pPr algn="l">
              <a:lnSpc>
                <a:spcPct val="100000"/>
              </a:lnSpc>
            </a:pPr>
            <a:r>
              <a:rPr sz="1200">
                <a:solidFill>
                  <a:srgbClr val="1A1A1A"/>
                </a:solidFill>
                <a:latin typeface="Courier New"/>
              </a:rPr>
              <a:t>20</a:t>
            </a:r>
          </a:p>
          <a:p>
            <a:pPr algn="l">
              <a:lnSpc>
                <a:spcPct val="100000"/>
              </a:lnSpc>
            </a:pPr>
            <a:r>
              <a:rPr sz="1200">
                <a:solidFill>
                  <a:srgbClr val="1A1A1A"/>
                </a:solidFill>
                <a:latin typeface="Courier New"/>
              </a:rPr>
              <a:t>(Pdb) n</a:t>
            </a:r>
          </a:p>
          <a:p>
            <a:pPr algn="l">
              <a:lnSpc>
                <a:spcPct val="100000"/>
              </a:lnSpc>
            </a:pPr>
            <a:r>
              <a:rPr sz="1200">
                <a:solidFill>
                  <a:srgbClr val="1A1A1A"/>
                </a:solidFill>
                <a:latin typeface="Courier New"/>
              </a:rPr>
              <a:t>&gt; cart3.py(4)apply_discount()</a:t>
            </a:r>
          </a:p>
          <a:p>
            <a:pPr algn="l">
              <a:lnSpc>
                <a:spcPct val="100000"/>
              </a:lnSpc>
            </a:pPr>
            <a:r>
              <a:rPr sz="1200">
                <a:solidFill>
                  <a:srgbClr val="1A1A1A"/>
                </a:solidFill>
                <a:latin typeface="Courier New"/>
              </a:rPr>
              <a:t>-&gt; return price - discount</a:t>
            </a:r>
          </a:p>
          <a:p>
            <a:pPr algn="l">
              <a:lnSpc>
                <a:spcPct val="100000"/>
              </a:lnSpc>
            </a:pPr>
            <a:r>
              <a:rPr sz="1200">
                <a:solidFill>
                  <a:srgbClr val="1A1A1A"/>
                </a:solidFill>
                <a:latin typeface="Courier New"/>
              </a:rPr>
              <a:t>(Pdb) p discount</a:t>
            </a:r>
          </a:p>
          <a:p>
            <a:pPr algn="l">
              <a:lnSpc>
                <a:spcPct val="100000"/>
              </a:lnSpc>
            </a:pPr>
            <a:r>
              <a:rPr sz="1200">
                <a:solidFill>
                  <a:srgbClr val="1A1A1A"/>
                </a:solidFill>
                <a:latin typeface="Courier New"/>
              </a:rPr>
              <a:t>3.0</a:t>
            </a:r>
          </a:p>
          <a:p>
            <a:pPr algn="l">
              <a:lnSpc>
                <a:spcPct val="100000"/>
              </a:lnSpc>
            </a:pPr>
            <a:r>
              <a:rPr sz="1200">
                <a:solidFill>
                  <a:srgbClr val="1A1A1A"/>
                </a:solidFill>
                <a:latin typeface="Courier New"/>
              </a:rPr>
              <a:t>(Pdb) pp locals()</a:t>
            </a:r>
          </a:p>
          <a:p>
            <a:pPr algn="l">
              <a:lnSpc>
                <a:spcPct val="100000"/>
              </a:lnSpc>
            </a:pPr>
            <a:r>
              <a:rPr sz="1200">
                <a:solidFill>
                  <a:srgbClr val="1A1A1A"/>
                </a:solidFill>
                <a:latin typeface="Courier New"/>
              </a:rPr>
              <a:t>{'discount': 3.0, 'percent': 20, 'price': 15.0}</a:t>
            </a:r>
          </a:p>
          <a:p>
            <a:pPr algn="l">
              <a:lnSpc>
                <a:spcPct val="100000"/>
              </a:lnSpc>
            </a:pPr>
            <a:r>
              <a:rPr sz="1200">
                <a:solidFill>
                  <a:srgbClr val="1A1A1A"/>
                </a:solidFill>
                <a:latin typeface="Courier New"/>
              </a:rPr>
              <a:t>(Pdb) c</a:t>
            </a:r>
          </a:p>
          <a:p>
            <a:pPr algn="l">
              <a:lnSpc>
                <a:spcPct val="100000"/>
              </a:lnSpc>
            </a:pPr>
            <a:r>
              <a:rPr sz="1200">
                <a:solidFill>
                  <a:srgbClr val="1A1A1A"/>
                </a:solidFill>
                <a:latin typeface="Courier New"/>
              </a:rPr>
              <a:t>12.0</a:t>
            </a:r>
          </a:p>
        </p:txBody>
      </p:sp>
      <p:sp>
        <p:nvSpPr>
          <p:cNvPr id="10" name="TextBox 9"/>
          <p:cNvSpPr txBox="1"/>
          <p:nvPr/>
        </p:nvSpPr>
        <p:spPr>
          <a:xfrm>
            <a:off x="6644944" y="1783080"/>
            <a:ext cx="4936845" cy="4361688"/>
          </a:xfrm>
          <a:prstGeom prst="rect">
            <a:avLst/>
          </a:prstGeom>
          <a:noFill/>
        </p:spPr>
        <p:txBody>
          <a:bodyPr wrap="square" lIns="0" tIns="0" rIns="0" bIns="0">
            <a:spAutoFit/>
          </a:bodyPr>
          <a:lstStyle/>
          <a:p>
            <a:pPr marL="228600" indent="-228600" algn="l">
              <a:spcAft>
                <a:spcPts val="800"/>
              </a:spcAft>
              <a:buFont typeface="Arial"/>
              <a:buChar char="•"/>
            </a:pPr>
            <a:r>
              <a:rPr sz="1350" b="0" i="0">
                <a:solidFill>
                  <a:srgbClr val="330066"/>
                </a:solidFill>
                <a:latin typeface="Courier New"/>
              </a:rPr>
              <a:t>&gt;</a:t>
            </a:r>
            <a:r>
              <a:rPr sz="1400" b="0" i="0">
                <a:solidFill>
                  <a:srgbClr val="1A1A1A"/>
                </a:solidFill>
                <a:latin typeface="Arial"/>
              </a:rPr>
              <a:t> line: file, line number and function where execution is paused.</a:t>
            </a:r>
          </a:p>
          <a:p>
            <a:pPr marL="228600" indent="-228600" algn="l">
              <a:spcAft>
                <a:spcPts val="800"/>
              </a:spcAft>
              <a:buFont typeface="Arial"/>
              <a:buChar char="•"/>
            </a:pPr>
            <a:r>
              <a:rPr sz="1350" b="0" i="0">
                <a:solidFill>
                  <a:srgbClr val="330066"/>
                </a:solidFill>
                <a:latin typeface="Courier New"/>
              </a:rPr>
              <a:t>-&gt;</a:t>
            </a:r>
            <a:r>
              <a:rPr sz="1400" b="0" i="0">
                <a:solidFill>
                  <a:srgbClr val="1A1A1A"/>
                </a:solidFill>
                <a:latin typeface="Arial"/>
              </a:rPr>
              <a:t> line: the next line about to run (it has not run yet).</a:t>
            </a:r>
          </a:p>
          <a:p>
            <a:pPr marL="228600" indent="-228600" algn="l">
              <a:spcAft>
                <a:spcPts val="800"/>
              </a:spcAft>
              <a:buFont typeface="Arial"/>
              <a:buChar char="•"/>
            </a:pPr>
            <a:r>
              <a:rPr sz="1350" b="0" i="0">
                <a:solidFill>
                  <a:srgbClr val="330066"/>
                </a:solidFill>
                <a:latin typeface="Courier New"/>
              </a:rPr>
              <a:t>(Pdb)</a:t>
            </a:r>
            <a:r>
              <a:rPr sz="1400" b="0" i="0">
                <a:solidFill>
                  <a:srgbClr val="1A1A1A"/>
                </a:solidFill>
                <a:latin typeface="Arial"/>
              </a:rPr>
              <a:t> is the prompt for commands.</a:t>
            </a:r>
          </a:p>
        </p:txBody>
      </p:sp>
      <p:sp>
        <p:nvSpPr>
          <p:cNvPr id="11" name="TextBox 10"/>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30 / 63</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What Happened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7.2</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650" b="0" i="0">
                <a:solidFill>
                  <a:srgbClr val="330066"/>
                </a:solidFill>
                <a:latin typeface="Courier New"/>
              </a:rPr>
              <a:t>p price</a:t>
            </a:r>
            <a:r>
              <a:rPr sz="1700" b="0" i="0">
                <a:solidFill>
                  <a:srgbClr val="1A1A1A"/>
                </a:solidFill>
                <a:latin typeface="Arial"/>
              </a:rPr>
              <a:t> prints the expression's value; </a:t>
            </a:r>
            <a:r>
              <a:rPr sz="1650" b="0" i="0">
                <a:solidFill>
                  <a:srgbClr val="330066"/>
                </a:solidFill>
                <a:latin typeface="Courier New"/>
              </a:rPr>
              <a:t>p</a:t>
            </a:r>
            <a:r>
              <a:rPr sz="1700" b="0" i="0">
                <a:solidFill>
                  <a:srgbClr val="1A1A1A"/>
                </a:solidFill>
                <a:latin typeface="Arial"/>
              </a:rPr>
              <a:t> accepts any expression (</a:t>
            </a:r>
            <a:r>
              <a:rPr sz="1650" b="0" i="0">
                <a:solidFill>
                  <a:srgbClr val="330066"/>
                </a:solidFill>
                <a:latin typeface="Courier New"/>
              </a:rPr>
              <a:t>p price * 2</a:t>
            </a:r>
            <a:r>
              <a:rPr sz="1700" b="0" i="0">
                <a:solidFill>
                  <a:srgbClr val="1A1A1A"/>
                </a:solidFill>
                <a:latin typeface="Arial"/>
              </a:rPr>
              <a:t>, </a:t>
            </a:r>
            <a:r>
              <a:rPr sz="1650" b="0" i="0">
                <a:solidFill>
                  <a:srgbClr val="330066"/>
                </a:solidFill>
                <a:latin typeface="Courier New"/>
              </a:rPr>
              <a:t>p len(items)</a:t>
            </a:r>
            <a:r>
              <a:rPr sz="1700" b="0" i="0">
                <a:solidFill>
                  <a:srgbClr val="1A1A1A"/>
                </a:solidFill>
                <a:latin typeface="Arial"/>
              </a:rPr>
              <a:t>).</a:t>
            </a:r>
          </a:p>
          <a:p>
            <a:pPr marL="228600" indent="-228600" algn="l">
              <a:spcAft>
                <a:spcPts val="1000"/>
              </a:spcAft>
              <a:buFont typeface="Arial"/>
              <a:buChar char="•"/>
            </a:pPr>
            <a:r>
              <a:rPr sz="1650" b="0" i="0">
                <a:solidFill>
                  <a:srgbClr val="330066"/>
                </a:solidFill>
                <a:latin typeface="Courier New"/>
              </a:rPr>
              <a:t>n</a:t>
            </a:r>
            <a:r>
              <a:rPr sz="1700" b="0" i="0">
                <a:solidFill>
                  <a:srgbClr val="1A1A1A"/>
                </a:solidFill>
                <a:latin typeface="Arial"/>
              </a:rPr>
              <a:t> ("next") ran one line and stopped again.</a:t>
            </a:r>
          </a:p>
          <a:p>
            <a:pPr marL="228600" indent="-228600" algn="l">
              <a:spcAft>
                <a:spcPts val="1000"/>
              </a:spcAft>
              <a:buFont typeface="Arial"/>
              <a:buChar char="•"/>
            </a:pPr>
            <a:r>
              <a:rPr sz="1650" b="0" i="0">
                <a:solidFill>
                  <a:srgbClr val="330066"/>
                </a:solidFill>
                <a:latin typeface="Courier New"/>
              </a:rPr>
              <a:t>pp locals()</a:t>
            </a:r>
            <a:r>
              <a:rPr sz="1700" b="0" i="0">
                <a:solidFill>
                  <a:srgbClr val="1A1A1A"/>
                </a:solidFill>
                <a:latin typeface="Arial"/>
              </a:rPr>
              <a:t> pretty-prints a dictionary of all local variables.</a:t>
            </a:r>
          </a:p>
          <a:p>
            <a:pPr marL="228600" indent="-228600" algn="l">
              <a:spcAft>
                <a:spcPts val="1000"/>
              </a:spcAft>
              <a:buFont typeface="Arial"/>
              <a:buChar char="•"/>
            </a:pPr>
            <a:r>
              <a:rPr sz="1650" b="0" i="0">
                <a:solidFill>
                  <a:srgbClr val="330066"/>
                </a:solidFill>
                <a:latin typeface="Courier New"/>
              </a:rPr>
              <a:t>c</a:t>
            </a:r>
            <a:r>
              <a:rPr sz="1700" b="0" i="0">
                <a:solidFill>
                  <a:srgbClr val="1A1A1A"/>
                </a:solidFill>
                <a:latin typeface="Arial"/>
              </a:rPr>
              <a:t> ("continue") let the program run on; it printed the final answer </a:t>
            </a:r>
            <a:r>
              <a:rPr sz="1650" b="0" i="0">
                <a:solidFill>
                  <a:srgbClr val="330066"/>
                </a:solidFill>
                <a:latin typeface="Courier New"/>
              </a:rPr>
              <a:t>12.0</a:t>
            </a:r>
            <a:r>
              <a:rPr sz="1700" b="0" i="0">
                <a:solidFill>
                  <a:srgbClr val="1A1A1A"/>
                </a:solidFill>
                <a:latin typeface="Arial"/>
              </a:rPr>
              <a:t>.</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31 / 63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Essential pdb Commands (1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7.3</a:t>
            </a:r>
          </a:p>
        </p:txBody>
      </p:sp>
      <p:graphicFrame>
        <p:nvGraphicFramePr>
          <p:cNvPr id="4" name="Table 3"/>
          <p:cNvGraphicFramePr>
            <a:graphicFrameLocks noGrp="1"/>
          </p:cNvGraphicFramePr>
          <p:nvPr/>
        </p:nvGraphicFramePr>
        <p:xfrm>
          <a:off x="609904" y="1783080"/>
          <a:ext cx="10971885" cy="3519931"/>
        </p:xfrm>
        <a:graphic>
          <a:graphicData uri="http://schemas.openxmlformats.org/drawingml/2006/table">
            <a:tbl>
              <a:tblPr/>
              <a:tblGrid>
                <a:gridCol w="2194377">
                  <a:extLst>
                    <a:ext uri="{9D8B030D-6E8A-4147-A177-3AD203B41FA5}">
                      <a16:colId xmlns:a16="http://schemas.microsoft.com/office/drawing/2014/main" val="20000"/>
                    </a:ext>
                  </a:extLst>
                </a:gridCol>
                <a:gridCol w="2194377">
                  <a:extLst>
                    <a:ext uri="{9D8B030D-6E8A-4147-A177-3AD203B41FA5}">
                      <a16:colId xmlns:a16="http://schemas.microsoft.com/office/drawing/2014/main" val="20001"/>
                    </a:ext>
                  </a:extLst>
                </a:gridCol>
                <a:gridCol w="6583131">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Command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Full name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What it does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5760">
                <a:tc>
                  <a:txBody>
                    <a:bodyPr/>
                    <a:lstStyle/>
                    <a:p>
                      <a:r>
                        <a:rPr sz="1250" b="0" i="0">
                          <a:solidFill>
                            <a:srgbClr val="330066"/>
                          </a:solidFill>
                          <a:latin typeface="Courier New"/>
                        </a:rPr>
                        <a:t>h</a:t>
                      </a:r>
                      <a:r>
                        <a:rPr sz="1300" b="0" i="0">
                          <a:solidFill>
                            <a:srgbClr val="1A1A1A"/>
                          </a:solidFill>
                          <a:latin typeface="Arial"/>
                        </a:rPr>
                        <a:t> or </a:t>
                      </a:r>
                      <a:r>
                        <a:rPr sz="1250" b="0" i="0">
                          <a:solidFill>
                            <a:srgbClr val="330066"/>
                          </a:solidFill>
                          <a:latin typeface="Courier New"/>
                        </a:rPr>
                        <a:t>h cmd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help</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List commands, or explain one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5760">
                <a:tc>
                  <a:txBody>
                    <a:bodyPr/>
                    <a:lstStyle/>
                    <a:p>
                      <a:r>
                        <a:rPr sz="1250" b="0" i="0">
                          <a:solidFill>
                            <a:srgbClr val="330066"/>
                          </a:solidFill>
                          <a:latin typeface="Courier New"/>
                        </a:rPr>
                        <a:t>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list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1A1A1A"/>
                          </a:solidFill>
                          <a:latin typeface="Arial"/>
                        </a:rPr>
                        <a:t>Show source code around the current line (repeat </a:t>
                      </a:r>
                      <a:r>
                        <a:rPr sz="1250" b="0" i="0">
                          <a:solidFill>
                            <a:srgbClr val="330066"/>
                          </a:solidFill>
                          <a:latin typeface="Courier New"/>
                        </a:rPr>
                        <a:t>l</a:t>
                      </a:r>
                      <a:r>
                        <a:rPr sz="1300" b="0" i="0">
                          <a:solidFill>
                            <a:srgbClr val="1A1A1A"/>
                          </a:solidFill>
                          <a:latin typeface="Arial"/>
                        </a:rPr>
                        <a:t> for more)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250" b="0" i="0">
                          <a:solidFill>
                            <a:srgbClr val="330066"/>
                          </a:solidFill>
                          <a:latin typeface="Courier New"/>
                        </a:rPr>
                        <a:t>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longlist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Show the whole current function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65760">
                <a:tc>
                  <a:txBody>
                    <a:bodyPr/>
                    <a:lstStyle/>
                    <a:p>
                      <a:r>
                        <a:rPr sz="1250" b="0" i="0">
                          <a:solidFill>
                            <a:srgbClr val="330066"/>
                          </a:solidFill>
                          <a:latin typeface="Courier New"/>
                        </a:rPr>
                        <a:t>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next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Run the current line; step over function calls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65760">
                <a:tc>
                  <a:txBody>
                    <a:bodyPr/>
                    <a:lstStyle/>
                    <a:p>
                      <a:r>
                        <a:rPr sz="1250" b="0" i="0">
                          <a:solidFill>
                            <a:srgbClr val="330066"/>
                          </a:solidFill>
                          <a:latin typeface="Courier New"/>
                        </a:rPr>
                        <a: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step</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Run the current line; step into a function call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r h="365760">
                <a:tc>
                  <a:txBody>
                    <a:bodyPr/>
                    <a:lstStyle/>
                    <a:p>
                      <a:r>
                        <a:rPr sz="1250" b="0" i="0">
                          <a:solidFill>
                            <a:srgbClr val="330066"/>
                          </a:solidFill>
                          <a:latin typeface="Courier New"/>
                        </a:rPr>
                        <a:t>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return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Run until the current function returns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6"/>
                  </a:ext>
                </a:extLst>
              </a:tr>
              <a:tr h="365760">
                <a:tc>
                  <a:txBody>
                    <a:bodyPr/>
                    <a:lstStyle/>
                    <a:p>
                      <a:r>
                        <a:rPr sz="1250" b="0" i="0">
                          <a:solidFill>
                            <a:srgbClr val="330066"/>
                          </a:solidFill>
                          <a:latin typeface="Courier New"/>
                        </a:rPr>
                        <a:t>c</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continue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Run until the next breakpoint (or the end)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7"/>
                  </a:ext>
                </a:extLst>
              </a:tr>
              <a:tr h="575563">
                <a:tc>
                  <a:txBody>
                    <a:bodyPr/>
                    <a:lstStyle/>
                    <a:p>
                      <a:r>
                        <a:rPr sz="1250" b="0" i="0">
                          <a:solidFill>
                            <a:srgbClr val="330066"/>
                          </a:solidFill>
                          <a:latin typeface="Courier New"/>
                        </a:rPr>
                        <a:t>unt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until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Continue until a line greater than the current one (useful to leave loops)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32 / 63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Essential pdb Commands (2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7.3</a:t>
            </a:r>
          </a:p>
        </p:txBody>
      </p:sp>
      <p:graphicFrame>
        <p:nvGraphicFramePr>
          <p:cNvPr id="4" name="Table 3"/>
          <p:cNvGraphicFramePr>
            <a:graphicFrameLocks noGrp="1"/>
          </p:cNvGraphicFramePr>
          <p:nvPr/>
        </p:nvGraphicFramePr>
        <p:xfrm>
          <a:off x="609904" y="1783080"/>
          <a:ext cx="10971885" cy="2944368"/>
        </p:xfrm>
        <a:graphic>
          <a:graphicData uri="http://schemas.openxmlformats.org/drawingml/2006/table">
            <a:tbl>
              <a:tblPr/>
              <a:tblGrid>
                <a:gridCol w="2194377">
                  <a:extLst>
                    <a:ext uri="{9D8B030D-6E8A-4147-A177-3AD203B41FA5}">
                      <a16:colId xmlns:a16="http://schemas.microsoft.com/office/drawing/2014/main" val="20000"/>
                    </a:ext>
                  </a:extLst>
                </a:gridCol>
                <a:gridCol w="2194377">
                  <a:extLst>
                    <a:ext uri="{9D8B030D-6E8A-4147-A177-3AD203B41FA5}">
                      <a16:colId xmlns:a16="http://schemas.microsoft.com/office/drawing/2014/main" val="20001"/>
                    </a:ext>
                  </a:extLst>
                </a:gridCol>
                <a:gridCol w="6583131">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Command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Full name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What it does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5760">
                <a:tc>
                  <a:txBody>
                    <a:bodyPr/>
                    <a:lstStyle/>
                    <a:p>
                      <a:r>
                        <a:rPr sz="1250" b="0" i="0">
                          <a:solidFill>
                            <a:srgbClr val="330066"/>
                          </a:solidFill>
                          <a:latin typeface="Courier New"/>
                        </a:rPr>
                        <a:t>p expr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print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Print the value of an expression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5760">
                <a:tc>
                  <a:txBody>
                    <a:bodyPr/>
                    <a:lstStyle/>
                    <a:p>
                      <a:r>
                        <a:rPr sz="1250" b="0" i="0">
                          <a:solidFill>
                            <a:srgbClr val="330066"/>
                          </a:solidFill>
                          <a:latin typeface="Courier New"/>
                        </a:rPr>
                        <a:t>pp expr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pretty-print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Print nicely formatted (good for dicts/lists)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250" b="0" i="0">
                          <a:solidFill>
                            <a:srgbClr val="330066"/>
                          </a:solidFill>
                          <a:latin typeface="Courier New"/>
                        </a:rPr>
                        <a:t>a</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args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Show the current function's arguments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365760">
                <a:tc>
                  <a:txBody>
                    <a:bodyPr/>
                    <a:lstStyle/>
                    <a:p>
                      <a:r>
                        <a:rPr sz="1250" b="0" i="0">
                          <a:solidFill>
                            <a:srgbClr val="330066"/>
                          </a:solidFill>
                          <a:latin typeface="Courier New"/>
                        </a:rPr>
                        <a:t>w</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where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Show the call stack (how we got here)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65760">
                <a:tc>
                  <a:txBody>
                    <a:bodyPr/>
                    <a:lstStyle/>
                    <a:p>
                      <a:r>
                        <a:rPr sz="1250" b="0" i="0">
                          <a:solidFill>
                            <a:srgbClr val="330066"/>
                          </a:solidFill>
                          <a:latin typeface="Courier New"/>
                        </a:rPr>
                        <a:t>u</a:t>
                      </a:r>
                      <a:r>
                        <a:rPr sz="1300" b="0" i="0">
                          <a:solidFill>
                            <a:srgbClr val="1A1A1A"/>
                          </a:solidFill>
                          <a:latin typeface="Arial"/>
                        </a:rPr>
                        <a:t> / </a:t>
                      </a:r>
                      <a:r>
                        <a:rPr sz="1250" b="0" i="0">
                          <a:solidFill>
                            <a:srgbClr val="330066"/>
                          </a:solidFill>
                          <a:latin typeface="Courier New"/>
                        </a:rPr>
                        <a:t>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up / down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Move up/down one frame in the call stack to inspect its variables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r h="365760">
                <a:tc>
                  <a:txBody>
                    <a:bodyPr/>
                    <a:lstStyle/>
                    <a:p>
                      <a:r>
                        <a:rPr sz="1250" b="0" i="0">
                          <a:solidFill>
                            <a:srgbClr val="330066"/>
                          </a:solidFill>
                          <a:latin typeface="Courier New"/>
                        </a:rPr>
                        <a:t>b</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break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1A1A1A"/>
                          </a:solidFill>
                          <a:latin typeface="Arial"/>
                        </a:rPr>
                        <a:t>List breakpoints; </a:t>
                      </a:r>
                      <a:r>
                        <a:rPr sz="1250" b="0" i="0">
                          <a:solidFill>
                            <a:srgbClr val="330066"/>
                          </a:solidFill>
                          <a:latin typeface="Courier New"/>
                        </a:rPr>
                        <a:t>b 12</a:t>
                      </a:r>
                      <a:r>
                        <a:rPr sz="1300" b="0" i="0">
                          <a:solidFill>
                            <a:srgbClr val="1A1A1A"/>
                          </a:solidFill>
                          <a:latin typeface="Arial"/>
                        </a:rPr>
                        <a:t> sets one on line 12; </a:t>
                      </a:r>
                      <a:r>
                        <a:rPr sz="1250" b="0" i="0">
                          <a:solidFill>
                            <a:srgbClr val="330066"/>
                          </a:solidFill>
                          <a:latin typeface="Courier New"/>
                        </a:rPr>
                        <a:t>b func</a:t>
                      </a:r>
                      <a:r>
                        <a:rPr sz="1300" b="0" i="0">
                          <a:solidFill>
                            <a:srgbClr val="1A1A1A"/>
                          </a:solidFill>
                          <a:latin typeface="Arial"/>
                        </a:rPr>
                        <a:t> on a function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6"/>
                  </a:ext>
                </a:extLst>
              </a:tr>
              <a:tr h="365760">
                <a:tc>
                  <a:txBody>
                    <a:bodyPr/>
                    <a:lstStyle/>
                    <a:p>
                      <a:r>
                        <a:rPr sz="1250" b="0" i="0">
                          <a:solidFill>
                            <a:srgbClr val="330066"/>
                          </a:solidFill>
                          <a:latin typeface="Courier New"/>
                        </a:rPr>
                        <a:t>b 12, cond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conditional break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Stop at line 12 only when </a:t>
                      </a:r>
                      <a:r>
                        <a:rPr sz="1250" b="0" i="0">
                          <a:solidFill>
                            <a:srgbClr val="330066"/>
                          </a:solidFill>
                          <a:latin typeface="Courier New"/>
                        </a:rPr>
                        <a:t>cond</a:t>
                      </a:r>
                      <a:r>
                        <a:rPr sz="1300" b="0" i="0">
                          <a:solidFill>
                            <a:srgbClr val="1A1A1A"/>
                          </a:solidFill>
                          <a:latin typeface="Arial"/>
                        </a:rPr>
                        <a:t> is true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33 / 63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Essential pdb Commands (3 of 3)</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7.3</a:t>
            </a:r>
          </a:p>
        </p:txBody>
      </p:sp>
      <p:graphicFrame>
        <p:nvGraphicFramePr>
          <p:cNvPr id="4" name="Table 3"/>
          <p:cNvGraphicFramePr>
            <a:graphicFrameLocks noGrp="1"/>
          </p:cNvGraphicFramePr>
          <p:nvPr/>
        </p:nvGraphicFramePr>
        <p:xfrm>
          <a:off x="609904" y="1783080"/>
          <a:ext cx="10971885" cy="3363974"/>
        </p:xfrm>
        <a:graphic>
          <a:graphicData uri="http://schemas.openxmlformats.org/drawingml/2006/table">
            <a:tbl>
              <a:tblPr/>
              <a:tblGrid>
                <a:gridCol w="2194377">
                  <a:extLst>
                    <a:ext uri="{9D8B030D-6E8A-4147-A177-3AD203B41FA5}">
                      <a16:colId xmlns:a16="http://schemas.microsoft.com/office/drawing/2014/main" val="20000"/>
                    </a:ext>
                  </a:extLst>
                </a:gridCol>
                <a:gridCol w="2194377">
                  <a:extLst>
                    <a:ext uri="{9D8B030D-6E8A-4147-A177-3AD203B41FA5}">
                      <a16:colId xmlns:a16="http://schemas.microsoft.com/office/drawing/2014/main" val="20001"/>
                    </a:ext>
                  </a:extLst>
                </a:gridCol>
                <a:gridCol w="6583131">
                  <a:extLst>
                    <a:ext uri="{9D8B030D-6E8A-4147-A177-3AD203B41FA5}">
                      <a16:colId xmlns:a16="http://schemas.microsoft.com/office/drawing/2014/main" val="20002"/>
                    </a:ext>
                  </a:extLst>
                </a:gridCol>
              </a:tblGrid>
              <a:tr h="384048">
                <a:tc>
                  <a:txBody>
                    <a:bodyPr/>
                    <a:lstStyle/>
                    <a:p>
                      <a:r>
                        <a:rPr sz="1300" b="1">
                          <a:solidFill>
                            <a:srgbClr val="FFFFFF"/>
                          </a:solidFill>
                          <a:latin typeface="Arial"/>
                        </a:rPr>
                        <a:t>Command</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Full name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300" b="1">
                          <a:solidFill>
                            <a:srgbClr val="FFFFFF"/>
                          </a:solidFill>
                          <a:latin typeface="Arial"/>
                        </a:rPr>
                        <a:t>What it does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65760">
                <a:tc>
                  <a:txBody>
                    <a:bodyPr/>
                    <a:lstStyle/>
                    <a:p>
                      <a:r>
                        <a:rPr sz="1250" b="0" i="0">
                          <a:solidFill>
                            <a:srgbClr val="330066"/>
                          </a:solidFill>
                          <a:latin typeface="Courier New"/>
                        </a:rPr>
                        <a:t>tbreak 12</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temporary break</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A breakpoint that removes itself after one hit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65760">
                <a:tc>
                  <a:txBody>
                    <a:bodyPr/>
                    <a:lstStyle/>
                    <a:p>
                      <a:r>
                        <a:rPr sz="1250" b="0" i="0">
                          <a:solidFill>
                            <a:srgbClr val="330066"/>
                          </a:solidFill>
                          <a:latin typeface="Courier New"/>
                        </a:rPr>
                        <a:t>cl 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clear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1A1A1A"/>
                          </a:solidFill>
                          <a:latin typeface="Arial"/>
                        </a:rPr>
                        <a:t>Delete breakpoint number </a:t>
                      </a:r>
                      <a:r>
                        <a:rPr sz="1250" b="0" i="0">
                          <a:solidFill>
                            <a:srgbClr val="330066"/>
                          </a:solidFill>
                          <a:latin typeface="Courier New"/>
                        </a:rPr>
                        <a:t>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365760">
                <a:tc>
                  <a:txBody>
                    <a:bodyPr/>
                    <a:lstStyle/>
                    <a:p>
                      <a:r>
                        <a:rPr sz="1250" b="0" i="0">
                          <a:solidFill>
                            <a:srgbClr val="330066"/>
                          </a:solidFill>
                          <a:latin typeface="Courier New"/>
                        </a:rPr>
                        <a:t>disable n</a:t>
                      </a:r>
                      <a:r>
                        <a:rPr sz="1300" b="0" i="0">
                          <a:solidFill>
                            <a:srgbClr val="1A1A1A"/>
                          </a:solidFill>
                          <a:latin typeface="Arial"/>
                        </a:rPr>
                        <a:t> / </a:t>
                      </a:r>
                      <a:r>
                        <a:rPr sz="1250" b="0" i="0">
                          <a:solidFill>
                            <a:srgbClr val="330066"/>
                          </a:solidFill>
                          <a:latin typeface="Courier New"/>
                        </a:rPr>
                        <a:t>enable 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endParaRP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Temporarily switch a breakpoint off/on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575563">
                <a:tc>
                  <a:txBody>
                    <a:bodyPr/>
                    <a:lstStyle/>
                    <a:p>
                      <a:r>
                        <a:rPr sz="1250" b="0" i="0">
                          <a:solidFill>
                            <a:srgbClr val="330066"/>
                          </a:solidFill>
                          <a:latin typeface="Courier New"/>
                        </a:rPr>
                        <a:t>!stmt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execute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i="0">
                          <a:solidFill>
                            <a:srgbClr val="1A1A1A"/>
                          </a:solidFill>
                          <a:latin typeface="Arial"/>
                        </a:rPr>
                        <a:t>Run a Python statement, e.g. </a:t>
                      </a:r>
                      <a:r>
                        <a:rPr sz="1250" b="0" i="0">
                          <a:solidFill>
                            <a:srgbClr val="330066"/>
                          </a:solidFill>
                          <a:latin typeface="Courier New"/>
                        </a:rPr>
                        <a:t>!total = 0</a:t>
                      </a:r>
                      <a:r>
                        <a:rPr sz="1300" b="0" i="0">
                          <a:solidFill>
                            <a:srgbClr val="1A1A1A"/>
                          </a:solidFill>
                          <a:latin typeface="Arial"/>
                        </a:rPr>
                        <a:t> to change a variable and see what happens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65760">
                <a:tc>
                  <a:txBody>
                    <a:bodyPr/>
                    <a:lstStyle/>
                    <a:p>
                      <a:r>
                        <a:rPr sz="1250" b="0" i="0">
                          <a:solidFill>
                            <a:srgbClr val="330066"/>
                          </a:solidFill>
                          <a:latin typeface="Courier New"/>
                        </a:rPr>
                        <a:t>display expr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endParaRP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i="0">
                          <a:solidFill>
                            <a:srgbClr val="1A1A1A"/>
                          </a:solidFill>
                          <a:latin typeface="Arial"/>
                        </a:rPr>
                        <a:t>Re-print </a:t>
                      </a:r>
                      <a:r>
                        <a:rPr sz="1250" b="0" i="0">
                          <a:solidFill>
                            <a:srgbClr val="330066"/>
                          </a:solidFill>
                          <a:latin typeface="Courier New"/>
                        </a:rPr>
                        <a:t>expr</a:t>
                      </a:r>
                      <a:r>
                        <a:rPr sz="1300" b="0" i="0">
                          <a:solidFill>
                            <a:srgbClr val="1A1A1A"/>
                          </a:solidFill>
                          <a:latin typeface="Arial"/>
                        </a:rPr>
                        <a:t> automatically every time execution stops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r h="575563">
                <a:tc>
                  <a:txBody>
                    <a:bodyPr/>
                    <a:lstStyle/>
                    <a:p>
                      <a:r>
                        <a:rPr sz="1250" b="0" i="0">
                          <a:solidFill>
                            <a:srgbClr val="330066"/>
                          </a:solidFill>
                          <a:latin typeface="Courier New"/>
                        </a:rPr>
                        <a:t>interact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endParaRP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300" b="0">
                          <a:solidFill>
                            <a:srgbClr val="1A1A1A"/>
                          </a:solidFill>
                          <a:latin typeface="Arial"/>
                        </a:rPr>
                        <a:t>Open an interactive Python prompt in the current scope (Ctrl-D to return)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6"/>
                  </a:ext>
                </a:extLst>
              </a:tr>
              <a:tr h="365760">
                <a:tc>
                  <a:txBody>
                    <a:bodyPr/>
                    <a:lstStyle/>
                    <a:p>
                      <a:r>
                        <a:rPr sz="1250" b="0" i="0">
                          <a:solidFill>
                            <a:srgbClr val="330066"/>
                          </a:solidFill>
                          <a:latin typeface="Courier New"/>
                        </a:rPr>
                        <a:t>q</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quit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300" b="0">
                          <a:solidFill>
                            <a:srgbClr val="1A1A1A"/>
                          </a:solidFill>
                          <a:latin typeface="Arial"/>
                        </a:rPr>
                        <a:t>Exit the debugger (and stop the program)</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34 / 63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n Versus 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7.3</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n (step over)</a:t>
            </a:r>
          </a:p>
          <a:p>
            <a:pPr algn="l">
              <a:lnSpc>
                <a:spcPct val="110000"/>
              </a:lnSpc>
              <a:spcAft>
                <a:spcPts val="600"/>
              </a:spcAft>
            </a:pPr>
            <a:r>
              <a:rPr sz="1400" b="0" i="0">
                <a:solidFill>
                  <a:srgbClr val="1A1A1A"/>
                </a:solidFill>
                <a:latin typeface="Arial"/>
              </a:rPr>
              <a:t>On </a:t>
            </a:r>
            <a:r>
              <a:rPr sz="1350" b="0" i="0">
                <a:solidFill>
                  <a:srgbClr val="330066"/>
                </a:solidFill>
                <a:latin typeface="Courier New"/>
              </a:rPr>
              <a:t>result = average(scores)</a:t>
            </a:r>
            <a:r>
              <a:rPr sz="1400" b="0" i="0">
                <a:solidFill>
                  <a:srgbClr val="1A1A1A"/>
                </a:solidFill>
                <a:latin typeface="Arial"/>
              </a:rPr>
              <a:t>, </a:t>
            </a:r>
            <a:r>
              <a:rPr sz="1350" b="0" i="0">
                <a:solidFill>
                  <a:srgbClr val="330066"/>
                </a:solidFill>
                <a:latin typeface="Courier New"/>
              </a:rPr>
              <a:t>n</a:t>
            </a:r>
            <a:r>
              <a:rPr sz="1400" b="0" i="0">
                <a:solidFill>
                  <a:srgbClr val="1A1A1A"/>
                </a:solidFill>
                <a:latin typeface="Arial"/>
              </a:rPr>
              <a:t> runs the entire </a:t>
            </a:r>
            <a:r>
              <a:rPr sz="1350" b="0" i="0">
                <a:solidFill>
                  <a:srgbClr val="330066"/>
                </a:solidFill>
                <a:latin typeface="Courier New"/>
              </a:rPr>
              <a:t>average</a:t>
            </a:r>
            <a:r>
              <a:rPr sz="1400" b="0" i="0">
                <a:solidFill>
                  <a:srgbClr val="1A1A1A"/>
                </a:solidFill>
                <a:latin typeface="Arial"/>
              </a:rPr>
              <a:t> call and stops on the next line of the current function. Use it when you trust the called function.</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s (step into)</a:t>
            </a:r>
          </a:p>
          <a:p>
            <a:pPr algn="l">
              <a:lnSpc>
                <a:spcPct val="110000"/>
              </a:lnSpc>
              <a:spcAft>
                <a:spcPts val="600"/>
              </a:spcAft>
            </a:pPr>
            <a:r>
              <a:rPr sz="1400" b="0" i="0">
                <a:solidFill>
                  <a:srgbClr val="1A1A1A"/>
                </a:solidFill>
                <a:latin typeface="Arial"/>
              </a:rPr>
              <a:t>Enters </a:t>
            </a:r>
            <a:r>
              <a:rPr sz="1350" b="0" i="0">
                <a:solidFill>
                  <a:srgbClr val="330066"/>
                </a:solidFill>
                <a:latin typeface="Courier New"/>
              </a:rPr>
              <a:t>average</a:t>
            </a:r>
            <a:r>
              <a:rPr sz="1400" b="0" i="0">
                <a:solidFill>
                  <a:srgbClr val="1A1A1A"/>
                </a:solidFill>
                <a:latin typeface="Arial"/>
              </a:rPr>
              <a:t> and stops on its first line. Use it when you suspect the called function.</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Enter</a:t>
            </a:r>
          </a:p>
          <a:p>
            <a:pPr algn="l">
              <a:lnSpc>
                <a:spcPct val="110000"/>
              </a:lnSpc>
              <a:spcAft>
                <a:spcPts val="600"/>
              </a:spcAft>
            </a:pPr>
            <a:r>
              <a:rPr sz="1400" b="0" i="0">
                <a:solidFill>
                  <a:srgbClr val="1A1A1A"/>
                </a:solidFill>
                <a:latin typeface="Arial"/>
              </a:rPr>
              <a:t>Pressing Enter on an empty line repeats the previous command, handy when stepping with </a:t>
            </a:r>
            <a:r>
              <a:rPr sz="1350" b="0" i="0">
                <a:solidFill>
                  <a:srgbClr val="330066"/>
                </a:solidFill>
                <a:latin typeface="Courier New"/>
              </a:rPr>
              <a:t>n</a:t>
            </a:r>
            <a:r>
              <a:rPr sz="1400" b="0" i="0">
                <a:solidFill>
                  <a:srgbClr val="1A1A1A"/>
                </a:solidFill>
                <a:latin typeface="Arial"/>
              </a:rPr>
              <a:t>.</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35 / 63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Stepping Through a Logic Bug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7.4</a:t>
            </a:r>
          </a:p>
        </p:txBody>
      </p:sp>
      <p:sp>
        <p:nvSpPr>
          <p:cNvPr id="4" name="Rounded Rectangle 3"/>
          <p:cNvSpPr/>
          <p:nvPr/>
        </p:nvSpPr>
        <p:spPr>
          <a:xfrm>
            <a:off x="609904" y="1783080"/>
            <a:ext cx="6400800" cy="3264408"/>
          </a:xfrm>
          <a:prstGeom prst="roundRect">
            <a:avLst>
              <a:gd name="adj" fmla="val 2240"/>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2971800"/>
          </a:xfrm>
          <a:prstGeom prst="rect">
            <a:avLst/>
          </a:prstGeom>
          <a:noFill/>
        </p:spPr>
        <p:txBody>
          <a:bodyPr wrap="square" lIns="0" tIns="0" rIns="0" bIns="0">
            <a:spAutoFit/>
          </a:bodyPr>
          <a:lstStyle/>
          <a:p>
            <a:pPr algn="l">
              <a:lnSpc>
                <a:spcPct val="100000"/>
              </a:lnSpc>
            </a:pPr>
            <a:r>
              <a:rPr sz="1500">
                <a:solidFill>
                  <a:srgbClr val="5C8A8A"/>
                </a:solidFill>
                <a:latin typeface="Courier New"/>
              </a:rPr>
              <a:t># cart2.py</a:t>
            </a:r>
          </a:p>
          <a:p>
            <a:pPr algn="l">
              <a:lnSpc>
                <a:spcPct val="100000"/>
              </a:lnSpc>
            </a:pPr>
            <a:r>
              <a:rPr sz="1500">
                <a:solidFill>
                  <a:srgbClr val="1A1A1A"/>
                </a:solidFill>
                <a:latin typeface="Courier New"/>
              </a:rPr>
              <a:t>def average(values):</a:t>
            </a:r>
          </a:p>
          <a:p>
            <a:pPr algn="l">
              <a:lnSpc>
                <a:spcPct val="100000"/>
              </a:lnSpc>
            </a:pPr>
            <a:r>
              <a:rPr sz="1500">
                <a:solidFill>
                  <a:srgbClr val="1A1A1A"/>
                </a:solidFill>
                <a:latin typeface="Courier New"/>
              </a:rPr>
              <a:t>    total = 0</a:t>
            </a:r>
          </a:p>
          <a:p>
            <a:pPr algn="l">
              <a:lnSpc>
                <a:spcPct val="100000"/>
              </a:lnSpc>
            </a:pPr>
            <a:r>
              <a:rPr sz="1500">
                <a:solidFill>
                  <a:srgbClr val="1A1A1A"/>
                </a:solidFill>
                <a:latin typeface="Courier New"/>
              </a:rPr>
              <a:t>    for v in values:</a:t>
            </a:r>
          </a:p>
          <a:p>
            <a:pPr algn="l">
              <a:lnSpc>
                <a:spcPct val="100000"/>
              </a:lnSpc>
            </a:pPr>
            <a:r>
              <a:rPr sz="1500">
                <a:solidFill>
                  <a:srgbClr val="1A1A1A"/>
                </a:solidFill>
                <a:latin typeface="Courier New"/>
              </a:rPr>
              <a:t>        total += v</a:t>
            </a:r>
          </a:p>
          <a:p>
            <a:pPr algn="l">
              <a:lnSpc>
                <a:spcPct val="100000"/>
              </a:lnSpc>
            </a:pPr>
            <a:r>
              <a:rPr sz="1500">
                <a:solidFill>
                  <a:srgbClr val="1A1A1A"/>
                </a:solidFill>
                <a:latin typeface="Courier New"/>
              </a:rPr>
              <a:t>    return total / len(values) - 1</a:t>
            </a:r>
          </a:p>
          <a:p>
            <a:pPr algn="l">
              <a:lnSpc>
                <a:spcPct val="100000"/>
              </a:lnSpc>
            </a:pPr>
            <a:r>
              <a:rPr sz="1500">
                <a:solidFill>
                  <a:srgbClr val="1A1A1A"/>
                </a:solidFill>
                <a:latin typeface="Courier New"/>
              </a:rPr>
              <a:t> </a:t>
            </a:r>
          </a:p>
          <a:p>
            <a:pPr algn="l">
              <a:lnSpc>
                <a:spcPct val="100000"/>
              </a:lnSpc>
            </a:pPr>
            <a:r>
              <a:rPr sz="1500">
                <a:solidFill>
                  <a:srgbClr val="1A1A1A"/>
                </a:solidFill>
                <a:latin typeface="Courier New"/>
              </a:rPr>
              <a:t>def main():</a:t>
            </a:r>
          </a:p>
          <a:p>
            <a:pPr algn="l">
              <a:lnSpc>
                <a:spcPct val="100000"/>
              </a:lnSpc>
            </a:pPr>
            <a:r>
              <a:rPr sz="1500">
                <a:solidFill>
                  <a:srgbClr val="1A1A1A"/>
                </a:solidFill>
                <a:latin typeface="Courier New"/>
              </a:rPr>
              <a:t>    scores = [80, 90, 100]</a:t>
            </a:r>
          </a:p>
          <a:p>
            <a:pPr algn="l">
              <a:lnSpc>
                <a:spcPct val="100000"/>
              </a:lnSpc>
            </a:pPr>
            <a:r>
              <a:rPr sz="1500">
                <a:solidFill>
                  <a:srgbClr val="1A1A1A"/>
                </a:solidFill>
                <a:latin typeface="Courier New"/>
              </a:rPr>
              <a:t>    result = average(scores)</a:t>
            </a:r>
          </a:p>
          <a:p>
            <a:pPr algn="l">
              <a:lnSpc>
                <a:spcPct val="100000"/>
              </a:lnSpc>
            </a:pPr>
            <a:r>
              <a:rPr sz="1500">
                <a:solidFill>
                  <a:srgbClr val="1A1A1A"/>
                </a:solidFill>
                <a:latin typeface="Courier New"/>
              </a:rPr>
              <a:t>    print("Average:", result)</a:t>
            </a:r>
          </a:p>
          <a:p>
            <a:pPr algn="l">
              <a:lnSpc>
                <a:spcPct val="100000"/>
              </a:lnSpc>
            </a:pPr>
            <a:r>
              <a:rPr sz="1500">
                <a:solidFill>
                  <a:srgbClr val="1A1A1A"/>
                </a:solidFill>
                <a:latin typeface="Courier New"/>
              </a:rPr>
              <a:t> </a:t>
            </a:r>
          </a:p>
          <a:p>
            <a:pPr algn="l">
              <a:lnSpc>
                <a:spcPct val="100000"/>
              </a:lnSpc>
            </a:pPr>
            <a:r>
              <a:rPr sz="1500">
                <a:solidFill>
                  <a:srgbClr val="1A1A1A"/>
                </a:solidFill>
                <a:latin typeface="Courier New"/>
              </a:rPr>
              <a:t>main()</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500" b="0" i="0">
                <a:solidFill>
                  <a:srgbClr val="1A1A1A"/>
                </a:solidFill>
                <a:latin typeface="Arial"/>
              </a:rPr>
              <a:t>A silent logic error: no exception to read.</a:t>
            </a:r>
          </a:p>
          <a:p>
            <a:pPr marL="228600" indent="-228600" algn="l">
              <a:spcAft>
                <a:spcPts val="800"/>
              </a:spcAft>
              <a:buFont typeface="Arial"/>
              <a:buChar char="•"/>
            </a:pPr>
            <a:r>
              <a:rPr sz="1500" b="0" i="0">
                <a:solidFill>
                  <a:srgbClr val="1A1A1A"/>
                </a:solidFill>
                <a:latin typeface="Arial"/>
              </a:rPr>
              <a:t>It prints </a:t>
            </a:r>
            <a:r>
              <a:rPr sz="1450" b="0" i="0">
                <a:solidFill>
                  <a:srgbClr val="330066"/>
                </a:solidFill>
                <a:latin typeface="Courier New"/>
              </a:rPr>
              <a:t>Average: 89.0</a:t>
            </a:r>
            <a:r>
              <a:rPr sz="1500" b="0" i="0">
                <a:solidFill>
                  <a:srgbClr val="1A1A1A"/>
                </a:solidFill>
                <a:latin typeface="Arial"/>
              </a:rPr>
              <a:t>, but the correct answer is </a:t>
            </a:r>
            <a:r>
              <a:rPr sz="1450" b="0" i="0">
                <a:solidFill>
                  <a:srgbClr val="330066"/>
                </a:solidFill>
                <a:latin typeface="Courier New"/>
              </a:rPr>
              <a:t>90.0</a:t>
            </a:r>
            <a:r>
              <a:rPr sz="1500" b="0" i="0">
                <a:solidFill>
                  <a:srgbClr val="1A1A1A"/>
                </a:solidFill>
                <a:latin typeface="Arial"/>
              </a:rPr>
              <a:t>.</a:t>
            </a:r>
          </a:p>
          <a:p>
            <a:pPr marL="228600" indent="-228600" algn="l">
              <a:spcAft>
                <a:spcPts val="800"/>
              </a:spcAft>
              <a:buFont typeface="Arial"/>
              <a:buChar char="•"/>
            </a:pPr>
            <a:r>
              <a:rPr sz="1500" b="0" i="0">
                <a:solidFill>
                  <a:srgbClr val="1A1A1A"/>
                </a:solidFill>
                <a:latin typeface="Arial"/>
              </a:rPr>
              <a:t>So we debug: start the debugger and break on the function.</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36 / 63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Break, Continue, Step</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7.4</a:t>
            </a:r>
          </a:p>
        </p:txBody>
      </p:sp>
      <p:sp>
        <p:nvSpPr>
          <p:cNvPr id="4" name="Rounded Rectangle 3"/>
          <p:cNvSpPr/>
          <p:nvPr/>
        </p:nvSpPr>
        <p:spPr>
          <a:xfrm>
            <a:off x="609904" y="1783080"/>
            <a:ext cx="5852160" cy="2639567"/>
          </a:xfrm>
          <a:prstGeom prst="roundRect">
            <a:avLst>
              <a:gd name="adj" fmla="val 277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449824" cy="2346960"/>
          </a:xfrm>
          <a:prstGeom prst="rect">
            <a:avLst/>
          </a:prstGeom>
          <a:noFill/>
        </p:spPr>
        <p:txBody>
          <a:bodyPr wrap="square" lIns="0" tIns="0" rIns="0" bIns="0">
            <a:spAutoFit/>
          </a:bodyPr>
          <a:lstStyle/>
          <a:p>
            <a:pPr algn="l">
              <a:lnSpc>
                <a:spcPct val="100000"/>
              </a:lnSpc>
            </a:pPr>
            <a:r>
              <a:rPr sz="1400">
                <a:solidFill>
                  <a:srgbClr val="1A1A1A"/>
                </a:solidFill>
                <a:latin typeface="Courier New"/>
              </a:rPr>
              <a:t>$ python -m pdb cart2.py</a:t>
            </a:r>
          </a:p>
          <a:p>
            <a:pPr algn="l">
              <a:lnSpc>
                <a:spcPct val="100000"/>
              </a:lnSpc>
            </a:pPr>
            <a:r>
              <a:rPr sz="1400">
                <a:solidFill>
                  <a:srgbClr val="1A1A1A"/>
                </a:solidFill>
                <a:latin typeface="Courier New"/>
              </a:rPr>
              <a:t>&gt; cart2.py(1)&lt;module&gt;()</a:t>
            </a:r>
          </a:p>
          <a:p>
            <a:pPr algn="l">
              <a:lnSpc>
                <a:spcPct val="100000"/>
              </a:lnSpc>
            </a:pPr>
            <a:r>
              <a:rPr sz="1400">
                <a:solidFill>
                  <a:srgbClr val="1A1A1A"/>
                </a:solidFill>
                <a:latin typeface="Courier New"/>
              </a:rPr>
              <a:t>(Pdb) b average</a:t>
            </a:r>
          </a:p>
          <a:p>
            <a:pPr algn="l">
              <a:lnSpc>
                <a:spcPct val="100000"/>
              </a:lnSpc>
            </a:pPr>
            <a:r>
              <a:rPr sz="1400">
                <a:solidFill>
                  <a:srgbClr val="1A1A1A"/>
                </a:solidFill>
                <a:latin typeface="Courier New"/>
              </a:rPr>
              <a:t>Breakpoint 1 at cart2.py:2</a:t>
            </a:r>
          </a:p>
          <a:p>
            <a:pPr algn="l">
              <a:lnSpc>
                <a:spcPct val="100000"/>
              </a:lnSpc>
            </a:pPr>
            <a:r>
              <a:rPr sz="1400">
                <a:solidFill>
                  <a:srgbClr val="1A1A1A"/>
                </a:solidFill>
                <a:latin typeface="Courier New"/>
              </a:rPr>
              <a:t>(Pdb) c</a:t>
            </a:r>
          </a:p>
          <a:p>
            <a:pPr algn="l">
              <a:lnSpc>
                <a:spcPct val="100000"/>
              </a:lnSpc>
            </a:pPr>
            <a:r>
              <a:rPr sz="1400">
                <a:solidFill>
                  <a:srgbClr val="1A1A1A"/>
                </a:solidFill>
                <a:latin typeface="Courier New"/>
              </a:rPr>
              <a:t>&gt; cart2.py(2)average()</a:t>
            </a:r>
          </a:p>
          <a:p>
            <a:pPr algn="l">
              <a:lnSpc>
                <a:spcPct val="100000"/>
              </a:lnSpc>
            </a:pPr>
            <a:r>
              <a:rPr sz="1400">
                <a:solidFill>
                  <a:srgbClr val="1A1A1A"/>
                </a:solidFill>
                <a:latin typeface="Courier New"/>
              </a:rPr>
              <a:t>-&gt; total = 0</a:t>
            </a:r>
          </a:p>
          <a:p>
            <a:pPr algn="l">
              <a:lnSpc>
                <a:spcPct val="100000"/>
              </a:lnSpc>
            </a:pPr>
            <a:r>
              <a:rPr sz="1400">
                <a:solidFill>
                  <a:srgbClr val="1A1A1A"/>
                </a:solidFill>
                <a:latin typeface="Courier New"/>
              </a:rPr>
              <a:t>(Pdb) n</a:t>
            </a:r>
          </a:p>
          <a:p>
            <a:pPr algn="l">
              <a:lnSpc>
                <a:spcPct val="100000"/>
              </a:lnSpc>
            </a:pPr>
            <a:r>
              <a:rPr sz="1400">
                <a:solidFill>
                  <a:srgbClr val="5C8A8A"/>
                </a:solidFill>
                <a:latin typeface="Courier New"/>
              </a:rPr>
              <a:t># ...</a:t>
            </a:r>
          </a:p>
          <a:p>
            <a:pPr algn="l">
              <a:lnSpc>
                <a:spcPct val="100000"/>
              </a:lnSpc>
            </a:pPr>
            <a:r>
              <a:rPr sz="1400">
                <a:solidFill>
                  <a:srgbClr val="1A1A1A"/>
                </a:solidFill>
                <a:latin typeface="Courier New"/>
              </a:rPr>
              <a:t>(Pdb) p total</a:t>
            </a:r>
          </a:p>
          <a:p>
            <a:pPr algn="l">
              <a:lnSpc>
                <a:spcPct val="100000"/>
              </a:lnSpc>
            </a:pPr>
            <a:r>
              <a:rPr sz="1400">
                <a:solidFill>
                  <a:srgbClr val="1A1A1A"/>
                </a:solidFill>
                <a:latin typeface="Courier New"/>
              </a:rPr>
              <a:t>80</a:t>
            </a:r>
          </a:p>
        </p:txBody>
      </p:sp>
      <p:sp>
        <p:nvSpPr>
          <p:cNvPr id="6" name="Oval 5"/>
          <p:cNvSpPr/>
          <p:nvPr/>
        </p:nvSpPr>
        <p:spPr>
          <a:xfrm>
            <a:off x="673638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7" name="TextBox 6"/>
          <p:cNvSpPr txBox="1"/>
          <p:nvPr/>
        </p:nvSpPr>
        <p:spPr>
          <a:xfrm>
            <a:off x="7285024" y="1819656"/>
            <a:ext cx="429676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b average</a:t>
            </a:r>
          </a:p>
          <a:p>
            <a:pPr algn="l">
              <a:lnSpc>
                <a:spcPct val="110000"/>
              </a:lnSpc>
              <a:spcAft>
                <a:spcPts val="600"/>
              </a:spcAft>
            </a:pPr>
            <a:r>
              <a:rPr sz="1400" b="0" i="0">
                <a:solidFill>
                  <a:srgbClr val="1A1A1A"/>
                </a:solidFill>
                <a:latin typeface="Arial"/>
              </a:rPr>
              <a:t>Sets a breakpoint on the function.</a:t>
            </a:r>
          </a:p>
        </p:txBody>
      </p:sp>
      <p:sp>
        <p:nvSpPr>
          <p:cNvPr id="8" name="Oval 7"/>
          <p:cNvSpPr/>
          <p:nvPr/>
        </p:nvSpPr>
        <p:spPr>
          <a:xfrm>
            <a:off x="6736384" y="241839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9" name="TextBox 8"/>
          <p:cNvSpPr txBox="1"/>
          <p:nvPr/>
        </p:nvSpPr>
        <p:spPr>
          <a:xfrm>
            <a:off x="7285024" y="2454973"/>
            <a:ext cx="429676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c, then n</a:t>
            </a:r>
          </a:p>
          <a:p>
            <a:pPr algn="l">
              <a:lnSpc>
                <a:spcPct val="110000"/>
              </a:lnSpc>
              <a:spcAft>
                <a:spcPts val="600"/>
              </a:spcAft>
            </a:pPr>
            <a:r>
              <a:rPr sz="1400" b="0" i="0">
                <a:solidFill>
                  <a:srgbClr val="1A1A1A"/>
                </a:solidFill>
                <a:latin typeface="Arial"/>
              </a:rPr>
              <a:t>Continue to the breakpoint, then step line by line.</a:t>
            </a:r>
          </a:p>
        </p:txBody>
      </p:sp>
      <p:sp>
        <p:nvSpPr>
          <p:cNvPr id="10" name="Oval 9"/>
          <p:cNvSpPr/>
          <p:nvPr/>
        </p:nvSpPr>
        <p:spPr>
          <a:xfrm>
            <a:off x="6736384" y="327596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1" name="TextBox 10"/>
          <p:cNvSpPr txBox="1"/>
          <p:nvPr/>
        </p:nvSpPr>
        <p:spPr>
          <a:xfrm>
            <a:off x="7285024" y="3312541"/>
            <a:ext cx="429676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p total</a:t>
            </a:r>
          </a:p>
          <a:p>
            <a:pPr algn="l">
              <a:lnSpc>
                <a:spcPct val="110000"/>
              </a:lnSpc>
              <a:spcAft>
                <a:spcPts val="600"/>
              </a:spcAft>
            </a:pPr>
            <a:r>
              <a:rPr sz="1400" b="0" i="0">
                <a:solidFill>
                  <a:srgbClr val="1A1A1A"/>
                </a:solidFill>
                <a:latin typeface="Arial"/>
              </a:rPr>
              <a:t>After one loop turn </a:t>
            </a:r>
            <a:r>
              <a:rPr sz="1350" b="0" i="0">
                <a:solidFill>
                  <a:srgbClr val="330066"/>
                </a:solidFill>
                <a:latin typeface="Courier New"/>
              </a:rPr>
              <a:t>total</a:t>
            </a:r>
            <a:r>
              <a:rPr sz="1400" b="0" i="0">
                <a:solidFill>
                  <a:srgbClr val="1A1A1A"/>
                </a:solidFill>
                <a:latin typeface="Arial"/>
              </a:rPr>
              <a:t> is </a:t>
            </a:r>
            <a:r>
              <a:rPr sz="1350" b="0" i="0">
                <a:solidFill>
                  <a:srgbClr val="330066"/>
                </a:solidFill>
                <a:latin typeface="Courier New"/>
              </a:rPr>
              <a:t>80</a:t>
            </a:r>
            <a:r>
              <a:rPr sz="1400" b="0" i="0">
                <a:solidFill>
                  <a:srgbClr val="1A1A1A"/>
                </a:solidFill>
                <a:latin typeface="Arial"/>
              </a:rPr>
              <a:t>, as expected.</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37 / 63</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Jump to the Return and Test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7.4</a:t>
            </a:r>
          </a:p>
        </p:txBody>
      </p:sp>
      <p:sp>
        <p:nvSpPr>
          <p:cNvPr id="4" name="Rounded Rectangle 3"/>
          <p:cNvSpPr/>
          <p:nvPr/>
        </p:nvSpPr>
        <p:spPr>
          <a:xfrm>
            <a:off x="609904" y="1783080"/>
            <a:ext cx="5852160" cy="2639567"/>
          </a:xfrm>
          <a:prstGeom prst="roundRect">
            <a:avLst>
              <a:gd name="adj" fmla="val 277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449824" cy="2346960"/>
          </a:xfrm>
          <a:prstGeom prst="rect">
            <a:avLst/>
          </a:prstGeom>
          <a:noFill/>
        </p:spPr>
        <p:txBody>
          <a:bodyPr wrap="square" lIns="0" tIns="0" rIns="0" bIns="0">
            <a:spAutoFit/>
          </a:bodyPr>
          <a:lstStyle/>
          <a:p>
            <a:pPr algn="l">
              <a:lnSpc>
                <a:spcPct val="100000"/>
              </a:lnSpc>
            </a:pPr>
            <a:r>
              <a:rPr sz="1400">
                <a:solidFill>
                  <a:srgbClr val="1A1A1A"/>
                </a:solidFill>
                <a:latin typeface="Courier New"/>
              </a:rPr>
              <a:t>(Pdb) r</a:t>
            </a:r>
          </a:p>
          <a:p>
            <a:pPr algn="l">
              <a:lnSpc>
                <a:spcPct val="100000"/>
              </a:lnSpc>
            </a:pPr>
            <a:r>
              <a:rPr sz="1400">
                <a:solidFill>
                  <a:srgbClr val="1A1A1A"/>
                </a:solidFill>
                <a:latin typeface="Courier New"/>
              </a:rPr>
              <a:t>--Return--</a:t>
            </a:r>
          </a:p>
          <a:p>
            <a:pPr algn="l">
              <a:lnSpc>
                <a:spcPct val="100000"/>
              </a:lnSpc>
            </a:pPr>
            <a:r>
              <a:rPr sz="1400">
                <a:solidFill>
                  <a:srgbClr val="1A1A1A"/>
                </a:solidFill>
                <a:latin typeface="Courier New"/>
              </a:rPr>
              <a:t>&gt; cart2.py(5)average()-&gt;89.0</a:t>
            </a:r>
          </a:p>
          <a:p>
            <a:pPr algn="l">
              <a:lnSpc>
                <a:spcPct val="100000"/>
              </a:lnSpc>
            </a:pPr>
            <a:r>
              <a:rPr sz="1400">
                <a:solidFill>
                  <a:srgbClr val="1A1A1A"/>
                </a:solidFill>
                <a:latin typeface="Courier New"/>
              </a:rPr>
              <a:t>-&gt; return total / len(values) - 1</a:t>
            </a:r>
          </a:p>
          <a:p>
            <a:pPr algn="l">
              <a:lnSpc>
                <a:spcPct val="100000"/>
              </a:lnSpc>
            </a:pPr>
            <a:r>
              <a:rPr sz="1400">
                <a:solidFill>
                  <a:srgbClr val="5C8A8A"/>
                </a:solidFill>
                <a:latin typeface="Courier New"/>
              </a:rPr>
              <a:t># ...</a:t>
            </a:r>
          </a:p>
          <a:p>
            <a:pPr algn="l">
              <a:lnSpc>
                <a:spcPct val="100000"/>
              </a:lnSpc>
            </a:pPr>
            <a:r>
              <a:rPr sz="1400">
                <a:solidFill>
                  <a:srgbClr val="1A1A1A"/>
                </a:solidFill>
                <a:latin typeface="Courier New"/>
              </a:rPr>
              <a:t>(Pdb) p total</a:t>
            </a:r>
          </a:p>
          <a:p>
            <a:pPr algn="l">
              <a:lnSpc>
                <a:spcPct val="100000"/>
              </a:lnSpc>
            </a:pPr>
            <a:r>
              <a:rPr sz="1400">
                <a:solidFill>
                  <a:srgbClr val="1A1A1A"/>
                </a:solidFill>
                <a:latin typeface="Courier New"/>
              </a:rPr>
              <a:t>270</a:t>
            </a:r>
          </a:p>
          <a:p>
            <a:pPr algn="l">
              <a:lnSpc>
                <a:spcPct val="100000"/>
              </a:lnSpc>
            </a:pPr>
            <a:r>
              <a:rPr sz="1400">
                <a:solidFill>
                  <a:srgbClr val="1A1A1A"/>
                </a:solidFill>
                <a:latin typeface="Courier New"/>
              </a:rPr>
              <a:t>(Pdb) p total / len(values)</a:t>
            </a:r>
          </a:p>
          <a:p>
            <a:pPr algn="l">
              <a:lnSpc>
                <a:spcPct val="100000"/>
              </a:lnSpc>
            </a:pPr>
            <a:r>
              <a:rPr sz="1400">
                <a:solidFill>
                  <a:srgbClr val="1A1A1A"/>
                </a:solidFill>
                <a:latin typeface="Courier New"/>
              </a:rPr>
              <a:t>90.0</a:t>
            </a:r>
          </a:p>
          <a:p>
            <a:pPr algn="l">
              <a:lnSpc>
                <a:spcPct val="100000"/>
              </a:lnSpc>
            </a:pPr>
            <a:r>
              <a:rPr sz="1400">
                <a:solidFill>
                  <a:srgbClr val="1A1A1A"/>
                </a:solidFill>
                <a:latin typeface="Courier New"/>
              </a:rPr>
              <a:t>(Pdb) p total / len(values) - 1</a:t>
            </a:r>
          </a:p>
          <a:p>
            <a:pPr algn="l">
              <a:lnSpc>
                <a:spcPct val="100000"/>
              </a:lnSpc>
            </a:pPr>
            <a:r>
              <a:rPr sz="1400">
                <a:solidFill>
                  <a:srgbClr val="1A1A1A"/>
                </a:solidFill>
                <a:latin typeface="Courier New"/>
              </a:rPr>
              <a:t>89.0</a:t>
            </a:r>
          </a:p>
        </p:txBody>
      </p:sp>
      <p:sp>
        <p:nvSpPr>
          <p:cNvPr id="6" name="Oval 5"/>
          <p:cNvSpPr/>
          <p:nvPr/>
        </p:nvSpPr>
        <p:spPr>
          <a:xfrm>
            <a:off x="673638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7" name="TextBox 6"/>
          <p:cNvSpPr txBox="1"/>
          <p:nvPr/>
        </p:nvSpPr>
        <p:spPr>
          <a:xfrm>
            <a:off x="7285024" y="1819656"/>
            <a:ext cx="429676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r</a:t>
            </a:r>
          </a:p>
          <a:p>
            <a:pPr algn="l">
              <a:lnSpc>
                <a:spcPct val="110000"/>
              </a:lnSpc>
              <a:spcAft>
                <a:spcPts val="600"/>
              </a:spcAft>
            </a:pPr>
            <a:r>
              <a:rPr sz="1400" b="0" i="0">
                <a:solidFill>
                  <a:srgbClr val="1A1A1A"/>
                </a:solidFill>
                <a:latin typeface="Arial"/>
              </a:rPr>
              <a:t>Run until the function returns instead of stepping every iteration.</a:t>
            </a:r>
          </a:p>
        </p:txBody>
      </p:sp>
      <p:sp>
        <p:nvSpPr>
          <p:cNvPr id="8" name="Oval 7"/>
          <p:cNvSpPr/>
          <p:nvPr/>
        </p:nvSpPr>
        <p:spPr>
          <a:xfrm>
            <a:off x="6736384" y="264064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9" name="TextBox 8"/>
          <p:cNvSpPr txBox="1"/>
          <p:nvPr/>
        </p:nvSpPr>
        <p:spPr>
          <a:xfrm>
            <a:off x="7285024" y="2677223"/>
            <a:ext cx="429676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--Return--</a:t>
            </a:r>
          </a:p>
          <a:p>
            <a:pPr algn="l">
              <a:lnSpc>
                <a:spcPct val="110000"/>
              </a:lnSpc>
              <a:spcAft>
                <a:spcPts val="600"/>
              </a:spcAft>
            </a:pPr>
            <a:r>
              <a:rPr sz="1400" b="0" i="0">
                <a:solidFill>
                  <a:srgbClr val="1A1A1A"/>
                </a:solidFill>
                <a:latin typeface="Arial"/>
              </a:rPr>
              <a:t>The function is about to return </a:t>
            </a:r>
            <a:r>
              <a:rPr sz="1350" b="0" i="0">
                <a:solidFill>
                  <a:srgbClr val="330066"/>
                </a:solidFill>
                <a:latin typeface="Courier New"/>
              </a:rPr>
              <a:t>89.0</a:t>
            </a:r>
            <a:r>
              <a:rPr sz="1400" b="0" i="0">
                <a:solidFill>
                  <a:srgbClr val="1A1A1A"/>
                </a:solidFill>
                <a:latin typeface="Arial"/>
              </a:rPr>
              <a:t> (the </a:t>
            </a:r>
            <a:r>
              <a:rPr sz="1350" b="0" i="0">
                <a:solidFill>
                  <a:srgbClr val="330066"/>
                </a:solidFill>
                <a:latin typeface="Courier New"/>
              </a:rPr>
              <a:t>-&gt;89.0</a:t>
            </a:r>
            <a:r>
              <a:rPr sz="1400" b="0" i="0">
                <a:solidFill>
                  <a:srgbClr val="1A1A1A"/>
                </a:solidFill>
                <a:latin typeface="Arial"/>
              </a:rPr>
              <a:t> part).</a:t>
            </a:r>
          </a:p>
        </p:txBody>
      </p:sp>
      <p:sp>
        <p:nvSpPr>
          <p:cNvPr id="10" name="Oval 9"/>
          <p:cNvSpPr/>
          <p:nvPr/>
        </p:nvSpPr>
        <p:spPr>
          <a:xfrm>
            <a:off x="6736384" y="349821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1" name="TextBox 10"/>
          <p:cNvSpPr txBox="1"/>
          <p:nvPr/>
        </p:nvSpPr>
        <p:spPr>
          <a:xfrm>
            <a:off x="7285024" y="3534791"/>
            <a:ext cx="429676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Evaluate the pieces</a:t>
            </a:r>
          </a:p>
          <a:p>
            <a:pPr algn="l">
              <a:lnSpc>
                <a:spcPct val="110000"/>
              </a:lnSpc>
              <a:spcAft>
                <a:spcPts val="600"/>
              </a:spcAft>
            </a:pPr>
            <a:r>
              <a:rPr sz="1400" b="0" i="0">
                <a:solidFill>
                  <a:srgbClr val="1A1A1A"/>
                </a:solidFill>
                <a:latin typeface="Arial"/>
              </a:rPr>
              <a:t>Hypothesis confirmed: the </a:t>
            </a:r>
            <a:r>
              <a:rPr sz="1350" b="0" i="0">
                <a:solidFill>
                  <a:srgbClr val="330066"/>
                </a:solidFill>
                <a:latin typeface="Courier New"/>
              </a:rPr>
              <a:t>- 1</a:t>
            </a:r>
            <a:r>
              <a:rPr sz="1400" b="0" i="0">
                <a:solidFill>
                  <a:srgbClr val="1A1A1A"/>
                </a:solidFill>
                <a:latin typeface="Arial"/>
              </a:rPr>
              <a:t> is wrong. Loop and division were fine.</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38 / 63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The Call Stack: w, u, d</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7.5</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650" b="0" i="0">
                <a:solidFill>
                  <a:srgbClr val="330066"/>
                </a:solidFill>
                <a:latin typeface="Courier New"/>
              </a:rPr>
              <a:t>w</a:t>
            </a:r>
            <a:r>
              <a:rPr sz="1700" b="0" i="0">
                <a:solidFill>
                  <a:srgbClr val="1A1A1A"/>
                </a:solidFill>
                <a:latin typeface="Arial"/>
              </a:rPr>
              <a:t> (where) inside </a:t>
            </a:r>
            <a:r>
              <a:rPr sz="1650" b="0" i="0">
                <a:solidFill>
                  <a:srgbClr val="330066"/>
                </a:solidFill>
                <a:latin typeface="Courier New"/>
              </a:rPr>
              <a:t>average</a:t>
            </a:r>
            <a:r>
              <a:rPr sz="1700" b="0" i="0">
                <a:solidFill>
                  <a:srgbClr val="1A1A1A"/>
                </a:solidFill>
                <a:latin typeface="Arial"/>
              </a:rPr>
              <a:t> shows the chain: </a:t>
            </a:r>
            <a:r>
              <a:rPr sz="1650" b="0" i="0">
                <a:solidFill>
                  <a:srgbClr val="330066"/>
                </a:solidFill>
                <a:latin typeface="Courier New"/>
              </a:rPr>
              <a:t>&lt;module&gt;</a:t>
            </a:r>
            <a:r>
              <a:rPr sz="1700" b="0" i="0">
                <a:solidFill>
                  <a:srgbClr val="1A1A1A"/>
                </a:solidFill>
                <a:latin typeface="Arial"/>
              </a:rPr>
              <a:t> -&gt; </a:t>
            </a:r>
            <a:r>
              <a:rPr sz="1650" b="0" i="0">
                <a:solidFill>
                  <a:srgbClr val="330066"/>
                </a:solidFill>
                <a:latin typeface="Courier New"/>
              </a:rPr>
              <a:t>main</a:t>
            </a:r>
            <a:r>
              <a:rPr sz="1700" b="0" i="0">
                <a:solidFill>
                  <a:srgbClr val="1A1A1A"/>
                </a:solidFill>
                <a:latin typeface="Arial"/>
              </a:rPr>
              <a:t> -&gt; </a:t>
            </a:r>
            <a:r>
              <a:rPr sz="1650" b="0" i="0">
                <a:solidFill>
                  <a:srgbClr val="330066"/>
                </a:solidFill>
                <a:latin typeface="Courier New"/>
              </a:rPr>
              <a:t>average</a:t>
            </a:r>
            <a:r>
              <a:rPr sz="1700" b="0" i="0">
                <a:solidFill>
                  <a:srgbClr val="1A1A1A"/>
                </a:solidFill>
                <a:latin typeface="Arial"/>
              </a:rPr>
              <a:t>.</a:t>
            </a:r>
          </a:p>
          <a:p>
            <a:pPr marL="228600" indent="-228600" algn="l">
              <a:spcAft>
                <a:spcPts val="1000"/>
              </a:spcAft>
              <a:buFont typeface="Arial"/>
              <a:buChar char="•"/>
            </a:pPr>
            <a:r>
              <a:rPr sz="1650" b="0" i="0">
                <a:solidFill>
                  <a:srgbClr val="330066"/>
                </a:solidFill>
                <a:latin typeface="Courier New"/>
              </a:rPr>
              <a:t>u</a:t>
            </a:r>
            <a:r>
              <a:rPr sz="1700" b="0" i="0">
                <a:solidFill>
                  <a:srgbClr val="1A1A1A"/>
                </a:solidFill>
                <a:latin typeface="Arial"/>
              </a:rPr>
              <a:t> moves up to </a:t>
            </a:r>
            <a:r>
              <a:rPr sz="1650" b="0" i="0">
                <a:solidFill>
                  <a:srgbClr val="330066"/>
                </a:solidFill>
                <a:latin typeface="Courier New"/>
              </a:rPr>
              <a:t>main</a:t>
            </a:r>
            <a:r>
              <a:rPr sz="1700" b="0" i="0">
                <a:solidFill>
                  <a:srgbClr val="1A1A1A"/>
                </a:solidFill>
                <a:latin typeface="Arial"/>
              </a:rPr>
              <a:t>'s frame, where you can </a:t>
            </a:r>
            <a:r>
              <a:rPr sz="1650" b="0" i="0">
                <a:solidFill>
                  <a:srgbClr val="330066"/>
                </a:solidFill>
                <a:latin typeface="Courier New"/>
              </a:rPr>
              <a:t>p scores</a:t>
            </a:r>
            <a:r>
              <a:rPr sz="1700" b="0" i="0">
                <a:solidFill>
                  <a:srgbClr val="1A1A1A"/>
                </a:solidFill>
                <a:latin typeface="Arial"/>
              </a:rPr>
              <a:t> to see what </a:t>
            </a:r>
            <a:r>
              <a:rPr sz="1650" b="0" i="0">
                <a:solidFill>
                  <a:srgbClr val="330066"/>
                </a:solidFill>
                <a:latin typeface="Courier New"/>
              </a:rPr>
              <a:t>main</a:t>
            </a:r>
            <a:r>
              <a:rPr sz="1700" b="0" i="0">
                <a:solidFill>
                  <a:srgbClr val="1A1A1A"/>
                </a:solidFill>
                <a:latin typeface="Arial"/>
              </a:rPr>
              <a:t> passed in, without leaving the debugger.</a:t>
            </a:r>
          </a:p>
          <a:p>
            <a:pPr marL="228600" indent="-228600" algn="l">
              <a:spcAft>
                <a:spcPts val="1000"/>
              </a:spcAft>
              <a:buFont typeface="Arial"/>
              <a:buChar char="•"/>
            </a:pPr>
            <a:r>
              <a:rPr sz="1650" b="0" i="0">
                <a:solidFill>
                  <a:srgbClr val="330066"/>
                </a:solidFill>
                <a:latin typeface="Courier New"/>
              </a:rPr>
              <a:t>d</a:t>
            </a:r>
            <a:r>
              <a:rPr sz="1700" b="0" i="0">
                <a:solidFill>
                  <a:srgbClr val="1A1A1A"/>
                </a:solidFill>
                <a:latin typeface="Arial"/>
              </a:rPr>
              <a:t> comes back down.</a:t>
            </a:r>
          </a:p>
          <a:p>
            <a:pPr marL="228600" indent="-228600" algn="l">
              <a:spcAft>
                <a:spcPts val="1000"/>
              </a:spcAft>
              <a:buFont typeface="Arial"/>
              <a:buChar char="•"/>
            </a:pPr>
            <a:r>
              <a:rPr sz="1700" b="0" i="0">
                <a:solidFill>
                  <a:srgbClr val="1A1A1A"/>
                </a:solidFill>
                <a:latin typeface="Arial"/>
              </a:rPr>
              <a:t>When a function receives a surprising argument: go up a frame and see who called me and with what.</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39 / 63</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Conditional Breakpoints: the Code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7.6</a:t>
            </a:r>
          </a:p>
        </p:txBody>
      </p:sp>
      <p:sp>
        <p:nvSpPr>
          <p:cNvPr id="4" name="Rounded Rectangle 3"/>
          <p:cNvSpPr/>
          <p:nvPr/>
        </p:nvSpPr>
        <p:spPr>
          <a:xfrm>
            <a:off x="609904" y="1783080"/>
            <a:ext cx="6400800" cy="2350008"/>
          </a:xfrm>
          <a:prstGeom prst="roundRect">
            <a:avLst>
              <a:gd name="adj" fmla="val 3112"/>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2057400"/>
          </a:xfrm>
          <a:prstGeom prst="rect">
            <a:avLst/>
          </a:prstGeom>
          <a:noFill/>
        </p:spPr>
        <p:txBody>
          <a:bodyPr wrap="square" lIns="0" tIns="0" rIns="0" bIns="0">
            <a:spAutoFit/>
          </a:bodyPr>
          <a:lstStyle/>
          <a:p>
            <a:pPr algn="l">
              <a:lnSpc>
                <a:spcPct val="100000"/>
              </a:lnSpc>
            </a:pPr>
            <a:r>
              <a:rPr sz="1500">
                <a:solidFill>
                  <a:srgbClr val="5C8A8A"/>
                </a:solidFill>
                <a:latin typeface="Courier New"/>
              </a:rPr>
              <a:t># loop.py</a:t>
            </a:r>
          </a:p>
          <a:p>
            <a:pPr algn="l">
              <a:lnSpc>
                <a:spcPct val="100000"/>
              </a:lnSpc>
            </a:pPr>
            <a:r>
              <a:rPr sz="1500">
                <a:solidFill>
                  <a:srgbClr val="1A1A1A"/>
                </a:solidFill>
                <a:latin typeface="Courier New"/>
              </a:rPr>
              <a:t>def check(values):</a:t>
            </a:r>
          </a:p>
          <a:p>
            <a:pPr algn="l">
              <a:lnSpc>
                <a:spcPct val="100000"/>
              </a:lnSpc>
            </a:pPr>
            <a:r>
              <a:rPr sz="1500">
                <a:solidFill>
                  <a:srgbClr val="1A1A1A"/>
                </a:solidFill>
                <a:latin typeface="Courier New"/>
              </a:rPr>
              <a:t>    bad = []</a:t>
            </a:r>
          </a:p>
          <a:p>
            <a:pPr algn="l">
              <a:lnSpc>
                <a:spcPct val="100000"/>
              </a:lnSpc>
            </a:pPr>
            <a:r>
              <a:rPr sz="1500">
                <a:solidFill>
                  <a:srgbClr val="1A1A1A"/>
                </a:solidFill>
                <a:latin typeface="Courier New"/>
              </a:rPr>
              <a:t>    for i, v in enumerate(values):</a:t>
            </a:r>
          </a:p>
          <a:p>
            <a:pPr algn="l">
              <a:lnSpc>
                <a:spcPct val="100000"/>
              </a:lnSpc>
            </a:pPr>
            <a:r>
              <a:rPr sz="1500">
                <a:solidFill>
                  <a:srgbClr val="1A1A1A"/>
                </a:solidFill>
                <a:latin typeface="Courier New"/>
              </a:rPr>
              <a:t>        if v &lt; 0:</a:t>
            </a:r>
          </a:p>
          <a:p>
            <a:pPr algn="l">
              <a:lnSpc>
                <a:spcPct val="100000"/>
              </a:lnSpc>
            </a:pPr>
            <a:r>
              <a:rPr sz="1500">
                <a:solidFill>
                  <a:srgbClr val="1A1A1A"/>
                </a:solidFill>
                <a:latin typeface="Courier New"/>
              </a:rPr>
              <a:t>            bad.append(i)</a:t>
            </a:r>
          </a:p>
          <a:p>
            <a:pPr algn="l">
              <a:lnSpc>
                <a:spcPct val="100000"/>
              </a:lnSpc>
            </a:pPr>
            <a:r>
              <a:rPr sz="1500">
                <a:solidFill>
                  <a:srgbClr val="1A1A1A"/>
                </a:solidFill>
                <a:latin typeface="Courier New"/>
              </a:rPr>
              <a:t>    return bad</a:t>
            </a:r>
          </a:p>
          <a:p>
            <a:pPr algn="l">
              <a:lnSpc>
                <a:spcPct val="100000"/>
              </a:lnSpc>
            </a:pPr>
            <a:r>
              <a:rPr sz="1500">
                <a:solidFill>
                  <a:srgbClr val="1A1A1A"/>
                </a:solidFill>
                <a:latin typeface="Courier New"/>
              </a:rPr>
              <a:t> </a:t>
            </a:r>
          </a:p>
          <a:p>
            <a:pPr algn="l">
              <a:lnSpc>
                <a:spcPct val="100000"/>
              </a:lnSpc>
            </a:pPr>
            <a:r>
              <a:rPr sz="1500">
                <a:solidFill>
                  <a:srgbClr val="1A1A1A"/>
                </a:solidFill>
                <a:latin typeface="Courier New"/>
              </a:rPr>
              <a:t>print(check([5, 3, -1, 8, -4]))</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500" b="0" i="0">
                <a:solidFill>
                  <a:srgbClr val="1A1A1A"/>
                </a:solidFill>
                <a:latin typeface="Arial"/>
              </a:rPr>
              <a:t>Imagine a loop over 10,000 test records where only a few are bad.</a:t>
            </a:r>
          </a:p>
          <a:p>
            <a:pPr marL="228600" indent="-228600" algn="l">
              <a:spcAft>
                <a:spcPts val="800"/>
              </a:spcAft>
              <a:buFont typeface="Arial"/>
              <a:buChar char="•"/>
            </a:pPr>
            <a:r>
              <a:rPr sz="1500" b="0" i="0">
                <a:solidFill>
                  <a:srgbClr val="1A1A1A"/>
                </a:solidFill>
                <a:latin typeface="Arial"/>
              </a:rPr>
              <a:t>Stopping on every iteration is hopeless.</a:t>
            </a:r>
          </a:p>
          <a:p>
            <a:pPr marL="228600" indent="-228600" algn="l">
              <a:spcAft>
                <a:spcPts val="800"/>
              </a:spcAft>
              <a:buFont typeface="Arial"/>
              <a:buChar char="•"/>
            </a:pPr>
            <a:r>
              <a:rPr sz="1500" b="0" i="0">
                <a:solidFill>
                  <a:srgbClr val="1A1A1A"/>
                </a:solidFill>
                <a:latin typeface="Arial"/>
              </a:rPr>
              <a:t>A conditional breakpoint pauses only when a condition is true.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40 / 63</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Conditional Breakpoints: the Session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7.6</a:t>
            </a:r>
          </a:p>
        </p:txBody>
      </p:sp>
      <p:sp>
        <p:nvSpPr>
          <p:cNvPr id="4" name="Rounded Rectangle 3"/>
          <p:cNvSpPr/>
          <p:nvPr/>
        </p:nvSpPr>
        <p:spPr>
          <a:xfrm>
            <a:off x="609904" y="1783080"/>
            <a:ext cx="5669280" cy="2852928"/>
          </a:xfrm>
          <a:prstGeom prst="roundRect">
            <a:avLst>
              <a:gd name="adj" fmla="val 256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266944" cy="2560320"/>
          </a:xfrm>
          <a:prstGeom prst="rect">
            <a:avLst/>
          </a:prstGeom>
          <a:noFill/>
        </p:spPr>
        <p:txBody>
          <a:bodyPr wrap="square" lIns="0" tIns="0" rIns="0" bIns="0">
            <a:spAutoFit/>
          </a:bodyPr>
          <a:lstStyle/>
          <a:p>
            <a:pPr algn="l">
              <a:lnSpc>
                <a:spcPct val="100000"/>
              </a:lnSpc>
            </a:pPr>
            <a:r>
              <a:rPr sz="1400">
                <a:solidFill>
                  <a:srgbClr val="1A1A1A"/>
                </a:solidFill>
                <a:latin typeface="Courier New"/>
              </a:rPr>
              <a:t>$ python -m pdb loop.py</a:t>
            </a:r>
          </a:p>
          <a:p>
            <a:pPr algn="l">
              <a:lnSpc>
                <a:spcPct val="100000"/>
              </a:lnSpc>
            </a:pPr>
            <a:r>
              <a:rPr sz="1400">
                <a:solidFill>
                  <a:srgbClr val="1A1A1A"/>
                </a:solidFill>
                <a:latin typeface="Courier New"/>
              </a:rPr>
              <a:t>(Pdb) b 4, v &lt; 0</a:t>
            </a:r>
          </a:p>
          <a:p>
            <a:pPr algn="l">
              <a:lnSpc>
                <a:spcPct val="100000"/>
              </a:lnSpc>
            </a:pPr>
            <a:r>
              <a:rPr sz="1400">
                <a:solidFill>
                  <a:srgbClr val="1A1A1A"/>
                </a:solidFill>
                <a:latin typeface="Courier New"/>
              </a:rPr>
              <a:t>Breakpoint 1 at loop.py:4</a:t>
            </a:r>
          </a:p>
          <a:p>
            <a:pPr algn="l">
              <a:lnSpc>
                <a:spcPct val="100000"/>
              </a:lnSpc>
            </a:pPr>
            <a:r>
              <a:rPr sz="1400">
                <a:solidFill>
                  <a:srgbClr val="1A1A1A"/>
                </a:solidFill>
                <a:latin typeface="Courier New"/>
              </a:rPr>
              <a:t>(Pdb) c</a:t>
            </a:r>
          </a:p>
          <a:p>
            <a:pPr algn="l">
              <a:lnSpc>
                <a:spcPct val="100000"/>
              </a:lnSpc>
            </a:pPr>
            <a:r>
              <a:rPr sz="1400">
                <a:solidFill>
                  <a:srgbClr val="1A1A1A"/>
                </a:solidFill>
                <a:latin typeface="Courier New"/>
              </a:rPr>
              <a:t>&gt; loop.py(4)check()</a:t>
            </a:r>
          </a:p>
          <a:p>
            <a:pPr algn="l">
              <a:lnSpc>
                <a:spcPct val="100000"/>
              </a:lnSpc>
            </a:pPr>
            <a:r>
              <a:rPr sz="1400">
                <a:solidFill>
                  <a:srgbClr val="1A1A1A"/>
                </a:solidFill>
                <a:latin typeface="Courier New"/>
              </a:rPr>
              <a:t>-&gt; if v &lt; 0:</a:t>
            </a:r>
          </a:p>
          <a:p>
            <a:pPr algn="l">
              <a:lnSpc>
                <a:spcPct val="100000"/>
              </a:lnSpc>
            </a:pPr>
            <a:r>
              <a:rPr sz="1400">
                <a:solidFill>
                  <a:srgbClr val="1A1A1A"/>
                </a:solidFill>
                <a:latin typeface="Courier New"/>
              </a:rPr>
              <a:t>(Pdb) p i, v</a:t>
            </a:r>
          </a:p>
          <a:p>
            <a:pPr algn="l">
              <a:lnSpc>
                <a:spcPct val="100000"/>
              </a:lnSpc>
            </a:pPr>
            <a:r>
              <a:rPr sz="1400">
                <a:solidFill>
                  <a:srgbClr val="1A1A1A"/>
                </a:solidFill>
                <a:latin typeface="Courier New"/>
              </a:rPr>
              <a:t>(2, -1)</a:t>
            </a:r>
          </a:p>
          <a:p>
            <a:pPr algn="l">
              <a:lnSpc>
                <a:spcPct val="100000"/>
              </a:lnSpc>
            </a:pPr>
            <a:r>
              <a:rPr sz="1400">
                <a:solidFill>
                  <a:srgbClr val="5C8A8A"/>
                </a:solidFill>
                <a:latin typeface="Courier New"/>
              </a:rPr>
              <a:t># ...</a:t>
            </a:r>
          </a:p>
          <a:p>
            <a:pPr algn="l">
              <a:lnSpc>
                <a:spcPct val="100000"/>
              </a:lnSpc>
            </a:pPr>
            <a:r>
              <a:rPr sz="1400">
                <a:solidFill>
                  <a:srgbClr val="1A1A1A"/>
                </a:solidFill>
                <a:latin typeface="Courier New"/>
              </a:rPr>
              <a:t>(4, -4)</a:t>
            </a:r>
          </a:p>
          <a:p>
            <a:pPr algn="l">
              <a:lnSpc>
                <a:spcPct val="100000"/>
              </a:lnSpc>
            </a:pPr>
            <a:r>
              <a:rPr sz="1400">
                <a:solidFill>
                  <a:srgbClr val="1A1A1A"/>
                </a:solidFill>
                <a:latin typeface="Courier New"/>
              </a:rPr>
              <a:t>(Pdb) c</a:t>
            </a:r>
          </a:p>
          <a:p>
            <a:pPr algn="l">
              <a:lnSpc>
                <a:spcPct val="100000"/>
              </a:lnSpc>
            </a:pPr>
            <a:r>
              <a:rPr sz="1400">
                <a:solidFill>
                  <a:srgbClr val="1A1A1A"/>
                </a:solidFill>
                <a:latin typeface="Courier New"/>
              </a:rPr>
              <a:t>[2, 4]</a:t>
            </a:r>
          </a:p>
        </p:txBody>
      </p:sp>
      <p:sp>
        <p:nvSpPr>
          <p:cNvPr id="6" name="Oval 5"/>
          <p:cNvSpPr/>
          <p:nvPr/>
        </p:nvSpPr>
        <p:spPr>
          <a:xfrm>
            <a:off x="65535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7" name="TextBox 6"/>
          <p:cNvSpPr txBox="1"/>
          <p:nvPr/>
        </p:nvSpPr>
        <p:spPr>
          <a:xfrm>
            <a:off x="7102144" y="1819656"/>
            <a:ext cx="447964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b 4, v &lt; 0</a:t>
            </a:r>
          </a:p>
          <a:p>
            <a:pPr algn="l">
              <a:lnSpc>
                <a:spcPct val="110000"/>
              </a:lnSpc>
              <a:spcAft>
                <a:spcPts val="600"/>
              </a:spcAft>
            </a:pPr>
            <a:r>
              <a:rPr sz="1400" b="0" i="0">
                <a:solidFill>
                  <a:srgbClr val="1A1A1A"/>
                </a:solidFill>
                <a:latin typeface="Arial"/>
              </a:rPr>
              <a:t>Break on line 4 only when </a:t>
            </a:r>
            <a:r>
              <a:rPr sz="1350" b="0" i="0">
                <a:solidFill>
                  <a:srgbClr val="330066"/>
                </a:solidFill>
                <a:latin typeface="Courier New"/>
              </a:rPr>
              <a:t>v &lt; 0</a:t>
            </a:r>
            <a:r>
              <a:rPr sz="1400" b="0" i="0">
                <a:solidFill>
                  <a:srgbClr val="1A1A1A"/>
                </a:solidFill>
                <a:latin typeface="Arial"/>
              </a:rPr>
              <a:t>.</a:t>
            </a:r>
          </a:p>
        </p:txBody>
      </p:sp>
      <p:sp>
        <p:nvSpPr>
          <p:cNvPr id="8" name="Oval 7"/>
          <p:cNvSpPr/>
          <p:nvPr/>
        </p:nvSpPr>
        <p:spPr>
          <a:xfrm>
            <a:off x="6553504" y="241839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9" name="TextBox 8"/>
          <p:cNvSpPr txBox="1"/>
          <p:nvPr/>
        </p:nvSpPr>
        <p:spPr>
          <a:xfrm>
            <a:off x="7102144" y="2454973"/>
            <a:ext cx="447964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p i, v</a:t>
            </a:r>
          </a:p>
          <a:p>
            <a:pPr algn="l">
              <a:lnSpc>
                <a:spcPct val="110000"/>
              </a:lnSpc>
              <a:spcAft>
                <a:spcPts val="600"/>
              </a:spcAft>
            </a:pPr>
            <a:r>
              <a:rPr sz="1400" b="0" i="0">
                <a:solidFill>
                  <a:srgbClr val="1A1A1A"/>
                </a:solidFill>
                <a:latin typeface="Arial"/>
              </a:rPr>
              <a:t>Shows </a:t>
            </a:r>
            <a:r>
              <a:rPr sz="1350" b="0" i="0">
                <a:solidFill>
                  <a:srgbClr val="330066"/>
                </a:solidFill>
                <a:latin typeface="Courier New"/>
              </a:rPr>
              <a:t>(2, -1)</a:t>
            </a:r>
            <a:r>
              <a:rPr sz="1400" b="0" i="0">
                <a:solidFill>
                  <a:srgbClr val="1A1A1A"/>
                </a:solidFill>
                <a:latin typeface="Arial"/>
              </a:rPr>
              <a:t>, then </a:t>
            </a:r>
            <a:r>
              <a:rPr sz="1350" b="0" i="0">
                <a:solidFill>
                  <a:srgbClr val="330066"/>
                </a:solidFill>
                <a:latin typeface="Courier New"/>
              </a:rPr>
              <a:t>(4, -4)</a:t>
            </a:r>
            <a:r>
              <a:rPr sz="1400" b="0" i="0">
                <a:solidFill>
                  <a:srgbClr val="1A1A1A"/>
                </a:solidFill>
                <a:latin typeface="Arial"/>
              </a:rPr>
              <a:t> on the next stop.</a:t>
            </a:r>
          </a:p>
        </p:txBody>
      </p:sp>
      <p:sp>
        <p:nvSpPr>
          <p:cNvPr id="10" name="Oval 9"/>
          <p:cNvSpPr/>
          <p:nvPr/>
        </p:nvSpPr>
        <p:spPr>
          <a:xfrm>
            <a:off x="6553504" y="327596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1" name="TextBox 10"/>
          <p:cNvSpPr txBox="1"/>
          <p:nvPr/>
        </p:nvSpPr>
        <p:spPr>
          <a:xfrm>
            <a:off x="7102144" y="3312541"/>
            <a:ext cx="447964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Skipped</a:t>
            </a:r>
          </a:p>
          <a:p>
            <a:pPr algn="l">
              <a:lnSpc>
                <a:spcPct val="110000"/>
              </a:lnSpc>
              <a:spcAft>
                <a:spcPts val="600"/>
              </a:spcAft>
            </a:pPr>
            <a:r>
              <a:rPr sz="1400" b="0" i="0">
                <a:solidFill>
                  <a:srgbClr val="1A1A1A"/>
                </a:solidFill>
                <a:latin typeface="Arial"/>
              </a:rPr>
              <a:t>The values </a:t>
            </a:r>
            <a:r>
              <a:rPr sz="1350" b="0" i="0">
                <a:solidFill>
                  <a:srgbClr val="330066"/>
                </a:solidFill>
                <a:latin typeface="Courier New"/>
              </a:rPr>
              <a:t>5</a:t>
            </a:r>
            <a:r>
              <a:rPr sz="1400" b="0" i="0">
                <a:solidFill>
                  <a:srgbClr val="1A1A1A"/>
                </a:solidFill>
                <a:latin typeface="Arial"/>
              </a:rPr>
              <a:t>, </a:t>
            </a:r>
            <a:r>
              <a:rPr sz="1350" b="0" i="0">
                <a:solidFill>
                  <a:srgbClr val="330066"/>
                </a:solidFill>
                <a:latin typeface="Courier New"/>
              </a:rPr>
              <a:t>3</a:t>
            </a:r>
            <a:r>
              <a:rPr sz="1400" b="0" i="0">
                <a:solidFill>
                  <a:srgbClr val="1A1A1A"/>
                </a:solidFill>
                <a:latin typeface="Arial"/>
              </a:rPr>
              <a:t> and </a:t>
            </a:r>
            <a:r>
              <a:rPr sz="1350" b="0" i="0">
                <a:solidFill>
                  <a:srgbClr val="330066"/>
                </a:solidFill>
                <a:latin typeface="Courier New"/>
              </a:rPr>
              <a:t>8</a:t>
            </a:r>
            <a:r>
              <a:rPr sz="1400" b="0" i="0">
                <a:solidFill>
                  <a:srgbClr val="1A1A1A"/>
                </a:solidFill>
                <a:latin typeface="Arial"/>
              </a:rPr>
              <a:t> never stopped the program.</a:t>
            </a:r>
          </a:p>
        </p:txBody>
      </p:sp>
      <p:sp>
        <p:nvSpPr>
          <p:cNvPr id="12" name="TextBox 11"/>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41 / 63</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Post-Mortem Debugging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7.7</a:t>
            </a:r>
          </a:p>
        </p:txBody>
      </p:sp>
      <p:sp>
        <p:nvSpPr>
          <p:cNvPr id="4" name="Rounded Rectangle 3"/>
          <p:cNvSpPr/>
          <p:nvPr/>
        </p:nvSpPr>
        <p:spPr>
          <a:xfrm>
            <a:off x="609904" y="1783080"/>
            <a:ext cx="6400800" cy="2273807"/>
          </a:xfrm>
          <a:prstGeom prst="roundRect">
            <a:avLst>
              <a:gd name="adj" fmla="val 3217"/>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1981199"/>
          </a:xfrm>
          <a:prstGeom prst="rect">
            <a:avLst/>
          </a:prstGeom>
          <a:noFill/>
        </p:spPr>
        <p:txBody>
          <a:bodyPr wrap="square" lIns="0" tIns="0" rIns="0" bIns="0">
            <a:spAutoFit/>
          </a:bodyPr>
          <a:lstStyle/>
          <a:p>
            <a:pPr algn="l">
              <a:lnSpc>
                <a:spcPct val="100000"/>
              </a:lnSpc>
            </a:pPr>
            <a:r>
              <a:rPr sz="1300">
                <a:solidFill>
                  <a:srgbClr val="1A1A1A"/>
                </a:solidFill>
                <a:latin typeface="Courier New"/>
              </a:rPr>
              <a:t>$ python -m pdb -c continue cart.py</a:t>
            </a:r>
          </a:p>
          <a:p>
            <a:pPr algn="l">
              <a:lnSpc>
                <a:spcPct val="100000"/>
              </a:lnSpc>
            </a:pPr>
            <a:r>
              <a:rPr sz="1300">
                <a:solidFill>
                  <a:srgbClr val="1A1A1A"/>
                </a:solidFill>
                <a:latin typeface="Courier New"/>
              </a:rPr>
              <a:t>Traceback (most recent call last):</a:t>
            </a:r>
          </a:p>
          <a:p>
            <a:pPr algn="l">
              <a:lnSpc>
                <a:spcPct val="100000"/>
              </a:lnSpc>
            </a:pPr>
            <a:r>
              <a:rPr sz="1300">
                <a:solidFill>
                  <a:srgbClr val="1A1A1A"/>
                </a:solidFill>
                <a:latin typeface="Courier New"/>
              </a:rPr>
              <a:t>  ...</a:t>
            </a:r>
          </a:p>
          <a:p>
            <a:pPr algn="l">
              <a:lnSpc>
                <a:spcPct val="100000"/>
              </a:lnSpc>
            </a:pPr>
            <a:r>
              <a:rPr sz="1300">
                <a:solidFill>
                  <a:srgbClr val="1A1A1A"/>
                </a:solidFill>
                <a:latin typeface="Courier New"/>
              </a:rPr>
              <a:t>KeyError: 'discount'</a:t>
            </a:r>
          </a:p>
          <a:p>
            <a:pPr algn="l">
              <a:lnSpc>
                <a:spcPct val="100000"/>
              </a:lnSpc>
            </a:pPr>
            <a:r>
              <a:rPr sz="1300">
                <a:solidFill>
                  <a:srgbClr val="1A1A1A"/>
                </a:solidFill>
                <a:latin typeface="Courier New"/>
              </a:rPr>
              <a:t>Uncaught exception. Entering post mortem debugging</a:t>
            </a:r>
          </a:p>
          <a:p>
            <a:pPr algn="l">
              <a:lnSpc>
                <a:spcPct val="100000"/>
              </a:lnSpc>
            </a:pPr>
            <a:r>
              <a:rPr sz="1300">
                <a:solidFill>
                  <a:srgbClr val="1A1A1A"/>
                </a:solidFill>
                <a:latin typeface="Courier New"/>
              </a:rPr>
              <a:t>Running 'cont' or 'step' will restart the program</a:t>
            </a:r>
          </a:p>
          <a:p>
            <a:pPr algn="l">
              <a:lnSpc>
                <a:spcPct val="100000"/>
              </a:lnSpc>
            </a:pPr>
            <a:r>
              <a:rPr sz="1300">
                <a:solidFill>
                  <a:srgbClr val="1A1A1A"/>
                </a:solidFill>
                <a:latin typeface="Courier New"/>
              </a:rPr>
              <a:t>&gt; cart.py(9)cart_total()</a:t>
            </a:r>
          </a:p>
          <a:p>
            <a:pPr algn="l">
              <a:lnSpc>
                <a:spcPct val="100000"/>
              </a:lnSpc>
            </a:pPr>
            <a:r>
              <a:rPr sz="1300">
                <a:solidFill>
                  <a:srgbClr val="1A1A1A"/>
                </a:solidFill>
                <a:latin typeface="Courier New"/>
              </a:rPr>
              <a:t>-&gt; total += apply_discount(item["price"], item["discount"])</a:t>
            </a:r>
          </a:p>
          <a:p>
            <a:pPr algn="l">
              <a:lnSpc>
                <a:spcPct val="100000"/>
              </a:lnSpc>
            </a:pPr>
            <a:r>
              <a:rPr sz="1300">
                <a:solidFill>
                  <a:srgbClr val="1A1A1A"/>
                </a:solidFill>
                <a:latin typeface="Courier New"/>
              </a:rPr>
              <a:t>(Pdb) p item</a:t>
            </a:r>
          </a:p>
          <a:p>
            <a:pPr algn="l">
              <a:lnSpc>
                <a:spcPct val="100000"/>
              </a:lnSpc>
            </a:pPr>
            <a:r>
              <a:rPr sz="1300">
                <a:solidFill>
                  <a:srgbClr val="1A1A1A"/>
                </a:solidFill>
                <a:latin typeface="Courier New"/>
              </a:rPr>
              <a:t>{'name': 'book', 'price': 15.0}</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For the earlier </a:t>
            </a:r>
            <a:r>
              <a:rPr sz="1350" b="0" i="0">
                <a:solidFill>
                  <a:srgbClr val="330066"/>
                </a:solidFill>
                <a:latin typeface="Courier New"/>
              </a:rPr>
              <a:t>cart.py</a:t>
            </a:r>
            <a:r>
              <a:rPr sz="1400" b="0" i="0">
                <a:solidFill>
                  <a:srgbClr val="1A1A1A"/>
                </a:solidFill>
                <a:latin typeface="Arial"/>
              </a:rPr>
              <a:t> crash.</a:t>
            </a:r>
          </a:p>
          <a:p>
            <a:pPr marL="228600" indent="-228600" algn="l">
              <a:spcAft>
                <a:spcPts val="800"/>
              </a:spcAft>
              <a:buFont typeface="Arial"/>
              <a:buChar char="•"/>
            </a:pPr>
            <a:r>
              <a:rPr sz="1400" b="0" i="0">
                <a:solidFill>
                  <a:srgbClr val="1A1A1A"/>
                </a:solidFill>
                <a:latin typeface="Arial"/>
              </a:rPr>
              <a:t>We see the exact object lacking the key: the second item.</a:t>
            </a:r>
          </a:p>
          <a:p>
            <a:pPr marL="228600" indent="-228600" algn="l">
              <a:spcAft>
                <a:spcPts val="800"/>
              </a:spcAft>
              <a:buFont typeface="Arial"/>
              <a:buChar char="•"/>
            </a:pPr>
            <a:r>
              <a:rPr sz="1400" b="0" i="0">
                <a:solidFill>
                  <a:srgbClr val="1A1A1A"/>
                </a:solidFill>
                <a:latin typeface="Arial"/>
              </a:rPr>
              <a:t>In an interactive session after a crash, </a:t>
            </a:r>
            <a:r>
              <a:rPr sz="1350" b="0" i="0">
                <a:solidFill>
                  <a:srgbClr val="330066"/>
                </a:solidFill>
                <a:latin typeface="Courier New"/>
              </a:rPr>
              <a:t>import pdb; pdb.pm()</a:t>
            </a:r>
            <a:r>
              <a:rPr sz="1400" b="0" i="0">
                <a:solidFill>
                  <a:srgbClr val="1A1A1A"/>
                </a:solidFill>
                <a:latin typeface="Arial"/>
              </a:rPr>
              <a:t> inspects the last exception.</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42 / 63</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Isolating the Problem</a:t>
            </a:r>
          </a:p>
        </p:txBody>
      </p:sp>
      <p:sp>
        <p:nvSpPr>
          <p:cNvPr id="3" name="Text Placeholder 2"/>
          <p:cNvSpPr>
            <a:spLocks noGrp="1"/>
          </p:cNvSpPr>
          <p:nvPr>
            <p:ph type="body" idx="1"/>
          </p:nvPr>
        </p:nvSpPr>
        <p:spPr/>
        <p:txBody>
          <a:bodyPr/>
          <a:lstStyle/>
          <a:p>
            <a:r>
              <a:rPr sz="1800">
                <a:solidFill>
                  <a:srgbClr val="5A5A5A"/>
                </a:solidFill>
              </a:rPr>
              <a:t>MRE, binary search, comparing, the obvious, rubber duck</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05</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43 / 63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Minimal Reproducible Example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8.1</a:t>
            </a:r>
          </a:p>
        </p:txBody>
      </p:sp>
      <p:sp>
        <p:nvSpPr>
          <p:cNvPr id="4" name="Rounded Rectangle 3"/>
          <p:cNvSpPr/>
          <p:nvPr/>
        </p:nvSpPr>
        <p:spPr>
          <a:xfrm>
            <a:off x="609904" y="1783080"/>
            <a:ext cx="6400800" cy="978408"/>
          </a:xfrm>
          <a:prstGeom prst="roundRect">
            <a:avLst>
              <a:gd name="adj" fmla="val 747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685800"/>
          </a:xfrm>
          <a:prstGeom prst="rect">
            <a:avLst/>
          </a:prstGeom>
          <a:noFill/>
        </p:spPr>
        <p:txBody>
          <a:bodyPr wrap="square" lIns="0" tIns="0" rIns="0" bIns="0">
            <a:spAutoFit/>
          </a:bodyPr>
          <a:lstStyle/>
          <a:p>
            <a:pPr algn="l">
              <a:lnSpc>
                <a:spcPct val="100000"/>
              </a:lnSpc>
            </a:pPr>
            <a:r>
              <a:rPr sz="1500">
                <a:solidFill>
                  <a:srgbClr val="5C8A8A"/>
                </a:solidFill>
                <a:latin typeface="Courier New"/>
              </a:rPr>
              <a:t># From a 500-line test suite down to this:</a:t>
            </a:r>
          </a:p>
          <a:p>
            <a:pPr algn="l">
              <a:lnSpc>
                <a:spcPct val="100000"/>
              </a:lnSpc>
            </a:pPr>
            <a:r>
              <a:rPr sz="1500">
                <a:solidFill>
                  <a:srgbClr val="1A1A1A"/>
                </a:solidFill>
                <a:latin typeface="Courier New"/>
              </a:rPr>
              <a:t>cart = [{"name": "book", "price": 15.0}]</a:t>
            </a:r>
          </a:p>
          <a:p>
            <a:pPr algn="l">
              <a:lnSpc>
                <a:spcPct val="100000"/>
              </a:lnSpc>
            </a:pPr>
            <a:r>
              <a:rPr sz="1500">
                <a:solidFill>
                  <a:srgbClr val="1A1A1A"/>
                </a:solidFill>
                <a:latin typeface="Courier New"/>
              </a:rPr>
              <a:t>cart[0]["discount"]          # KeyError: 'discount'</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500" b="0" i="0">
                <a:solidFill>
                  <a:srgbClr val="1A1A1A"/>
                </a:solidFill>
                <a:latin typeface="Arial"/>
              </a:rPr>
              <a:t>Strip away everything not needed until you have the smallest code that still fails.</a:t>
            </a:r>
          </a:p>
          <a:p>
            <a:pPr marL="228600" indent="-228600" algn="l">
              <a:spcAft>
                <a:spcPts val="800"/>
              </a:spcAft>
              <a:buFont typeface="Arial"/>
              <a:buChar char="•"/>
            </a:pPr>
            <a:r>
              <a:rPr sz="1500" b="0" i="0">
                <a:solidFill>
                  <a:srgbClr val="1A1A1A"/>
                </a:solidFill>
                <a:latin typeface="Arial"/>
              </a:rPr>
              <a:t>Often you find the cause while shrinking.</a:t>
            </a:r>
          </a:p>
          <a:p>
            <a:pPr marL="228600" indent="-228600" algn="l">
              <a:spcAft>
                <a:spcPts val="800"/>
              </a:spcAft>
              <a:buFont typeface="Arial"/>
              <a:buChar char="•"/>
            </a:pPr>
            <a:r>
              <a:rPr sz="1500" b="0" i="0">
                <a:solidFill>
                  <a:srgbClr val="1A1A1A"/>
                </a:solidFill>
                <a:latin typeface="Arial"/>
              </a:rPr>
              <a:t>It is what a colleague or an online search will ask for, and a good basis for a unit test.</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44 / 63</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Binary Search and Comparing Cases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8.2 AND 8.3</a:t>
            </a:r>
          </a:p>
        </p:txBody>
      </p:sp>
      <p:sp>
        <p:nvSpPr>
          <p:cNvPr id="4" name="Rounded Rectangle 3"/>
          <p:cNvSpPr/>
          <p:nvPr/>
        </p:nvSpPr>
        <p:spPr>
          <a:xfrm>
            <a:off x="609904" y="1783080"/>
            <a:ext cx="5348782" cy="4361688"/>
          </a:xfrm>
          <a:prstGeom prst="roundRect">
            <a:avLst>
              <a:gd name="adj" fmla="val 1886"/>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4891582"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Binary search (divide and conquer)</a:t>
            </a:r>
          </a:p>
          <a:p>
            <a:pPr algn="l">
              <a:lnSpc>
                <a:spcPct val="110000"/>
              </a:lnSpc>
              <a:spcAft>
                <a:spcPts val="600"/>
              </a:spcAft>
            </a:pPr>
            <a:r>
              <a:rPr sz="1350" b="0" i="0">
                <a:solidFill>
                  <a:srgbClr val="1A1A1A"/>
                </a:solidFill>
                <a:latin typeface="Arial"/>
              </a:rPr>
              <a:t>Check the state at the middle of the process. Already wrong there: the bug is in the first half; otherwise the second. Repeat. Ten checks can locate a bug among a thousand lines. Works on test data and on code changes (comment out half the new code).</a:t>
            </a:r>
          </a:p>
        </p:txBody>
      </p:sp>
      <p:sp>
        <p:nvSpPr>
          <p:cNvPr id="6" name="Rounded Rectangle 5"/>
          <p:cNvSpPr/>
          <p:nvPr/>
        </p:nvSpPr>
        <p:spPr>
          <a:xfrm>
            <a:off x="6233007" y="1783080"/>
            <a:ext cx="5348782" cy="4361688"/>
          </a:xfrm>
          <a:prstGeom prst="roundRect">
            <a:avLst>
              <a:gd name="adj" fmla="val 1886"/>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61607" y="1965960"/>
            <a:ext cx="4891582"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Compare working and failing cases</a:t>
            </a:r>
          </a:p>
          <a:p>
            <a:pPr algn="l">
              <a:lnSpc>
                <a:spcPct val="110000"/>
              </a:lnSpc>
              <a:spcAft>
                <a:spcPts val="600"/>
              </a:spcAft>
            </a:pPr>
            <a:r>
              <a:rPr sz="1350" b="0" i="0">
                <a:solidFill>
                  <a:srgbClr val="1A1A1A"/>
                </a:solidFill>
                <a:latin typeface="Arial"/>
              </a:rPr>
              <a:t>"It works for user A but fails for user B." List differences in inputs, data, environment, versions, time, and test each. Especially good for flaky tests: run them 20 times and compare passes with failures.</a:t>
            </a:r>
          </a:p>
        </p:txBody>
      </p:sp>
      <p:sp>
        <p:nvSpPr>
          <p:cNvPr id="8" name="TextBox 7"/>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45 / 63</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Check the Obvious First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8.4</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Is the correct virtual environment active, and is the package installed there? (Monday)</a:t>
            </a:r>
          </a:p>
          <a:p>
            <a:pPr marL="228600" indent="-228600" algn="l">
              <a:spcAft>
                <a:spcPts val="1000"/>
              </a:spcAft>
              <a:buFont typeface="Arial"/>
              <a:buChar char="•"/>
            </a:pPr>
            <a:r>
              <a:rPr sz="1700" b="0" i="0">
                <a:solidFill>
                  <a:srgbClr val="1A1A1A"/>
                </a:solidFill>
                <a:latin typeface="Arial"/>
              </a:rPr>
              <a:t>Am I running the file I think I am running, from the directory I think I am in? Are my edits saved?</a:t>
            </a:r>
          </a:p>
          <a:p>
            <a:pPr marL="228600" indent="-228600" algn="l">
              <a:spcAft>
                <a:spcPts val="1000"/>
              </a:spcAft>
              <a:buFont typeface="Arial"/>
              <a:buChar char="•"/>
            </a:pPr>
            <a:r>
              <a:rPr sz="1700" b="0" i="0">
                <a:solidFill>
                  <a:srgbClr val="1A1A1A"/>
                </a:solidFill>
                <a:latin typeface="Arial"/>
              </a:rPr>
              <a:t>Is there a stale </a:t>
            </a:r>
            <a:r>
              <a:rPr sz="1650" b="0" i="0">
                <a:solidFill>
                  <a:srgbClr val="330066"/>
                </a:solidFill>
                <a:latin typeface="Courier New"/>
              </a:rPr>
              <a:t>.pyc</a:t>
            </a:r>
            <a:r>
              <a:rPr sz="1700" b="0" i="0">
                <a:solidFill>
                  <a:srgbClr val="1A1A1A"/>
                </a:solidFill>
                <a:latin typeface="Arial"/>
              </a:rPr>
              <a:t>, an old module copy, or a file named like a standard library module? A </a:t>
            </a:r>
            <a:r>
              <a:rPr sz="1650" b="0" i="0">
                <a:solidFill>
                  <a:srgbClr val="330066"/>
                </a:solidFill>
                <a:latin typeface="Courier New"/>
              </a:rPr>
              <a:t>random.py</a:t>
            </a:r>
            <a:r>
              <a:rPr sz="1700" b="0" i="0">
                <a:solidFill>
                  <a:srgbClr val="1A1A1A"/>
                </a:solidFill>
                <a:latin typeface="Arial"/>
              </a:rPr>
              <a:t> or </a:t>
            </a:r>
            <a:r>
              <a:rPr sz="1650" b="0" i="0">
                <a:solidFill>
                  <a:srgbClr val="330066"/>
                </a:solidFill>
                <a:latin typeface="Courier New"/>
              </a:rPr>
              <a:t>logging.py</a:t>
            </a:r>
            <a:r>
              <a:rPr sz="1700" b="0" i="0">
                <a:solidFill>
                  <a:srgbClr val="1A1A1A"/>
                </a:solidFill>
                <a:latin typeface="Arial"/>
              </a:rPr>
              <a:t> in your project shadows the real one.</a:t>
            </a:r>
          </a:p>
          <a:p>
            <a:pPr marL="228600" indent="-228600" algn="l">
              <a:spcAft>
                <a:spcPts val="1000"/>
              </a:spcAft>
              <a:buFont typeface="Arial"/>
              <a:buChar char="•"/>
            </a:pPr>
            <a:r>
              <a:rPr sz="1700" b="0" i="0">
                <a:solidFill>
                  <a:srgbClr val="1A1A1A"/>
                </a:solidFill>
                <a:latin typeface="Arial"/>
              </a:rPr>
              <a:t>Did I misspell a name? Is the data text when I expect a number (</a:t>
            </a:r>
            <a:r>
              <a:rPr sz="1650" b="0" i="0">
                <a:solidFill>
                  <a:srgbClr val="330066"/>
                </a:solidFill>
                <a:latin typeface="Courier New"/>
              </a:rPr>
              <a:t>"5"</a:t>
            </a:r>
            <a:r>
              <a:rPr sz="1700" b="0" i="0">
                <a:solidFill>
                  <a:srgbClr val="1A1A1A"/>
                </a:solidFill>
                <a:latin typeface="Arial"/>
              </a:rPr>
              <a:t> versus </a:t>
            </a:r>
            <a:r>
              <a:rPr sz="1650" b="0" i="0">
                <a:solidFill>
                  <a:srgbClr val="330066"/>
                </a:solidFill>
                <a:latin typeface="Courier New"/>
              </a:rPr>
              <a:t>5</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Did the environment, test data or an external service change?</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46 / 63</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Rubber-Duck Debugging</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8.5</a:t>
            </a:r>
          </a:p>
        </p:txBody>
      </p:sp>
      <p:sp>
        <p:nvSpPr>
          <p:cNvPr id="4" name="Rounded Rectangle 3"/>
          <p:cNvSpPr/>
          <p:nvPr/>
        </p:nvSpPr>
        <p:spPr>
          <a:xfrm>
            <a:off x="609904" y="1783080"/>
            <a:ext cx="10971885" cy="1645920"/>
          </a:xfrm>
          <a:prstGeom prst="roundRect">
            <a:avLst>
              <a:gd name="adj" fmla="val 5000"/>
            </a:avLst>
          </a:prstGeom>
          <a:solidFill>
            <a:srgbClr val="F5F5C2"/>
          </a:solidFill>
          <a:ln w="12700">
            <a:solidFill>
              <a:srgbClr val="F5F5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20240"/>
            <a:ext cx="10514685" cy="1371600"/>
          </a:xfrm>
          <a:prstGeom prst="rect">
            <a:avLst/>
          </a:prstGeom>
          <a:noFill/>
        </p:spPr>
        <p:txBody>
          <a:bodyPr wrap="square" lIns="0" tIns="0" rIns="0" bIns="0" anchor="t">
            <a:spAutoFit/>
          </a:bodyPr>
          <a:lstStyle/>
          <a:p>
            <a:pPr algn="l">
              <a:lnSpc>
                <a:spcPct val="110000"/>
              </a:lnSpc>
              <a:spcAft>
                <a:spcPts val="300"/>
              </a:spcAft>
            </a:pPr>
            <a:r>
              <a:rPr sz="1100" b="1" i="0">
                <a:solidFill>
                  <a:srgbClr val="5C8A8A"/>
                </a:solidFill>
                <a:latin typeface="Arial"/>
              </a:rPr>
              <a:t>RUBBER DUCK</a:t>
            </a:r>
          </a:p>
          <a:p>
            <a:pPr algn="l">
              <a:lnSpc>
                <a:spcPct val="110000"/>
              </a:lnSpc>
              <a:spcAft>
                <a:spcPts val="600"/>
              </a:spcAft>
            </a:pPr>
            <a:r>
              <a:rPr sz="1400" b="0" i="0">
                <a:solidFill>
                  <a:srgbClr val="1A1A1A"/>
                </a:solidFill>
                <a:latin typeface="Arial"/>
              </a:rPr>
              <a:t>Explain the code, line by line and out loud, to a rubber duck (or a colleague, or a text box). Putting what you expect each line to do into words often exposes the line where reality differs. It sounds silly and works astonishingly well.</a:t>
            </a:r>
          </a:p>
        </p:txBody>
      </p:sp>
      <p:sp>
        <p:nvSpPr>
          <p:cNvPr id="6" name="TextBox 5"/>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47 / 63</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IDE Debuggers and Tests</a:t>
            </a:r>
          </a:p>
        </p:txBody>
      </p:sp>
      <p:sp>
        <p:nvSpPr>
          <p:cNvPr id="3" name="Text Placeholder 2"/>
          <p:cNvSpPr>
            <a:spLocks noGrp="1"/>
          </p:cNvSpPr>
          <p:nvPr>
            <p:ph type="body" idx="1"/>
          </p:nvPr>
        </p:nvSpPr>
        <p:spPr/>
        <p:txBody>
          <a:bodyPr/>
          <a:lstStyle/>
          <a:p>
            <a:r>
              <a:rPr sz="1800">
                <a:solidFill>
                  <a:srgbClr val="5A5A5A"/>
                </a:solidFill>
              </a:rPr>
              <a:t>Visual debugging and debugging test automation</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06</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48 / 63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Technique 5: The IDE Debugger</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9</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VS Code (Python extension) and PyCharm give a graphical front end to the same ideas as </a:t>
            </a:r>
            <a:r>
              <a:rPr sz="1650" b="0" i="0">
                <a:solidFill>
                  <a:srgbClr val="330066"/>
                </a:solidFill>
                <a:latin typeface="Courier New"/>
              </a:rPr>
              <a:t>pdb</a:t>
            </a:r>
            <a:r>
              <a:rPr sz="1700" b="0" i="0">
                <a:solidFill>
                  <a:srgbClr val="1A1A1A"/>
                </a:solidFill>
                <a:latin typeface="Arial"/>
              </a:rPr>
              <a:t>.</a:t>
            </a:r>
          </a:p>
          <a:p>
            <a:pPr marL="228600" indent="-228600" algn="l">
              <a:spcAft>
                <a:spcPts val="1000"/>
              </a:spcAft>
              <a:buFont typeface="Arial"/>
              <a:buChar char="•"/>
            </a:pPr>
            <a:r>
              <a:rPr sz="1700" b="0" i="0">
                <a:solidFill>
                  <a:srgbClr val="1A1A1A"/>
                </a:solidFill>
                <a:latin typeface="Arial"/>
              </a:rPr>
              <a:t>Breakpoint: click in the gutter next to a line number (red dot). Run in Debug mode, not Run.</a:t>
            </a:r>
          </a:p>
          <a:p>
            <a:pPr marL="228600" indent="-228600" algn="l">
              <a:spcAft>
                <a:spcPts val="1000"/>
              </a:spcAft>
              <a:buFont typeface="Arial"/>
              <a:buChar char="•"/>
            </a:pPr>
            <a:r>
              <a:rPr sz="1700" b="0" i="0">
                <a:solidFill>
                  <a:srgbClr val="1A1A1A"/>
                </a:solidFill>
                <a:latin typeface="Arial"/>
              </a:rPr>
              <a:t>Variables panel: local and global variables; expand lists, dicts, objects.</a:t>
            </a:r>
          </a:p>
          <a:p>
            <a:pPr marL="228600" indent="-228600" algn="l">
              <a:spcAft>
                <a:spcPts val="1000"/>
              </a:spcAft>
              <a:buFont typeface="Arial"/>
              <a:buChar char="•"/>
            </a:pPr>
            <a:r>
              <a:rPr sz="1700" b="0" i="0">
                <a:solidFill>
                  <a:srgbClr val="1A1A1A"/>
                </a:solidFill>
                <a:latin typeface="Arial"/>
              </a:rPr>
              <a:t>Watch expressions: any expression (</a:t>
            </a:r>
            <a:r>
              <a:rPr sz="1650" b="0" i="0">
                <a:solidFill>
                  <a:srgbClr val="330066"/>
                </a:solidFill>
                <a:latin typeface="Courier New"/>
              </a:rPr>
              <a:t>total / len(values)</a:t>
            </a:r>
            <a:r>
              <a:rPr sz="1700" b="0" i="0">
                <a:solidFill>
                  <a:srgbClr val="1A1A1A"/>
                </a:solidFill>
                <a:latin typeface="Arial"/>
              </a:rPr>
              <a:t>) re-evaluated every time you stop.</a:t>
            </a:r>
          </a:p>
          <a:p>
            <a:pPr marL="228600" indent="-228600" algn="l">
              <a:spcAft>
                <a:spcPts val="1000"/>
              </a:spcAft>
              <a:buFont typeface="Arial"/>
              <a:buChar char="•"/>
            </a:pPr>
            <a:r>
              <a:rPr sz="1700" b="0" i="0">
                <a:solidFill>
                  <a:srgbClr val="1A1A1A"/>
                </a:solidFill>
                <a:latin typeface="Arial"/>
              </a:rPr>
              <a:t>Call stack panel: the same information as </a:t>
            </a:r>
            <a:r>
              <a:rPr sz="1650" b="0" i="0">
                <a:solidFill>
                  <a:srgbClr val="330066"/>
                </a:solidFill>
                <a:latin typeface="Courier New"/>
              </a:rPr>
              <a:t>w</a:t>
            </a:r>
            <a:r>
              <a:rPr sz="1700" b="0" i="0">
                <a:solidFill>
                  <a:srgbClr val="1A1A1A"/>
                </a:solidFill>
                <a:latin typeface="Arial"/>
              </a:rPr>
              <a:t>, clickable.</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49 / 63</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IDE: Stepping and More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9</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Stepping buttons</a:t>
            </a:r>
          </a:p>
          <a:p>
            <a:pPr algn="l">
              <a:lnSpc>
                <a:spcPct val="110000"/>
              </a:lnSpc>
              <a:spcAft>
                <a:spcPts val="600"/>
              </a:spcAft>
            </a:pPr>
            <a:r>
              <a:rPr sz="1400" b="0" i="0">
                <a:solidFill>
                  <a:srgbClr val="1A1A1A"/>
                </a:solidFill>
                <a:latin typeface="Arial"/>
              </a:rPr>
              <a:t>Step Over (like </a:t>
            </a:r>
            <a:r>
              <a:rPr sz="1350" b="0" i="0">
                <a:solidFill>
                  <a:srgbClr val="330066"/>
                </a:solidFill>
                <a:latin typeface="Courier New"/>
              </a:rPr>
              <a:t>n</a:t>
            </a:r>
            <a:r>
              <a:rPr sz="1400" b="0" i="0">
                <a:solidFill>
                  <a:srgbClr val="1A1A1A"/>
                </a:solidFill>
                <a:latin typeface="Arial"/>
              </a:rPr>
              <a:t>), Step Into (like </a:t>
            </a:r>
            <a:r>
              <a:rPr sz="1350" b="0" i="0">
                <a:solidFill>
                  <a:srgbClr val="330066"/>
                </a:solidFill>
                <a:latin typeface="Courier New"/>
              </a:rPr>
              <a:t>s</a:t>
            </a:r>
            <a:r>
              <a:rPr sz="1400" b="0" i="0">
                <a:solidFill>
                  <a:srgbClr val="1A1A1A"/>
                </a:solidFill>
                <a:latin typeface="Arial"/>
              </a:rPr>
              <a:t>), Step Out (like </a:t>
            </a:r>
            <a:r>
              <a:rPr sz="1350" b="0" i="0">
                <a:solidFill>
                  <a:srgbClr val="330066"/>
                </a:solidFill>
                <a:latin typeface="Courier New"/>
              </a:rPr>
              <a:t>r</a:t>
            </a:r>
            <a:r>
              <a:rPr sz="1400" b="0" i="0">
                <a:solidFill>
                  <a:srgbClr val="1A1A1A"/>
                </a:solidFill>
                <a:latin typeface="Arial"/>
              </a:rPr>
              <a:t>), Continue (like </a:t>
            </a:r>
            <a:r>
              <a:rPr sz="1350" b="0" i="0">
                <a:solidFill>
                  <a:srgbClr val="330066"/>
                </a:solidFill>
                <a:latin typeface="Courier New"/>
              </a:rPr>
              <a:t>c</a:t>
            </a:r>
            <a:r>
              <a:rPr sz="1400" b="0" i="0">
                <a:solidFill>
                  <a:srgbClr val="1A1A1A"/>
                </a:solidFill>
                <a:latin typeface="Arial"/>
              </a:rPr>
              <a:t>).</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Conditions and logpoints</a:t>
            </a:r>
          </a:p>
          <a:p>
            <a:pPr algn="l">
              <a:lnSpc>
                <a:spcPct val="110000"/>
              </a:lnSpc>
              <a:spcAft>
                <a:spcPts val="600"/>
              </a:spcAft>
            </a:pPr>
            <a:r>
              <a:rPr sz="1400" b="0" i="0">
                <a:solidFill>
                  <a:srgbClr val="1A1A1A"/>
                </a:solidFill>
                <a:latin typeface="Arial"/>
              </a:rPr>
              <a:t>Right-click a breakpoint to set a condition or print a message without editing code.</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Debugging tests</a:t>
            </a:r>
          </a:p>
          <a:p>
            <a:pPr algn="l">
              <a:lnSpc>
                <a:spcPct val="110000"/>
              </a:lnSpc>
              <a:spcAft>
                <a:spcPts val="600"/>
              </a:spcAft>
            </a:pPr>
            <a:r>
              <a:rPr sz="1400" b="0" i="0">
                <a:solidFill>
                  <a:srgbClr val="1A1A1A"/>
                </a:solidFill>
                <a:latin typeface="Arial"/>
              </a:rPr>
              <a:t>Most editors can start a single test under the debugger, very useful for failing automated tests.</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50 / 63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IDE or pdb?</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9</a:t>
            </a:r>
          </a:p>
        </p:txBody>
      </p:sp>
      <p:sp>
        <p:nvSpPr>
          <p:cNvPr id="4" name="Rounded Rectangle 3"/>
          <p:cNvSpPr/>
          <p:nvPr/>
        </p:nvSpPr>
        <p:spPr>
          <a:xfrm>
            <a:off x="609904"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38504"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IDE debugger</a:t>
            </a:r>
          </a:p>
          <a:p>
            <a:pPr algn="l">
              <a:lnSpc>
                <a:spcPct val="110000"/>
              </a:lnSpc>
              <a:spcAft>
                <a:spcPts val="600"/>
              </a:spcAft>
            </a:pPr>
            <a:r>
              <a:rPr sz="1400" b="0" i="0">
                <a:solidFill>
                  <a:srgbClr val="1A1A1A"/>
                </a:solidFill>
                <a:latin typeface="Arial"/>
              </a:rPr>
              <a:t>Faster to work with for exploring.</a:t>
            </a:r>
          </a:p>
        </p:txBody>
      </p:sp>
      <p:sp>
        <p:nvSpPr>
          <p:cNvPr id="6" name="Rounded Rectangle 5"/>
          <p:cNvSpPr/>
          <p:nvPr/>
        </p:nvSpPr>
        <p:spPr>
          <a:xfrm>
            <a:off x="4358640" y="1783080"/>
            <a:ext cx="3474415" cy="4361688"/>
          </a:xfrm>
          <a:prstGeom prst="roundRect">
            <a:avLst>
              <a:gd name="adj" fmla="val 2368"/>
            </a:avLst>
          </a:prstGeom>
          <a:solidFill>
            <a:srgbClr val="E9F1F1"/>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7240"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pdb</a:t>
            </a:r>
          </a:p>
          <a:p>
            <a:pPr algn="l">
              <a:lnSpc>
                <a:spcPct val="110000"/>
              </a:lnSpc>
              <a:spcAft>
                <a:spcPts val="600"/>
              </a:spcAft>
            </a:pPr>
            <a:r>
              <a:rPr sz="1400" b="0" i="0">
                <a:solidFill>
                  <a:srgbClr val="1A1A1A"/>
                </a:solidFill>
                <a:latin typeface="Arial"/>
              </a:rPr>
              <a:t>Available everywhere (servers, containers, CI, remote shells) with no setup.</a:t>
            </a:r>
          </a:p>
        </p:txBody>
      </p:sp>
      <p:sp>
        <p:nvSpPr>
          <p:cNvPr id="8" name="Rounded Rectangle 7"/>
          <p:cNvSpPr/>
          <p:nvPr/>
        </p:nvSpPr>
        <p:spPr>
          <a:xfrm>
            <a:off x="8107375" y="1783080"/>
            <a:ext cx="3474415" cy="4361688"/>
          </a:xfrm>
          <a:prstGeom prst="roundRect">
            <a:avLst>
              <a:gd name="adj" fmla="val 2368"/>
            </a:avLst>
          </a:prstGeom>
          <a:solidFill>
            <a:srgbClr val="EDE6F5"/>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335975" y="1965960"/>
            <a:ext cx="3017215" cy="3995927"/>
          </a:xfrm>
          <a:prstGeom prst="rect">
            <a:avLst/>
          </a:prstGeom>
          <a:noFill/>
        </p:spPr>
        <p:txBody>
          <a:bodyPr wrap="square" lIns="0" tIns="0" rIns="0" bIns="0" anchor="t">
            <a:spAutoFit/>
          </a:bodyPr>
          <a:lstStyle/>
          <a:p>
            <a:pPr algn="l">
              <a:lnSpc>
                <a:spcPct val="110000"/>
              </a:lnSpc>
              <a:spcAft>
                <a:spcPts val="800"/>
              </a:spcAft>
            </a:pPr>
            <a:r>
              <a:rPr sz="1600" b="1" i="0">
                <a:solidFill>
                  <a:srgbClr val="330066"/>
                </a:solidFill>
                <a:latin typeface="Arial"/>
              </a:rPr>
              <a:t>Transferable</a:t>
            </a:r>
          </a:p>
          <a:p>
            <a:pPr algn="l">
              <a:lnSpc>
                <a:spcPct val="110000"/>
              </a:lnSpc>
              <a:spcAft>
                <a:spcPts val="600"/>
              </a:spcAft>
            </a:pPr>
            <a:r>
              <a:rPr sz="1400" b="0" i="0">
                <a:solidFill>
                  <a:srgbClr val="1A1A1A"/>
                </a:solidFill>
                <a:latin typeface="Arial"/>
              </a:rPr>
              <a:t>Learn the concepts once (breakpoint, step over, step into, step out, inspect, call stack) and they transfer between tools.</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51 / 63</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Debugging Test Automation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10</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1. Decide whose fault it is: product, test, data or environment defect? Reproduce manually to see whether the product really misbehaves.</a:t>
            </a:r>
          </a:p>
          <a:p>
            <a:pPr marL="228600" indent="-228600" algn="l">
              <a:spcAft>
                <a:spcPts val="1000"/>
              </a:spcAft>
              <a:buFont typeface="Arial"/>
              <a:buChar char="•"/>
            </a:pPr>
            <a:r>
              <a:rPr sz="1700" b="0" i="0">
                <a:solidFill>
                  <a:srgbClr val="1A1A1A"/>
                </a:solidFill>
                <a:latin typeface="Arial"/>
              </a:rPr>
              <a:t>2. Rerun in isolation. Passes alone but fails in a suite? Suspect shared state: globals, mutable default arguments, data left by an earlier test.</a:t>
            </a:r>
          </a:p>
          <a:p>
            <a:pPr marL="228600" indent="-228600" algn="l">
              <a:spcAft>
                <a:spcPts val="1000"/>
              </a:spcAft>
              <a:buFont typeface="Arial"/>
              <a:buChar char="•"/>
            </a:pPr>
            <a:r>
              <a:rPr sz="1700" b="0" i="0">
                <a:solidFill>
                  <a:srgbClr val="1A1A1A"/>
                </a:solidFill>
                <a:latin typeface="Arial"/>
              </a:rPr>
              <a:t>3. Read the assertion message. A good one states expected and actual values; write yours that way.</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52 / 63</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Debugging Test Automation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10</a:t>
            </a:r>
          </a:p>
        </p:txBody>
      </p:sp>
      <p:sp>
        <p:nvSpPr>
          <p:cNvPr id="4" name="TextBox 3"/>
          <p:cNvSpPr txBox="1"/>
          <p:nvPr/>
        </p:nvSpPr>
        <p:spPr>
          <a:xfrm>
            <a:off x="609904" y="1783080"/>
            <a:ext cx="10971885" cy="4361688"/>
          </a:xfrm>
          <a:prstGeom prst="rect">
            <a:avLst/>
          </a:prstGeom>
          <a:noFill/>
        </p:spPr>
        <p:txBody>
          <a:bodyPr wrap="square" lIns="0" tIns="0" rIns="0" bIns="0">
            <a:spAutoFit/>
          </a:bodyPr>
          <a:lstStyle/>
          <a:p>
            <a:pPr marL="228600" indent="-228600" algn="l">
              <a:spcAft>
                <a:spcPts val="1000"/>
              </a:spcAft>
              <a:buFont typeface="Arial"/>
              <a:buChar char="•"/>
            </a:pPr>
            <a:r>
              <a:rPr sz="1700" b="0" i="0">
                <a:solidFill>
                  <a:srgbClr val="1A1A1A"/>
                </a:solidFill>
                <a:latin typeface="Arial"/>
              </a:rPr>
              <a:t>4. Capture evidence: inputs, outputs, logs and (for UI tests later) screenshots. A failure you cannot reproduce or explain is a lost investment.</a:t>
            </a:r>
          </a:p>
          <a:p>
            <a:pPr marL="228600" indent="-228600" algn="l">
              <a:spcAft>
                <a:spcPts val="1000"/>
              </a:spcAft>
              <a:buFont typeface="Arial"/>
              <a:buChar char="•"/>
            </a:pPr>
            <a:r>
              <a:rPr sz="1700" b="0" i="0">
                <a:solidFill>
                  <a:srgbClr val="1A1A1A"/>
                </a:solidFill>
                <a:latin typeface="Arial"/>
              </a:rPr>
              <a:t>5. Be wary of "fixing" a test by loosening it. Changing an expected value to pass hides defects. Change a test only when you have proven it was wrong.</a:t>
            </a:r>
          </a:p>
          <a:p>
            <a:pPr marL="228600" indent="-228600" algn="l">
              <a:spcAft>
                <a:spcPts val="1000"/>
              </a:spcAft>
              <a:buFont typeface="Arial"/>
              <a:buChar char="•"/>
            </a:pPr>
            <a:r>
              <a:rPr sz="1700" b="0" i="0">
                <a:solidFill>
                  <a:srgbClr val="1A1A1A"/>
                </a:solidFill>
                <a:latin typeface="Arial"/>
              </a:rPr>
              <a:t>6. Flaky tests are bugs: timing assumptions, random data, order dependence and shared state. Do not just rerun until green.</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53 / 63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Common Debugging Pitfalls</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PART 11</a:t>
            </a:r>
          </a:p>
        </p:txBody>
      </p:sp>
      <p:graphicFrame>
        <p:nvGraphicFramePr>
          <p:cNvPr id="4" name="Table 3"/>
          <p:cNvGraphicFramePr>
            <a:graphicFrameLocks noGrp="1"/>
          </p:cNvGraphicFramePr>
          <p:nvPr/>
        </p:nvGraphicFramePr>
        <p:xfrm>
          <a:off x="609904" y="1783080"/>
          <a:ext cx="10971885" cy="3719573"/>
        </p:xfrm>
        <a:graphic>
          <a:graphicData uri="http://schemas.openxmlformats.org/drawingml/2006/table">
            <a:tbl>
              <a:tblPr/>
              <a:tblGrid>
                <a:gridCol w="4937348">
                  <a:extLst>
                    <a:ext uri="{9D8B030D-6E8A-4147-A177-3AD203B41FA5}">
                      <a16:colId xmlns:a16="http://schemas.microsoft.com/office/drawing/2014/main" val="20000"/>
                    </a:ext>
                  </a:extLst>
                </a:gridCol>
                <a:gridCol w="6034537">
                  <a:extLst>
                    <a:ext uri="{9D8B030D-6E8A-4147-A177-3AD203B41FA5}">
                      <a16:colId xmlns:a16="http://schemas.microsoft.com/office/drawing/2014/main" val="20001"/>
                    </a:ext>
                  </a:extLst>
                </a:gridCol>
              </a:tblGrid>
              <a:tr h="384048">
                <a:tc>
                  <a:txBody>
                    <a:bodyPr/>
                    <a:lstStyle/>
                    <a:p>
                      <a:r>
                        <a:rPr sz="1400" b="1">
                          <a:solidFill>
                            <a:srgbClr val="FFFFFF"/>
                          </a:solidFill>
                          <a:latin typeface="Arial"/>
                        </a:rPr>
                        <a:t>Pitfall</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tc>
                  <a:txBody>
                    <a:bodyPr/>
                    <a:lstStyle/>
                    <a:p>
                      <a:r>
                        <a:rPr sz="1400" b="1">
                          <a:solidFill>
                            <a:srgbClr val="FFFFFF"/>
                          </a:solidFill>
                          <a:latin typeface="Arial"/>
                        </a:rPr>
                        <a:t>Better approach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330066"/>
                    </a:solidFill>
                  </a:tcPr>
                </a:tc>
                <a:extLst>
                  <a:ext uri="{0D108BD9-81ED-4DB2-BD59-A6C34878D82A}">
                    <a16:rowId xmlns:a16="http://schemas.microsoft.com/office/drawing/2014/main" val="10000"/>
                  </a:ext>
                </a:extLst>
              </a:tr>
              <a:tr h="377444">
                <a:tc>
                  <a:txBody>
                    <a:bodyPr/>
                    <a:lstStyle/>
                    <a:p>
                      <a:r>
                        <a:rPr sz="1400" b="0">
                          <a:solidFill>
                            <a:srgbClr val="1A1A1A"/>
                          </a:solidFill>
                          <a:latin typeface="Arial"/>
                        </a:rPr>
                        <a:t>Changing code before understanding the error</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Read the traceback; form a hypothesis first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1"/>
                  </a:ext>
                </a:extLst>
              </a:tr>
              <a:tr h="377444">
                <a:tc>
                  <a:txBody>
                    <a:bodyPr/>
                    <a:lstStyle/>
                    <a:p>
                      <a:r>
                        <a:rPr sz="1400" b="0">
                          <a:solidFill>
                            <a:srgbClr val="1A1A1A"/>
                          </a:solidFill>
                          <a:latin typeface="Arial"/>
                        </a:rPr>
                        <a:t>Changing several things at once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00" b="0">
                          <a:solidFill>
                            <a:srgbClr val="1A1A1A"/>
                          </a:solidFill>
                          <a:latin typeface="Arial"/>
                        </a:rPr>
                        <a:t>One change, then re-test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2"/>
                  </a:ext>
                </a:extLst>
              </a:tr>
              <a:tr h="608583">
                <a:tc>
                  <a:txBody>
                    <a:bodyPr/>
                    <a:lstStyle/>
                    <a:p>
                      <a:r>
                        <a:rPr sz="1400" b="0">
                          <a:solidFill>
                            <a:srgbClr val="1A1A1A"/>
                          </a:solidFill>
                          <a:latin typeface="Arial"/>
                        </a:rPr>
                        <a:t>Ignoring the first (top) error and chasing later ones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Fix the earliest error first; later ones may vanish</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3"/>
                  </a:ext>
                </a:extLst>
              </a:tr>
              <a:tr h="608583">
                <a:tc>
                  <a:txBody>
                    <a:bodyPr/>
                    <a:lstStyle/>
                    <a:p>
                      <a:r>
                        <a:rPr sz="1400" b="0" i="0">
                          <a:solidFill>
                            <a:srgbClr val="1A1A1A"/>
                          </a:solidFill>
                          <a:latin typeface="Arial"/>
                        </a:rPr>
                        <a:t>Catching an exception and doing nothing (</a:t>
                      </a:r>
                      <a:r>
                        <a:rPr sz="1350" b="0" i="0">
                          <a:solidFill>
                            <a:srgbClr val="330066"/>
                          </a:solidFill>
                          <a:latin typeface="Courier New"/>
                        </a:rPr>
                        <a:t>except: pass</a:t>
                      </a:r>
                      <a:r>
                        <a:rPr sz="1400" b="0" i="0">
                          <a:solidFill>
                            <a:srgbClr val="1A1A1A"/>
                          </a:solidFill>
                          <a:latin typeface="Arial"/>
                        </a:rPr>
                        <a:t>)</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00" b="0">
                          <a:solidFill>
                            <a:srgbClr val="1A1A1A"/>
                          </a:solidFill>
                          <a:latin typeface="Arial"/>
                        </a:rPr>
                        <a:t>Catch specific exceptions; log or re-raise (Tuesday)</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4"/>
                  </a:ext>
                </a:extLst>
              </a:tr>
              <a:tr h="377444">
                <a:tc>
                  <a:txBody>
                    <a:bodyPr/>
                    <a:lstStyle/>
                    <a:p>
                      <a:r>
                        <a:rPr sz="1400" b="0">
                          <a:solidFill>
                            <a:srgbClr val="1A1A1A"/>
                          </a:solidFill>
                          <a:latin typeface="Arial"/>
                        </a:rPr>
                        <a:t>Debugging in the wrong environment/version</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Verify interpreter, venv, versions</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5"/>
                  </a:ext>
                </a:extLst>
              </a:tr>
              <a:tr h="608583">
                <a:tc>
                  <a:txBody>
                    <a:bodyPr/>
                    <a:lstStyle/>
                    <a:p>
                      <a:r>
                        <a:rPr sz="1400" b="0" i="0">
                          <a:solidFill>
                            <a:srgbClr val="1A1A1A"/>
                          </a:solidFill>
                          <a:latin typeface="Arial"/>
                        </a:rPr>
                        <a:t>Leaving </a:t>
                      </a:r>
                      <a:r>
                        <a:rPr sz="1350" b="0" i="0">
                          <a:solidFill>
                            <a:srgbClr val="330066"/>
                          </a:solidFill>
                          <a:latin typeface="Courier New"/>
                        </a:rPr>
                        <a:t>print</a:t>
                      </a:r>
                      <a:r>
                        <a:rPr sz="1400" b="0" i="0">
                          <a:solidFill>
                            <a:srgbClr val="1A1A1A"/>
                          </a:solidFill>
                          <a:latin typeface="Arial"/>
                        </a:rPr>
                        <a:t> and </a:t>
                      </a:r>
                      <a:r>
                        <a:rPr sz="1350" b="0" i="0">
                          <a:solidFill>
                            <a:srgbClr val="330066"/>
                          </a:solidFill>
                          <a:latin typeface="Courier New"/>
                        </a:rPr>
                        <a:t>breakpoint()</a:t>
                      </a:r>
                      <a:r>
                        <a:rPr sz="1400" b="0" i="0">
                          <a:solidFill>
                            <a:srgbClr val="1A1A1A"/>
                          </a:solidFill>
                          <a:latin typeface="Arial"/>
                        </a:rPr>
                        <a:t> in committed code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tc>
                  <a:txBody>
                    <a:bodyPr/>
                    <a:lstStyle/>
                    <a:p>
                      <a:r>
                        <a:rPr sz="1400" b="0">
                          <a:solidFill>
                            <a:srgbClr val="1A1A1A"/>
                          </a:solidFill>
                          <a:latin typeface="Arial"/>
                        </a:rPr>
                        <a:t>Remove them or use logging</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7F7FB"/>
                    </a:solidFill>
                  </a:tcPr>
                </a:tc>
                <a:extLst>
                  <a:ext uri="{0D108BD9-81ED-4DB2-BD59-A6C34878D82A}">
                    <a16:rowId xmlns:a16="http://schemas.microsoft.com/office/drawing/2014/main" val="10006"/>
                  </a:ext>
                </a:extLst>
              </a:tr>
              <a:tr h="377444">
                <a:tc>
                  <a:txBody>
                    <a:bodyPr/>
                    <a:lstStyle/>
                    <a:p>
                      <a:r>
                        <a:rPr sz="1400" b="0">
                          <a:solidFill>
                            <a:srgbClr val="1A1A1A"/>
                          </a:solidFill>
                          <a:latin typeface="Arial"/>
                        </a:rPr>
                        <a:t>Fixing the symptom, not the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tc>
                  <a:txBody>
                    <a:bodyPr/>
                    <a:lstStyle/>
                    <a:p>
                      <a:r>
                        <a:rPr sz="1400" b="0">
                          <a:solidFill>
                            <a:srgbClr val="1A1A1A"/>
                          </a:solidFill>
                          <a:latin typeface="Arial"/>
                        </a:rPr>
                        <a:t>Ask "why" repeatedly until you reach the root cause</a:t>
                      </a:r>
                    </a:p>
                  </a:txBody>
                  <a:tcPr marL="109728" marR="109728" marT="36576" marB="36576" anchor="ctr">
                    <a:lnL w="3175" cap="flat">
                      <a:solidFill>
                        <a:srgbClr val="D9D9D9"/>
                      </a:solidFill>
                    </a:lnL>
                    <a:lnR w="3175" cap="flat">
                      <a:solidFill>
                        <a:srgbClr val="D9D9D9"/>
                      </a:solidFill>
                    </a:lnR>
                    <a:lnT w="3175" cap="flat">
                      <a:solidFill>
                        <a:srgbClr val="D9D9D9"/>
                      </a:solidFill>
                    </a:lnT>
                    <a:lnB w="3175" cap="flat">
                      <a:solidFill>
                        <a:srgbClr val="D9D9D9"/>
                      </a:solidFill>
                    </a:lnB>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54 / 63</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Worked Examples</a:t>
            </a:r>
          </a:p>
        </p:txBody>
      </p:sp>
      <p:sp>
        <p:nvSpPr>
          <p:cNvPr id="3" name="Text Placeholder 2"/>
          <p:cNvSpPr>
            <a:spLocks noGrp="1"/>
          </p:cNvSpPr>
          <p:nvPr>
            <p:ph type="body" idx="1"/>
          </p:nvPr>
        </p:nvSpPr>
        <p:spPr/>
        <p:txBody>
          <a:bodyPr/>
          <a:lstStyle/>
          <a:p>
            <a:r>
              <a:rPr sz="1800">
                <a:solidFill>
                  <a:srgbClr val="5A5A5A"/>
                </a:solidFill>
              </a:rPr>
              <a:t>A guided bug hunt, breakpoint() in a loop, an environment checklist</a:t>
            </a:r>
          </a:p>
        </p:txBody>
      </p:sp>
      <p:sp>
        <p:nvSpPr>
          <p:cNvPr id="4" name="TextBox 3"/>
          <p:cNvSpPr txBox="1"/>
          <p:nvPr/>
        </p:nvSpPr>
        <p:spPr>
          <a:xfrm>
            <a:off x="832104" y="1600200"/>
            <a:ext cx="3657600" cy="1097280"/>
          </a:xfrm>
          <a:prstGeom prst="rect">
            <a:avLst/>
          </a:prstGeom>
          <a:noFill/>
        </p:spPr>
        <p:txBody>
          <a:bodyPr wrap="square" lIns="0" tIns="0" rIns="0" bIns="0" anchor="t">
            <a:spAutoFit/>
          </a:bodyPr>
          <a:lstStyle/>
          <a:p>
            <a:pPr algn="l">
              <a:lnSpc>
                <a:spcPct val="110000"/>
              </a:lnSpc>
              <a:spcAft>
                <a:spcPts val="600"/>
              </a:spcAft>
            </a:pPr>
            <a:r>
              <a:rPr sz="6600" b="1" i="0">
                <a:solidFill>
                  <a:srgbClr val="669999"/>
                </a:solidFill>
                <a:latin typeface="Arial"/>
              </a:rPr>
              <a:t>07</a:t>
            </a:r>
          </a:p>
        </p:txBody>
      </p:sp>
      <p:sp>
        <p:nvSpPr>
          <p:cNvPr id="5" name="TextBox 4"/>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55 / 63</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A: The Buggy Function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a:t>
            </a:r>
          </a:p>
        </p:txBody>
      </p:sp>
      <p:sp>
        <p:nvSpPr>
          <p:cNvPr id="4" name="Rounded Rectangle 3"/>
          <p:cNvSpPr/>
          <p:nvPr/>
        </p:nvSpPr>
        <p:spPr>
          <a:xfrm>
            <a:off x="609904" y="1783080"/>
            <a:ext cx="6400800" cy="2212848"/>
          </a:xfrm>
          <a:prstGeom prst="roundRect">
            <a:avLst>
              <a:gd name="adj" fmla="val 3305"/>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1920240"/>
          </a:xfrm>
          <a:prstGeom prst="rect">
            <a:avLst/>
          </a:prstGeom>
          <a:noFill/>
        </p:spPr>
        <p:txBody>
          <a:bodyPr wrap="square" lIns="0" tIns="0" rIns="0" bIns="0">
            <a:spAutoFit/>
          </a:bodyPr>
          <a:lstStyle/>
          <a:p>
            <a:pPr algn="l">
              <a:lnSpc>
                <a:spcPct val="100000"/>
              </a:lnSpc>
            </a:pPr>
            <a:r>
              <a:rPr sz="1050">
                <a:solidFill>
                  <a:srgbClr val="5C8A8A"/>
                </a:solidFill>
                <a:latin typeface="Courier New"/>
              </a:rPr>
              <a:t># pass_rate.py</a:t>
            </a:r>
          </a:p>
          <a:p>
            <a:pPr algn="l">
              <a:lnSpc>
                <a:spcPct val="100000"/>
              </a:lnSpc>
            </a:pPr>
            <a:r>
              <a:rPr sz="1050">
                <a:solidFill>
                  <a:srgbClr val="1A1A1A"/>
                </a:solidFill>
                <a:latin typeface="Courier New"/>
              </a:rPr>
              <a:t>def pass_rate(results):</a:t>
            </a:r>
          </a:p>
          <a:p>
            <a:pPr algn="l">
              <a:lnSpc>
                <a:spcPct val="100000"/>
              </a:lnSpc>
            </a:pPr>
            <a:r>
              <a:rPr sz="1050">
                <a:solidFill>
                  <a:srgbClr val="1A1A1A"/>
                </a:solidFill>
                <a:latin typeface="Courier New"/>
              </a:rPr>
              <a:t>    passed = 0</a:t>
            </a:r>
          </a:p>
          <a:p>
            <a:pPr algn="l">
              <a:lnSpc>
                <a:spcPct val="100000"/>
              </a:lnSpc>
            </a:pPr>
            <a:r>
              <a:rPr sz="1050">
                <a:solidFill>
                  <a:srgbClr val="1A1A1A"/>
                </a:solidFill>
                <a:latin typeface="Courier New"/>
              </a:rPr>
              <a:t>    for outcome in results:</a:t>
            </a:r>
          </a:p>
          <a:p>
            <a:pPr algn="l">
              <a:lnSpc>
                <a:spcPct val="100000"/>
              </a:lnSpc>
            </a:pPr>
            <a:r>
              <a:rPr sz="1050">
                <a:solidFill>
                  <a:srgbClr val="1A1A1A"/>
                </a:solidFill>
                <a:latin typeface="Courier New"/>
              </a:rPr>
              <a:t>        if outcome == "pass":</a:t>
            </a:r>
          </a:p>
          <a:p>
            <a:pPr algn="l">
              <a:lnSpc>
                <a:spcPct val="100000"/>
              </a:lnSpc>
            </a:pPr>
            <a:r>
              <a:rPr sz="1050">
                <a:solidFill>
                  <a:srgbClr val="1A1A1A"/>
                </a:solidFill>
                <a:latin typeface="Courier New"/>
              </a:rPr>
              <a:t>            passed += 1</a:t>
            </a:r>
          </a:p>
          <a:p>
            <a:pPr algn="l">
              <a:lnSpc>
                <a:spcPct val="100000"/>
              </a:lnSpc>
            </a:pPr>
            <a:r>
              <a:rPr sz="1050">
                <a:solidFill>
                  <a:srgbClr val="1A1A1A"/>
                </a:solidFill>
                <a:latin typeface="Courier New"/>
              </a:rPr>
              <a:t>    return passed / len(results) * 100</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print(pass_rate(["pass", "fail", "pass", "pass"]))   # expect 75.0</a:t>
            </a:r>
          </a:p>
          <a:p>
            <a:pPr algn="l">
              <a:lnSpc>
                <a:spcPct val="100000"/>
              </a:lnSpc>
            </a:pPr>
            <a:r>
              <a:rPr sz="1050">
                <a:solidFill>
                  <a:srgbClr val="5C8A8A"/>
                </a:solidFill>
                <a:latin typeface="Courier New"/>
              </a:rPr>
              <a:t># ...</a:t>
            </a:r>
          </a:p>
          <a:p>
            <a:pPr algn="l">
              <a:lnSpc>
                <a:spcPct val="100000"/>
              </a:lnSpc>
            </a:pPr>
            <a:r>
              <a:rPr sz="1050">
                <a:solidFill>
                  <a:srgbClr val="1A1A1A"/>
                </a:solidFill>
                <a:latin typeface="Courier New"/>
              </a:rPr>
              <a:t>print(pass_rate(["PASS", "Pass", "pass"]))           # expect 100.0 but...</a:t>
            </a:r>
          </a:p>
          <a:p>
            <a:pPr algn="l">
              <a:lnSpc>
                <a:spcPct val="100000"/>
              </a:lnSpc>
            </a:pPr>
            <a:r>
              <a:rPr sz="1050">
                <a:solidFill>
                  <a:srgbClr val="1A1A1A"/>
                </a:solidFill>
                <a:latin typeface="Courier New"/>
              </a:rPr>
              <a:t>print(pass_rate([]))</a:t>
            </a:r>
          </a:p>
        </p:txBody>
      </p:sp>
      <p:sp>
        <p:nvSpPr>
          <p:cNvPr id="6" name="Oval 5"/>
          <p:cNvSpPr/>
          <p:nvPr/>
        </p:nvSpPr>
        <p:spPr>
          <a:xfrm>
            <a:off x="72850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7" name="TextBox 6"/>
          <p:cNvSpPr txBox="1"/>
          <p:nvPr/>
        </p:nvSpPr>
        <p:spPr>
          <a:xfrm>
            <a:off x="7833664" y="1819656"/>
            <a:ext cx="374812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Logic error</a:t>
            </a:r>
          </a:p>
          <a:p>
            <a:pPr algn="l">
              <a:lnSpc>
                <a:spcPct val="110000"/>
              </a:lnSpc>
              <a:spcAft>
                <a:spcPts val="600"/>
              </a:spcAft>
            </a:pPr>
            <a:r>
              <a:rPr sz="1350" b="0" i="0">
                <a:solidFill>
                  <a:srgbClr val="330066"/>
                </a:solidFill>
                <a:latin typeface="Courier New"/>
              </a:rPr>
              <a:t>["PASS", "Pass", "pass"]</a:t>
            </a:r>
            <a:r>
              <a:rPr sz="1400" b="0" i="0">
                <a:solidFill>
                  <a:srgbClr val="1A1A1A"/>
                </a:solidFill>
                <a:latin typeface="Arial"/>
              </a:rPr>
              <a:t> gives </a:t>
            </a:r>
            <a:r>
              <a:rPr sz="1350" b="0" i="0">
                <a:solidFill>
                  <a:srgbClr val="330066"/>
                </a:solidFill>
                <a:latin typeface="Courier New"/>
              </a:rPr>
              <a:t>33.33...</a:t>
            </a:r>
            <a:r>
              <a:rPr sz="1400" b="0" i="0">
                <a:solidFill>
                  <a:srgbClr val="1A1A1A"/>
                </a:solidFill>
                <a:latin typeface="Arial"/>
              </a:rPr>
              <a:t> instead of </a:t>
            </a:r>
            <a:r>
              <a:rPr sz="1350" b="0" i="0">
                <a:solidFill>
                  <a:srgbClr val="330066"/>
                </a:solidFill>
                <a:latin typeface="Courier New"/>
              </a:rPr>
              <a:t>100.0</a:t>
            </a:r>
            <a:r>
              <a:rPr sz="1400" b="0" i="0">
                <a:solidFill>
                  <a:srgbClr val="1A1A1A"/>
                </a:solidFill>
                <a:latin typeface="Arial"/>
              </a:rPr>
              <a:t>.</a:t>
            </a:r>
          </a:p>
        </p:txBody>
      </p:sp>
      <p:sp>
        <p:nvSpPr>
          <p:cNvPr id="8" name="Oval 7"/>
          <p:cNvSpPr/>
          <p:nvPr/>
        </p:nvSpPr>
        <p:spPr>
          <a:xfrm>
            <a:off x="7285024" y="264064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9" name="TextBox 8"/>
          <p:cNvSpPr txBox="1"/>
          <p:nvPr/>
        </p:nvSpPr>
        <p:spPr>
          <a:xfrm>
            <a:off x="7833664" y="2677223"/>
            <a:ext cx="3748125" cy="72040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Runtime error</a:t>
            </a:r>
          </a:p>
          <a:p>
            <a:pPr algn="l">
              <a:lnSpc>
                <a:spcPct val="110000"/>
              </a:lnSpc>
              <a:spcAft>
                <a:spcPts val="600"/>
              </a:spcAft>
            </a:pPr>
            <a:r>
              <a:rPr sz="1350" b="0" i="0">
                <a:solidFill>
                  <a:srgbClr val="330066"/>
                </a:solidFill>
                <a:latin typeface="Courier New"/>
              </a:rPr>
              <a:t>pass_rate([])</a:t>
            </a:r>
            <a:r>
              <a:rPr sz="1400" b="0" i="0">
                <a:solidFill>
                  <a:srgbClr val="1A1A1A"/>
                </a:solidFill>
                <a:latin typeface="Arial"/>
              </a:rPr>
              <a:t> raises </a:t>
            </a:r>
            <a:r>
              <a:rPr sz="1350" b="0" i="0">
                <a:solidFill>
                  <a:srgbClr val="330066"/>
                </a:solidFill>
                <a:latin typeface="Courier New"/>
              </a:rPr>
              <a:t>ZeroDivisionError</a:t>
            </a:r>
            <a:r>
              <a:rPr sz="1400" b="0" i="0">
                <a:solidFill>
                  <a:srgbClr val="1A1A1A"/>
                </a:solidFill>
                <a:latin typeface="Arial"/>
              </a:rPr>
              <a:t>.</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56 / 63</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A: Reading the Evidence</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a:t>
            </a:r>
          </a:p>
        </p:txBody>
      </p:sp>
      <p:sp>
        <p:nvSpPr>
          <p:cNvPr id="4" name="Rounded Rectangle 3"/>
          <p:cNvSpPr/>
          <p:nvPr/>
        </p:nvSpPr>
        <p:spPr>
          <a:xfrm>
            <a:off x="609904" y="1783080"/>
            <a:ext cx="5486400" cy="1877568"/>
          </a:xfrm>
          <a:prstGeom prst="roundRect">
            <a:avLst>
              <a:gd name="adj" fmla="val 3896"/>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084064" cy="1584959"/>
          </a:xfrm>
          <a:prstGeom prst="rect">
            <a:avLst/>
          </a:prstGeom>
          <a:noFill/>
        </p:spPr>
        <p:txBody>
          <a:bodyPr wrap="square" lIns="0" tIns="0" rIns="0" bIns="0">
            <a:spAutoFit/>
          </a:bodyPr>
          <a:lstStyle/>
          <a:p>
            <a:pPr algn="l">
              <a:lnSpc>
                <a:spcPct val="100000"/>
              </a:lnSpc>
            </a:pPr>
            <a:r>
              <a:rPr sz="1300">
                <a:solidFill>
                  <a:srgbClr val="1A1A1A"/>
                </a:solidFill>
                <a:latin typeface="Courier New"/>
              </a:rPr>
              <a:t>75.0</a:t>
            </a:r>
          </a:p>
          <a:p>
            <a:pPr algn="l">
              <a:lnSpc>
                <a:spcPct val="100000"/>
              </a:lnSpc>
            </a:pPr>
            <a:r>
              <a:rPr sz="1300">
                <a:solidFill>
                  <a:srgbClr val="1A1A1A"/>
                </a:solidFill>
                <a:latin typeface="Courier New"/>
              </a:rPr>
              <a:t>33.33333333333333</a:t>
            </a:r>
          </a:p>
          <a:p>
            <a:pPr algn="l">
              <a:lnSpc>
                <a:spcPct val="100000"/>
              </a:lnSpc>
            </a:pPr>
            <a:r>
              <a:rPr sz="1300">
                <a:solidFill>
                  <a:srgbClr val="1A1A1A"/>
                </a:solidFill>
                <a:latin typeface="Courier New"/>
              </a:rPr>
              <a:t>Traceback (most recent call last):</a:t>
            </a:r>
          </a:p>
          <a:p>
            <a:pPr algn="l">
              <a:lnSpc>
                <a:spcPct val="100000"/>
              </a:lnSpc>
            </a:pPr>
            <a:r>
              <a:rPr sz="1300">
                <a:solidFill>
                  <a:srgbClr val="1A1A1A"/>
                </a:solidFill>
                <a:latin typeface="Courier New"/>
              </a:rPr>
              <a:t>  File "pass_rate.py", line 11, in &lt;module&gt;</a:t>
            </a:r>
          </a:p>
          <a:p>
            <a:pPr algn="l">
              <a:lnSpc>
                <a:spcPct val="100000"/>
              </a:lnSpc>
            </a:pPr>
            <a:r>
              <a:rPr sz="1300">
                <a:solidFill>
                  <a:srgbClr val="5C8A8A"/>
                </a:solidFill>
                <a:latin typeface="Courier New"/>
              </a:rPr>
              <a:t># ...</a:t>
            </a:r>
          </a:p>
          <a:p>
            <a:pPr algn="l">
              <a:lnSpc>
                <a:spcPct val="100000"/>
              </a:lnSpc>
            </a:pPr>
            <a:r>
              <a:rPr sz="1300">
                <a:solidFill>
                  <a:srgbClr val="1A1A1A"/>
                </a:solidFill>
                <a:latin typeface="Courier New"/>
              </a:rPr>
              <a:t>    return passed / len(results) * 100</a:t>
            </a:r>
          </a:p>
          <a:p>
            <a:pPr algn="l">
              <a:lnSpc>
                <a:spcPct val="100000"/>
              </a:lnSpc>
            </a:pPr>
            <a:r>
              <a:rPr sz="1300">
                <a:solidFill>
                  <a:srgbClr val="1A1A1A"/>
                </a:solidFill>
                <a:latin typeface="Courier New"/>
              </a:rPr>
              <a:t>           ~~~~~~~^~~~~~~~~~~~~~</a:t>
            </a:r>
          </a:p>
          <a:p>
            <a:pPr algn="l">
              <a:lnSpc>
                <a:spcPct val="100000"/>
              </a:lnSpc>
            </a:pPr>
            <a:r>
              <a:rPr sz="1300">
                <a:solidFill>
                  <a:srgbClr val="1A1A1A"/>
                </a:solidFill>
                <a:latin typeface="Courier New"/>
              </a:rPr>
              <a:t>ZeroDivisionError: division by zero</a:t>
            </a:r>
          </a:p>
        </p:txBody>
      </p:sp>
      <p:sp>
        <p:nvSpPr>
          <p:cNvPr id="6" name="Oval 5"/>
          <p:cNvSpPr/>
          <p:nvPr/>
        </p:nvSpPr>
        <p:spPr>
          <a:xfrm>
            <a:off x="637062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7" name="TextBox 6"/>
          <p:cNvSpPr txBox="1"/>
          <p:nvPr/>
        </p:nvSpPr>
        <p:spPr>
          <a:xfrm>
            <a:off x="6919264" y="1819656"/>
            <a:ext cx="4662525" cy="9426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Logic error</a:t>
            </a:r>
          </a:p>
          <a:p>
            <a:pPr algn="l">
              <a:lnSpc>
                <a:spcPct val="110000"/>
              </a:lnSpc>
              <a:spcAft>
                <a:spcPts val="600"/>
              </a:spcAft>
            </a:pPr>
            <a:r>
              <a:rPr sz="1400" b="0" i="0">
                <a:solidFill>
                  <a:srgbClr val="1A1A1A"/>
                </a:solidFill>
                <a:latin typeface="Arial"/>
              </a:rPr>
              <a:t>Hypothesis: the comparison is case-sensitive. Evidence: </a:t>
            </a:r>
            <a:r>
              <a:rPr sz="1350" b="0" i="0">
                <a:solidFill>
                  <a:srgbClr val="330066"/>
                </a:solidFill>
                <a:latin typeface="Courier New"/>
              </a:rPr>
              <a:t>print(repr(outcome))</a:t>
            </a:r>
            <a:r>
              <a:rPr sz="1400" b="0" i="0">
                <a:solidFill>
                  <a:srgbClr val="1A1A1A"/>
                </a:solidFill>
                <a:latin typeface="Arial"/>
              </a:rPr>
              <a:t> shows </a:t>
            </a:r>
            <a:r>
              <a:rPr sz="1350" b="0" i="0">
                <a:solidFill>
                  <a:srgbClr val="330066"/>
                </a:solidFill>
                <a:latin typeface="Courier New"/>
              </a:rPr>
              <a:t>'PASS'</a:t>
            </a:r>
            <a:r>
              <a:rPr sz="1400" b="0" i="0">
                <a:solidFill>
                  <a:srgbClr val="1A1A1A"/>
                </a:solidFill>
                <a:latin typeface="Arial"/>
              </a:rPr>
              <a:t>, and </a:t>
            </a:r>
            <a:r>
              <a:rPr sz="1350" b="0" i="0">
                <a:solidFill>
                  <a:srgbClr val="330066"/>
                </a:solidFill>
                <a:latin typeface="Courier New"/>
              </a:rPr>
              <a:t>'PASS' == 'pass'</a:t>
            </a:r>
            <a:r>
              <a:rPr sz="1400" b="0" i="0">
                <a:solidFill>
                  <a:srgbClr val="1A1A1A"/>
                </a:solidFill>
                <a:latin typeface="Arial"/>
              </a:rPr>
              <a:t> is </a:t>
            </a:r>
            <a:r>
              <a:rPr sz="1350" b="0" i="0">
                <a:solidFill>
                  <a:srgbClr val="330066"/>
                </a:solidFill>
                <a:latin typeface="Courier New"/>
              </a:rPr>
              <a:t>False</a:t>
            </a:r>
            <a:r>
              <a:rPr sz="1400" b="0" i="0">
                <a:solidFill>
                  <a:srgbClr val="1A1A1A"/>
                </a:solidFill>
                <a:latin typeface="Arial"/>
              </a:rPr>
              <a:t>.</a:t>
            </a:r>
          </a:p>
        </p:txBody>
      </p:sp>
      <p:sp>
        <p:nvSpPr>
          <p:cNvPr id="8" name="Oval 7"/>
          <p:cNvSpPr/>
          <p:nvPr/>
        </p:nvSpPr>
        <p:spPr>
          <a:xfrm>
            <a:off x="6370624" y="286289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9" name="TextBox 8"/>
          <p:cNvSpPr txBox="1"/>
          <p:nvPr/>
        </p:nvSpPr>
        <p:spPr>
          <a:xfrm>
            <a:off x="6919264" y="2899473"/>
            <a:ext cx="4662525" cy="498157"/>
          </a:xfrm>
          <a:prstGeom prst="rect">
            <a:avLst/>
          </a:prstGeom>
          <a:noFill/>
        </p:spPr>
        <p:txBody>
          <a:bodyPr wrap="square" lIns="0" tIns="0" rIns="0" bIns="0" anchor="t">
            <a:spAutoFit/>
          </a:bodyPr>
          <a:lstStyle/>
          <a:p>
            <a:pPr algn="l">
              <a:lnSpc>
                <a:spcPct val="110000"/>
              </a:lnSpc>
              <a:spcAft>
                <a:spcPts val="200"/>
              </a:spcAft>
            </a:pPr>
            <a:r>
              <a:rPr sz="1450" b="1" i="0">
                <a:solidFill>
                  <a:srgbClr val="330066"/>
                </a:solidFill>
                <a:latin typeface="Arial"/>
              </a:rPr>
              <a:t>Runtime error</a:t>
            </a:r>
          </a:p>
          <a:p>
            <a:pPr algn="l">
              <a:lnSpc>
                <a:spcPct val="110000"/>
              </a:lnSpc>
              <a:spcAft>
                <a:spcPts val="600"/>
              </a:spcAft>
            </a:pPr>
            <a:r>
              <a:rPr sz="1400" b="0" i="0">
                <a:solidFill>
                  <a:srgbClr val="1A1A1A"/>
                </a:solidFill>
                <a:latin typeface="Arial"/>
              </a:rPr>
              <a:t>Read bottom-up: </a:t>
            </a:r>
            <a:r>
              <a:rPr sz="1350" b="0" i="0">
                <a:solidFill>
                  <a:srgbClr val="330066"/>
                </a:solidFill>
                <a:latin typeface="Courier New"/>
              </a:rPr>
              <a:t>len(results)</a:t>
            </a:r>
            <a:r>
              <a:rPr sz="1400" b="0" i="0">
                <a:solidFill>
                  <a:srgbClr val="1A1A1A"/>
                </a:solidFill>
                <a:latin typeface="Arial"/>
              </a:rPr>
              <a:t> is </a:t>
            </a:r>
            <a:r>
              <a:rPr sz="1350" b="0" i="0">
                <a:solidFill>
                  <a:srgbClr val="330066"/>
                </a:solidFill>
                <a:latin typeface="Courier New"/>
              </a:rPr>
              <a:t>0</a:t>
            </a:r>
            <a:r>
              <a:rPr sz="1400" b="0" i="0">
                <a:solidFill>
                  <a:srgbClr val="1A1A1A"/>
                </a:solidFill>
                <a:latin typeface="Arial"/>
              </a:rPr>
              <a:t>.</a:t>
            </a:r>
          </a:p>
        </p:txBody>
      </p:sp>
      <p:sp>
        <p:nvSpPr>
          <p:cNvPr id="10" name="TextBox 9"/>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57 / 63</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A: The Fix</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a:t>
            </a:r>
          </a:p>
        </p:txBody>
      </p:sp>
      <p:sp>
        <p:nvSpPr>
          <p:cNvPr id="4" name="Rounded Rectangle 3"/>
          <p:cNvSpPr/>
          <p:nvPr/>
        </p:nvSpPr>
        <p:spPr>
          <a:xfrm>
            <a:off x="609904" y="1783080"/>
            <a:ext cx="6400800" cy="1732788"/>
          </a:xfrm>
          <a:prstGeom prst="roundRect">
            <a:avLst>
              <a:gd name="adj" fmla="val 4221"/>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1440180"/>
          </a:xfrm>
          <a:prstGeom prst="rect">
            <a:avLst/>
          </a:prstGeom>
          <a:noFill/>
        </p:spPr>
        <p:txBody>
          <a:bodyPr wrap="square" lIns="0" tIns="0" rIns="0" bIns="0">
            <a:spAutoFit/>
          </a:bodyPr>
          <a:lstStyle/>
          <a:p>
            <a:pPr algn="l">
              <a:lnSpc>
                <a:spcPct val="100000"/>
              </a:lnSpc>
            </a:pPr>
            <a:r>
              <a:rPr sz="1050">
                <a:solidFill>
                  <a:srgbClr val="1A1A1A"/>
                </a:solidFill>
                <a:latin typeface="Courier New"/>
              </a:rPr>
              <a:t>def pass_rate(results):</a:t>
            </a:r>
          </a:p>
          <a:p>
            <a:pPr algn="l">
              <a:lnSpc>
                <a:spcPct val="100000"/>
              </a:lnSpc>
            </a:pPr>
            <a:r>
              <a:rPr sz="1050">
                <a:solidFill>
                  <a:srgbClr val="1A1A1A"/>
                </a:solidFill>
                <a:latin typeface="Courier New"/>
              </a:rPr>
              <a:t>    if not results:                      # guard: avoid division by zero</a:t>
            </a:r>
          </a:p>
          <a:p>
            <a:pPr algn="l">
              <a:lnSpc>
                <a:spcPct val="100000"/>
              </a:lnSpc>
            </a:pPr>
            <a:r>
              <a:rPr sz="1050">
                <a:solidFill>
                  <a:srgbClr val="1A1A1A"/>
                </a:solidFill>
                <a:latin typeface="Courier New"/>
              </a:rPr>
              <a:t>        return 0.0</a:t>
            </a:r>
          </a:p>
          <a:p>
            <a:pPr algn="l">
              <a:lnSpc>
                <a:spcPct val="100000"/>
              </a:lnSpc>
            </a:pPr>
            <a:r>
              <a:rPr sz="1050">
                <a:solidFill>
                  <a:srgbClr val="1A1A1A"/>
                </a:solidFill>
                <a:latin typeface="Courier New"/>
              </a:rPr>
              <a:t>    passed = sum(1 for outcome in results if outcome.lower() == "pass")</a:t>
            </a:r>
          </a:p>
          <a:p>
            <a:pPr algn="l">
              <a:lnSpc>
                <a:spcPct val="100000"/>
              </a:lnSpc>
            </a:pPr>
            <a:r>
              <a:rPr sz="1050">
                <a:solidFill>
                  <a:srgbClr val="1A1A1A"/>
                </a:solidFill>
                <a:latin typeface="Courier New"/>
              </a:rPr>
              <a:t>    return passed / len(results) * 100</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print(pass_rate(["pass", "fail", "pass", "pass"]))   # 75.0</a:t>
            </a:r>
          </a:p>
          <a:p>
            <a:pPr algn="l">
              <a:lnSpc>
                <a:spcPct val="100000"/>
              </a:lnSpc>
            </a:pPr>
            <a:r>
              <a:rPr sz="1050">
                <a:solidFill>
                  <a:srgbClr val="1A1A1A"/>
                </a:solidFill>
                <a:latin typeface="Courier New"/>
              </a:rPr>
              <a:t>print(pass_rate(["PASS", "Pass", "pass"]))           # 100.0</a:t>
            </a:r>
          </a:p>
          <a:p>
            <a:pPr algn="l">
              <a:lnSpc>
                <a:spcPct val="100000"/>
              </a:lnSpc>
            </a:pPr>
            <a:r>
              <a:rPr sz="1050">
                <a:solidFill>
                  <a:srgbClr val="1A1A1A"/>
                </a:solidFill>
                <a:latin typeface="Courier New"/>
              </a:rPr>
              <a:t>print(pass_rate([]))                                 # 0.0</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400" b="0" i="0">
                <a:solidFill>
                  <a:srgbClr val="1A1A1A"/>
                </a:solidFill>
                <a:latin typeface="Arial"/>
              </a:rPr>
              <a:t>Decide the requirements: an empty list gives </a:t>
            </a:r>
            <a:r>
              <a:rPr sz="1350" b="0" i="0">
                <a:solidFill>
                  <a:srgbClr val="330066"/>
                </a:solidFill>
                <a:latin typeface="Courier New"/>
              </a:rPr>
              <a:t>0.0</a:t>
            </a:r>
            <a:r>
              <a:rPr sz="1400" b="0" i="0">
                <a:solidFill>
                  <a:srgbClr val="1A1A1A"/>
                </a:solidFill>
                <a:latin typeface="Arial"/>
              </a:rPr>
              <a:t>, and comparison ignores case.</a:t>
            </a:r>
          </a:p>
          <a:p>
            <a:pPr marL="228600" indent="-228600" algn="l">
              <a:spcAft>
                <a:spcPts val="800"/>
              </a:spcAft>
              <a:buFont typeface="Arial"/>
              <a:buChar char="•"/>
            </a:pPr>
            <a:r>
              <a:rPr sz="1400" b="0" i="0">
                <a:solidFill>
                  <a:srgbClr val="1A1A1A"/>
                </a:solidFill>
                <a:latin typeface="Arial"/>
              </a:rPr>
              <a:t>The debugging process was applied to two different kinds of defect in one small function.</a:t>
            </a:r>
          </a:p>
          <a:p>
            <a:pPr marL="228600" indent="-228600" algn="l">
              <a:spcAft>
                <a:spcPts val="800"/>
              </a:spcAft>
              <a:buFont typeface="Arial"/>
              <a:buChar char="•"/>
            </a:pPr>
            <a:r>
              <a:rPr sz="1400" b="0" i="0">
                <a:solidFill>
                  <a:srgbClr val="1A1A1A"/>
                </a:solidFill>
                <a:latin typeface="Arial"/>
              </a:rPr>
              <a:t>The unit testing lesson turns these three print lines into permanent test cases.</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58 / 63</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330066"/>
                </a:solidFill>
              </a:rPr>
              <a:t>Example B: breakpoint() with a Condition</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a:t>
            </a:r>
          </a:p>
        </p:txBody>
      </p:sp>
      <p:sp>
        <p:nvSpPr>
          <p:cNvPr id="4" name="Rounded Rectangle 3"/>
          <p:cNvSpPr/>
          <p:nvPr/>
        </p:nvSpPr>
        <p:spPr>
          <a:xfrm>
            <a:off x="609904" y="1783080"/>
            <a:ext cx="6400800" cy="1252728"/>
          </a:xfrm>
          <a:prstGeom prst="roundRect">
            <a:avLst>
              <a:gd name="adj" fmla="val 5839"/>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5998464" cy="960120"/>
          </a:xfrm>
          <a:prstGeom prst="rect">
            <a:avLst/>
          </a:prstGeom>
          <a:noFill/>
        </p:spPr>
        <p:txBody>
          <a:bodyPr wrap="square" lIns="0" tIns="0" rIns="0" bIns="0">
            <a:spAutoFit/>
          </a:bodyPr>
          <a:lstStyle/>
          <a:p>
            <a:pPr algn="l">
              <a:lnSpc>
                <a:spcPct val="100000"/>
              </a:lnSpc>
            </a:pPr>
            <a:r>
              <a:rPr sz="1050">
                <a:solidFill>
                  <a:srgbClr val="1A1A1A"/>
                </a:solidFill>
                <a:latin typeface="Courier New"/>
              </a:rPr>
              <a:t>rows = [{"id": 1, "qty": 3}, {"id": 2, "qty": -5}, {"id": 3, "qty": 2}]</a:t>
            </a:r>
          </a:p>
          <a:p>
            <a:pPr algn="l">
              <a:lnSpc>
                <a:spcPct val="100000"/>
              </a:lnSpc>
            </a:pPr>
            <a:r>
              <a:rPr sz="1050">
                <a:solidFill>
                  <a:srgbClr val="1A1A1A"/>
                </a:solidFill>
                <a:latin typeface="Courier New"/>
              </a:rPr>
              <a:t> </a:t>
            </a:r>
          </a:p>
          <a:p>
            <a:pPr algn="l">
              <a:lnSpc>
                <a:spcPct val="100000"/>
              </a:lnSpc>
            </a:pPr>
            <a:r>
              <a:rPr sz="1050">
                <a:solidFill>
                  <a:srgbClr val="1A1A1A"/>
                </a:solidFill>
                <a:latin typeface="Courier New"/>
              </a:rPr>
              <a:t>for row in rows:</a:t>
            </a:r>
          </a:p>
          <a:p>
            <a:pPr algn="l">
              <a:lnSpc>
                <a:spcPct val="100000"/>
              </a:lnSpc>
            </a:pPr>
            <a:r>
              <a:rPr sz="1050">
                <a:solidFill>
                  <a:srgbClr val="1A1A1A"/>
                </a:solidFill>
                <a:latin typeface="Courier New"/>
              </a:rPr>
              <a:t>    if row["qty"] &lt; 0:</a:t>
            </a:r>
          </a:p>
          <a:p>
            <a:pPr algn="l">
              <a:lnSpc>
                <a:spcPct val="100000"/>
              </a:lnSpc>
            </a:pPr>
            <a:r>
              <a:rPr sz="1050">
                <a:solidFill>
                  <a:srgbClr val="1A1A1A"/>
                </a:solidFill>
                <a:latin typeface="Courier New"/>
              </a:rPr>
              <a:t>        breakpoint()          # pause only for the suspicious row</a:t>
            </a:r>
          </a:p>
          <a:p>
            <a:pPr algn="l">
              <a:lnSpc>
                <a:spcPct val="100000"/>
              </a:lnSpc>
            </a:pPr>
            <a:r>
              <a:rPr sz="1050">
                <a:solidFill>
                  <a:srgbClr val="1A1A1A"/>
                </a:solidFill>
                <a:latin typeface="Courier New"/>
              </a:rPr>
              <a:t>    print(row["id"], row["qty"] * 10)</a:t>
            </a:r>
          </a:p>
        </p:txBody>
      </p:sp>
      <p:sp>
        <p:nvSpPr>
          <p:cNvPr id="6" name="TextBox 5"/>
          <p:cNvSpPr txBox="1"/>
          <p:nvPr/>
        </p:nvSpPr>
        <p:spPr>
          <a:xfrm>
            <a:off x="7376464" y="1783080"/>
            <a:ext cx="4205325" cy="4361688"/>
          </a:xfrm>
          <a:prstGeom prst="rect">
            <a:avLst/>
          </a:prstGeom>
          <a:noFill/>
        </p:spPr>
        <p:txBody>
          <a:bodyPr wrap="square" lIns="0" tIns="0" rIns="0" bIns="0">
            <a:spAutoFit/>
          </a:bodyPr>
          <a:lstStyle/>
          <a:p>
            <a:pPr marL="228600" indent="-228600" algn="l">
              <a:spcAft>
                <a:spcPts val="800"/>
              </a:spcAft>
              <a:buFont typeface="Arial"/>
              <a:buChar char="•"/>
            </a:pPr>
            <a:r>
              <a:rPr sz="1500" b="0" i="0">
                <a:solidFill>
                  <a:srgbClr val="1A1A1A"/>
                </a:solidFill>
                <a:latin typeface="Arial"/>
              </a:rPr>
              <a:t>Pausing inside an </a:t>
            </a:r>
            <a:r>
              <a:rPr sz="1450" b="0" i="0">
                <a:solidFill>
                  <a:srgbClr val="330066"/>
                </a:solidFill>
                <a:latin typeface="Courier New"/>
              </a:rPr>
              <a:t>if</a:t>
            </a:r>
            <a:r>
              <a:rPr sz="1500" b="0" i="0">
                <a:solidFill>
                  <a:srgbClr val="1A1A1A"/>
                </a:solidFill>
                <a:latin typeface="Arial"/>
              </a:rPr>
              <a:t> is the code-level equivalent of a conditional breakpoint.</a:t>
            </a:r>
          </a:p>
          <a:p>
            <a:pPr marL="228600" indent="-228600" algn="l">
              <a:spcAft>
                <a:spcPts val="800"/>
              </a:spcAft>
              <a:buFont typeface="Arial"/>
              <a:buChar char="•"/>
            </a:pPr>
            <a:r>
              <a:rPr sz="1500" b="0" i="0">
                <a:solidFill>
                  <a:srgbClr val="1A1A1A"/>
                </a:solidFill>
                <a:latin typeface="Arial"/>
              </a:rPr>
              <a:t>At the </a:t>
            </a:r>
            <a:r>
              <a:rPr sz="1450" b="0" i="0">
                <a:solidFill>
                  <a:srgbClr val="330066"/>
                </a:solidFill>
                <a:latin typeface="Courier New"/>
              </a:rPr>
              <a:t>(Pdb)</a:t>
            </a:r>
            <a:r>
              <a:rPr sz="1500" b="0" i="0">
                <a:solidFill>
                  <a:srgbClr val="1A1A1A"/>
                </a:solidFill>
                <a:latin typeface="Arial"/>
              </a:rPr>
              <a:t> prompt: </a:t>
            </a:r>
            <a:r>
              <a:rPr sz="1450" b="0" i="0">
                <a:solidFill>
                  <a:srgbClr val="330066"/>
                </a:solidFill>
                <a:latin typeface="Courier New"/>
              </a:rPr>
              <a:t>p row</a:t>
            </a:r>
            <a:r>
              <a:rPr sz="1500" b="0" i="0">
                <a:solidFill>
                  <a:srgbClr val="1A1A1A"/>
                </a:solidFill>
                <a:latin typeface="Arial"/>
              </a:rPr>
              <a:t>, </a:t>
            </a:r>
            <a:r>
              <a:rPr sz="1450" b="0" i="0">
                <a:solidFill>
                  <a:srgbClr val="330066"/>
                </a:solidFill>
                <a:latin typeface="Courier New"/>
              </a:rPr>
              <a:t>w</a:t>
            </a:r>
            <a:r>
              <a:rPr sz="1500" b="0" i="0">
                <a:solidFill>
                  <a:srgbClr val="1A1A1A"/>
                </a:solidFill>
                <a:latin typeface="Arial"/>
              </a:rPr>
              <a:t>, and </a:t>
            </a:r>
            <a:r>
              <a:rPr sz="1450" b="0" i="0">
                <a:solidFill>
                  <a:srgbClr val="330066"/>
                </a:solidFill>
                <a:latin typeface="Courier New"/>
              </a:rPr>
              <a:t>c</a:t>
            </a:r>
            <a:r>
              <a:rPr sz="1500" b="0" i="0">
                <a:solidFill>
                  <a:srgbClr val="1A1A1A"/>
                </a:solidFill>
                <a:latin typeface="Arial"/>
              </a:rPr>
              <a:t> to continue.</a:t>
            </a:r>
          </a:p>
        </p:txBody>
      </p:sp>
      <p:sp>
        <p:nvSpPr>
          <p:cNvPr id="7" name="TextBox 6"/>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59 / 63</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Example C: Environment Checklist</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CODE EXAMPLE</a:t>
            </a:r>
          </a:p>
        </p:txBody>
      </p:sp>
      <p:sp>
        <p:nvSpPr>
          <p:cNvPr id="4" name="Rounded Rectangle 3"/>
          <p:cNvSpPr/>
          <p:nvPr/>
        </p:nvSpPr>
        <p:spPr>
          <a:xfrm>
            <a:off x="609904" y="1783080"/>
            <a:ext cx="10971885" cy="2007107"/>
          </a:xfrm>
          <a:prstGeom prst="roundRect">
            <a:avLst>
              <a:gd name="adj" fmla="val 3644"/>
            </a:avLst>
          </a:prstGeom>
          <a:solidFill>
            <a:srgbClr val="F5F5F5"/>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1072" y="1929384"/>
            <a:ext cx="10569549" cy="1714499"/>
          </a:xfrm>
          <a:prstGeom prst="rect">
            <a:avLst/>
          </a:prstGeom>
          <a:noFill/>
        </p:spPr>
        <p:txBody>
          <a:bodyPr wrap="square" lIns="0" tIns="0" rIns="0" bIns="0">
            <a:spAutoFit/>
          </a:bodyPr>
          <a:lstStyle/>
          <a:p>
            <a:pPr algn="l">
              <a:lnSpc>
                <a:spcPct val="100000"/>
              </a:lnSpc>
            </a:pPr>
            <a:r>
              <a:rPr sz="1250">
                <a:solidFill>
                  <a:srgbClr val="1A1A1A"/>
                </a:solidFill>
                <a:latin typeface="Courier New"/>
              </a:rPr>
              <a:t>def describe_environment():</a:t>
            </a:r>
          </a:p>
          <a:p>
            <a:pPr algn="l">
              <a:lnSpc>
                <a:spcPct val="100000"/>
              </a:lnSpc>
            </a:pPr>
            <a:r>
              <a:rPr sz="1250">
                <a:solidFill>
                  <a:srgbClr val="1A1A1A"/>
                </a:solidFill>
                <a:latin typeface="Courier New"/>
              </a:rPr>
              <a:t>    """Print facts that often explain 'works on my machine' problems."""</a:t>
            </a:r>
          </a:p>
          <a:p>
            <a:pPr algn="l">
              <a:lnSpc>
                <a:spcPct val="100000"/>
              </a:lnSpc>
            </a:pPr>
            <a:r>
              <a:rPr sz="1250">
                <a:solidFill>
                  <a:srgbClr val="1A1A1A"/>
                </a:solidFill>
                <a:latin typeface="Courier New"/>
              </a:rPr>
              <a:t>    print("Python    :", sys.version.split()[0])</a:t>
            </a:r>
          </a:p>
          <a:p>
            <a:pPr algn="l">
              <a:lnSpc>
                <a:spcPct val="100000"/>
              </a:lnSpc>
            </a:pPr>
            <a:r>
              <a:rPr sz="1250">
                <a:solidFill>
                  <a:srgbClr val="1A1A1A"/>
                </a:solidFill>
                <a:latin typeface="Courier New"/>
              </a:rPr>
              <a:t>    print("Executable:", sys.executable)          # which interpreter / venv is running?</a:t>
            </a:r>
          </a:p>
          <a:p>
            <a:pPr algn="l">
              <a:lnSpc>
                <a:spcPct val="100000"/>
              </a:lnSpc>
            </a:pPr>
            <a:r>
              <a:rPr sz="1250">
                <a:solidFill>
                  <a:srgbClr val="1A1A1A"/>
                </a:solidFill>
                <a:latin typeface="Courier New"/>
              </a:rPr>
              <a:t>    print("Prefix    :", sys.prefix)              # inside a virtual environment this differs from base_prefix</a:t>
            </a:r>
          </a:p>
          <a:p>
            <a:pPr algn="l">
              <a:lnSpc>
                <a:spcPct val="100000"/>
              </a:lnSpc>
            </a:pPr>
            <a:r>
              <a:rPr sz="1250">
                <a:solidFill>
                  <a:srgbClr val="1A1A1A"/>
                </a:solidFill>
                <a:latin typeface="Courier New"/>
              </a:rPr>
              <a:t>    print("In venv   :", sys.prefix != sys.base_prefix)</a:t>
            </a:r>
          </a:p>
          <a:p>
            <a:pPr algn="l">
              <a:lnSpc>
                <a:spcPct val="100000"/>
              </a:lnSpc>
            </a:pPr>
            <a:r>
              <a:rPr sz="1250">
                <a:solidFill>
                  <a:srgbClr val="1A1A1A"/>
                </a:solidFill>
                <a:latin typeface="Courier New"/>
              </a:rPr>
              <a:t>    print("Path[0]   :", sys.path[0])              # where imports are searched first</a:t>
            </a:r>
          </a:p>
          <a:p>
            <a:pPr algn="l">
              <a:lnSpc>
                <a:spcPct val="100000"/>
              </a:lnSpc>
            </a:pPr>
            <a:r>
              <a:rPr sz="1250">
                <a:solidFill>
                  <a:srgbClr val="1A1A1A"/>
                </a:solidFill>
                <a:latin typeface="Courier New"/>
              </a:rPr>
              <a:t> </a:t>
            </a:r>
          </a:p>
          <a:p>
            <a:pPr algn="l">
              <a:lnSpc>
                <a:spcPct val="100000"/>
              </a:lnSpc>
            </a:pPr>
            <a:r>
              <a:rPr sz="1250">
                <a:solidFill>
                  <a:srgbClr val="1A1A1A"/>
                </a:solidFill>
                <a:latin typeface="Courier New"/>
              </a:rPr>
              <a:t>describe_environment()</a:t>
            </a:r>
          </a:p>
        </p:txBody>
      </p:sp>
      <p:sp>
        <p:nvSpPr>
          <p:cNvPr id="6" name="Oval 5"/>
          <p:cNvSpPr/>
          <p:nvPr/>
        </p:nvSpPr>
        <p:spPr>
          <a:xfrm>
            <a:off x="609904" y="434340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7" name="TextBox 6"/>
          <p:cNvSpPr txBox="1"/>
          <p:nvPr/>
        </p:nvSpPr>
        <p:spPr>
          <a:xfrm>
            <a:off x="1158544" y="4379976"/>
            <a:ext cx="10423245" cy="466407"/>
          </a:xfrm>
          <a:prstGeom prst="rect">
            <a:avLst/>
          </a:prstGeom>
          <a:noFill/>
        </p:spPr>
        <p:txBody>
          <a:bodyPr wrap="square" lIns="0" tIns="0" rIns="0" bIns="0" anchor="t">
            <a:spAutoFit/>
          </a:bodyPr>
          <a:lstStyle/>
          <a:p>
            <a:pPr algn="l">
              <a:lnSpc>
                <a:spcPct val="110000"/>
              </a:lnSpc>
              <a:spcAft>
                <a:spcPts val="200"/>
              </a:spcAft>
            </a:pPr>
            <a:r>
              <a:rPr sz="1350" b="1" i="0">
                <a:solidFill>
                  <a:srgbClr val="330066"/>
                </a:solidFill>
                <a:latin typeface="Arial"/>
              </a:rPr>
              <a:t>sys.executable</a:t>
            </a:r>
          </a:p>
          <a:p>
            <a:pPr algn="l">
              <a:lnSpc>
                <a:spcPct val="110000"/>
              </a:lnSpc>
              <a:spcAft>
                <a:spcPts val="600"/>
              </a:spcAft>
            </a:pPr>
            <a:r>
              <a:rPr sz="1300" b="0" i="0">
                <a:solidFill>
                  <a:srgbClr val="1A1A1A"/>
                </a:solidFill>
                <a:latin typeface="Arial"/>
              </a:rPr>
              <a:t>Which interpreter or venv is running?</a:t>
            </a:r>
          </a:p>
        </p:txBody>
      </p:sp>
      <p:sp>
        <p:nvSpPr>
          <p:cNvPr id="8" name="Oval 7"/>
          <p:cNvSpPr/>
          <p:nvPr/>
        </p:nvSpPr>
        <p:spPr>
          <a:xfrm>
            <a:off x="609904" y="4855527"/>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9" name="TextBox 8"/>
          <p:cNvSpPr txBox="1"/>
          <p:nvPr/>
        </p:nvSpPr>
        <p:spPr>
          <a:xfrm>
            <a:off x="1158544" y="4892103"/>
            <a:ext cx="10423245" cy="466407"/>
          </a:xfrm>
          <a:prstGeom prst="rect">
            <a:avLst/>
          </a:prstGeom>
          <a:noFill/>
        </p:spPr>
        <p:txBody>
          <a:bodyPr wrap="square" lIns="0" tIns="0" rIns="0" bIns="0" anchor="t">
            <a:spAutoFit/>
          </a:bodyPr>
          <a:lstStyle/>
          <a:p>
            <a:pPr algn="l">
              <a:lnSpc>
                <a:spcPct val="110000"/>
              </a:lnSpc>
              <a:spcAft>
                <a:spcPts val="200"/>
              </a:spcAft>
            </a:pPr>
            <a:r>
              <a:rPr sz="1350" b="1" i="0">
                <a:solidFill>
                  <a:srgbClr val="330066"/>
                </a:solidFill>
                <a:latin typeface="Arial"/>
              </a:rPr>
              <a:t>sys.prefix</a:t>
            </a:r>
          </a:p>
          <a:p>
            <a:pPr algn="l">
              <a:lnSpc>
                <a:spcPct val="110000"/>
              </a:lnSpc>
              <a:spcAft>
                <a:spcPts val="600"/>
              </a:spcAft>
            </a:pPr>
            <a:r>
              <a:rPr sz="1300" b="0" i="0">
                <a:solidFill>
                  <a:srgbClr val="1A1A1A"/>
                </a:solidFill>
                <a:latin typeface="Arial"/>
              </a:rPr>
              <a:t>Inside a virtual environment this differs from </a:t>
            </a:r>
            <a:r>
              <a:rPr sz="1250" b="0" i="0">
                <a:solidFill>
                  <a:srgbClr val="330066"/>
                </a:solidFill>
                <a:latin typeface="Courier New"/>
              </a:rPr>
              <a:t>base_prefix</a:t>
            </a:r>
            <a:r>
              <a:rPr sz="1300" b="0" i="0">
                <a:solidFill>
                  <a:srgbClr val="1A1A1A"/>
                </a:solidFill>
                <a:latin typeface="Arial"/>
              </a:rPr>
              <a:t>.</a:t>
            </a:r>
          </a:p>
        </p:txBody>
      </p:sp>
      <p:sp>
        <p:nvSpPr>
          <p:cNvPr id="10" name="Oval 9"/>
          <p:cNvSpPr/>
          <p:nvPr/>
        </p:nvSpPr>
        <p:spPr>
          <a:xfrm>
            <a:off x="609904" y="5367655"/>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11" name="TextBox 10"/>
          <p:cNvSpPr txBox="1"/>
          <p:nvPr/>
        </p:nvSpPr>
        <p:spPr>
          <a:xfrm>
            <a:off x="1158544" y="5404231"/>
            <a:ext cx="10423245" cy="466407"/>
          </a:xfrm>
          <a:prstGeom prst="rect">
            <a:avLst/>
          </a:prstGeom>
          <a:noFill/>
        </p:spPr>
        <p:txBody>
          <a:bodyPr wrap="square" lIns="0" tIns="0" rIns="0" bIns="0" anchor="t">
            <a:spAutoFit/>
          </a:bodyPr>
          <a:lstStyle/>
          <a:p>
            <a:pPr algn="l">
              <a:lnSpc>
                <a:spcPct val="110000"/>
              </a:lnSpc>
              <a:spcAft>
                <a:spcPts val="200"/>
              </a:spcAft>
            </a:pPr>
            <a:r>
              <a:rPr sz="1350" b="1" i="0">
                <a:solidFill>
                  <a:srgbClr val="330066"/>
                </a:solidFill>
                <a:latin typeface="Arial"/>
              </a:rPr>
              <a:t>sys.path[0]</a:t>
            </a:r>
          </a:p>
          <a:p>
            <a:pPr algn="l">
              <a:lnSpc>
                <a:spcPct val="110000"/>
              </a:lnSpc>
              <a:spcAft>
                <a:spcPts val="600"/>
              </a:spcAft>
            </a:pPr>
            <a:r>
              <a:rPr sz="1300" b="0" i="0">
                <a:solidFill>
                  <a:srgbClr val="1A1A1A"/>
                </a:solidFill>
                <a:latin typeface="Arial"/>
              </a:rPr>
              <a:t>Where imports are searched first.</a:t>
            </a:r>
          </a:p>
        </p:txBody>
      </p:sp>
      <p:sp>
        <p:nvSpPr>
          <p:cNvPr id="12" name="TextBox 11"/>
          <p:cNvSpPr txBox="1"/>
          <p:nvPr/>
        </p:nvSpPr>
        <p:spPr>
          <a:xfrm>
            <a:off x="609904" y="6053328"/>
            <a:ext cx="10971885" cy="365760"/>
          </a:xfrm>
          <a:prstGeom prst="rect">
            <a:avLst/>
          </a:prstGeom>
          <a:noFill/>
        </p:spPr>
        <p:txBody>
          <a:bodyPr wrap="square" lIns="0" tIns="0" rIns="0" bIns="0" anchor="t">
            <a:spAutoFit/>
          </a:bodyPr>
          <a:lstStyle/>
          <a:p>
            <a:pPr algn="l">
              <a:lnSpc>
                <a:spcPct val="110000"/>
              </a:lnSpc>
              <a:spcAft>
                <a:spcPts val="600"/>
              </a:spcAft>
            </a:pPr>
            <a:r>
              <a:rPr sz="1300" b="0" i="0">
                <a:solidFill>
                  <a:srgbClr val="5A5A5A"/>
                </a:solidFill>
                <a:latin typeface="Arial"/>
              </a:rPr>
              <a:t>Confirms which environment a failing test run uses. Sample output differs per machine.</a:t>
            </a:r>
          </a:p>
        </p:txBody>
      </p:sp>
      <p:sp>
        <p:nvSpPr>
          <p:cNvPr id="13" name="TextBox 12"/>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60 / 63</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Key Takeaways (1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 bug is a defect in code or data; a failure is its visible effect. Find the root cause, not just the crash line.</a:t>
            </a:r>
          </a:p>
        </p:txBody>
      </p:sp>
      <p:sp>
        <p:nvSpPr>
          <p:cNvPr id="6" name="Oval 5"/>
          <p:cNvSpPr/>
          <p:nvPr/>
        </p:nvSpPr>
        <p:spPr>
          <a:xfrm>
            <a:off x="609904" y="243789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511044"/>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Three flavours: syntax errors (before running), runtime errors (exceptions), logic errors (silently wrong results).</a:t>
            </a:r>
          </a:p>
        </p:txBody>
      </p:sp>
      <p:sp>
        <p:nvSpPr>
          <p:cNvPr id="8" name="Oval 7"/>
          <p:cNvSpPr/>
          <p:nvPr/>
        </p:nvSpPr>
        <p:spPr>
          <a:xfrm>
            <a:off x="609904" y="309270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165856"/>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Debug scientifically: reproduce, read the evidence, isolate, hypothesise, test, fix one thing, verify, reflect.</a:t>
            </a:r>
          </a:p>
        </p:txBody>
      </p:sp>
      <p:sp>
        <p:nvSpPr>
          <p:cNvPr id="10" name="Oval 9"/>
          <p:cNvSpPr/>
          <p:nvPr/>
        </p:nvSpPr>
        <p:spPr>
          <a:xfrm>
            <a:off x="609904" y="374751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820668"/>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Read tracebacks from the bottom up: type and message, failing line, then the call chain.</a:t>
            </a:r>
          </a:p>
        </p:txBody>
      </p:sp>
      <p:sp>
        <p:nvSpPr>
          <p:cNvPr id="12" name="Oval 11"/>
          <p:cNvSpPr/>
          <p:nvPr/>
        </p:nvSpPr>
        <p:spPr>
          <a:xfrm>
            <a:off x="609904" y="4296156"/>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3" name="TextBox 12"/>
          <p:cNvSpPr txBox="1"/>
          <p:nvPr/>
        </p:nvSpPr>
        <p:spPr>
          <a:xfrm>
            <a:off x="1158544" y="4369308"/>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Print debugging is quick but limited: label values, use </a:t>
            </a:r>
            <a:r>
              <a:rPr sz="1350" b="0" i="0">
                <a:solidFill>
                  <a:srgbClr val="330066"/>
                </a:solidFill>
                <a:latin typeface="Courier New"/>
              </a:rPr>
              <a:t>!r</a:t>
            </a:r>
            <a:r>
              <a:rPr sz="1400" b="0" i="0">
                <a:solidFill>
                  <a:srgbClr val="1A1A1A"/>
                </a:solidFill>
                <a:latin typeface="Arial"/>
              </a:rPr>
              <a:t>, remove prints afterwards.</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61 / 63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Key Takeaways (2 of 2)</a:t>
            </a:r>
          </a:p>
        </p:txBody>
      </p:sp>
      <p:sp>
        <p:nvSpPr>
          <p:cNvPr id="3" name="TextBox 2"/>
          <p:cNvSpPr txBox="1"/>
          <p:nvPr/>
        </p:nvSpPr>
        <p:spPr>
          <a:xfrm>
            <a:off x="609904" y="18288"/>
            <a:ext cx="10971885" cy="274320"/>
          </a:xfrm>
          <a:prstGeom prst="rect">
            <a:avLst/>
          </a:prstGeom>
          <a:noFill/>
        </p:spPr>
        <p:txBody>
          <a:bodyPr wrap="square">
            <a:spAutoFit/>
          </a:bodyPr>
          <a:lstStyle/>
          <a:p>
            <a:r>
              <a:rPr sz="1200" b="1">
                <a:solidFill>
                  <a:srgbClr val="669999"/>
                </a:solidFill>
                <a:latin typeface="Arial"/>
              </a:rPr>
              <a:t>SUMMARY</a:t>
            </a:r>
          </a:p>
        </p:txBody>
      </p:sp>
      <p:sp>
        <p:nvSpPr>
          <p:cNvPr id="4" name="Oval 3"/>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5" name="TextBox 4"/>
          <p:cNvSpPr txBox="1"/>
          <p:nvPr/>
        </p:nvSpPr>
        <p:spPr>
          <a:xfrm>
            <a:off x="1158544" y="1856231"/>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Assertions catch wrong assumptions at the earliest point, with a message including actual values.</a:t>
            </a:r>
          </a:p>
        </p:txBody>
      </p:sp>
      <p:sp>
        <p:nvSpPr>
          <p:cNvPr id="6" name="Oval 5"/>
          <p:cNvSpPr/>
          <p:nvPr/>
        </p:nvSpPr>
        <p:spPr>
          <a:xfrm>
            <a:off x="609904" y="233172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7" name="TextBox 6"/>
          <p:cNvSpPr txBox="1"/>
          <p:nvPr/>
        </p:nvSpPr>
        <p:spPr>
          <a:xfrm>
            <a:off x="1158544" y="2404872"/>
            <a:ext cx="10423245" cy="490220"/>
          </a:xfrm>
          <a:prstGeom prst="rect">
            <a:avLst/>
          </a:prstGeom>
          <a:noFill/>
        </p:spPr>
        <p:txBody>
          <a:bodyPr wrap="square" lIns="0" tIns="0" rIns="0" bIns="0" anchor="t">
            <a:spAutoFit/>
          </a:bodyPr>
          <a:lstStyle/>
          <a:p>
            <a:pPr algn="l">
              <a:lnSpc>
                <a:spcPct val="110000"/>
              </a:lnSpc>
              <a:spcAft>
                <a:spcPts val="600"/>
              </a:spcAft>
            </a:pPr>
            <a:r>
              <a:rPr sz="1350" b="0" i="0">
                <a:solidFill>
                  <a:srgbClr val="330066"/>
                </a:solidFill>
                <a:latin typeface="Courier New"/>
              </a:rPr>
              <a:t>pdb</a:t>
            </a:r>
            <a:r>
              <a:rPr sz="1400" b="0" i="0">
                <a:solidFill>
                  <a:srgbClr val="1A1A1A"/>
                </a:solidFill>
                <a:latin typeface="Arial"/>
              </a:rPr>
              <a:t> (</a:t>
            </a:r>
            <a:r>
              <a:rPr sz="1350" b="0" i="0">
                <a:solidFill>
                  <a:srgbClr val="330066"/>
                </a:solidFill>
                <a:latin typeface="Courier New"/>
              </a:rPr>
              <a:t>breakpoint()</a:t>
            </a:r>
            <a:r>
              <a:rPr sz="1400" b="0" i="0">
                <a:solidFill>
                  <a:srgbClr val="1A1A1A"/>
                </a:solidFill>
                <a:latin typeface="Arial"/>
              </a:rPr>
              <a:t>, </a:t>
            </a:r>
            <a:r>
              <a:rPr sz="1350" b="0" i="0">
                <a:solidFill>
                  <a:srgbClr val="330066"/>
                </a:solidFill>
                <a:latin typeface="Courier New"/>
              </a:rPr>
              <a:t>python -m pdb</a:t>
            </a:r>
            <a:r>
              <a:rPr sz="1400" b="0" i="0">
                <a:solidFill>
                  <a:srgbClr val="1A1A1A"/>
                </a:solidFill>
                <a:latin typeface="Arial"/>
              </a:rPr>
              <a:t>, post-mortem): inspect with </a:t>
            </a:r>
            <a:r>
              <a:rPr sz="1350" b="0" i="0">
                <a:solidFill>
                  <a:srgbClr val="330066"/>
                </a:solidFill>
                <a:latin typeface="Courier New"/>
              </a:rPr>
              <a:t>p</a:t>
            </a:r>
            <a:r>
              <a:rPr sz="1400" b="0" i="0">
                <a:solidFill>
                  <a:srgbClr val="1A1A1A"/>
                </a:solidFill>
                <a:latin typeface="Arial"/>
              </a:rPr>
              <a:t>, </a:t>
            </a:r>
            <a:r>
              <a:rPr sz="1350" b="0" i="0">
                <a:solidFill>
                  <a:srgbClr val="330066"/>
                </a:solidFill>
                <a:latin typeface="Courier New"/>
              </a:rPr>
              <a:t>pp</a:t>
            </a:r>
            <a:r>
              <a:rPr sz="1400" b="0" i="0">
                <a:solidFill>
                  <a:srgbClr val="1A1A1A"/>
                </a:solidFill>
                <a:latin typeface="Arial"/>
              </a:rPr>
              <a:t>, </a:t>
            </a:r>
            <a:r>
              <a:rPr sz="1350" b="0" i="0">
                <a:solidFill>
                  <a:srgbClr val="330066"/>
                </a:solidFill>
                <a:latin typeface="Courier New"/>
              </a:rPr>
              <a:t>a</a:t>
            </a:r>
            <a:r>
              <a:rPr sz="1400" b="0" i="0">
                <a:solidFill>
                  <a:srgbClr val="1A1A1A"/>
                </a:solidFill>
                <a:latin typeface="Arial"/>
              </a:rPr>
              <a:t>, </a:t>
            </a:r>
            <a:r>
              <a:rPr sz="1350" b="0" i="0">
                <a:solidFill>
                  <a:srgbClr val="330066"/>
                </a:solidFill>
                <a:latin typeface="Courier New"/>
              </a:rPr>
              <a:t>w</a:t>
            </a:r>
            <a:r>
              <a:rPr sz="1400" b="0" i="0">
                <a:solidFill>
                  <a:srgbClr val="1A1A1A"/>
                </a:solidFill>
                <a:latin typeface="Arial"/>
              </a:rPr>
              <a:t>, </a:t>
            </a:r>
            <a:r>
              <a:rPr sz="1350" b="0" i="0">
                <a:solidFill>
                  <a:srgbClr val="330066"/>
                </a:solidFill>
                <a:latin typeface="Courier New"/>
              </a:rPr>
              <a:t>u</a:t>
            </a:r>
            <a:r>
              <a:rPr sz="1400" b="0" i="0">
                <a:solidFill>
                  <a:srgbClr val="1A1A1A"/>
                </a:solidFill>
                <a:latin typeface="Arial"/>
              </a:rPr>
              <a:t>, </a:t>
            </a:r>
            <a:r>
              <a:rPr sz="1350" b="0" i="0">
                <a:solidFill>
                  <a:srgbClr val="330066"/>
                </a:solidFill>
                <a:latin typeface="Courier New"/>
              </a:rPr>
              <a:t>d</a:t>
            </a:r>
            <a:r>
              <a:rPr sz="1400" b="0" i="0">
                <a:solidFill>
                  <a:srgbClr val="1A1A1A"/>
                </a:solidFill>
                <a:latin typeface="Arial"/>
              </a:rPr>
              <a:t>; step with </a:t>
            </a:r>
            <a:r>
              <a:rPr sz="1350" b="0" i="0">
                <a:solidFill>
                  <a:srgbClr val="330066"/>
                </a:solidFill>
                <a:latin typeface="Courier New"/>
              </a:rPr>
              <a:t>n</a:t>
            </a:r>
            <a:r>
              <a:rPr sz="1400" b="0" i="0">
                <a:solidFill>
                  <a:srgbClr val="1A1A1A"/>
                </a:solidFill>
                <a:latin typeface="Arial"/>
              </a:rPr>
              <a:t>, </a:t>
            </a:r>
            <a:r>
              <a:rPr sz="1350" b="0" i="0">
                <a:solidFill>
                  <a:srgbClr val="330066"/>
                </a:solidFill>
                <a:latin typeface="Courier New"/>
              </a:rPr>
              <a:t>s</a:t>
            </a:r>
            <a:r>
              <a:rPr sz="1400" b="0" i="0">
                <a:solidFill>
                  <a:srgbClr val="1A1A1A"/>
                </a:solidFill>
                <a:latin typeface="Arial"/>
              </a:rPr>
              <a:t>, </a:t>
            </a:r>
            <a:r>
              <a:rPr sz="1350" b="0" i="0">
                <a:solidFill>
                  <a:srgbClr val="330066"/>
                </a:solidFill>
                <a:latin typeface="Courier New"/>
              </a:rPr>
              <a:t>r</a:t>
            </a:r>
            <a:r>
              <a:rPr sz="1400" b="0" i="0">
                <a:solidFill>
                  <a:srgbClr val="1A1A1A"/>
                </a:solidFill>
                <a:latin typeface="Arial"/>
              </a:rPr>
              <a:t>, </a:t>
            </a:r>
            <a:r>
              <a:rPr sz="1350" b="0" i="0">
                <a:solidFill>
                  <a:srgbClr val="330066"/>
                </a:solidFill>
                <a:latin typeface="Courier New"/>
              </a:rPr>
              <a:t>c</a:t>
            </a:r>
            <a:r>
              <a:rPr sz="1400" b="0" i="0">
                <a:solidFill>
                  <a:srgbClr val="1A1A1A"/>
                </a:solidFill>
                <a:latin typeface="Arial"/>
              </a:rPr>
              <a:t>; conditional breakpoints with </a:t>
            </a:r>
            <a:r>
              <a:rPr sz="1350" b="0" i="0">
                <a:solidFill>
                  <a:srgbClr val="330066"/>
                </a:solidFill>
                <a:latin typeface="Courier New"/>
              </a:rPr>
              <a:t>b 12, cond</a:t>
            </a:r>
            <a:r>
              <a:rPr sz="1400" b="0" i="0">
                <a:solidFill>
                  <a:srgbClr val="1A1A1A"/>
                </a:solidFill>
                <a:latin typeface="Arial"/>
              </a:rPr>
              <a:t>.</a:t>
            </a:r>
          </a:p>
        </p:txBody>
      </p:sp>
      <p:sp>
        <p:nvSpPr>
          <p:cNvPr id="8" name="Oval 7"/>
          <p:cNvSpPr/>
          <p:nvPr/>
        </p:nvSpPr>
        <p:spPr>
          <a:xfrm>
            <a:off x="609904" y="298653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9" name="TextBox 8"/>
          <p:cNvSpPr txBox="1"/>
          <p:nvPr/>
        </p:nvSpPr>
        <p:spPr>
          <a:xfrm>
            <a:off x="1158544" y="3059684"/>
            <a:ext cx="10423245" cy="384048"/>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IDE debuggers offer the same: breakpoints, watches, step over/into/out, call stack.</a:t>
            </a:r>
          </a:p>
        </p:txBody>
      </p:sp>
      <p:sp>
        <p:nvSpPr>
          <p:cNvPr id="10" name="Oval 9"/>
          <p:cNvSpPr/>
          <p:nvPr/>
        </p:nvSpPr>
        <p:spPr>
          <a:xfrm>
            <a:off x="609904" y="3535172"/>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4</a:t>
            </a:r>
          </a:p>
        </p:txBody>
      </p:sp>
      <p:sp>
        <p:nvSpPr>
          <p:cNvPr id="11" name="TextBox 10"/>
          <p:cNvSpPr txBox="1"/>
          <p:nvPr/>
        </p:nvSpPr>
        <p:spPr>
          <a:xfrm>
            <a:off x="1158544" y="3608324"/>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Isolation: minimal reproducible examples, binary search, comparing cases, checking the environment, rubber duck.</a:t>
            </a:r>
          </a:p>
        </p:txBody>
      </p:sp>
      <p:sp>
        <p:nvSpPr>
          <p:cNvPr id="12" name="Oval 11"/>
          <p:cNvSpPr/>
          <p:nvPr/>
        </p:nvSpPr>
        <p:spPr>
          <a:xfrm>
            <a:off x="609904" y="4189984"/>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5</a:t>
            </a:r>
          </a:p>
        </p:txBody>
      </p:sp>
      <p:sp>
        <p:nvSpPr>
          <p:cNvPr id="13" name="TextBox 12"/>
          <p:cNvSpPr txBox="1"/>
          <p:nvPr/>
        </p:nvSpPr>
        <p:spPr>
          <a:xfrm>
            <a:off x="1158544" y="4263136"/>
            <a:ext cx="10423245" cy="490220"/>
          </a:xfrm>
          <a:prstGeom prst="rect">
            <a:avLst/>
          </a:prstGeom>
          <a:noFill/>
        </p:spPr>
        <p:txBody>
          <a:bodyPr wrap="square" lIns="0" tIns="0" rIns="0" bIns="0" anchor="t">
            <a:spAutoFit/>
          </a:bodyPr>
          <a:lstStyle/>
          <a:p>
            <a:pPr algn="l">
              <a:lnSpc>
                <a:spcPct val="110000"/>
              </a:lnSpc>
              <a:spcAft>
                <a:spcPts val="600"/>
              </a:spcAft>
            </a:pPr>
            <a:r>
              <a:rPr sz="1400" b="0" i="0">
                <a:solidFill>
                  <a:srgbClr val="1A1A1A"/>
                </a:solidFill>
                <a:latin typeface="Arial"/>
              </a:rPr>
              <a:t>For failing tests, decide product, test, data or environment; never loosen a test just to turn it green. Next: Logging and unit testing.</a:t>
            </a:r>
          </a:p>
        </p:txBody>
      </p:sp>
      <p:sp>
        <p:nvSpPr>
          <p:cNvPr id="14" name="TextBox 13"/>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62 / 63</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solidFill>
                  <a:srgbClr val="330066"/>
                </a:solidFill>
              </a:rPr>
              <a:t>Additional Resources</a:t>
            </a:r>
          </a:p>
        </p:txBody>
      </p:sp>
      <p:sp>
        <p:nvSpPr>
          <p:cNvPr id="3" name="Oval 2"/>
          <p:cNvSpPr/>
          <p:nvPr/>
        </p:nvSpPr>
        <p:spPr>
          <a:xfrm>
            <a:off x="609904" y="17830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1</a:t>
            </a:r>
          </a:p>
        </p:txBody>
      </p:sp>
      <p:sp>
        <p:nvSpPr>
          <p:cNvPr id="4" name="TextBox 3"/>
          <p:cNvSpPr txBox="1"/>
          <p:nvPr/>
        </p:nvSpPr>
        <p:spPr>
          <a:xfrm>
            <a:off x="1158544" y="18196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Python Standard Library, pdb (The Python Debugger)</a:t>
            </a:r>
          </a:p>
          <a:p>
            <a:pPr algn="l">
              <a:lnSpc>
                <a:spcPct val="110000"/>
              </a:lnSpc>
              <a:spcAft>
                <a:spcPts val="600"/>
              </a:spcAft>
            </a:pPr>
            <a:r>
              <a:rPr sz="1200" b="0" i="0">
                <a:solidFill>
                  <a:srgbClr val="330066"/>
                </a:solidFill>
                <a:latin typeface="Courier New"/>
              </a:rPr>
              <a:t>https://docs.python.org/3/library/pdb.html</a:t>
            </a:r>
          </a:p>
        </p:txBody>
      </p:sp>
      <p:sp>
        <p:nvSpPr>
          <p:cNvPr id="5" name="Oval 4"/>
          <p:cNvSpPr/>
          <p:nvPr/>
        </p:nvSpPr>
        <p:spPr>
          <a:xfrm>
            <a:off x="609904" y="2434780"/>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2</a:t>
            </a:r>
          </a:p>
        </p:txBody>
      </p:sp>
      <p:sp>
        <p:nvSpPr>
          <p:cNvPr id="6" name="TextBox 5"/>
          <p:cNvSpPr txBox="1"/>
          <p:nvPr/>
        </p:nvSpPr>
        <p:spPr>
          <a:xfrm>
            <a:off x="1158544" y="2471356"/>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Python Tutorial, "Errors and Exceptions"</a:t>
            </a:r>
          </a:p>
          <a:p>
            <a:pPr algn="l">
              <a:lnSpc>
                <a:spcPct val="110000"/>
              </a:lnSpc>
              <a:spcAft>
                <a:spcPts val="600"/>
              </a:spcAft>
            </a:pPr>
            <a:r>
              <a:rPr sz="1200" b="0" i="0">
                <a:solidFill>
                  <a:srgbClr val="330066"/>
                </a:solidFill>
                <a:latin typeface="Courier New"/>
              </a:rPr>
              <a:t>https://docs.python.org/3/tutorial/errors.html</a:t>
            </a:r>
          </a:p>
        </p:txBody>
      </p:sp>
      <p:sp>
        <p:nvSpPr>
          <p:cNvPr id="7" name="Oval 6"/>
          <p:cNvSpPr/>
          <p:nvPr/>
        </p:nvSpPr>
        <p:spPr>
          <a:xfrm>
            <a:off x="609904" y="3086481"/>
            <a:ext cx="384048" cy="384048"/>
          </a:xfrm>
          <a:prstGeom prst="ellipse">
            <a:avLst/>
          </a:prstGeom>
          <a:solidFill>
            <a:srgbClr val="33006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Arial"/>
              </a:rPr>
              <a:t>3</a:t>
            </a:r>
          </a:p>
        </p:txBody>
      </p:sp>
      <p:sp>
        <p:nvSpPr>
          <p:cNvPr id="8" name="TextBox 7"/>
          <p:cNvSpPr txBox="1"/>
          <p:nvPr/>
        </p:nvSpPr>
        <p:spPr>
          <a:xfrm>
            <a:off x="1158544" y="3123057"/>
            <a:ext cx="10423245" cy="450532"/>
          </a:xfrm>
          <a:prstGeom prst="rect">
            <a:avLst/>
          </a:prstGeom>
          <a:noFill/>
        </p:spPr>
        <p:txBody>
          <a:bodyPr wrap="square" lIns="0" tIns="0" rIns="0" bIns="0" anchor="t">
            <a:spAutoFit/>
          </a:bodyPr>
          <a:lstStyle/>
          <a:p>
            <a:pPr algn="l">
              <a:lnSpc>
                <a:spcPct val="110000"/>
              </a:lnSpc>
              <a:spcAft>
                <a:spcPts val="200"/>
              </a:spcAft>
            </a:pPr>
            <a:r>
              <a:rPr sz="1300" b="1" i="0">
                <a:solidFill>
                  <a:srgbClr val="330066"/>
                </a:solidFill>
                <a:latin typeface="Arial"/>
              </a:rPr>
              <a:t>Python Standard Library, traceback</a:t>
            </a:r>
          </a:p>
          <a:p>
            <a:pPr algn="l">
              <a:lnSpc>
                <a:spcPct val="110000"/>
              </a:lnSpc>
              <a:spcAft>
                <a:spcPts val="600"/>
              </a:spcAft>
            </a:pPr>
            <a:r>
              <a:rPr sz="1200" b="0" i="0">
                <a:solidFill>
                  <a:srgbClr val="330066"/>
                </a:solidFill>
                <a:latin typeface="Courier New"/>
              </a:rPr>
              <a:t>https://docs.python.org/3/library/traceback.html</a:t>
            </a:r>
          </a:p>
        </p:txBody>
      </p:sp>
      <p:sp>
        <p:nvSpPr>
          <p:cNvPr id="9" name="TextBox 8"/>
          <p:cNvSpPr txBox="1"/>
          <p:nvPr/>
        </p:nvSpPr>
        <p:spPr>
          <a:xfrm>
            <a:off x="609904" y="6382512"/>
            <a:ext cx="8686800" cy="140488"/>
          </a:xfrm>
          <a:prstGeom prst="rect">
            <a:avLst/>
          </a:prstGeom>
          <a:noFill/>
        </p:spPr>
        <p:txBody>
          <a:bodyPr wrap="square" lIns="0" tIns="0" rIns="0" bIns="0" anchor="t">
            <a:spAutoFit/>
          </a:bodyPr>
          <a:lstStyle/>
          <a:p>
            <a:pPr algn="l">
              <a:lnSpc>
                <a:spcPct val="110000"/>
              </a:lnSpc>
              <a:spcAft>
                <a:spcPts val="600"/>
              </a:spcAft>
            </a:pPr>
            <a:r>
              <a:rPr sz="900" b="0" i="0" dirty="0">
                <a:solidFill>
                  <a:srgbClr val="5A5A5A"/>
                </a:solidFill>
                <a:latin typeface="Arial"/>
              </a:rPr>
              <a:t>63 / 63</a:t>
            </a:r>
          </a:p>
        </p:txBody>
      </p:sp>
    </p:spTree>
  </p:cSld>
  <p:clrMapOvr>
    <a:masterClrMapping/>
  </p:clrMapOvr>
</p:sld>
</file>

<file path=ppt/theme/theme1.xml><?xml version="1.0" encoding="utf-8"?>
<a:theme xmlns:a="http://schemas.openxmlformats.org/drawingml/2006/main" name="Learners Point">
  <a:themeElements>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1_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IN"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1_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1_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1_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1_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1_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1_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1_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1_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1_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earners Point" id="{5ABB7BE2-076F-42C1-9907-FD58862889C1}" vid="{2565D177-60C2-4381-BEC4-E0C09BB79CBA}"/>
    </a:ext>
  </a:extLst>
</a:theme>
</file>

<file path=docProps/app.xml><?xml version="1.0" encoding="utf-8"?>
<Properties xmlns="http://schemas.openxmlformats.org/officeDocument/2006/extended-properties" xmlns:vt="http://schemas.openxmlformats.org/officeDocument/2006/docPropsVTypes">
  <TotalTime>2</TotalTime>
  <Words>6114</Words>
  <Application>Microsoft Office PowerPoint</Application>
  <PresentationFormat>Widescreen</PresentationFormat>
  <Paragraphs>811</Paragraphs>
  <Slides>63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Courier New</vt:lpstr>
      <vt:lpstr>Wingdings</vt:lpstr>
      <vt:lpstr>Learners Point</vt:lpstr>
      <vt:lpstr>Debugging Techniques</vt:lpstr>
      <vt:lpstr>Learning Objectives (1 of 2)</vt:lpstr>
      <vt:lpstr>Learning Objectives (2 of 2)</vt:lpstr>
      <vt:lpstr>Why This Matters</vt:lpstr>
      <vt:lpstr>Where This Fits in the Week</vt:lpstr>
      <vt:lpstr>The Concept</vt:lpstr>
      <vt:lpstr>Vocabulary</vt:lpstr>
      <vt:lpstr>Three Families of Problems</vt:lpstr>
      <vt:lpstr>The Scientific Method (1 of 2)</vt:lpstr>
      <vt:lpstr>The Scientific Method (2 of 2)</vt:lpstr>
      <vt:lpstr>Reading a Traceback</vt:lpstr>
      <vt:lpstr>A Program That Crashes</vt:lpstr>
      <vt:lpstr>The Traceback</vt:lpstr>
      <vt:lpstr>The Crash Line Is Not Always the Defect</vt:lpstr>
      <vt:lpstr>Common Exception Types (1 of 2)</vt:lpstr>
      <vt:lpstr>Common Exception Types (2 of 2)</vt:lpstr>
      <vt:lpstr>Two Frequent Cases</vt:lpstr>
      <vt:lpstr>Capturing a Traceback</vt:lpstr>
      <vt:lpstr>Print and Assertions</vt:lpstr>
      <vt:lpstr>Technique 1: Print Debugging</vt:lpstr>
      <vt:lpstr>Tips for Useful Prints</vt:lpstr>
      <vt:lpstr>Print Debugging: Strengths and Limits</vt:lpstr>
      <vt:lpstr>Technique 2: Assertions</vt:lpstr>
      <vt:lpstr>Assertions as Debugging Aids</vt:lpstr>
      <vt:lpstr>The Debugger: pdb</vt:lpstr>
      <vt:lpstr>What Is pdb?</vt:lpstr>
      <vt:lpstr>Option A: breakpoint()</vt:lpstr>
      <vt:lpstr>Options B and C</vt:lpstr>
      <vt:lpstr>Turning Breakpoints Off</vt:lpstr>
      <vt:lpstr>A First Debugging Session</vt:lpstr>
      <vt:lpstr>What Happened</vt:lpstr>
      <vt:lpstr>Essential pdb Commands (1 of 3)</vt:lpstr>
      <vt:lpstr>Essential pdb Commands (2 of 3)</vt:lpstr>
      <vt:lpstr>Essential pdb Commands (3 of 3)</vt:lpstr>
      <vt:lpstr>n Versus s</vt:lpstr>
      <vt:lpstr>Stepping Through a Logic Bug</vt:lpstr>
      <vt:lpstr>Break, Continue, Step</vt:lpstr>
      <vt:lpstr>Jump to the Return and Test</vt:lpstr>
      <vt:lpstr>The Call Stack: w, u, d</vt:lpstr>
      <vt:lpstr>Conditional Breakpoints: the Code</vt:lpstr>
      <vt:lpstr>Conditional Breakpoints: the Session</vt:lpstr>
      <vt:lpstr>Post-Mortem Debugging</vt:lpstr>
      <vt:lpstr>Isolating the Problem</vt:lpstr>
      <vt:lpstr>Minimal Reproducible Example</vt:lpstr>
      <vt:lpstr>Binary Search and Comparing Cases</vt:lpstr>
      <vt:lpstr>Check the Obvious First</vt:lpstr>
      <vt:lpstr>Rubber-Duck Debugging</vt:lpstr>
      <vt:lpstr>IDE Debuggers and Tests</vt:lpstr>
      <vt:lpstr>Technique 5: The IDE Debugger</vt:lpstr>
      <vt:lpstr>IDE: Stepping and More</vt:lpstr>
      <vt:lpstr>IDE or pdb?</vt:lpstr>
      <vt:lpstr>Debugging Test Automation (1 of 2)</vt:lpstr>
      <vt:lpstr>Debugging Test Automation (2 of 2)</vt:lpstr>
      <vt:lpstr>Common Debugging Pitfalls</vt:lpstr>
      <vt:lpstr>Worked Examples</vt:lpstr>
      <vt:lpstr>Example A: The Buggy Function</vt:lpstr>
      <vt:lpstr>Example A: Reading the Evidence</vt:lpstr>
      <vt:lpstr>Example A: The Fix</vt:lpstr>
      <vt:lpstr>Example B: breakpoint() with a Condition</vt:lpstr>
      <vt:lpstr>Example C: Environment Checklist</vt:lpstr>
      <vt:lpstr>Key Takeaways (1 of 2)</vt:lpstr>
      <vt:lpstr>Key Takeaways (2 of 2)</vt:lpstr>
      <vt:lpstr>Additional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Learners Point Template</dc:title>
  <dc:creator>Learners Point</dc:creator>
  <cp:lastModifiedBy>Jasdhir Singh</cp:lastModifiedBy>
  <cp:revision>2</cp:revision>
  <dcterms:modified xsi:type="dcterms:W3CDTF">2026-10-18T10:22:05Z</dcterms:modified>
</cp:coreProperties>
</file>