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Lst>
  <p:sldSz cx="12192000" cy="6858000"/>
  <p:notesSz cx="6858000" cy="9144000"/>
  <p:defaultTextStyle>
    <a:defPPr>
      <a:defRPr lang="en-IN"/>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66562" name="Line 2"/>
          <p:cNvSpPr>
            <a:spLocks noChangeShapeType="1"/>
          </p:cNvSpPr>
          <p:nvPr/>
        </p:nvSpPr>
        <p:spPr bwMode="auto">
          <a:xfrm>
            <a:off x="9753600" y="1066800"/>
            <a:ext cx="0" cy="17526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1800"/>
          </a:p>
        </p:txBody>
      </p:sp>
      <p:sp>
        <p:nvSpPr>
          <p:cNvPr id="66563" name="Rectangle 3"/>
          <p:cNvSpPr>
            <a:spLocks noGrp="1" noChangeArrowheads="1"/>
          </p:cNvSpPr>
          <p:nvPr>
            <p:ph type="ctrTitle"/>
          </p:nvPr>
        </p:nvSpPr>
        <p:spPr>
          <a:xfrm>
            <a:off x="1016000" y="457200"/>
            <a:ext cx="8519584" cy="2133600"/>
          </a:xfrm>
        </p:spPr>
        <p:txBody>
          <a:bodyPr/>
          <a:lstStyle>
            <a:lvl1pPr>
              <a:defRPr/>
            </a:lvl1pPr>
          </a:lstStyle>
          <a:p>
            <a:pPr lvl="0"/>
            <a:r>
              <a:rPr lang="en-US" altLang="en-US" noProof="0"/>
              <a:t>Click to edit Master title style</a:t>
            </a:r>
          </a:p>
        </p:txBody>
      </p:sp>
      <p:sp>
        <p:nvSpPr>
          <p:cNvPr id="66564" name="Rectangle 4"/>
          <p:cNvSpPr>
            <a:spLocks noGrp="1" noChangeArrowheads="1"/>
          </p:cNvSpPr>
          <p:nvPr>
            <p:ph type="subTitle" idx="1"/>
          </p:nvPr>
        </p:nvSpPr>
        <p:spPr>
          <a:xfrm>
            <a:off x="1132417" y="3049588"/>
            <a:ext cx="8331200" cy="2362200"/>
          </a:xfrm>
        </p:spPr>
        <p:txBody>
          <a:bodyPr/>
          <a:lstStyle>
            <a:lvl1pPr marL="0" indent="0" algn="r">
              <a:buFont typeface="Wingdings" panose="05000000000000000000" pitchFamily="2" charset="2"/>
              <a:buNone/>
              <a:defRPr/>
            </a:lvl1pPr>
          </a:lstStyle>
          <a:p>
            <a:pPr lvl="0"/>
            <a:r>
              <a:rPr lang="en-US" altLang="en-US" noProof="0"/>
              <a:t>Click to edit Master subtitle style</a:t>
            </a:r>
          </a:p>
        </p:txBody>
      </p:sp>
      <p:sp>
        <p:nvSpPr>
          <p:cNvPr id="66565" name="Rectangle 5"/>
          <p:cNvSpPr>
            <a:spLocks noGrp="1" noChangeArrowheads="1"/>
          </p:cNvSpPr>
          <p:nvPr>
            <p:ph type="dt" sz="half" idx="2"/>
          </p:nvPr>
        </p:nvSpPr>
        <p:spPr/>
        <p:txBody>
          <a:bodyPr/>
          <a:lstStyle>
            <a:lvl1pPr>
              <a:defRPr/>
            </a:lvl1pPr>
          </a:lstStyle>
          <a:p>
            <a:fld id="{F304A9D6-1313-4D51-A62E-402D441D9A7B}" type="datetime1">
              <a:rPr lang="en-US" smtClean="0"/>
              <a:t>10/18/2026</a:t>
            </a:fld>
            <a:endParaRPr lang="en-US"/>
          </a:p>
        </p:txBody>
      </p:sp>
      <p:sp>
        <p:nvSpPr>
          <p:cNvPr id="66566" name="Rectangle 6"/>
          <p:cNvSpPr>
            <a:spLocks noGrp="1" noChangeArrowheads="1"/>
          </p:cNvSpPr>
          <p:nvPr>
            <p:ph type="ftr" sz="quarter" idx="3"/>
          </p:nvPr>
        </p:nvSpPr>
        <p:spPr/>
        <p:txBody>
          <a:bodyPr/>
          <a:lstStyle>
            <a:lvl1pPr>
              <a:defRPr/>
            </a:lvl1pPr>
          </a:lstStyle>
          <a:p>
            <a:endParaRPr lang="en-US"/>
          </a:p>
        </p:txBody>
      </p:sp>
      <p:sp>
        <p:nvSpPr>
          <p:cNvPr id="66567" name="Rectangle 7"/>
          <p:cNvSpPr>
            <a:spLocks noGrp="1" noChangeArrowheads="1"/>
          </p:cNvSpPr>
          <p:nvPr>
            <p:ph type="sldNum" sz="quarter" idx="4"/>
          </p:nvPr>
        </p:nvSpPr>
        <p:spPr/>
        <p:txBody>
          <a:bodyPr/>
          <a:lstStyle>
            <a:lvl1pPr>
              <a:defRPr/>
            </a:lvl1pPr>
          </a:lstStyle>
          <a:p>
            <a:fld id="{83385899-0B10-4821-AAA8-DC5305EDD7F2}" type="slidenum">
              <a:rPr lang="en-US" smtClean="0"/>
              <a:t>‹#›</a:t>
            </a:fld>
            <a:endParaRPr lang="en-US"/>
          </a:p>
        </p:txBody>
      </p:sp>
      <p:sp>
        <p:nvSpPr>
          <p:cNvPr id="66568" name="Line 8"/>
          <p:cNvSpPr>
            <a:spLocks noChangeShapeType="1"/>
          </p:cNvSpPr>
          <p:nvPr/>
        </p:nvSpPr>
        <p:spPr bwMode="auto">
          <a:xfrm>
            <a:off x="1117600" y="2819400"/>
            <a:ext cx="8636000" cy="0"/>
          </a:xfrm>
          <a:prstGeom prst="line">
            <a:avLst/>
          </a:prstGeom>
          <a:noFill/>
          <a:ln w="63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1800"/>
          </a:p>
        </p:txBody>
      </p:sp>
      <p:grpSp>
        <p:nvGrpSpPr>
          <p:cNvPr id="66569" name="Group 9" descr="decorative graphic made up of dots"/>
          <p:cNvGrpSpPr>
            <a:grpSpLocks/>
          </p:cNvGrpSpPr>
          <p:nvPr/>
        </p:nvGrpSpPr>
        <p:grpSpPr bwMode="auto">
          <a:xfrm>
            <a:off x="9956801" y="1219200"/>
            <a:ext cx="1056217" cy="1295400"/>
            <a:chOff x="5136" y="960"/>
            <a:chExt cx="528" cy="864"/>
          </a:xfrm>
        </p:grpSpPr>
        <p:sp>
          <p:nvSpPr>
            <p:cNvPr id="66570" name="Oval 10"/>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1" name="Oval 11"/>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2" name="Oval 12"/>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3" name="Oval 13"/>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4" name="Oval 14"/>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5" name="Oval 15"/>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6" name="Oval 16"/>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7" name="Oval 17"/>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8" name="Oval 18"/>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9" name="Oval 19"/>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0" name="Oval 20"/>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1" name="Oval 21"/>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2" name="Oval 22"/>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3" name="Oval 23"/>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4" name="Oval 24"/>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5" name="Oval 25"/>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6" name="Oval 26"/>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7" name="Oval 27"/>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8" name="Oval 28"/>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9" name="Oval 29"/>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0" name="Oval 30"/>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1" name="Oval 31"/>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2" name="Oval 32"/>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3" name="Oval 33"/>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4" name="Oval 34"/>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5" name="Oval 35"/>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6" name="Oval 36"/>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7" name="Oval 37"/>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8" name="Oval 38"/>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9" name="Oval 39"/>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0" name="Oval 40"/>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grpSp>
      <p:grpSp>
        <p:nvGrpSpPr>
          <p:cNvPr id="66601" name="Group 41" descr="decorative graphic made up of dots"/>
          <p:cNvGrpSpPr>
            <a:grpSpLocks/>
          </p:cNvGrpSpPr>
          <p:nvPr/>
        </p:nvGrpSpPr>
        <p:grpSpPr bwMode="auto">
          <a:xfrm>
            <a:off x="9956801" y="1219200"/>
            <a:ext cx="1056217" cy="1295400"/>
            <a:chOff x="5136" y="960"/>
            <a:chExt cx="528" cy="864"/>
          </a:xfrm>
        </p:grpSpPr>
        <p:sp>
          <p:nvSpPr>
            <p:cNvPr id="66602" name="Oval 42"/>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3" name="Oval 43"/>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4" name="Oval 44"/>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5" name="Oval 45"/>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6" name="Oval 46"/>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7" name="Oval 47"/>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8" name="Oval 48"/>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9" name="Oval 49"/>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0" name="Oval 50"/>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1" name="Oval 51"/>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2" name="Oval 52"/>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3" name="Oval 53"/>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4" name="Oval 54"/>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5" name="Oval 55"/>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6" name="Oval 56"/>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7" name="Oval 57"/>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8" name="Oval 58"/>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9" name="Oval 59"/>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0" name="Oval 60"/>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1" name="Oval 61"/>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2" name="Oval 62"/>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3" name="Oval 63"/>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4" name="Oval 64"/>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5" name="Oval 65"/>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6" name="Oval 66"/>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7" name="Oval 67"/>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8" name="Oval 68"/>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9" name="Oval 69"/>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30" name="Oval 70"/>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31" name="Oval 71"/>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32" name="Oval 72"/>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gr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08955" y="6247726"/>
            <a:ext cx="499764" cy="460309"/>
          </a:xfrm>
          <a:prstGeom prst="rect">
            <a:avLst/>
          </a:prstGeom>
        </p:spPr>
      </p:pic>
    </p:spTree>
    <p:extLst>
      <p:ext uri="{BB962C8B-B14F-4D97-AF65-F5344CB8AC3E}">
        <p14:creationId xmlns:p14="http://schemas.microsoft.com/office/powerpoint/2010/main" val="30852564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fld id="{F44A8556-2F07-416B-A81B-5F1C3AFD01EF}" type="datetime1">
              <a:rPr lang="en-US" smtClean="0"/>
              <a:t>10/18/2026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7954" y="6261305"/>
            <a:ext cx="499764" cy="460309"/>
          </a:xfrm>
          <a:prstGeom prst="rect">
            <a:avLst/>
          </a:prstGeom>
        </p:spPr>
      </p:pic>
    </p:spTree>
    <p:extLst>
      <p:ext uri="{BB962C8B-B14F-4D97-AF65-F5344CB8AC3E}">
        <p14:creationId xmlns:p14="http://schemas.microsoft.com/office/powerpoint/2010/main" val="673722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26729637-7636-4388-949A-FC8BFDAA4705}" type="datetime1">
              <a:rPr lang="en-US" smtClean="0"/>
              <a:t>10/18/2026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706092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09600" y="1719263"/>
            <a:ext cx="53848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719263"/>
            <a:ext cx="53848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lvl1pPr>
              <a:defRPr/>
            </a:lvl1pPr>
          </a:lstStyle>
          <a:p>
            <a:fld id="{A0F5DED8-6456-47A2-A5CC-BE8BEC6BD892}" type="datetime1">
              <a:rPr lang="en-US" smtClean="0"/>
              <a:t>10/18/2026</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9191744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lvl1pPr>
              <a:defRPr/>
            </a:lvl1pPr>
          </a:lstStyle>
          <a:p>
            <a:fld id="{17595759-8665-4708-8376-28A90FA13BDD}" type="datetime1">
              <a:rPr lang="en-US" smtClean="0"/>
              <a:t>10/18/2026</a:t>
            </a:fld>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18297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lvl1pPr>
              <a:defRPr/>
            </a:lvl1pPr>
          </a:lstStyle>
          <a:p>
            <a:fld id="{A3B0C243-4A55-4741-8265-C0A2FA769F7B}" type="datetime1">
              <a:rPr lang="en-US" smtClean="0"/>
              <a:t>10/18/2026</a:t>
            </a:fld>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12785460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A99A12F7-971D-41C1-A2B7-EBB58FF381A3}" type="datetime1">
              <a:rPr lang="en-US" smtClean="0"/>
              <a:t>10/18/2026</a:t>
            </a:fld>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13811122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2E3C3D28-2E0C-4F8B-A45D-9E87921943BF}" type="datetime1">
              <a:rPr lang="en-US" smtClean="0"/>
              <a:t>10/18/2026</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4809956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020A2-9D30-48AD-A70D-69AD2B027FCA}" type="datetime1">
              <a:rPr lang="en-US" smtClean="0"/>
              <a:t>10/18/2026</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121103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fld id="{F01F6343-4644-43E3-AA07-6869EC7CEA0D}" type="datetime1">
              <a:rPr lang="en-US" smtClean="0"/>
              <a:t>10/18/2026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1892150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22239"/>
            <a:ext cx="2743200" cy="6008687"/>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09600" y="122239"/>
            <a:ext cx="80264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fld id="{0CA0A126-F3CA-45B4-970B-597BE67A203E}" type="datetime1">
              <a:rPr lang="en-US" smtClean="0"/>
              <a:t>10/18/2026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40294651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122238"/>
            <a:ext cx="10058400" cy="1295400"/>
          </a:xfrm>
        </p:spPr>
        <p:txBody>
          <a:bodyPr/>
          <a:lstStyle/>
          <a:p>
            <a:r>
              <a:rPr lang="en-US"/>
              <a:t>Click to edit Master title style</a:t>
            </a:r>
            <a:endParaRPr lang="en-IN"/>
          </a:p>
        </p:txBody>
      </p:sp>
      <p:sp>
        <p:nvSpPr>
          <p:cNvPr id="3" name="Text Placeholder 2"/>
          <p:cNvSpPr>
            <a:spLocks noGrp="1"/>
          </p:cNvSpPr>
          <p:nvPr>
            <p:ph type="body" sz="half" idx="1"/>
          </p:nvPr>
        </p:nvSpPr>
        <p:spPr>
          <a:xfrm>
            <a:off x="609600" y="1719263"/>
            <a:ext cx="53848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719263"/>
            <a:ext cx="53848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609600" y="6248400"/>
            <a:ext cx="2844800" cy="457200"/>
          </a:xfrm>
        </p:spPr>
        <p:txBody>
          <a:bodyPr/>
          <a:lstStyle>
            <a:lvl1pPr>
              <a:defRPr/>
            </a:lvl1pPr>
          </a:lstStyle>
          <a:p>
            <a:fld id="{16815F9B-CAFE-4C37-897A-C6403744783F}" type="datetime1">
              <a:rPr lang="en-US" smtClean="0"/>
              <a:t>10/18/2026</a:t>
            </a:fld>
            <a:endParaRPr lang="en-US"/>
          </a:p>
        </p:txBody>
      </p:sp>
      <p:sp>
        <p:nvSpPr>
          <p:cNvPr id="6" name="Footer Placeholder 5"/>
          <p:cNvSpPr>
            <a:spLocks noGrp="1"/>
          </p:cNvSpPr>
          <p:nvPr>
            <p:ph type="ftr" sz="quarter" idx="11"/>
          </p:nvPr>
        </p:nvSpPr>
        <p:spPr>
          <a:xfrm>
            <a:off x="4165600" y="6248400"/>
            <a:ext cx="3860800" cy="457200"/>
          </a:xfrm>
        </p:spPr>
        <p:txBody>
          <a:bodyPr/>
          <a:lstStyle>
            <a:lvl1pPr>
              <a:defRPr/>
            </a:lvl1pPr>
          </a:lstStyle>
          <a:p>
            <a:endParaRPr lang="en-US"/>
          </a:p>
        </p:txBody>
      </p:sp>
      <p:sp>
        <p:nvSpPr>
          <p:cNvPr id="7" name="Slide Number Placeholder 6"/>
          <p:cNvSpPr>
            <a:spLocks noGrp="1"/>
          </p:cNvSpPr>
          <p:nvPr>
            <p:ph type="sldNum" sz="quarter" idx="12"/>
          </p:nvPr>
        </p:nvSpPr>
        <p:spPr>
          <a:xfrm>
            <a:off x="8737600" y="6248400"/>
            <a:ext cx="2844800" cy="457200"/>
          </a:xfrm>
        </p:spPr>
        <p:txBody>
          <a:bodyPr/>
          <a:lstStyle>
            <a:lvl1pPr>
              <a:defRPr/>
            </a:lvl1pPr>
          </a:lstStyle>
          <a:p>
            <a:fld id="{83385899-0B10-4821-AAA8-DC5305EDD7F2}" type="slidenum">
              <a:rPr lang="en-US" smtClean="0"/>
              <a:t>‹#›</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1737879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5538" name="Line 2"/>
          <p:cNvSpPr>
            <a:spLocks noChangeShapeType="1"/>
          </p:cNvSpPr>
          <p:nvPr/>
        </p:nvSpPr>
        <p:spPr bwMode="auto">
          <a:xfrm>
            <a:off x="10668000" y="0"/>
            <a:ext cx="0" cy="15240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1800"/>
          </a:p>
        </p:txBody>
      </p:sp>
      <p:sp>
        <p:nvSpPr>
          <p:cNvPr id="65539" name="Rectangle 3"/>
          <p:cNvSpPr>
            <a:spLocks noGrp="1" noChangeArrowheads="1"/>
          </p:cNvSpPr>
          <p:nvPr>
            <p:ph type="title"/>
          </p:nvPr>
        </p:nvSpPr>
        <p:spPr bwMode="auto">
          <a:xfrm>
            <a:off x="609600" y="122238"/>
            <a:ext cx="100584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65540" name="Rectangle 4"/>
          <p:cNvSpPr>
            <a:spLocks noGrp="1" noChangeArrowheads="1"/>
          </p:cNvSpPr>
          <p:nvPr>
            <p:ph type="body" idx="1"/>
          </p:nvPr>
        </p:nvSpPr>
        <p:spPr bwMode="auto">
          <a:xfrm>
            <a:off x="609600" y="1719263"/>
            <a:ext cx="10972800" cy="4411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65541" name="Rectangle 5"/>
          <p:cNvSpPr>
            <a:spLocks noGrp="1" noChangeArrowheads="1"/>
          </p:cNvSpPr>
          <p:nvPr>
            <p:ph type="dt" sz="half" idx="2"/>
          </p:nvPr>
        </p:nvSpPr>
        <p:spPr bwMode="auto">
          <a:xfrm>
            <a:off x="609600" y="6248400"/>
            <a:ext cx="284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a:lvl1pPr>
          </a:lstStyle>
          <a:p>
            <a:fld id="{C569D4A1-8BB6-4430-9601-3FBC79908E8C}" type="datetime1">
              <a:rPr lang="en-US" smtClean="0"/>
              <a:t>10/18/2026</a:t>
            </a:fld>
            <a:endParaRPr lang="en-US"/>
          </a:p>
        </p:txBody>
      </p:sp>
      <p:sp>
        <p:nvSpPr>
          <p:cNvPr id="65542" name="Rectangle 6"/>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a:lvl1pPr>
          </a:lstStyle>
          <a:p>
            <a:endParaRPr lang="en-US"/>
          </a:p>
        </p:txBody>
      </p:sp>
      <p:sp>
        <p:nvSpPr>
          <p:cNvPr id="65543" name="Rectangle 7"/>
          <p:cNvSpPr>
            <a:spLocks noGrp="1" noChangeArrowheads="1"/>
          </p:cNvSpPr>
          <p:nvPr>
            <p:ph type="sldNum" sz="quarter" idx="4"/>
          </p:nvPr>
        </p:nvSpPr>
        <p:spPr bwMode="auto">
          <a:xfrm>
            <a:off x="8737600" y="6248400"/>
            <a:ext cx="284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a:lvl1pPr>
          </a:lstStyle>
          <a:p>
            <a:fld id="{83385899-0B10-4821-AAA8-DC5305EDD7F2}" type="slidenum">
              <a:rPr lang="en-US" smtClean="0"/>
              <a:t>‹#›</a:t>
            </a:fld>
            <a:endParaRPr lang="en-US"/>
          </a:p>
        </p:txBody>
      </p:sp>
      <p:grpSp>
        <p:nvGrpSpPr>
          <p:cNvPr id="65544" name="Group 8" descr="decorative graphic made up of dots"/>
          <p:cNvGrpSpPr>
            <a:grpSpLocks/>
          </p:cNvGrpSpPr>
          <p:nvPr/>
        </p:nvGrpSpPr>
        <p:grpSpPr bwMode="auto">
          <a:xfrm>
            <a:off x="10871201" y="152400"/>
            <a:ext cx="1056217" cy="1295400"/>
            <a:chOff x="5136" y="960"/>
            <a:chExt cx="528" cy="864"/>
          </a:xfrm>
        </p:grpSpPr>
        <p:sp>
          <p:nvSpPr>
            <p:cNvPr id="65545" name="Oval 9"/>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46" name="Oval 10"/>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47" name="Oval 11"/>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48" name="Oval 12"/>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49" name="Oval 13"/>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0" name="Oval 14"/>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1" name="Oval 15"/>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2" name="Oval 16"/>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3" name="Oval 17"/>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4" name="Oval 18"/>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5" name="Oval 19"/>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6" name="Oval 20"/>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7" name="Oval 21"/>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8" name="Oval 22"/>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9" name="Oval 23"/>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0" name="Oval 24"/>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1" name="Oval 25"/>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2" name="Oval 26"/>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3" name="Oval 27"/>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4" name="Oval 28"/>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5" name="Oval 29"/>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6" name="Oval 30"/>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7" name="Oval 31"/>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8" name="Oval 32"/>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9" name="Oval 33"/>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0" name="Oval 34"/>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1" name="Oval 35"/>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2" name="Oval 36"/>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3" name="Oval 37"/>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4" name="Oval 38"/>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5" name="Oval 39"/>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grpSp>
      <p:sp>
        <p:nvSpPr>
          <p:cNvPr id="65576" name="Line 40"/>
          <p:cNvSpPr>
            <a:spLocks noChangeShapeType="1"/>
          </p:cNvSpPr>
          <p:nvPr/>
        </p:nvSpPr>
        <p:spPr bwMode="auto">
          <a:xfrm>
            <a:off x="609600" y="1524000"/>
            <a:ext cx="10058400" cy="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1800"/>
          </a:p>
        </p:txBody>
      </p:sp>
    </p:spTree>
    <p:extLst>
      <p:ext uri="{BB962C8B-B14F-4D97-AF65-F5344CB8AC3E}">
        <p14:creationId xmlns:p14="http://schemas.microsoft.com/office/powerpoint/2010/main" val="26342200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fontAlgn="base" hangingPunct="1">
        <a:spcBef>
          <a:spcPct val="0"/>
        </a:spcBef>
        <a:spcAft>
          <a:spcPct val="0"/>
        </a:spcAft>
        <a:defRPr sz="3900" b="1" kern="1200">
          <a:solidFill>
            <a:schemeClr val="tx2"/>
          </a:solidFill>
          <a:latin typeface="+mj-lt"/>
          <a:ea typeface="+mj-ea"/>
          <a:cs typeface="+mj-cs"/>
        </a:defRPr>
      </a:lvl1pPr>
      <a:lvl2pPr algn="l" rtl="0" eaLnBrk="1" fontAlgn="base" hangingPunct="1">
        <a:spcBef>
          <a:spcPct val="0"/>
        </a:spcBef>
        <a:spcAft>
          <a:spcPct val="0"/>
        </a:spcAft>
        <a:defRPr sz="3900" b="1">
          <a:solidFill>
            <a:schemeClr val="tx2"/>
          </a:solidFill>
          <a:latin typeface="Arial" panose="020B0604020202020204" pitchFamily="34" charset="0"/>
        </a:defRPr>
      </a:lvl2pPr>
      <a:lvl3pPr algn="l" rtl="0" eaLnBrk="1" fontAlgn="base" hangingPunct="1">
        <a:spcBef>
          <a:spcPct val="0"/>
        </a:spcBef>
        <a:spcAft>
          <a:spcPct val="0"/>
        </a:spcAft>
        <a:defRPr sz="3900" b="1">
          <a:solidFill>
            <a:schemeClr val="tx2"/>
          </a:solidFill>
          <a:latin typeface="Arial" panose="020B0604020202020204" pitchFamily="34" charset="0"/>
        </a:defRPr>
      </a:lvl3pPr>
      <a:lvl4pPr algn="l" rtl="0" eaLnBrk="1" fontAlgn="base" hangingPunct="1">
        <a:spcBef>
          <a:spcPct val="0"/>
        </a:spcBef>
        <a:spcAft>
          <a:spcPct val="0"/>
        </a:spcAft>
        <a:defRPr sz="3900" b="1">
          <a:solidFill>
            <a:schemeClr val="tx2"/>
          </a:solidFill>
          <a:latin typeface="Arial" panose="020B0604020202020204" pitchFamily="34" charset="0"/>
        </a:defRPr>
      </a:lvl4pPr>
      <a:lvl5pPr algn="l" rtl="0" eaLnBrk="1" fontAlgn="base" hangingPunct="1">
        <a:spcBef>
          <a:spcPct val="0"/>
        </a:spcBef>
        <a:spcAft>
          <a:spcPct val="0"/>
        </a:spcAft>
        <a:defRPr sz="3900" b="1">
          <a:solidFill>
            <a:schemeClr val="tx2"/>
          </a:solidFill>
          <a:latin typeface="Arial" panose="020B0604020202020204" pitchFamily="34" charset="0"/>
        </a:defRPr>
      </a:lvl5pPr>
      <a:lvl6pPr marL="457200" algn="l" rtl="0" eaLnBrk="1" fontAlgn="base" hangingPunct="1">
        <a:spcBef>
          <a:spcPct val="0"/>
        </a:spcBef>
        <a:spcAft>
          <a:spcPct val="0"/>
        </a:spcAft>
        <a:defRPr sz="3900" b="1">
          <a:solidFill>
            <a:schemeClr val="tx2"/>
          </a:solidFill>
          <a:latin typeface="Arial" panose="020B0604020202020204" pitchFamily="34" charset="0"/>
        </a:defRPr>
      </a:lvl6pPr>
      <a:lvl7pPr marL="914400" algn="l" rtl="0" eaLnBrk="1" fontAlgn="base" hangingPunct="1">
        <a:spcBef>
          <a:spcPct val="0"/>
        </a:spcBef>
        <a:spcAft>
          <a:spcPct val="0"/>
        </a:spcAft>
        <a:defRPr sz="3900" b="1">
          <a:solidFill>
            <a:schemeClr val="tx2"/>
          </a:solidFill>
          <a:latin typeface="Arial" panose="020B0604020202020204" pitchFamily="34" charset="0"/>
        </a:defRPr>
      </a:lvl7pPr>
      <a:lvl8pPr marL="1371600" algn="l" rtl="0" eaLnBrk="1" fontAlgn="base" hangingPunct="1">
        <a:spcBef>
          <a:spcPct val="0"/>
        </a:spcBef>
        <a:spcAft>
          <a:spcPct val="0"/>
        </a:spcAft>
        <a:defRPr sz="3900" b="1">
          <a:solidFill>
            <a:schemeClr val="tx2"/>
          </a:solidFill>
          <a:latin typeface="Arial" panose="020B0604020202020204" pitchFamily="34" charset="0"/>
        </a:defRPr>
      </a:lvl8pPr>
      <a:lvl9pPr marL="1828800" algn="l" rtl="0" eaLnBrk="1" fontAlgn="base" hangingPunct="1">
        <a:spcBef>
          <a:spcPct val="0"/>
        </a:spcBef>
        <a:spcAft>
          <a:spcPct val="0"/>
        </a:spcAft>
        <a:defRPr sz="3900" b="1">
          <a:solidFill>
            <a:schemeClr val="tx2"/>
          </a:solidFill>
          <a:latin typeface="Arial" panose="020B0604020202020204" pitchFamily="34" charset="0"/>
        </a:defRPr>
      </a:lvl9pPr>
    </p:titleStyle>
    <p:bodyStyle>
      <a:lvl1pPr marL="342900" indent="-342900" algn="l" rtl="0" eaLnBrk="1" fontAlgn="base" hangingPunct="1">
        <a:spcBef>
          <a:spcPct val="20000"/>
        </a:spcBef>
        <a:spcAft>
          <a:spcPct val="0"/>
        </a:spcAft>
        <a:buClr>
          <a:schemeClr val="tx2"/>
        </a:buClr>
        <a:buSzPct val="70000"/>
        <a:buFont typeface="Wingdings" panose="05000000000000000000" pitchFamily="2" charset="2"/>
        <a:buChar char="l"/>
        <a:defRPr sz="3000" kern="1200">
          <a:solidFill>
            <a:schemeClr val="tx1"/>
          </a:solidFill>
          <a:latin typeface="+mn-lt"/>
          <a:ea typeface="+mn-ea"/>
          <a:cs typeface="+mn-cs"/>
        </a:defRPr>
      </a:lvl1pPr>
      <a:lvl2pPr marL="692150" indent="-347663" algn="l" rtl="0" eaLnBrk="1" fontAlgn="base" hangingPunct="1">
        <a:spcBef>
          <a:spcPct val="20000"/>
        </a:spcBef>
        <a:spcAft>
          <a:spcPct val="0"/>
        </a:spcAft>
        <a:buClr>
          <a:schemeClr val="accent2"/>
        </a:buClr>
        <a:buSzPct val="70000"/>
        <a:buFont typeface="Wingdings" panose="05000000000000000000" pitchFamily="2" charset="2"/>
        <a:buChar char="l"/>
        <a:defRPr sz="2600" kern="1200">
          <a:solidFill>
            <a:schemeClr val="tx1"/>
          </a:solidFill>
          <a:latin typeface="+mn-lt"/>
          <a:ea typeface="+mn-ea"/>
          <a:cs typeface="+mn-cs"/>
        </a:defRPr>
      </a:lvl2pPr>
      <a:lvl3pPr marL="987425" indent="-293688" algn="l" rtl="0" eaLnBrk="1" fontAlgn="base" hangingPunct="1">
        <a:spcBef>
          <a:spcPct val="20000"/>
        </a:spcBef>
        <a:spcAft>
          <a:spcPct val="0"/>
        </a:spcAft>
        <a:buClr>
          <a:schemeClr val="accent1"/>
        </a:buClr>
        <a:buSzPct val="70000"/>
        <a:buFont typeface="Wingdings" panose="05000000000000000000" pitchFamily="2" charset="2"/>
        <a:buChar char="l"/>
        <a:defRPr sz="2300" kern="1200">
          <a:solidFill>
            <a:schemeClr val="tx1"/>
          </a:solidFill>
          <a:latin typeface="+mn-lt"/>
          <a:ea typeface="+mn-ea"/>
          <a:cs typeface="+mn-cs"/>
        </a:defRPr>
      </a:lvl3pPr>
      <a:lvl4pPr marL="1281113" indent="-292100" algn="l" rtl="0" eaLnBrk="1" fontAlgn="base" hangingPunct="1">
        <a:spcBef>
          <a:spcPct val="20000"/>
        </a:spcBef>
        <a:spcAft>
          <a:spcPct val="0"/>
        </a:spcAft>
        <a:buClr>
          <a:schemeClr val="tx2"/>
        </a:buClr>
        <a:buSzPct val="75000"/>
        <a:buFont typeface="Wingdings" panose="05000000000000000000" pitchFamily="2" charset="2"/>
        <a:buChar char="§"/>
        <a:defRPr sz="2000" kern="1200">
          <a:solidFill>
            <a:schemeClr val="tx1"/>
          </a:solidFill>
          <a:latin typeface="+mn-lt"/>
          <a:ea typeface="+mn-ea"/>
          <a:cs typeface="+mn-cs"/>
        </a:defRPr>
      </a:lvl4pPr>
      <a:lvl5pPr marL="1598613" indent="-315913" algn="l" rtl="0" eaLnBrk="1" fontAlgn="base" hangingPunct="1">
        <a:spcBef>
          <a:spcPct val="20000"/>
        </a:spcBef>
        <a:spcAft>
          <a:spcPct val="0"/>
        </a:spcAft>
        <a:buClr>
          <a:schemeClr val="folHlink"/>
        </a:buClr>
        <a:buSzPct val="80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Scope and Namespaces</a:t>
            </a:r>
          </a:p>
        </p:txBody>
      </p:sp>
      <p:sp>
        <p:nvSpPr>
          <p:cNvPr id="4" name="TextBox 3"/>
          <p:cNvSpPr txBox="1"/>
          <p:nvPr/>
        </p:nvSpPr>
        <p:spPr>
          <a:xfrm>
            <a:off x="609904" y="2057400"/>
            <a:ext cx="8777508" cy="1097280"/>
          </a:xfrm>
          <a:prstGeom prst="rect">
            <a:avLst/>
          </a:prstGeom>
          <a:noFill/>
        </p:spPr>
        <p:txBody>
          <a:bodyPr wrap="square" lIns="0" tIns="0" rIns="0" bIns="0" anchor="t">
            <a:spAutoFit/>
          </a:bodyPr>
          <a:lstStyle/>
          <a:p>
            <a:pPr algn="l">
              <a:lnSpc>
                <a:spcPct val="110000"/>
              </a:lnSpc>
              <a:spcAft>
                <a:spcPts val="600"/>
              </a:spcAft>
            </a:pPr>
            <a:r>
              <a:rPr sz="2200" b="0" i="0">
                <a:solidFill>
                  <a:srgbClr val="5A5A5A"/>
                </a:solidFill>
                <a:latin typeface="Arial"/>
              </a:rPr>
              <a:t>Predict which variable a line of Python will use: namespaces, the LEGB rule, global and nonlocal, shadowing and closures.</a:t>
            </a:r>
          </a:p>
        </p:txBody>
      </p:sp>
      <p:sp>
        <p:nvSpPr>
          <p:cNvPr id="5" name="Rounded Rectangle 4"/>
          <p:cNvSpPr/>
          <p:nvPr/>
        </p:nvSpPr>
        <p:spPr>
          <a:xfrm>
            <a:off x="609904" y="3520439"/>
            <a:ext cx="1537335" cy="402336"/>
          </a:xfrm>
          <a:prstGeom prst="roundRect">
            <a:avLst>
              <a:gd name="adj" fmla="val 50000"/>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a:solidFill>
                  <a:srgbClr val="FFFFFF"/>
                </a:solidFill>
                <a:latin typeface="Arial"/>
              </a:rPr>
              <a:t>namespace</a:t>
            </a:r>
          </a:p>
        </p:txBody>
      </p:sp>
      <p:sp>
        <p:nvSpPr>
          <p:cNvPr id="6" name="Right Arrow 5"/>
          <p:cNvSpPr/>
          <p:nvPr/>
        </p:nvSpPr>
        <p:spPr>
          <a:xfrm>
            <a:off x="2238679" y="3630167"/>
            <a:ext cx="274320" cy="18288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604439" y="3520439"/>
            <a:ext cx="937259" cy="402336"/>
          </a:xfrm>
          <a:prstGeom prst="roundRect">
            <a:avLst>
              <a:gd name="adj" fmla="val 50000"/>
            </a:avLst>
          </a:prstGeom>
          <a:solidFill>
            <a:srgbClr val="EDE6F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a:solidFill>
                  <a:srgbClr val="330066"/>
                </a:solidFill>
                <a:latin typeface="Arial"/>
              </a:rPr>
              <a:t>LEGB</a:t>
            </a:r>
          </a:p>
        </p:txBody>
      </p:sp>
      <p:sp>
        <p:nvSpPr>
          <p:cNvPr id="8" name="Right Arrow 7"/>
          <p:cNvSpPr/>
          <p:nvPr/>
        </p:nvSpPr>
        <p:spPr>
          <a:xfrm>
            <a:off x="3633139" y="3630167"/>
            <a:ext cx="274320" cy="18288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998899" y="3520439"/>
            <a:ext cx="1177290" cy="402336"/>
          </a:xfrm>
          <a:prstGeom prst="roundRect">
            <a:avLst>
              <a:gd name="adj" fmla="val 50000"/>
            </a:avLst>
          </a:prstGeom>
          <a:solidFill>
            <a:srgbClr val="EDE6F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a:solidFill>
                  <a:srgbClr val="330066"/>
                </a:solidFill>
                <a:latin typeface="Arial"/>
              </a:rPr>
              <a:t>global</a:t>
            </a:r>
          </a:p>
        </p:txBody>
      </p:sp>
      <p:sp>
        <p:nvSpPr>
          <p:cNvPr id="10" name="Right Arrow 9"/>
          <p:cNvSpPr/>
          <p:nvPr/>
        </p:nvSpPr>
        <p:spPr>
          <a:xfrm>
            <a:off x="5267629" y="3630167"/>
            <a:ext cx="274320" cy="18288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633389" y="3520439"/>
            <a:ext cx="1417320" cy="402336"/>
          </a:xfrm>
          <a:prstGeom prst="roundRect">
            <a:avLst>
              <a:gd name="adj" fmla="val 50000"/>
            </a:avLst>
          </a:prstGeom>
          <a:solidFill>
            <a:srgbClr val="EDE6F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a:solidFill>
                  <a:srgbClr val="330066"/>
                </a:solidFill>
                <a:latin typeface="Arial"/>
              </a:rPr>
              <a:t>nonlocal</a:t>
            </a:r>
          </a:p>
        </p:txBody>
      </p:sp>
      <p:sp>
        <p:nvSpPr>
          <p:cNvPr id="12" name="Right Arrow 11"/>
          <p:cNvSpPr/>
          <p:nvPr/>
        </p:nvSpPr>
        <p:spPr>
          <a:xfrm>
            <a:off x="7142149" y="3630167"/>
            <a:ext cx="274320" cy="18288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507909" y="3520439"/>
            <a:ext cx="1417320" cy="402336"/>
          </a:xfrm>
          <a:prstGeom prst="roundRect">
            <a:avLst>
              <a:gd name="adj" fmla="val 50000"/>
            </a:avLst>
          </a:prstGeom>
          <a:solidFill>
            <a:srgbClr val="EDE6F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a:solidFill>
                  <a:srgbClr val="330066"/>
                </a:solidFill>
                <a:latin typeface="Arial"/>
              </a:rPr>
              <a:t>closures</a:t>
            </a:r>
          </a:p>
        </p:txBody>
      </p:sp>
      <p:sp>
        <p:nvSpPr>
          <p:cNvPr id="14" name="Right Arrow 13"/>
          <p:cNvSpPr/>
          <p:nvPr/>
        </p:nvSpPr>
        <p:spPr>
          <a:xfrm>
            <a:off x="9016669" y="3630167"/>
            <a:ext cx="274320" cy="18288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9382429" y="3520439"/>
            <a:ext cx="1537335" cy="402336"/>
          </a:xfrm>
          <a:prstGeom prst="roundRect">
            <a:avLst>
              <a:gd name="adj" fmla="val 50000"/>
            </a:avLst>
          </a:prstGeom>
          <a:solidFill>
            <a:srgbClr val="EDE6F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a:solidFill>
                  <a:srgbClr val="330066"/>
                </a:solidFill>
                <a:latin typeface="Arial"/>
              </a:rPr>
              <a:t>shadowing</a:t>
            </a:r>
          </a:p>
        </p:txBody>
      </p:sp>
      <p:sp>
        <p:nvSpPr>
          <p:cNvPr id="16" name="Oval 15"/>
          <p:cNvSpPr/>
          <p:nvPr/>
        </p:nvSpPr>
        <p:spPr>
          <a:xfrm>
            <a:off x="609904" y="5596128"/>
            <a:ext cx="292608" cy="29260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17" name="Oval 16"/>
          <p:cNvSpPr/>
          <p:nvPr/>
        </p:nvSpPr>
        <p:spPr>
          <a:xfrm>
            <a:off x="1067104" y="5596128"/>
            <a:ext cx="292608" cy="292608"/>
          </a:xfrm>
          <a:prstGeom prst="ellipse">
            <a:avLst/>
          </a:prstGeom>
          <a:solidFill>
            <a:srgbClr val="66999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18" name="Oval 17"/>
          <p:cNvSpPr/>
          <p:nvPr/>
        </p:nvSpPr>
        <p:spPr>
          <a:xfrm>
            <a:off x="1524304" y="5596128"/>
            <a:ext cx="292608" cy="292608"/>
          </a:xfrm>
          <a:prstGeom prst="ellipse">
            <a:avLst/>
          </a:prstGeom>
          <a:solidFill>
            <a:srgbClr val="CCCC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Learning Objectives (1 of 2)</a:t>
            </a:r>
          </a:p>
        </p:txBody>
      </p:sp>
      <p:sp>
        <p:nvSpPr>
          <p:cNvPr id="3" name="Oval 2"/>
          <p:cNvSpPr/>
          <p:nvPr/>
        </p:nvSpPr>
        <p:spPr>
          <a:xfrm>
            <a:off x="609904" y="1874519"/>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4" name="TextBox 3"/>
          <p:cNvSpPr txBox="1"/>
          <p:nvPr/>
        </p:nvSpPr>
        <p:spPr>
          <a:xfrm>
            <a:off x="1176832" y="1783079"/>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Define what a namespace is and explain how Python uses namespaces to keep names from colliding.</a:t>
            </a:r>
          </a:p>
        </p:txBody>
      </p:sp>
      <p:sp>
        <p:nvSpPr>
          <p:cNvPr id="5" name="Oval 4"/>
          <p:cNvSpPr/>
          <p:nvPr/>
        </p:nvSpPr>
        <p:spPr>
          <a:xfrm>
            <a:off x="609904" y="2532887"/>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6" name="TextBox 5"/>
          <p:cNvSpPr txBox="1"/>
          <p:nvPr/>
        </p:nvSpPr>
        <p:spPr>
          <a:xfrm>
            <a:off x="1176832" y="2441447"/>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Define scope and describe the four scopes Python searches, in order, using the LEGB rule.</a:t>
            </a:r>
          </a:p>
        </p:txBody>
      </p:sp>
      <p:sp>
        <p:nvSpPr>
          <p:cNvPr id="7" name="Oval 6"/>
          <p:cNvSpPr/>
          <p:nvPr/>
        </p:nvSpPr>
        <p:spPr>
          <a:xfrm>
            <a:off x="609904" y="3191256"/>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8" name="TextBox 7"/>
          <p:cNvSpPr txBox="1"/>
          <p:nvPr/>
        </p:nvSpPr>
        <p:spPr>
          <a:xfrm>
            <a:off x="1176832" y="3099815"/>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Predict, before running the code, which variable a given line of Python will use.</a:t>
            </a:r>
          </a:p>
        </p:txBody>
      </p:sp>
      <p:sp>
        <p:nvSpPr>
          <p:cNvPr id="9" name="Oval 8"/>
          <p:cNvSpPr/>
          <p:nvPr/>
        </p:nvSpPr>
        <p:spPr>
          <a:xfrm>
            <a:off x="609904" y="3849624"/>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4</a:t>
            </a:r>
          </a:p>
        </p:txBody>
      </p:sp>
      <p:sp>
        <p:nvSpPr>
          <p:cNvPr id="10" name="TextBox 9"/>
          <p:cNvSpPr txBox="1"/>
          <p:nvPr/>
        </p:nvSpPr>
        <p:spPr>
          <a:xfrm>
            <a:off x="1176832" y="3758184"/>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Use the </a:t>
            </a:r>
            <a:r>
              <a:rPr sz="1550" b="0" i="0">
                <a:solidFill>
                  <a:srgbClr val="330066"/>
                </a:solidFill>
                <a:latin typeface="Courier New"/>
              </a:rPr>
              <a:t>global</a:t>
            </a:r>
            <a:r>
              <a:rPr sz="1600" b="0" i="0">
                <a:solidFill>
                  <a:srgbClr val="1A1A1A"/>
                </a:solidFill>
                <a:latin typeface="Arial"/>
              </a:rPr>
              <a:t> and </a:t>
            </a:r>
            <a:r>
              <a:rPr sz="1550" b="0" i="0">
                <a:solidFill>
                  <a:srgbClr val="330066"/>
                </a:solidFill>
                <a:latin typeface="Courier New"/>
              </a:rPr>
              <a:t>nonlocal</a:t>
            </a:r>
            <a:r>
              <a:rPr sz="1600" b="0" i="0">
                <a:solidFill>
                  <a:srgbClr val="1A1A1A"/>
                </a:solidFill>
                <a:latin typeface="Arial"/>
              </a:rPr>
              <a:t> keywords correctly, and explain why you should usually avoid </a:t>
            </a:r>
            <a:r>
              <a:rPr sz="1550" b="0" i="0">
                <a:solidFill>
                  <a:srgbClr val="330066"/>
                </a:solidFill>
                <a:latin typeface="Courier New"/>
              </a:rPr>
              <a:t>global</a:t>
            </a:r>
            <a:r>
              <a:rPr sz="1600" b="0" i="0">
                <a:solidFill>
                  <a:srgbClr val="1A1A1A"/>
                </a:solidFill>
                <a:latin typeface="Arial"/>
              </a:rPr>
              <a:t>.</a:t>
            </a:r>
          </a:p>
        </p:txBody>
      </p:sp>
      <p:sp>
        <p:nvSpPr>
          <p:cNvPr id="11" name="TextBox 10"/>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 / 46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Learning Objectives (2 of 2)</a:t>
            </a:r>
          </a:p>
        </p:txBody>
      </p:sp>
      <p:sp>
        <p:nvSpPr>
          <p:cNvPr id="3" name="Oval 2"/>
          <p:cNvSpPr/>
          <p:nvPr/>
        </p:nvSpPr>
        <p:spPr>
          <a:xfrm>
            <a:off x="609904" y="1874519"/>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4" name="TextBox 3"/>
          <p:cNvSpPr txBox="1"/>
          <p:nvPr/>
        </p:nvSpPr>
        <p:spPr>
          <a:xfrm>
            <a:off x="1176832" y="1783079"/>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Recognise and fix </a:t>
            </a:r>
            <a:r>
              <a:rPr sz="1550" b="0" i="0">
                <a:solidFill>
                  <a:srgbClr val="330066"/>
                </a:solidFill>
                <a:latin typeface="Courier New"/>
              </a:rPr>
              <a:t>UnboundLocalError</a:t>
            </a:r>
            <a:r>
              <a:rPr sz="1600" b="0" i="0">
                <a:solidFill>
                  <a:srgbClr val="1A1A1A"/>
                </a:solidFill>
                <a:latin typeface="Arial"/>
              </a:rPr>
              <a:t>, accidental shadowing of built-in names, and the "late binding" surprise in loops and lambdas.</a:t>
            </a:r>
          </a:p>
        </p:txBody>
      </p:sp>
      <p:sp>
        <p:nvSpPr>
          <p:cNvPr id="5" name="Oval 4"/>
          <p:cNvSpPr/>
          <p:nvPr/>
        </p:nvSpPr>
        <p:spPr>
          <a:xfrm>
            <a:off x="609904" y="2532887"/>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6" name="TextBox 5"/>
          <p:cNvSpPr txBox="1"/>
          <p:nvPr/>
        </p:nvSpPr>
        <p:spPr>
          <a:xfrm>
            <a:off x="1176832" y="2441447"/>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Inspect namespaces at runtime with </a:t>
            </a:r>
            <a:r>
              <a:rPr sz="1550" b="0" i="0">
                <a:solidFill>
                  <a:srgbClr val="330066"/>
                </a:solidFill>
                <a:latin typeface="Courier New"/>
              </a:rPr>
              <a:t>globals()</a:t>
            </a:r>
            <a:r>
              <a:rPr sz="1600" b="0" i="0">
                <a:solidFill>
                  <a:srgbClr val="1A1A1A"/>
                </a:solidFill>
                <a:latin typeface="Arial"/>
              </a:rPr>
              <a:t>, </a:t>
            </a:r>
            <a:r>
              <a:rPr sz="1550" b="0" i="0">
                <a:solidFill>
                  <a:srgbClr val="330066"/>
                </a:solidFill>
                <a:latin typeface="Courier New"/>
              </a:rPr>
              <a:t>locals()</a:t>
            </a:r>
            <a:r>
              <a:rPr sz="1600" b="0" i="0">
                <a:solidFill>
                  <a:srgbClr val="1A1A1A"/>
                </a:solidFill>
                <a:latin typeface="Arial"/>
              </a:rPr>
              <a:t>, </a:t>
            </a:r>
            <a:r>
              <a:rPr sz="1550" b="0" i="0">
                <a:solidFill>
                  <a:srgbClr val="330066"/>
                </a:solidFill>
                <a:latin typeface="Courier New"/>
              </a:rPr>
              <a:t>dir()</a:t>
            </a:r>
            <a:r>
              <a:rPr sz="1600" b="0" i="0">
                <a:solidFill>
                  <a:srgbClr val="1A1A1A"/>
                </a:solidFill>
                <a:latin typeface="Arial"/>
              </a:rPr>
              <a:t> and </a:t>
            </a:r>
            <a:r>
              <a:rPr sz="1550" b="0" i="0">
                <a:solidFill>
                  <a:srgbClr val="330066"/>
                </a:solidFill>
                <a:latin typeface="Courier New"/>
              </a:rPr>
              <a:t>vars()</a:t>
            </a:r>
            <a:r>
              <a:rPr sz="1600" b="0" i="0">
                <a:solidFill>
                  <a:srgbClr val="1A1A1A"/>
                </a:solidFill>
                <a:latin typeface="Arial"/>
              </a:rPr>
              <a:t>.</a:t>
            </a:r>
          </a:p>
        </p:txBody>
      </p:sp>
      <p:sp>
        <p:nvSpPr>
          <p:cNvPr id="7" name="Oval 6"/>
          <p:cNvSpPr/>
          <p:nvPr/>
        </p:nvSpPr>
        <p:spPr>
          <a:xfrm>
            <a:off x="609904" y="3191256"/>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8" name="TextBox 7"/>
          <p:cNvSpPr txBox="1"/>
          <p:nvPr/>
        </p:nvSpPr>
        <p:spPr>
          <a:xfrm>
            <a:off x="1176832" y="3099815"/>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Apply these ideas to test-automation code: shared configuration, counters, helpers, closures, and avoiding hidden global state.</a:t>
            </a:r>
          </a:p>
        </p:txBody>
      </p:sp>
      <p:sp>
        <p:nvSpPr>
          <p:cNvPr id="9" name="TextBox 8"/>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 / 46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Why It Matters to a QE</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INTRODUCTION</a:t>
            </a:r>
          </a:p>
        </p:txBody>
      </p:sp>
      <p:sp>
        <p:nvSpPr>
          <p:cNvPr id="4" name="Rounded Rectangle 3"/>
          <p:cNvSpPr/>
          <p:nvPr/>
        </p:nvSpPr>
        <p:spPr>
          <a:xfrm>
            <a:off x="609904" y="1783080"/>
            <a:ext cx="5348782" cy="2043684"/>
          </a:xfrm>
          <a:prstGeom prst="roundRect">
            <a:avLst>
              <a:gd name="adj" fmla="val 4026"/>
            </a:avLst>
          </a:prstGeom>
          <a:solidFill>
            <a:srgbClr val="EDE6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38504" y="1965960"/>
            <a:ext cx="4891582" cy="1677924"/>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1. Debugging</a:t>
            </a:r>
          </a:p>
          <a:p>
            <a:pPr algn="l">
              <a:lnSpc>
                <a:spcPct val="110000"/>
              </a:lnSpc>
              <a:spcAft>
                <a:spcPts val="600"/>
              </a:spcAft>
            </a:pPr>
            <a:r>
              <a:rPr sz="1400" b="0" i="0">
                <a:solidFill>
                  <a:srgbClr val="1A1A1A"/>
                </a:solidFill>
                <a:latin typeface="Arial"/>
              </a:rPr>
              <a:t>A huge share of "impossible" bugs are scope bugs: a variable that is not what you think, a name silently overwritten, a value that changes between tests.</a:t>
            </a:r>
          </a:p>
        </p:txBody>
      </p:sp>
      <p:sp>
        <p:nvSpPr>
          <p:cNvPr id="6" name="Rounded Rectangle 5"/>
          <p:cNvSpPr/>
          <p:nvPr/>
        </p:nvSpPr>
        <p:spPr>
          <a:xfrm>
            <a:off x="6233007" y="1783080"/>
            <a:ext cx="5348782" cy="2043684"/>
          </a:xfrm>
          <a:prstGeom prst="roundRect">
            <a:avLst>
              <a:gd name="adj" fmla="val 4026"/>
            </a:avLst>
          </a:prstGeom>
          <a:solidFill>
            <a:srgbClr val="E9F1F1"/>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61607" y="1965960"/>
            <a:ext cx="4891582" cy="1677924"/>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2. Test isolation</a:t>
            </a:r>
          </a:p>
          <a:p>
            <a:pPr algn="l">
              <a:lnSpc>
                <a:spcPct val="110000"/>
              </a:lnSpc>
              <a:spcAft>
                <a:spcPts val="600"/>
              </a:spcAft>
            </a:pPr>
            <a:r>
              <a:rPr sz="1400" b="0" i="0">
                <a:solidFill>
                  <a:srgbClr val="1A1A1A"/>
                </a:solidFill>
                <a:latin typeface="Arial"/>
              </a:rPr>
              <a:t>Tests must not depend on each other. Shared globals (current user, cached token, counter) are the number one cause of flaky tests.</a:t>
            </a:r>
          </a:p>
        </p:txBody>
      </p:sp>
      <p:sp>
        <p:nvSpPr>
          <p:cNvPr id="8" name="Rounded Rectangle 7"/>
          <p:cNvSpPr/>
          <p:nvPr/>
        </p:nvSpPr>
        <p:spPr>
          <a:xfrm>
            <a:off x="609904" y="4101083"/>
            <a:ext cx="5348782" cy="2043684"/>
          </a:xfrm>
          <a:prstGeom prst="roundRect">
            <a:avLst>
              <a:gd name="adj" fmla="val 4026"/>
            </a:avLst>
          </a:prstGeom>
          <a:solidFill>
            <a:srgbClr val="EDE6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38504" y="4283964"/>
            <a:ext cx="4891582" cy="1677924"/>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3. Reading other code</a:t>
            </a:r>
          </a:p>
          <a:p>
            <a:pPr algn="l">
              <a:lnSpc>
                <a:spcPct val="110000"/>
              </a:lnSpc>
              <a:spcAft>
                <a:spcPts val="600"/>
              </a:spcAft>
            </a:pPr>
            <a:r>
              <a:rPr sz="1400" b="0" i="0">
                <a:solidFill>
                  <a:srgbClr val="1A1A1A"/>
                </a:solidFill>
                <a:latin typeface="Arial"/>
              </a:rPr>
              <a:t>Frameworks, fixtures, decorators and callbacks rely heavily on closures: functions that remember variables from where they were defined.</a:t>
            </a:r>
          </a:p>
        </p:txBody>
      </p:sp>
      <p:sp>
        <p:nvSpPr>
          <p:cNvPr id="10" name="Rounded Rectangle 9"/>
          <p:cNvSpPr/>
          <p:nvPr/>
        </p:nvSpPr>
        <p:spPr>
          <a:xfrm>
            <a:off x="6233007" y="4101083"/>
            <a:ext cx="5348782" cy="2043684"/>
          </a:xfrm>
          <a:prstGeom prst="roundRect">
            <a:avLst>
              <a:gd name="adj" fmla="val 4026"/>
            </a:avLst>
          </a:prstGeom>
          <a:solidFill>
            <a:srgbClr val="E9F1F1"/>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61607" y="4283964"/>
            <a:ext cx="4891582" cy="1677924"/>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4. No silent corruption</a:t>
            </a:r>
          </a:p>
          <a:p>
            <a:pPr algn="l">
              <a:lnSpc>
                <a:spcPct val="110000"/>
              </a:lnSpc>
              <a:spcAft>
                <a:spcPts val="600"/>
              </a:spcAft>
            </a:pPr>
            <a:r>
              <a:rPr sz="1400" b="0" i="0">
                <a:solidFill>
                  <a:srgbClr val="1A1A1A"/>
                </a:solidFill>
                <a:latin typeface="Arial"/>
              </a:rPr>
              <a:t>Naming a variable </a:t>
            </a:r>
            <a:r>
              <a:rPr sz="1350" b="0" i="0">
                <a:solidFill>
                  <a:srgbClr val="330066"/>
                </a:solidFill>
                <a:latin typeface="Courier New"/>
              </a:rPr>
              <a:t>list</a:t>
            </a:r>
            <a:r>
              <a:rPr sz="1400" b="0" i="0">
                <a:solidFill>
                  <a:srgbClr val="1A1A1A"/>
                </a:solidFill>
                <a:latin typeface="Arial"/>
              </a:rPr>
              <a:t>, </a:t>
            </a:r>
            <a:r>
              <a:rPr sz="1350" b="0" i="0">
                <a:solidFill>
                  <a:srgbClr val="330066"/>
                </a:solidFill>
                <a:latin typeface="Courier New"/>
              </a:rPr>
              <a:t>id</a:t>
            </a:r>
            <a:r>
              <a:rPr sz="1400" b="0" i="0">
                <a:solidFill>
                  <a:srgbClr val="1A1A1A"/>
                </a:solidFill>
                <a:latin typeface="Arial"/>
              </a:rPr>
              <a:t>, </a:t>
            </a:r>
            <a:r>
              <a:rPr sz="1350" b="0" i="0">
                <a:solidFill>
                  <a:srgbClr val="330066"/>
                </a:solidFill>
                <a:latin typeface="Courier New"/>
              </a:rPr>
              <a:t>input</a:t>
            </a:r>
            <a:r>
              <a:rPr sz="1400" b="0" i="0">
                <a:solidFill>
                  <a:srgbClr val="1A1A1A"/>
                </a:solidFill>
                <a:latin typeface="Arial"/>
              </a:rPr>
              <a:t> or </a:t>
            </a:r>
            <a:r>
              <a:rPr sz="1350" b="0" i="0">
                <a:solidFill>
                  <a:srgbClr val="330066"/>
                </a:solidFill>
                <a:latin typeface="Courier New"/>
              </a:rPr>
              <a:t>max</a:t>
            </a:r>
            <a:r>
              <a:rPr sz="1400" b="0" i="0">
                <a:solidFill>
                  <a:srgbClr val="1A1A1A"/>
                </a:solidFill>
                <a:latin typeface="Arial"/>
              </a:rPr>
              <a:t> can break code that worked a minute ago. The built-in scope explains why.</a:t>
            </a:r>
          </a:p>
        </p:txBody>
      </p:sp>
      <p:sp>
        <p:nvSpPr>
          <p:cNvPr id="12" name="TextBox 11"/>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5 / 46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The Concept</a:t>
            </a:r>
          </a:p>
        </p:txBody>
      </p:sp>
      <p:sp>
        <p:nvSpPr>
          <p:cNvPr id="3" name="Text Placeholder 2"/>
          <p:cNvSpPr>
            <a:spLocks noGrp="1"/>
          </p:cNvSpPr>
          <p:nvPr>
            <p:ph type="body" idx="1"/>
          </p:nvPr>
        </p:nvSpPr>
        <p:spPr/>
        <p:txBody>
          <a:bodyPr/>
          <a:lstStyle/>
          <a:p>
            <a:r>
              <a:rPr sz="1800">
                <a:solidFill>
                  <a:srgbClr val="5A5A5A"/>
                </a:solidFill>
              </a:rPr>
              <a:t>Namespaces, LEGB, local, global, nonlocal, shadowing, inspection</a:t>
            </a:r>
          </a:p>
        </p:txBody>
      </p:sp>
      <p:sp>
        <p:nvSpPr>
          <p:cNvPr id="4" name="TextBox 3"/>
          <p:cNvSpPr txBox="1"/>
          <p:nvPr/>
        </p:nvSpPr>
        <p:spPr>
          <a:xfrm>
            <a:off x="832104" y="1600200"/>
            <a:ext cx="3657600" cy="1097280"/>
          </a:xfrm>
          <a:prstGeom prst="rect">
            <a:avLst/>
          </a:prstGeom>
          <a:noFill/>
        </p:spPr>
        <p:txBody>
          <a:bodyPr wrap="square" lIns="0" tIns="0" rIns="0" bIns="0" anchor="t">
            <a:spAutoFit/>
          </a:bodyPr>
          <a:lstStyle/>
          <a:p>
            <a:pPr algn="l">
              <a:lnSpc>
                <a:spcPct val="110000"/>
              </a:lnSpc>
              <a:spcAft>
                <a:spcPts val="600"/>
              </a:spcAft>
            </a:pPr>
            <a:r>
              <a:rPr sz="6600" b="1" i="0">
                <a:solidFill>
                  <a:srgbClr val="669999"/>
                </a:solidFill>
                <a:latin typeface="Arial"/>
              </a:rPr>
              <a:t>01</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6 / 46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What Is a Name?</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sp>
        <p:nvSpPr>
          <p:cNvPr id="4" name="TextBox 3"/>
          <p:cNvSpPr txBox="1"/>
          <p:nvPr/>
        </p:nvSpPr>
        <p:spPr>
          <a:xfrm>
            <a:off x="609904" y="1783080"/>
            <a:ext cx="457200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A name is a label bound to an object</a:t>
            </a:r>
          </a:p>
        </p:txBody>
      </p:sp>
      <p:sp>
        <p:nvSpPr>
          <p:cNvPr id="5" name="Rounded Rectangle 4"/>
          <p:cNvSpPr/>
          <p:nvPr/>
        </p:nvSpPr>
        <p:spPr>
          <a:xfrm>
            <a:off x="609904" y="2057400"/>
            <a:ext cx="4572000" cy="566928"/>
          </a:xfrm>
          <a:prstGeom prst="roundRect">
            <a:avLst>
              <a:gd name="adj" fmla="val 12903"/>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03704"/>
            <a:ext cx="4169663" cy="274320"/>
          </a:xfrm>
          <a:prstGeom prst="rect">
            <a:avLst/>
          </a:prstGeom>
          <a:noFill/>
        </p:spPr>
        <p:txBody>
          <a:bodyPr wrap="square" lIns="0" tIns="0" rIns="0" bIns="0">
            <a:spAutoFit/>
          </a:bodyPr>
          <a:lstStyle/>
          <a:p>
            <a:pPr algn="l">
              <a:lnSpc>
                <a:spcPct val="100000"/>
              </a:lnSpc>
            </a:pPr>
            <a:r>
              <a:rPr sz="1800">
                <a:solidFill>
                  <a:srgbClr val="1A1A1A"/>
                </a:solidFill>
                <a:latin typeface="Courier New"/>
              </a:rPr>
              <a:t>age = 30</a:t>
            </a:r>
          </a:p>
        </p:txBody>
      </p:sp>
      <p:sp>
        <p:nvSpPr>
          <p:cNvPr id="7" name="TextBox 6"/>
          <p:cNvSpPr txBox="1"/>
          <p:nvPr/>
        </p:nvSpPr>
        <p:spPr>
          <a:xfrm>
            <a:off x="5547664" y="1783080"/>
            <a:ext cx="6034125" cy="564257"/>
          </a:xfrm>
          <a:prstGeom prst="rect">
            <a:avLst/>
          </a:prstGeom>
          <a:noFill/>
        </p:spPr>
        <p:txBody>
          <a:bodyPr wrap="square" lIns="0" tIns="0" rIns="0" bIns="0">
            <a:spAutoFit/>
          </a:bodyPr>
          <a:lstStyle/>
          <a:p>
            <a:pPr marL="228600" indent="-228600" algn="l">
              <a:spcAft>
                <a:spcPts val="800"/>
              </a:spcAft>
              <a:buFont typeface="Arial"/>
              <a:buChar char="•"/>
            </a:pPr>
            <a:r>
              <a:rPr sz="1500" b="0" i="0" dirty="0">
                <a:solidFill>
                  <a:srgbClr val="1A1A1A"/>
                </a:solidFill>
                <a:latin typeface="Arial"/>
              </a:rPr>
              <a:t>A name (identifier, variable name) is a label you attach to an object.</a:t>
            </a:r>
          </a:p>
          <a:p>
            <a:pPr marL="228600" indent="-228600" algn="l">
              <a:spcAft>
                <a:spcPts val="800"/>
              </a:spcAft>
              <a:buFont typeface="Arial"/>
              <a:buChar char="•"/>
            </a:pPr>
            <a:r>
              <a:rPr sz="1500" b="0" i="0" dirty="0">
                <a:solidFill>
                  <a:srgbClr val="1A1A1A"/>
                </a:solidFill>
                <a:latin typeface="Arial"/>
              </a:rPr>
              <a:t>Python creates the integer </a:t>
            </a:r>
            <a:r>
              <a:rPr sz="1450" b="0" i="0" dirty="0">
                <a:solidFill>
                  <a:srgbClr val="330066"/>
                </a:solidFill>
                <a:latin typeface="Courier New"/>
              </a:rPr>
              <a:t>30</a:t>
            </a:r>
            <a:r>
              <a:rPr sz="1500" b="0" i="0" dirty="0">
                <a:solidFill>
                  <a:srgbClr val="1A1A1A"/>
                </a:solidFill>
                <a:latin typeface="Arial"/>
              </a:rPr>
              <a:t>, then binds the name </a:t>
            </a:r>
            <a:r>
              <a:rPr sz="1450" b="0" i="0" dirty="0">
                <a:solidFill>
                  <a:srgbClr val="330066"/>
                </a:solidFill>
                <a:latin typeface="Courier New"/>
              </a:rPr>
              <a:t>age</a:t>
            </a:r>
            <a:r>
              <a:rPr sz="1500" b="0" i="0" dirty="0">
                <a:solidFill>
                  <a:srgbClr val="1A1A1A"/>
                </a:solidFill>
                <a:latin typeface="Arial"/>
              </a:rPr>
              <a:t> to it.</a:t>
            </a:r>
          </a:p>
        </p:txBody>
      </p:sp>
      <p:sp>
        <p:nvSpPr>
          <p:cNvPr id="8" name="TextBox 7"/>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7 / 46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What Is a Namespace?</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sp>
        <p:nvSpPr>
          <p:cNvPr id="4" name="TextBox 3"/>
          <p:cNvSpPr txBox="1"/>
          <p:nvPr/>
        </p:nvSpPr>
        <p:spPr>
          <a:xfrm>
            <a:off x="609904" y="1783080"/>
            <a:ext cx="10971885" cy="457200"/>
          </a:xfrm>
          <a:prstGeom prst="rect">
            <a:avLst/>
          </a:prstGeom>
          <a:noFill/>
        </p:spPr>
        <p:txBody>
          <a:bodyPr wrap="square" lIns="0" tIns="0" rIns="0" bIns="0" anchor="t">
            <a:spAutoFit/>
          </a:bodyPr>
          <a:lstStyle/>
          <a:p>
            <a:pPr algn="l">
              <a:lnSpc>
                <a:spcPct val="110000"/>
              </a:lnSpc>
              <a:spcAft>
                <a:spcPts val="600"/>
              </a:spcAft>
            </a:pPr>
            <a:r>
              <a:rPr sz="1500" b="0" i="0">
                <a:solidFill>
                  <a:srgbClr val="1A1A1A"/>
                </a:solidFill>
                <a:latin typeface="Arial"/>
              </a:rPr>
              <a:t>A namespace is the place where name bindings are stored.</a:t>
            </a:r>
          </a:p>
        </p:txBody>
      </p:sp>
      <p:sp>
        <p:nvSpPr>
          <p:cNvPr id="5" name="TextBox 4"/>
          <p:cNvSpPr txBox="1"/>
          <p:nvPr/>
        </p:nvSpPr>
        <p:spPr>
          <a:xfrm>
            <a:off x="609904" y="2286000"/>
            <a:ext cx="10971885"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Picture it as a dictionary of names to objects</a:t>
            </a:r>
          </a:p>
        </p:txBody>
      </p:sp>
      <p:sp>
        <p:nvSpPr>
          <p:cNvPr id="6" name="Rounded Rectangle 5"/>
          <p:cNvSpPr/>
          <p:nvPr/>
        </p:nvSpPr>
        <p:spPr>
          <a:xfrm>
            <a:off x="609904" y="2560320"/>
            <a:ext cx="10971885" cy="505968"/>
          </a:xfrm>
          <a:prstGeom prst="roundRect">
            <a:avLst>
              <a:gd name="adj" fmla="val 14457"/>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11072" y="2706624"/>
            <a:ext cx="10569549" cy="213360"/>
          </a:xfrm>
          <a:prstGeom prst="rect">
            <a:avLst/>
          </a:prstGeom>
          <a:noFill/>
        </p:spPr>
        <p:txBody>
          <a:bodyPr wrap="square" lIns="0" tIns="0" rIns="0" bIns="0">
            <a:spAutoFit/>
          </a:bodyPr>
          <a:lstStyle/>
          <a:p>
            <a:pPr algn="l">
              <a:lnSpc>
                <a:spcPct val="100000"/>
              </a:lnSpc>
            </a:pPr>
            <a:r>
              <a:rPr sz="1400">
                <a:solidFill>
                  <a:srgbClr val="1A1A1A"/>
                </a:solidFill>
                <a:latin typeface="Courier New"/>
              </a:rPr>
              <a:t>{ "age": 30, "greet": &lt;function greet&gt;, "username": "qa_user" }</a:t>
            </a:r>
          </a:p>
        </p:txBody>
      </p:sp>
      <p:sp>
        <p:nvSpPr>
          <p:cNvPr id="8" name="Rounded Rectangle 7"/>
          <p:cNvSpPr/>
          <p:nvPr/>
        </p:nvSpPr>
        <p:spPr>
          <a:xfrm>
            <a:off x="609904" y="3154680"/>
            <a:ext cx="10971885" cy="822960"/>
          </a:xfrm>
          <a:prstGeom prst="roundRect">
            <a:avLst>
              <a:gd name="adj" fmla="val 10000"/>
            </a:avLst>
          </a:prstGeom>
          <a:solidFill>
            <a:srgbClr val="F5F5C2"/>
          </a:solidFill>
          <a:ln w="12700">
            <a:solidFill>
              <a:srgbClr val="F5F5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38504" y="3291840"/>
            <a:ext cx="10514685" cy="548640"/>
          </a:xfrm>
          <a:prstGeom prst="rect">
            <a:avLst/>
          </a:prstGeom>
          <a:noFill/>
        </p:spPr>
        <p:txBody>
          <a:bodyPr wrap="square" lIns="0" tIns="0" rIns="0" bIns="0" anchor="t">
            <a:spAutoFit/>
          </a:bodyPr>
          <a:lstStyle/>
          <a:p>
            <a:pPr algn="l">
              <a:lnSpc>
                <a:spcPct val="110000"/>
              </a:lnSpc>
              <a:spcAft>
                <a:spcPts val="300"/>
              </a:spcAft>
            </a:pPr>
            <a:r>
              <a:rPr sz="1100" b="1" i="0">
                <a:solidFill>
                  <a:srgbClr val="5C8A8A"/>
                </a:solidFill>
                <a:latin typeface="Arial"/>
              </a:rPr>
              <a:t>NOT JUST AN ANALOGY</a:t>
            </a:r>
          </a:p>
          <a:p>
            <a:pPr algn="l">
              <a:lnSpc>
                <a:spcPct val="110000"/>
              </a:lnSpc>
              <a:spcAft>
                <a:spcPts val="600"/>
              </a:spcAft>
            </a:pPr>
            <a:r>
              <a:rPr sz="1400" b="0" i="0">
                <a:solidFill>
                  <a:srgbClr val="1A1A1A"/>
                </a:solidFill>
                <a:latin typeface="Arial"/>
              </a:rPr>
              <a:t>For the global and class namespaces Python really uses a dictionary, and you can look at it (shown later).</a:t>
            </a:r>
          </a:p>
        </p:txBody>
      </p:sp>
      <p:sp>
        <p:nvSpPr>
          <p:cNvPr id="10" name="Rounded Rectangle 9"/>
          <p:cNvSpPr/>
          <p:nvPr/>
        </p:nvSpPr>
        <p:spPr>
          <a:xfrm>
            <a:off x="609904" y="4206240"/>
            <a:ext cx="10971885" cy="1097280"/>
          </a:xfrm>
          <a:prstGeom prst="roundRect">
            <a:avLst>
              <a:gd name="adj" fmla="val 7500"/>
            </a:avLst>
          </a:prstGeom>
          <a:solidFill>
            <a:srgbClr val="F5F5C2"/>
          </a:solidFill>
          <a:ln w="12700">
            <a:solidFill>
              <a:srgbClr val="F5F5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8504" y="4343400"/>
            <a:ext cx="10514685" cy="822959"/>
          </a:xfrm>
          <a:prstGeom prst="rect">
            <a:avLst/>
          </a:prstGeom>
          <a:noFill/>
        </p:spPr>
        <p:txBody>
          <a:bodyPr wrap="square" lIns="0" tIns="0" rIns="0" bIns="0" anchor="t">
            <a:spAutoFit/>
          </a:bodyPr>
          <a:lstStyle/>
          <a:p>
            <a:pPr algn="l">
              <a:lnSpc>
                <a:spcPct val="110000"/>
              </a:lnSpc>
              <a:spcAft>
                <a:spcPts val="300"/>
              </a:spcAft>
            </a:pPr>
            <a:r>
              <a:rPr sz="1100" b="1" i="0">
                <a:solidFill>
                  <a:srgbClr val="5C8A8A"/>
                </a:solidFill>
                <a:latin typeface="Arial"/>
              </a:rPr>
              <a:t>ANALOGY</a:t>
            </a:r>
          </a:p>
          <a:p>
            <a:pPr algn="l">
              <a:lnSpc>
                <a:spcPct val="110000"/>
              </a:lnSpc>
              <a:spcAft>
                <a:spcPts val="600"/>
              </a:spcAft>
            </a:pPr>
            <a:r>
              <a:rPr sz="1400" b="0" i="0">
                <a:solidFill>
                  <a:srgbClr val="1A1A1A"/>
                </a:solidFill>
                <a:latin typeface="Arial"/>
              </a:rPr>
              <a:t>A large office building: each department (Finance, Engineering, QA) has its own phone directory. A "Sam" in Finance and a "Sam" in QA coexist; in QA, "call Sam" means QA's Sam.</a:t>
            </a:r>
          </a:p>
        </p:txBody>
      </p:sp>
      <p:sp>
        <p:nvSpPr>
          <p:cNvPr id="12" name="TextBox 11"/>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8 / 46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Kinds of Namespace</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graphicFrame>
        <p:nvGraphicFramePr>
          <p:cNvPr id="4" name="Table 3"/>
          <p:cNvGraphicFramePr>
            <a:graphicFrameLocks noGrp="1"/>
          </p:cNvGraphicFramePr>
          <p:nvPr/>
        </p:nvGraphicFramePr>
        <p:xfrm>
          <a:off x="609904" y="1783080"/>
          <a:ext cx="10971884" cy="2691127"/>
        </p:xfrm>
        <a:graphic>
          <a:graphicData uri="http://schemas.openxmlformats.org/drawingml/2006/table">
            <a:tbl>
              <a:tblPr/>
              <a:tblGrid>
                <a:gridCol w="1645782">
                  <a:extLst>
                    <a:ext uri="{9D8B030D-6E8A-4147-A177-3AD203B41FA5}">
                      <a16:colId xmlns:a16="http://schemas.microsoft.com/office/drawing/2014/main" val="20000"/>
                    </a:ext>
                  </a:extLst>
                </a:gridCol>
                <a:gridCol w="2962409">
                  <a:extLst>
                    <a:ext uri="{9D8B030D-6E8A-4147-A177-3AD203B41FA5}">
                      <a16:colId xmlns:a16="http://schemas.microsoft.com/office/drawing/2014/main" val="20001"/>
                    </a:ext>
                  </a:extLst>
                </a:gridCol>
                <a:gridCol w="2962409">
                  <a:extLst>
                    <a:ext uri="{9D8B030D-6E8A-4147-A177-3AD203B41FA5}">
                      <a16:colId xmlns:a16="http://schemas.microsoft.com/office/drawing/2014/main" val="20002"/>
                    </a:ext>
                  </a:extLst>
                </a:gridCol>
                <a:gridCol w="3401284">
                  <a:extLst>
                    <a:ext uri="{9D8B030D-6E8A-4147-A177-3AD203B41FA5}">
                      <a16:colId xmlns:a16="http://schemas.microsoft.com/office/drawing/2014/main" val="20003"/>
                    </a:ext>
                  </a:extLst>
                </a:gridCol>
              </a:tblGrid>
              <a:tr h="384048">
                <a:tc>
                  <a:txBody>
                    <a:bodyPr/>
                    <a:lstStyle/>
                    <a:p>
                      <a:r>
                        <a:rPr sz="1300" b="1">
                          <a:solidFill>
                            <a:srgbClr val="FFFFFF"/>
                          </a:solidFill>
                          <a:latin typeface="Arial"/>
                        </a:rPr>
                        <a:t>Namespace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300" b="1">
                          <a:solidFill>
                            <a:srgbClr val="FFFFFF"/>
                          </a:solidFill>
                          <a:latin typeface="Arial"/>
                        </a:rPr>
                        <a:t>Created when</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300" b="1">
                          <a:solidFill>
                            <a:srgbClr val="FFFFFF"/>
                          </a:solidFill>
                          <a:latin typeface="Arial"/>
                        </a:rPr>
                        <a:t>Lives until</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300" b="1">
                          <a:solidFill>
                            <a:srgbClr val="FFFFFF"/>
                          </a:solidFill>
                          <a:latin typeface="Arial"/>
                        </a:rPr>
                        <a:t>Example contents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extLst>
                  <a:ext uri="{0D108BD9-81ED-4DB2-BD59-A6C34878D82A}">
                    <a16:rowId xmlns:a16="http://schemas.microsoft.com/office/drawing/2014/main" val="10000"/>
                  </a:ext>
                </a:extLst>
              </a:tr>
              <a:tr h="365760">
                <a:tc>
                  <a:txBody>
                    <a:bodyPr/>
                    <a:lstStyle/>
                    <a:p>
                      <a:r>
                        <a:rPr sz="1300" b="0">
                          <a:solidFill>
                            <a:srgbClr val="1A1A1A"/>
                          </a:solidFill>
                          <a:latin typeface="Arial"/>
                        </a:rPr>
                        <a:t>Built-in</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a:solidFill>
                            <a:srgbClr val="1A1A1A"/>
                          </a:solidFill>
                          <a:latin typeface="Arial"/>
                        </a:rPr>
                        <a:t>The interpreter starts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a:solidFill>
                            <a:srgbClr val="1A1A1A"/>
                          </a:solidFill>
                          <a:latin typeface="Arial"/>
                        </a:rPr>
                        <a:t>The interpreter exits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250" b="0" i="0">
                          <a:solidFill>
                            <a:srgbClr val="330066"/>
                          </a:solidFill>
                          <a:latin typeface="Courier New"/>
                        </a:rPr>
                        <a:t>print</a:t>
                      </a:r>
                      <a:r>
                        <a:rPr sz="1300" b="0" i="0">
                          <a:solidFill>
                            <a:srgbClr val="1A1A1A"/>
                          </a:solidFill>
                          <a:latin typeface="Arial"/>
                        </a:rPr>
                        <a:t>, </a:t>
                      </a:r>
                      <a:r>
                        <a:rPr sz="1250" b="0" i="0">
                          <a:solidFill>
                            <a:srgbClr val="330066"/>
                          </a:solidFill>
                          <a:latin typeface="Courier New"/>
                        </a:rPr>
                        <a:t>len</a:t>
                      </a:r>
                      <a:r>
                        <a:rPr sz="1300" b="0" i="0">
                          <a:solidFill>
                            <a:srgbClr val="1A1A1A"/>
                          </a:solidFill>
                          <a:latin typeface="Arial"/>
                        </a:rPr>
                        <a:t>, </a:t>
                      </a:r>
                      <a:r>
                        <a:rPr sz="1250" b="0" i="0">
                          <a:solidFill>
                            <a:srgbClr val="330066"/>
                          </a:solidFill>
                          <a:latin typeface="Courier New"/>
                        </a:rPr>
                        <a:t>int</a:t>
                      </a:r>
                      <a:r>
                        <a:rPr sz="1300" b="0" i="0">
                          <a:solidFill>
                            <a:srgbClr val="1A1A1A"/>
                          </a:solidFill>
                          <a:latin typeface="Arial"/>
                        </a:rPr>
                        <a:t>, </a:t>
                      </a:r>
                      <a:r>
                        <a:rPr sz="1250" b="0" i="0">
                          <a:solidFill>
                            <a:srgbClr val="330066"/>
                          </a:solidFill>
                          <a:latin typeface="Courier New"/>
                        </a:rPr>
                        <a:t>ValueError</a:t>
                      </a:r>
                      <a:r>
                        <a:rPr sz="1300" b="0" i="0">
                          <a:solidFill>
                            <a:srgbClr val="1A1A1A"/>
                          </a:solidFill>
                          <a:latin typeface="Arial"/>
                        </a:rPr>
                        <a:t>, </a:t>
                      </a:r>
                      <a:r>
                        <a:rPr sz="1250" b="0" i="0">
                          <a:solidFill>
                            <a:srgbClr val="330066"/>
                          </a:solidFill>
                          <a:latin typeface="Courier New"/>
                        </a:rPr>
                        <a:t>True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1"/>
                  </a:ext>
                </a:extLst>
              </a:tr>
              <a:tr h="790193">
                <a:tc>
                  <a:txBody>
                    <a:bodyPr/>
                    <a:lstStyle/>
                    <a:p>
                      <a:r>
                        <a:rPr sz="1300" b="0">
                          <a:solidFill>
                            <a:srgbClr val="1A1A1A"/>
                          </a:solidFill>
                          <a:latin typeface="Arial"/>
                        </a:rPr>
                        <a:t>Global (module)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00" b="0">
                          <a:solidFill>
                            <a:srgbClr val="1A1A1A"/>
                          </a:solidFill>
                          <a:latin typeface="Arial"/>
                        </a:rPr>
                        <a:t>A module is first imported or a script starts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00" b="0">
                          <a:solidFill>
                            <a:srgbClr val="1A1A1A"/>
                          </a:solidFill>
                          <a:latin typeface="Arial"/>
                        </a:rPr>
                        <a:t>The interpreter exits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00" b="0">
                          <a:solidFill>
                            <a:srgbClr val="1A1A1A"/>
                          </a:solidFill>
                          <a:latin typeface="Arial"/>
                        </a:rPr>
                        <a:t>Functions, classes, variables you define at the top level of a file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2"/>
                  </a:ext>
                </a:extLst>
              </a:tr>
              <a:tr h="575563">
                <a:tc>
                  <a:txBody>
                    <a:bodyPr/>
                    <a:lstStyle/>
                    <a:p>
                      <a:r>
                        <a:rPr sz="1300" b="0">
                          <a:solidFill>
                            <a:srgbClr val="1A1A1A"/>
                          </a:solidFill>
                          <a:latin typeface="Arial"/>
                        </a:rPr>
                        <a:t>Enclosing</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a:solidFill>
                            <a:srgbClr val="1A1A1A"/>
                          </a:solidFill>
                          <a:latin typeface="Arial"/>
                        </a:rPr>
                        <a:t>An outer function is called</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a:solidFill>
                            <a:srgbClr val="1A1A1A"/>
                          </a:solidFill>
                          <a:latin typeface="Arial"/>
                        </a:rPr>
                        <a:t>That call returns (unless captured by a closure)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a:solidFill>
                            <a:srgbClr val="1A1A1A"/>
                          </a:solidFill>
                          <a:latin typeface="Arial"/>
                        </a:rPr>
                        <a:t>Variables of the outer function, seen by an inner function</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3"/>
                  </a:ext>
                </a:extLst>
              </a:tr>
              <a:tr h="575563">
                <a:tc>
                  <a:txBody>
                    <a:bodyPr/>
                    <a:lstStyle/>
                    <a:p>
                      <a:r>
                        <a:rPr sz="1300" b="0">
                          <a:solidFill>
                            <a:srgbClr val="1A1A1A"/>
                          </a:solidFill>
                          <a:latin typeface="Arial"/>
                        </a:rPr>
                        <a:t>Local</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00" b="0">
                          <a:solidFill>
                            <a:srgbClr val="1A1A1A"/>
                          </a:solidFill>
                          <a:latin typeface="Arial"/>
                        </a:rPr>
                        <a:t>A function is called</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00" b="0">
                          <a:solidFill>
                            <a:srgbClr val="1A1A1A"/>
                          </a:solidFill>
                          <a:latin typeface="Arial"/>
                        </a:rPr>
                        <a:t>That call returns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00" b="0">
                          <a:solidFill>
                            <a:srgbClr val="1A1A1A"/>
                          </a:solidFill>
                          <a:latin typeface="Arial"/>
                        </a:rPr>
                        <a:t>Parameters and variables inside the function</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4"/>
                  </a:ext>
                </a:extLst>
              </a:tr>
            </a:tbl>
          </a:graphicData>
        </a:graphic>
      </p:graphicFrame>
      <p:sp>
        <p:nvSpPr>
          <p:cNvPr id="5" name="Rounded Rectangle 4"/>
          <p:cNvSpPr/>
          <p:nvPr/>
        </p:nvSpPr>
        <p:spPr>
          <a:xfrm>
            <a:off x="609904" y="5230368"/>
            <a:ext cx="10971885" cy="822960"/>
          </a:xfrm>
          <a:prstGeom prst="roundRect">
            <a:avLst>
              <a:gd name="adj" fmla="val 10000"/>
            </a:avLst>
          </a:prstGeom>
          <a:solidFill>
            <a:srgbClr val="F5F5C2"/>
          </a:solidFill>
          <a:ln w="12700">
            <a:solidFill>
              <a:srgbClr val="F5F5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38504" y="5367528"/>
            <a:ext cx="10514685" cy="548640"/>
          </a:xfrm>
          <a:prstGeom prst="rect">
            <a:avLst/>
          </a:prstGeom>
          <a:noFill/>
        </p:spPr>
        <p:txBody>
          <a:bodyPr wrap="square" lIns="0" tIns="0" rIns="0" bIns="0" anchor="t">
            <a:spAutoFit/>
          </a:bodyPr>
          <a:lstStyle/>
          <a:p>
            <a:pPr algn="l">
              <a:lnSpc>
                <a:spcPct val="110000"/>
              </a:lnSpc>
              <a:spcAft>
                <a:spcPts val="300"/>
              </a:spcAft>
            </a:pPr>
            <a:r>
              <a:rPr sz="1100" b="1" i="0">
                <a:solidFill>
                  <a:srgbClr val="5C8A8A"/>
                </a:solidFill>
                <a:latin typeface="Arial"/>
              </a:rPr>
              <a:t>PREVIEW</a:t>
            </a:r>
          </a:p>
          <a:p>
            <a:pPr algn="l">
              <a:lnSpc>
                <a:spcPct val="110000"/>
              </a:lnSpc>
              <a:spcAft>
                <a:spcPts val="600"/>
              </a:spcAft>
            </a:pPr>
            <a:r>
              <a:rPr sz="1400" b="0" i="0">
                <a:solidFill>
                  <a:srgbClr val="1A1A1A"/>
                </a:solidFill>
                <a:latin typeface="Arial"/>
              </a:rPr>
              <a:t>Two more namespaces exist (class bodies and instance attributes). They are mentioned briefly at the end of this part.</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9 / 46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What Is Scope?</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sp>
        <p:nvSpPr>
          <p:cNvPr id="4" name="TextBox 3"/>
          <p:cNvSpPr txBox="1"/>
          <p:nvPr/>
        </p:nvSpPr>
        <p:spPr>
          <a:xfrm>
            <a:off x="609904" y="1783080"/>
            <a:ext cx="10971885" cy="914400"/>
          </a:xfrm>
          <a:prstGeom prst="rect">
            <a:avLst/>
          </a:prstGeom>
          <a:noFill/>
        </p:spPr>
        <p:txBody>
          <a:bodyPr wrap="square" lIns="0" tIns="0" rIns="0" bIns="0" anchor="t">
            <a:spAutoFit/>
          </a:bodyPr>
          <a:lstStyle/>
          <a:p>
            <a:pPr algn="l">
              <a:lnSpc>
                <a:spcPct val="110000"/>
              </a:lnSpc>
              <a:spcAft>
                <a:spcPts val="600"/>
              </a:spcAft>
            </a:pPr>
            <a:r>
              <a:rPr sz="1700" b="0" i="0">
                <a:solidFill>
                  <a:srgbClr val="1A1A1A"/>
                </a:solidFill>
                <a:latin typeface="Arial"/>
              </a:rPr>
              <a:t>A namespace is where a name is stored. A scope is the region of the program text in which a namespace can be reached directly without any prefix.</a:t>
            </a:r>
          </a:p>
        </p:txBody>
      </p:sp>
      <p:sp>
        <p:nvSpPr>
          <p:cNvPr id="5" name="TextBox 4"/>
          <p:cNvSpPr txBox="1"/>
          <p:nvPr/>
        </p:nvSpPr>
        <p:spPr>
          <a:xfrm>
            <a:off x="609904" y="2880360"/>
            <a:ext cx="10971885" cy="822960"/>
          </a:xfrm>
          <a:prstGeom prst="rect">
            <a:avLst/>
          </a:prstGeom>
          <a:noFill/>
        </p:spPr>
        <p:txBody>
          <a:bodyPr wrap="square" lIns="0" tIns="0" rIns="0" bIns="0" anchor="t">
            <a:spAutoFit/>
          </a:bodyPr>
          <a:lstStyle/>
          <a:p>
            <a:pPr algn="l">
              <a:lnSpc>
                <a:spcPct val="110000"/>
              </a:lnSpc>
              <a:spcAft>
                <a:spcPts val="600"/>
              </a:spcAft>
            </a:pPr>
            <a:r>
              <a:rPr sz="2200" b="1" i="0">
                <a:solidFill>
                  <a:srgbClr val="330066"/>
                </a:solidFill>
                <a:latin typeface="Arial"/>
              </a:rPr>
              <a:t>"At this line of code, which names can I use, and which object does each name mean?"</a:t>
            </a:r>
          </a:p>
        </p:txBody>
      </p:sp>
      <p:sp>
        <p:nvSpPr>
          <p:cNvPr id="6" name="Rounded Rectangle 5"/>
          <p:cNvSpPr/>
          <p:nvPr/>
        </p:nvSpPr>
        <p:spPr>
          <a:xfrm>
            <a:off x="609904" y="4069080"/>
            <a:ext cx="10971885" cy="1188720"/>
          </a:xfrm>
          <a:prstGeom prst="roundRect">
            <a:avLst>
              <a:gd name="adj" fmla="val 6923"/>
            </a:avLst>
          </a:prstGeom>
          <a:solidFill>
            <a:srgbClr val="F5F5C2"/>
          </a:solidFill>
          <a:ln w="12700">
            <a:solidFill>
              <a:srgbClr val="F5F5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38504" y="4206240"/>
            <a:ext cx="10514685" cy="914400"/>
          </a:xfrm>
          <a:prstGeom prst="rect">
            <a:avLst/>
          </a:prstGeom>
          <a:noFill/>
        </p:spPr>
        <p:txBody>
          <a:bodyPr wrap="square" lIns="0" tIns="0" rIns="0" bIns="0" anchor="t">
            <a:spAutoFit/>
          </a:bodyPr>
          <a:lstStyle/>
          <a:p>
            <a:pPr algn="l">
              <a:lnSpc>
                <a:spcPct val="110000"/>
              </a:lnSpc>
              <a:spcAft>
                <a:spcPts val="300"/>
              </a:spcAft>
            </a:pPr>
            <a:r>
              <a:rPr sz="1100" b="1" i="0">
                <a:solidFill>
                  <a:srgbClr val="5C8A8A"/>
                </a:solidFill>
                <a:latin typeface="Arial"/>
              </a:rPr>
              <a:t>LEXICAL SCOPING</a:t>
            </a:r>
          </a:p>
          <a:p>
            <a:pPr algn="l">
              <a:lnSpc>
                <a:spcPct val="110000"/>
              </a:lnSpc>
              <a:spcAft>
                <a:spcPts val="600"/>
              </a:spcAft>
            </a:pPr>
            <a:r>
              <a:rPr sz="1400" b="0" i="0">
                <a:solidFill>
                  <a:srgbClr val="1A1A1A"/>
                </a:solidFill>
                <a:latin typeface="Arial"/>
              </a:rPr>
              <a:t>Python decides scope by where you write the code (lexical or static scoping), not by who calls the function. It follows the structure of the source file, not the order in which functions happen to run.</a:t>
            </a:r>
          </a:p>
        </p:txBody>
      </p:sp>
      <p:sp>
        <p:nvSpPr>
          <p:cNvPr id="8" name="TextBox 7"/>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10 / 46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The LEGB Rule</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sp>
        <p:nvSpPr>
          <p:cNvPr id="4" name="Rounded Rectangle 3"/>
          <p:cNvSpPr/>
          <p:nvPr/>
        </p:nvSpPr>
        <p:spPr>
          <a:xfrm>
            <a:off x="609904" y="1783080"/>
            <a:ext cx="2537231" cy="4361688"/>
          </a:xfrm>
          <a:prstGeom prst="roundRect">
            <a:avLst>
              <a:gd name="adj" fmla="val 3243"/>
            </a:avLst>
          </a:prstGeom>
          <a:solidFill>
            <a:srgbClr val="EDE6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38504" y="1965960"/>
            <a:ext cx="2080031" cy="3995927"/>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L - Local</a:t>
            </a:r>
          </a:p>
          <a:p>
            <a:pPr algn="l">
              <a:lnSpc>
                <a:spcPct val="110000"/>
              </a:lnSpc>
              <a:spcAft>
                <a:spcPts val="600"/>
              </a:spcAft>
            </a:pPr>
            <a:r>
              <a:rPr sz="1400" b="0" i="0">
                <a:solidFill>
                  <a:srgbClr val="1A1A1A"/>
                </a:solidFill>
                <a:latin typeface="Arial"/>
              </a:rPr>
              <a:t>The current function: parameters and anything assigned inside.</a:t>
            </a:r>
          </a:p>
        </p:txBody>
      </p:sp>
      <p:sp>
        <p:nvSpPr>
          <p:cNvPr id="6" name="Rounded Rectangle 5"/>
          <p:cNvSpPr/>
          <p:nvPr/>
        </p:nvSpPr>
        <p:spPr>
          <a:xfrm>
            <a:off x="3421456" y="1783080"/>
            <a:ext cx="2537231" cy="4361688"/>
          </a:xfrm>
          <a:prstGeom prst="roundRect">
            <a:avLst>
              <a:gd name="adj" fmla="val 3243"/>
            </a:avLst>
          </a:prstGeom>
          <a:solidFill>
            <a:srgbClr val="E9F1F1"/>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0056" y="1965960"/>
            <a:ext cx="2080031" cy="3995927"/>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E - Enclosing</a:t>
            </a:r>
          </a:p>
          <a:p>
            <a:pPr algn="l">
              <a:lnSpc>
                <a:spcPct val="110000"/>
              </a:lnSpc>
              <a:spcAft>
                <a:spcPts val="600"/>
              </a:spcAft>
            </a:pPr>
            <a:r>
              <a:rPr sz="1400" b="0" i="0">
                <a:solidFill>
                  <a:srgbClr val="1A1A1A"/>
                </a:solidFill>
                <a:latin typeface="Arial"/>
              </a:rPr>
              <a:t>The function(s) wrapping the current one, innermost outward. Only for nested functions.</a:t>
            </a:r>
          </a:p>
        </p:txBody>
      </p:sp>
      <p:sp>
        <p:nvSpPr>
          <p:cNvPr id="8" name="Rounded Rectangle 7"/>
          <p:cNvSpPr/>
          <p:nvPr/>
        </p:nvSpPr>
        <p:spPr>
          <a:xfrm>
            <a:off x="6233007" y="1783080"/>
            <a:ext cx="2537231" cy="4361688"/>
          </a:xfrm>
          <a:prstGeom prst="roundRect">
            <a:avLst>
              <a:gd name="adj" fmla="val 3243"/>
            </a:avLst>
          </a:prstGeom>
          <a:solidFill>
            <a:srgbClr val="EDE6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61607" y="1965960"/>
            <a:ext cx="2080031" cy="3995927"/>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G - Global</a:t>
            </a:r>
          </a:p>
          <a:p>
            <a:pPr algn="l">
              <a:lnSpc>
                <a:spcPct val="110000"/>
              </a:lnSpc>
              <a:spcAft>
                <a:spcPts val="600"/>
              </a:spcAft>
            </a:pPr>
            <a:r>
              <a:rPr sz="1400" b="0" i="0">
                <a:solidFill>
                  <a:srgbClr val="1A1A1A"/>
                </a:solidFill>
                <a:latin typeface="Arial"/>
              </a:rPr>
              <a:t>The top level of the current module (file).</a:t>
            </a:r>
          </a:p>
        </p:txBody>
      </p:sp>
      <p:sp>
        <p:nvSpPr>
          <p:cNvPr id="10" name="Rounded Rectangle 9"/>
          <p:cNvSpPr/>
          <p:nvPr/>
        </p:nvSpPr>
        <p:spPr>
          <a:xfrm>
            <a:off x="9044559" y="1783080"/>
            <a:ext cx="2537231" cy="4361688"/>
          </a:xfrm>
          <a:prstGeom prst="roundRect">
            <a:avLst>
              <a:gd name="adj" fmla="val 3243"/>
            </a:avLst>
          </a:prstGeom>
          <a:solidFill>
            <a:srgbClr val="E9F1F1"/>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273159" y="1965960"/>
            <a:ext cx="2080031" cy="3995927"/>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B - Built-in</a:t>
            </a:r>
          </a:p>
          <a:p>
            <a:pPr algn="l">
              <a:lnSpc>
                <a:spcPct val="110000"/>
              </a:lnSpc>
              <a:spcAft>
                <a:spcPts val="600"/>
              </a:spcAft>
            </a:pPr>
            <a:r>
              <a:rPr sz="1400" b="0" i="0">
                <a:solidFill>
                  <a:srgbClr val="1A1A1A"/>
                </a:solidFill>
                <a:latin typeface="Arial"/>
              </a:rPr>
              <a:t>Names Python provides everywhere: </a:t>
            </a:r>
            <a:r>
              <a:rPr sz="1350" b="0" i="0">
                <a:solidFill>
                  <a:srgbClr val="330066"/>
                </a:solidFill>
                <a:latin typeface="Courier New"/>
              </a:rPr>
              <a:t>print</a:t>
            </a:r>
            <a:r>
              <a:rPr sz="1400" b="0" i="0">
                <a:solidFill>
                  <a:srgbClr val="1A1A1A"/>
                </a:solidFill>
                <a:latin typeface="Arial"/>
              </a:rPr>
              <a:t>, </a:t>
            </a:r>
            <a:r>
              <a:rPr sz="1350" b="0" i="0">
                <a:solidFill>
                  <a:srgbClr val="330066"/>
                </a:solidFill>
                <a:latin typeface="Courier New"/>
              </a:rPr>
              <a:t>len</a:t>
            </a:r>
            <a:r>
              <a:rPr sz="1400" b="0" i="0">
                <a:solidFill>
                  <a:srgbClr val="1A1A1A"/>
                </a:solidFill>
                <a:latin typeface="Arial"/>
              </a:rPr>
              <a:t>, </a:t>
            </a:r>
            <a:r>
              <a:rPr sz="1350" b="0" i="0">
                <a:solidFill>
                  <a:srgbClr val="330066"/>
                </a:solidFill>
                <a:latin typeface="Courier New"/>
              </a:rPr>
              <a:t>range</a:t>
            </a:r>
            <a:r>
              <a:rPr sz="1400" b="0" i="0">
                <a:solidFill>
                  <a:srgbClr val="1A1A1A"/>
                </a:solidFill>
                <a:latin typeface="Arial"/>
              </a:rPr>
              <a:t>, ...</a:t>
            </a:r>
          </a:p>
        </p:txBody>
      </p:sp>
      <p:sp>
        <p:nvSpPr>
          <p:cNvPr id="12" name="TextBox 11"/>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11 / 46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LEGB: First Match Wins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sp>
        <p:nvSpPr>
          <p:cNvPr id="4" name="TextBox 3"/>
          <p:cNvSpPr txBox="1"/>
          <p:nvPr/>
        </p:nvSpPr>
        <p:spPr>
          <a:xfrm>
            <a:off x="609904" y="1783080"/>
            <a:ext cx="10971885" cy="822960"/>
          </a:xfrm>
          <a:prstGeom prst="rect">
            <a:avLst/>
          </a:prstGeom>
          <a:noFill/>
        </p:spPr>
        <p:txBody>
          <a:bodyPr wrap="square" lIns="0" tIns="0" rIns="0" bIns="0" anchor="t">
            <a:spAutoFit/>
          </a:bodyPr>
          <a:lstStyle/>
          <a:p>
            <a:pPr algn="l">
              <a:lnSpc>
                <a:spcPct val="110000"/>
              </a:lnSpc>
              <a:spcAft>
                <a:spcPts val="600"/>
              </a:spcAft>
            </a:pPr>
            <a:r>
              <a:rPr sz="2000" b="1" i="0">
                <a:solidFill>
                  <a:srgbClr val="330066"/>
                </a:solidFill>
                <a:latin typeface="Arial"/>
              </a:rPr>
              <a:t>Python searches in this order and stops at the first match.</a:t>
            </a:r>
          </a:p>
        </p:txBody>
      </p:sp>
      <p:sp>
        <p:nvSpPr>
          <p:cNvPr id="5" name="Rounded Rectangle 4"/>
          <p:cNvSpPr/>
          <p:nvPr/>
        </p:nvSpPr>
        <p:spPr>
          <a:xfrm>
            <a:off x="609904" y="2880360"/>
            <a:ext cx="10971885" cy="914400"/>
          </a:xfrm>
          <a:prstGeom prst="roundRect">
            <a:avLst>
              <a:gd name="adj" fmla="val 9000"/>
            </a:avLst>
          </a:prstGeom>
          <a:solidFill>
            <a:srgbClr val="F5F5C2"/>
          </a:solidFill>
          <a:ln w="12700">
            <a:solidFill>
              <a:srgbClr val="F5F5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38504" y="3017520"/>
            <a:ext cx="10514685" cy="640080"/>
          </a:xfrm>
          <a:prstGeom prst="rect">
            <a:avLst/>
          </a:prstGeom>
          <a:noFill/>
        </p:spPr>
        <p:txBody>
          <a:bodyPr wrap="square" lIns="0" tIns="0" rIns="0" bIns="0" anchor="t">
            <a:spAutoFit/>
          </a:bodyPr>
          <a:lstStyle/>
          <a:p>
            <a:pPr algn="l">
              <a:lnSpc>
                <a:spcPct val="110000"/>
              </a:lnSpc>
              <a:spcAft>
                <a:spcPts val="300"/>
              </a:spcAft>
            </a:pPr>
            <a:r>
              <a:rPr sz="1100" b="1" i="0">
                <a:solidFill>
                  <a:srgbClr val="5C8A8A"/>
                </a:solidFill>
                <a:latin typeface="Arial"/>
              </a:rPr>
              <a:t>NOT FOUND</a:t>
            </a:r>
          </a:p>
          <a:p>
            <a:pPr algn="l">
              <a:lnSpc>
                <a:spcPct val="110000"/>
              </a:lnSpc>
              <a:spcAft>
                <a:spcPts val="600"/>
              </a:spcAft>
            </a:pPr>
            <a:r>
              <a:rPr sz="1400" b="0" i="0">
                <a:solidFill>
                  <a:srgbClr val="1A1A1A"/>
                </a:solidFill>
                <a:latin typeface="Arial"/>
              </a:rPr>
              <a:t>If the name is in none of the four: </a:t>
            </a:r>
            <a:r>
              <a:rPr sz="1350" b="0" i="0">
                <a:solidFill>
                  <a:srgbClr val="330066"/>
                </a:solidFill>
                <a:latin typeface="Courier New"/>
              </a:rPr>
              <a:t>NameError: name 'total' is not defined</a:t>
            </a:r>
            <a:r>
              <a:rPr sz="1400" b="0" i="0">
                <a:solidFill>
                  <a:srgbClr val="1A1A1A"/>
                </a:solidFill>
                <a:latin typeface="Arial"/>
              </a:rPr>
              <a:t>.</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12 / 46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LEGB as Nested Boxes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sp>
        <p:nvSpPr>
          <p:cNvPr id="4" name="Rounded Rectangle 3"/>
          <p:cNvSpPr/>
          <p:nvPr/>
        </p:nvSpPr>
        <p:spPr>
          <a:xfrm>
            <a:off x="609904" y="1783080"/>
            <a:ext cx="10971885" cy="3066287"/>
          </a:xfrm>
          <a:prstGeom prst="roundRect">
            <a:avLst>
              <a:gd name="adj" fmla="val 2385"/>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10569549" cy="2773680"/>
          </a:xfrm>
          <a:prstGeom prst="rect">
            <a:avLst/>
          </a:prstGeom>
          <a:noFill/>
        </p:spPr>
        <p:txBody>
          <a:bodyPr wrap="square" lIns="0" tIns="0" rIns="0" bIns="0">
            <a:spAutoFit/>
          </a:bodyPr>
          <a:lstStyle/>
          <a:p>
            <a:pPr algn="l">
              <a:lnSpc>
                <a:spcPct val="100000"/>
              </a:lnSpc>
            </a:pPr>
            <a:r>
              <a:rPr sz="1400">
                <a:solidFill>
                  <a:srgbClr val="1A1A1A"/>
                </a:solidFill>
                <a:latin typeface="Courier New"/>
              </a:rPr>
              <a:t>+------------------------------------------------------+</a:t>
            </a:r>
          </a:p>
          <a:p>
            <a:pPr algn="l">
              <a:lnSpc>
                <a:spcPct val="100000"/>
              </a:lnSpc>
            </a:pPr>
            <a:r>
              <a:rPr sz="1400">
                <a:solidFill>
                  <a:srgbClr val="1A1A1A"/>
                </a:solidFill>
                <a:latin typeface="Courier New"/>
              </a:rPr>
              <a:t>| Built-in      print, len, range, ValueError, ...     |</a:t>
            </a:r>
          </a:p>
          <a:p>
            <a:pPr algn="l">
              <a:lnSpc>
                <a:spcPct val="100000"/>
              </a:lnSpc>
            </a:pPr>
            <a:r>
              <a:rPr sz="1400">
                <a:solidFill>
                  <a:srgbClr val="1A1A1A"/>
                </a:solidFill>
                <a:latin typeface="Courier New"/>
              </a:rPr>
              <a:t>|  +------------------------------------------------+  |</a:t>
            </a:r>
          </a:p>
          <a:p>
            <a:pPr algn="l">
              <a:lnSpc>
                <a:spcPct val="100000"/>
              </a:lnSpc>
            </a:pPr>
            <a:r>
              <a:rPr sz="1400">
                <a:solidFill>
                  <a:srgbClr val="1A1A1A"/>
                </a:solidFill>
                <a:latin typeface="Courier New"/>
              </a:rPr>
              <a:t>|  | Global (module)   config, helper functions     |  |</a:t>
            </a:r>
          </a:p>
          <a:p>
            <a:pPr algn="l">
              <a:lnSpc>
                <a:spcPct val="100000"/>
              </a:lnSpc>
            </a:pPr>
            <a:r>
              <a:rPr sz="1400">
                <a:solidFill>
                  <a:srgbClr val="1A1A1A"/>
                </a:solidFill>
                <a:latin typeface="Courier New"/>
              </a:rPr>
              <a:t>|  |  +------------------------------------------+  |  |</a:t>
            </a:r>
          </a:p>
          <a:p>
            <a:pPr algn="l">
              <a:lnSpc>
                <a:spcPct val="100000"/>
              </a:lnSpc>
            </a:pPr>
            <a:r>
              <a:rPr sz="1400">
                <a:solidFill>
                  <a:srgbClr val="1A1A1A"/>
                </a:solidFill>
                <a:latin typeface="Courier New"/>
              </a:rPr>
              <a:t>|  |  | Enclosing  (outer function's variables)  |  |  |</a:t>
            </a:r>
          </a:p>
          <a:p>
            <a:pPr algn="l">
              <a:lnSpc>
                <a:spcPct val="100000"/>
              </a:lnSpc>
            </a:pPr>
            <a:r>
              <a:rPr sz="1400">
                <a:solidFill>
                  <a:srgbClr val="1A1A1A"/>
                </a:solidFill>
                <a:latin typeface="Courier New"/>
              </a:rPr>
              <a:t>|  |  |  +------------------------------------+  |  |  |</a:t>
            </a:r>
          </a:p>
          <a:p>
            <a:pPr algn="l">
              <a:lnSpc>
                <a:spcPct val="100000"/>
              </a:lnSpc>
            </a:pPr>
            <a:r>
              <a:rPr sz="1400">
                <a:solidFill>
                  <a:srgbClr val="1A1A1A"/>
                </a:solidFill>
                <a:latin typeface="Courier New"/>
              </a:rPr>
              <a:t>|  |  |  | Local   (this function's variables)|  |  |  |</a:t>
            </a:r>
          </a:p>
          <a:p>
            <a:pPr algn="l">
              <a:lnSpc>
                <a:spcPct val="100000"/>
              </a:lnSpc>
            </a:pPr>
            <a:r>
              <a:rPr sz="1400">
                <a:solidFill>
                  <a:srgbClr val="1A1A1A"/>
                </a:solidFill>
                <a:latin typeface="Courier New"/>
              </a:rPr>
              <a:t>|  |  |  +------------------------------------+  |  |  |</a:t>
            </a:r>
          </a:p>
          <a:p>
            <a:pPr algn="l">
              <a:lnSpc>
                <a:spcPct val="100000"/>
              </a:lnSpc>
            </a:pPr>
            <a:r>
              <a:rPr sz="1400">
                <a:solidFill>
                  <a:srgbClr val="1A1A1A"/>
                </a:solidFill>
                <a:latin typeface="Courier New"/>
              </a:rPr>
              <a:t>|  |  +------------------------------------------+  |  |</a:t>
            </a:r>
          </a:p>
          <a:p>
            <a:pPr algn="l">
              <a:lnSpc>
                <a:spcPct val="100000"/>
              </a:lnSpc>
            </a:pPr>
            <a:r>
              <a:rPr sz="1400">
                <a:solidFill>
                  <a:srgbClr val="1A1A1A"/>
                </a:solidFill>
                <a:latin typeface="Courier New"/>
              </a:rPr>
              <a:t>|  +------------------------------------------------+  |</a:t>
            </a:r>
          </a:p>
          <a:p>
            <a:pPr algn="l">
              <a:lnSpc>
                <a:spcPct val="100000"/>
              </a:lnSpc>
            </a:pPr>
            <a:r>
              <a:rPr sz="1400">
                <a:solidFill>
                  <a:srgbClr val="1A1A1A"/>
                </a:solidFill>
                <a:latin typeface="Courier New"/>
              </a:rPr>
              <a:t>+------------------------------------------------------+</a:t>
            </a:r>
          </a:p>
          <a:p>
            <a:pPr algn="l">
              <a:lnSpc>
                <a:spcPct val="100000"/>
              </a:lnSpc>
            </a:pPr>
            <a:r>
              <a:rPr sz="1400">
                <a:solidFill>
                  <a:srgbClr val="1A1A1A"/>
                </a:solidFill>
                <a:latin typeface="Courier New"/>
              </a:rPr>
              <a:t>   Search starts in the innermost box and moves outward.</a:t>
            </a:r>
          </a:p>
        </p:txBody>
      </p:sp>
      <p:sp>
        <p:nvSpPr>
          <p:cNvPr id="6" name="TextBox 5"/>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13 / 46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Walking Through the Layers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sp>
        <p:nvSpPr>
          <p:cNvPr id="4" name="TextBox 3"/>
          <p:cNvSpPr txBox="1"/>
          <p:nvPr/>
        </p:nvSpPr>
        <p:spPr>
          <a:xfrm>
            <a:off x="609904" y="1783080"/>
            <a:ext cx="10971885" cy="457200"/>
          </a:xfrm>
          <a:prstGeom prst="rect">
            <a:avLst/>
          </a:prstGeom>
          <a:noFill/>
        </p:spPr>
        <p:txBody>
          <a:bodyPr wrap="square" lIns="0" tIns="0" rIns="0" bIns="0" anchor="t">
            <a:spAutoFit/>
          </a:bodyPr>
          <a:lstStyle/>
          <a:p>
            <a:pPr algn="l">
              <a:lnSpc>
                <a:spcPct val="110000"/>
              </a:lnSpc>
              <a:spcAft>
                <a:spcPts val="600"/>
              </a:spcAft>
            </a:pPr>
            <a:r>
              <a:rPr sz="1500" b="0" i="0">
                <a:solidFill>
                  <a:srgbClr val="1A1A1A"/>
                </a:solidFill>
                <a:latin typeface="Arial"/>
              </a:rPr>
              <a:t>One example, four scopes (</a:t>
            </a:r>
            <a:r>
              <a:rPr sz="1450" b="0" i="0">
                <a:solidFill>
                  <a:srgbClr val="330066"/>
                </a:solidFill>
                <a:latin typeface="Courier New"/>
              </a:rPr>
              <a:t>scope_demo.py</a:t>
            </a:r>
            <a:r>
              <a:rPr sz="1500" b="0" i="0">
                <a:solidFill>
                  <a:srgbClr val="1A1A1A"/>
                </a:solidFill>
                <a:latin typeface="Arial"/>
              </a:rPr>
              <a:t>).</a:t>
            </a:r>
          </a:p>
        </p:txBody>
      </p:sp>
      <p:sp>
        <p:nvSpPr>
          <p:cNvPr id="5" name="Rounded Rectangle 4"/>
          <p:cNvSpPr/>
          <p:nvPr/>
        </p:nvSpPr>
        <p:spPr>
          <a:xfrm>
            <a:off x="609904" y="2267712"/>
            <a:ext cx="10971885" cy="2852927"/>
          </a:xfrm>
          <a:prstGeom prst="roundRect">
            <a:avLst>
              <a:gd name="adj" fmla="val 2564"/>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414016"/>
            <a:ext cx="10569549" cy="2560319"/>
          </a:xfrm>
          <a:prstGeom prst="rect">
            <a:avLst/>
          </a:prstGeom>
          <a:noFill/>
        </p:spPr>
        <p:txBody>
          <a:bodyPr wrap="square" lIns="0" tIns="0" rIns="0" bIns="0">
            <a:spAutoFit/>
          </a:bodyPr>
          <a:lstStyle/>
          <a:p>
            <a:pPr algn="l">
              <a:lnSpc>
                <a:spcPct val="100000"/>
              </a:lnSpc>
            </a:pPr>
            <a:r>
              <a:rPr sz="1200">
                <a:solidFill>
                  <a:srgbClr val="5C8A8A"/>
                </a:solidFill>
                <a:latin typeface="Courier New"/>
              </a:rPr>
              <a:t># scope_demo.py</a:t>
            </a:r>
          </a:p>
          <a:p>
            <a:pPr algn="l">
              <a:lnSpc>
                <a:spcPct val="100000"/>
              </a:lnSpc>
            </a:pPr>
            <a:r>
              <a:rPr sz="1200">
                <a:solidFill>
                  <a:srgbClr val="1A1A1A"/>
                </a:solidFill>
                <a:latin typeface="Courier New"/>
              </a:rPr>
              <a:t>base_url = "https://staging.example.com"        # Global</a:t>
            </a:r>
          </a:p>
          <a:p>
            <a:pPr algn="l">
              <a:lnSpc>
                <a:spcPct val="100000"/>
              </a:lnSpc>
            </a:pPr>
            <a:r>
              <a:rPr sz="1200">
                <a:solidFill>
                  <a:srgbClr val="1A1A1A"/>
                </a:solidFill>
                <a:latin typeface="Courier New"/>
              </a:rPr>
              <a:t> </a:t>
            </a:r>
          </a:p>
          <a:p>
            <a:pPr algn="l">
              <a:lnSpc>
                <a:spcPct val="100000"/>
              </a:lnSpc>
            </a:pPr>
            <a:r>
              <a:rPr sz="1200">
                <a:solidFill>
                  <a:srgbClr val="1A1A1A"/>
                </a:solidFill>
                <a:latin typeface="Courier New"/>
              </a:rPr>
              <a:t>def build_endpoint(path):                       # 'path' is Local to build_endpoint</a:t>
            </a:r>
          </a:p>
          <a:p>
            <a:pPr algn="l">
              <a:lnSpc>
                <a:spcPct val="100000"/>
              </a:lnSpc>
            </a:pPr>
            <a:r>
              <a:rPr sz="1200">
                <a:solidFill>
                  <a:srgbClr val="1A1A1A"/>
                </a:solidFill>
                <a:latin typeface="Courier New"/>
              </a:rPr>
              <a:t>    version = "v1"                              # Local</a:t>
            </a:r>
          </a:p>
          <a:p>
            <a:pPr algn="l">
              <a:lnSpc>
                <a:spcPct val="100000"/>
              </a:lnSpc>
            </a:pPr>
            <a:r>
              <a:rPr sz="1200">
                <a:solidFill>
                  <a:srgbClr val="1A1A1A"/>
                </a:solidFill>
                <a:latin typeface="Courier New"/>
              </a:rPr>
              <a:t> </a:t>
            </a:r>
          </a:p>
          <a:p>
            <a:pPr algn="l">
              <a:lnSpc>
                <a:spcPct val="100000"/>
              </a:lnSpc>
            </a:pPr>
            <a:r>
              <a:rPr sz="1200">
                <a:solidFill>
                  <a:srgbClr val="1A1A1A"/>
                </a:solidFill>
                <a:latin typeface="Courier New"/>
              </a:rPr>
              <a:t>    def with_query(params):                     # 'params' is Local to with_query</a:t>
            </a:r>
          </a:p>
          <a:p>
            <a:pPr algn="l">
              <a:lnSpc>
                <a:spcPct val="100000"/>
              </a:lnSpc>
            </a:pPr>
            <a:r>
              <a:rPr sz="1200">
                <a:solidFill>
                  <a:srgbClr val="5C8A8A"/>
                </a:solidFill>
                <a:latin typeface="Courier New"/>
              </a:rPr>
              <a:t>        # 'version' is Enclosing (belongs to build_endpoint)</a:t>
            </a:r>
          </a:p>
          <a:p>
            <a:pPr algn="l">
              <a:lnSpc>
                <a:spcPct val="100000"/>
              </a:lnSpc>
            </a:pPr>
            <a:r>
              <a:rPr sz="1200">
                <a:solidFill>
                  <a:srgbClr val="5C8A8A"/>
                </a:solidFill>
                <a:latin typeface="Courier New"/>
              </a:rPr>
              <a:t>        # 'base_url' is Global</a:t>
            </a:r>
          </a:p>
          <a:p>
            <a:pPr algn="l">
              <a:lnSpc>
                <a:spcPct val="100000"/>
              </a:lnSpc>
            </a:pPr>
            <a:r>
              <a:rPr sz="1200">
                <a:solidFill>
                  <a:srgbClr val="5C8A8A"/>
                </a:solidFill>
                <a:latin typeface="Courier New"/>
              </a:rPr>
              <a:t>        # 'len' and 'str' are Built-in</a:t>
            </a:r>
          </a:p>
          <a:p>
            <a:pPr algn="l">
              <a:lnSpc>
                <a:spcPct val="100000"/>
              </a:lnSpc>
            </a:pPr>
            <a:r>
              <a:rPr sz="1200">
                <a:solidFill>
                  <a:srgbClr val="1A1A1A"/>
                </a:solidFill>
                <a:latin typeface="Courier New"/>
              </a:rPr>
              <a:t>        query = "&amp;".join(f"{k}={v}" for k, v in params.items())</a:t>
            </a:r>
          </a:p>
          <a:p>
            <a:pPr algn="l">
              <a:lnSpc>
                <a:spcPct val="100000"/>
              </a:lnSpc>
            </a:pPr>
            <a:r>
              <a:rPr sz="1200">
                <a:solidFill>
                  <a:srgbClr val="1A1A1A"/>
                </a:solidFill>
                <a:latin typeface="Courier New"/>
              </a:rPr>
              <a:t>        return f"{base_url}/{version}/{path}?{query}" if len(params) else f"{base_url}/{version}/{path}"</a:t>
            </a:r>
          </a:p>
          <a:p>
            <a:pPr algn="l">
              <a:lnSpc>
                <a:spcPct val="100000"/>
              </a:lnSpc>
            </a:pPr>
            <a:r>
              <a:rPr sz="1200">
                <a:solidFill>
                  <a:srgbClr val="1A1A1A"/>
                </a:solidFill>
                <a:latin typeface="Courier New"/>
              </a:rPr>
              <a:t> </a:t>
            </a:r>
          </a:p>
          <a:p>
            <a:pPr algn="l">
              <a:lnSpc>
                <a:spcPct val="100000"/>
              </a:lnSpc>
            </a:pPr>
            <a:r>
              <a:rPr sz="1200">
                <a:solidFill>
                  <a:srgbClr val="1A1A1A"/>
                </a:solidFill>
                <a:latin typeface="Courier New"/>
              </a:rPr>
              <a:t>    return with_query</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14 / 46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Calling It</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sp>
        <p:nvSpPr>
          <p:cNvPr id="4" name="TextBox 3"/>
          <p:cNvSpPr txBox="1"/>
          <p:nvPr/>
        </p:nvSpPr>
        <p:spPr>
          <a:xfrm>
            <a:off x="609904" y="1783080"/>
            <a:ext cx="676656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Use the closure</a:t>
            </a:r>
          </a:p>
        </p:txBody>
      </p:sp>
      <p:sp>
        <p:nvSpPr>
          <p:cNvPr id="5" name="Rounded Rectangle 4"/>
          <p:cNvSpPr/>
          <p:nvPr/>
        </p:nvSpPr>
        <p:spPr>
          <a:xfrm>
            <a:off x="609904" y="2057400"/>
            <a:ext cx="6766560" cy="932688"/>
          </a:xfrm>
          <a:prstGeom prst="roundRect">
            <a:avLst>
              <a:gd name="adj" fmla="val 7843"/>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03704"/>
            <a:ext cx="6364224" cy="640080"/>
          </a:xfrm>
          <a:prstGeom prst="rect">
            <a:avLst/>
          </a:prstGeom>
          <a:noFill/>
        </p:spPr>
        <p:txBody>
          <a:bodyPr wrap="square" lIns="0" tIns="0" rIns="0" bIns="0">
            <a:spAutoFit/>
          </a:bodyPr>
          <a:lstStyle/>
          <a:p>
            <a:pPr algn="l">
              <a:lnSpc>
                <a:spcPct val="100000"/>
              </a:lnSpc>
            </a:pPr>
            <a:r>
              <a:rPr sz="1400">
                <a:solidFill>
                  <a:srgbClr val="1A1A1A"/>
                </a:solidFill>
                <a:latin typeface="Courier New"/>
              </a:rPr>
              <a:t>make = build_endpoint("users")</a:t>
            </a:r>
          </a:p>
          <a:p>
            <a:pPr algn="l">
              <a:lnSpc>
                <a:spcPct val="100000"/>
              </a:lnSpc>
            </a:pPr>
            <a:r>
              <a:rPr sz="1400">
                <a:solidFill>
                  <a:srgbClr val="1A1A1A"/>
                </a:solidFill>
                <a:latin typeface="Courier New"/>
              </a:rPr>
              <a:t>print(make({"active": "true", "page": 2}))</a:t>
            </a:r>
          </a:p>
          <a:p>
            <a:pPr algn="l">
              <a:lnSpc>
                <a:spcPct val="100000"/>
              </a:lnSpc>
            </a:pPr>
            <a:r>
              <a:rPr sz="1400">
                <a:solidFill>
                  <a:srgbClr val="1A1A1A"/>
                </a:solidFill>
                <a:latin typeface="Courier New"/>
              </a:rPr>
              <a:t>print(make({}))</a:t>
            </a:r>
          </a:p>
        </p:txBody>
      </p:sp>
      <p:sp>
        <p:nvSpPr>
          <p:cNvPr id="7" name="TextBox 6"/>
          <p:cNvSpPr txBox="1"/>
          <p:nvPr/>
        </p:nvSpPr>
        <p:spPr>
          <a:xfrm>
            <a:off x="609904" y="3172968"/>
            <a:ext cx="676656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Output</a:t>
            </a:r>
          </a:p>
        </p:txBody>
      </p:sp>
      <p:sp>
        <p:nvSpPr>
          <p:cNvPr id="8" name="Rounded Rectangle 7"/>
          <p:cNvSpPr/>
          <p:nvPr/>
        </p:nvSpPr>
        <p:spPr>
          <a:xfrm>
            <a:off x="609904" y="3447287"/>
            <a:ext cx="6766560" cy="719328"/>
          </a:xfrm>
          <a:prstGeom prst="roundRect">
            <a:avLst>
              <a:gd name="adj" fmla="val 10169"/>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1072" y="3593591"/>
            <a:ext cx="6364224" cy="426719"/>
          </a:xfrm>
          <a:prstGeom prst="rect">
            <a:avLst/>
          </a:prstGeom>
          <a:noFill/>
        </p:spPr>
        <p:txBody>
          <a:bodyPr wrap="square" lIns="0" tIns="0" rIns="0" bIns="0">
            <a:spAutoFit/>
          </a:bodyPr>
          <a:lstStyle/>
          <a:p>
            <a:pPr algn="l">
              <a:lnSpc>
                <a:spcPct val="100000"/>
              </a:lnSpc>
            </a:pPr>
            <a:r>
              <a:rPr sz="1400">
                <a:solidFill>
                  <a:srgbClr val="1A1A1A"/>
                </a:solidFill>
                <a:latin typeface="Courier New"/>
              </a:rPr>
              <a:t>https://staging.example.com/v1/users?active=true&amp;page=2</a:t>
            </a:r>
          </a:p>
          <a:p>
            <a:pPr algn="l">
              <a:lnSpc>
                <a:spcPct val="100000"/>
              </a:lnSpc>
            </a:pPr>
            <a:r>
              <a:rPr sz="1400">
                <a:solidFill>
                  <a:srgbClr val="1A1A1A"/>
                </a:solidFill>
                <a:latin typeface="Courier New"/>
              </a:rPr>
              <a:t>https://staging.example.com/v1/users</a:t>
            </a:r>
          </a:p>
        </p:txBody>
      </p:sp>
      <p:sp>
        <p:nvSpPr>
          <p:cNvPr id="10" name="TextBox 9"/>
          <p:cNvSpPr txBox="1"/>
          <p:nvPr/>
        </p:nvSpPr>
        <p:spPr>
          <a:xfrm>
            <a:off x="7742224" y="1783080"/>
            <a:ext cx="3839565" cy="4361688"/>
          </a:xfrm>
          <a:prstGeom prst="rect">
            <a:avLst/>
          </a:prstGeom>
          <a:noFill/>
        </p:spPr>
        <p:txBody>
          <a:bodyPr wrap="square" lIns="0" tIns="0" rIns="0" bIns="0">
            <a:spAutoFit/>
          </a:bodyPr>
          <a:lstStyle/>
          <a:p>
            <a:pPr marL="228600" indent="-228600" algn="l">
              <a:spcAft>
                <a:spcPts val="800"/>
              </a:spcAft>
              <a:buFont typeface="Arial"/>
              <a:buChar char="•"/>
            </a:pPr>
            <a:r>
              <a:rPr sz="1450" b="0" i="0">
                <a:solidFill>
                  <a:srgbClr val="330066"/>
                </a:solidFill>
                <a:latin typeface="Courier New"/>
              </a:rPr>
              <a:t>make</a:t>
            </a:r>
            <a:r>
              <a:rPr sz="1500" b="0" i="0">
                <a:solidFill>
                  <a:srgbClr val="1A1A1A"/>
                </a:solidFill>
                <a:latin typeface="Arial"/>
              </a:rPr>
              <a:t> still remembers </a:t>
            </a:r>
            <a:r>
              <a:rPr sz="1450" b="0" i="0">
                <a:solidFill>
                  <a:srgbClr val="330066"/>
                </a:solidFill>
                <a:latin typeface="Courier New"/>
              </a:rPr>
              <a:t>version</a:t>
            </a:r>
            <a:r>
              <a:rPr sz="1500" b="0" i="0">
                <a:solidFill>
                  <a:srgbClr val="1A1A1A"/>
                </a:solidFill>
                <a:latin typeface="Arial"/>
              </a:rPr>
              <a:t> and </a:t>
            </a:r>
            <a:r>
              <a:rPr sz="1450" b="0" i="0">
                <a:solidFill>
                  <a:srgbClr val="330066"/>
                </a:solidFill>
                <a:latin typeface="Courier New"/>
              </a:rPr>
              <a:t>path</a:t>
            </a:r>
            <a:r>
              <a:rPr sz="1500" b="0" i="0">
                <a:solidFill>
                  <a:srgbClr val="1A1A1A"/>
                </a:solidFill>
                <a:latin typeface="Arial"/>
              </a:rPr>
              <a:t> after </a:t>
            </a:r>
            <a:r>
              <a:rPr sz="1450" b="0" i="0">
                <a:solidFill>
                  <a:srgbClr val="330066"/>
                </a:solidFill>
                <a:latin typeface="Courier New"/>
              </a:rPr>
              <a:t>build_endpoint</a:t>
            </a:r>
            <a:r>
              <a:rPr sz="1500" b="0" i="0">
                <a:solidFill>
                  <a:srgbClr val="1A1A1A"/>
                </a:solidFill>
                <a:latin typeface="Arial"/>
              </a:rPr>
              <a:t> returned.</a:t>
            </a:r>
          </a:p>
          <a:p>
            <a:pPr marL="228600" indent="-228600" algn="l">
              <a:spcAft>
                <a:spcPts val="800"/>
              </a:spcAft>
              <a:buFont typeface="Arial"/>
              <a:buChar char="•"/>
            </a:pPr>
            <a:r>
              <a:rPr sz="1500" b="0" i="0">
                <a:solidFill>
                  <a:srgbClr val="1A1A1A"/>
                </a:solidFill>
                <a:latin typeface="Arial"/>
              </a:rPr>
              <a:t>That remembering is a closure (section on </a:t>
            </a:r>
            <a:r>
              <a:rPr sz="1450" b="0" i="0">
                <a:solidFill>
                  <a:srgbClr val="330066"/>
                </a:solidFill>
                <a:latin typeface="Courier New"/>
              </a:rPr>
              <a:t>nonlocal</a:t>
            </a:r>
            <a:r>
              <a:rPr sz="1500" b="0" i="0">
                <a:solidFill>
                  <a:srgbClr val="1A1A1A"/>
                </a:solidFill>
                <a:latin typeface="Arial"/>
              </a:rPr>
              <a:t> below).</a:t>
            </a:r>
          </a:p>
        </p:txBody>
      </p:sp>
      <p:sp>
        <p:nvSpPr>
          <p:cNvPr id="11" name="TextBox 10"/>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15 / 46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Where Each Name Was Found</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sp>
        <p:nvSpPr>
          <p:cNvPr id="4" name="Rounded Rectangle 3"/>
          <p:cNvSpPr/>
          <p:nvPr/>
        </p:nvSpPr>
        <p:spPr>
          <a:xfrm>
            <a:off x="609904" y="1783080"/>
            <a:ext cx="5348782" cy="2043684"/>
          </a:xfrm>
          <a:prstGeom prst="roundRect">
            <a:avLst>
              <a:gd name="adj" fmla="val 4026"/>
            </a:avLst>
          </a:prstGeom>
          <a:solidFill>
            <a:srgbClr val="EDE6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38504" y="1965960"/>
            <a:ext cx="4891582" cy="1677924"/>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base_url</a:t>
            </a:r>
          </a:p>
          <a:p>
            <a:pPr algn="l">
              <a:lnSpc>
                <a:spcPct val="110000"/>
              </a:lnSpc>
              <a:spcAft>
                <a:spcPts val="600"/>
              </a:spcAft>
            </a:pPr>
            <a:r>
              <a:rPr sz="1400" b="0" i="0">
                <a:solidFill>
                  <a:srgbClr val="1A1A1A"/>
                </a:solidFill>
                <a:latin typeface="Arial"/>
              </a:rPr>
              <a:t>Top level of the file: a global of the module </a:t>
            </a:r>
            <a:r>
              <a:rPr sz="1350" b="0" i="0">
                <a:solidFill>
                  <a:srgbClr val="330066"/>
                </a:solidFill>
                <a:latin typeface="Courier New"/>
              </a:rPr>
              <a:t>scope_demo</a:t>
            </a:r>
            <a:r>
              <a:rPr sz="1400" b="0" i="0">
                <a:solidFill>
                  <a:srgbClr val="1A1A1A"/>
                </a:solidFill>
                <a:latin typeface="Arial"/>
              </a:rPr>
              <a:t>.</a:t>
            </a:r>
          </a:p>
        </p:txBody>
      </p:sp>
      <p:sp>
        <p:nvSpPr>
          <p:cNvPr id="6" name="Rounded Rectangle 5"/>
          <p:cNvSpPr/>
          <p:nvPr/>
        </p:nvSpPr>
        <p:spPr>
          <a:xfrm>
            <a:off x="6233007" y="1783080"/>
            <a:ext cx="5348782" cy="2043684"/>
          </a:xfrm>
          <a:prstGeom prst="roundRect">
            <a:avLst>
              <a:gd name="adj" fmla="val 4026"/>
            </a:avLst>
          </a:prstGeom>
          <a:solidFill>
            <a:srgbClr val="E9F1F1"/>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61607" y="1965960"/>
            <a:ext cx="4891582" cy="1677924"/>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path, version</a:t>
            </a:r>
          </a:p>
          <a:p>
            <a:pPr algn="l">
              <a:lnSpc>
                <a:spcPct val="110000"/>
              </a:lnSpc>
              <a:spcAft>
                <a:spcPts val="600"/>
              </a:spcAft>
            </a:pPr>
            <a:r>
              <a:rPr sz="1400" b="0" i="0">
                <a:solidFill>
                  <a:srgbClr val="1A1A1A"/>
                </a:solidFill>
                <a:latin typeface="Arial"/>
              </a:rPr>
              <a:t>Local to each call of </a:t>
            </a:r>
            <a:r>
              <a:rPr sz="1350" b="0" i="0">
                <a:solidFill>
                  <a:srgbClr val="330066"/>
                </a:solidFill>
                <a:latin typeface="Courier New"/>
              </a:rPr>
              <a:t>build_endpoint</a:t>
            </a:r>
            <a:r>
              <a:rPr sz="1400" b="0" i="0">
                <a:solidFill>
                  <a:srgbClr val="1A1A1A"/>
                </a:solidFill>
                <a:latin typeface="Arial"/>
              </a:rPr>
              <a:t>. Inside </a:t>
            </a:r>
            <a:r>
              <a:rPr sz="1350" b="0" i="0">
                <a:solidFill>
                  <a:srgbClr val="330066"/>
                </a:solidFill>
                <a:latin typeface="Courier New"/>
              </a:rPr>
              <a:t>with_query</a:t>
            </a:r>
            <a:r>
              <a:rPr sz="1400" b="0" i="0">
                <a:solidFill>
                  <a:srgbClr val="1A1A1A"/>
                </a:solidFill>
                <a:latin typeface="Arial"/>
              </a:rPr>
              <a:t> they are not local, so Python looks outward and finds them: the enclosing scope.</a:t>
            </a:r>
          </a:p>
        </p:txBody>
      </p:sp>
      <p:sp>
        <p:nvSpPr>
          <p:cNvPr id="8" name="Rounded Rectangle 7"/>
          <p:cNvSpPr/>
          <p:nvPr/>
        </p:nvSpPr>
        <p:spPr>
          <a:xfrm>
            <a:off x="609904" y="4101083"/>
            <a:ext cx="5348782" cy="2043684"/>
          </a:xfrm>
          <a:prstGeom prst="roundRect">
            <a:avLst>
              <a:gd name="adj" fmla="val 4026"/>
            </a:avLst>
          </a:prstGeom>
          <a:solidFill>
            <a:srgbClr val="EDE6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38504" y="4283964"/>
            <a:ext cx="4891582" cy="1677924"/>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params</a:t>
            </a:r>
          </a:p>
          <a:p>
            <a:pPr algn="l">
              <a:lnSpc>
                <a:spcPct val="110000"/>
              </a:lnSpc>
              <a:spcAft>
                <a:spcPts val="600"/>
              </a:spcAft>
            </a:pPr>
            <a:r>
              <a:rPr sz="1400" b="0" i="0">
                <a:solidFill>
                  <a:srgbClr val="1A1A1A"/>
                </a:solidFill>
                <a:latin typeface="Arial"/>
              </a:rPr>
              <a:t>Local to </a:t>
            </a:r>
            <a:r>
              <a:rPr sz="1350" b="0" i="0">
                <a:solidFill>
                  <a:srgbClr val="330066"/>
                </a:solidFill>
                <a:latin typeface="Courier New"/>
              </a:rPr>
              <a:t>with_query</a:t>
            </a:r>
            <a:r>
              <a:rPr sz="1400" b="0" i="0">
                <a:solidFill>
                  <a:srgbClr val="1A1A1A"/>
                </a:solidFill>
                <a:latin typeface="Arial"/>
              </a:rPr>
              <a:t>.</a:t>
            </a:r>
          </a:p>
        </p:txBody>
      </p:sp>
      <p:sp>
        <p:nvSpPr>
          <p:cNvPr id="10" name="Rounded Rectangle 9"/>
          <p:cNvSpPr/>
          <p:nvPr/>
        </p:nvSpPr>
        <p:spPr>
          <a:xfrm>
            <a:off x="6233007" y="4101083"/>
            <a:ext cx="5348782" cy="2043684"/>
          </a:xfrm>
          <a:prstGeom prst="roundRect">
            <a:avLst>
              <a:gd name="adj" fmla="val 4026"/>
            </a:avLst>
          </a:prstGeom>
          <a:solidFill>
            <a:srgbClr val="E9F1F1"/>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61607" y="4283964"/>
            <a:ext cx="4891582" cy="1677924"/>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len, str</a:t>
            </a:r>
          </a:p>
          <a:p>
            <a:pPr algn="l">
              <a:lnSpc>
                <a:spcPct val="110000"/>
              </a:lnSpc>
              <a:spcAft>
                <a:spcPts val="600"/>
              </a:spcAft>
            </a:pPr>
            <a:r>
              <a:rPr sz="1400" b="0" i="0">
                <a:solidFill>
                  <a:srgbClr val="1A1A1A"/>
                </a:solidFill>
                <a:latin typeface="Arial"/>
              </a:rPr>
              <a:t>Not found anywhere in our code, so Python finds them in the built-in scope.</a:t>
            </a:r>
          </a:p>
        </p:txBody>
      </p:sp>
      <p:sp>
        <p:nvSpPr>
          <p:cNvPr id="12" name="TextBox 11"/>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16 / 46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Local Scope</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sp>
        <p:nvSpPr>
          <p:cNvPr id="4" name="TextBox 3"/>
          <p:cNvSpPr txBox="1"/>
          <p:nvPr/>
        </p:nvSpPr>
        <p:spPr>
          <a:xfrm>
            <a:off x="609904" y="1783080"/>
            <a:ext cx="585216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Anything assigned inside a function is local</a:t>
            </a:r>
          </a:p>
        </p:txBody>
      </p:sp>
      <p:sp>
        <p:nvSpPr>
          <p:cNvPr id="5" name="Rounded Rectangle 4"/>
          <p:cNvSpPr/>
          <p:nvPr/>
        </p:nvSpPr>
        <p:spPr>
          <a:xfrm>
            <a:off x="609904" y="2057400"/>
            <a:ext cx="5852160" cy="1938527"/>
          </a:xfrm>
          <a:prstGeom prst="roundRect">
            <a:avLst>
              <a:gd name="adj" fmla="val 3773"/>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03704"/>
            <a:ext cx="5449824" cy="1645919"/>
          </a:xfrm>
          <a:prstGeom prst="rect">
            <a:avLst/>
          </a:prstGeom>
          <a:noFill/>
        </p:spPr>
        <p:txBody>
          <a:bodyPr wrap="square" lIns="0" tIns="0" rIns="0" bIns="0">
            <a:spAutoFit/>
          </a:bodyPr>
          <a:lstStyle/>
          <a:p>
            <a:pPr algn="l">
              <a:lnSpc>
                <a:spcPct val="100000"/>
              </a:lnSpc>
            </a:pPr>
            <a:r>
              <a:rPr sz="1350">
                <a:solidFill>
                  <a:srgbClr val="1A1A1A"/>
                </a:solidFill>
                <a:latin typeface="Courier New"/>
              </a:rPr>
              <a:t>def calculate_total(prices):</a:t>
            </a:r>
          </a:p>
          <a:p>
            <a:pPr algn="l">
              <a:lnSpc>
                <a:spcPct val="100000"/>
              </a:lnSpc>
            </a:pPr>
            <a:r>
              <a:rPr sz="1350">
                <a:solidFill>
                  <a:srgbClr val="1A1A1A"/>
                </a:solidFill>
                <a:latin typeface="Courier New"/>
              </a:rPr>
              <a:t>    total = 0</a:t>
            </a:r>
          </a:p>
          <a:p>
            <a:pPr algn="l">
              <a:lnSpc>
                <a:spcPct val="100000"/>
              </a:lnSpc>
            </a:pPr>
            <a:r>
              <a:rPr sz="1350">
                <a:solidFill>
                  <a:srgbClr val="1A1A1A"/>
                </a:solidFill>
                <a:latin typeface="Courier New"/>
              </a:rPr>
              <a:t>    for price in prices:</a:t>
            </a:r>
          </a:p>
          <a:p>
            <a:pPr algn="l">
              <a:lnSpc>
                <a:spcPct val="100000"/>
              </a:lnSpc>
            </a:pPr>
            <a:r>
              <a:rPr sz="1350">
                <a:solidFill>
                  <a:srgbClr val="1A1A1A"/>
                </a:solidFill>
                <a:latin typeface="Courier New"/>
              </a:rPr>
              <a:t>        total += price</a:t>
            </a:r>
          </a:p>
          <a:p>
            <a:pPr algn="l">
              <a:lnSpc>
                <a:spcPct val="100000"/>
              </a:lnSpc>
            </a:pPr>
            <a:r>
              <a:rPr sz="1350">
                <a:solidFill>
                  <a:srgbClr val="1A1A1A"/>
                </a:solidFill>
                <a:latin typeface="Courier New"/>
              </a:rPr>
              <a:t>    return total</a:t>
            </a:r>
          </a:p>
          <a:p>
            <a:pPr algn="l">
              <a:lnSpc>
                <a:spcPct val="100000"/>
              </a:lnSpc>
            </a:pPr>
            <a:r>
              <a:rPr sz="1350">
                <a:solidFill>
                  <a:srgbClr val="1A1A1A"/>
                </a:solidFill>
                <a:latin typeface="Courier New"/>
              </a:rPr>
              <a:t> </a:t>
            </a:r>
          </a:p>
          <a:p>
            <a:pPr algn="l">
              <a:lnSpc>
                <a:spcPct val="100000"/>
              </a:lnSpc>
            </a:pPr>
            <a:r>
              <a:rPr sz="1350">
                <a:solidFill>
                  <a:srgbClr val="1A1A1A"/>
                </a:solidFill>
                <a:latin typeface="Courier New"/>
              </a:rPr>
              <a:t>print(calculate_total([10, 20, 30]))   # 60</a:t>
            </a:r>
          </a:p>
          <a:p>
            <a:pPr algn="l">
              <a:lnSpc>
                <a:spcPct val="100000"/>
              </a:lnSpc>
            </a:pPr>
            <a:r>
              <a:rPr sz="1350">
                <a:solidFill>
                  <a:srgbClr val="1A1A1A"/>
                </a:solidFill>
                <a:latin typeface="Courier New"/>
              </a:rPr>
              <a:t>print(total)                           # NameError!</a:t>
            </a:r>
          </a:p>
        </p:txBody>
      </p:sp>
      <p:sp>
        <p:nvSpPr>
          <p:cNvPr id="7" name="TextBox 6"/>
          <p:cNvSpPr txBox="1"/>
          <p:nvPr/>
        </p:nvSpPr>
        <p:spPr>
          <a:xfrm>
            <a:off x="609904" y="4178808"/>
            <a:ext cx="585216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The last line fails</a:t>
            </a:r>
          </a:p>
        </p:txBody>
      </p:sp>
      <p:sp>
        <p:nvSpPr>
          <p:cNvPr id="8" name="Rounded Rectangle 7"/>
          <p:cNvSpPr/>
          <p:nvPr/>
        </p:nvSpPr>
        <p:spPr>
          <a:xfrm>
            <a:off x="609904" y="4453128"/>
            <a:ext cx="5852160" cy="505968"/>
          </a:xfrm>
          <a:prstGeom prst="roundRect">
            <a:avLst>
              <a:gd name="adj" fmla="val 14457"/>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1072" y="4599432"/>
            <a:ext cx="5449824" cy="213360"/>
          </a:xfrm>
          <a:prstGeom prst="rect">
            <a:avLst/>
          </a:prstGeom>
          <a:noFill/>
        </p:spPr>
        <p:txBody>
          <a:bodyPr wrap="square" lIns="0" tIns="0" rIns="0" bIns="0">
            <a:spAutoFit/>
          </a:bodyPr>
          <a:lstStyle/>
          <a:p>
            <a:pPr algn="l">
              <a:lnSpc>
                <a:spcPct val="100000"/>
              </a:lnSpc>
            </a:pPr>
            <a:r>
              <a:rPr sz="1400">
                <a:solidFill>
                  <a:srgbClr val="1A1A1A"/>
                </a:solidFill>
                <a:latin typeface="Courier New"/>
              </a:rPr>
              <a:t>NameError: name 'total' is not defined</a:t>
            </a:r>
          </a:p>
        </p:txBody>
      </p:sp>
      <p:sp>
        <p:nvSpPr>
          <p:cNvPr id="10" name="TextBox 9"/>
          <p:cNvSpPr txBox="1"/>
          <p:nvPr/>
        </p:nvSpPr>
        <p:spPr>
          <a:xfrm>
            <a:off x="6827824" y="1783080"/>
            <a:ext cx="4753965" cy="4361688"/>
          </a:xfrm>
          <a:prstGeom prst="rect">
            <a:avLst/>
          </a:prstGeom>
          <a:noFill/>
        </p:spPr>
        <p:txBody>
          <a:bodyPr wrap="square" lIns="0" tIns="0" rIns="0" bIns="0">
            <a:spAutoFit/>
          </a:bodyPr>
          <a:lstStyle/>
          <a:p>
            <a:pPr marL="228600" indent="-228600" algn="l">
              <a:spcAft>
                <a:spcPts val="800"/>
              </a:spcAft>
              <a:buFont typeface="Arial"/>
              <a:buChar char="•"/>
            </a:pPr>
            <a:r>
              <a:rPr sz="1400" b="0" i="0">
                <a:solidFill>
                  <a:srgbClr val="330066"/>
                </a:solidFill>
                <a:latin typeface="Courier New"/>
              </a:rPr>
              <a:t>total</a:t>
            </a:r>
            <a:r>
              <a:rPr sz="1450" b="0" i="0">
                <a:solidFill>
                  <a:srgbClr val="1A1A1A"/>
                </a:solidFill>
                <a:latin typeface="Arial"/>
              </a:rPr>
              <a:t> was created when </a:t>
            </a:r>
            <a:r>
              <a:rPr sz="1400" b="0" i="0">
                <a:solidFill>
                  <a:srgbClr val="330066"/>
                </a:solidFill>
                <a:latin typeface="Courier New"/>
              </a:rPr>
              <a:t>calculate_total</a:t>
            </a:r>
            <a:r>
              <a:rPr sz="1450" b="0" i="0">
                <a:solidFill>
                  <a:srgbClr val="1A1A1A"/>
                </a:solidFill>
                <a:latin typeface="Arial"/>
              </a:rPr>
              <a:t> ran and thrown away when it returned.</a:t>
            </a:r>
          </a:p>
          <a:p>
            <a:pPr marL="228600" indent="-228600" algn="l">
              <a:spcAft>
                <a:spcPts val="800"/>
              </a:spcAft>
              <a:buFont typeface="Arial"/>
              <a:buChar char="•"/>
            </a:pPr>
            <a:r>
              <a:rPr sz="1450" b="0" i="0">
                <a:solidFill>
                  <a:srgbClr val="1A1A1A"/>
                </a:solidFill>
                <a:latin typeface="Arial"/>
              </a:rPr>
              <a:t>This is a feature: function internals cannot interfere with the rest of the program.</a:t>
            </a:r>
          </a:p>
          <a:p>
            <a:pPr marL="228600" indent="-228600" algn="l">
              <a:spcAft>
                <a:spcPts val="800"/>
              </a:spcAft>
              <a:buFont typeface="Arial"/>
              <a:buChar char="•"/>
            </a:pPr>
            <a:r>
              <a:rPr sz="1450" b="0" i="0">
                <a:solidFill>
                  <a:srgbClr val="1A1A1A"/>
                </a:solidFill>
                <a:latin typeface="Arial"/>
              </a:rPr>
              <a:t>Each call gets a fresh local namespace. Two calls do not share locals, so a function can be called many times, even recursively.</a:t>
            </a:r>
          </a:p>
        </p:txBody>
      </p:sp>
      <p:sp>
        <p:nvSpPr>
          <p:cNvPr id="11" name="TextBox 10"/>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17 / 46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Global Scope: Reading Globals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sp>
        <p:nvSpPr>
          <p:cNvPr id="4" name="TextBox 3"/>
          <p:cNvSpPr txBox="1"/>
          <p:nvPr/>
        </p:nvSpPr>
        <p:spPr>
          <a:xfrm>
            <a:off x="609904" y="1783080"/>
            <a:ext cx="585216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Functions can read a global with no special syntax</a:t>
            </a:r>
          </a:p>
        </p:txBody>
      </p:sp>
      <p:sp>
        <p:nvSpPr>
          <p:cNvPr id="5" name="Rounded Rectangle 4"/>
          <p:cNvSpPr/>
          <p:nvPr/>
        </p:nvSpPr>
        <p:spPr>
          <a:xfrm>
            <a:off x="609904" y="2057400"/>
            <a:ext cx="5852160" cy="1435607"/>
          </a:xfrm>
          <a:prstGeom prst="roundRect">
            <a:avLst>
              <a:gd name="adj" fmla="val 5095"/>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03704"/>
            <a:ext cx="5449824" cy="1142999"/>
          </a:xfrm>
          <a:prstGeom prst="rect">
            <a:avLst/>
          </a:prstGeom>
          <a:noFill/>
        </p:spPr>
        <p:txBody>
          <a:bodyPr wrap="square" lIns="0" tIns="0" rIns="0" bIns="0">
            <a:spAutoFit/>
          </a:bodyPr>
          <a:lstStyle/>
          <a:p>
            <a:pPr algn="l">
              <a:lnSpc>
                <a:spcPct val="100000"/>
              </a:lnSpc>
            </a:pPr>
            <a:r>
              <a:rPr sz="1250">
                <a:solidFill>
                  <a:srgbClr val="1A1A1A"/>
                </a:solidFill>
                <a:latin typeface="Courier New"/>
              </a:rPr>
              <a:t>BASE_URL = "https://staging.example.com"</a:t>
            </a:r>
          </a:p>
          <a:p>
            <a:pPr algn="l">
              <a:lnSpc>
                <a:spcPct val="100000"/>
              </a:lnSpc>
            </a:pPr>
            <a:r>
              <a:rPr sz="1250">
                <a:solidFill>
                  <a:srgbClr val="1A1A1A"/>
                </a:solidFill>
                <a:latin typeface="Courier New"/>
              </a:rPr>
              <a:t> </a:t>
            </a:r>
          </a:p>
          <a:p>
            <a:pPr algn="l">
              <a:lnSpc>
                <a:spcPct val="100000"/>
              </a:lnSpc>
            </a:pPr>
            <a:r>
              <a:rPr sz="1250">
                <a:solidFill>
                  <a:srgbClr val="1A1A1A"/>
                </a:solidFill>
                <a:latin typeface="Courier New"/>
              </a:rPr>
              <a:t>def get_login_url():</a:t>
            </a:r>
          </a:p>
          <a:p>
            <a:pPr algn="l">
              <a:lnSpc>
                <a:spcPct val="100000"/>
              </a:lnSpc>
            </a:pPr>
            <a:r>
              <a:rPr sz="1250">
                <a:solidFill>
                  <a:srgbClr val="1A1A1A"/>
                </a:solidFill>
                <a:latin typeface="Courier New"/>
              </a:rPr>
              <a:t>    return BASE_URL + "/login"       # reads the global</a:t>
            </a:r>
          </a:p>
          <a:p>
            <a:pPr algn="l">
              <a:lnSpc>
                <a:spcPct val="100000"/>
              </a:lnSpc>
            </a:pPr>
            <a:r>
              <a:rPr sz="1250">
                <a:solidFill>
                  <a:srgbClr val="1A1A1A"/>
                </a:solidFill>
                <a:latin typeface="Courier New"/>
              </a:rPr>
              <a:t> </a:t>
            </a:r>
          </a:p>
          <a:p>
            <a:pPr algn="l">
              <a:lnSpc>
                <a:spcPct val="100000"/>
              </a:lnSpc>
            </a:pPr>
            <a:r>
              <a:rPr sz="1250">
                <a:solidFill>
                  <a:srgbClr val="1A1A1A"/>
                </a:solidFill>
                <a:latin typeface="Courier New"/>
              </a:rPr>
              <a:t>print(get_login_url())</a:t>
            </a:r>
          </a:p>
        </p:txBody>
      </p:sp>
      <p:sp>
        <p:nvSpPr>
          <p:cNvPr id="7" name="TextBox 6"/>
          <p:cNvSpPr txBox="1"/>
          <p:nvPr/>
        </p:nvSpPr>
        <p:spPr>
          <a:xfrm>
            <a:off x="609904" y="3675887"/>
            <a:ext cx="585216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Output</a:t>
            </a:r>
          </a:p>
        </p:txBody>
      </p:sp>
      <p:sp>
        <p:nvSpPr>
          <p:cNvPr id="8" name="Rounded Rectangle 7"/>
          <p:cNvSpPr/>
          <p:nvPr/>
        </p:nvSpPr>
        <p:spPr>
          <a:xfrm>
            <a:off x="609904" y="3950207"/>
            <a:ext cx="5852160" cy="505968"/>
          </a:xfrm>
          <a:prstGeom prst="roundRect">
            <a:avLst>
              <a:gd name="adj" fmla="val 14457"/>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1072" y="4096511"/>
            <a:ext cx="5449824" cy="213360"/>
          </a:xfrm>
          <a:prstGeom prst="rect">
            <a:avLst/>
          </a:prstGeom>
          <a:noFill/>
        </p:spPr>
        <p:txBody>
          <a:bodyPr wrap="square" lIns="0" tIns="0" rIns="0" bIns="0">
            <a:spAutoFit/>
          </a:bodyPr>
          <a:lstStyle/>
          <a:p>
            <a:pPr algn="l">
              <a:lnSpc>
                <a:spcPct val="100000"/>
              </a:lnSpc>
            </a:pPr>
            <a:r>
              <a:rPr sz="1400">
                <a:solidFill>
                  <a:srgbClr val="1A1A1A"/>
                </a:solidFill>
                <a:latin typeface="Courier New"/>
              </a:rPr>
              <a:t>https://staging.example.com/login</a:t>
            </a:r>
          </a:p>
        </p:txBody>
      </p:sp>
      <p:sp>
        <p:nvSpPr>
          <p:cNvPr id="10" name="TextBox 9"/>
          <p:cNvSpPr txBox="1"/>
          <p:nvPr/>
        </p:nvSpPr>
        <p:spPr>
          <a:xfrm>
            <a:off x="6827824" y="1783080"/>
            <a:ext cx="4753965" cy="4361688"/>
          </a:xfrm>
          <a:prstGeom prst="rect">
            <a:avLst/>
          </a:prstGeom>
          <a:noFill/>
        </p:spPr>
        <p:txBody>
          <a:bodyPr wrap="square" lIns="0" tIns="0" rIns="0" bIns="0">
            <a:spAutoFit/>
          </a:bodyPr>
          <a:lstStyle/>
          <a:p>
            <a:pPr marL="228600" indent="-228600" algn="l">
              <a:spcAft>
                <a:spcPts val="800"/>
              </a:spcAft>
              <a:buFont typeface="Arial"/>
              <a:buChar char="•"/>
            </a:pPr>
            <a:r>
              <a:rPr sz="1450" b="0" i="0">
                <a:solidFill>
                  <a:srgbClr val="1A1A1A"/>
                </a:solidFill>
                <a:latin typeface="Arial"/>
              </a:rPr>
              <a:t>A variable at the top level of a module is global; here it means module-level.</a:t>
            </a:r>
          </a:p>
          <a:p>
            <a:pPr marL="228600" indent="-228600" algn="l">
              <a:spcAft>
                <a:spcPts val="800"/>
              </a:spcAft>
              <a:buFont typeface="Arial"/>
              <a:buChar char="•"/>
            </a:pPr>
            <a:r>
              <a:rPr sz="1450" b="0" i="0">
                <a:solidFill>
                  <a:srgbClr val="1A1A1A"/>
                </a:solidFill>
                <a:latin typeface="Arial"/>
              </a:rPr>
              <a:t>Each file has its own global namespace. A name global in </a:t>
            </a:r>
            <a:r>
              <a:rPr sz="1400" b="0" i="0">
                <a:solidFill>
                  <a:srgbClr val="330066"/>
                </a:solidFill>
                <a:latin typeface="Courier New"/>
              </a:rPr>
              <a:t>config.py</a:t>
            </a:r>
            <a:r>
              <a:rPr sz="1450" b="0" i="0">
                <a:solidFill>
                  <a:srgbClr val="1A1A1A"/>
                </a:solidFill>
                <a:latin typeface="Arial"/>
              </a:rPr>
              <a:t> is not visible in </a:t>
            </a:r>
            <a:r>
              <a:rPr sz="1400" b="0" i="0">
                <a:solidFill>
                  <a:srgbClr val="330066"/>
                </a:solidFill>
                <a:latin typeface="Courier New"/>
              </a:rPr>
              <a:t>tests.py</a:t>
            </a:r>
            <a:r>
              <a:rPr sz="1450" b="0" i="0">
                <a:solidFill>
                  <a:srgbClr val="1A1A1A"/>
                </a:solidFill>
                <a:latin typeface="Arial"/>
              </a:rPr>
              <a:t> unless imported.</a:t>
            </a:r>
          </a:p>
          <a:p>
            <a:pPr marL="228600" indent="-228600" algn="l">
              <a:spcAft>
                <a:spcPts val="800"/>
              </a:spcAft>
              <a:buFont typeface="Arial"/>
              <a:buChar char="•"/>
            </a:pPr>
            <a:r>
              <a:rPr sz="1400" b="0" i="0">
                <a:solidFill>
                  <a:srgbClr val="330066"/>
                </a:solidFill>
                <a:latin typeface="Courier New"/>
              </a:rPr>
              <a:t>UPPER_CASE</a:t>
            </a:r>
            <a:r>
              <a:rPr sz="1450" b="0" i="0">
                <a:solidFill>
                  <a:srgbClr val="1A1A1A"/>
                </a:solidFill>
                <a:latin typeface="Arial"/>
              </a:rPr>
              <a:t> signals a constant: not enforced by Python, but it communicates intent.</a:t>
            </a:r>
          </a:p>
        </p:txBody>
      </p:sp>
      <p:sp>
        <p:nvSpPr>
          <p:cNvPr id="11" name="TextBox 10"/>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18 / 46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Assignment Creates a Local Name</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 · THE KEY RULE</a:t>
            </a:r>
          </a:p>
        </p:txBody>
      </p:sp>
      <p:sp>
        <p:nvSpPr>
          <p:cNvPr id="4" name="TextBox 3"/>
          <p:cNvSpPr txBox="1"/>
          <p:nvPr/>
        </p:nvSpPr>
        <p:spPr>
          <a:xfrm>
            <a:off x="609904" y="1783080"/>
            <a:ext cx="10971885" cy="1280160"/>
          </a:xfrm>
          <a:prstGeom prst="rect">
            <a:avLst/>
          </a:prstGeom>
          <a:noFill/>
        </p:spPr>
        <p:txBody>
          <a:bodyPr wrap="square" lIns="0" tIns="0" rIns="0" bIns="0" anchor="t">
            <a:spAutoFit/>
          </a:bodyPr>
          <a:lstStyle/>
          <a:p>
            <a:pPr algn="l">
              <a:lnSpc>
                <a:spcPct val="110000"/>
              </a:lnSpc>
              <a:spcAft>
                <a:spcPts val="600"/>
              </a:spcAft>
            </a:pPr>
            <a:r>
              <a:rPr sz="2000" b="1" i="0">
                <a:solidFill>
                  <a:srgbClr val="330066"/>
                </a:solidFill>
                <a:latin typeface="Arial"/>
              </a:rPr>
              <a:t>If a function assigns to a name anywhere in its body, Python treats that name as local to the whole function</a:t>
            </a:r>
          </a:p>
          <a:p>
            <a:pPr algn="l">
              <a:lnSpc>
                <a:spcPct val="110000"/>
              </a:lnSpc>
              <a:spcAft>
                <a:spcPts val="600"/>
              </a:spcAft>
            </a:pPr>
            <a:r>
              <a:rPr sz="1500" b="0" i="0">
                <a:solidFill>
                  <a:srgbClr val="1A1A1A"/>
                </a:solidFill>
                <a:latin typeface="Arial"/>
              </a:rPr>
              <a:t>(unless you declare it </a:t>
            </a:r>
            <a:r>
              <a:rPr sz="1450" b="0" i="0">
                <a:solidFill>
                  <a:srgbClr val="330066"/>
                </a:solidFill>
                <a:latin typeface="Courier New"/>
              </a:rPr>
              <a:t>global</a:t>
            </a:r>
            <a:r>
              <a:rPr sz="1500" b="0" i="0">
                <a:solidFill>
                  <a:srgbClr val="1A1A1A"/>
                </a:solidFill>
                <a:latin typeface="Arial"/>
              </a:rPr>
              <a:t> or </a:t>
            </a:r>
            <a:r>
              <a:rPr sz="1450" b="0" i="0">
                <a:solidFill>
                  <a:srgbClr val="330066"/>
                </a:solidFill>
                <a:latin typeface="Courier New"/>
              </a:rPr>
              <a:t>nonlocal</a:t>
            </a:r>
            <a:r>
              <a:rPr sz="1500" b="0" i="0">
                <a:solidFill>
                  <a:srgbClr val="1A1A1A"/>
                </a:solidFill>
                <a:latin typeface="Arial"/>
              </a:rPr>
              <a:t>)</a:t>
            </a:r>
          </a:p>
        </p:txBody>
      </p:sp>
      <p:sp>
        <p:nvSpPr>
          <p:cNvPr id="5" name="Rounded Rectangle 4"/>
          <p:cNvSpPr/>
          <p:nvPr/>
        </p:nvSpPr>
        <p:spPr>
          <a:xfrm>
            <a:off x="609904" y="3337560"/>
            <a:ext cx="10971885" cy="1005840"/>
          </a:xfrm>
          <a:prstGeom prst="roundRect">
            <a:avLst>
              <a:gd name="adj" fmla="val 8181"/>
            </a:avLst>
          </a:prstGeom>
          <a:solidFill>
            <a:srgbClr val="F5F5C2"/>
          </a:solidFill>
          <a:ln w="12700">
            <a:solidFill>
              <a:srgbClr val="F5F5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38504" y="3474720"/>
            <a:ext cx="10514685" cy="731520"/>
          </a:xfrm>
          <a:prstGeom prst="rect">
            <a:avLst/>
          </a:prstGeom>
          <a:noFill/>
        </p:spPr>
        <p:txBody>
          <a:bodyPr wrap="square" lIns="0" tIns="0" rIns="0" bIns="0" anchor="t">
            <a:spAutoFit/>
          </a:bodyPr>
          <a:lstStyle/>
          <a:p>
            <a:pPr algn="l">
              <a:lnSpc>
                <a:spcPct val="110000"/>
              </a:lnSpc>
              <a:spcAft>
                <a:spcPts val="300"/>
              </a:spcAft>
            </a:pPr>
            <a:r>
              <a:rPr sz="1100" b="1" i="0">
                <a:solidFill>
                  <a:srgbClr val="5C8A8A"/>
                </a:solidFill>
                <a:latin typeface="Arial"/>
              </a:rPr>
              <a:t>WHEN</a:t>
            </a:r>
          </a:p>
          <a:p>
            <a:pPr algn="l">
              <a:lnSpc>
                <a:spcPct val="110000"/>
              </a:lnSpc>
              <a:spcAft>
                <a:spcPts val="600"/>
              </a:spcAft>
            </a:pPr>
            <a:r>
              <a:rPr sz="1400" b="0" i="0">
                <a:solidFill>
                  <a:srgbClr val="1A1A1A"/>
                </a:solidFill>
                <a:latin typeface="Arial"/>
              </a:rPr>
              <a:t>Python decides this when the function is compiled, before any line runs. This is the single most important and most confusing rule about scope.</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19 / 46</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Reading Works, Assigning Breaks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sp>
        <p:nvSpPr>
          <p:cNvPr id="4" name="TextBox 3"/>
          <p:cNvSpPr txBox="1"/>
          <p:nvPr/>
        </p:nvSpPr>
        <p:spPr>
          <a:xfrm>
            <a:off x="609904" y="1783080"/>
            <a:ext cx="10971885"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Reading the global: prints global</a:t>
            </a:r>
          </a:p>
        </p:txBody>
      </p:sp>
      <p:sp>
        <p:nvSpPr>
          <p:cNvPr id="5" name="Rounded Rectangle 4"/>
          <p:cNvSpPr/>
          <p:nvPr/>
        </p:nvSpPr>
        <p:spPr>
          <a:xfrm>
            <a:off x="609904" y="2057400"/>
            <a:ext cx="10971885" cy="1527048"/>
          </a:xfrm>
          <a:prstGeom prst="roundRect">
            <a:avLst>
              <a:gd name="adj" fmla="val 4790"/>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03704"/>
            <a:ext cx="10569549" cy="1234439"/>
          </a:xfrm>
          <a:prstGeom prst="rect">
            <a:avLst/>
          </a:prstGeom>
          <a:noFill/>
        </p:spPr>
        <p:txBody>
          <a:bodyPr wrap="square" lIns="0" tIns="0" rIns="0" bIns="0">
            <a:spAutoFit/>
          </a:bodyPr>
          <a:lstStyle/>
          <a:p>
            <a:pPr algn="l">
              <a:lnSpc>
                <a:spcPct val="100000"/>
              </a:lnSpc>
            </a:pPr>
            <a:r>
              <a:rPr sz="1350">
                <a:solidFill>
                  <a:srgbClr val="1A1A1A"/>
                </a:solidFill>
                <a:latin typeface="Courier New"/>
              </a:rPr>
              <a:t>x = "global"</a:t>
            </a:r>
          </a:p>
          <a:p>
            <a:pPr algn="l">
              <a:lnSpc>
                <a:spcPct val="100000"/>
              </a:lnSpc>
            </a:pPr>
            <a:r>
              <a:rPr sz="1350">
                <a:solidFill>
                  <a:srgbClr val="1A1A1A"/>
                </a:solidFill>
                <a:latin typeface="Courier New"/>
              </a:rPr>
              <a:t> </a:t>
            </a:r>
          </a:p>
          <a:p>
            <a:pPr algn="l">
              <a:lnSpc>
                <a:spcPct val="100000"/>
              </a:lnSpc>
            </a:pPr>
            <a:r>
              <a:rPr sz="1350">
                <a:solidFill>
                  <a:srgbClr val="1A1A1A"/>
                </a:solidFill>
                <a:latin typeface="Courier New"/>
              </a:rPr>
              <a:t>def f():</a:t>
            </a:r>
          </a:p>
          <a:p>
            <a:pPr algn="l">
              <a:lnSpc>
                <a:spcPct val="100000"/>
              </a:lnSpc>
            </a:pPr>
            <a:r>
              <a:rPr sz="1350">
                <a:solidFill>
                  <a:srgbClr val="1A1A1A"/>
                </a:solidFill>
                <a:latin typeface="Courier New"/>
              </a:rPr>
              <a:t>    print(x)        # works: reads the global</a:t>
            </a:r>
          </a:p>
          <a:p>
            <a:pPr algn="l">
              <a:lnSpc>
                <a:spcPct val="100000"/>
              </a:lnSpc>
            </a:pPr>
            <a:r>
              <a:rPr sz="1350">
                <a:solidFill>
                  <a:srgbClr val="1A1A1A"/>
                </a:solidFill>
                <a:latin typeface="Courier New"/>
              </a:rPr>
              <a:t> </a:t>
            </a:r>
          </a:p>
          <a:p>
            <a:pPr algn="l">
              <a:lnSpc>
                <a:spcPct val="100000"/>
              </a:lnSpc>
            </a:pPr>
            <a:r>
              <a:rPr sz="1350">
                <a:solidFill>
                  <a:srgbClr val="1A1A1A"/>
                </a:solidFill>
                <a:latin typeface="Courier New"/>
              </a:rPr>
              <a:t>f()</a:t>
            </a:r>
          </a:p>
        </p:txBody>
      </p:sp>
      <p:sp>
        <p:nvSpPr>
          <p:cNvPr id="7" name="TextBox 6"/>
          <p:cNvSpPr txBox="1"/>
          <p:nvPr/>
        </p:nvSpPr>
        <p:spPr>
          <a:xfrm>
            <a:off x="609904" y="3767328"/>
            <a:ext cx="10971885"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One assignment changes everything</a:t>
            </a:r>
          </a:p>
        </p:txBody>
      </p:sp>
      <p:sp>
        <p:nvSpPr>
          <p:cNvPr id="8" name="Rounded Rectangle 7"/>
          <p:cNvSpPr/>
          <p:nvPr/>
        </p:nvSpPr>
        <p:spPr>
          <a:xfrm>
            <a:off x="609904" y="4041648"/>
            <a:ext cx="10971885" cy="1732788"/>
          </a:xfrm>
          <a:prstGeom prst="roundRect">
            <a:avLst>
              <a:gd name="adj" fmla="val 4221"/>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1072" y="4187952"/>
            <a:ext cx="10569549" cy="1440180"/>
          </a:xfrm>
          <a:prstGeom prst="rect">
            <a:avLst/>
          </a:prstGeom>
          <a:noFill/>
        </p:spPr>
        <p:txBody>
          <a:bodyPr wrap="square" lIns="0" tIns="0" rIns="0" bIns="0">
            <a:spAutoFit/>
          </a:bodyPr>
          <a:lstStyle/>
          <a:p>
            <a:pPr algn="l">
              <a:lnSpc>
                <a:spcPct val="100000"/>
              </a:lnSpc>
            </a:pPr>
            <a:r>
              <a:rPr sz="1350">
                <a:solidFill>
                  <a:srgbClr val="1A1A1A"/>
                </a:solidFill>
                <a:latin typeface="Courier New"/>
              </a:rPr>
              <a:t>x = "global"</a:t>
            </a:r>
          </a:p>
          <a:p>
            <a:pPr algn="l">
              <a:lnSpc>
                <a:spcPct val="100000"/>
              </a:lnSpc>
            </a:pPr>
            <a:r>
              <a:rPr sz="1350">
                <a:solidFill>
                  <a:srgbClr val="1A1A1A"/>
                </a:solidFill>
                <a:latin typeface="Courier New"/>
              </a:rPr>
              <a:t> </a:t>
            </a:r>
          </a:p>
          <a:p>
            <a:pPr algn="l">
              <a:lnSpc>
                <a:spcPct val="100000"/>
              </a:lnSpc>
            </a:pPr>
            <a:r>
              <a:rPr sz="1350">
                <a:solidFill>
                  <a:srgbClr val="1A1A1A"/>
                </a:solidFill>
                <a:latin typeface="Courier New"/>
              </a:rPr>
              <a:t>def g():</a:t>
            </a:r>
          </a:p>
          <a:p>
            <a:pPr algn="l">
              <a:lnSpc>
                <a:spcPct val="100000"/>
              </a:lnSpc>
            </a:pPr>
            <a:r>
              <a:rPr sz="1350">
                <a:solidFill>
                  <a:srgbClr val="1A1A1A"/>
                </a:solidFill>
                <a:latin typeface="Courier New"/>
              </a:rPr>
              <a:t>    print(x)        # &lt;-- error</a:t>
            </a:r>
          </a:p>
          <a:p>
            <a:pPr algn="l">
              <a:lnSpc>
                <a:spcPct val="100000"/>
              </a:lnSpc>
            </a:pPr>
            <a:r>
              <a:rPr sz="1350">
                <a:solidFill>
                  <a:srgbClr val="1A1A1A"/>
                </a:solidFill>
                <a:latin typeface="Courier New"/>
              </a:rPr>
              <a:t>    x = "local"     # this assignment makes x local for the WHOLE function</a:t>
            </a:r>
          </a:p>
          <a:p>
            <a:pPr algn="l">
              <a:lnSpc>
                <a:spcPct val="100000"/>
              </a:lnSpc>
            </a:pPr>
            <a:r>
              <a:rPr sz="1350">
                <a:solidFill>
                  <a:srgbClr val="1A1A1A"/>
                </a:solidFill>
                <a:latin typeface="Courier New"/>
              </a:rPr>
              <a:t> </a:t>
            </a:r>
          </a:p>
          <a:p>
            <a:pPr algn="l">
              <a:lnSpc>
                <a:spcPct val="100000"/>
              </a:lnSpc>
            </a:pPr>
            <a:r>
              <a:rPr sz="1350">
                <a:solidFill>
                  <a:srgbClr val="1A1A1A"/>
                </a:solidFill>
                <a:latin typeface="Courier New"/>
              </a:rPr>
              <a:t>g()</a:t>
            </a:r>
          </a:p>
        </p:txBody>
      </p:sp>
      <p:sp>
        <p:nvSpPr>
          <p:cNvPr id="10" name="TextBox 9"/>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20 / 46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Why UnboundLocalError?</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sp>
        <p:nvSpPr>
          <p:cNvPr id="4" name="TextBox 3"/>
          <p:cNvSpPr txBox="1"/>
          <p:nvPr/>
        </p:nvSpPr>
        <p:spPr>
          <a:xfrm>
            <a:off x="609904" y="1783080"/>
            <a:ext cx="640080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The failing function</a:t>
            </a:r>
          </a:p>
        </p:txBody>
      </p:sp>
      <p:sp>
        <p:nvSpPr>
          <p:cNvPr id="5" name="Rounded Rectangle 4"/>
          <p:cNvSpPr/>
          <p:nvPr/>
        </p:nvSpPr>
        <p:spPr>
          <a:xfrm>
            <a:off x="609904" y="2057400"/>
            <a:ext cx="6400800" cy="1412748"/>
          </a:xfrm>
          <a:prstGeom prst="roundRect">
            <a:avLst>
              <a:gd name="adj" fmla="val 5177"/>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03704"/>
            <a:ext cx="5998464" cy="1120140"/>
          </a:xfrm>
          <a:prstGeom prst="rect">
            <a:avLst/>
          </a:prstGeom>
          <a:noFill/>
        </p:spPr>
        <p:txBody>
          <a:bodyPr wrap="square" lIns="0" tIns="0" rIns="0" bIns="0">
            <a:spAutoFit/>
          </a:bodyPr>
          <a:lstStyle/>
          <a:p>
            <a:pPr algn="l">
              <a:lnSpc>
                <a:spcPct val="100000"/>
              </a:lnSpc>
            </a:pPr>
            <a:r>
              <a:rPr sz="1050">
                <a:solidFill>
                  <a:srgbClr val="1A1A1A"/>
                </a:solidFill>
                <a:latin typeface="Courier New"/>
              </a:rPr>
              <a:t>x = "global"</a:t>
            </a:r>
          </a:p>
          <a:p>
            <a:pPr algn="l">
              <a:lnSpc>
                <a:spcPct val="100000"/>
              </a:lnSpc>
            </a:pPr>
            <a:r>
              <a:rPr sz="1050">
                <a:solidFill>
                  <a:srgbClr val="1A1A1A"/>
                </a:solidFill>
                <a:latin typeface="Courier New"/>
              </a:rPr>
              <a:t> </a:t>
            </a:r>
          </a:p>
          <a:p>
            <a:pPr algn="l">
              <a:lnSpc>
                <a:spcPct val="100000"/>
              </a:lnSpc>
            </a:pPr>
            <a:r>
              <a:rPr sz="1050">
                <a:solidFill>
                  <a:srgbClr val="1A1A1A"/>
                </a:solidFill>
                <a:latin typeface="Courier New"/>
              </a:rPr>
              <a:t>def g():</a:t>
            </a:r>
          </a:p>
          <a:p>
            <a:pPr algn="l">
              <a:lnSpc>
                <a:spcPct val="100000"/>
              </a:lnSpc>
            </a:pPr>
            <a:r>
              <a:rPr sz="1050">
                <a:solidFill>
                  <a:srgbClr val="1A1A1A"/>
                </a:solidFill>
                <a:latin typeface="Courier New"/>
              </a:rPr>
              <a:t>    print(x)        # &lt;-- error</a:t>
            </a:r>
          </a:p>
          <a:p>
            <a:pPr algn="l">
              <a:lnSpc>
                <a:spcPct val="100000"/>
              </a:lnSpc>
            </a:pPr>
            <a:r>
              <a:rPr sz="1050">
                <a:solidFill>
                  <a:srgbClr val="1A1A1A"/>
                </a:solidFill>
                <a:latin typeface="Courier New"/>
              </a:rPr>
              <a:t>    x = "local"     # this assignment makes x local for the WHOLE function</a:t>
            </a:r>
          </a:p>
          <a:p>
            <a:pPr algn="l">
              <a:lnSpc>
                <a:spcPct val="100000"/>
              </a:lnSpc>
            </a:pPr>
            <a:r>
              <a:rPr sz="1050">
                <a:solidFill>
                  <a:srgbClr val="1A1A1A"/>
                </a:solidFill>
                <a:latin typeface="Courier New"/>
              </a:rPr>
              <a:t> </a:t>
            </a:r>
          </a:p>
          <a:p>
            <a:pPr algn="l">
              <a:lnSpc>
                <a:spcPct val="100000"/>
              </a:lnSpc>
            </a:pPr>
            <a:r>
              <a:rPr sz="1050">
                <a:solidFill>
                  <a:srgbClr val="1A1A1A"/>
                </a:solidFill>
                <a:latin typeface="Courier New"/>
              </a:rPr>
              <a:t>g()</a:t>
            </a:r>
          </a:p>
        </p:txBody>
      </p:sp>
      <p:sp>
        <p:nvSpPr>
          <p:cNvPr id="7" name="TextBox 6"/>
          <p:cNvSpPr txBox="1"/>
          <p:nvPr/>
        </p:nvSpPr>
        <p:spPr>
          <a:xfrm>
            <a:off x="609904" y="3653028"/>
            <a:ext cx="640080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Output (Python 3.11 and newer)</a:t>
            </a:r>
          </a:p>
        </p:txBody>
      </p:sp>
      <p:sp>
        <p:nvSpPr>
          <p:cNvPr id="8" name="Rounded Rectangle 7"/>
          <p:cNvSpPr/>
          <p:nvPr/>
        </p:nvSpPr>
        <p:spPr>
          <a:xfrm>
            <a:off x="609904" y="3927348"/>
            <a:ext cx="6400800" cy="597408"/>
          </a:xfrm>
          <a:prstGeom prst="roundRect">
            <a:avLst>
              <a:gd name="adj" fmla="val 12244"/>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1072" y="4073652"/>
            <a:ext cx="5998464" cy="304800"/>
          </a:xfrm>
          <a:prstGeom prst="rect">
            <a:avLst/>
          </a:prstGeom>
          <a:noFill/>
        </p:spPr>
        <p:txBody>
          <a:bodyPr wrap="square" lIns="0" tIns="0" rIns="0" bIns="0">
            <a:spAutoFit/>
          </a:bodyPr>
          <a:lstStyle/>
          <a:p>
            <a:pPr algn="l">
              <a:lnSpc>
                <a:spcPct val="100000"/>
              </a:lnSpc>
            </a:pPr>
            <a:r>
              <a:rPr sz="1000">
                <a:solidFill>
                  <a:srgbClr val="1A1A1A"/>
                </a:solidFill>
                <a:latin typeface="Courier New"/>
              </a:rPr>
              <a:t>UnboundLocalError: cannot access local variable 'x' where it is not associated with a value</a:t>
            </a:r>
          </a:p>
        </p:txBody>
      </p:sp>
      <p:sp>
        <p:nvSpPr>
          <p:cNvPr id="10" name="TextBox 9"/>
          <p:cNvSpPr txBox="1"/>
          <p:nvPr/>
        </p:nvSpPr>
        <p:spPr>
          <a:xfrm>
            <a:off x="7376464" y="1783080"/>
            <a:ext cx="4205325" cy="4361688"/>
          </a:xfrm>
          <a:prstGeom prst="rect">
            <a:avLst/>
          </a:prstGeom>
          <a:noFill/>
        </p:spPr>
        <p:txBody>
          <a:bodyPr wrap="square" lIns="0" tIns="0" rIns="0" bIns="0">
            <a:spAutoFit/>
          </a:bodyPr>
          <a:lstStyle/>
          <a:p>
            <a:pPr marL="228600" indent="-228600" algn="l">
              <a:spcAft>
                <a:spcPts val="800"/>
              </a:spcAft>
              <a:buFont typeface="Arial"/>
              <a:buChar char="•"/>
            </a:pPr>
            <a:r>
              <a:rPr sz="1400" b="0" i="0">
                <a:solidFill>
                  <a:srgbClr val="330066"/>
                </a:solidFill>
                <a:latin typeface="Courier New"/>
              </a:rPr>
              <a:t>x = "local"</a:t>
            </a:r>
            <a:r>
              <a:rPr sz="1450" b="0" i="0">
                <a:solidFill>
                  <a:srgbClr val="1A1A1A"/>
                </a:solidFill>
                <a:latin typeface="Arial"/>
              </a:rPr>
              <a:t> exists in the body, so Python marks </a:t>
            </a:r>
            <a:r>
              <a:rPr sz="1400" b="0" i="0">
                <a:solidFill>
                  <a:srgbClr val="330066"/>
                </a:solidFill>
                <a:latin typeface="Courier New"/>
              </a:rPr>
              <a:t>x</a:t>
            </a:r>
            <a:r>
              <a:rPr sz="1450" b="0" i="0">
                <a:solidFill>
                  <a:srgbClr val="1A1A1A"/>
                </a:solidFill>
                <a:latin typeface="Arial"/>
              </a:rPr>
              <a:t> as local to </a:t>
            </a:r>
            <a:r>
              <a:rPr sz="1400" b="0" i="0">
                <a:solidFill>
                  <a:srgbClr val="330066"/>
                </a:solidFill>
                <a:latin typeface="Courier New"/>
              </a:rPr>
              <a:t>g</a:t>
            </a:r>
            <a:r>
              <a:rPr sz="1450" b="0" i="0">
                <a:solidFill>
                  <a:srgbClr val="1A1A1A"/>
                </a:solidFill>
                <a:latin typeface="Arial"/>
              </a:rPr>
              <a:t>.</a:t>
            </a:r>
          </a:p>
          <a:p>
            <a:pPr marL="228600" indent="-228600" algn="l">
              <a:spcAft>
                <a:spcPts val="800"/>
              </a:spcAft>
              <a:buFont typeface="Arial"/>
              <a:buChar char="•"/>
            </a:pPr>
            <a:r>
              <a:rPr sz="1400" b="0" i="0">
                <a:solidFill>
                  <a:srgbClr val="330066"/>
                </a:solidFill>
                <a:latin typeface="Courier New"/>
              </a:rPr>
              <a:t>print(x)</a:t>
            </a:r>
            <a:r>
              <a:rPr sz="1450" b="0" i="0">
                <a:solidFill>
                  <a:srgbClr val="1A1A1A"/>
                </a:solidFill>
                <a:latin typeface="Arial"/>
              </a:rPr>
              <a:t> looks for a local </a:t>
            </a:r>
            <a:r>
              <a:rPr sz="1400" b="0" i="0">
                <a:solidFill>
                  <a:srgbClr val="330066"/>
                </a:solidFill>
                <a:latin typeface="Courier New"/>
              </a:rPr>
              <a:t>x</a:t>
            </a:r>
            <a:r>
              <a:rPr sz="1450" b="0" i="0">
                <a:solidFill>
                  <a:srgbClr val="1A1A1A"/>
                </a:solidFill>
                <a:latin typeface="Arial"/>
              </a:rPr>
              <a:t>, finds no value yet, and raises </a:t>
            </a:r>
            <a:r>
              <a:rPr sz="1400" b="0" i="0">
                <a:solidFill>
                  <a:srgbClr val="330066"/>
                </a:solidFill>
                <a:latin typeface="Courier New"/>
              </a:rPr>
              <a:t>UnboundLocalError</a:t>
            </a:r>
            <a:r>
              <a:rPr sz="1450" b="0" i="0">
                <a:solidFill>
                  <a:srgbClr val="1A1A1A"/>
                </a:solidFill>
                <a:latin typeface="Arial"/>
              </a:rPr>
              <a:t>.</a:t>
            </a:r>
          </a:p>
          <a:p>
            <a:pPr marL="228600" indent="-228600" algn="l">
              <a:spcAft>
                <a:spcPts val="800"/>
              </a:spcAft>
              <a:buFont typeface="Arial"/>
              <a:buChar char="•"/>
            </a:pPr>
            <a:r>
              <a:rPr sz="1450" b="0" i="0">
                <a:solidFill>
                  <a:srgbClr val="1A1A1A"/>
                </a:solidFill>
                <a:latin typeface="Arial"/>
              </a:rPr>
              <a:t>It does not fall back to the global </a:t>
            </a:r>
            <a:r>
              <a:rPr sz="1400" b="0" i="0">
                <a:solidFill>
                  <a:srgbClr val="330066"/>
                </a:solidFill>
                <a:latin typeface="Courier New"/>
              </a:rPr>
              <a:t>x</a:t>
            </a:r>
            <a:r>
              <a:rPr sz="1450" b="0" i="0">
                <a:solidFill>
                  <a:srgbClr val="1A1A1A"/>
                </a:solidFill>
                <a:latin typeface="Arial"/>
              </a:rPr>
              <a:t>.</a:t>
            </a:r>
          </a:p>
          <a:p>
            <a:pPr marL="228600" indent="-228600" algn="l">
              <a:spcAft>
                <a:spcPts val="800"/>
              </a:spcAft>
              <a:buFont typeface="Arial"/>
              <a:buChar char="•"/>
            </a:pPr>
            <a:r>
              <a:rPr sz="1450" b="0" i="0">
                <a:solidFill>
                  <a:srgbClr val="1A1A1A"/>
                </a:solidFill>
                <a:latin typeface="Arial"/>
              </a:rPr>
              <a:t>Older Python reads </a:t>
            </a:r>
            <a:r>
              <a:rPr sz="1400" b="0" i="0">
                <a:solidFill>
                  <a:srgbClr val="330066"/>
                </a:solidFill>
                <a:latin typeface="Courier New"/>
              </a:rPr>
              <a:t>local variable 'x' referenced before assignment</a:t>
            </a:r>
            <a:r>
              <a:rPr sz="1450" b="0" i="0">
                <a:solidFill>
                  <a:srgbClr val="1A1A1A"/>
                </a:solidFill>
                <a:latin typeface="Arial"/>
              </a:rPr>
              <a:t>: the same error.</a:t>
            </a:r>
          </a:p>
        </p:txBody>
      </p:sp>
      <p:sp>
        <p:nvSpPr>
          <p:cNvPr id="11" name="TextBox 10"/>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21 / 46</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The Augmented Assignment Trap</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sp>
        <p:nvSpPr>
          <p:cNvPr id="4" name="TextBox 3"/>
          <p:cNvSpPr txBox="1"/>
          <p:nvPr/>
        </p:nvSpPr>
        <p:spPr>
          <a:xfrm>
            <a:off x="609904" y="1783080"/>
            <a:ext cx="694944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Same error with +=</a:t>
            </a:r>
          </a:p>
        </p:txBody>
      </p:sp>
      <p:sp>
        <p:nvSpPr>
          <p:cNvPr id="5" name="Rounded Rectangle 4"/>
          <p:cNvSpPr/>
          <p:nvPr/>
        </p:nvSpPr>
        <p:spPr>
          <a:xfrm>
            <a:off x="609904" y="2057400"/>
            <a:ext cx="6949440" cy="1359408"/>
          </a:xfrm>
          <a:prstGeom prst="roundRect">
            <a:avLst>
              <a:gd name="adj" fmla="val 5381"/>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03704"/>
            <a:ext cx="6547103" cy="1066800"/>
          </a:xfrm>
          <a:prstGeom prst="rect">
            <a:avLst/>
          </a:prstGeom>
          <a:noFill/>
        </p:spPr>
        <p:txBody>
          <a:bodyPr wrap="square" lIns="0" tIns="0" rIns="0" bIns="0">
            <a:spAutoFit/>
          </a:bodyPr>
          <a:lstStyle/>
          <a:p>
            <a:pPr algn="l">
              <a:lnSpc>
                <a:spcPct val="100000"/>
              </a:lnSpc>
            </a:pPr>
            <a:r>
              <a:rPr sz="1000">
                <a:solidFill>
                  <a:srgbClr val="1A1A1A"/>
                </a:solidFill>
                <a:latin typeface="Courier New"/>
              </a:rPr>
              <a:t>passed = 0</a:t>
            </a:r>
          </a:p>
          <a:p>
            <a:pPr algn="l">
              <a:lnSpc>
                <a:spcPct val="100000"/>
              </a:lnSpc>
            </a:pPr>
            <a:r>
              <a:rPr sz="1000">
                <a:solidFill>
                  <a:srgbClr val="1A1A1A"/>
                </a:solidFill>
                <a:latin typeface="Courier New"/>
              </a:rPr>
              <a:t> </a:t>
            </a:r>
          </a:p>
          <a:p>
            <a:pPr algn="l">
              <a:lnSpc>
                <a:spcPct val="100000"/>
              </a:lnSpc>
            </a:pPr>
            <a:r>
              <a:rPr sz="1000">
                <a:solidFill>
                  <a:srgbClr val="1A1A1A"/>
                </a:solidFill>
                <a:latin typeface="Courier New"/>
              </a:rPr>
              <a:t>def record_pass():</a:t>
            </a:r>
          </a:p>
          <a:p>
            <a:pPr algn="l">
              <a:lnSpc>
                <a:spcPct val="100000"/>
              </a:lnSpc>
            </a:pPr>
            <a:r>
              <a:rPr sz="1000">
                <a:solidFill>
                  <a:srgbClr val="1A1A1A"/>
                </a:solidFill>
                <a:latin typeface="Courier New"/>
              </a:rPr>
              <a:t>    passed += 1      # UnboundLocalError: this is passed = passed + 1, and 'passed' is local</a:t>
            </a:r>
          </a:p>
          <a:p>
            <a:pPr algn="l">
              <a:lnSpc>
                <a:spcPct val="100000"/>
              </a:lnSpc>
            </a:pPr>
            <a:r>
              <a:rPr sz="1000">
                <a:solidFill>
                  <a:srgbClr val="1A1A1A"/>
                </a:solidFill>
                <a:latin typeface="Courier New"/>
              </a:rPr>
              <a:t> </a:t>
            </a:r>
          </a:p>
          <a:p>
            <a:pPr algn="l">
              <a:lnSpc>
                <a:spcPct val="100000"/>
              </a:lnSpc>
            </a:pPr>
            <a:r>
              <a:rPr sz="1000">
                <a:solidFill>
                  <a:srgbClr val="1A1A1A"/>
                </a:solidFill>
                <a:latin typeface="Courier New"/>
              </a:rPr>
              <a:t>record_pass()</a:t>
            </a:r>
          </a:p>
        </p:txBody>
      </p:sp>
      <p:sp>
        <p:nvSpPr>
          <p:cNvPr id="7" name="TextBox 6"/>
          <p:cNvSpPr txBox="1"/>
          <p:nvPr/>
        </p:nvSpPr>
        <p:spPr>
          <a:xfrm>
            <a:off x="7925104" y="1783080"/>
            <a:ext cx="3656685" cy="4361688"/>
          </a:xfrm>
          <a:prstGeom prst="rect">
            <a:avLst/>
          </a:prstGeom>
          <a:noFill/>
        </p:spPr>
        <p:txBody>
          <a:bodyPr wrap="square" lIns="0" tIns="0" rIns="0" bIns="0">
            <a:spAutoFit/>
          </a:bodyPr>
          <a:lstStyle/>
          <a:p>
            <a:pPr marL="228600" indent="-228600" algn="l">
              <a:spcAft>
                <a:spcPts val="800"/>
              </a:spcAft>
              <a:buFont typeface="Arial"/>
              <a:buChar char="•"/>
            </a:pPr>
            <a:r>
              <a:rPr sz="1350" b="0" i="0">
                <a:solidFill>
                  <a:srgbClr val="330066"/>
                </a:solidFill>
                <a:latin typeface="Courier New"/>
              </a:rPr>
              <a:t>passed += 1</a:t>
            </a:r>
            <a:r>
              <a:rPr sz="1400" b="0" i="0">
                <a:solidFill>
                  <a:srgbClr val="1A1A1A"/>
                </a:solidFill>
                <a:latin typeface="Arial"/>
              </a:rPr>
              <a:t> means "read </a:t>
            </a:r>
            <a:r>
              <a:rPr sz="1350" b="0" i="0">
                <a:solidFill>
                  <a:srgbClr val="330066"/>
                </a:solidFill>
                <a:latin typeface="Courier New"/>
              </a:rPr>
              <a:t>passed</a:t>
            </a:r>
            <a:r>
              <a:rPr sz="1400" b="0" i="0">
                <a:solidFill>
                  <a:srgbClr val="1A1A1A"/>
                </a:solidFill>
                <a:latin typeface="Arial"/>
              </a:rPr>
              <a:t>, add one, assign to </a:t>
            </a:r>
            <a:r>
              <a:rPr sz="1350" b="0" i="0">
                <a:solidFill>
                  <a:srgbClr val="330066"/>
                </a:solidFill>
                <a:latin typeface="Courier New"/>
              </a:rPr>
              <a:t>passed</a:t>
            </a:r>
            <a:r>
              <a:rPr sz="1400" b="0" i="0">
                <a:solidFill>
                  <a:srgbClr val="1A1A1A"/>
                </a:solidFill>
                <a:latin typeface="Arial"/>
              </a:rPr>
              <a:t>".</a:t>
            </a:r>
          </a:p>
          <a:p>
            <a:pPr marL="228600" indent="-228600" algn="l">
              <a:spcAft>
                <a:spcPts val="800"/>
              </a:spcAft>
              <a:buFont typeface="Arial"/>
              <a:buChar char="•"/>
            </a:pPr>
            <a:r>
              <a:rPr sz="1400" b="0" i="0">
                <a:solidFill>
                  <a:srgbClr val="1A1A1A"/>
                </a:solidFill>
                <a:latin typeface="Arial"/>
              </a:rPr>
              <a:t>The assignment makes it local, but the read happens before any local value exists.</a:t>
            </a:r>
          </a:p>
          <a:p>
            <a:pPr marL="228600" indent="-228600" algn="l">
              <a:spcAft>
                <a:spcPts val="800"/>
              </a:spcAft>
              <a:buFont typeface="Arial"/>
              <a:buChar char="•"/>
            </a:pPr>
            <a:r>
              <a:rPr sz="1400" b="0" i="0">
                <a:solidFill>
                  <a:srgbClr val="1A1A1A"/>
                </a:solidFill>
                <a:latin typeface="Arial"/>
              </a:rPr>
              <a:t>Fix 1 (preferred): return the new value and let the caller store it.</a:t>
            </a:r>
          </a:p>
          <a:p>
            <a:pPr marL="228600" indent="-228600" algn="l">
              <a:spcAft>
                <a:spcPts val="800"/>
              </a:spcAft>
              <a:buFont typeface="Arial"/>
              <a:buChar char="•"/>
            </a:pPr>
            <a:r>
              <a:rPr sz="1400" b="0" i="0">
                <a:solidFill>
                  <a:srgbClr val="1A1A1A"/>
                </a:solidFill>
                <a:latin typeface="Arial"/>
              </a:rPr>
              <a:t>Fix 2: declare </a:t>
            </a:r>
            <a:r>
              <a:rPr sz="1350" b="0" i="0">
                <a:solidFill>
                  <a:srgbClr val="330066"/>
                </a:solidFill>
                <a:latin typeface="Courier New"/>
              </a:rPr>
              <a:t>global passed</a:t>
            </a:r>
            <a:r>
              <a:rPr sz="1400" b="0" i="0">
                <a:solidFill>
                  <a:srgbClr val="1A1A1A"/>
                </a:solidFill>
                <a:latin typeface="Arial"/>
              </a:rPr>
              <a:t> inside the function.</a:t>
            </a:r>
          </a:p>
        </p:txBody>
      </p:sp>
      <p:sp>
        <p:nvSpPr>
          <p:cNvPr id="8" name="TextBox 7"/>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22 / 46</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The global Keyword</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sp>
        <p:nvSpPr>
          <p:cNvPr id="4" name="TextBox 3"/>
          <p:cNvSpPr txBox="1"/>
          <p:nvPr/>
        </p:nvSpPr>
        <p:spPr>
          <a:xfrm>
            <a:off x="609904" y="1783080"/>
            <a:ext cx="566928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global rebinds the module-level name</a:t>
            </a:r>
          </a:p>
        </p:txBody>
      </p:sp>
      <p:sp>
        <p:nvSpPr>
          <p:cNvPr id="5" name="Rounded Rectangle 4"/>
          <p:cNvSpPr/>
          <p:nvPr/>
        </p:nvSpPr>
        <p:spPr>
          <a:xfrm>
            <a:off x="609904" y="2057400"/>
            <a:ext cx="5669280" cy="2273807"/>
          </a:xfrm>
          <a:prstGeom prst="roundRect">
            <a:avLst>
              <a:gd name="adj" fmla="val 3217"/>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03704"/>
            <a:ext cx="5266944" cy="1981199"/>
          </a:xfrm>
          <a:prstGeom prst="rect">
            <a:avLst/>
          </a:prstGeom>
          <a:noFill/>
        </p:spPr>
        <p:txBody>
          <a:bodyPr wrap="square" lIns="0" tIns="0" rIns="0" bIns="0">
            <a:spAutoFit/>
          </a:bodyPr>
          <a:lstStyle/>
          <a:p>
            <a:pPr algn="l">
              <a:lnSpc>
                <a:spcPct val="100000"/>
              </a:lnSpc>
            </a:pPr>
            <a:r>
              <a:rPr sz="1300">
                <a:solidFill>
                  <a:srgbClr val="1A1A1A"/>
                </a:solidFill>
                <a:latin typeface="Courier New"/>
              </a:rPr>
              <a:t>tests_run = 0</a:t>
            </a:r>
          </a:p>
          <a:p>
            <a:pPr algn="l">
              <a:lnSpc>
                <a:spcPct val="100000"/>
              </a:lnSpc>
            </a:pPr>
            <a:r>
              <a:rPr sz="1300">
                <a:solidFill>
                  <a:srgbClr val="1A1A1A"/>
                </a:solidFill>
                <a:latin typeface="Courier New"/>
              </a:rPr>
              <a:t> </a:t>
            </a:r>
          </a:p>
          <a:p>
            <a:pPr algn="l">
              <a:lnSpc>
                <a:spcPct val="100000"/>
              </a:lnSpc>
            </a:pPr>
            <a:r>
              <a:rPr sz="1300">
                <a:solidFill>
                  <a:srgbClr val="1A1A1A"/>
                </a:solidFill>
                <a:latin typeface="Courier New"/>
              </a:rPr>
              <a:t>def run_test(name):</a:t>
            </a:r>
          </a:p>
          <a:p>
            <a:pPr algn="l">
              <a:lnSpc>
                <a:spcPct val="100000"/>
              </a:lnSpc>
            </a:pPr>
            <a:r>
              <a:rPr sz="1300">
                <a:solidFill>
                  <a:srgbClr val="1A1A1A"/>
                </a:solidFill>
                <a:latin typeface="Courier New"/>
              </a:rPr>
              <a:t>    global tests_run</a:t>
            </a:r>
          </a:p>
          <a:p>
            <a:pPr algn="l">
              <a:lnSpc>
                <a:spcPct val="100000"/>
              </a:lnSpc>
            </a:pPr>
            <a:r>
              <a:rPr sz="1300">
                <a:solidFill>
                  <a:srgbClr val="1A1A1A"/>
                </a:solidFill>
                <a:latin typeface="Courier New"/>
              </a:rPr>
              <a:t>    tests_run += 1</a:t>
            </a:r>
          </a:p>
          <a:p>
            <a:pPr algn="l">
              <a:lnSpc>
                <a:spcPct val="100000"/>
              </a:lnSpc>
            </a:pPr>
            <a:r>
              <a:rPr sz="1300">
                <a:solidFill>
                  <a:srgbClr val="1A1A1A"/>
                </a:solidFill>
                <a:latin typeface="Courier New"/>
              </a:rPr>
              <a:t>    print(f"Running {name} (test #{tests_run})")</a:t>
            </a:r>
          </a:p>
          <a:p>
            <a:pPr algn="l">
              <a:lnSpc>
                <a:spcPct val="100000"/>
              </a:lnSpc>
            </a:pPr>
            <a:r>
              <a:rPr sz="1300">
                <a:solidFill>
                  <a:srgbClr val="1A1A1A"/>
                </a:solidFill>
                <a:latin typeface="Courier New"/>
              </a:rPr>
              <a:t> </a:t>
            </a:r>
          </a:p>
          <a:p>
            <a:pPr algn="l">
              <a:lnSpc>
                <a:spcPct val="100000"/>
              </a:lnSpc>
            </a:pPr>
            <a:r>
              <a:rPr sz="1300">
                <a:solidFill>
                  <a:srgbClr val="1A1A1A"/>
                </a:solidFill>
                <a:latin typeface="Courier New"/>
              </a:rPr>
              <a:t>run_test("login")</a:t>
            </a:r>
          </a:p>
          <a:p>
            <a:pPr algn="l">
              <a:lnSpc>
                <a:spcPct val="100000"/>
              </a:lnSpc>
            </a:pPr>
            <a:r>
              <a:rPr sz="1300">
                <a:solidFill>
                  <a:srgbClr val="1A1A1A"/>
                </a:solidFill>
                <a:latin typeface="Courier New"/>
              </a:rPr>
              <a:t>run_test("logout")</a:t>
            </a:r>
          </a:p>
          <a:p>
            <a:pPr algn="l">
              <a:lnSpc>
                <a:spcPct val="100000"/>
              </a:lnSpc>
            </a:pPr>
            <a:r>
              <a:rPr sz="1300">
                <a:solidFill>
                  <a:srgbClr val="1A1A1A"/>
                </a:solidFill>
                <a:latin typeface="Courier New"/>
              </a:rPr>
              <a:t>print("Total:", tests_run)</a:t>
            </a:r>
          </a:p>
        </p:txBody>
      </p:sp>
      <p:sp>
        <p:nvSpPr>
          <p:cNvPr id="7" name="TextBox 6"/>
          <p:cNvSpPr txBox="1"/>
          <p:nvPr/>
        </p:nvSpPr>
        <p:spPr>
          <a:xfrm>
            <a:off x="609904" y="4514088"/>
            <a:ext cx="566928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Output</a:t>
            </a:r>
          </a:p>
        </p:txBody>
      </p:sp>
      <p:sp>
        <p:nvSpPr>
          <p:cNvPr id="8" name="Rounded Rectangle 7"/>
          <p:cNvSpPr/>
          <p:nvPr/>
        </p:nvSpPr>
        <p:spPr>
          <a:xfrm>
            <a:off x="609904" y="4788408"/>
            <a:ext cx="5669280" cy="886968"/>
          </a:xfrm>
          <a:prstGeom prst="roundRect">
            <a:avLst>
              <a:gd name="adj" fmla="val 8247"/>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1072" y="4934712"/>
            <a:ext cx="5266944" cy="594359"/>
          </a:xfrm>
          <a:prstGeom prst="rect">
            <a:avLst/>
          </a:prstGeom>
          <a:noFill/>
        </p:spPr>
        <p:txBody>
          <a:bodyPr wrap="square" lIns="0" tIns="0" rIns="0" bIns="0">
            <a:spAutoFit/>
          </a:bodyPr>
          <a:lstStyle/>
          <a:p>
            <a:pPr algn="l">
              <a:lnSpc>
                <a:spcPct val="100000"/>
              </a:lnSpc>
            </a:pPr>
            <a:r>
              <a:rPr sz="1300">
                <a:solidFill>
                  <a:srgbClr val="1A1A1A"/>
                </a:solidFill>
                <a:latin typeface="Courier New"/>
              </a:rPr>
              <a:t>Running login (test #1)</a:t>
            </a:r>
          </a:p>
          <a:p>
            <a:pPr algn="l">
              <a:lnSpc>
                <a:spcPct val="100000"/>
              </a:lnSpc>
            </a:pPr>
            <a:r>
              <a:rPr sz="1300">
                <a:solidFill>
                  <a:srgbClr val="1A1A1A"/>
                </a:solidFill>
                <a:latin typeface="Courier New"/>
              </a:rPr>
              <a:t>Running logout (test #2)</a:t>
            </a:r>
          </a:p>
          <a:p>
            <a:pPr algn="l">
              <a:lnSpc>
                <a:spcPct val="100000"/>
              </a:lnSpc>
            </a:pPr>
            <a:r>
              <a:rPr sz="1300">
                <a:solidFill>
                  <a:srgbClr val="1A1A1A"/>
                </a:solidFill>
                <a:latin typeface="Courier New"/>
              </a:rPr>
              <a:t>Total: 2</a:t>
            </a:r>
          </a:p>
        </p:txBody>
      </p:sp>
      <p:sp>
        <p:nvSpPr>
          <p:cNvPr id="10" name="TextBox 9"/>
          <p:cNvSpPr txBox="1"/>
          <p:nvPr/>
        </p:nvSpPr>
        <p:spPr>
          <a:xfrm>
            <a:off x="6644944" y="1783080"/>
            <a:ext cx="4936845" cy="4361688"/>
          </a:xfrm>
          <a:prstGeom prst="rect">
            <a:avLst/>
          </a:prstGeom>
          <a:noFill/>
        </p:spPr>
        <p:txBody>
          <a:bodyPr wrap="square" lIns="0" tIns="0" rIns="0" bIns="0">
            <a:spAutoFit/>
          </a:bodyPr>
          <a:lstStyle/>
          <a:p>
            <a:pPr marL="228600" indent="-228600" algn="l">
              <a:spcAft>
                <a:spcPts val="800"/>
              </a:spcAft>
              <a:buFont typeface="Arial"/>
              <a:buChar char="•"/>
            </a:pPr>
            <a:r>
              <a:rPr sz="1400" b="0" i="0">
                <a:solidFill>
                  <a:srgbClr val="330066"/>
                </a:solidFill>
                <a:latin typeface="Courier New"/>
              </a:rPr>
              <a:t>global name</a:t>
            </a:r>
            <a:r>
              <a:rPr sz="1450" b="0" i="0">
                <a:solidFill>
                  <a:srgbClr val="1A1A1A"/>
                </a:solidFill>
                <a:latin typeface="Arial"/>
              </a:rPr>
              <a:t>: in this function, </a:t>
            </a:r>
            <a:r>
              <a:rPr sz="1400" b="0" i="0">
                <a:solidFill>
                  <a:srgbClr val="330066"/>
                </a:solidFill>
                <a:latin typeface="Courier New"/>
              </a:rPr>
              <a:t>name</a:t>
            </a:r>
            <a:r>
              <a:rPr sz="1450" b="0" i="0">
                <a:solidFill>
                  <a:srgbClr val="1A1A1A"/>
                </a:solidFill>
                <a:latin typeface="Arial"/>
              </a:rPr>
              <a:t> refers to the module-level variable; assignments change that one.</a:t>
            </a:r>
          </a:p>
          <a:p>
            <a:pPr marL="228600" indent="-228600" algn="l">
              <a:spcAft>
                <a:spcPts val="800"/>
              </a:spcAft>
              <a:buFont typeface="Arial"/>
              <a:buChar char="•"/>
            </a:pPr>
            <a:r>
              <a:rPr sz="1450" b="0" i="0">
                <a:solidFill>
                  <a:srgbClr val="1A1A1A"/>
                </a:solidFill>
                <a:latin typeface="Arial"/>
              </a:rPr>
              <a:t>It has to appear before the name is used in the function.</a:t>
            </a:r>
          </a:p>
          <a:p>
            <a:pPr marL="228600" indent="-228600" algn="l">
              <a:spcAft>
                <a:spcPts val="800"/>
              </a:spcAft>
              <a:buFont typeface="Arial"/>
              <a:buChar char="•"/>
            </a:pPr>
            <a:r>
              <a:rPr sz="1450" b="0" i="0">
                <a:solidFill>
                  <a:srgbClr val="1A1A1A"/>
                </a:solidFill>
                <a:latin typeface="Arial"/>
              </a:rPr>
              <a:t>Without it, </a:t>
            </a:r>
            <a:r>
              <a:rPr sz="1400" b="0" i="0">
                <a:solidFill>
                  <a:srgbClr val="330066"/>
                </a:solidFill>
                <a:latin typeface="Courier New"/>
              </a:rPr>
              <a:t>tests_run += 1</a:t>
            </a:r>
            <a:r>
              <a:rPr sz="1450" b="0" i="0">
                <a:solidFill>
                  <a:srgbClr val="1A1A1A"/>
                </a:solidFill>
                <a:latin typeface="Arial"/>
              </a:rPr>
              <a:t> raises </a:t>
            </a:r>
            <a:r>
              <a:rPr sz="1400" b="0" i="0">
                <a:solidFill>
                  <a:srgbClr val="330066"/>
                </a:solidFill>
                <a:latin typeface="Courier New"/>
              </a:rPr>
              <a:t>UnboundLocalError</a:t>
            </a:r>
            <a:r>
              <a:rPr sz="1450" b="0" i="0">
                <a:solidFill>
                  <a:srgbClr val="1A1A1A"/>
                </a:solidFill>
                <a:latin typeface="Arial"/>
              </a:rPr>
              <a:t>.</a:t>
            </a:r>
          </a:p>
        </p:txBody>
      </p:sp>
      <p:sp>
        <p:nvSpPr>
          <p:cNvPr id="11" name="TextBox 10"/>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23 / 46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When to Use global: Rarely</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sp>
        <p:nvSpPr>
          <p:cNvPr id="4" name="Rounded Rectangle 3"/>
          <p:cNvSpPr/>
          <p:nvPr/>
        </p:nvSpPr>
        <p:spPr>
          <a:xfrm>
            <a:off x="609904" y="1783080"/>
            <a:ext cx="3474415" cy="4361688"/>
          </a:xfrm>
          <a:prstGeom prst="roundRect">
            <a:avLst>
              <a:gd name="adj" fmla="val 2368"/>
            </a:avLst>
          </a:prstGeom>
          <a:solidFill>
            <a:srgbClr val="EDE6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38504" y="1965960"/>
            <a:ext cx="3017215" cy="3995927"/>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Hidden coupling</a:t>
            </a:r>
          </a:p>
          <a:p>
            <a:pPr algn="l">
              <a:lnSpc>
                <a:spcPct val="110000"/>
              </a:lnSpc>
              <a:spcAft>
                <a:spcPts val="600"/>
              </a:spcAft>
            </a:pPr>
            <a:r>
              <a:rPr sz="1400" b="0" i="0">
                <a:solidFill>
                  <a:srgbClr val="1A1A1A"/>
                </a:solidFill>
                <a:latin typeface="Arial"/>
              </a:rPr>
              <a:t>A function's behaviour depends on something not in its parameter list.</a:t>
            </a:r>
          </a:p>
        </p:txBody>
      </p:sp>
      <p:sp>
        <p:nvSpPr>
          <p:cNvPr id="6" name="Rounded Rectangle 5"/>
          <p:cNvSpPr/>
          <p:nvPr/>
        </p:nvSpPr>
        <p:spPr>
          <a:xfrm>
            <a:off x="4358640" y="1783080"/>
            <a:ext cx="3474415" cy="4361688"/>
          </a:xfrm>
          <a:prstGeom prst="roundRect">
            <a:avLst>
              <a:gd name="adj" fmla="val 2368"/>
            </a:avLst>
          </a:prstGeom>
          <a:solidFill>
            <a:srgbClr val="E9F1F1"/>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87240" y="1965960"/>
            <a:ext cx="3017215" cy="3995927"/>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Hard to test</a:t>
            </a:r>
          </a:p>
          <a:p>
            <a:pPr algn="l">
              <a:lnSpc>
                <a:spcPct val="110000"/>
              </a:lnSpc>
              <a:spcAft>
                <a:spcPts val="600"/>
              </a:spcAft>
            </a:pPr>
            <a:r>
              <a:rPr sz="1400" b="0" i="0">
                <a:solidFill>
                  <a:srgbClr val="1A1A1A"/>
                </a:solidFill>
                <a:latin typeface="Arial"/>
              </a:rPr>
              <a:t>One test changes the variable and the next sees the changed value. A flaky test factory.</a:t>
            </a:r>
          </a:p>
        </p:txBody>
      </p:sp>
      <p:sp>
        <p:nvSpPr>
          <p:cNvPr id="8" name="Rounded Rectangle 7"/>
          <p:cNvSpPr/>
          <p:nvPr/>
        </p:nvSpPr>
        <p:spPr>
          <a:xfrm>
            <a:off x="8107375" y="1783080"/>
            <a:ext cx="3474415" cy="4361688"/>
          </a:xfrm>
          <a:prstGeom prst="roundRect">
            <a:avLst>
              <a:gd name="adj" fmla="val 2368"/>
            </a:avLst>
          </a:prstGeom>
          <a:solidFill>
            <a:srgbClr val="EDE6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335975" y="1965960"/>
            <a:ext cx="3017215" cy="3995927"/>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Hard to debug</a:t>
            </a:r>
          </a:p>
          <a:p>
            <a:pPr algn="l">
              <a:lnSpc>
                <a:spcPct val="110000"/>
              </a:lnSpc>
              <a:spcAft>
                <a:spcPts val="600"/>
              </a:spcAft>
            </a:pPr>
            <a:r>
              <a:rPr sz="1400" b="0" i="0">
                <a:solidFill>
                  <a:srgbClr val="1A1A1A"/>
                </a:solidFill>
                <a:latin typeface="Arial"/>
              </a:rPr>
              <a:t>Any function in the file might have changed it.</a:t>
            </a:r>
          </a:p>
        </p:txBody>
      </p:sp>
      <p:sp>
        <p:nvSpPr>
          <p:cNvPr id="10" name="TextBox 9"/>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24 / 46</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Alternatives to global</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sp>
        <p:nvSpPr>
          <p:cNvPr id="4" name="Rounded Rectangle 3"/>
          <p:cNvSpPr/>
          <p:nvPr/>
        </p:nvSpPr>
        <p:spPr>
          <a:xfrm>
            <a:off x="609904" y="1783080"/>
            <a:ext cx="10971885" cy="1188720"/>
          </a:xfrm>
          <a:prstGeom prst="roundRect">
            <a:avLst>
              <a:gd name="adj" fmla="val 6923"/>
            </a:avLst>
          </a:prstGeom>
          <a:solidFill>
            <a:srgbClr val="F5F5C2"/>
          </a:solidFill>
          <a:ln w="12700">
            <a:solidFill>
              <a:srgbClr val="F5F5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38504" y="1920240"/>
            <a:ext cx="10514685" cy="914400"/>
          </a:xfrm>
          <a:prstGeom prst="rect">
            <a:avLst/>
          </a:prstGeom>
          <a:noFill/>
        </p:spPr>
        <p:txBody>
          <a:bodyPr wrap="square" lIns="0" tIns="0" rIns="0" bIns="0" anchor="t">
            <a:spAutoFit/>
          </a:bodyPr>
          <a:lstStyle/>
          <a:p>
            <a:pPr algn="l">
              <a:lnSpc>
                <a:spcPct val="110000"/>
              </a:lnSpc>
              <a:spcAft>
                <a:spcPts val="300"/>
              </a:spcAft>
            </a:pPr>
            <a:r>
              <a:rPr sz="1100" b="1" i="0">
                <a:solidFill>
                  <a:srgbClr val="5C8A8A"/>
                </a:solidFill>
                <a:latin typeface="Arial"/>
              </a:rPr>
              <a:t>BETTER ALTERNATIVES</a:t>
            </a:r>
          </a:p>
          <a:p>
            <a:pPr algn="l">
              <a:lnSpc>
                <a:spcPct val="110000"/>
              </a:lnSpc>
              <a:spcAft>
                <a:spcPts val="600"/>
              </a:spcAft>
            </a:pPr>
            <a:r>
              <a:rPr sz="1400" b="0" i="0">
                <a:solidFill>
                  <a:srgbClr val="1A1A1A"/>
                </a:solidFill>
                <a:latin typeface="Arial"/>
              </a:rPr>
              <a:t>Pass values as parameters, return results, keep state in an object (a class instance), or use a closure. A module-level constant that is never reassigned is perfectly fine.</a:t>
            </a:r>
          </a:p>
        </p:txBody>
      </p:sp>
      <p:sp>
        <p:nvSpPr>
          <p:cNvPr id="6" name="TextBox 5"/>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25 / 46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Mutating Is Not Rebinding</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sp>
        <p:nvSpPr>
          <p:cNvPr id="4" name="TextBox 3"/>
          <p:cNvSpPr txBox="1"/>
          <p:nvPr/>
        </p:nvSpPr>
        <p:spPr>
          <a:xfrm>
            <a:off x="609904" y="1783080"/>
            <a:ext cx="640080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No global needed</a:t>
            </a:r>
          </a:p>
        </p:txBody>
      </p:sp>
      <p:sp>
        <p:nvSpPr>
          <p:cNvPr id="5" name="Rounded Rectangle 4"/>
          <p:cNvSpPr/>
          <p:nvPr/>
        </p:nvSpPr>
        <p:spPr>
          <a:xfrm>
            <a:off x="609904" y="2057400"/>
            <a:ext cx="6400800" cy="1359408"/>
          </a:xfrm>
          <a:prstGeom prst="roundRect">
            <a:avLst>
              <a:gd name="adj" fmla="val 5381"/>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03704"/>
            <a:ext cx="5998464" cy="1066800"/>
          </a:xfrm>
          <a:prstGeom prst="rect">
            <a:avLst/>
          </a:prstGeom>
          <a:noFill/>
        </p:spPr>
        <p:txBody>
          <a:bodyPr wrap="square" lIns="0" tIns="0" rIns="0" bIns="0">
            <a:spAutoFit/>
          </a:bodyPr>
          <a:lstStyle/>
          <a:p>
            <a:pPr algn="l">
              <a:lnSpc>
                <a:spcPct val="100000"/>
              </a:lnSpc>
            </a:pPr>
            <a:r>
              <a:rPr sz="1000">
                <a:solidFill>
                  <a:srgbClr val="1A1A1A"/>
                </a:solidFill>
                <a:latin typeface="Courier New"/>
              </a:rPr>
              <a:t>results = []</a:t>
            </a:r>
          </a:p>
          <a:p>
            <a:pPr algn="l">
              <a:lnSpc>
                <a:spcPct val="100000"/>
              </a:lnSpc>
            </a:pPr>
            <a:r>
              <a:rPr sz="1000">
                <a:solidFill>
                  <a:srgbClr val="1A1A1A"/>
                </a:solidFill>
                <a:latin typeface="Courier New"/>
              </a:rPr>
              <a:t> </a:t>
            </a:r>
          </a:p>
          <a:p>
            <a:pPr algn="l">
              <a:lnSpc>
                <a:spcPct val="100000"/>
              </a:lnSpc>
            </a:pPr>
            <a:r>
              <a:rPr sz="1000">
                <a:solidFill>
                  <a:srgbClr val="1A1A1A"/>
                </a:solidFill>
                <a:latin typeface="Courier New"/>
              </a:rPr>
              <a:t>def add_result(r):</a:t>
            </a:r>
          </a:p>
          <a:p>
            <a:pPr algn="l">
              <a:lnSpc>
                <a:spcPct val="100000"/>
              </a:lnSpc>
            </a:pPr>
            <a:r>
              <a:rPr sz="1000">
                <a:solidFill>
                  <a:srgbClr val="1A1A1A"/>
                </a:solidFill>
                <a:latin typeface="Courier New"/>
              </a:rPr>
              <a:t>    results.append(r)        # no 'global' needed: we mutate, we do not rebind</a:t>
            </a:r>
          </a:p>
          <a:p>
            <a:pPr algn="l">
              <a:lnSpc>
                <a:spcPct val="100000"/>
              </a:lnSpc>
            </a:pPr>
            <a:r>
              <a:rPr sz="1000">
                <a:solidFill>
                  <a:srgbClr val="1A1A1A"/>
                </a:solidFill>
                <a:latin typeface="Courier New"/>
              </a:rPr>
              <a:t> </a:t>
            </a:r>
          </a:p>
          <a:p>
            <a:pPr algn="l">
              <a:lnSpc>
                <a:spcPct val="100000"/>
              </a:lnSpc>
            </a:pPr>
            <a:r>
              <a:rPr sz="1000">
                <a:solidFill>
                  <a:srgbClr val="1A1A1A"/>
                </a:solidFill>
                <a:latin typeface="Courier New"/>
              </a:rPr>
              <a:t>add_result("pass")</a:t>
            </a:r>
          </a:p>
          <a:p>
            <a:pPr algn="l">
              <a:lnSpc>
                <a:spcPct val="100000"/>
              </a:lnSpc>
            </a:pPr>
            <a:r>
              <a:rPr sz="1000">
                <a:solidFill>
                  <a:srgbClr val="1A1A1A"/>
                </a:solidFill>
                <a:latin typeface="Courier New"/>
              </a:rPr>
              <a:t>print(results)               # ['pass']</a:t>
            </a:r>
          </a:p>
        </p:txBody>
      </p:sp>
      <p:sp>
        <p:nvSpPr>
          <p:cNvPr id="7" name="TextBox 6"/>
          <p:cNvSpPr txBox="1"/>
          <p:nvPr/>
        </p:nvSpPr>
        <p:spPr>
          <a:xfrm>
            <a:off x="7376464" y="1783080"/>
            <a:ext cx="4205325" cy="4361688"/>
          </a:xfrm>
          <a:prstGeom prst="rect">
            <a:avLst/>
          </a:prstGeom>
          <a:noFill/>
        </p:spPr>
        <p:txBody>
          <a:bodyPr wrap="square" lIns="0" tIns="0" rIns="0" bIns="0">
            <a:spAutoFit/>
          </a:bodyPr>
          <a:lstStyle/>
          <a:p>
            <a:pPr marL="228600" indent="-228600" algn="l">
              <a:spcAft>
                <a:spcPts val="800"/>
              </a:spcAft>
              <a:buFont typeface="Arial"/>
              <a:buChar char="•"/>
            </a:pPr>
            <a:r>
              <a:rPr sz="1400" b="0" i="0">
                <a:solidFill>
                  <a:srgbClr val="330066"/>
                </a:solidFill>
                <a:latin typeface="Courier New"/>
              </a:rPr>
              <a:t>results.append(...)</a:t>
            </a:r>
            <a:r>
              <a:rPr sz="1450" b="0" i="0">
                <a:solidFill>
                  <a:srgbClr val="1A1A1A"/>
                </a:solidFill>
                <a:latin typeface="Arial"/>
              </a:rPr>
              <a:t> changes the object the name points to; it does not assign to the name.</a:t>
            </a:r>
          </a:p>
          <a:p>
            <a:pPr marL="228600" indent="-228600" algn="l">
              <a:spcAft>
                <a:spcPts val="800"/>
              </a:spcAft>
              <a:buFont typeface="Arial"/>
              <a:buChar char="•"/>
            </a:pPr>
            <a:r>
              <a:rPr sz="1400" b="0" i="0">
                <a:solidFill>
                  <a:srgbClr val="330066"/>
                </a:solidFill>
                <a:latin typeface="Courier New"/>
              </a:rPr>
              <a:t>global</a:t>
            </a:r>
            <a:r>
              <a:rPr sz="1450" b="0" i="0">
                <a:solidFill>
                  <a:srgbClr val="1A1A1A"/>
                </a:solidFill>
                <a:latin typeface="Arial"/>
              </a:rPr>
              <a:t> is needed only to rebind the name to a new object.</a:t>
            </a:r>
          </a:p>
          <a:p>
            <a:pPr marL="228600" indent="-228600" algn="l">
              <a:spcAft>
                <a:spcPts val="800"/>
              </a:spcAft>
              <a:buFont typeface="Arial"/>
              <a:buChar char="•"/>
            </a:pPr>
            <a:r>
              <a:rPr sz="1450" b="0" i="0">
                <a:solidFill>
                  <a:srgbClr val="1A1A1A"/>
                </a:solidFill>
                <a:latin typeface="Arial"/>
              </a:rPr>
              <a:t>This distinction is central to the next lesson.</a:t>
            </a:r>
          </a:p>
        </p:txBody>
      </p:sp>
      <p:sp>
        <p:nvSpPr>
          <p:cNvPr id="8" name="TextBox 7"/>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26 / 46</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Closures and nonlocal</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sp>
        <p:nvSpPr>
          <p:cNvPr id="4" name="TextBox 3"/>
          <p:cNvSpPr txBox="1"/>
          <p:nvPr/>
        </p:nvSpPr>
        <p:spPr>
          <a:xfrm>
            <a:off x="609904" y="1783080"/>
            <a:ext cx="585216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Private state without a global or a class</a:t>
            </a:r>
          </a:p>
        </p:txBody>
      </p:sp>
      <p:sp>
        <p:nvSpPr>
          <p:cNvPr id="5" name="Rounded Rectangle 4"/>
          <p:cNvSpPr/>
          <p:nvPr/>
        </p:nvSpPr>
        <p:spPr>
          <a:xfrm>
            <a:off x="609904" y="2057400"/>
            <a:ext cx="5852160" cy="2578608"/>
          </a:xfrm>
          <a:prstGeom prst="roundRect">
            <a:avLst>
              <a:gd name="adj" fmla="val 2836"/>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03704"/>
            <a:ext cx="5449824" cy="2286000"/>
          </a:xfrm>
          <a:prstGeom prst="rect">
            <a:avLst/>
          </a:prstGeom>
          <a:noFill/>
        </p:spPr>
        <p:txBody>
          <a:bodyPr wrap="square" lIns="0" tIns="0" rIns="0" bIns="0">
            <a:spAutoFit/>
          </a:bodyPr>
          <a:lstStyle/>
          <a:p>
            <a:pPr algn="l">
              <a:lnSpc>
                <a:spcPct val="100000"/>
              </a:lnSpc>
            </a:pPr>
            <a:r>
              <a:rPr sz="1000">
                <a:solidFill>
                  <a:srgbClr val="1A1A1A"/>
                </a:solidFill>
                <a:latin typeface="Courier New"/>
              </a:rPr>
              <a:t>def make_counter():</a:t>
            </a:r>
          </a:p>
          <a:p>
            <a:pPr algn="l">
              <a:lnSpc>
                <a:spcPct val="100000"/>
              </a:lnSpc>
            </a:pPr>
            <a:r>
              <a:rPr sz="1000">
                <a:solidFill>
                  <a:srgbClr val="1A1A1A"/>
                </a:solidFill>
                <a:latin typeface="Courier New"/>
              </a:rPr>
              <a:t>    count = 0                      # lives in make_counter's namespace</a:t>
            </a:r>
          </a:p>
          <a:p>
            <a:pPr algn="l">
              <a:lnSpc>
                <a:spcPct val="100000"/>
              </a:lnSpc>
            </a:pPr>
            <a:r>
              <a:rPr sz="1000">
                <a:solidFill>
                  <a:srgbClr val="1A1A1A"/>
                </a:solidFill>
                <a:latin typeface="Courier New"/>
              </a:rPr>
              <a:t> </a:t>
            </a:r>
          </a:p>
          <a:p>
            <a:pPr algn="l">
              <a:lnSpc>
                <a:spcPct val="100000"/>
              </a:lnSpc>
            </a:pPr>
            <a:r>
              <a:rPr sz="1000">
                <a:solidFill>
                  <a:srgbClr val="1A1A1A"/>
                </a:solidFill>
                <a:latin typeface="Courier New"/>
              </a:rPr>
              <a:t>    def increment():</a:t>
            </a:r>
          </a:p>
          <a:p>
            <a:pPr algn="l">
              <a:lnSpc>
                <a:spcPct val="100000"/>
              </a:lnSpc>
            </a:pPr>
            <a:r>
              <a:rPr sz="1000">
                <a:solidFill>
                  <a:srgbClr val="1A1A1A"/>
                </a:solidFill>
                <a:latin typeface="Courier New"/>
              </a:rPr>
              <a:t>        nonlocal count             # refer to the enclosing 'count'</a:t>
            </a:r>
          </a:p>
          <a:p>
            <a:pPr algn="l">
              <a:lnSpc>
                <a:spcPct val="100000"/>
              </a:lnSpc>
            </a:pPr>
            <a:r>
              <a:rPr sz="1000">
                <a:solidFill>
                  <a:srgbClr val="1A1A1A"/>
                </a:solidFill>
                <a:latin typeface="Courier New"/>
              </a:rPr>
              <a:t>        count += 1</a:t>
            </a:r>
          </a:p>
          <a:p>
            <a:pPr algn="l">
              <a:lnSpc>
                <a:spcPct val="100000"/>
              </a:lnSpc>
            </a:pPr>
            <a:r>
              <a:rPr sz="1000">
                <a:solidFill>
                  <a:srgbClr val="1A1A1A"/>
                </a:solidFill>
                <a:latin typeface="Courier New"/>
              </a:rPr>
              <a:t>        return count</a:t>
            </a:r>
          </a:p>
          <a:p>
            <a:pPr algn="l">
              <a:lnSpc>
                <a:spcPct val="100000"/>
              </a:lnSpc>
            </a:pPr>
            <a:r>
              <a:rPr sz="1000">
                <a:solidFill>
                  <a:srgbClr val="1A1A1A"/>
                </a:solidFill>
                <a:latin typeface="Courier New"/>
              </a:rPr>
              <a:t> </a:t>
            </a:r>
          </a:p>
          <a:p>
            <a:pPr algn="l">
              <a:lnSpc>
                <a:spcPct val="100000"/>
              </a:lnSpc>
            </a:pPr>
            <a:r>
              <a:rPr sz="1000">
                <a:solidFill>
                  <a:srgbClr val="1A1A1A"/>
                </a:solidFill>
                <a:latin typeface="Courier New"/>
              </a:rPr>
              <a:t>    return increment</a:t>
            </a:r>
          </a:p>
          <a:p>
            <a:pPr algn="l">
              <a:lnSpc>
                <a:spcPct val="100000"/>
              </a:lnSpc>
            </a:pPr>
            <a:r>
              <a:rPr sz="1000">
                <a:solidFill>
                  <a:srgbClr val="1A1A1A"/>
                </a:solidFill>
                <a:latin typeface="Courier New"/>
              </a:rPr>
              <a:t> </a:t>
            </a:r>
          </a:p>
          <a:p>
            <a:pPr algn="l">
              <a:lnSpc>
                <a:spcPct val="100000"/>
              </a:lnSpc>
            </a:pPr>
            <a:r>
              <a:rPr sz="1000">
                <a:solidFill>
                  <a:srgbClr val="1A1A1A"/>
                </a:solidFill>
                <a:latin typeface="Courier New"/>
              </a:rPr>
              <a:t>counter_a = make_counter()</a:t>
            </a:r>
          </a:p>
          <a:p>
            <a:pPr algn="l">
              <a:lnSpc>
                <a:spcPct val="100000"/>
              </a:lnSpc>
            </a:pPr>
            <a:r>
              <a:rPr sz="1000">
                <a:solidFill>
                  <a:srgbClr val="1A1A1A"/>
                </a:solidFill>
                <a:latin typeface="Courier New"/>
              </a:rPr>
              <a:t>counter_b = make_counter()</a:t>
            </a:r>
          </a:p>
          <a:p>
            <a:pPr algn="l">
              <a:lnSpc>
                <a:spcPct val="100000"/>
              </a:lnSpc>
            </a:pPr>
            <a:r>
              <a:rPr sz="1000">
                <a:solidFill>
                  <a:srgbClr val="1A1A1A"/>
                </a:solidFill>
                <a:latin typeface="Courier New"/>
              </a:rPr>
              <a:t> </a:t>
            </a:r>
          </a:p>
          <a:p>
            <a:pPr algn="l">
              <a:lnSpc>
                <a:spcPct val="100000"/>
              </a:lnSpc>
            </a:pPr>
            <a:r>
              <a:rPr sz="1000">
                <a:solidFill>
                  <a:srgbClr val="1A1A1A"/>
                </a:solidFill>
                <a:latin typeface="Courier New"/>
              </a:rPr>
              <a:t>print(counter_a(), counter_a(), counter_a())   # 1 2 3</a:t>
            </a:r>
          </a:p>
          <a:p>
            <a:pPr algn="l">
              <a:lnSpc>
                <a:spcPct val="100000"/>
              </a:lnSpc>
            </a:pPr>
            <a:r>
              <a:rPr sz="1000">
                <a:solidFill>
                  <a:srgbClr val="1A1A1A"/>
                </a:solidFill>
                <a:latin typeface="Courier New"/>
              </a:rPr>
              <a:t>print(counter_b())                              # 1</a:t>
            </a:r>
          </a:p>
        </p:txBody>
      </p:sp>
      <p:sp>
        <p:nvSpPr>
          <p:cNvPr id="7" name="TextBox 6"/>
          <p:cNvSpPr txBox="1"/>
          <p:nvPr/>
        </p:nvSpPr>
        <p:spPr>
          <a:xfrm>
            <a:off x="6827824" y="1783080"/>
            <a:ext cx="4753965" cy="4361688"/>
          </a:xfrm>
          <a:prstGeom prst="rect">
            <a:avLst/>
          </a:prstGeom>
          <a:noFill/>
        </p:spPr>
        <p:txBody>
          <a:bodyPr wrap="square" lIns="0" tIns="0" rIns="0" bIns="0">
            <a:spAutoFit/>
          </a:bodyPr>
          <a:lstStyle/>
          <a:p>
            <a:pPr marL="228600" indent="-228600" algn="l">
              <a:spcAft>
                <a:spcPts val="800"/>
              </a:spcAft>
              <a:buFont typeface="Arial"/>
              <a:buChar char="•"/>
            </a:pPr>
            <a:r>
              <a:rPr sz="1450" b="0" i="0">
                <a:solidFill>
                  <a:srgbClr val="1A1A1A"/>
                </a:solidFill>
                <a:latin typeface="Arial"/>
              </a:rPr>
              <a:t>A function inside another can read the outer function's variables: the enclosing scope.</a:t>
            </a:r>
          </a:p>
          <a:p>
            <a:pPr marL="228600" indent="-228600" algn="l">
              <a:spcAft>
                <a:spcPts val="800"/>
              </a:spcAft>
              <a:buFont typeface="Arial"/>
              <a:buChar char="•"/>
            </a:pPr>
            <a:r>
              <a:rPr sz="1450" b="0" i="0">
                <a:solidFill>
                  <a:srgbClr val="1A1A1A"/>
                </a:solidFill>
                <a:latin typeface="Arial"/>
              </a:rPr>
              <a:t>A function that carries them along, even after the outer function returned, is a closure.</a:t>
            </a:r>
          </a:p>
          <a:p>
            <a:pPr marL="228600" indent="-228600" algn="l">
              <a:spcAft>
                <a:spcPts val="800"/>
              </a:spcAft>
              <a:buFont typeface="Arial"/>
              <a:buChar char="•"/>
            </a:pPr>
            <a:r>
              <a:rPr sz="1450" b="0" i="0">
                <a:solidFill>
                  <a:srgbClr val="1A1A1A"/>
                </a:solidFill>
                <a:latin typeface="Arial"/>
              </a:rPr>
              <a:t>Output: </a:t>
            </a:r>
            <a:r>
              <a:rPr sz="1400" b="0" i="0">
                <a:solidFill>
                  <a:srgbClr val="330066"/>
                </a:solidFill>
                <a:latin typeface="Courier New"/>
              </a:rPr>
              <a:t>1 2 3</a:t>
            </a:r>
            <a:r>
              <a:rPr sz="1450" b="0" i="0">
                <a:solidFill>
                  <a:srgbClr val="1A1A1A"/>
                </a:solidFill>
                <a:latin typeface="Arial"/>
              </a:rPr>
              <a:t> then </a:t>
            </a:r>
            <a:r>
              <a:rPr sz="1400" b="0" i="0">
                <a:solidFill>
                  <a:srgbClr val="330066"/>
                </a:solidFill>
                <a:latin typeface="Courier New"/>
              </a:rPr>
              <a:t>1</a:t>
            </a:r>
            <a:r>
              <a:rPr sz="1450" b="0" i="0">
                <a:solidFill>
                  <a:srgbClr val="1A1A1A"/>
                </a:solidFill>
                <a:latin typeface="Arial"/>
              </a:rPr>
              <a:t>.</a:t>
            </a:r>
          </a:p>
        </p:txBody>
      </p:sp>
      <p:sp>
        <p:nvSpPr>
          <p:cNvPr id="8" name="TextBox 7"/>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27 / 46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How the Counter Works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sp>
        <p:nvSpPr>
          <p:cNvPr id="4" name="Oval 3"/>
          <p:cNvSpPr/>
          <p:nvPr/>
        </p:nvSpPr>
        <p:spPr>
          <a:xfrm>
            <a:off x="60990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5" name="TextBox 4"/>
          <p:cNvSpPr txBox="1"/>
          <p:nvPr/>
        </p:nvSpPr>
        <p:spPr>
          <a:xfrm>
            <a:off x="1158544" y="1856231"/>
            <a:ext cx="10423245" cy="384048"/>
          </a:xfrm>
          <a:prstGeom prst="rect">
            <a:avLst/>
          </a:prstGeom>
          <a:noFill/>
        </p:spPr>
        <p:txBody>
          <a:bodyPr wrap="square" lIns="0" tIns="0" rIns="0" bIns="0" anchor="t">
            <a:spAutoFit/>
          </a:bodyPr>
          <a:lstStyle/>
          <a:p>
            <a:pPr algn="l">
              <a:lnSpc>
                <a:spcPct val="110000"/>
              </a:lnSpc>
              <a:spcAft>
                <a:spcPts val="600"/>
              </a:spcAft>
            </a:pPr>
            <a:r>
              <a:rPr sz="1400" b="0" i="0">
                <a:solidFill>
                  <a:srgbClr val="330066"/>
                </a:solidFill>
                <a:latin typeface="Courier New"/>
              </a:rPr>
              <a:t>make_counter()</a:t>
            </a:r>
            <a:r>
              <a:rPr sz="1450" b="0" i="0">
                <a:solidFill>
                  <a:srgbClr val="1A1A1A"/>
                </a:solidFill>
                <a:latin typeface="Arial"/>
              </a:rPr>
              <a:t> runs. A local namespace is created with </a:t>
            </a:r>
            <a:r>
              <a:rPr sz="1400" b="0" i="0">
                <a:solidFill>
                  <a:srgbClr val="330066"/>
                </a:solidFill>
                <a:latin typeface="Courier New"/>
              </a:rPr>
              <a:t>count = 0</a:t>
            </a:r>
            <a:r>
              <a:rPr sz="1450" b="0" i="0">
                <a:solidFill>
                  <a:srgbClr val="1A1A1A"/>
                </a:solidFill>
                <a:latin typeface="Arial"/>
              </a:rPr>
              <a:t>.</a:t>
            </a:r>
          </a:p>
        </p:txBody>
      </p:sp>
      <p:sp>
        <p:nvSpPr>
          <p:cNvPr id="6" name="Oval 5"/>
          <p:cNvSpPr/>
          <p:nvPr/>
        </p:nvSpPr>
        <p:spPr>
          <a:xfrm>
            <a:off x="609904" y="2304288"/>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7" name="TextBox 6"/>
          <p:cNvSpPr txBox="1"/>
          <p:nvPr/>
        </p:nvSpPr>
        <p:spPr>
          <a:xfrm>
            <a:off x="1158544" y="2377440"/>
            <a:ext cx="10423245" cy="506095"/>
          </a:xfrm>
          <a:prstGeom prst="rect">
            <a:avLst/>
          </a:prstGeom>
          <a:noFill/>
        </p:spPr>
        <p:txBody>
          <a:bodyPr wrap="square" lIns="0" tIns="0" rIns="0" bIns="0" anchor="t">
            <a:spAutoFit/>
          </a:bodyPr>
          <a:lstStyle/>
          <a:p>
            <a:pPr algn="l">
              <a:lnSpc>
                <a:spcPct val="110000"/>
              </a:lnSpc>
              <a:spcAft>
                <a:spcPts val="600"/>
              </a:spcAft>
            </a:pPr>
            <a:r>
              <a:rPr sz="1450" b="0" i="0">
                <a:solidFill>
                  <a:srgbClr val="1A1A1A"/>
                </a:solidFill>
                <a:latin typeface="Arial"/>
              </a:rPr>
              <a:t>It defines and returns </a:t>
            </a:r>
            <a:r>
              <a:rPr sz="1400" b="0" i="0">
                <a:solidFill>
                  <a:srgbClr val="330066"/>
                </a:solidFill>
                <a:latin typeface="Courier New"/>
              </a:rPr>
              <a:t>increment</a:t>
            </a:r>
            <a:r>
              <a:rPr sz="1450" b="0" i="0">
                <a:solidFill>
                  <a:srgbClr val="1A1A1A"/>
                </a:solidFill>
                <a:latin typeface="Arial"/>
              </a:rPr>
              <a:t>. </a:t>
            </a:r>
            <a:r>
              <a:rPr sz="1400" b="0" i="0">
                <a:solidFill>
                  <a:srgbClr val="330066"/>
                </a:solidFill>
                <a:latin typeface="Courier New"/>
              </a:rPr>
              <a:t>count</a:t>
            </a:r>
            <a:r>
              <a:rPr sz="1450" b="0" i="0">
                <a:solidFill>
                  <a:srgbClr val="1A1A1A"/>
                </a:solidFill>
                <a:latin typeface="Arial"/>
              </a:rPr>
              <a:t> would normally vanish, but </a:t>
            </a:r>
            <a:r>
              <a:rPr sz="1400" b="0" i="0">
                <a:solidFill>
                  <a:srgbClr val="330066"/>
                </a:solidFill>
                <a:latin typeface="Courier New"/>
              </a:rPr>
              <a:t>increment</a:t>
            </a:r>
            <a:r>
              <a:rPr sz="1450" b="0" i="0">
                <a:solidFill>
                  <a:srgbClr val="1A1A1A"/>
                </a:solidFill>
                <a:latin typeface="Arial"/>
              </a:rPr>
              <a:t> references it, so Python keeps it alive inside the function object (a "cell").</a:t>
            </a:r>
          </a:p>
        </p:txBody>
      </p:sp>
      <p:sp>
        <p:nvSpPr>
          <p:cNvPr id="8" name="Oval 7"/>
          <p:cNvSpPr/>
          <p:nvPr/>
        </p:nvSpPr>
        <p:spPr>
          <a:xfrm>
            <a:off x="609904" y="2947543"/>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9" name="TextBox 8"/>
          <p:cNvSpPr txBox="1"/>
          <p:nvPr/>
        </p:nvSpPr>
        <p:spPr>
          <a:xfrm>
            <a:off x="1158544" y="3020695"/>
            <a:ext cx="10423245" cy="506095"/>
          </a:xfrm>
          <a:prstGeom prst="rect">
            <a:avLst/>
          </a:prstGeom>
          <a:noFill/>
        </p:spPr>
        <p:txBody>
          <a:bodyPr wrap="square" lIns="0" tIns="0" rIns="0" bIns="0" anchor="t">
            <a:spAutoFit/>
          </a:bodyPr>
          <a:lstStyle/>
          <a:p>
            <a:pPr algn="l">
              <a:lnSpc>
                <a:spcPct val="110000"/>
              </a:lnSpc>
              <a:spcAft>
                <a:spcPts val="600"/>
              </a:spcAft>
            </a:pPr>
            <a:r>
              <a:rPr sz="1400" b="0" i="0">
                <a:solidFill>
                  <a:srgbClr val="330066"/>
                </a:solidFill>
                <a:latin typeface="Courier New"/>
              </a:rPr>
              <a:t>counter_a</a:t>
            </a:r>
            <a:r>
              <a:rPr sz="1450" b="0" i="0">
                <a:solidFill>
                  <a:srgbClr val="1A1A1A"/>
                </a:solidFill>
                <a:latin typeface="Arial"/>
              </a:rPr>
              <a:t> and </a:t>
            </a:r>
            <a:r>
              <a:rPr sz="1400" b="0" i="0">
                <a:solidFill>
                  <a:srgbClr val="330066"/>
                </a:solidFill>
                <a:latin typeface="Courier New"/>
              </a:rPr>
              <a:t>counter_b</a:t>
            </a:r>
            <a:r>
              <a:rPr sz="1450" b="0" i="0">
                <a:solidFill>
                  <a:srgbClr val="1A1A1A"/>
                </a:solidFill>
                <a:latin typeface="Arial"/>
              </a:rPr>
              <a:t> are independent closures, each with its own </a:t>
            </a:r>
            <a:r>
              <a:rPr sz="1400" b="0" i="0">
                <a:solidFill>
                  <a:srgbClr val="330066"/>
                </a:solidFill>
                <a:latin typeface="Courier New"/>
              </a:rPr>
              <a:t>count</a:t>
            </a:r>
            <a:r>
              <a:rPr sz="1450" b="0" i="0">
                <a:solidFill>
                  <a:srgbClr val="1A1A1A"/>
                </a:solidFill>
                <a:latin typeface="Arial"/>
              </a:rPr>
              <a:t>. That is why </a:t>
            </a:r>
            <a:r>
              <a:rPr sz="1400" b="0" i="0">
                <a:solidFill>
                  <a:srgbClr val="330066"/>
                </a:solidFill>
                <a:latin typeface="Courier New"/>
              </a:rPr>
              <a:t>counter_b()</a:t>
            </a:r>
            <a:r>
              <a:rPr sz="1450" b="0" i="0">
                <a:solidFill>
                  <a:srgbClr val="1A1A1A"/>
                </a:solidFill>
                <a:latin typeface="Arial"/>
              </a:rPr>
              <a:t> prints </a:t>
            </a:r>
            <a:r>
              <a:rPr sz="1400" b="0" i="0">
                <a:solidFill>
                  <a:srgbClr val="330066"/>
                </a:solidFill>
                <a:latin typeface="Courier New"/>
              </a:rPr>
              <a:t>1</a:t>
            </a:r>
            <a:r>
              <a:rPr sz="1450" b="0" i="0">
                <a:solidFill>
                  <a:srgbClr val="1A1A1A"/>
                </a:solidFill>
                <a:latin typeface="Arial"/>
              </a:rPr>
              <a:t>.</a:t>
            </a:r>
          </a:p>
        </p:txBody>
      </p:sp>
      <p:sp>
        <p:nvSpPr>
          <p:cNvPr id="10" name="Oval 9"/>
          <p:cNvSpPr/>
          <p:nvPr/>
        </p:nvSpPr>
        <p:spPr>
          <a:xfrm>
            <a:off x="609904" y="3590798"/>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4</a:t>
            </a:r>
          </a:p>
        </p:txBody>
      </p:sp>
      <p:sp>
        <p:nvSpPr>
          <p:cNvPr id="11" name="TextBox 10"/>
          <p:cNvSpPr txBox="1"/>
          <p:nvPr/>
        </p:nvSpPr>
        <p:spPr>
          <a:xfrm>
            <a:off x="1158544" y="3663950"/>
            <a:ext cx="10423245" cy="506095"/>
          </a:xfrm>
          <a:prstGeom prst="rect">
            <a:avLst/>
          </a:prstGeom>
          <a:noFill/>
        </p:spPr>
        <p:txBody>
          <a:bodyPr wrap="square" lIns="0" tIns="0" rIns="0" bIns="0" anchor="t">
            <a:spAutoFit/>
          </a:bodyPr>
          <a:lstStyle/>
          <a:p>
            <a:pPr algn="l">
              <a:lnSpc>
                <a:spcPct val="110000"/>
              </a:lnSpc>
              <a:spcAft>
                <a:spcPts val="600"/>
              </a:spcAft>
            </a:pPr>
            <a:r>
              <a:rPr sz="1400" b="0" i="0">
                <a:solidFill>
                  <a:srgbClr val="330066"/>
                </a:solidFill>
                <a:latin typeface="Courier New"/>
              </a:rPr>
              <a:t>nonlocal count</a:t>
            </a:r>
            <a:r>
              <a:rPr sz="1450" b="0" i="0">
                <a:solidFill>
                  <a:srgbClr val="1A1A1A"/>
                </a:solidFill>
                <a:latin typeface="Arial"/>
              </a:rPr>
              <a:t> makes </a:t>
            </a:r>
            <a:r>
              <a:rPr sz="1400" b="0" i="0">
                <a:solidFill>
                  <a:srgbClr val="330066"/>
                </a:solidFill>
                <a:latin typeface="Courier New"/>
              </a:rPr>
              <a:t>count += 1</a:t>
            </a:r>
            <a:r>
              <a:rPr sz="1450" b="0" i="0">
                <a:solidFill>
                  <a:srgbClr val="1A1A1A"/>
                </a:solidFill>
                <a:latin typeface="Arial"/>
              </a:rPr>
              <a:t> rebind the enclosing variable instead of creating a new local. Without it: </a:t>
            </a:r>
            <a:r>
              <a:rPr sz="1400" b="0" i="0">
                <a:solidFill>
                  <a:srgbClr val="330066"/>
                </a:solidFill>
                <a:latin typeface="Courier New"/>
              </a:rPr>
              <a:t>UnboundLocalError</a:t>
            </a:r>
            <a:r>
              <a:rPr sz="1450" b="0" i="0">
                <a:solidFill>
                  <a:srgbClr val="1A1A1A"/>
                </a:solidFill>
                <a:latin typeface="Arial"/>
              </a:rPr>
              <a:t>, as in the global case.</a:t>
            </a:r>
          </a:p>
        </p:txBody>
      </p:sp>
      <p:sp>
        <p:nvSpPr>
          <p:cNvPr id="12" name="TextBox 11"/>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28 / 46</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nonlocal vs global</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graphicFrame>
        <p:nvGraphicFramePr>
          <p:cNvPr id="4" name="Table 3"/>
          <p:cNvGraphicFramePr>
            <a:graphicFrameLocks noGrp="1"/>
          </p:cNvGraphicFramePr>
          <p:nvPr/>
        </p:nvGraphicFramePr>
        <p:xfrm>
          <a:off x="609904" y="1783080"/>
          <a:ext cx="10971884" cy="1419606"/>
        </p:xfrm>
        <a:graphic>
          <a:graphicData uri="http://schemas.openxmlformats.org/drawingml/2006/table">
            <a:tbl>
              <a:tblPr/>
              <a:tblGrid>
                <a:gridCol w="2194377">
                  <a:extLst>
                    <a:ext uri="{9D8B030D-6E8A-4147-A177-3AD203B41FA5}">
                      <a16:colId xmlns:a16="http://schemas.microsoft.com/office/drawing/2014/main" val="20000"/>
                    </a:ext>
                  </a:extLst>
                </a:gridCol>
                <a:gridCol w="3840159">
                  <a:extLst>
                    <a:ext uri="{9D8B030D-6E8A-4147-A177-3AD203B41FA5}">
                      <a16:colId xmlns:a16="http://schemas.microsoft.com/office/drawing/2014/main" val="20001"/>
                    </a:ext>
                  </a:extLst>
                </a:gridCol>
                <a:gridCol w="4937348">
                  <a:extLst>
                    <a:ext uri="{9D8B030D-6E8A-4147-A177-3AD203B41FA5}">
                      <a16:colId xmlns:a16="http://schemas.microsoft.com/office/drawing/2014/main" val="20002"/>
                    </a:ext>
                  </a:extLst>
                </a:gridCol>
              </a:tblGrid>
              <a:tr h="384048">
                <a:tc>
                  <a:txBody>
                    <a:bodyPr/>
                    <a:lstStyle/>
                    <a:p>
                      <a:r>
                        <a:rPr sz="1500" b="1">
                          <a:solidFill>
                            <a:srgbClr val="FFFFFF"/>
                          </a:solidFill>
                          <a:latin typeface="Arial"/>
                        </a:rPr>
                        <a:t>Keyword</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500" b="1">
                          <a:solidFill>
                            <a:srgbClr val="FFFFFF"/>
                          </a:solidFill>
                          <a:latin typeface="Arial"/>
                        </a:rPr>
                        <a:t>Refers to</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500" b="1">
                          <a:solidFill>
                            <a:srgbClr val="FFFFFF"/>
                          </a:solidFill>
                          <a:latin typeface="Arial"/>
                        </a:rPr>
                        <a:t>Must already exist?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extLst>
                  <a:ext uri="{0D108BD9-81ED-4DB2-BD59-A6C34878D82A}">
                    <a16:rowId xmlns:a16="http://schemas.microsoft.com/office/drawing/2014/main" val="10000"/>
                  </a:ext>
                </a:extLst>
              </a:tr>
              <a:tr h="393954">
                <a:tc>
                  <a:txBody>
                    <a:bodyPr/>
                    <a:lstStyle/>
                    <a:p>
                      <a:r>
                        <a:rPr sz="1450" b="1">
                          <a:solidFill>
                            <a:srgbClr val="330066"/>
                          </a:solidFill>
                          <a:latin typeface="Courier New"/>
                        </a:rPr>
                        <a:t>global x</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500" b="0" i="0">
                          <a:solidFill>
                            <a:srgbClr val="1A1A1A"/>
                          </a:solidFill>
                          <a:latin typeface="Arial"/>
                        </a:rPr>
                        <a:t>The module-level </a:t>
                      </a:r>
                      <a:r>
                        <a:rPr sz="1450" b="0" i="0">
                          <a:solidFill>
                            <a:srgbClr val="330066"/>
                          </a:solidFill>
                          <a:latin typeface="Courier New"/>
                        </a:rPr>
                        <a:t>x</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500" b="0">
                          <a:solidFill>
                            <a:srgbClr val="1A1A1A"/>
                          </a:solidFill>
                          <a:latin typeface="Arial"/>
                        </a:rPr>
                        <a:t>No (it will be created on assignment)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1"/>
                  </a:ext>
                </a:extLst>
              </a:tr>
              <a:tr h="641604">
                <a:tc>
                  <a:txBody>
                    <a:bodyPr/>
                    <a:lstStyle/>
                    <a:p>
                      <a:r>
                        <a:rPr sz="1450" b="1">
                          <a:solidFill>
                            <a:srgbClr val="330066"/>
                          </a:solidFill>
                          <a:latin typeface="Courier New"/>
                        </a:rPr>
                        <a:t>nonlocal x</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450" b="0" i="0">
                          <a:solidFill>
                            <a:srgbClr val="330066"/>
                          </a:solidFill>
                          <a:latin typeface="Courier New"/>
                        </a:rPr>
                        <a:t>x</a:t>
                      </a:r>
                      <a:r>
                        <a:rPr sz="1500" b="0" i="0">
                          <a:solidFill>
                            <a:srgbClr val="1A1A1A"/>
                          </a:solidFill>
                          <a:latin typeface="Arial"/>
                        </a:rPr>
                        <a:t> in the nearest enclosing function</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500" b="0" i="0">
                          <a:solidFill>
                            <a:srgbClr val="1A1A1A"/>
                          </a:solidFill>
                          <a:latin typeface="Arial"/>
                        </a:rPr>
                        <a:t>Yes; otherwise </a:t>
                      </a:r>
                      <a:r>
                        <a:rPr sz="1450" b="0" i="0">
                          <a:solidFill>
                            <a:srgbClr val="330066"/>
                          </a:solidFill>
                          <a:latin typeface="Courier New"/>
                        </a:rPr>
                        <a:t>SyntaxError: no binding for nonlocal 'x' found</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2"/>
                  </a:ext>
                </a:extLst>
              </a:tr>
            </a:tbl>
          </a:graphicData>
        </a:graphic>
      </p:graphicFrame>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29 / 46</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The Built-in Scope</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sp>
        <p:nvSpPr>
          <p:cNvPr id="4" name="TextBox 3"/>
          <p:cNvSpPr txBox="1"/>
          <p:nvPr/>
        </p:nvSpPr>
        <p:spPr>
          <a:xfrm>
            <a:off x="609904" y="1783080"/>
            <a:ext cx="530352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Inspect the built-in names</a:t>
            </a:r>
          </a:p>
        </p:txBody>
      </p:sp>
      <p:sp>
        <p:nvSpPr>
          <p:cNvPr id="5" name="Rounded Rectangle 4"/>
          <p:cNvSpPr/>
          <p:nvPr/>
        </p:nvSpPr>
        <p:spPr>
          <a:xfrm>
            <a:off x="609904" y="2057400"/>
            <a:ext cx="5303520" cy="932688"/>
          </a:xfrm>
          <a:prstGeom prst="roundRect">
            <a:avLst>
              <a:gd name="adj" fmla="val 7843"/>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03704"/>
            <a:ext cx="4901183" cy="640080"/>
          </a:xfrm>
          <a:prstGeom prst="rect">
            <a:avLst/>
          </a:prstGeom>
          <a:noFill/>
        </p:spPr>
        <p:txBody>
          <a:bodyPr wrap="square" lIns="0" tIns="0" rIns="0" bIns="0">
            <a:spAutoFit/>
          </a:bodyPr>
          <a:lstStyle/>
          <a:p>
            <a:pPr algn="l">
              <a:lnSpc>
                <a:spcPct val="100000"/>
              </a:lnSpc>
            </a:pPr>
            <a:r>
              <a:rPr sz="1400">
                <a:solidFill>
                  <a:srgbClr val="1A1A1A"/>
                </a:solidFill>
                <a:latin typeface="Courier New"/>
              </a:rPr>
              <a:t>import builtins</a:t>
            </a:r>
          </a:p>
          <a:p>
            <a:pPr algn="l">
              <a:lnSpc>
                <a:spcPct val="100000"/>
              </a:lnSpc>
            </a:pPr>
            <a:r>
              <a:rPr sz="1400">
                <a:solidFill>
                  <a:srgbClr val="1A1A1A"/>
                </a:solidFill>
                <a:latin typeface="Courier New"/>
              </a:rPr>
              <a:t>print(len(dir(builtins)) &gt; 100)   # True</a:t>
            </a:r>
          </a:p>
          <a:p>
            <a:pPr algn="l">
              <a:lnSpc>
                <a:spcPct val="100000"/>
              </a:lnSpc>
            </a:pPr>
            <a:r>
              <a:rPr sz="1400">
                <a:solidFill>
                  <a:srgbClr val="1A1A1A"/>
                </a:solidFill>
                <a:latin typeface="Courier New"/>
              </a:rPr>
              <a:t>print(builtins.len is len)        # True</a:t>
            </a:r>
          </a:p>
        </p:txBody>
      </p:sp>
      <p:sp>
        <p:nvSpPr>
          <p:cNvPr id="7" name="TextBox 6"/>
          <p:cNvSpPr txBox="1"/>
          <p:nvPr/>
        </p:nvSpPr>
        <p:spPr>
          <a:xfrm>
            <a:off x="6279184" y="1783080"/>
            <a:ext cx="5302605" cy="4361688"/>
          </a:xfrm>
          <a:prstGeom prst="rect">
            <a:avLst/>
          </a:prstGeom>
          <a:noFill/>
        </p:spPr>
        <p:txBody>
          <a:bodyPr wrap="square" lIns="0" tIns="0" rIns="0" bIns="0">
            <a:spAutoFit/>
          </a:bodyPr>
          <a:lstStyle/>
          <a:p>
            <a:pPr marL="228600" indent="-228600" algn="l">
              <a:spcAft>
                <a:spcPts val="800"/>
              </a:spcAft>
              <a:buFont typeface="Arial"/>
              <a:buChar char="•"/>
            </a:pPr>
            <a:r>
              <a:rPr sz="1450" b="0" i="0">
                <a:solidFill>
                  <a:srgbClr val="1A1A1A"/>
                </a:solidFill>
                <a:latin typeface="Arial"/>
              </a:rPr>
              <a:t>Built-ins: </a:t>
            </a:r>
            <a:r>
              <a:rPr sz="1400" b="0" i="0">
                <a:solidFill>
                  <a:srgbClr val="330066"/>
                </a:solidFill>
                <a:latin typeface="Courier New"/>
              </a:rPr>
              <a:t>print</a:t>
            </a:r>
            <a:r>
              <a:rPr sz="1450" b="0" i="0">
                <a:solidFill>
                  <a:srgbClr val="1A1A1A"/>
                </a:solidFill>
                <a:latin typeface="Arial"/>
              </a:rPr>
              <a:t>, </a:t>
            </a:r>
            <a:r>
              <a:rPr sz="1400" b="0" i="0">
                <a:solidFill>
                  <a:srgbClr val="330066"/>
                </a:solidFill>
                <a:latin typeface="Courier New"/>
              </a:rPr>
              <a:t>len</a:t>
            </a:r>
            <a:r>
              <a:rPr sz="1450" b="0" i="0">
                <a:solidFill>
                  <a:srgbClr val="1A1A1A"/>
                </a:solidFill>
                <a:latin typeface="Arial"/>
              </a:rPr>
              <a:t>, </a:t>
            </a:r>
            <a:r>
              <a:rPr sz="1400" b="0" i="0">
                <a:solidFill>
                  <a:srgbClr val="330066"/>
                </a:solidFill>
                <a:latin typeface="Courier New"/>
              </a:rPr>
              <a:t>list</a:t>
            </a:r>
            <a:r>
              <a:rPr sz="1450" b="0" i="0">
                <a:solidFill>
                  <a:srgbClr val="1A1A1A"/>
                </a:solidFill>
                <a:latin typeface="Arial"/>
              </a:rPr>
              <a:t>, </a:t>
            </a:r>
            <a:r>
              <a:rPr sz="1400" b="0" i="0">
                <a:solidFill>
                  <a:srgbClr val="330066"/>
                </a:solidFill>
                <a:latin typeface="Courier New"/>
              </a:rPr>
              <a:t>dict</a:t>
            </a:r>
            <a:r>
              <a:rPr sz="1450" b="0" i="0">
                <a:solidFill>
                  <a:srgbClr val="1A1A1A"/>
                </a:solidFill>
                <a:latin typeface="Arial"/>
              </a:rPr>
              <a:t>, </a:t>
            </a:r>
            <a:r>
              <a:rPr sz="1400" b="0" i="0">
                <a:solidFill>
                  <a:srgbClr val="330066"/>
                </a:solidFill>
                <a:latin typeface="Courier New"/>
              </a:rPr>
              <a:t>str</a:t>
            </a:r>
            <a:r>
              <a:rPr sz="1450" b="0" i="0">
                <a:solidFill>
                  <a:srgbClr val="1A1A1A"/>
                </a:solidFill>
                <a:latin typeface="Arial"/>
              </a:rPr>
              <a:t>, </a:t>
            </a:r>
            <a:r>
              <a:rPr sz="1400" b="0" i="0">
                <a:solidFill>
                  <a:srgbClr val="330066"/>
                </a:solidFill>
                <a:latin typeface="Courier New"/>
              </a:rPr>
              <a:t>sum</a:t>
            </a:r>
            <a:r>
              <a:rPr sz="1450" b="0" i="0">
                <a:solidFill>
                  <a:srgbClr val="1A1A1A"/>
                </a:solidFill>
                <a:latin typeface="Arial"/>
              </a:rPr>
              <a:t>, </a:t>
            </a:r>
            <a:r>
              <a:rPr sz="1400" b="0" i="0">
                <a:solidFill>
                  <a:srgbClr val="330066"/>
                </a:solidFill>
                <a:latin typeface="Courier New"/>
              </a:rPr>
              <a:t>max</a:t>
            </a:r>
            <a:r>
              <a:rPr sz="1450" b="0" i="0">
                <a:solidFill>
                  <a:srgbClr val="1A1A1A"/>
                </a:solidFill>
                <a:latin typeface="Arial"/>
              </a:rPr>
              <a:t>, </a:t>
            </a:r>
            <a:r>
              <a:rPr sz="1400" b="0" i="0">
                <a:solidFill>
                  <a:srgbClr val="330066"/>
                </a:solidFill>
                <a:latin typeface="Courier New"/>
              </a:rPr>
              <a:t>min</a:t>
            </a:r>
            <a:r>
              <a:rPr sz="1450" b="0" i="0">
                <a:solidFill>
                  <a:srgbClr val="1A1A1A"/>
                </a:solidFill>
                <a:latin typeface="Arial"/>
              </a:rPr>
              <a:t>, </a:t>
            </a:r>
            <a:r>
              <a:rPr sz="1400" b="0" i="0">
                <a:solidFill>
                  <a:srgbClr val="330066"/>
                </a:solidFill>
                <a:latin typeface="Courier New"/>
              </a:rPr>
              <a:t>id</a:t>
            </a:r>
            <a:r>
              <a:rPr sz="1450" b="0" i="0">
                <a:solidFill>
                  <a:srgbClr val="1A1A1A"/>
                </a:solidFill>
                <a:latin typeface="Arial"/>
              </a:rPr>
              <a:t>, </a:t>
            </a:r>
            <a:r>
              <a:rPr sz="1400" b="0" i="0">
                <a:solidFill>
                  <a:srgbClr val="330066"/>
                </a:solidFill>
                <a:latin typeface="Courier New"/>
              </a:rPr>
              <a:t>type</a:t>
            </a:r>
            <a:r>
              <a:rPr sz="1450" b="0" i="0">
                <a:solidFill>
                  <a:srgbClr val="1A1A1A"/>
                </a:solidFill>
                <a:latin typeface="Arial"/>
              </a:rPr>
              <a:t>, </a:t>
            </a:r>
            <a:r>
              <a:rPr sz="1400" b="0" i="0">
                <a:solidFill>
                  <a:srgbClr val="330066"/>
                </a:solidFill>
                <a:latin typeface="Courier New"/>
              </a:rPr>
              <a:t>input</a:t>
            </a:r>
            <a:r>
              <a:rPr sz="1450" b="0" i="0">
                <a:solidFill>
                  <a:srgbClr val="1A1A1A"/>
                </a:solidFill>
                <a:latin typeface="Arial"/>
              </a:rPr>
              <a:t>, </a:t>
            </a:r>
            <a:r>
              <a:rPr sz="1400" b="0" i="0">
                <a:solidFill>
                  <a:srgbClr val="330066"/>
                </a:solidFill>
                <a:latin typeface="Courier New"/>
              </a:rPr>
              <a:t>open</a:t>
            </a:r>
            <a:r>
              <a:rPr sz="1450" b="0" i="0">
                <a:solidFill>
                  <a:srgbClr val="1A1A1A"/>
                </a:solidFill>
                <a:latin typeface="Arial"/>
              </a:rPr>
              <a:t>, </a:t>
            </a:r>
            <a:r>
              <a:rPr sz="1400" b="0" i="0">
                <a:solidFill>
                  <a:srgbClr val="330066"/>
                </a:solidFill>
                <a:latin typeface="Courier New"/>
              </a:rPr>
              <a:t>range</a:t>
            </a:r>
            <a:r>
              <a:rPr sz="1450" b="0" i="0">
                <a:solidFill>
                  <a:srgbClr val="1A1A1A"/>
                </a:solidFill>
                <a:latin typeface="Arial"/>
              </a:rPr>
              <a:t>, and all standard exception names.</a:t>
            </a:r>
          </a:p>
          <a:p>
            <a:pPr marL="228600" indent="-228600" algn="l">
              <a:spcAft>
                <a:spcPts val="800"/>
              </a:spcAft>
              <a:buFont typeface="Arial"/>
              <a:buChar char="•"/>
            </a:pPr>
            <a:r>
              <a:rPr sz="1400" b="0" i="0">
                <a:solidFill>
                  <a:srgbClr val="330066"/>
                </a:solidFill>
                <a:latin typeface="Courier New"/>
              </a:rPr>
              <a:t>import builtins</a:t>
            </a:r>
            <a:r>
              <a:rPr sz="1450" b="0" i="0">
                <a:solidFill>
                  <a:srgbClr val="1A1A1A"/>
                </a:solidFill>
                <a:latin typeface="Arial"/>
              </a:rPr>
              <a:t> lets you see them.</a:t>
            </a:r>
          </a:p>
        </p:txBody>
      </p:sp>
      <p:sp>
        <p:nvSpPr>
          <p:cNvPr id="8" name="TextBox 7"/>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30 / 46</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Shadowing Built-ins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sp>
        <p:nvSpPr>
          <p:cNvPr id="4" name="TextBox 3"/>
          <p:cNvSpPr txBox="1"/>
          <p:nvPr/>
        </p:nvSpPr>
        <p:spPr>
          <a:xfrm>
            <a:off x="609904" y="1783080"/>
            <a:ext cx="713232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Your name is found first</a:t>
            </a:r>
          </a:p>
        </p:txBody>
      </p:sp>
      <p:sp>
        <p:nvSpPr>
          <p:cNvPr id="5" name="Rounded Rectangle 4"/>
          <p:cNvSpPr/>
          <p:nvPr/>
        </p:nvSpPr>
        <p:spPr>
          <a:xfrm>
            <a:off x="609904" y="2057400"/>
            <a:ext cx="7132320" cy="643128"/>
          </a:xfrm>
          <a:prstGeom prst="roundRect">
            <a:avLst>
              <a:gd name="adj" fmla="val 11374"/>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03704"/>
            <a:ext cx="6729983" cy="350520"/>
          </a:xfrm>
          <a:prstGeom prst="rect">
            <a:avLst/>
          </a:prstGeom>
          <a:noFill/>
        </p:spPr>
        <p:txBody>
          <a:bodyPr wrap="square" lIns="0" tIns="0" rIns="0" bIns="0">
            <a:spAutoFit/>
          </a:bodyPr>
          <a:lstStyle/>
          <a:p>
            <a:pPr algn="l">
              <a:lnSpc>
                <a:spcPct val="100000"/>
              </a:lnSpc>
            </a:pPr>
            <a:r>
              <a:rPr sz="1150">
                <a:solidFill>
                  <a:srgbClr val="1A1A1A"/>
                </a:solidFill>
                <a:latin typeface="Courier New"/>
              </a:rPr>
              <a:t>list = [1, 2]            # oops: shadows the built-in 'list' in this module</a:t>
            </a:r>
          </a:p>
          <a:p>
            <a:pPr algn="l">
              <a:lnSpc>
                <a:spcPct val="100000"/>
              </a:lnSpc>
            </a:pPr>
            <a:r>
              <a:rPr sz="1150">
                <a:solidFill>
                  <a:srgbClr val="1A1A1A"/>
                </a:solidFill>
                <a:latin typeface="Courier New"/>
              </a:rPr>
              <a:t>list((1, 2))             # TypeError: 'list' object is not callable</a:t>
            </a:r>
          </a:p>
        </p:txBody>
      </p:sp>
      <p:sp>
        <p:nvSpPr>
          <p:cNvPr id="7" name="TextBox 6"/>
          <p:cNvSpPr txBox="1"/>
          <p:nvPr/>
        </p:nvSpPr>
        <p:spPr>
          <a:xfrm>
            <a:off x="609904" y="2883408"/>
            <a:ext cx="713232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Output</a:t>
            </a:r>
          </a:p>
        </p:txBody>
      </p:sp>
      <p:sp>
        <p:nvSpPr>
          <p:cNvPr id="8" name="Rounded Rectangle 7"/>
          <p:cNvSpPr/>
          <p:nvPr/>
        </p:nvSpPr>
        <p:spPr>
          <a:xfrm>
            <a:off x="609904" y="3157728"/>
            <a:ext cx="7132320" cy="475488"/>
          </a:xfrm>
          <a:prstGeom prst="roundRect">
            <a:avLst>
              <a:gd name="adj" fmla="val 15384"/>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1072" y="3304032"/>
            <a:ext cx="6729983" cy="182880"/>
          </a:xfrm>
          <a:prstGeom prst="rect">
            <a:avLst/>
          </a:prstGeom>
          <a:noFill/>
        </p:spPr>
        <p:txBody>
          <a:bodyPr wrap="square" lIns="0" tIns="0" rIns="0" bIns="0">
            <a:spAutoFit/>
          </a:bodyPr>
          <a:lstStyle/>
          <a:p>
            <a:pPr algn="l">
              <a:lnSpc>
                <a:spcPct val="100000"/>
              </a:lnSpc>
            </a:pPr>
            <a:r>
              <a:rPr sz="1200">
                <a:solidFill>
                  <a:srgbClr val="1A1A1A"/>
                </a:solidFill>
                <a:latin typeface="Courier New"/>
              </a:rPr>
              <a:t>TypeError: 'list' object is not callable</a:t>
            </a:r>
          </a:p>
        </p:txBody>
      </p:sp>
      <p:sp>
        <p:nvSpPr>
          <p:cNvPr id="10" name="TextBox 9"/>
          <p:cNvSpPr txBox="1"/>
          <p:nvPr/>
        </p:nvSpPr>
        <p:spPr>
          <a:xfrm>
            <a:off x="609904" y="3816095"/>
            <a:ext cx="713232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Restore by deleting your variable</a:t>
            </a:r>
          </a:p>
        </p:txBody>
      </p:sp>
      <p:sp>
        <p:nvSpPr>
          <p:cNvPr id="11" name="Rounded Rectangle 10"/>
          <p:cNvSpPr/>
          <p:nvPr/>
        </p:nvSpPr>
        <p:spPr>
          <a:xfrm>
            <a:off x="609904" y="4090415"/>
            <a:ext cx="7132320" cy="749808"/>
          </a:xfrm>
          <a:prstGeom prst="roundRect">
            <a:avLst>
              <a:gd name="adj" fmla="val 9756"/>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11072" y="4236720"/>
            <a:ext cx="6729983" cy="457200"/>
          </a:xfrm>
          <a:prstGeom prst="rect">
            <a:avLst/>
          </a:prstGeom>
          <a:noFill/>
        </p:spPr>
        <p:txBody>
          <a:bodyPr wrap="square" lIns="0" tIns="0" rIns="0" bIns="0">
            <a:spAutoFit/>
          </a:bodyPr>
          <a:lstStyle/>
          <a:p>
            <a:pPr algn="l">
              <a:lnSpc>
                <a:spcPct val="100000"/>
              </a:lnSpc>
            </a:pPr>
            <a:r>
              <a:rPr sz="1000">
                <a:solidFill>
                  <a:srgbClr val="1A1A1A"/>
                </a:solidFill>
                <a:latin typeface="Courier New"/>
              </a:rPr>
              <a:t>del list                 # removes the global; lookup falls through to the built-in again</a:t>
            </a:r>
          </a:p>
          <a:p>
            <a:pPr algn="l">
              <a:lnSpc>
                <a:spcPct val="100000"/>
              </a:lnSpc>
            </a:pPr>
            <a:r>
              <a:rPr sz="1000">
                <a:solidFill>
                  <a:srgbClr val="1A1A1A"/>
                </a:solidFill>
                <a:latin typeface="Courier New"/>
              </a:rPr>
              <a:t>print(list((1, 2)))      # [1, 2]</a:t>
            </a:r>
          </a:p>
        </p:txBody>
      </p:sp>
      <p:sp>
        <p:nvSpPr>
          <p:cNvPr id="13" name="TextBox 12"/>
          <p:cNvSpPr txBox="1"/>
          <p:nvPr/>
        </p:nvSpPr>
        <p:spPr>
          <a:xfrm>
            <a:off x="8107984" y="1783080"/>
            <a:ext cx="3473805" cy="4361688"/>
          </a:xfrm>
          <a:prstGeom prst="rect">
            <a:avLst/>
          </a:prstGeom>
          <a:noFill/>
        </p:spPr>
        <p:txBody>
          <a:bodyPr wrap="square" lIns="0" tIns="0" rIns="0" bIns="0">
            <a:spAutoFit/>
          </a:bodyPr>
          <a:lstStyle/>
          <a:p>
            <a:pPr marL="228600" indent="-228600" algn="l">
              <a:spcAft>
                <a:spcPts val="800"/>
              </a:spcAft>
              <a:buFont typeface="Arial"/>
              <a:buChar char="•"/>
            </a:pPr>
            <a:r>
              <a:rPr sz="1400" b="0" i="0">
                <a:solidFill>
                  <a:srgbClr val="1A1A1A"/>
                </a:solidFill>
                <a:latin typeface="Arial"/>
              </a:rPr>
              <a:t>LEGB searches Local, Enclosing and Global before Built-in, so a variable with the same name hides (shadows) the built-in.</a:t>
            </a:r>
          </a:p>
          <a:p>
            <a:pPr marL="228600" indent="-228600" algn="l">
              <a:spcAft>
                <a:spcPts val="800"/>
              </a:spcAft>
              <a:buFont typeface="Arial"/>
              <a:buChar char="•"/>
            </a:pPr>
            <a:r>
              <a:rPr sz="1400" b="0" i="0">
                <a:solidFill>
                  <a:srgbClr val="1A1A1A"/>
                </a:solidFill>
                <a:latin typeface="Arial"/>
              </a:rPr>
              <a:t>The built-in </a:t>
            </a:r>
            <a:r>
              <a:rPr sz="1350" b="0" i="0">
                <a:solidFill>
                  <a:srgbClr val="330066"/>
                </a:solidFill>
                <a:latin typeface="Courier New"/>
              </a:rPr>
              <a:t>list</a:t>
            </a:r>
            <a:r>
              <a:rPr sz="1400" b="0" i="0">
                <a:solidFill>
                  <a:srgbClr val="1A1A1A"/>
                </a:solidFill>
                <a:latin typeface="Arial"/>
              </a:rPr>
              <a:t> is not destroyed; your global name is just found first.</a:t>
            </a:r>
          </a:p>
          <a:p>
            <a:pPr marL="228600" indent="-228600" algn="l">
              <a:spcAft>
                <a:spcPts val="800"/>
              </a:spcAft>
              <a:buFont typeface="Arial"/>
              <a:buChar char="•"/>
            </a:pPr>
            <a:r>
              <a:rPr sz="1350" b="0" i="0">
                <a:solidFill>
                  <a:srgbClr val="330066"/>
                </a:solidFill>
                <a:latin typeface="Courier New"/>
              </a:rPr>
              <a:t>del list</a:t>
            </a:r>
            <a:r>
              <a:rPr sz="1400" b="0" i="0">
                <a:solidFill>
                  <a:srgbClr val="1A1A1A"/>
                </a:solidFill>
                <a:latin typeface="Arial"/>
              </a:rPr>
              <a:t> removes the global and lookup falls through to the built-in again.</a:t>
            </a:r>
          </a:p>
        </p:txBody>
      </p:sp>
      <p:sp>
        <p:nvSpPr>
          <p:cNvPr id="14" name="TextBox 13"/>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31 / 46</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Common Accidental Shadowing</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graphicFrame>
        <p:nvGraphicFramePr>
          <p:cNvPr id="4" name="Table 3"/>
          <p:cNvGraphicFramePr>
            <a:graphicFrameLocks noGrp="1"/>
          </p:cNvGraphicFramePr>
          <p:nvPr/>
        </p:nvGraphicFramePr>
        <p:xfrm>
          <a:off x="609904" y="1783080"/>
          <a:ext cx="10971885" cy="2353818"/>
        </p:xfrm>
        <a:graphic>
          <a:graphicData uri="http://schemas.openxmlformats.org/drawingml/2006/table">
            <a:tbl>
              <a:tblPr/>
              <a:tblGrid>
                <a:gridCol w="4388754">
                  <a:extLst>
                    <a:ext uri="{9D8B030D-6E8A-4147-A177-3AD203B41FA5}">
                      <a16:colId xmlns:a16="http://schemas.microsoft.com/office/drawing/2014/main" val="20000"/>
                    </a:ext>
                  </a:extLst>
                </a:gridCol>
                <a:gridCol w="6583131">
                  <a:extLst>
                    <a:ext uri="{9D8B030D-6E8A-4147-A177-3AD203B41FA5}">
                      <a16:colId xmlns:a16="http://schemas.microsoft.com/office/drawing/2014/main" val="20001"/>
                    </a:ext>
                  </a:extLst>
                </a:gridCol>
              </a:tblGrid>
              <a:tr h="384048">
                <a:tc>
                  <a:txBody>
                    <a:bodyPr/>
                    <a:lstStyle/>
                    <a:p>
                      <a:r>
                        <a:rPr sz="1500" b="1">
                          <a:solidFill>
                            <a:srgbClr val="FFFFFF"/>
                          </a:solidFill>
                          <a:latin typeface="Arial"/>
                        </a:rPr>
                        <a:t>Avoid</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500" b="1">
                          <a:solidFill>
                            <a:srgbClr val="FFFFFF"/>
                          </a:solidFill>
                          <a:latin typeface="Arial"/>
                        </a:rPr>
                        <a:t>Prefer</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extLst>
                  <a:ext uri="{0D108BD9-81ED-4DB2-BD59-A6C34878D82A}">
                    <a16:rowId xmlns:a16="http://schemas.microsoft.com/office/drawing/2014/main" val="10000"/>
                  </a:ext>
                </a:extLst>
              </a:tr>
              <a:tr h="393954">
                <a:tc>
                  <a:txBody>
                    <a:bodyPr/>
                    <a:lstStyle/>
                    <a:p>
                      <a:r>
                        <a:rPr sz="1450" b="0" i="0">
                          <a:solidFill>
                            <a:srgbClr val="330066"/>
                          </a:solidFill>
                          <a:latin typeface="Courier New"/>
                        </a:rPr>
                        <a:t>list</a:t>
                      </a:r>
                      <a:r>
                        <a:rPr sz="1500" b="0" i="0">
                          <a:solidFill>
                            <a:srgbClr val="1A1A1A"/>
                          </a:solidFill>
                          <a:latin typeface="Arial"/>
                        </a:rPr>
                        <a:t>, </a:t>
                      </a:r>
                      <a:r>
                        <a:rPr sz="1450" b="0" i="0">
                          <a:solidFill>
                            <a:srgbClr val="330066"/>
                          </a:solidFill>
                          <a:latin typeface="Courier New"/>
                        </a:rPr>
                        <a:t>dict</a:t>
                      </a:r>
                      <a:r>
                        <a:rPr sz="1500" b="0" i="0">
                          <a:solidFill>
                            <a:srgbClr val="1A1A1A"/>
                          </a:solidFill>
                          <a:latin typeface="Arial"/>
                        </a:rPr>
                        <a:t>, </a:t>
                      </a:r>
                      <a:r>
                        <a:rPr sz="1450" b="0" i="0">
                          <a:solidFill>
                            <a:srgbClr val="330066"/>
                          </a:solidFill>
                          <a:latin typeface="Courier New"/>
                        </a:rPr>
                        <a:t>set</a:t>
                      </a:r>
                      <a:r>
                        <a:rPr sz="1500" b="0" i="0">
                          <a:solidFill>
                            <a:srgbClr val="1A1A1A"/>
                          </a:solidFill>
                          <a:latin typeface="Arial"/>
                        </a:rPr>
                        <a:t>, </a:t>
                      </a:r>
                      <a:r>
                        <a:rPr sz="1450" b="0" i="0">
                          <a:solidFill>
                            <a:srgbClr val="330066"/>
                          </a:solidFill>
                          <a:latin typeface="Courier New"/>
                        </a:rPr>
                        <a:t>str</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450" b="0" i="0">
                          <a:solidFill>
                            <a:srgbClr val="330066"/>
                          </a:solidFill>
                          <a:latin typeface="Courier New"/>
                        </a:rPr>
                        <a:t>items</a:t>
                      </a:r>
                      <a:r>
                        <a:rPr sz="1500" b="0" i="0">
                          <a:solidFill>
                            <a:srgbClr val="1A1A1A"/>
                          </a:solidFill>
                          <a:latin typeface="Arial"/>
                        </a:rPr>
                        <a:t>, </a:t>
                      </a:r>
                      <a:r>
                        <a:rPr sz="1450" b="0" i="0">
                          <a:solidFill>
                            <a:srgbClr val="330066"/>
                          </a:solidFill>
                          <a:latin typeface="Courier New"/>
                        </a:rPr>
                        <a:t>mapping</a:t>
                      </a:r>
                      <a:r>
                        <a:rPr sz="1500" b="0" i="0">
                          <a:solidFill>
                            <a:srgbClr val="1A1A1A"/>
                          </a:solidFill>
                          <a:latin typeface="Arial"/>
                        </a:rPr>
                        <a:t>, </a:t>
                      </a:r>
                      <a:r>
                        <a:rPr sz="1450" b="0" i="0">
                          <a:solidFill>
                            <a:srgbClr val="330066"/>
                          </a:solidFill>
                          <a:latin typeface="Courier New"/>
                        </a:rPr>
                        <a:t>unique_ids</a:t>
                      </a:r>
                      <a:r>
                        <a:rPr sz="1500" b="0" i="0">
                          <a:solidFill>
                            <a:srgbClr val="1A1A1A"/>
                          </a:solidFill>
                          <a:latin typeface="Arial"/>
                        </a:rPr>
                        <a:t>, </a:t>
                      </a:r>
                      <a:r>
                        <a:rPr sz="1450" b="0" i="0">
                          <a:solidFill>
                            <a:srgbClr val="330066"/>
                          </a:solidFill>
                          <a:latin typeface="Courier New"/>
                        </a:rPr>
                        <a:t>text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1"/>
                  </a:ext>
                </a:extLst>
              </a:tr>
              <a:tr h="393954">
                <a:tc>
                  <a:txBody>
                    <a:bodyPr/>
                    <a:lstStyle/>
                    <a:p>
                      <a:r>
                        <a:rPr sz="1450" b="0" i="0">
                          <a:solidFill>
                            <a:srgbClr val="330066"/>
                          </a:solidFill>
                          <a:latin typeface="Courier New"/>
                        </a:rPr>
                        <a:t>id</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450" b="0" i="0">
                          <a:solidFill>
                            <a:srgbClr val="330066"/>
                          </a:solidFill>
                          <a:latin typeface="Courier New"/>
                        </a:rPr>
                        <a:t>user_id</a:t>
                      </a:r>
                      <a:r>
                        <a:rPr sz="1500" b="0" i="0">
                          <a:solidFill>
                            <a:srgbClr val="1A1A1A"/>
                          </a:solidFill>
                          <a:latin typeface="Arial"/>
                        </a:rPr>
                        <a:t>, </a:t>
                      </a:r>
                      <a:r>
                        <a:rPr sz="1450" b="0" i="0">
                          <a:solidFill>
                            <a:srgbClr val="330066"/>
                          </a:solidFill>
                          <a:latin typeface="Courier New"/>
                        </a:rPr>
                        <a:t>order_id</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2"/>
                  </a:ext>
                </a:extLst>
              </a:tr>
              <a:tr h="393954">
                <a:tc>
                  <a:txBody>
                    <a:bodyPr/>
                    <a:lstStyle/>
                    <a:p>
                      <a:r>
                        <a:rPr sz="1450" b="0" i="0">
                          <a:solidFill>
                            <a:srgbClr val="330066"/>
                          </a:solidFill>
                          <a:latin typeface="Courier New"/>
                        </a:rPr>
                        <a:t>type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450" b="0" i="0">
                          <a:solidFill>
                            <a:srgbClr val="330066"/>
                          </a:solidFill>
                          <a:latin typeface="Courier New"/>
                        </a:rPr>
                        <a:t>kind</a:t>
                      </a:r>
                      <a:r>
                        <a:rPr sz="1500" b="0" i="0">
                          <a:solidFill>
                            <a:srgbClr val="1A1A1A"/>
                          </a:solidFill>
                          <a:latin typeface="Arial"/>
                        </a:rPr>
                        <a:t>, </a:t>
                      </a:r>
                      <a:r>
                        <a:rPr sz="1450" b="0" i="0">
                          <a:solidFill>
                            <a:srgbClr val="330066"/>
                          </a:solidFill>
                          <a:latin typeface="Courier New"/>
                        </a:rPr>
                        <a:t>test_type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3"/>
                  </a:ext>
                </a:extLst>
              </a:tr>
              <a:tr h="393954">
                <a:tc>
                  <a:txBody>
                    <a:bodyPr/>
                    <a:lstStyle/>
                    <a:p>
                      <a:r>
                        <a:rPr sz="1450" b="0" i="0">
                          <a:solidFill>
                            <a:srgbClr val="330066"/>
                          </a:solidFill>
                          <a:latin typeface="Courier New"/>
                        </a:rPr>
                        <a:t>input</a:t>
                      </a:r>
                      <a:r>
                        <a:rPr sz="1500" b="0" i="0">
                          <a:solidFill>
                            <a:srgbClr val="1A1A1A"/>
                          </a:solidFill>
                          <a:latin typeface="Arial"/>
                        </a:rPr>
                        <a:t>, </a:t>
                      </a:r>
                      <a:r>
                        <a:rPr sz="1450" b="0" i="0">
                          <a:solidFill>
                            <a:srgbClr val="330066"/>
                          </a:solidFill>
                          <a:latin typeface="Courier New"/>
                        </a:rPr>
                        <a:t>max</a:t>
                      </a:r>
                      <a:r>
                        <a:rPr sz="1500" b="0" i="0">
                          <a:solidFill>
                            <a:srgbClr val="1A1A1A"/>
                          </a:solidFill>
                          <a:latin typeface="Arial"/>
                        </a:rPr>
                        <a:t>, </a:t>
                      </a:r>
                      <a:r>
                        <a:rPr sz="1450" b="0" i="0">
                          <a:solidFill>
                            <a:srgbClr val="330066"/>
                          </a:solidFill>
                          <a:latin typeface="Courier New"/>
                        </a:rPr>
                        <a:t>min</a:t>
                      </a:r>
                      <a:r>
                        <a:rPr sz="1500" b="0" i="0">
                          <a:solidFill>
                            <a:srgbClr val="1A1A1A"/>
                          </a:solidFill>
                          <a:latin typeface="Arial"/>
                        </a:rPr>
                        <a:t>, </a:t>
                      </a:r>
                      <a:r>
                        <a:rPr sz="1450" b="0" i="0">
                          <a:solidFill>
                            <a:srgbClr val="330066"/>
                          </a:solidFill>
                          <a:latin typeface="Courier New"/>
                        </a:rPr>
                        <a:t>sum</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450" b="0" i="0">
                          <a:solidFill>
                            <a:srgbClr val="330066"/>
                          </a:solidFill>
                          <a:latin typeface="Courier New"/>
                        </a:rPr>
                        <a:t>raw_input</a:t>
                      </a:r>
                      <a:r>
                        <a:rPr sz="1500" b="0" i="0">
                          <a:solidFill>
                            <a:srgbClr val="1A1A1A"/>
                          </a:solidFill>
                          <a:latin typeface="Arial"/>
                        </a:rPr>
                        <a:t>, </a:t>
                      </a:r>
                      <a:r>
                        <a:rPr sz="1450" b="0" i="0">
                          <a:solidFill>
                            <a:srgbClr val="330066"/>
                          </a:solidFill>
                          <a:latin typeface="Courier New"/>
                        </a:rPr>
                        <a:t>max_value</a:t>
                      </a:r>
                      <a:r>
                        <a:rPr sz="1500" b="0" i="0">
                          <a:solidFill>
                            <a:srgbClr val="1A1A1A"/>
                          </a:solidFill>
                          <a:latin typeface="Arial"/>
                        </a:rPr>
                        <a:t>, </a:t>
                      </a:r>
                      <a:r>
                        <a:rPr sz="1450" b="0" i="0">
                          <a:solidFill>
                            <a:srgbClr val="330066"/>
                          </a:solidFill>
                          <a:latin typeface="Courier New"/>
                        </a:rPr>
                        <a:t>lowest</a:t>
                      </a:r>
                      <a:r>
                        <a:rPr sz="1500" b="0" i="0">
                          <a:solidFill>
                            <a:srgbClr val="1A1A1A"/>
                          </a:solidFill>
                          <a:latin typeface="Arial"/>
                        </a:rPr>
                        <a:t>, </a:t>
                      </a:r>
                      <a:r>
                        <a:rPr sz="1450" b="0" i="0">
                          <a:solidFill>
                            <a:srgbClr val="330066"/>
                          </a:solidFill>
                          <a:latin typeface="Courier New"/>
                        </a:rPr>
                        <a:t>total</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4"/>
                  </a:ext>
                </a:extLst>
              </a:tr>
              <a:tr h="393954">
                <a:tc>
                  <a:txBody>
                    <a:bodyPr/>
                    <a:lstStyle/>
                    <a:p>
                      <a:r>
                        <a:rPr sz="1450" b="0" i="0">
                          <a:solidFill>
                            <a:srgbClr val="330066"/>
                          </a:solidFill>
                          <a:latin typeface="Courier New"/>
                        </a:rPr>
                        <a:t>file</a:t>
                      </a:r>
                      <a:r>
                        <a:rPr sz="1500" b="0" i="0">
                          <a:solidFill>
                            <a:srgbClr val="1A1A1A"/>
                          </a:solidFill>
                          <a:latin typeface="Arial"/>
                        </a:rPr>
                        <a:t> / </a:t>
                      </a:r>
                      <a:r>
                        <a:rPr sz="1450" b="0" i="0">
                          <a:solidFill>
                            <a:srgbClr val="330066"/>
                          </a:solidFill>
                          <a:latin typeface="Courier New"/>
                        </a:rPr>
                        <a:t>open</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450" b="0" i="0">
                          <a:solidFill>
                            <a:srgbClr val="330066"/>
                          </a:solidFill>
                          <a:latin typeface="Courier New"/>
                        </a:rPr>
                        <a:t>file_path</a:t>
                      </a:r>
                      <a:r>
                        <a:rPr sz="1500" b="0" i="0">
                          <a:solidFill>
                            <a:srgbClr val="1A1A1A"/>
                          </a:solidFill>
                          <a:latin typeface="Arial"/>
                        </a:rPr>
                        <a:t>, </a:t>
                      </a:r>
                      <a:r>
                        <a:rPr sz="1450" b="0" i="0">
                          <a:solidFill>
                            <a:srgbClr val="330066"/>
                          </a:solidFill>
                          <a:latin typeface="Courier New"/>
                        </a:rPr>
                        <a:t>fh</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5"/>
                  </a:ext>
                </a:extLst>
              </a:tr>
            </a:tbl>
          </a:graphicData>
        </a:graphic>
      </p:graphicFrame>
      <p:sp>
        <p:nvSpPr>
          <p:cNvPr id="5" name="Rounded Rectangle 4"/>
          <p:cNvSpPr/>
          <p:nvPr/>
        </p:nvSpPr>
        <p:spPr>
          <a:xfrm>
            <a:off x="609904" y="5321807"/>
            <a:ext cx="10971885" cy="777240"/>
          </a:xfrm>
          <a:prstGeom prst="roundRect">
            <a:avLst>
              <a:gd name="adj" fmla="val 10588"/>
            </a:avLst>
          </a:prstGeom>
          <a:solidFill>
            <a:srgbClr val="F5F5C2"/>
          </a:solidFill>
          <a:ln w="12700">
            <a:solidFill>
              <a:srgbClr val="F5F5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38504" y="5458968"/>
            <a:ext cx="10514685" cy="502920"/>
          </a:xfrm>
          <a:prstGeom prst="rect">
            <a:avLst/>
          </a:prstGeom>
          <a:noFill/>
        </p:spPr>
        <p:txBody>
          <a:bodyPr wrap="square" lIns="0" tIns="0" rIns="0" bIns="0" anchor="t">
            <a:spAutoFit/>
          </a:bodyPr>
          <a:lstStyle/>
          <a:p>
            <a:pPr algn="l">
              <a:lnSpc>
                <a:spcPct val="110000"/>
              </a:lnSpc>
              <a:spcAft>
                <a:spcPts val="300"/>
              </a:spcAft>
            </a:pPr>
            <a:r>
              <a:rPr sz="1100" b="1" i="0">
                <a:solidFill>
                  <a:srgbClr val="5C8A8A"/>
                </a:solidFill>
                <a:latin typeface="Arial"/>
              </a:rPr>
              <a:t>HABIT</a:t>
            </a:r>
          </a:p>
          <a:p>
            <a:pPr algn="l">
              <a:lnSpc>
                <a:spcPct val="110000"/>
              </a:lnSpc>
              <a:spcAft>
                <a:spcPts val="600"/>
              </a:spcAft>
            </a:pPr>
            <a:r>
              <a:rPr sz="1400" b="0" i="0">
                <a:solidFill>
                  <a:srgbClr val="1A1A1A"/>
                </a:solidFill>
                <a:latin typeface="Arial"/>
              </a:rPr>
              <a:t>A good linter warns about this (used later in the programme). For now, make it a habit to choose descriptive names.</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32 / 46</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Inspecting Namespaces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sp>
        <p:nvSpPr>
          <p:cNvPr id="4" name="TextBox 3"/>
          <p:cNvSpPr txBox="1"/>
          <p:nvPr/>
        </p:nvSpPr>
        <p:spPr>
          <a:xfrm>
            <a:off x="609904" y="1783080"/>
            <a:ext cx="585216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A great debugging trick</a:t>
            </a:r>
          </a:p>
        </p:txBody>
      </p:sp>
      <p:sp>
        <p:nvSpPr>
          <p:cNvPr id="5" name="Rounded Rectangle 4"/>
          <p:cNvSpPr/>
          <p:nvPr/>
        </p:nvSpPr>
        <p:spPr>
          <a:xfrm>
            <a:off x="609904" y="2057400"/>
            <a:ext cx="5852160" cy="1511808"/>
          </a:xfrm>
          <a:prstGeom prst="roundRect">
            <a:avLst>
              <a:gd name="adj" fmla="val 4838"/>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03704"/>
            <a:ext cx="5449824" cy="1219200"/>
          </a:xfrm>
          <a:prstGeom prst="rect">
            <a:avLst/>
          </a:prstGeom>
          <a:noFill/>
        </p:spPr>
        <p:txBody>
          <a:bodyPr wrap="square" lIns="0" tIns="0" rIns="0" bIns="0">
            <a:spAutoFit/>
          </a:bodyPr>
          <a:lstStyle/>
          <a:p>
            <a:pPr algn="l">
              <a:lnSpc>
                <a:spcPct val="100000"/>
              </a:lnSpc>
            </a:pPr>
            <a:r>
              <a:rPr sz="1000">
                <a:solidFill>
                  <a:srgbClr val="1A1A1A"/>
                </a:solidFill>
                <a:latin typeface="Courier New"/>
              </a:rPr>
              <a:t>def show_locals():</a:t>
            </a:r>
          </a:p>
          <a:p>
            <a:pPr algn="l">
              <a:lnSpc>
                <a:spcPct val="100000"/>
              </a:lnSpc>
            </a:pPr>
            <a:r>
              <a:rPr sz="1000">
                <a:solidFill>
                  <a:srgbClr val="1A1A1A"/>
                </a:solidFill>
                <a:latin typeface="Courier New"/>
              </a:rPr>
              <a:t>    a = 1</a:t>
            </a:r>
          </a:p>
          <a:p>
            <a:pPr algn="l">
              <a:lnSpc>
                <a:spcPct val="100000"/>
              </a:lnSpc>
            </a:pPr>
            <a:r>
              <a:rPr sz="1000">
                <a:solidFill>
                  <a:srgbClr val="1A1A1A"/>
                </a:solidFill>
                <a:latin typeface="Courier New"/>
              </a:rPr>
              <a:t>    b = 2</a:t>
            </a:r>
          </a:p>
          <a:p>
            <a:pPr algn="l">
              <a:lnSpc>
                <a:spcPct val="100000"/>
              </a:lnSpc>
            </a:pPr>
            <a:r>
              <a:rPr sz="1000">
                <a:solidFill>
                  <a:srgbClr val="1A1A1A"/>
                </a:solidFill>
                <a:latin typeface="Courier New"/>
              </a:rPr>
              <a:t>    return locals()</a:t>
            </a:r>
          </a:p>
          <a:p>
            <a:pPr algn="l">
              <a:lnSpc>
                <a:spcPct val="100000"/>
              </a:lnSpc>
            </a:pPr>
            <a:r>
              <a:rPr sz="1000">
                <a:solidFill>
                  <a:srgbClr val="1A1A1A"/>
                </a:solidFill>
                <a:latin typeface="Courier New"/>
              </a:rPr>
              <a:t> </a:t>
            </a:r>
          </a:p>
          <a:p>
            <a:pPr algn="l">
              <a:lnSpc>
                <a:spcPct val="100000"/>
              </a:lnSpc>
            </a:pPr>
            <a:r>
              <a:rPr sz="1000">
                <a:solidFill>
                  <a:srgbClr val="1A1A1A"/>
                </a:solidFill>
                <a:latin typeface="Courier New"/>
              </a:rPr>
              <a:t>print(show_locals())               # {'a': 1, 'b': 2}</a:t>
            </a:r>
          </a:p>
          <a:p>
            <a:pPr algn="l">
              <a:lnSpc>
                <a:spcPct val="100000"/>
              </a:lnSpc>
            </a:pPr>
            <a:r>
              <a:rPr sz="1000">
                <a:solidFill>
                  <a:srgbClr val="1A1A1A"/>
                </a:solidFill>
                <a:latin typeface="Courier New"/>
              </a:rPr>
              <a:t>print(__name__)                    # __main__  (when run as a script)</a:t>
            </a:r>
          </a:p>
          <a:p>
            <a:pPr algn="l">
              <a:lnSpc>
                <a:spcPct val="100000"/>
              </a:lnSpc>
            </a:pPr>
            <a:r>
              <a:rPr sz="1000">
                <a:solidFill>
                  <a:srgbClr val="1A1A1A"/>
                </a:solidFill>
                <a:latin typeface="Courier New"/>
              </a:rPr>
              <a:t>print("show_locals" in globals())  # True</a:t>
            </a:r>
          </a:p>
        </p:txBody>
      </p:sp>
      <p:sp>
        <p:nvSpPr>
          <p:cNvPr id="7" name="TextBox 6"/>
          <p:cNvSpPr txBox="1"/>
          <p:nvPr/>
        </p:nvSpPr>
        <p:spPr>
          <a:xfrm>
            <a:off x="6827824" y="1783080"/>
            <a:ext cx="4753965" cy="4361688"/>
          </a:xfrm>
          <a:prstGeom prst="rect">
            <a:avLst/>
          </a:prstGeom>
          <a:noFill/>
        </p:spPr>
        <p:txBody>
          <a:bodyPr wrap="square" lIns="0" tIns="0" rIns="0" bIns="0">
            <a:spAutoFit/>
          </a:bodyPr>
          <a:lstStyle/>
          <a:p>
            <a:pPr marL="228600" indent="-228600" algn="l">
              <a:spcAft>
                <a:spcPts val="800"/>
              </a:spcAft>
              <a:buFont typeface="Arial"/>
              <a:buChar char="•"/>
            </a:pPr>
            <a:r>
              <a:rPr sz="1450" b="0" i="0">
                <a:solidFill>
                  <a:srgbClr val="1A1A1A"/>
                </a:solidFill>
                <a:latin typeface="Arial"/>
              </a:rPr>
              <a:t>Namespaces are real objects, so you can look at them.</a:t>
            </a:r>
          </a:p>
          <a:p>
            <a:pPr marL="228600" indent="-228600" algn="l">
              <a:spcAft>
                <a:spcPts val="800"/>
              </a:spcAft>
              <a:buFont typeface="Arial"/>
              <a:buChar char="•"/>
            </a:pPr>
            <a:r>
              <a:rPr sz="1450" b="0" i="0">
                <a:solidFill>
                  <a:srgbClr val="1A1A1A"/>
                </a:solidFill>
                <a:latin typeface="Arial"/>
              </a:rPr>
              <a:t>Inside the function, </a:t>
            </a:r>
            <a:r>
              <a:rPr sz="1400" b="0" i="0">
                <a:solidFill>
                  <a:srgbClr val="330066"/>
                </a:solidFill>
                <a:latin typeface="Courier New"/>
              </a:rPr>
              <a:t>locals()</a:t>
            </a:r>
            <a:r>
              <a:rPr sz="1450" b="0" i="0">
                <a:solidFill>
                  <a:srgbClr val="1A1A1A"/>
                </a:solidFill>
                <a:latin typeface="Arial"/>
              </a:rPr>
              <a:t> shows its local variables.</a:t>
            </a:r>
          </a:p>
          <a:p>
            <a:pPr marL="228600" indent="-228600" algn="l">
              <a:spcAft>
                <a:spcPts val="800"/>
              </a:spcAft>
              <a:buFont typeface="Arial"/>
              <a:buChar char="•"/>
            </a:pPr>
            <a:r>
              <a:rPr sz="1400" b="0" i="0">
                <a:solidFill>
                  <a:srgbClr val="330066"/>
                </a:solidFill>
                <a:latin typeface="Courier New"/>
              </a:rPr>
              <a:t>__name__</a:t>
            </a:r>
            <a:r>
              <a:rPr sz="1450" b="0" i="0">
                <a:solidFill>
                  <a:srgbClr val="1A1A1A"/>
                </a:solidFill>
                <a:latin typeface="Arial"/>
              </a:rPr>
              <a:t> is </a:t>
            </a:r>
            <a:r>
              <a:rPr sz="1400" b="0" i="0">
                <a:solidFill>
                  <a:srgbClr val="330066"/>
                </a:solidFill>
                <a:latin typeface="Courier New"/>
              </a:rPr>
              <a:t>__main__</a:t>
            </a:r>
            <a:r>
              <a:rPr sz="1450" b="0" i="0">
                <a:solidFill>
                  <a:srgbClr val="1A1A1A"/>
                </a:solidFill>
                <a:latin typeface="Arial"/>
              </a:rPr>
              <a:t> when run as a script.</a:t>
            </a:r>
          </a:p>
        </p:txBody>
      </p:sp>
      <p:sp>
        <p:nvSpPr>
          <p:cNvPr id="8" name="TextBox 7"/>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33 / 46</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globals, locals, dir, vars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graphicFrame>
        <p:nvGraphicFramePr>
          <p:cNvPr id="4" name="Table 3"/>
          <p:cNvGraphicFramePr>
            <a:graphicFrameLocks noGrp="1"/>
          </p:cNvGraphicFramePr>
          <p:nvPr/>
        </p:nvGraphicFramePr>
        <p:xfrm>
          <a:off x="609904" y="1783080"/>
          <a:ext cx="10971885" cy="2455164"/>
        </p:xfrm>
        <a:graphic>
          <a:graphicData uri="http://schemas.openxmlformats.org/drawingml/2006/table">
            <a:tbl>
              <a:tblPr/>
              <a:tblGrid>
                <a:gridCol w="2194377">
                  <a:extLst>
                    <a:ext uri="{9D8B030D-6E8A-4147-A177-3AD203B41FA5}">
                      <a16:colId xmlns:a16="http://schemas.microsoft.com/office/drawing/2014/main" val="20000"/>
                    </a:ext>
                  </a:extLst>
                </a:gridCol>
                <a:gridCol w="8777508">
                  <a:extLst>
                    <a:ext uri="{9D8B030D-6E8A-4147-A177-3AD203B41FA5}">
                      <a16:colId xmlns:a16="http://schemas.microsoft.com/office/drawing/2014/main" val="20001"/>
                    </a:ext>
                  </a:extLst>
                </a:gridCol>
              </a:tblGrid>
              <a:tr h="384048">
                <a:tc>
                  <a:txBody>
                    <a:bodyPr/>
                    <a:lstStyle/>
                    <a:p>
                      <a:r>
                        <a:rPr sz="1500" b="1">
                          <a:solidFill>
                            <a:srgbClr val="FFFFFF"/>
                          </a:solidFill>
                          <a:latin typeface="Arial"/>
                        </a:rPr>
                        <a:t>Function</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500" b="1">
                          <a:solidFill>
                            <a:srgbClr val="FFFFFF"/>
                          </a:solidFill>
                          <a:latin typeface="Arial"/>
                        </a:rPr>
                        <a:t>What it returns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extLst>
                  <a:ext uri="{0D108BD9-81ED-4DB2-BD59-A6C34878D82A}">
                    <a16:rowId xmlns:a16="http://schemas.microsoft.com/office/drawing/2014/main" val="10000"/>
                  </a:ext>
                </a:extLst>
              </a:tr>
              <a:tr h="393954">
                <a:tc>
                  <a:txBody>
                    <a:bodyPr/>
                    <a:lstStyle/>
                    <a:p>
                      <a:r>
                        <a:rPr sz="1450" b="1">
                          <a:solidFill>
                            <a:srgbClr val="330066"/>
                          </a:solidFill>
                          <a:latin typeface="Courier New"/>
                        </a:rPr>
                        <a:t>globals()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500" b="0">
                          <a:solidFill>
                            <a:srgbClr val="1A1A1A"/>
                          </a:solidFill>
                          <a:latin typeface="Arial"/>
                        </a:rPr>
                        <a:t>A dictionary of the current module's global namespace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1"/>
                  </a:ext>
                </a:extLst>
              </a:tr>
              <a:tr h="641604">
                <a:tc>
                  <a:txBody>
                    <a:bodyPr/>
                    <a:lstStyle/>
                    <a:p>
                      <a:r>
                        <a:rPr sz="1450" b="1">
                          <a:solidFill>
                            <a:srgbClr val="330066"/>
                          </a:solidFill>
                          <a:latin typeface="Courier New"/>
                        </a:rPr>
                        <a:t>locals()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500" b="0">
                          <a:solidFill>
                            <a:srgbClr val="1A1A1A"/>
                          </a:solidFill>
                          <a:latin typeface="Arial"/>
                        </a:rPr>
                        <a:t>A dictionary of the current local namespace (inside a function: its local variables)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2"/>
                  </a:ext>
                </a:extLst>
              </a:tr>
              <a:tr h="641604">
                <a:tc>
                  <a:txBody>
                    <a:bodyPr/>
                    <a:lstStyle/>
                    <a:p>
                      <a:r>
                        <a:rPr sz="1450" b="1">
                          <a:solidFill>
                            <a:srgbClr val="330066"/>
                          </a:solidFill>
                          <a:latin typeface="Courier New"/>
                        </a:rPr>
                        <a:t>dir(obj)</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500" b="0">
                          <a:solidFill>
                            <a:srgbClr val="1A1A1A"/>
                          </a:solidFill>
                          <a:latin typeface="Arial"/>
                        </a:rPr>
                        <a:t>A sorted list of names available on an object; with no argument, the names in the current scope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3"/>
                  </a:ext>
                </a:extLst>
              </a:tr>
              <a:tr h="393954">
                <a:tc>
                  <a:txBody>
                    <a:bodyPr/>
                    <a:lstStyle/>
                    <a:p>
                      <a:r>
                        <a:rPr sz="1450" b="1">
                          <a:solidFill>
                            <a:srgbClr val="330066"/>
                          </a:solidFill>
                          <a:latin typeface="Courier New"/>
                        </a:rPr>
                        <a:t>vars(obj)</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500" b="0" i="0">
                          <a:solidFill>
                            <a:srgbClr val="1A1A1A"/>
                          </a:solidFill>
                          <a:latin typeface="Arial"/>
                        </a:rPr>
                        <a:t>The </a:t>
                      </a:r>
                      <a:r>
                        <a:rPr sz="1450" b="0" i="0">
                          <a:solidFill>
                            <a:srgbClr val="330066"/>
                          </a:solidFill>
                          <a:latin typeface="Courier New"/>
                        </a:rPr>
                        <a:t>__dict__</a:t>
                      </a:r>
                      <a:r>
                        <a:rPr sz="1500" b="0" i="0">
                          <a:solidFill>
                            <a:srgbClr val="1A1A1A"/>
                          </a:solidFill>
                          <a:latin typeface="Arial"/>
                        </a:rPr>
                        <a:t> (attribute dictionary) of an object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4"/>
                  </a:ext>
                </a:extLst>
              </a:tr>
            </a:tbl>
          </a:graphicData>
        </a:graphic>
      </p:graphicFrame>
      <p:sp>
        <p:nvSpPr>
          <p:cNvPr id="5" name="Rounded Rectangle 4"/>
          <p:cNvSpPr/>
          <p:nvPr/>
        </p:nvSpPr>
        <p:spPr>
          <a:xfrm>
            <a:off x="609904" y="5138927"/>
            <a:ext cx="10971885" cy="914400"/>
          </a:xfrm>
          <a:prstGeom prst="roundRect">
            <a:avLst>
              <a:gd name="adj" fmla="val 9000"/>
            </a:avLst>
          </a:prstGeom>
          <a:solidFill>
            <a:srgbClr val="FBEDEB"/>
          </a:solidFill>
          <a:ln w="12700">
            <a:solidFill>
              <a:srgbClr val="FBED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38504" y="5276088"/>
            <a:ext cx="10514685" cy="640080"/>
          </a:xfrm>
          <a:prstGeom prst="rect">
            <a:avLst/>
          </a:prstGeom>
          <a:noFill/>
        </p:spPr>
        <p:txBody>
          <a:bodyPr wrap="square" lIns="0" tIns="0" rIns="0" bIns="0" anchor="t">
            <a:spAutoFit/>
          </a:bodyPr>
          <a:lstStyle/>
          <a:p>
            <a:pPr algn="l">
              <a:lnSpc>
                <a:spcPct val="110000"/>
              </a:lnSpc>
              <a:spcAft>
                <a:spcPts val="300"/>
              </a:spcAft>
            </a:pPr>
            <a:r>
              <a:rPr sz="1100" b="1" i="0">
                <a:solidFill>
                  <a:srgbClr val="5C8A8A"/>
                </a:solidFill>
                <a:latin typeface="Arial"/>
              </a:rPr>
              <a:t>READ ONLY</a:t>
            </a:r>
          </a:p>
          <a:p>
            <a:pPr algn="l">
              <a:lnSpc>
                <a:spcPct val="110000"/>
              </a:lnSpc>
              <a:spcAft>
                <a:spcPts val="600"/>
              </a:spcAft>
            </a:pPr>
            <a:r>
              <a:rPr sz="1400" b="0" i="0">
                <a:solidFill>
                  <a:srgbClr val="1A1A1A"/>
                </a:solidFill>
                <a:latin typeface="Arial"/>
              </a:rPr>
              <a:t>Use </a:t>
            </a:r>
            <a:r>
              <a:rPr sz="1350" b="0" i="0">
                <a:solidFill>
                  <a:srgbClr val="330066"/>
                </a:solidFill>
                <a:latin typeface="Courier New"/>
              </a:rPr>
              <a:t>locals()</a:t>
            </a:r>
            <a:r>
              <a:rPr sz="1400" b="0" i="0">
                <a:solidFill>
                  <a:srgbClr val="1A1A1A"/>
                </a:solidFill>
                <a:latin typeface="Arial"/>
              </a:rPr>
              <a:t> for reading while debugging. Do not assign into the dictionary it returns inside a function: that does not change the real variables.</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34 / 46</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Loop Variables Leak</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sp>
        <p:nvSpPr>
          <p:cNvPr id="4" name="TextBox 3"/>
          <p:cNvSpPr txBox="1"/>
          <p:nvPr/>
        </p:nvSpPr>
        <p:spPr>
          <a:xfrm>
            <a:off x="609904" y="1783080"/>
            <a:ext cx="566928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Loops do not create a new scope</a:t>
            </a:r>
          </a:p>
        </p:txBody>
      </p:sp>
      <p:sp>
        <p:nvSpPr>
          <p:cNvPr id="5" name="Rounded Rectangle 4"/>
          <p:cNvSpPr/>
          <p:nvPr/>
        </p:nvSpPr>
        <p:spPr>
          <a:xfrm>
            <a:off x="609904" y="2057400"/>
            <a:ext cx="5669280" cy="886968"/>
          </a:xfrm>
          <a:prstGeom prst="roundRect">
            <a:avLst>
              <a:gd name="adj" fmla="val 8247"/>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03704"/>
            <a:ext cx="5266944" cy="594359"/>
          </a:xfrm>
          <a:prstGeom prst="rect">
            <a:avLst/>
          </a:prstGeom>
          <a:noFill/>
        </p:spPr>
        <p:txBody>
          <a:bodyPr wrap="square" lIns="0" tIns="0" rIns="0" bIns="0">
            <a:spAutoFit/>
          </a:bodyPr>
          <a:lstStyle/>
          <a:p>
            <a:pPr algn="l">
              <a:lnSpc>
                <a:spcPct val="100000"/>
              </a:lnSpc>
            </a:pPr>
            <a:r>
              <a:rPr sz="1300">
                <a:solidFill>
                  <a:srgbClr val="1A1A1A"/>
                </a:solidFill>
                <a:latin typeface="Courier New"/>
              </a:rPr>
              <a:t>for k in range(3):</a:t>
            </a:r>
          </a:p>
          <a:p>
            <a:pPr algn="l">
              <a:lnSpc>
                <a:spcPct val="100000"/>
              </a:lnSpc>
            </a:pPr>
            <a:r>
              <a:rPr sz="1300">
                <a:solidFill>
                  <a:srgbClr val="1A1A1A"/>
                </a:solidFill>
                <a:latin typeface="Courier New"/>
              </a:rPr>
              <a:t>    pass</a:t>
            </a:r>
          </a:p>
          <a:p>
            <a:pPr algn="l">
              <a:lnSpc>
                <a:spcPct val="100000"/>
              </a:lnSpc>
            </a:pPr>
            <a:r>
              <a:rPr sz="1300">
                <a:solidFill>
                  <a:srgbClr val="1A1A1A"/>
                </a:solidFill>
                <a:latin typeface="Courier New"/>
              </a:rPr>
              <a:t>print(k)       # 2  (the last value is still there)</a:t>
            </a:r>
          </a:p>
        </p:txBody>
      </p:sp>
      <p:sp>
        <p:nvSpPr>
          <p:cNvPr id="7" name="TextBox 6"/>
          <p:cNvSpPr txBox="1"/>
          <p:nvPr/>
        </p:nvSpPr>
        <p:spPr>
          <a:xfrm>
            <a:off x="609904" y="3127248"/>
            <a:ext cx="566928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Comprehensions do</a:t>
            </a:r>
          </a:p>
        </p:txBody>
      </p:sp>
      <p:sp>
        <p:nvSpPr>
          <p:cNvPr id="8" name="Rounded Rectangle 7"/>
          <p:cNvSpPr/>
          <p:nvPr/>
        </p:nvSpPr>
        <p:spPr>
          <a:xfrm>
            <a:off x="609904" y="3401568"/>
            <a:ext cx="5669280" cy="841247"/>
          </a:xfrm>
          <a:prstGeom prst="roundRect">
            <a:avLst>
              <a:gd name="adj" fmla="val 8695"/>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1072" y="3547872"/>
            <a:ext cx="5266944" cy="548639"/>
          </a:xfrm>
          <a:prstGeom prst="rect">
            <a:avLst/>
          </a:prstGeom>
          <a:noFill/>
        </p:spPr>
        <p:txBody>
          <a:bodyPr wrap="square" lIns="0" tIns="0" rIns="0" bIns="0">
            <a:spAutoFit/>
          </a:bodyPr>
          <a:lstStyle/>
          <a:p>
            <a:pPr algn="l">
              <a:lnSpc>
                <a:spcPct val="100000"/>
              </a:lnSpc>
            </a:pPr>
            <a:r>
              <a:rPr sz="1200">
                <a:solidFill>
                  <a:srgbClr val="1A1A1A"/>
                </a:solidFill>
                <a:latin typeface="Courier New"/>
              </a:rPr>
              <a:t>squares = [n * n for n in range(3)]</a:t>
            </a:r>
          </a:p>
          <a:p>
            <a:pPr algn="l">
              <a:lnSpc>
                <a:spcPct val="100000"/>
              </a:lnSpc>
            </a:pPr>
            <a:r>
              <a:rPr sz="1200">
                <a:solidFill>
                  <a:srgbClr val="1A1A1A"/>
                </a:solidFill>
                <a:latin typeface="Courier New"/>
              </a:rPr>
              <a:t>print(squares)       # [0, 1, 4]</a:t>
            </a:r>
          </a:p>
          <a:p>
            <a:pPr algn="l">
              <a:lnSpc>
                <a:spcPct val="100000"/>
              </a:lnSpc>
            </a:pPr>
            <a:r>
              <a:rPr sz="1200">
                <a:solidFill>
                  <a:srgbClr val="1A1A1A"/>
                </a:solidFill>
                <a:latin typeface="Courier New"/>
              </a:rPr>
              <a:t>print(n)             # NameError: name 'n' is not defined</a:t>
            </a:r>
          </a:p>
        </p:txBody>
      </p:sp>
      <p:sp>
        <p:nvSpPr>
          <p:cNvPr id="10" name="TextBox 9"/>
          <p:cNvSpPr txBox="1"/>
          <p:nvPr/>
        </p:nvSpPr>
        <p:spPr>
          <a:xfrm>
            <a:off x="6644944" y="1783080"/>
            <a:ext cx="4936845" cy="4361688"/>
          </a:xfrm>
          <a:prstGeom prst="rect">
            <a:avLst/>
          </a:prstGeom>
          <a:noFill/>
        </p:spPr>
        <p:txBody>
          <a:bodyPr wrap="square" lIns="0" tIns="0" rIns="0" bIns="0">
            <a:spAutoFit/>
          </a:bodyPr>
          <a:lstStyle/>
          <a:p>
            <a:pPr marL="228600" indent="-228600" algn="l">
              <a:spcAft>
                <a:spcPts val="800"/>
              </a:spcAft>
              <a:buFont typeface="Arial"/>
              <a:buChar char="•"/>
            </a:pPr>
            <a:r>
              <a:rPr sz="1400" b="0" i="0">
                <a:solidFill>
                  <a:srgbClr val="1A1A1A"/>
                </a:solidFill>
                <a:latin typeface="Arial"/>
              </a:rPr>
              <a:t>A </a:t>
            </a:r>
            <a:r>
              <a:rPr sz="1350" b="0" i="0">
                <a:solidFill>
                  <a:srgbClr val="330066"/>
                </a:solidFill>
                <a:latin typeface="Courier New"/>
              </a:rPr>
              <a:t>for</a:t>
            </a:r>
            <a:r>
              <a:rPr sz="1400" b="0" i="0">
                <a:solidFill>
                  <a:srgbClr val="1A1A1A"/>
                </a:solidFill>
                <a:latin typeface="Arial"/>
              </a:rPr>
              <a:t> variable is an ordinary variable of the surrounding function or module and survives the loop.</a:t>
            </a:r>
          </a:p>
          <a:p>
            <a:pPr marL="228600" indent="-228600" algn="l">
              <a:spcAft>
                <a:spcPts val="800"/>
              </a:spcAft>
              <a:buFont typeface="Arial"/>
              <a:buChar char="•"/>
            </a:pPr>
            <a:r>
              <a:rPr sz="1400" b="0" i="0">
                <a:solidFill>
                  <a:srgbClr val="1A1A1A"/>
                </a:solidFill>
                <a:latin typeface="Arial"/>
              </a:rPr>
              <a:t>If the loop body never runs (empty list), the variable never exists and a later use raises </a:t>
            </a:r>
            <a:r>
              <a:rPr sz="1350" b="0" i="0">
                <a:solidFill>
                  <a:srgbClr val="330066"/>
                </a:solidFill>
                <a:latin typeface="Courier New"/>
              </a:rPr>
              <a:t>NameError</a:t>
            </a:r>
            <a:r>
              <a:rPr sz="1400" b="0" i="0">
                <a:solidFill>
                  <a:srgbClr val="1A1A1A"/>
                </a:solidFill>
                <a:latin typeface="Arial"/>
              </a:rPr>
              <a:t>.</a:t>
            </a:r>
          </a:p>
          <a:p>
            <a:pPr marL="228600" indent="-228600" algn="l">
              <a:spcAft>
                <a:spcPts val="800"/>
              </a:spcAft>
              <a:buFont typeface="Arial"/>
              <a:buChar char="•"/>
            </a:pPr>
            <a:r>
              <a:rPr sz="1400" b="0" i="0">
                <a:solidFill>
                  <a:srgbClr val="1A1A1A"/>
                </a:solidFill>
                <a:latin typeface="Arial"/>
              </a:rPr>
              <a:t>A comprehension's loop variable does not leak.</a:t>
            </a:r>
          </a:p>
        </p:txBody>
      </p:sp>
      <p:sp>
        <p:nvSpPr>
          <p:cNvPr id="11" name="TextBox 10"/>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35 / 46</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except ... as e</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sp>
        <p:nvSpPr>
          <p:cNvPr id="4" name="TextBox 3"/>
          <p:cNvSpPr txBox="1"/>
          <p:nvPr/>
        </p:nvSpPr>
        <p:spPr>
          <a:xfrm>
            <a:off x="609904" y="1783080"/>
            <a:ext cx="640080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Copy the exception if you need it later</a:t>
            </a:r>
          </a:p>
        </p:txBody>
      </p:sp>
      <p:sp>
        <p:nvSpPr>
          <p:cNvPr id="5" name="Rounded Rectangle 4"/>
          <p:cNvSpPr/>
          <p:nvPr/>
        </p:nvSpPr>
        <p:spPr>
          <a:xfrm>
            <a:off x="609904" y="2057400"/>
            <a:ext cx="6400800" cy="1298448"/>
          </a:xfrm>
          <a:prstGeom prst="roundRect">
            <a:avLst>
              <a:gd name="adj" fmla="val 5633"/>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03704"/>
            <a:ext cx="5998464" cy="1005840"/>
          </a:xfrm>
          <a:prstGeom prst="rect">
            <a:avLst/>
          </a:prstGeom>
          <a:noFill/>
        </p:spPr>
        <p:txBody>
          <a:bodyPr wrap="square" lIns="0" tIns="0" rIns="0" bIns="0">
            <a:spAutoFit/>
          </a:bodyPr>
          <a:lstStyle/>
          <a:p>
            <a:pPr algn="l">
              <a:lnSpc>
                <a:spcPct val="100000"/>
              </a:lnSpc>
            </a:pPr>
            <a:r>
              <a:rPr sz="1100">
                <a:solidFill>
                  <a:srgbClr val="1A1A1A"/>
                </a:solidFill>
                <a:latin typeface="Courier New"/>
              </a:rPr>
              <a:t>try:</a:t>
            </a:r>
          </a:p>
          <a:p>
            <a:pPr algn="l">
              <a:lnSpc>
                <a:spcPct val="100000"/>
              </a:lnSpc>
            </a:pPr>
            <a:r>
              <a:rPr sz="1100">
                <a:solidFill>
                  <a:srgbClr val="1A1A1A"/>
                </a:solidFill>
                <a:latin typeface="Courier New"/>
              </a:rPr>
              <a:t>    int("abc")</a:t>
            </a:r>
          </a:p>
          <a:p>
            <a:pPr algn="l">
              <a:lnSpc>
                <a:spcPct val="100000"/>
              </a:lnSpc>
            </a:pPr>
            <a:r>
              <a:rPr sz="1100">
                <a:solidFill>
                  <a:srgbClr val="1A1A1A"/>
                </a:solidFill>
                <a:latin typeface="Courier New"/>
              </a:rPr>
              <a:t>except ValueError as e:</a:t>
            </a:r>
          </a:p>
          <a:p>
            <a:pPr algn="l">
              <a:lnSpc>
                <a:spcPct val="100000"/>
              </a:lnSpc>
            </a:pPr>
            <a:r>
              <a:rPr sz="1100">
                <a:solidFill>
                  <a:srgbClr val="1A1A1A"/>
                </a:solidFill>
                <a:latin typeface="Courier New"/>
              </a:rPr>
              <a:t>    saved = e          # keep it</a:t>
            </a:r>
          </a:p>
          <a:p>
            <a:pPr algn="l">
              <a:lnSpc>
                <a:spcPct val="100000"/>
              </a:lnSpc>
            </a:pPr>
            <a:r>
              <a:rPr sz="1100">
                <a:solidFill>
                  <a:srgbClr val="1A1A1A"/>
                </a:solidFill>
                <a:latin typeface="Courier New"/>
              </a:rPr>
              <a:t>print(saved)           # invalid literal for int() with base 10: 'abc'</a:t>
            </a:r>
          </a:p>
          <a:p>
            <a:pPr algn="l">
              <a:lnSpc>
                <a:spcPct val="100000"/>
              </a:lnSpc>
            </a:pPr>
            <a:r>
              <a:rPr sz="1100">
                <a:solidFill>
                  <a:srgbClr val="5C8A8A"/>
                </a:solidFill>
                <a:latin typeface="Courier New"/>
              </a:rPr>
              <a:t># print(e)             # would raise NameError</a:t>
            </a:r>
          </a:p>
        </p:txBody>
      </p:sp>
      <p:sp>
        <p:nvSpPr>
          <p:cNvPr id="7" name="TextBox 6"/>
          <p:cNvSpPr txBox="1"/>
          <p:nvPr/>
        </p:nvSpPr>
        <p:spPr>
          <a:xfrm>
            <a:off x="7376464" y="1783080"/>
            <a:ext cx="4205325" cy="4361688"/>
          </a:xfrm>
          <a:prstGeom prst="rect">
            <a:avLst/>
          </a:prstGeom>
          <a:noFill/>
        </p:spPr>
        <p:txBody>
          <a:bodyPr wrap="square" lIns="0" tIns="0" rIns="0" bIns="0">
            <a:spAutoFit/>
          </a:bodyPr>
          <a:lstStyle/>
          <a:p>
            <a:pPr marL="228600" indent="-228600" algn="l">
              <a:spcAft>
                <a:spcPts val="800"/>
              </a:spcAft>
              <a:buFont typeface="Arial"/>
              <a:buChar char="•"/>
            </a:pPr>
            <a:r>
              <a:rPr sz="1400" b="0" i="0">
                <a:solidFill>
                  <a:srgbClr val="330066"/>
                </a:solidFill>
                <a:latin typeface="Courier New"/>
              </a:rPr>
              <a:t>e</a:t>
            </a:r>
            <a:r>
              <a:rPr sz="1450" b="0" i="0">
                <a:solidFill>
                  <a:srgbClr val="1A1A1A"/>
                </a:solidFill>
                <a:latin typeface="Arial"/>
              </a:rPr>
              <a:t> is deleted automatically at the end of the </a:t>
            </a:r>
            <a:r>
              <a:rPr sz="1400" b="0" i="0">
                <a:solidFill>
                  <a:srgbClr val="330066"/>
                </a:solidFill>
                <a:latin typeface="Courier New"/>
              </a:rPr>
              <a:t>except</a:t>
            </a:r>
            <a:r>
              <a:rPr sz="1450" b="0" i="0">
                <a:solidFill>
                  <a:srgbClr val="1A1A1A"/>
                </a:solidFill>
                <a:latin typeface="Arial"/>
              </a:rPr>
              <a:t> block (to avoid reference cycles).</a:t>
            </a:r>
          </a:p>
          <a:p>
            <a:pPr marL="228600" indent="-228600" algn="l">
              <a:spcAft>
                <a:spcPts val="800"/>
              </a:spcAft>
              <a:buFont typeface="Arial"/>
              <a:buChar char="•"/>
            </a:pPr>
            <a:r>
              <a:rPr sz="1450" b="0" i="0">
                <a:solidFill>
                  <a:srgbClr val="1A1A1A"/>
                </a:solidFill>
                <a:latin typeface="Arial"/>
              </a:rPr>
              <a:t>Blocks like </a:t>
            </a:r>
            <a:r>
              <a:rPr sz="1400" b="0" i="0">
                <a:solidFill>
                  <a:srgbClr val="330066"/>
                </a:solidFill>
                <a:latin typeface="Courier New"/>
              </a:rPr>
              <a:t>if</a:t>
            </a:r>
            <a:r>
              <a:rPr sz="1450" b="0" i="0">
                <a:solidFill>
                  <a:srgbClr val="1A1A1A"/>
                </a:solidFill>
                <a:latin typeface="Arial"/>
              </a:rPr>
              <a:t> and </a:t>
            </a:r>
            <a:r>
              <a:rPr sz="1400" b="0" i="0">
                <a:solidFill>
                  <a:srgbClr val="330066"/>
                </a:solidFill>
                <a:latin typeface="Courier New"/>
              </a:rPr>
              <a:t>with</a:t>
            </a:r>
            <a:r>
              <a:rPr sz="1450" b="0" i="0">
                <a:solidFill>
                  <a:srgbClr val="1A1A1A"/>
                </a:solidFill>
                <a:latin typeface="Arial"/>
              </a:rPr>
              <a:t> do not create a scope either.</a:t>
            </a:r>
          </a:p>
          <a:p>
            <a:pPr marL="228600" indent="-228600" algn="l">
              <a:spcAft>
                <a:spcPts val="800"/>
              </a:spcAft>
              <a:buFont typeface="Arial"/>
              <a:buChar char="•"/>
            </a:pPr>
            <a:r>
              <a:rPr sz="1450" b="0" i="0">
                <a:solidFill>
                  <a:srgbClr val="1A1A1A"/>
                </a:solidFill>
                <a:latin typeface="Arial"/>
              </a:rPr>
              <a:t>Only functions, lambdas, comprehensions/generators, classes and modules do.</a:t>
            </a:r>
          </a:p>
        </p:txBody>
      </p:sp>
      <p:sp>
        <p:nvSpPr>
          <p:cNvPr id="8" name="TextBox 7"/>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36 / 46</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Late Binding in Closures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sp>
        <p:nvSpPr>
          <p:cNvPr id="4" name="TextBox 3"/>
          <p:cNvSpPr txBox="1"/>
          <p:nvPr/>
        </p:nvSpPr>
        <p:spPr>
          <a:xfrm>
            <a:off x="609904" y="1783080"/>
            <a:ext cx="585216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Surprise</a:t>
            </a:r>
          </a:p>
        </p:txBody>
      </p:sp>
      <p:sp>
        <p:nvSpPr>
          <p:cNvPr id="5" name="Rounded Rectangle 4"/>
          <p:cNvSpPr/>
          <p:nvPr/>
        </p:nvSpPr>
        <p:spPr>
          <a:xfrm>
            <a:off x="609904" y="2057400"/>
            <a:ext cx="5852160" cy="749808"/>
          </a:xfrm>
          <a:prstGeom prst="roundRect">
            <a:avLst>
              <a:gd name="adj" fmla="val 9756"/>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03704"/>
            <a:ext cx="5449824" cy="457200"/>
          </a:xfrm>
          <a:prstGeom prst="rect">
            <a:avLst/>
          </a:prstGeom>
          <a:noFill/>
        </p:spPr>
        <p:txBody>
          <a:bodyPr wrap="square" lIns="0" tIns="0" rIns="0" bIns="0">
            <a:spAutoFit/>
          </a:bodyPr>
          <a:lstStyle/>
          <a:p>
            <a:pPr algn="l">
              <a:lnSpc>
                <a:spcPct val="100000"/>
              </a:lnSpc>
            </a:pPr>
            <a:r>
              <a:rPr sz="1000">
                <a:solidFill>
                  <a:srgbClr val="1A1A1A"/>
                </a:solidFill>
                <a:latin typeface="Courier New"/>
              </a:rPr>
              <a:t>checks = [lambda: i for i in range(3)]</a:t>
            </a:r>
          </a:p>
          <a:p>
            <a:pPr algn="l">
              <a:lnSpc>
                <a:spcPct val="100000"/>
              </a:lnSpc>
            </a:pPr>
            <a:r>
              <a:rPr sz="1000">
                <a:solidFill>
                  <a:srgbClr val="1A1A1A"/>
                </a:solidFill>
                <a:latin typeface="Courier New"/>
              </a:rPr>
              <a:t>print([check() for check in checks])    # [2, 2, 2]  &lt;-- not [0, 1, 2]!</a:t>
            </a:r>
          </a:p>
        </p:txBody>
      </p:sp>
      <p:sp>
        <p:nvSpPr>
          <p:cNvPr id="7" name="TextBox 6"/>
          <p:cNvSpPr txBox="1"/>
          <p:nvPr/>
        </p:nvSpPr>
        <p:spPr>
          <a:xfrm>
            <a:off x="609904" y="2990088"/>
            <a:ext cx="585216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Fix: default argument</a:t>
            </a:r>
          </a:p>
        </p:txBody>
      </p:sp>
      <p:sp>
        <p:nvSpPr>
          <p:cNvPr id="8" name="Rounded Rectangle 7"/>
          <p:cNvSpPr/>
          <p:nvPr/>
        </p:nvSpPr>
        <p:spPr>
          <a:xfrm>
            <a:off x="609904" y="3264408"/>
            <a:ext cx="5852160" cy="704088"/>
          </a:xfrm>
          <a:prstGeom prst="roundRect">
            <a:avLst>
              <a:gd name="adj" fmla="val 10389"/>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1072" y="3410712"/>
            <a:ext cx="5449824" cy="411480"/>
          </a:xfrm>
          <a:prstGeom prst="rect">
            <a:avLst/>
          </a:prstGeom>
          <a:noFill/>
        </p:spPr>
        <p:txBody>
          <a:bodyPr wrap="square" lIns="0" tIns="0" rIns="0" bIns="0">
            <a:spAutoFit/>
          </a:bodyPr>
          <a:lstStyle/>
          <a:p>
            <a:pPr algn="l">
              <a:lnSpc>
                <a:spcPct val="100000"/>
              </a:lnSpc>
            </a:pPr>
            <a:r>
              <a:rPr sz="1350">
                <a:solidFill>
                  <a:srgbClr val="1A1A1A"/>
                </a:solidFill>
                <a:latin typeface="Courier New"/>
              </a:rPr>
              <a:t>checks = [lambda i=i: i for i in range(3)]</a:t>
            </a:r>
          </a:p>
          <a:p>
            <a:pPr algn="l">
              <a:lnSpc>
                <a:spcPct val="100000"/>
              </a:lnSpc>
            </a:pPr>
            <a:r>
              <a:rPr sz="1350">
                <a:solidFill>
                  <a:srgbClr val="1A1A1A"/>
                </a:solidFill>
                <a:latin typeface="Courier New"/>
              </a:rPr>
              <a:t>print([check() for check in checks])    # [0, 1, 2]</a:t>
            </a:r>
          </a:p>
        </p:txBody>
      </p:sp>
      <p:sp>
        <p:nvSpPr>
          <p:cNvPr id="10" name="TextBox 9"/>
          <p:cNvSpPr txBox="1"/>
          <p:nvPr/>
        </p:nvSpPr>
        <p:spPr>
          <a:xfrm>
            <a:off x="6827824" y="1783080"/>
            <a:ext cx="4753965" cy="4361688"/>
          </a:xfrm>
          <a:prstGeom prst="rect">
            <a:avLst/>
          </a:prstGeom>
          <a:noFill/>
        </p:spPr>
        <p:txBody>
          <a:bodyPr wrap="square" lIns="0" tIns="0" rIns="0" bIns="0">
            <a:spAutoFit/>
          </a:bodyPr>
          <a:lstStyle/>
          <a:p>
            <a:pPr marL="228600" indent="-228600" algn="l">
              <a:spcAft>
                <a:spcPts val="800"/>
              </a:spcAft>
              <a:buFont typeface="Arial"/>
              <a:buChar char="•"/>
            </a:pPr>
            <a:r>
              <a:rPr sz="1350" b="0" i="0">
                <a:solidFill>
                  <a:srgbClr val="1A1A1A"/>
                </a:solidFill>
                <a:latin typeface="Arial"/>
              </a:rPr>
              <a:t>A closure remembers the variable, not the value when the function was created.</a:t>
            </a:r>
          </a:p>
          <a:p>
            <a:pPr marL="228600" indent="-228600" algn="l">
              <a:spcAft>
                <a:spcPts val="800"/>
              </a:spcAft>
              <a:buFont typeface="Arial"/>
              <a:buChar char="•"/>
            </a:pPr>
            <a:r>
              <a:rPr sz="1350" b="0" i="0">
                <a:solidFill>
                  <a:srgbClr val="1A1A1A"/>
                </a:solidFill>
                <a:latin typeface="Arial"/>
              </a:rPr>
              <a:t>All three lambdas share the same </a:t>
            </a:r>
            <a:r>
              <a:rPr sz="1300" b="0" i="0">
                <a:solidFill>
                  <a:srgbClr val="330066"/>
                </a:solidFill>
                <a:latin typeface="Courier New"/>
              </a:rPr>
              <a:t>i</a:t>
            </a:r>
            <a:r>
              <a:rPr sz="1350" b="0" i="0">
                <a:solidFill>
                  <a:srgbClr val="1A1A1A"/>
                </a:solidFill>
                <a:latin typeface="Arial"/>
              </a:rPr>
              <a:t>; when called, the loop is over and </a:t>
            </a:r>
            <a:r>
              <a:rPr sz="1300" b="0" i="0">
                <a:solidFill>
                  <a:srgbClr val="330066"/>
                </a:solidFill>
                <a:latin typeface="Courier New"/>
              </a:rPr>
              <a:t>i</a:t>
            </a:r>
            <a:r>
              <a:rPr sz="1350" b="0" i="0">
                <a:solidFill>
                  <a:srgbClr val="1A1A1A"/>
                </a:solidFill>
                <a:latin typeface="Arial"/>
              </a:rPr>
              <a:t> is </a:t>
            </a:r>
            <a:r>
              <a:rPr sz="1300" b="0" i="0">
                <a:solidFill>
                  <a:srgbClr val="330066"/>
                </a:solidFill>
                <a:latin typeface="Courier New"/>
              </a:rPr>
              <a:t>2</a:t>
            </a:r>
            <a:r>
              <a:rPr sz="1350" b="0" i="0">
                <a:solidFill>
                  <a:srgbClr val="1A1A1A"/>
                </a:solidFill>
                <a:latin typeface="Arial"/>
              </a:rPr>
              <a:t>.</a:t>
            </a:r>
          </a:p>
          <a:p>
            <a:pPr marL="228600" indent="-228600" algn="l">
              <a:spcAft>
                <a:spcPts val="800"/>
              </a:spcAft>
              <a:buFont typeface="Arial"/>
              <a:buChar char="•"/>
            </a:pPr>
            <a:r>
              <a:rPr sz="1350" b="0" i="0">
                <a:solidFill>
                  <a:srgbClr val="1A1A1A"/>
                </a:solidFill>
                <a:latin typeface="Arial"/>
              </a:rPr>
              <a:t>Defaults are evaluated at definition time, so </a:t>
            </a:r>
            <a:r>
              <a:rPr sz="1300" b="0" i="0">
                <a:solidFill>
                  <a:srgbClr val="330066"/>
                </a:solidFill>
                <a:latin typeface="Courier New"/>
              </a:rPr>
              <a:t>i=i</a:t>
            </a:r>
            <a:r>
              <a:rPr sz="1350" b="0" i="0">
                <a:solidFill>
                  <a:srgbClr val="1A1A1A"/>
                </a:solidFill>
                <a:latin typeface="Arial"/>
              </a:rPr>
              <a:t> freezes the value.</a:t>
            </a:r>
          </a:p>
          <a:p>
            <a:pPr marL="228600" indent="-228600" algn="l">
              <a:spcAft>
                <a:spcPts val="800"/>
              </a:spcAft>
              <a:buFont typeface="Arial"/>
              <a:buChar char="•"/>
            </a:pPr>
            <a:r>
              <a:rPr sz="1350" b="0" i="0">
                <a:solidFill>
                  <a:srgbClr val="1A1A1A"/>
                </a:solidFill>
                <a:latin typeface="Arial"/>
              </a:rPr>
              <a:t>In test code: a callback per test-case in a loop would otherwise check the last case. </a:t>
            </a:r>
            <a:r>
              <a:rPr sz="1300" b="0" i="0">
                <a:solidFill>
                  <a:srgbClr val="330066"/>
                </a:solidFill>
                <a:latin typeface="Courier New"/>
              </a:rPr>
              <a:t>functools.partial</a:t>
            </a:r>
            <a:r>
              <a:rPr sz="1350" b="0" i="0">
                <a:solidFill>
                  <a:srgbClr val="1A1A1A"/>
                </a:solidFill>
                <a:latin typeface="Arial"/>
              </a:rPr>
              <a:t> is another fix.</a:t>
            </a:r>
          </a:p>
        </p:txBody>
      </p:sp>
      <p:sp>
        <p:nvSpPr>
          <p:cNvPr id="11" name="TextBox 10"/>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37 / 46</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Classes and Modules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sp>
        <p:nvSpPr>
          <p:cNvPr id="4" name="Rounded Rectangle 3"/>
          <p:cNvSpPr/>
          <p:nvPr/>
        </p:nvSpPr>
        <p:spPr>
          <a:xfrm>
            <a:off x="609904" y="1783080"/>
            <a:ext cx="3474415" cy="4361688"/>
          </a:xfrm>
          <a:prstGeom prst="roundRect">
            <a:avLst>
              <a:gd name="adj" fmla="val 2368"/>
            </a:avLst>
          </a:prstGeom>
          <a:solidFill>
            <a:srgbClr val="EDE6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38504" y="1965960"/>
            <a:ext cx="3017215" cy="3995927"/>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Module namespace</a:t>
            </a:r>
          </a:p>
          <a:p>
            <a:pPr algn="l">
              <a:lnSpc>
                <a:spcPct val="110000"/>
              </a:lnSpc>
              <a:spcAft>
                <a:spcPts val="600"/>
              </a:spcAft>
            </a:pPr>
            <a:r>
              <a:rPr sz="1350" b="0" i="0">
                <a:solidFill>
                  <a:srgbClr val="1A1A1A"/>
                </a:solidFill>
                <a:latin typeface="Arial"/>
              </a:rPr>
              <a:t>Every </a:t>
            </a:r>
            <a:r>
              <a:rPr sz="1300" b="0" i="0">
                <a:solidFill>
                  <a:srgbClr val="330066"/>
                </a:solidFill>
                <a:latin typeface="Courier New"/>
              </a:rPr>
              <a:t>.py</a:t>
            </a:r>
            <a:r>
              <a:rPr sz="1350" b="0" i="0">
                <a:solidFill>
                  <a:srgbClr val="1A1A1A"/>
                </a:solidFill>
                <a:latin typeface="Arial"/>
              </a:rPr>
              <a:t> file has its own global namespace. </a:t>
            </a:r>
            <a:r>
              <a:rPr sz="1300" b="0" i="0">
                <a:solidFill>
                  <a:srgbClr val="330066"/>
                </a:solidFill>
                <a:latin typeface="Courier New"/>
              </a:rPr>
              <a:t>import helpers</a:t>
            </a:r>
            <a:r>
              <a:rPr sz="1350" b="0" i="0">
                <a:solidFill>
                  <a:srgbClr val="1A1A1A"/>
                </a:solidFill>
                <a:latin typeface="Arial"/>
              </a:rPr>
              <a:t> binds </a:t>
            </a:r>
            <a:r>
              <a:rPr sz="1300" b="0" i="0">
                <a:solidFill>
                  <a:srgbClr val="330066"/>
                </a:solidFill>
                <a:latin typeface="Courier New"/>
              </a:rPr>
              <a:t>helpers</a:t>
            </a:r>
            <a:r>
              <a:rPr sz="1350" b="0" i="0">
                <a:solidFill>
                  <a:srgbClr val="1A1A1A"/>
                </a:solidFill>
                <a:latin typeface="Arial"/>
              </a:rPr>
              <a:t>; </a:t>
            </a:r>
            <a:r>
              <a:rPr sz="1300" b="0" i="0">
                <a:solidFill>
                  <a:srgbClr val="330066"/>
                </a:solidFill>
                <a:latin typeface="Courier New"/>
              </a:rPr>
              <a:t>helpers.fn</a:t>
            </a:r>
            <a:r>
              <a:rPr sz="1350" b="0" i="0">
                <a:solidFill>
                  <a:srgbClr val="1A1A1A"/>
                </a:solidFill>
                <a:latin typeface="Arial"/>
              </a:rPr>
              <a:t> looks inside that namespace. </a:t>
            </a:r>
            <a:r>
              <a:rPr sz="1300" b="0" i="0">
                <a:solidFill>
                  <a:srgbClr val="330066"/>
                </a:solidFill>
                <a:latin typeface="Courier New"/>
              </a:rPr>
              <a:t>from helpers import fn</a:t>
            </a:r>
            <a:r>
              <a:rPr sz="1350" b="0" i="0">
                <a:solidFill>
                  <a:srgbClr val="1A1A1A"/>
                </a:solidFill>
                <a:latin typeface="Arial"/>
              </a:rPr>
              <a:t> copies the binding of </a:t>
            </a:r>
            <a:r>
              <a:rPr sz="1300" b="0" i="0">
                <a:solidFill>
                  <a:srgbClr val="330066"/>
                </a:solidFill>
                <a:latin typeface="Courier New"/>
              </a:rPr>
              <a:t>fn</a:t>
            </a:r>
            <a:r>
              <a:rPr sz="1350" b="0" i="0">
                <a:solidFill>
                  <a:srgbClr val="1A1A1A"/>
                </a:solidFill>
                <a:latin typeface="Arial"/>
              </a:rPr>
              <a:t> into yours.</a:t>
            </a:r>
          </a:p>
        </p:txBody>
      </p:sp>
      <p:sp>
        <p:nvSpPr>
          <p:cNvPr id="6" name="Rounded Rectangle 5"/>
          <p:cNvSpPr/>
          <p:nvPr/>
        </p:nvSpPr>
        <p:spPr>
          <a:xfrm>
            <a:off x="4358640" y="1783080"/>
            <a:ext cx="3474415" cy="4361688"/>
          </a:xfrm>
          <a:prstGeom prst="roundRect">
            <a:avLst>
              <a:gd name="adj" fmla="val 2368"/>
            </a:avLst>
          </a:prstGeom>
          <a:solidFill>
            <a:srgbClr val="E9F1F1"/>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87240" y="1965960"/>
            <a:ext cx="3017215" cy="3995927"/>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Class namespace</a:t>
            </a:r>
          </a:p>
          <a:p>
            <a:pPr algn="l">
              <a:lnSpc>
                <a:spcPct val="110000"/>
              </a:lnSpc>
              <a:spcAft>
                <a:spcPts val="600"/>
              </a:spcAft>
            </a:pPr>
            <a:r>
              <a:rPr sz="1350" b="0" i="0">
                <a:solidFill>
                  <a:srgbClr val="1A1A1A"/>
                </a:solidFill>
                <a:latin typeface="Arial"/>
              </a:rPr>
              <a:t>Methods cannot see class-level names as bare variables: use </a:t>
            </a:r>
            <a:r>
              <a:rPr sz="1300" b="0" i="0">
                <a:solidFill>
                  <a:srgbClr val="330066"/>
                </a:solidFill>
                <a:latin typeface="Courier New"/>
              </a:rPr>
              <a:t>self.name</a:t>
            </a:r>
            <a:r>
              <a:rPr sz="1350" b="0" i="0">
                <a:solidFill>
                  <a:srgbClr val="1A1A1A"/>
                </a:solidFill>
                <a:latin typeface="Arial"/>
              </a:rPr>
              <a:t> or </a:t>
            </a:r>
            <a:r>
              <a:rPr sz="1300" b="0" i="0">
                <a:solidFill>
                  <a:srgbClr val="330066"/>
                </a:solidFill>
                <a:latin typeface="Courier New"/>
              </a:rPr>
              <a:t>ClassName.name</a:t>
            </a:r>
            <a:r>
              <a:rPr sz="1350" b="0" i="0">
                <a:solidFill>
                  <a:srgbClr val="1A1A1A"/>
                </a:solidFill>
                <a:latin typeface="Arial"/>
              </a:rPr>
              <a:t>. Class bodies are skipped when searching enclosing scopes, an exception to LEGB.</a:t>
            </a:r>
          </a:p>
        </p:txBody>
      </p:sp>
      <p:sp>
        <p:nvSpPr>
          <p:cNvPr id="8" name="Rounded Rectangle 7"/>
          <p:cNvSpPr/>
          <p:nvPr/>
        </p:nvSpPr>
        <p:spPr>
          <a:xfrm>
            <a:off x="8107375" y="1783080"/>
            <a:ext cx="3474415" cy="4361688"/>
          </a:xfrm>
          <a:prstGeom prst="roundRect">
            <a:avLst>
              <a:gd name="adj" fmla="val 2368"/>
            </a:avLst>
          </a:prstGeom>
          <a:solidFill>
            <a:srgbClr val="EDE6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335975" y="1965960"/>
            <a:ext cx="3017215" cy="3995927"/>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__name__ == "__main__"</a:t>
            </a:r>
          </a:p>
          <a:p>
            <a:pPr algn="l">
              <a:lnSpc>
                <a:spcPct val="110000"/>
              </a:lnSpc>
              <a:spcAft>
                <a:spcPts val="600"/>
              </a:spcAft>
            </a:pPr>
            <a:r>
              <a:rPr sz="1350" b="0" i="0">
                <a:solidFill>
                  <a:srgbClr val="1A1A1A"/>
                </a:solidFill>
                <a:latin typeface="Arial"/>
              </a:rPr>
              <a:t>When a file runs directly, its global </a:t>
            </a:r>
            <a:r>
              <a:rPr sz="1300" b="0" i="0">
                <a:solidFill>
                  <a:srgbClr val="330066"/>
                </a:solidFill>
                <a:latin typeface="Courier New"/>
              </a:rPr>
              <a:t>__name__</a:t>
            </a:r>
            <a:r>
              <a:rPr sz="1350" b="0" i="0">
                <a:solidFill>
                  <a:srgbClr val="1A1A1A"/>
                </a:solidFill>
                <a:latin typeface="Arial"/>
              </a:rPr>
              <a:t> is </a:t>
            </a:r>
            <a:r>
              <a:rPr sz="1300" b="0" i="0">
                <a:solidFill>
                  <a:srgbClr val="330066"/>
                </a:solidFill>
                <a:latin typeface="Courier New"/>
              </a:rPr>
              <a:t>"__main__"</a:t>
            </a:r>
            <a:r>
              <a:rPr sz="1350" b="0" i="0">
                <a:solidFill>
                  <a:srgbClr val="1A1A1A"/>
                </a:solidFill>
                <a:latin typeface="Arial"/>
              </a:rPr>
              <a:t>; when imported, it is the module's name.</a:t>
            </a:r>
          </a:p>
        </p:txBody>
      </p:sp>
      <p:sp>
        <p:nvSpPr>
          <p:cNvPr id="10" name="TextBox 9"/>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38 / 46</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Code Examples</a:t>
            </a:r>
          </a:p>
        </p:txBody>
      </p:sp>
      <p:sp>
        <p:nvSpPr>
          <p:cNvPr id="3" name="Text Placeholder 2"/>
          <p:cNvSpPr>
            <a:spLocks noGrp="1"/>
          </p:cNvSpPr>
          <p:nvPr>
            <p:ph type="body" idx="1"/>
          </p:nvPr>
        </p:nvSpPr>
        <p:spPr/>
        <p:txBody>
          <a:bodyPr/>
          <a:lstStyle/>
          <a:p>
            <a:r>
              <a:rPr sz="1800">
                <a:solidFill>
                  <a:srgbClr val="5A5A5A"/>
                </a:solidFill>
              </a:rPr>
              <a:t>Hidden state, closures, shadowing and inspection in test code</a:t>
            </a:r>
          </a:p>
        </p:txBody>
      </p:sp>
      <p:sp>
        <p:nvSpPr>
          <p:cNvPr id="4" name="TextBox 3"/>
          <p:cNvSpPr txBox="1"/>
          <p:nvPr/>
        </p:nvSpPr>
        <p:spPr>
          <a:xfrm>
            <a:off x="832104" y="1600200"/>
            <a:ext cx="3657600" cy="1097280"/>
          </a:xfrm>
          <a:prstGeom prst="rect">
            <a:avLst/>
          </a:prstGeom>
          <a:noFill/>
        </p:spPr>
        <p:txBody>
          <a:bodyPr wrap="square" lIns="0" tIns="0" rIns="0" bIns="0" anchor="t">
            <a:spAutoFit/>
          </a:bodyPr>
          <a:lstStyle/>
          <a:p>
            <a:pPr algn="l">
              <a:lnSpc>
                <a:spcPct val="110000"/>
              </a:lnSpc>
              <a:spcAft>
                <a:spcPts val="600"/>
              </a:spcAft>
            </a:pPr>
            <a:r>
              <a:rPr sz="6600" b="1" i="0">
                <a:solidFill>
                  <a:srgbClr val="669999"/>
                </a:solidFill>
                <a:latin typeface="Arial"/>
              </a:rPr>
              <a:t>02</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39 / 46</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Example A: Hidden Global State</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EXAMPLE A</a:t>
            </a:r>
          </a:p>
        </p:txBody>
      </p:sp>
      <p:sp>
        <p:nvSpPr>
          <p:cNvPr id="4" name="TextBox 3"/>
          <p:cNvSpPr txBox="1"/>
          <p:nvPr/>
        </p:nvSpPr>
        <p:spPr>
          <a:xfrm>
            <a:off x="609904" y="1783080"/>
            <a:ext cx="694944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fragile_helpers.py</a:t>
            </a:r>
          </a:p>
        </p:txBody>
      </p:sp>
      <p:sp>
        <p:nvSpPr>
          <p:cNvPr id="5" name="Rounded Rectangle 4"/>
          <p:cNvSpPr/>
          <p:nvPr/>
        </p:nvSpPr>
        <p:spPr>
          <a:xfrm>
            <a:off x="609904" y="2057400"/>
            <a:ext cx="6949440" cy="1359408"/>
          </a:xfrm>
          <a:prstGeom prst="roundRect">
            <a:avLst>
              <a:gd name="adj" fmla="val 5381"/>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03704"/>
            <a:ext cx="6547103" cy="1066800"/>
          </a:xfrm>
          <a:prstGeom prst="rect">
            <a:avLst/>
          </a:prstGeom>
          <a:noFill/>
        </p:spPr>
        <p:txBody>
          <a:bodyPr wrap="square" lIns="0" tIns="0" rIns="0" bIns="0">
            <a:spAutoFit/>
          </a:bodyPr>
          <a:lstStyle/>
          <a:p>
            <a:pPr algn="l">
              <a:lnSpc>
                <a:spcPct val="100000"/>
              </a:lnSpc>
            </a:pPr>
            <a:r>
              <a:rPr sz="1000">
                <a:solidFill>
                  <a:srgbClr val="1A1A1A"/>
                </a:solidFill>
                <a:latin typeface="Courier New"/>
              </a:rPr>
              <a:t>def login(username):</a:t>
            </a:r>
          </a:p>
          <a:p>
            <a:pPr algn="l">
              <a:lnSpc>
                <a:spcPct val="100000"/>
              </a:lnSpc>
            </a:pPr>
            <a:r>
              <a:rPr sz="1000">
                <a:solidFill>
                  <a:srgbClr val="1A1A1A"/>
                </a:solidFill>
                <a:latin typeface="Courier New"/>
              </a:rPr>
              <a:t>    global current_user</a:t>
            </a:r>
          </a:p>
          <a:p>
            <a:pPr algn="l">
              <a:lnSpc>
                <a:spcPct val="100000"/>
              </a:lnSpc>
            </a:pPr>
            <a:r>
              <a:rPr sz="1000">
                <a:solidFill>
                  <a:srgbClr val="1A1A1A"/>
                </a:solidFill>
                <a:latin typeface="Courier New"/>
              </a:rPr>
              <a:t>    current_user = username</a:t>
            </a:r>
          </a:p>
          <a:p>
            <a:pPr algn="l">
              <a:lnSpc>
                <a:spcPct val="100000"/>
              </a:lnSpc>
            </a:pPr>
            <a:r>
              <a:rPr sz="1000">
                <a:solidFill>
                  <a:srgbClr val="5C8A8A"/>
                </a:solidFill>
                <a:latin typeface="Courier New"/>
              </a:rPr>
              <a:t># ...</a:t>
            </a:r>
          </a:p>
          <a:p>
            <a:pPr algn="l">
              <a:lnSpc>
                <a:spcPct val="100000"/>
              </a:lnSpc>
            </a:pPr>
            <a:r>
              <a:rPr sz="1000">
                <a:solidFill>
                  <a:srgbClr val="5C8A8A"/>
                </a:solidFill>
                <a:latin typeface="Courier New"/>
              </a:rPr>
              <a:t># A later test forgets to log in:</a:t>
            </a:r>
          </a:p>
          <a:p>
            <a:pPr algn="l">
              <a:lnSpc>
                <a:spcPct val="100000"/>
              </a:lnSpc>
            </a:pPr>
            <a:r>
              <a:rPr sz="1000">
                <a:solidFill>
                  <a:srgbClr val="1A1A1A"/>
                </a:solidFill>
                <a:latin typeface="Courier New"/>
              </a:rPr>
              <a:t>print(greet_banner())          # Welcome, alice!   &lt;-- stale state from the earlier test</a:t>
            </a:r>
          </a:p>
        </p:txBody>
      </p:sp>
      <p:sp>
        <p:nvSpPr>
          <p:cNvPr id="7" name="TextBox 6"/>
          <p:cNvSpPr txBox="1"/>
          <p:nvPr/>
        </p:nvSpPr>
        <p:spPr>
          <a:xfrm>
            <a:off x="609904" y="3599688"/>
            <a:ext cx="694944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robust_helpers.py</a:t>
            </a:r>
          </a:p>
        </p:txBody>
      </p:sp>
      <p:sp>
        <p:nvSpPr>
          <p:cNvPr id="8" name="Rounded Rectangle 7"/>
          <p:cNvSpPr/>
          <p:nvPr/>
        </p:nvSpPr>
        <p:spPr>
          <a:xfrm>
            <a:off x="609904" y="3874007"/>
            <a:ext cx="6949440" cy="1298448"/>
          </a:xfrm>
          <a:prstGeom prst="roundRect">
            <a:avLst>
              <a:gd name="adj" fmla="val 5633"/>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1072" y="4020312"/>
            <a:ext cx="6547103" cy="1005840"/>
          </a:xfrm>
          <a:prstGeom prst="rect">
            <a:avLst/>
          </a:prstGeom>
          <a:noFill/>
        </p:spPr>
        <p:txBody>
          <a:bodyPr wrap="square" lIns="0" tIns="0" rIns="0" bIns="0">
            <a:spAutoFit/>
          </a:bodyPr>
          <a:lstStyle/>
          <a:p>
            <a:pPr algn="l">
              <a:lnSpc>
                <a:spcPct val="100000"/>
              </a:lnSpc>
            </a:pPr>
            <a:r>
              <a:rPr sz="1100">
                <a:solidFill>
                  <a:srgbClr val="1A1A1A"/>
                </a:solidFill>
                <a:latin typeface="Courier New"/>
              </a:rPr>
              <a:t>class Session:</a:t>
            </a:r>
          </a:p>
          <a:p>
            <a:pPr algn="l">
              <a:lnSpc>
                <a:spcPct val="100000"/>
              </a:lnSpc>
            </a:pPr>
            <a:r>
              <a:rPr sz="1100">
                <a:solidFill>
                  <a:srgbClr val="1A1A1A"/>
                </a:solidFill>
                <a:latin typeface="Courier New"/>
              </a:rPr>
              <a:t>    def __init__(self):</a:t>
            </a:r>
          </a:p>
          <a:p>
            <a:pPr algn="l">
              <a:lnSpc>
                <a:spcPct val="100000"/>
              </a:lnSpc>
            </a:pPr>
            <a:r>
              <a:rPr sz="1100">
                <a:solidFill>
                  <a:srgbClr val="1A1A1A"/>
                </a:solidFill>
                <a:latin typeface="Courier New"/>
              </a:rPr>
              <a:t>        self.current_user = None</a:t>
            </a:r>
          </a:p>
          <a:p>
            <a:pPr algn="l">
              <a:lnSpc>
                <a:spcPct val="100000"/>
              </a:lnSpc>
            </a:pPr>
            <a:r>
              <a:rPr sz="1100">
                <a:solidFill>
                  <a:srgbClr val="5C8A8A"/>
                </a:solidFill>
                <a:latin typeface="Courier New"/>
              </a:rPr>
              <a:t># ...</a:t>
            </a:r>
          </a:p>
          <a:p>
            <a:pPr algn="l">
              <a:lnSpc>
                <a:spcPct val="100000"/>
              </a:lnSpc>
            </a:pPr>
            <a:r>
              <a:rPr sz="1100">
                <a:solidFill>
                  <a:srgbClr val="1A1A1A"/>
                </a:solidFill>
                <a:latin typeface="Courier New"/>
              </a:rPr>
              <a:t>s2 = Session()                 # a brand-new test starts with a clean slate</a:t>
            </a:r>
          </a:p>
          <a:p>
            <a:pPr algn="l">
              <a:lnSpc>
                <a:spcPct val="100000"/>
              </a:lnSpc>
            </a:pPr>
            <a:r>
              <a:rPr sz="1100">
                <a:solidFill>
                  <a:srgbClr val="1A1A1A"/>
                </a:solidFill>
                <a:latin typeface="Courier New"/>
              </a:rPr>
              <a:t>print(s2.greet_banner())       # Welcome, None!</a:t>
            </a:r>
          </a:p>
        </p:txBody>
      </p:sp>
      <p:sp>
        <p:nvSpPr>
          <p:cNvPr id="10" name="TextBox 9"/>
          <p:cNvSpPr txBox="1"/>
          <p:nvPr/>
        </p:nvSpPr>
        <p:spPr>
          <a:xfrm>
            <a:off x="7925104" y="1783080"/>
            <a:ext cx="3656685" cy="4361688"/>
          </a:xfrm>
          <a:prstGeom prst="rect">
            <a:avLst/>
          </a:prstGeom>
          <a:noFill/>
        </p:spPr>
        <p:txBody>
          <a:bodyPr wrap="square" lIns="0" tIns="0" rIns="0" bIns="0">
            <a:spAutoFit/>
          </a:bodyPr>
          <a:lstStyle/>
          <a:p>
            <a:pPr marL="228600" indent="-228600" algn="l">
              <a:spcAft>
                <a:spcPts val="800"/>
              </a:spcAft>
              <a:buFont typeface="Arial"/>
              <a:buChar char="•"/>
            </a:pPr>
            <a:r>
              <a:rPr sz="1400" b="0" i="0">
                <a:solidFill>
                  <a:srgbClr val="1A1A1A"/>
                </a:solidFill>
                <a:latin typeface="Arial"/>
              </a:rPr>
              <a:t>The second call returns data left over by the first test: tests pass or fail depending on order.</a:t>
            </a:r>
          </a:p>
          <a:p>
            <a:pPr marL="228600" indent="-228600" algn="l">
              <a:spcAft>
                <a:spcPts val="800"/>
              </a:spcAft>
              <a:buFont typeface="Arial"/>
              <a:buChar char="•"/>
            </a:pPr>
            <a:r>
              <a:rPr sz="1350" b="0" i="0">
                <a:solidFill>
                  <a:srgbClr val="330066"/>
                </a:solidFill>
                <a:latin typeface="Courier New"/>
              </a:rPr>
              <a:t>Session</a:t>
            </a:r>
            <a:r>
              <a:rPr sz="1400" b="0" i="0">
                <a:solidFill>
                  <a:srgbClr val="1A1A1A"/>
                </a:solidFill>
                <a:latin typeface="Arial"/>
              </a:rPr>
              <a:t> bundles state and behaviour; no module-level variable to leak.</a:t>
            </a:r>
          </a:p>
          <a:p>
            <a:pPr marL="228600" indent="-228600" algn="l">
              <a:spcAft>
                <a:spcPts val="800"/>
              </a:spcAft>
              <a:buFont typeface="Arial"/>
              <a:buChar char="•"/>
            </a:pPr>
            <a:r>
              <a:rPr sz="1400" b="0" i="0">
                <a:solidFill>
                  <a:srgbClr val="1A1A1A"/>
                </a:solidFill>
                <a:latin typeface="Arial"/>
              </a:rPr>
              <a:t>Each instance has its own namespace (</a:t>
            </a:r>
            <a:r>
              <a:rPr sz="1350" b="0" i="0">
                <a:solidFill>
                  <a:srgbClr val="330066"/>
                </a:solidFill>
                <a:latin typeface="Courier New"/>
              </a:rPr>
              <a:t>self.__dict__</a:t>
            </a:r>
            <a:r>
              <a:rPr sz="1400" b="0" i="0">
                <a:solidFill>
                  <a:srgbClr val="1A1A1A"/>
                </a:solidFill>
                <a:latin typeface="Arial"/>
              </a:rPr>
              <a:t>).</a:t>
            </a:r>
          </a:p>
          <a:p>
            <a:pPr marL="228600" indent="-228600" algn="l">
              <a:spcAft>
                <a:spcPts val="800"/>
              </a:spcAft>
              <a:buFont typeface="Arial"/>
              <a:buChar char="•"/>
            </a:pPr>
            <a:r>
              <a:rPr sz="1400" b="0" i="0">
                <a:solidFill>
                  <a:srgbClr val="1A1A1A"/>
                </a:solidFill>
                <a:latin typeface="Arial"/>
              </a:rPr>
              <a:t>Later, test fixtures give this isolation automatically.</a:t>
            </a:r>
          </a:p>
        </p:txBody>
      </p:sp>
      <p:sp>
        <p:nvSpPr>
          <p:cNvPr id="11" name="TextBox 10"/>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40 / 46</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330066"/>
                </a:solidFill>
              </a:rPr>
              <a:t>Example B: Closure Result Tracker</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EXAMPLE B</a:t>
            </a:r>
          </a:p>
        </p:txBody>
      </p:sp>
      <p:sp>
        <p:nvSpPr>
          <p:cNvPr id="4" name="TextBox 3"/>
          <p:cNvSpPr txBox="1"/>
          <p:nvPr/>
        </p:nvSpPr>
        <p:spPr>
          <a:xfrm>
            <a:off x="609904" y="1783080"/>
            <a:ext cx="713232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Full script: result tracker</a:t>
            </a:r>
          </a:p>
        </p:txBody>
      </p:sp>
      <p:sp>
        <p:nvSpPr>
          <p:cNvPr id="5" name="Rounded Rectangle 4"/>
          <p:cNvSpPr/>
          <p:nvPr/>
        </p:nvSpPr>
        <p:spPr>
          <a:xfrm>
            <a:off x="609904" y="2057400"/>
            <a:ext cx="7132320" cy="2578608"/>
          </a:xfrm>
          <a:prstGeom prst="roundRect">
            <a:avLst>
              <a:gd name="adj" fmla="val 2836"/>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03704"/>
            <a:ext cx="6729983" cy="2286000"/>
          </a:xfrm>
          <a:prstGeom prst="rect">
            <a:avLst/>
          </a:prstGeom>
          <a:noFill/>
        </p:spPr>
        <p:txBody>
          <a:bodyPr wrap="square" lIns="0" tIns="0" rIns="0" bIns="0">
            <a:spAutoFit/>
          </a:bodyPr>
          <a:lstStyle/>
          <a:p>
            <a:pPr algn="l">
              <a:lnSpc>
                <a:spcPct val="100000"/>
              </a:lnSpc>
            </a:pPr>
            <a:r>
              <a:rPr sz="1000">
                <a:solidFill>
                  <a:srgbClr val="1A1A1A"/>
                </a:solidFill>
                <a:latin typeface="Courier New"/>
              </a:rPr>
              <a:t>def make_result_tracker():</a:t>
            </a:r>
          </a:p>
          <a:p>
            <a:pPr algn="l">
              <a:lnSpc>
                <a:spcPct val="100000"/>
              </a:lnSpc>
            </a:pPr>
            <a:r>
              <a:rPr sz="1000">
                <a:solidFill>
                  <a:srgbClr val="1A1A1A"/>
                </a:solidFill>
                <a:latin typeface="Courier New"/>
              </a:rPr>
              <a:t>    results = {"passed": 0, "failed": 0}</a:t>
            </a:r>
          </a:p>
          <a:p>
            <a:pPr algn="l">
              <a:lnSpc>
                <a:spcPct val="100000"/>
              </a:lnSpc>
            </a:pPr>
            <a:r>
              <a:rPr sz="1000">
                <a:solidFill>
                  <a:srgbClr val="1A1A1A"/>
                </a:solidFill>
                <a:latin typeface="Courier New"/>
              </a:rPr>
              <a:t> </a:t>
            </a:r>
          </a:p>
          <a:p>
            <a:pPr algn="l">
              <a:lnSpc>
                <a:spcPct val="100000"/>
              </a:lnSpc>
            </a:pPr>
            <a:r>
              <a:rPr sz="1000">
                <a:solidFill>
                  <a:srgbClr val="1A1A1A"/>
                </a:solidFill>
                <a:latin typeface="Courier New"/>
              </a:rPr>
              <a:t>    def record(ok):</a:t>
            </a:r>
          </a:p>
          <a:p>
            <a:pPr algn="l">
              <a:lnSpc>
                <a:spcPct val="100000"/>
              </a:lnSpc>
            </a:pPr>
            <a:r>
              <a:rPr sz="1000">
                <a:solidFill>
                  <a:srgbClr val="1A1A1A"/>
                </a:solidFill>
                <a:latin typeface="Courier New"/>
              </a:rPr>
              <a:t>        key = "passed" if ok else "failed"</a:t>
            </a:r>
          </a:p>
          <a:p>
            <a:pPr algn="l">
              <a:lnSpc>
                <a:spcPct val="100000"/>
              </a:lnSpc>
            </a:pPr>
            <a:r>
              <a:rPr sz="1000">
                <a:solidFill>
                  <a:srgbClr val="1A1A1A"/>
                </a:solidFill>
                <a:latin typeface="Courier New"/>
              </a:rPr>
              <a:t>        results[key] += 1                  # mutation: no 'nonlocal' required</a:t>
            </a:r>
          </a:p>
          <a:p>
            <a:pPr algn="l">
              <a:lnSpc>
                <a:spcPct val="100000"/>
              </a:lnSpc>
            </a:pPr>
            <a:r>
              <a:rPr sz="1000">
                <a:solidFill>
                  <a:srgbClr val="1A1A1A"/>
                </a:solidFill>
                <a:latin typeface="Courier New"/>
              </a:rPr>
              <a:t>        return dict(results)               # return a copy so callers cannot alter our state</a:t>
            </a:r>
          </a:p>
          <a:p>
            <a:pPr algn="l">
              <a:lnSpc>
                <a:spcPct val="100000"/>
              </a:lnSpc>
            </a:pPr>
            <a:r>
              <a:rPr sz="1000">
                <a:solidFill>
                  <a:srgbClr val="1A1A1A"/>
                </a:solidFill>
                <a:latin typeface="Courier New"/>
              </a:rPr>
              <a:t> </a:t>
            </a:r>
          </a:p>
          <a:p>
            <a:pPr algn="l">
              <a:lnSpc>
                <a:spcPct val="100000"/>
              </a:lnSpc>
            </a:pPr>
            <a:r>
              <a:rPr sz="1000">
                <a:solidFill>
                  <a:srgbClr val="1A1A1A"/>
                </a:solidFill>
                <a:latin typeface="Courier New"/>
              </a:rPr>
              <a:t>    return record</a:t>
            </a:r>
          </a:p>
          <a:p>
            <a:pPr algn="l">
              <a:lnSpc>
                <a:spcPct val="100000"/>
              </a:lnSpc>
            </a:pPr>
            <a:r>
              <a:rPr sz="1000">
                <a:solidFill>
                  <a:srgbClr val="5C8A8A"/>
                </a:solidFill>
                <a:latin typeface="Courier New"/>
              </a:rPr>
              <a:t># ...</a:t>
            </a:r>
          </a:p>
          <a:p>
            <a:pPr algn="l">
              <a:lnSpc>
                <a:spcPct val="100000"/>
              </a:lnSpc>
            </a:pPr>
            <a:r>
              <a:rPr sz="1000">
                <a:solidFill>
                  <a:srgbClr val="1A1A1A"/>
                </a:solidFill>
                <a:latin typeface="Courier New"/>
              </a:rPr>
              <a:t>tracker = make_result_tracker()</a:t>
            </a:r>
          </a:p>
          <a:p>
            <a:pPr algn="l">
              <a:lnSpc>
                <a:spcPct val="100000"/>
              </a:lnSpc>
            </a:pPr>
            <a:r>
              <a:rPr sz="1000">
                <a:solidFill>
                  <a:srgbClr val="1A1A1A"/>
                </a:solidFill>
                <a:latin typeface="Courier New"/>
              </a:rPr>
              <a:t>tracker(True)</a:t>
            </a:r>
          </a:p>
          <a:p>
            <a:pPr algn="l">
              <a:lnSpc>
                <a:spcPct val="100000"/>
              </a:lnSpc>
            </a:pPr>
            <a:r>
              <a:rPr sz="1000">
                <a:solidFill>
                  <a:srgbClr val="1A1A1A"/>
                </a:solidFill>
                <a:latin typeface="Courier New"/>
              </a:rPr>
              <a:t>tracker(True)</a:t>
            </a:r>
          </a:p>
          <a:p>
            <a:pPr algn="l">
              <a:lnSpc>
                <a:spcPct val="100000"/>
              </a:lnSpc>
            </a:pPr>
            <a:r>
              <a:rPr sz="1000">
                <a:solidFill>
                  <a:srgbClr val="1A1A1A"/>
                </a:solidFill>
                <a:latin typeface="Courier New"/>
              </a:rPr>
              <a:t>print(tracker(False))                      # {'passed': 2, 'failed': 1}</a:t>
            </a:r>
          </a:p>
        </p:txBody>
      </p:sp>
      <p:sp>
        <p:nvSpPr>
          <p:cNvPr id="7" name="TextBox 6"/>
          <p:cNvSpPr txBox="1"/>
          <p:nvPr/>
        </p:nvSpPr>
        <p:spPr>
          <a:xfrm>
            <a:off x="8107984" y="1783080"/>
            <a:ext cx="3473805" cy="4361688"/>
          </a:xfrm>
          <a:prstGeom prst="rect">
            <a:avLst/>
          </a:prstGeom>
          <a:noFill/>
        </p:spPr>
        <p:txBody>
          <a:bodyPr wrap="square" lIns="0" tIns="0" rIns="0" bIns="0">
            <a:spAutoFit/>
          </a:bodyPr>
          <a:lstStyle/>
          <a:p>
            <a:pPr marL="228600" indent="-228600" algn="l">
              <a:spcAft>
                <a:spcPts val="800"/>
              </a:spcAft>
              <a:buFont typeface="Arial"/>
              <a:buChar char="•"/>
            </a:pPr>
            <a:r>
              <a:rPr sz="1350" b="0" i="0">
                <a:solidFill>
                  <a:srgbClr val="330066"/>
                </a:solidFill>
                <a:latin typeface="Courier New"/>
              </a:rPr>
              <a:t>results</a:t>
            </a:r>
            <a:r>
              <a:rPr sz="1400" b="0" i="0">
                <a:solidFill>
                  <a:srgbClr val="1A1A1A"/>
                </a:solidFill>
                <a:latin typeface="Arial"/>
              </a:rPr>
              <a:t> is created once per </a:t>
            </a:r>
            <a:r>
              <a:rPr sz="1350" b="0" i="0">
                <a:solidFill>
                  <a:srgbClr val="330066"/>
                </a:solidFill>
                <a:latin typeface="Courier New"/>
              </a:rPr>
              <a:t>make_result_tracker()</a:t>
            </a:r>
            <a:r>
              <a:rPr sz="1400" b="0" i="0">
                <a:solidFill>
                  <a:srgbClr val="1A1A1A"/>
                </a:solidFill>
                <a:latin typeface="Arial"/>
              </a:rPr>
              <a:t> call and lives inside the closure.</a:t>
            </a:r>
          </a:p>
          <a:p>
            <a:pPr marL="228600" indent="-228600" algn="l">
              <a:spcAft>
                <a:spcPts val="800"/>
              </a:spcAft>
              <a:buFont typeface="Arial"/>
              <a:buChar char="•"/>
            </a:pPr>
            <a:r>
              <a:rPr sz="1350" b="0" i="0">
                <a:solidFill>
                  <a:srgbClr val="330066"/>
                </a:solidFill>
                <a:latin typeface="Courier New"/>
              </a:rPr>
              <a:t>results[key] += 1</a:t>
            </a:r>
            <a:r>
              <a:rPr sz="1400" b="0" i="0">
                <a:solidFill>
                  <a:srgbClr val="1A1A1A"/>
                </a:solidFill>
                <a:latin typeface="Arial"/>
              </a:rPr>
              <a:t> changes contents, not the name, so </a:t>
            </a:r>
            <a:r>
              <a:rPr sz="1350" b="0" i="0">
                <a:solidFill>
                  <a:srgbClr val="330066"/>
                </a:solidFill>
                <a:latin typeface="Courier New"/>
              </a:rPr>
              <a:t>nonlocal</a:t>
            </a:r>
            <a:r>
              <a:rPr sz="1400" b="0" i="0">
                <a:solidFill>
                  <a:srgbClr val="1A1A1A"/>
                </a:solidFill>
                <a:latin typeface="Arial"/>
              </a:rPr>
              <a:t> is not needed. Writing </a:t>
            </a:r>
            <a:r>
              <a:rPr sz="1350" b="0" i="0">
                <a:solidFill>
                  <a:srgbClr val="330066"/>
                </a:solidFill>
                <a:latin typeface="Courier New"/>
              </a:rPr>
              <a:t>results = {...}</a:t>
            </a:r>
            <a:r>
              <a:rPr sz="1400" b="0" i="0">
                <a:solidFill>
                  <a:srgbClr val="1A1A1A"/>
                </a:solidFill>
                <a:latin typeface="Arial"/>
              </a:rPr>
              <a:t> in </a:t>
            </a:r>
            <a:r>
              <a:rPr sz="1350" b="0" i="0">
                <a:solidFill>
                  <a:srgbClr val="330066"/>
                </a:solidFill>
                <a:latin typeface="Courier New"/>
              </a:rPr>
              <a:t>record</a:t>
            </a:r>
            <a:r>
              <a:rPr sz="1400" b="0" i="0">
                <a:solidFill>
                  <a:srgbClr val="1A1A1A"/>
                </a:solidFill>
                <a:latin typeface="Arial"/>
              </a:rPr>
              <a:t> would need it.</a:t>
            </a:r>
          </a:p>
          <a:p>
            <a:pPr marL="228600" indent="-228600" algn="l">
              <a:spcAft>
                <a:spcPts val="800"/>
              </a:spcAft>
              <a:buFont typeface="Arial"/>
              <a:buChar char="•"/>
            </a:pPr>
            <a:r>
              <a:rPr sz="1350" b="0" i="0">
                <a:solidFill>
                  <a:srgbClr val="330066"/>
                </a:solidFill>
                <a:latin typeface="Courier New"/>
              </a:rPr>
              <a:t>dict(results)</a:t>
            </a:r>
            <a:r>
              <a:rPr sz="1400" b="0" i="0">
                <a:solidFill>
                  <a:srgbClr val="1A1A1A"/>
                </a:solidFill>
                <a:latin typeface="Arial"/>
              </a:rPr>
              <a:t> returns a copy, protecting internal state.</a:t>
            </a:r>
          </a:p>
        </p:txBody>
      </p:sp>
      <p:sp>
        <p:nvSpPr>
          <p:cNvPr id="8" name="TextBox 7"/>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41 / 46</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330066"/>
                </a:solidFill>
              </a:rPr>
              <a:t>Example C: Spot the Shadowing Bug</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EXAMPLE C</a:t>
            </a:r>
          </a:p>
        </p:txBody>
      </p:sp>
      <p:sp>
        <p:nvSpPr>
          <p:cNvPr id="4" name="TextBox 3"/>
          <p:cNvSpPr txBox="1"/>
          <p:nvPr/>
        </p:nvSpPr>
        <p:spPr>
          <a:xfrm>
            <a:off x="609904" y="1783080"/>
            <a:ext cx="694944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Works, poor style</a:t>
            </a:r>
          </a:p>
        </p:txBody>
      </p:sp>
      <p:sp>
        <p:nvSpPr>
          <p:cNvPr id="5" name="Rounded Rectangle 4"/>
          <p:cNvSpPr/>
          <p:nvPr/>
        </p:nvSpPr>
        <p:spPr>
          <a:xfrm>
            <a:off x="609904" y="2057400"/>
            <a:ext cx="6949440" cy="1168908"/>
          </a:xfrm>
          <a:prstGeom prst="roundRect">
            <a:avLst>
              <a:gd name="adj" fmla="val 6258"/>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03704"/>
            <a:ext cx="6547103" cy="876299"/>
          </a:xfrm>
          <a:prstGeom prst="rect">
            <a:avLst/>
          </a:prstGeom>
          <a:noFill/>
        </p:spPr>
        <p:txBody>
          <a:bodyPr wrap="square" lIns="0" tIns="0" rIns="0" bIns="0">
            <a:spAutoFit/>
          </a:bodyPr>
          <a:lstStyle/>
          <a:p>
            <a:pPr algn="l">
              <a:lnSpc>
                <a:spcPct val="100000"/>
              </a:lnSpc>
            </a:pPr>
            <a:r>
              <a:rPr sz="1150">
                <a:solidFill>
                  <a:srgbClr val="1A1A1A"/>
                </a:solidFill>
                <a:latin typeface="Courier New"/>
              </a:rPr>
              <a:t>def average(numbers):</a:t>
            </a:r>
          </a:p>
          <a:p>
            <a:pPr algn="l">
              <a:lnSpc>
                <a:spcPct val="100000"/>
              </a:lnSpc>
            </a:pPr>
            <a:r>
              <a:rPr sz="1150">
                <a:solidFill>
                  <a:srgbClr val="1A1A1A"/>
                </a:solidFill>
                <a:latin typeface="Courier New"/>
              </a:rPr>
              <a:t>    sum = 0                       # shadows built-in sum, but only locally</a:t>
            </a:r>
          </a:p>
          <a:p>
            <a:pPr algn="l">
              <a:lnSpc>
                <a:spcPct val="100000"/>
              </a:lnSpc>
            </a:pPr>
            <a:r>
              <a:rPr sz="1150">
                <a:solidFill>
                  <a:srgbClr val="1A1A1A"/>
                </a:solidFill>
                <a:latin typeface="Courier New"/>
              </a:rPr>
              <a:t>    for n in numbers:</a:t>
            </a:r>
          </a:p>
          <a:p>
            <a:pPr algn="l">
              <a:lnSpc>
                <a:spcPct val="100000"/>
              </a:lnSpc>
            </a:pPr>
            <a:r>
              <a:rPr sz="1150">
                <a:solidFill>
                  <a:srgbClr val="1A1A1A"/>
                </a:solidFill>
                <a:latin typeface="Courier New"/>
              </a:rPr>
              <a:t>        sum += n</a:t>
            </a:r>
          </a:p>
          <a:p>
            <a:pPr algn="l">
              <a:lnSpc>
                <a:spcPct val="100000"/>
              </a:lnSpc>
            </a:pPr>
            <a:r>
              <a:rPr sz="1150">
                <a:solidFill>
                  <a:srgbClr val="1A1A1A"/>
                </a:solidFill>
                <a:latin typeface="Courier New"/>
              </a:rPr>
              <a:t>    return sum / len(numbers)</a:t>
            </a:r>
          </a:p>
        </p:txBody>
      </p:sp>
      <p:sp>
        <p:nvSpPr>
          <p:cNvPr id="7" name="TextBox 6"/>
          <p:cNvSpPr txBox="1"/>
          <p:nvPr/>
        </p:nvSpPr>
        <p:spPr>
          <a:xfrm>
            <a:off x="609904" y="3409188"/>
            <a:ext cx="694944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Later edit breaks it</a:t>
            </a:r>
          </a:p>
        </p:txBody>
      </p:sp>
      <p:sp>
        <p:nvSpPr>
          <p:cNvPr id="8" name="Rounded Rectangle 7"/>
          <p:cNvSpPr/>
          <p:nvPr/>
        </p:nvSpPr>
        <p:spPr>
          <a:xfrm>
            <a:off x="609904" y="3683508"/>
            <a:ext cx="6949440" cy="963168"/>
          </a:xfrm>
          <a:prstGeom prst="roundRect">
            <a:avLst>
              <a:gd name="adj" fmla="val 7594"/>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1072" y="3829812"/>
            <a:ext cx="6547103" cy="670560"/>
          </a:xfrm>
          <a:prstGeom prst="rect">
            <a:avLst/>
          </a:prstGeom>
          <a:noFill/>
        </p:spPr>
        <p:txBody>
          <a:bodyPr wrap="square" lIns="0" tIns="0" rIns="0" bIns="0">
            <a:spAutoFit/>
          </a:bodyPr>
          <a:lstStyle/>
          <a:p>
            <a:pPr algn="l">
              <a:lnSpc>
                <a:spcPct val="100000"/>
              </a:lnSpc>
            </a:pPr>
            <a:r>
              <a:rPr sz="1100">
                <a:solidFill>
                  <a:srgbClr val="1A1A1A"/>
                </a:solidFill>
                <a:latin typeface="Courier New"/>
              </a:rPr>
              <a:t>def average_v2(numbers):</a:t>
            </a:r>
          </a:p>
          <a:p>
            <a:pPr algn="l">
              <a:lnSpc>
                <a:spcPct val="100000"/>
              </a:lnSpc>
            </a:pPr>
            <a:r>
              <a:rPr sz="1100">
                <a:solidFill>
                  <a:srgbClr val="1A1A1A"/>
                </a:solidFill>
                <a:latin typeface="Courier New"/>
              </a:rPr>
              <a:t>    sum = 0</a:t>
            </a:r>
          </a:p>
          <a:p>
            <a:pPr algn="l">
              <a:lnSpc>
                <a:spcPct val="100000"/>
              </a:lnSpc>
            </a:pPr>
            <a:r>
              <a:rPr sz="1100">
                <a:solidFill>
                  <a:srgbClr val="1A1A1A"/>
                </a:solidFill>
                <a:latin typeface="Courier New"/>
              </a:rPr>
              <a:t>    sum = sum(numbers)            # TypeError: 'int' object is not callable</a:t>
            </a:r>
          </a:p>
          <a:p>
            <a:pPr algn="l">
              <a:lnSpc>
                <a:spcPct val="100000"/>
              </a:lnSpc>
            </a:pPr>
            <a:r>
              <a:rPr sz="1100">
                <a:solidFill>
                  <a:srgbClr val="1A1A1A"/>
                </a:solidFill>
                <a:latin typeface="Courier New"/>
              </a:rPr>
              <a:t>    return sum / len(numbers)</a:t>
            </a:r>
          </a:p>
        </p:txBody>
      </p:sp>
      <p:sp>
        <p:nvSpPr>
          <p:cNvPr id="10" name="TextBox 9"/>
          <p:cNvSpPr txBox="1"/>
          <p:nvPr/>
        </p:nvSpPr>
        <p:spPr>
          <a:xfrm>
            <a:off x="7925104" y="1783080"/>
            <a:ext cx="3656685" cy="4361688"/>
          </a:xfrm>
          <a:prstGeom prst="rect">
            <a:avLst/>
          </a:prstGeom>
          <a:noFill/>
        </p:spPr>
        <p:txBody>
          <a:bodyPr wrap="square" lIns="0" tIns="0" rIns="0" bIns="0">
            <a:spAutoFit/>
          </a:bodyPr>
          <a:lstStyle/>
          <a:p>
            <a:pPr marL="228600" indent="-228600" algn="l">
              <a:spcAft>
                <a:spcPts val="800"/>
              </a:spcAft>
              <a:buFont typeface="Arial"/>
              <a:buChar char="•"/>
            </a:pPr>
            <a:r>
              <a:rPr sz="1450" b="0" i="0">
                <a:solidFill>
                  <a:srgbClr val="1A1A1A"/>
                </a:solidFill>
                <a:latin typeface="Arial"/>
              </a:rPr>
              <a:t>The first version works because the shadowing is local: output </a:t>
            </a:r>
            <a:r>
              <a:rPr sz="1400" b="0" i="0">
                <a:solidFill>
                  <a:srgbClr val="330066"/>
                </a:solidFill>
                <a:latin typeface="Courier New"/>
              </a:rPr>
              <a:t>4.0</a:t>
            </a:r>
            <a:r>
              <a:rPr sz="1450" b="0" i="0">
                <a:solidFill>
                  <a:srgbClr val="1A1A1A"/>
                </a:solidFill>
                <a:latin typeface="Arial"/>
              </a:rPr>
              <a:t>.</a:t>
            </a:r>
          </a:p>
          <a:p>
            <a:pPr marL="228600" indent="-228600" algn="l">
              <a:spcAft>
                <a:spcPts val="800"/>
              </a:spcAft>
              <a:buFont typeface="Arial"/>
              <a:buChar char="•"/>
            </a:pPr>
            <a:r>
              <a:rPr sz="1450" b="0" i="0">
                <a:solidFill>
                  <a:srgbClr val="1A1A1A"/>
                </a:solidFill>
                <a:latin typeface="Arial"/>
              </a:rPr>
              <a:t>A later edit calling </a:t>
            </a:r>
            <a:r>
              <a:rPr sz="1400" b="0" i="0">
                <a:solidFill>
                  <a:srgbClr val="330066"/>
                </a:solidFill>
                <a:latin typeface="Courier New"/>
              </a:rPr>
              <a:t>sum(numbers)</a:t>
            </a:r>
            <a:r>
              <a:rPr sz="1450" b="0" i="0">
                <a:solidFill>
                  <a:srgbClr val="1A1A1A"/>
                </a:solidFill>
                <a:latin typeface="Arial"/>
              </a:rPr>
              <a:t> fails: </a:t>
            </a:r>
            <a:r>
              <a:rPr sz="1400" b="0" i="0">
                <a:solidFill>
                  <a:srgbClr val="330066"/>
                </a:solidFill>
                <a:latin typeface="Courier New"/>
              </a:rPr>
              <a:t>TypeError: 'int' object is not callable</a:t>
            </a:r>
            <a:r>
              <a:rPr sz="1450" b="0" i="0">
                <a:solidFill>
                  <a:srgbClr val="1A1A1A"/>
                </a:solidFill>
                <a:latin typeface="Arial"/>
              </a:rPr>
              <a:t>.</a:t>
            </a:r>
          </a:p>
          <a:p>
            <a:pPr marL="228600" indent="-228600" algn="l">
              <a:spcAft>
                <a:spcPts val="800"/>
              </a:spcAft>
              <a:buFont typeface="Arial"/>
              <a:buChar char="•"/>
            </a:pPr>
            <a:r>
              <a:rPr sz="1450" b="0" i="0">
                <a:solidFill>
                  <a:srgbClr val="1A1A1A"/>
                </a:solidFill>
                <a:latin typeface="Arial"/>
              </a:rPr>
              <a:t>Rename the variable to </a:t>
            </a:r>
            <a:r>
              <a:rPr sz="1400" b="0" i="0">
                <a:solidFill>
                  <a:srgbClr val="330066"/>
                </a:solidFill>
                <a:latin typeface="Courier New"/>
              </a:rPr>
              <a:t>total</a:t>
            </a:r>
            <a:r>
              <a:rPr sz="1450" b="0" i="0">
                <a:solidFill>
                  <a:srgbClr val="1A1A1A"/>
                </a:solidFill>
                <a:latin typeface="Arial"/>
              </a:rPr>
              <a:t> and the problem cannot occur.</a:t>
            </a:r>
          </a:p>
        </p:txBody>
      </p:sp>
      <p:sp>
        <p:nvSpPr>
          <p:cNvPr id="11" name="TextBox 10"/>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42 / 46</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330066"/>
                </a:solidFill>
              </a:rPr>
              <a:t>Example D: Inspecting While Debugging</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EXAMPLE D</a:t>
            </a:r>
          </a:p>
        </p:txBody>
      </p:sp>
      <p:sp>
        <p:nvSpPr>
          <p:cNvPr id="4" name="TextBox 3"/>
          <p:cNvSpPr txBox="1"/>
          <p:nvPr/>
        </p:nvSpPr>
        <p:spPr>
          <a:xfrm>
            <a:off x="609904" y="1783080"/>
            <a:ext cx="676656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Code</a:t>
            </a:r>
          </a:p>
        </p:txBody>
      </p:sp>
      <p:sp>
        <p:nvSpPr>
          <p:cNvPr id="5" name="Rounded Rectangle 4"/>
          <p:cNvSpPr/>
          <p:nvPr/>
        </p:nvSpPr>
        <p:spPr>
          <a:xfrm>
            <a:off x="609904" y="2057400"/>
            <a:ext cx="6766560" cy="1511808"/>
          </a:xfrm>
          <a:prstGeom prst="roundRect">
            <a:avLst>
              <a:gd name="adj" fmla="val 4838"/>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03704"/>
            <a:ext cx="6364224" cy="1219200"/>
          </a:xfrm>
          <a:prstGeom prst="rect">
            <a:avLst/>
          </a:prstGeom>
          <a:noFill/>
        </p:spPr>
        <p:txBody>
          <a:bodyPr wrap="square" lIns="0" tIns="0" rIns="0" bIns="0">
            <a:spAutoFit/>
          </a:bodyPr>
          <a:lstStyle/>
          <a:p>
            <a:pPr algn="l">
              <a:lnSpc>
                <a:spcPct val="100000"/>
              </a:lnSpc>
            </a:pPr>
            <a:r>
              <a:rPr sz="1000">
                <a:solidFill>
                  <a:srgbClr val="1A1A1A"/>
                </a:solidFill>
                <a:latin typeface="Courier New"/>
              </a:rPr>
              <a:t>API_TIMEOUT = 30</a:t>
            </a:r>
          </a:p>
          <a:p>
            <a:pPr algn="l">
              <a:lnSpc>
                <a:spcPct val="100000"/>
              </a:lnSpc>
            </a:pPr>
            <a:r>
              <a:rPr sz="1000">
                <a:solidFill>
                  <a:srgbClr val="1A1A1A"/>
                </a:solidFill>
                <a:latin typeface="Courier New"/>
              </a:rPr>
              <a:t> </a:t>
            </a:r>
          </a:p>
          <a:p>
            <a:pPr algn="l">
              <a:lnSpc>
                <a:spcPct val="100000"/>
              </a:lnSpc>
            </a:pPr>
            <a:r>
              <a:rPr sz="1000">
                <a:solidFill>
                  <a:srgbClr val="1A1A1A"/>
                </a:solidFill>
                <a:latin typeface="Courier New"/>
              </a:rPr>
              <a:t>def fetch(path, retries=3):</a:t>
            </a:r>
          </a:p>
          <a:p>
            <a:pPr algn="l">
              <a:lnSpc>
                <a:spcPct val="100000"/>
              </a:lnSpc>
            </a:pPr>
            <a:r>
              <a:rPr sz="1000">
                <a:solidFill>
                  <a:srgbClr val="1A1A1A"/>
                </a:solidFill>
                <a:latin typeface="Courier New"/>
              </a:rPr>
              <a:t>    attempt = 1</a:t>
            </a:r>
          </a:p>
          <a:p>
            <a:pPr algn="l">
              <a:lnSpc>
                <a:spcPct val="100000"/>
              </a:lnSpc>
            </a:pPr>
            <a:r>
              <a:rPr sz="1000">
                <a:solidFill>
                  <a:srgbClr val="1A1A1A"/>
                </a:solidFill>
                <a:latin typeface="Courier New"/>
              </a:rPr>
              <a:t>    print("locals :", locals())</a:t>
            </a:r>
          </a:p>
          <a:p>
            <a:pPr algn="l">
              <a:lnSpc>
                <a:spcPct val="100000"/>
              </a:lnSpc>
            </a:pPr>
            <a:r>
              <a:rPr sz="1000">
                <a:solidFill>
                  <a:srgbClr val="1A1A1A"/>
                </a:solidFill>
                <a:latin typeface="Courier New"/>
              </a:rPr>
              <a:t>    print("timeout:", API_TIMEOUT, "| in globals?", "API_TIMEOUT" in globals())</a:t>
            </a:r>
          </a:p>
          <a:p>
            <a:pPr algn="l">
              <a:lnSpc>
                <a:spcPct val="100000"/>
              </a:lnSpc>
            </a:pPr>
            <a:r>
              <a:rPr sz="1000">
                <a:solidFill>
                  <a:srgbClr val="1A1A1A"/>
                </a:solidFill>
                <a:latin typeface="Courier New"/>
              </a:rPr>
              <a:t> </a:t>
            </a:r>
          </a:p>
          <a:p>
            <a:pPr algn="l">
              <a:lnSpc>
                <a:spcPct val="100000"/>
              </a:lnSpc>
            </a:pPr>
            <a:r>
              <a:rPr sz="1000">
                <a:solidFill>
                  <a:srgbClr val="1A1A1A"/>
                </a:solidFill>
                <a:latin typeface="Courier New"/>
              </a:rPr>
              <a:t>fetch("/health")</a:t>
            </a:r>
          </a:p>
        </p:txBody>
      </p:sp>
      <p:sp>
        <p:nvSpPr>
          <p:cNvPr id="7" name="TextBox 6"/>
          <p:cNvSpPr txBox="1"/>
          <p:nvPr/>
        </p:nvSpPr>
        <p:spPr>
          <a:xfrm>
            <a:off x="609904" y="3752088"/>
            <a:ext cx="676656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Output</a:t>
            </a:r>
          </a:p>
        </p:txBody>
      </p:sp>
      <p:sp>
        <p:nvSpPr>
          <p:cNvPr id="8" name="Rounded Rectangle 7"/>
          <p:cNvSpPr/>
          <p:nvPr/>
        </p:nvSpPr>
        <p:spPr>
          <a:xfrm>
            <a:off x="609904" y="4026408"/>
            <a:ext cx="6766560" cy="673607"/>
          </a:xfrm>
          <a:prstGeom prst="roundRect">
            <a:avLst>
              <a:gd name="adj" fmla="val 10859"/>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1072" y="4172712"/>
            <a:ext cx="6364224" cy="380999"/>
          </a:xfrm>
          <a:prstGeom prst="rect">
            <a:avLst/>
          </a:prstGeom>
          <a:noFill/>
        </p:spPr>
        <p:txBody>
          <a:bodyPr wrap="square" lIns="0" tIns="0" rIns="0" bIns="0">
            <a:spAutoFit/>
          </a:bodyPr>
          <a:lstStyle/>
          <a:p>
            <a:pPr algn="l">
              <a:lnSpc>
                <a:spcPct val="100000"/>
              </a:lnSpc>
            </a:pPr>
            <a:r>
              <a:rPr sz="1250">
                <a:solidFill>
                  <a:srgbClr val="1A1A1A"/>
                </a:solidFill>
                <a:latin typeface="Courier New"/>
              </a:rPr>
              <a:t>locals : {'path': '/health', 'retries': 3, 'attempt': 1}</a:t>
            </a:r>
          </a:p>
          <a:p>
            <a:pPr algn="l">
              <a:lnSpc>
                <a:spcPct val="100000"/>
              </a:lnSpc>
            </a:pPr>
            <a:r>
              <a:rPr sz="1250">
                <a:solidFill>
                  <a:srgbClr val="1A1A1A"/>
                </a:solidFill>
                <a:latin typeface="Courier New"/>
              </a:rPr>
              <a:t>timeout: 30 | in globals? True</a:t>
            </a:r>
          </a:p>
        </p:txBody>
      </p:sp>
      <p:sp>
        <p:nvSpPr>
          <p:cNvPr id="10" name="TextBox 9"/>
          <p:cNvSpPr txBox="1"/>
          <p:nvPr/>
        </p:nvSpPr>
        <p:spPr>
          <a:xfrm>
            <a:off x="7742224" y="1783080"/>
            <a:ext cx="3839565" cy="4361688"/>
          </a:xfrm>
          <a:prstGeom prst="rect">
            <a:avLst/>
          </a:prstGeom>
          <a:noFill/>
        </p:spPr>
        <p:txBody>
          <a:bodyPr wrap="square" lIns="0" tIns="0" rIns="0" bIns="0">
            <a:spAutoFit/>
          </a:bodyPr>
          <a:lstStyle/>
          <a:p>
            <a:pPr marL="228600" indent="-228600" algn="l">
              <a:spcAft>
                <a:spcPts val="800"/>
              </a:spcAft>
              <a:buFont typeface="Arial"/>
              <a:buChar char="•"/>
            </a:pPr>
            <a:r>
              <a:rPr sz="1450" b="0" i="0">
                <a:solidFill>
                  <a:srgbClr val="1A1A1A"/>
                </a:solidFill>
                <a:latin typeface="Arial"/>
              </a:rPr>
              <a:t>When you cannot understand why a variable has a given value, print </a:t>
            </a:r>
            <a:r>
              <a:rPr sz="1400" b="0" i="0">
                <a:solidFill>
                  <a:srgbClr val="330066"/>
                </a:solidFill>
                <a:latin typeface="Courier New"/>
              </a:rPr>
              <a:t>locals()</a:t>
            </a:r>
            <a:r>
              <a:rPr sz="1450" b="0" i="0">
                <a:solidFill>
                  <a:srgbClr val="1A1A1A"/>
                </a:solidFill>
                <a:latin typeface="Arial"/>
              </a:rPr>
              <a:t>.</a:t>
            </a:r>
          </a:p>
          <a:p>
            <a:pPr marL="228600" indent="-228600" algn="l">
              <a:spcAft>
                <a:spcPts val="800"/>
              </a:spcAft>
              <a:buFont typeface="Arial"/>
              <a:buChar char="•"/>
            </a:pPr>
            <a:r>
              <a:rPr sz="1450" b="0" i="0">
                <a:solidFill>
                  <a:srgbClr val="1A1A1A"/>
                </a:solidFill>
                <a:latin typeface="Arial"/>
              </a:rPr>
              <a:t>It shows everything available to the function.</a:t>
            </a:r>
          </a:p>
        </p:txBody>
      </p:sp>
      <p:sp>
        <p:nvSpPr>
          <p:cNvPr id="11" name="TextBox 10"/>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43 / 46</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Key Takeaways (1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SUMMARY</a:t>
            </a:r>
          </a:p>
        </p:txBody>
      </p:sp>
      <p:sp>
        <p:nvSpPr>
          <p:cNvPr id="4" name="Oval 3"/>
          <p:cNvSpPr/>
          <p:nvPr/>
        </p:nvSpPr>
        <p:spPr>
          <a:xfrm>
            <a:off x="60990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5" name="TextBox 4"/>
          <p:cNvSpPr txBox="1"/>
          <p:nvPr/>
        </p:nvSpPr>
        <p:spPr>
          <a:xfrm>
            <a:off x="1158544" y="1856231"/>
            <a:ext cx="10423245" cy="490220"/>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A namespace maps names to objects; a scope is the region of code where a namespace is directly accessible.</a:t>
            </a:r>
          </a:p>
        </p:txBody>
      </p:sp>
      <p:sp>
        <p:nvSpPr>
          <p:cNvPr id="6" name="Oval 5"/>
          <p:cNvSpPr/>
          <p:nvPr/>
        </p:nvSpPr>
        <p:spPr>
          <a:xfrm>
            <a:off x="609904" y="2437892"/>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7" name="TextBox 6"/>
          <p:cNvSpPr txBox="1"/>
          <p:nvPr/>
        </p:nvSpPr>
        <p:spPr>
          <a:xfrm>
            <a:off x="1158544" y="2511044"/>
            <a:ext cx="10423245" cy="384048"/>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Lookup is LEGB: Local, Enclosing, Global, Built-in; first match wins, none means </a:t>
            </a:r>
            <a:r>
              <a:rPr sz="1350" b="0" i="0">
                <a:solidFill>
                  <a:srgbClr val="330066"/>
                </a:solidFill>
                <a:latin typeface="Courier New"/>
              </a:rPr>
              <a:t>NameError</a:t>
            </a:r>
            <a:r>
              <a:rPr sz="1400" b="0" i="0">
                <a:solidFill>
                  <a:srgbClr val="1A1A1A"/>
                </a:solidFill>
                <a:latin typeface="Arial"/>
              </a:rPr>
              <a:t>.</a:t>
            </a:r>
          </a:p>
        </p:txBody>
      </p:sp>
      <p:sp>
        <p:nvSpPr>
          <p:cNvPr id="8" name="Oval 7"/>
          <p:cNvSpPr/>
          <p:nvPr/>
        </p:nvSpPr>
        <p:spPr>
          <a:xfrm>
            <a:off x="609904" y="2986532"/>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9" name="TextBox 8"/>
          <p:cNvSpPr txBox="1"/>
          <p:nvPr/>
        </p:nvSpPr>
        <p:spPr>
          <a:xfrm>
            <a:off x="1158544" y="3059684"/>
            <a:ext cx="10423245" cy="384048"/>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Scope is decided by where code is written (lexical), not by who calls it.</a:t>
            </a:r>
          </a:p>
        </p:txBody>
      </p:sp>
      <p:sp>
        <p:nvSpPr>
          <p:cNvPr id="10" name="Oval 9"/>
          <p:cNvSpPr/>
          <p:nvPr/>
        </p:nvSpPr>
        <p:spPr>
          <a:xfrm>
            <a:off x="609904" y="3535172"/>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4</a:t>
            </a:r>
          </a:p>
        </p:txBody>
      </p:sp>
      <p:sp>
        <p:nvSpPr>
          <p:cNvPr id="11" name="TextBox 10"/>
          <p:cNvSpPr txBox="1"/>
          <p:nvPr/>
        </p:nvSpPr>
        <p:spPr>
          <a:xfrm>
            <a:off x="1158544" y="3608324"/>
            <a:ext cx="10423245" cy="384048"/>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Assigning inside a function makes the name local to the whole function: hence </a:t>
            </a:r>
            <a:r>
              <a:rPr sz="1350" b="0" i="0">
                <a:solidFill>
                  <a:srgbClr val="330066"/>
                </a:solidFill>
                <a:latin typeface="Courier New"/>
              </a:rPr>
              <a:t>UnboundLocalError</a:t>
            </a:r>
            <a:r>
              <a:rPr sz="1400" b="0" i="0">
                <a:solidFill>
                  <a:srgbClr val="1A1A1A"/>
                </a:solidFill>
                <a:latin typeface="Arial"/>
              </a:rPr>
              <a:t>.</a:t>
            </a:r>
          </a:p>
        </p:txBody>
      </p:sp>
      <p:sp>
        <p:nvSpPr>
          <p:cNvPr id="12" name="Oval 11"/>
          <p:cNvSpPr/>
          <p:nvPr/>
        </p:nvSpPr>
        <p:spPr>
          <a:xfrm>
            <a:off x="609904" y="4083812"/>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5</a:t>
            </a:r>
          </a:p>
        </p:txBody>
      </p:sp>
      <p:sp>
        <p:nvSpPr>
          <p:cNvPr id="13" name="TextBox 12"/>
          <p:cNvSpPr txBox="1"/>
          <p:nvPr/>
        </p:nvSpPr>
        <p:spPr>
          <a:xfrm>
            <a:off x="1158544" y="4156964"/>
            <a:ext cx="10423245" cy="490220"/>
          </a:xfrm>
          <a:prstGeom prst="rect">
            <a:avLst/>
          </a:prstGeom>
          <a:noFill/>
        </p:spPr>
        <p:txBody>
          <a:bodyPr wrap="square" lIns="0" tIns="0" rIns="0" bIns="0" anchor="t">
            <a:spAutoFit/>
          </a:bodyPr>
          <a:lstStyle/>
          <a:p>
            <a:pPr algn="l">
              <a:lnSpc>
                <a:spcPct val="110000"/>
              </a:lnSpc>
              <a:spcAft>
                <a:spcPts val="600"/>
              </a:spcAft>
            </a:pPr>
            <a:r>
              <a:rPr sz="1350" b="0" i="0">
                <a:solidFill>
                  <a:srgbClr val="330066"/>
                </a:solidFill>
                <a:latin typeface="Courier New"/>
              </a:rPr>
              <a:t>global</a:t>
            </a:r>
            <a:r>
              <a:rPr sz="1400" b="0" i="0">
                <a:solidFill>
                  <a:srgbClr val="1A1A1A"/>
                </a:solidFill>
                <a:latin typeface="Arial"/>
              </a:rPr>
              <a:t> rebinds a module-level name, </a:t>
            </a:r>
            <a:r>
              <a:rPr sz="1350" b="0" i="0">
                <a:solidFill>
                  <a:srgbClr val="330066"/>
                </a:solidFill>
                <a:latin typeface="Courier New"/>
              </a:rPr>
              <a:t>nonlocal</a:t>
            </a:r>
            <a:r>
              <a:rPr sz="1400" b="0" i="0">
                <a:solidFill>
                  <a:srgbClr val="1A1A1A"/>
                </a:solidFill>
                <a:latin typeface="Arial"/>
              </a:rPr>
              <a:t> an enclosing function's name. Prefer parameters, return values and objects.</a:t>
            </a:r>
          </a:p>
        </p:txBody>
      </p:sp>
      <p:sp>
        <p:nvSpPr>
          <p:cNvPr id="14" name="TextBox 13"/>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44 / 46</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Key Takeaways (2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SUMMARY</a:t>
            </a:r>
          </a:p>
        </p:txBody>
      </p:sp>
      <p:sp>
        <p:nvSpPr>
          <p:cNvPr id="4" name="Oval 3"/>
          <p:cNvSpPr/>
          <p:nvPr/>
        </p:nvSpPr>
        <p:spPr>
          <a:xfrm>
            <a:off x="60990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5" name="TextBox 4"/>
          <p:cNvSpPr txBox="1"/>
          <p:nvPr/>
        </p:nvSpPr>
        <p:spPr>
          <a:xfrm>
            <a:off x="1158544" y="1856231"/>
            <a:ext cx="10423245" cy="384048"/>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Mutating (e.g. </a:t>
            </a:r>
            <a:r>
              <a:rPr sz="1350" b="0" i="0">
                <a:solidFill>
                  <a:srgbClr val="330066"/>
                </a:solidFill>
                <a:latin typeface="Courier New"/>
              </a:rPr>
              <a:t>list.append</a:t>
            </a:r>
            <a:r>
              <a:rPr sz="1400" b="0" i="0">
                <a:solidFill>
                  <a:srgbClr val="1A1A1A"/>
                </a:solidFill>
                <a:latin typeface="Arial"/>
              </a:rPr>
              <a:t>) is not rebinding, so it needs neither keyword.</a:t>
            </a:r>
          </a:p>
        </p:txBody>
      </p:sp>
      <p:sp>
        <p:nvSpPr>
          <p:cNvPr id="6" name="Oval 5"/>
          <p:cNvSpPr/>
          <p:nvPr/>
        </p:nvSpPr>
        <p:spPr>
          <a:xfrm>
            <a:off x="609904" y="233172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7" name="TextBox 6"/>
          <p:cNvSpPr txBox="1"/>
          <p:nvPr/>
        </p:nvSpPr>
        <p:spPr>
          <a:xfrm>
            <a:off x="1158544" y="2404872"/>
            <a:ext cx="10423245" cy="384048"/>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Never name variables after built-ins (</a:t>
            </a:r>
            <a:r>
              <a:rPr sz="1350" b="0" i="0">
                <a:solidFill>
                  <a:srgbClr val="330066"/>
                </a:solidFill>
                <a:latin typeface="Courier New"/>
              </a:rPr>
              <a:t>list</a:t>
            </a:r>
            <a:r>
              <a:rPr sz="1400" b="0" i="0">
                <a:solidFill>
                  <a:srgbClr val="1A1A1A"/>
                </a:solidFill>
                <a:latin typeface="Arial"/>
              </a:rPr>
              <a:t>, </a:t>
            </a:r>
            <a:r>
              <a:rPr sz="1350" b="0" i="0">
                <a:solidFill>
                  <a:srgbClr val="330066"/>
                </a:solidFill>
                <a:latin typeface="Courier New"/>
              </a:rPr>
              <a:t>id</a:t>
            </a:r>
            <a:r>
              <a:rPr sz="1400" b="0" i="0">
                <a:solidFill>
                  <a:srgbClr val="1A1A1A"/>
                </a:solidFill>
                <a:latin typeface="Arial"/>
              </a:rPr>
              <a:t>, </a:t>
            </a:r>
            <a:r>
              <a:rPr sz="1350" b="0" i="0">
                <a:solidFill>
                  <a:srgbClr val="330066"/>
                </a:solidFill>
                <a:latin typeface="Courier New"/>
              </a:rPr>
              <a:t>type</a:t>
            </a:r>
            <a:r>
              <a:rPr sz="1400" b="0" i="0">
                <a:solidFill>
                  <a:srgbClr val="1A1A1A"/>
                </a:solidFill>
                <a:latin typeface="Arial"/>
              </a:rPr>
              <a:t>, </a:t>
            </a:r>
            <a:r>
              <a:rPr sz="1350" b="0" i="0">
                <a:solidFill>
                  <a:srgbClr val="330066"/>
                </a:solidFill>
                <a:latin typeface="Courier New"/>
              </a:rPr>
              <a:t>sum</a:t>
            </a:r>
            <a:r>
              <a:rPr sz="1400" b="0" i="0">
                <a:solidFill>
                  <a:srgbClr val="1A1A1A"/>
                </a:solidFill>
                <a:latin typeface="Arial"/>
              </a:rPr>
              <a:t>...).</a:t>
            </a:r>
          </a:p>
        </p:txBody>
      </p:sp>
      <p:sp>
        <p:nvSpPr>
          <p:cNvPr id="8" name="Oval 7"/>
          <p:cNvSpPr/>
          <p:nvPr/>
        </p:nvSpPr>
        <p:spPr>
          <a:xfrm>
            <a:off x="609904" y="288036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9" name="TextBox 8"/>
          <p:cNvSpPr txBox="1"/>
          <p:nvPr/>
        </p:nvSpPr>
        <p:spPr>
          <a:xfrm>
            <a:off x="1158544" y="2953512"/>
            <a:ext cx="10423245" cy="384048"/>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Loops, </a:t>
            </a:r>
            <a:r>
              <a:rPr sz="1350" b="0" i="0">
                <a:solidFill>
                  <a:srgbClr val="330066"/>
                </a:solidFill>
                <a:latin typeface="Courier New"/>
              </a:rPr>
              <a:t>if</a:t>
            </a:r>
            <a:r>
              <a:rPr sz="1400" b="0" i="0">
                <a:solidFill>
                  <a:srgbClr val="1A1A1A"/>
                </a:solidFill>
                <a:latin typeface="Arial"/>
              </a:rPr>
              <a:t> and </a:t>
            </a:r>
            <a:r>
              <a:rPr sz="1350" b="0" i="0">
                <a:solidFill>
                  <a:srgbClr val="330066"/>
                </a:solidFill>
                <a:latin typeface="Courier New"/>
              </a:rPr>
              <a:t>with</a:t>
            </a:r>
            <a:r>
              <a:rPr sz="1400" b="0" i="0">
                <a:solidFill>
                  <a:srgbClr val="1A1A1A"/>
                </a:solidFill>
                <a:latin typeface="Arial"/>
              </a:rPr>
              <a:t> do not create scopes; functions, lambdas, comprehensions, classes and modules do.</a:t>
            </a:r>
          </a:p>
        </p:txBody>
      </p:sp>
      <p:sp>
        <p:nvSpPr>
          <p:cNvPr id="10" name="Oval 9"/>
          <p:cNvSpPr/>
          <p:nvPr/>
        </p:nvSpPr>
        <p:spPr>
          <a:xfrm>
            <a:off x="609904" y="342900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4</a:t>
            </a:r>
          </a:p>
        </p:txBody>
      </p:sp>
      <p:sp>
        <p:nvSpPr>
          <p:cNvPr id="11" name="TextBox 10"/>
          <p:cNvSpPr txBox="1"/>
          <p:nvPr/>
        </p:nvSpPr>
        <p:spPr>
          <a:xfrm>
            <a:off x="1158544" y="3502152"/>
            <a:ext cx="10423245" cy="384048"/>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Closures capture variables, not values; use </a:t>
            </a:r>
            <a:r>
              <a:rPr sz="1350" b="0" i="0">
                <a:solidFill>
                  <a:srgbClr val="330066"/>
                </a:solidFill>
                <a:latin typeface="Courier New"/>
              </a:rPr>
              <a:t>lambda i=i: ...</a:t>
            </a:r>
            <a:r>
              <a:rPr sz="1400" b="0" i="0">
                <a:solidFill>
                  <a:srgbClr val="1A1A1A"/>
                </a:solidFill>
                <a:latin typeface="Arial"/>
              </a:rPr>
              <a:t> to freeze a value.</a:t>
            </a:r>
          </a:p>
        </p:txBody>
      </p:sp>
      <p:sp>
        <p:nvSpPr>
          <p:cNvPr id="12" name="Oval 11"/>
          <p:cNvSpPr/>
          <p:nvPr/>
        </p:nvSpPr>
        <p:spPr>
          <a:xfrm>
            <a:off x="609904" y="3977639"/>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5</a:t>
            </a:r>
          </a:p>
        </p:txBody>
      </p:sp>
      <p:sp>
        <p:nvSpPr>
          <p:cNvPr id="13" name="TextBox 12"/>
          <p:cNvSpPr txBox="1"/>
          <p:nvPr/>
        </p:nvSpPr>
        <p:spPr>
          <a:xfrm>
            <a:off x="1158544" y="4050791"/>
            <a:ext cx="10423245" cy="490220"/>
          </a:xfrm>
          <a:prstGeom prst="rect">
            <a:avLst/>
          </a:prstGeom>
          <a:noFill/>
        </p:spPr>
        <p:txBody>
          <a:bodyPr wrap="square" lIns="0" tIns="0" rIns="0" bIns="0" anchor="t">
            <a:spAutoFit/>
          </a:bodyPr>
          <a:lstStyle/>
          <a:p>
            <a:pPr algn="l">
              <a:lnSpc>
                <a:spcPct val="110000"/>
              </a:lnSpc>
              <a:spcAft>
                <a:spcPts val="600"/>
              </a:spcAft>
            </a:pPr>
            <a:r>
              <a:rPr sz="1350" b="0" i="0">
                <a:solidFill>
                  <a:srgbClr val="330066"/>
                </a:solidFill>
                <a:latin typeface="Courier New"/>
              </a:rPr>
              <a:t>globals()</a:t>
            </a:r>
            <a:r>
              <a:rPr sz="1400" b="0" i="0">
                <a:solidFill>
                  <a:srgbClr val="1A1A1A"/>
                </a:solidFill>
                <a:latin typeface="Arial"/>
              </a:rPr>
              <a:t>, </a:t>
            </a:r>
            <a:r>
              <a:rPr sz="1350" b="0" i="0">
                <a:solidFill>
                  <a:srgbClr val="330066"/>
                </a:solidFill>
                <a:latin typeface="Courier New"/>
              </a:rPr>
              <a:t>locals()</a:t>
            </a:r>
            <a:r>
              <a:rPr sz="1400" b="0" i="0">
                <a:solidFill>
                  <a:srgbClr val="1A1A1A"/>
                </a:solidFill>
                <a:latin typeface="Arial"/>
              </a:rPr>
              <a:t>, </a:t>
            </a:r>
            <a:r>
              <a:rPr sz="1350" b="0" i="0">
                <a:solidFill>
                  <a:srgbClr val="330066"/>
                </a:solidFill>
                <a:latin typeface="Courier New"/>
              </a:rPr>
              <a:t>dir()</a:t>
            </a:r>
            <a:r>
              <a:rPr sz="1400" b="0" i="0">
                <a:solidFill>
                  <a:srgbClr val="1A1A1A"/>
                </a:solidFill>
                <a:latin typeface="Arial"/>
              </a:rPr>
              <a:t> and </a:t>
            </a:r>
            <a:r>
              <a:rPr sz="1350" b="0" i="0">
                <a:solidFill>
                  <a:srgbClr val="330066"/>
                </a:solidFill>
                <a:latin typeface="Courier New"/>
              </a:rPr>
              <a:t>vars()</a:t>
            </a:r>
            <a:r>
              <a:rPr sz="1400" b="0" i="0">
                <a:solidFill>
                  <a:srgbClr val="1A1A1A"/>
                </a:solidFill>
                <a:latin typeface="Arial"/>
              </a:rPr>
              <a:t> inspect namespaces. In tests, hidden global state creates flaky, order-dependent tests.</a:t>
            </a:r>
          </a:p>
        </p:txBody>
      </p:sp>
      <p:sp>
        <p:nvSpPr>
          <p:cNvPr id="14" name="TextBox 13"/>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45 / 46</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Additional Resources</a:t>
            </a:r>
          </a:p>
        </p:txBody>
      </p:sp>
      <p:sp>
        <p:nvSpPr>
          <p:cNvPr id="3" name="Oval 2"/>
          <p:cNvSpPr/>
          <p:nvPr/>
        </p:nvSpPr>
        <p:spPr>
          <a:xfrm>
            <a:off x="60990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4" name="TextBox 3"/>
          <p:cNvSpPr txBox="1"/>
          <p:nvPr/>
        </p:nvSpPr>
        <p:spPr>
          <a:xfrm>
            <a:off x="1158544" y="1819656"/>
            <a:ext cx="10423245" cy="450532"/>
          </a:xfrm>
          <a:prstGeom prst="rect">
            <a:avLst/>
          </a:prstGeom>
          <a:noFill/>
        </p:spPr>
        <p:txBody>
          <a:bodyPr wrap="square" lIns="0" tIns="0" rIns="0" bIns="0" anchor="t">
            <a:spAutoFit/>
          </a:bodyPr>
          <a:lstStyle/>
          <a:p>
            <a:pPr algn="l">
              <a:lnSpc>
                <a:spcPct val="110000"/>
              </a:lnSpc>
              <a:spcAft>
                <a:spcPts val="200"/>
              </a:spcAft>
            </a:pPr>
            <a:r>
              <a:rPr sz="1300" b="1" i="0">
                <a:solidFill>
                  <a:srgbClr val="330066"/>
                </a:solidFill>
                <a:latin typeface="Arial"/>
              </a:rPr>
              <a:t>Python Tutorial, "Python Scopes and Namespaces"</a:t>
            </a:r>
          </a:p>
          <a:p>
            <a:pPr algn="l">
              <a:lnSpc>
                <a:spcPct val="110000"/>
              </a:lnSpc>
              <a:spcAft>
                <a:spcPts val="600"/>
              </a:spcAft>
            </a:pPr>
            <a:r>
              <a:rPr sz="1200" b="0" i="0">
                <a:solidFill>
                  <a:srgbClr val="330066"/>
                </a:solidFill>
                <a:latin typeface="Courier New"/>
              </a:rPr>
              <a:t>https://docs.python.org/3/tutorial/classes.html#python-scopes-and-namespaces</a:t>
            </a:r>
          </a:p>
        </p:txBody>
      </p:sp>
      <p:sp>
        <p:nvSpPr>
          <p:cNvPr id="5" name="Oval 4"/>
          <p:cNvSpPr/>
          <p:nvPr/>
        </p:nvSpPr>
        <p:spPr>
          <a:xfrm>
            <a:off x="609904" y="24347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6" name="TextBox 5"/>
          <p:cNvSpPr txBox="1"/>
          <p:nvPr/>
        </p:nvSpPr>
        <p:spPr>
          <a:xfrm>
            <a:off x="1158544" y="2471356"/>
            <a:ext cx="10423245" cy="450532"/>
          </a:xfrm>
          <a:prstGeom prst="rect">
            <a:avLst/>
          </a:prstGeom>
          <a:noFill/>
        </p:spPr>
        <p:txBody>
          <a:bodyPr wrap="square" lIns="0" tIns="0" rIns="0" bIns="0" anchor="t">
            <a:spAutoFit/>
          </a:bodyPr>
          <a:lstStyle/>
          <a:p>
            <a:pPr algn="l">
              <a:lnSpc>
                <a:spcPct val="110000"/>
              </a:lnSpc>
              <a:spcAft>
                <a:spcPts val="200"/>
              </a:spcAft>
            </a:pPr>
            <a:r>
              <a:rPr sz="1300" b="1" i="0">
                <a:solidFill>
                  <a:srgbClr val="330066"/>
                </a:solidFill>
                <a:latin typeface="Arial"/>
              </a:rPr>
              <a:t>Language Reference, "Naming and binding"</a:t>
            </a:r>
          </a:p>
          <a:p>
            <a:pPr algn="l">
              <a:lnSpc>
                <a:spcPct val="110000"/>
              </a:lnSpc>
              <a:spcAft>
                <a:spcPts val="600"/>
              </a:spcAft>
            </a:pPr>
            <a:r>
              <a:rPr sz="1200" b="0" i="0">
                <a:solidFill>
                  <a:srgbClr val="330066"/>
                </a:solidFill>
                <a:latin typeface="Courier New"/>
              </a:rPr>
              <a:t>https://docs.python.org/3/reference/executionmodel.html#naming-and-binding</a:t>
            </a:r>
          </a:p>
        </p:txBody>
      </p:sp>
      <p:sp>
        <p:nvSpPr>
          <p:cNvPr id="7" name="Oval 6"/>
          <p:cNvSpPr/>
          <p:nvPr/>
        </p:nvSpPr>
        <p:spPr>
          <a:xfrm>
            <a:off x="609904" y="3086481"/>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8" name="TextBox 7"/>
          <p:cNvSpPr txBox="1"/>
          <p:nvPr/>
        </p:nvSpPr>
        <p:spPr>
          <a:xfrm>
            <a:off x="1158544" y="3123057"/>
            <a:ext cx="10423245" cy="450532"/>
          </a:xfrm>
          <a:prstGeom prst="rect">
            <a:avLst/>
          </a:prstGeom>
          <a:noFill/>
        </p:spPr>
        <p:txBody>
          <a:bodyPr wrap="square" lIns="0" tIns="0" rIns="0" bIns="0" anchor="t">
            <a:spAutoFit/>
          </a:bodyPr>
          <a:lstStyle/>
          <a:p>
            <a:pPr algn="l">
              <a:lnSpc>
                <a:spcPct val="110000"/>
              </a:lnSpc>
              <a:spcAft>
                <a:spcPts val="200"/>
              </a:spcAft>
            </a:pPr>
            <a:r>
              <a:rPr sz="1300" b="1" i="0">
                <a:solidFill>
                  <a:srgbClr val="330066"/>
                </a:solidFill>
                <a:latin typeface="Arial"/>
              </a:rPr>
              <a:t>Reference, the global and nonlocal statements</a:t>
            </a:r>
          </a:p>
          <a:p>
            <a:pPr algn="l">
              <a:lnSpc>
                <a:spcPct val="110000"/>
              </a:lnSpc>
              <a:spcAft>
                <a:spcPts val="600"/>
              </a:spcAft>
            </a:pPr>
            <a:r>
              <a:rPr sz="1200" b="0" i="0">
                <a:solidFill>
                  <a:srgbClr val="330066"/>
                </a:solidFill>
                <a:latin typeface="Courier New"/>
              </a:rPr>
              <a:t>https://docs.python.org/3/reference/simple_stmts.html#the-global-statement</a:t>
            </a:r>
          </a:p>
        </p:txBody>
      </p:sp>
      <p:sp>
        <p:nvSpPr>
          <p:cNvPr id="9" name="TextBox 8"/>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46 / 46</a:t>
            </a:r>
          </a:p>
        </p:txBody>
      </p:sp>
    </p:spTree>
  </p:cSld>
  <p:clrMapOvr>
    <a:masterClrMapping/>
  </p:clrMapOvr>
</p:sld>
</file>

<file path=ppt/theme/theme1.xml><?xml version="1.0" encoding="utf-8"?>
<a:theme xmlns:a="http://schemas.openxmlformats.org/drawingml/2006/main" name="Learners Point">
  <a:themeElements>
    <a:clrScheme name="1_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1_Networ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IN" alt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IN" alt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1_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1_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1_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1_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1_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1_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1_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1_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1_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1_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Learners Point" id="{5ABB7BE2-076F-42C1-9907-FD58862889C1}" vid="{2565D177-60C2-4381-BEC4-E0C09BB79CBA}"/>
    </a:ext>
  </a:extLst>
</a:theme>
</file>

<file path=docProps/app.xml><?xml version="1.0" encoding="utf-8"?>
<Properties xmlns="http://schemas.openxmlformats.org/officeDocument/2006/extended-properties" xmlns:vt="http://schemas.openxmlformats.org/officeDocument/2006/docPropsVTypes">
  <TotalTime>1</TotalTime>
  <Words>4552</Words>
  <Application>Microsoft Office PowerPoint</Application>
  <PresentationFormat>Widescreen</PresentationFormat>
  <Paragraphs>582</Paragraphs>
  <Slides>45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45</vt:i4>
      </vt:variant>
    </vt:vector>
  </HeadingPairs>
  <TitlesOfParts>
    <vt:vector size="49" baseType="lpstr">
      <vt:lpstr>Arial</vt:lpstr>
      <vt:lpstr>Courier New</vt:lpstr>
      <vt:lpstr>Wingdings</vt:lpstr>
      <vt:lpstr>Learners Point</vt:lpstr>
      <vt:lpstr>Scope and Namespaces</vt:lpstr>
      <vt:lpstr>Learning Objectives (1 of 2)</vt:lpstr>
      <vt:lpstr>Learning Objectives (2 of 2)</vt:lpstr>
      <vt:lpstr>Why It Matters to a QE</vt:lpstr>
      <vt:lpstr>The Concept</vt:lpstr>
      <vt:lpstr>What Is a Name?</vt:lpstr>
      <vt:lpstr>What Is a Namespace?</vt:lpstr>
      <vt:lpstr>Kinds of Namespace</vt:lpstr>
      <vt:lpstr>What Is Scope?</vt:lpstr>
      <vt:lpstr>The LEGB Rule</vt:lpstr>
      <vt:lpstr>LEGB: First Match Wins</vt:lpstr>
      <vt:lpstr>LEGB as Nested Boxes</vt:lpstr>
      <vt:lpstr>Walking Through the Layers</vt:lpstr>
      <vt:lpstr>Calling It</vt:lpstr>
      <vt:lpstr>Where Each Name Was Found</vt:lpstr>
      <vt:lpstr>Local Scope</vt:lpstr>
      <vt:lpstr>Global Scope: Reading Globals</vt:lpstr>
      <vt:lpstr>Assignment Creates a Local Name</vt:lpstr>
      <vt:lpstr>Reading Works, Assigning Breaks</vt:lpstr>
      <vt:lpstr>Why UnboundLocalError?</vt:lpstr>
      <vt:lpstr>The Augmented Assignment Trap</vt:lpstr>
      <vt:lpstr>The global Keyword</vt:lpstr>
      <vt:lpstr>When to Use global: Rarely</vt:lpstr>
      <vt:lpstr>Alternatives to global</vt:lpstr>
      <vt:lpstr>Mutating Is Not Rebinding</vt:lpstr>
      <vt:lpstr>Closures and nonlocal</vt:lpstr>
      <vt:lpstr>How the Counter Works</vt:lpstr>
      <vt:lpstr>nonlocal vs global</vt:lpstr>
      <vt:lpstr>The Built-in Scope</vt:lpstr>
      <vt:lpstr>Shadowing Built-ins</vt:lpstr>
      <vt:lpstr>Common Accidental Shadowing</vt:lpstr>
      <vt:lpstr>Inspecting Namespaces</vt:lpstr>
      <vt:lpstr>globals, locals, dir, vars</vt:lpstr>
      <vt:lpstr>Loop Variables Leak</vt:lpstr>
      <vt:lpstr>except ... as e</vt:lpstr>
      <vt:lpstr>Late Binding in Closures</vt:lpstr>
      <vt:lpstr>Classes and Modules</vt:lpstr>
      <vt:lpstr>Code Examples</vt:lpstr>
      <vt:lpstr>Example A: Hidden Global State</vt:lpstr>
      <vt:lpstr>Example B: Closure Result Tracker</vt:lpstr>
      <vt:lpstr>Example C: Spot the Shadowing Bug</vt:lpstr>
      <vt:lpstr>Example D: Inspecting While Debugging</vt:lpstr>
      <vt:lpstr>Key Takeaways (1 of 2)</vt:lpstr>
      <vt:lpstr>Key Takeaways (2 of 2)</vt:lpstr>
      <vt:lpstr>Additional 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Learners Point Template</dc:title>
  <dc:creator>Learners Point</dc:creator>
  <cp:lastModifiedBy>Jasdhir Singh</cp:lastModifiedBy>
  <cp:revision>5</cp:revision>
  <dcterms:modified xsi:type="dcterms:W3CDTF">2026-10-18T10:14:13Z</dcterms:modified>
</cp:coreProperties>
</file>