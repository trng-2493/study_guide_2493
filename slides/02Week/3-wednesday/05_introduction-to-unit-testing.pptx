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</p:sldIdLst>
  <p:sldSz cx="12192000" cy="6858000"/>
  <p:notesSz cx="6858000" cy="9144000"/>
  <p:defaultTextStyle>
    <a:defPPr>
      <a:defRPr lang="en-I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Line 2"/>
          <p:cNvSpPr>
            <a:spLocks noChangeShapeType="1"/>
          </p:cNvSpPr>
          <p:nvPr/>
        </p:nvSpPr>
        <p:spPr bwMode="auto">
          <a:xfrm>
            <a:off x="9753600" y="1066800"/>
            <a:ext cx="0" cy="1752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016000" y="457200"/>
            <a:ext cx="8519584" cy="213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132417" y="3049588"/>
            <a:ext cx="83312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fld id="{F304A9D6-1313-4D51-A62E-402D441D9A7B}" type="datetime1">
              <a:rPr lang="en-US" smtClean="0"/>
              <a:t>10/18/2026</a:t>
            </a:fld>
            <a:endParaRPr lang="en-US"/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sp>
        <p:nvSpPr>
          <p:cNvPr id="66568" name="Line 8"/>
          <p:cNvSpPr>
            <a:spLocks noChangeShapeType="1"/>
          </p:cNvSpPr>
          <p:nvPr/>
        </p:nvSpPr>
        <p:spPr bwMode="auto">
          <a:xfrm>
            <a:off x="1117600" y="2819400"/>
            <a:ext cx="8636000" cy="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grpSp>
        <p:nvGrpSpPr>
          <p:cNvPr id="66569" name="Group 9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570" name="Oval 10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1" name="Oval 11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2" name="Oval 12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3" name="Oval 13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4" name="Oval 14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5" name="Oval 15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6" name="Oval 16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7" name="Oval 17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8" name="Oval 18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9" name="Oval 19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0" name="Oval 20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1" name="Oval 21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2" name="Oval 22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3" name="Oval 23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4" name="Oval 24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5" name="Oval 25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6" name="Oval 26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7" name="Oval 27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8" name="Oval 28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9" name="Oval 29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0" name="Oval 30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1" name="Oval 31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2" name="Oval 32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3" name="Oval 33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4" name="Oval 34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5" name="Oval 35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6" name="Oval 36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7" name="Oval 37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8" name="Oval 38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9" name="Oval 39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0" name="Oval 40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grpSp>
        <p:nvGrpSpPr>
          <p:cNvPr id="66601" name="Group 41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602" name="Oval 42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3" name="Oval 43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4" name="Oval 44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5" name="Oval 45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6" name="Oval 46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7" name="Oval 47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8" name="Oval 48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9" name="Oval 49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0" name="Oval 50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1" name="Oval 51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2" name="Oval 52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3" name="Oval 53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4" name="Oval 54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5" name="Oval 55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6" name="Oval 56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7" name="Oval 57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8" name="Oval 58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9" name="Oval 59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0" name="Oval 60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1" name="Oval 61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2" name="Oval 62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3" name="Oval 63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4" name="Oval 64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5" name="Oval 65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6" name="Oval 66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7" name="Oval 67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8" name="Oval 68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9" name="Oval 69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0" name="Oval 70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1" name="Oval 71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2" name="Oval 72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955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256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44A8556-2F07-416B-A81B-5F1C3AFD01EF}" type="datetime1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7954" y="6261305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722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6729637-7636-4388-949A-FC8BFDAA4705}" type="datetime1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092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F5DED8-6456-47A2-A5CC-BE8BEC6BD892}" type="datetime1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174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595759-8665-4708-8376-28A90FA13BDD}" type="datetime1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97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3B0C243-4A55-4741-8265-C0A2FA769F7B}" type="datetime1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546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99A12F7-971D-41C1-A2B7-EBB58FF381A3}" type="datetime1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112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E3C3D28-2E0C-4F8B-A45D-9E87921943BF}" type="datetime1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995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020A2-9D30-48AD-A70D-69AD2B027FCA}" type="datetime1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103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01F6343-4644-43E3-AA07-6869EC7CEA0D}" type="datetime1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150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22239"/>
            <a:ext cx="27432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2239"/>
            <a:ext cx="80264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A0A126-F3CA-45B4-970B-597BE67A203E}" type="datetime1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465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16815F9B-CAFE-4C37-897A-C6403744783F}" type="datetime1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879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Line 2"/>
          <p:cNvSpPr>
            <a:spLocks noChangeShapeType="1"/>
          </p:cNvSpPr>
          <p:nvPr/>
        </p:nvSpPr>
        <p:spPr bwMode="auto">
          <a:xfrm>
            <a:off x="10668000" y="0"/>
            <a:ext cx="0" cy="1524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22238"/>
            <a:ext cx="100584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554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719263"/>
            <a:ext cx="109728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554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fld id="{C569D4A1-8BB6-4430-9601-3FBC79908E8C}" type="datetime1">
              <a:rPr lang="en-US" smtClean="0"/>
              <a:t>10/18/2026</a:t>
            </a:fld>
            <a:endParaRPr lang="en-US"/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endParaRPr lang="en-US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grpSp>
        <p:nvGrpSpPr>
          <p:cNvPr id="65544" name="Group 8" descr="decorative graphic made up of dots"/>
          <p:cNvGrpSpPr>
            <a:grpSpLocks/>
          </p:cNvGrpSpPr>
          <p:nvPr/>
        </p:nvGrpSpPr>
        <p:grpSpPr bwMode="auto">
          <a:xfrm>
            <a:off x="10871201" y="152400"/>
            <a:ext cx="1056217" cy="1295400"/>
            <a:chOff x="5136" y="960"/>
            <a:chExt cx="528" cy="864"/>
          </a:xfrm>
        </p:grpSpPr>
        <p:sp>
          <p:nvSpPr>
            <p:cNvPr id="6554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sp>
        <p:nvSpPr>
          <p:cNvPr id="65576" name="Line 40"/>
          <p:cNvSpPr>
            <a:spLocks noChangeShapeType="1"/>
          </p:cNvSpPr>
          <p:nvPr/>
        </p:nvSpPr>
        <p:spPr bwMode="auto">
          <a:xfrm>
            <a:off x="609600" y="1524000"/>
            <a:ext cx="100584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2634220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9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368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113" indent="-2921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6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Introduction to Unit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2057400"/>
            <a:ext cx="877750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 i="0">
                <a:solidFill>
                  <a:srgbClr val="5A5A5A"/>
                </a:solidFill>
                <a:latin typeface="Arial"/>
              </a:rPr>
              <a:t>Prove, repeatedly and automatically, that your code does what you claim, using Python's built-in unittest.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3520439"/>
            <a:ext cx="1537335" cy="402336"/>
          </a:xfrm>
          <a:prstGeom prst="roundRect">
            <a:avLst>
              <a:gd name="adj" fmla="val 50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unit test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238679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604439" y="3520439"/>
            <a:ext cx="261747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Arrange-Act-Assert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313349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679109" y="3520439"/>
            <a:ext cx="1057275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FIRST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827824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193584" y="3520439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unittest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702344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068104" y="3520439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fixtures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10576864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942624" y="3520439"/>
            <a:ext cx="1297305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subTest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12331369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2697129" y="3520439"/>
            <a:ext cx="261747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red-green-refactor</a:t>
            </a:r>
          </a:p>
        </p:txBody>
      </p:sp>
      <p:sp>
        <p:nvSpPr>
          <p:cNvPr id="18" name="Oval 17"/>
          <p:cNvSpPr/>
          <p:nvPr/>
        </p:nvSpPr>
        <p:spPr>
          <a:xfrm>
            <a:off x="609904" y="5596128"/>
            <a:ext cx="292608" cy="29260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67104" y="5596128"/>
            <a:ext cx="292608" cy="292608"/>
          </a:xfrm>
          <a:prstGeom prst="ellipse">
            <a:avLst/>
          </a:prstGeom>
          <a:solidFill>
            <a:srgbClr val="66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524304" y="5596128"/>
            <a:ext cx="292608" cy="292608"/>
          </a:xfrm>
          <a:prstGeom prst="ellipse">
            <a:avLst/>
          </a:prstGeom>
          <a:solidFill>
            <a:srgbClr val="CC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Learning Objectives (1 of 2)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874519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6832" y="1783079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Define a unit test and explain how it differs from manual testing, integration tests and system (end-to-end) tests.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532887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6832" y="2441447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Explain why teams write automated unit tests and the benefits (fast feedback, safety net for change, living documentation).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191256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6832" y="3099815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Describe the Arrange-Act-Assert structure and the qualities of a good unit test (the FIRST principles).</a:t>
            </a:r>
          </a:p>
        </p:txBody>
      </p:sp>
      <p:sp>
        <p:nvSpPr>
          <p:cNvPr id="9" name="Oval 8"/>
          <p:cNvSpPr/>
          <p:nvPr/>
        </p:nvSpPr>
        <p:spPr>
          <a:xfrm>
            <a:off x="609904" y="3849624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6832" y="3758184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Write test cases using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unittest</a:t>
            </a:r>
            <a:r>
              <a:rPr sz="1600" b="0" i="0">
                <a:solidFill>
                  <a:srgbClr val="1A1A1A"/>
                </a:solidFill>
                <a:latin typeface="Arial"/>
              </a:rPr>
              <a:t>: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TestCase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classes,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test_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methods, and the most common assertion methods.</a:t>
            </a:r>
          </a:p>
        </p:txBody>
      </p:sp>
      <p:sp>
        <p:nvSpPr>
          <p:cNvPr id="11" name="Oval 10"/>
          <p:cNvSpPr/>
          <p:nvPr/>
        </p:nvSpPr>
        <p:spPr>
          <a:xfrm>
            <a:off x="609904" y="4507992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6832" y="4416552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Test expected exceptions with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assertRaises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floating-point values with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assertAlmostEqual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and many inputs with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subTest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 / 58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Learning Objectives (2 of 2)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874519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6832" y="1783079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Use fixtures: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setUp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tearDown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setUpClass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tearDownClass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addCleanup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to give each test a clean start.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532887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6832" y="2441447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Run tests from the command line (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python -m unittest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discovery, verbose mode,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-k</a:t>
            </a:r>
            <a:r>
              <a:rPr sz="1600" b="0" i="0">
                <a:solidFill>
                  <a:srgbClr val="1A1A1A"/>
                </a:solidFill>
                <a:latin typeface="Arial"/>
              </a:rPr>
              <a:t>) and read the output for passed, failed, errored and skipped tests.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191256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6832" y="3099815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Choose what to test: normal cases, boundary values, invalid input and error handling.</a:t>
            </a:r>
          </a:p>
        </p:txBody>
      </p:sp>
      <p:sp>
        <p:nvSpPr>
          <p:cNvPr id="9" name="Oval 8"/>
          <p:cNvSpPr/>
          <p:nvPr/>
        </p:nvSpPr>
        <p:spPr>
          <a:xfrm>
            <a:off x="609904" y="3849624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6832" y="3758184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Organise test files and apply a simple red-green-refactor workflow to fix a bug and keep it fixed.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 / 58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The Concept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Unit tests, test types, benefits, Arrange-Act-Assert and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6 / 58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What Is a Unit Test?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348782" cy="2043684"/>
          </a:xfrm>
          <a:prstGeom prst="roundRect">
            <a:avLst>
              <a:gd name="adj" fmla="val 4026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504" y="1965960"/>
            <a:ext cx="4891582" cy="16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Unit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smallest testable piece of code, typically one function or one method.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1783080"/>
            <a:ext cx="5348782" cy="2043684"/>
          </a:xfrm>
          <a:prstGeom prst="roundRect">
            <a:avLst>
              <a:gd name="adj" fmla="val 4026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61607" y="1965960"/>
            <a:ext cx="4891582" cy="16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Unit test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 small automated program that calls a unit with specific inputs, compares the actual result with the expected result, and reports pass or fail.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4101083"/>
            <a:ext cx="5348782" cy="2043684"/>
          </a:xfrm>
          <a:prstGeom prst="roundRect">
            <a:avLst>
              <a:gd name="adj" fmla="val 4026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8504" y="4283964"/>
            <a:ext cx="4891582" cy="16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Test suite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 collection of unit tests.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4101083"/>
            <a:ext cx="5348782" cy="2043684"/>
          </a:xfrm>
          <a:prstGeom prst="roundRect">
            <a:avLst>
              <a:gd name="adj" fmla="val 4026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61607" y="4283964"/>
            <a:ext cx="4891582" cy="16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Test runner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program that finds and runs tests and reports results.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7 / 58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Analogy: Building Bicycles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3474415" cy="4361688"/>
          </a:xfrm>
          <a:prstGeom prst="roundRect">
            <a:avLst>
              <a:gd name="adj" fmla="val 2368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504" y="1965960"/>
            <a:ext cx="3017215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Unit test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Checks one part on its own: does this brake lever spring back? Does this bolt hold the specified torque?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58640" y="1783080"/>
            <a:ext cx="3474415" cy="4361688"/>
          </a:xfrm>
          <a:prstGeom prst="roundRect">
            <a:avLst>
              <a:gd name="adj" fmla="val 2368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87240" y="1965960"/>
            <a:ext cx="3017215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Integration test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Checks that parts work together: do the brakes stop the wheel?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7375" y="1783080"/>
            <a:ext cx="3474415" cy="4361688"/>
          </a:xfrm>
          <a:prstGeom prst="roundRect">
            <a:avLst>
              <a:gd name="adj" fmla="val 2368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35975" y="1965960"/>
            <a:ext cx="3017215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System test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Rides the finished bike down a hill.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8 / 58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Where Unit Tests Fit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 · TYPES OF TEST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4" cy="1900934"/>
        </p:xfrm>
        <a:graphic>
          <a:graphicData uri="http://schemas.openxmlformats.org/drawingml/2006/table">
            <a:tbl>
              <a:tblPr/>
              <a:tblGrid>
                <a:gridCol w="19749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04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49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15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What it checks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When it fails you know...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Unit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One function/class in isolation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Milliseconds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Exactly which piece is broken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5563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Integration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Several pieces (or the code plus a database/service) working together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Seconds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Which interaction is broken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5563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System / end-to-end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The whole application through its real interface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Seconds to minutes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Something is broken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9 / 58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The Shape of a Healthy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 i="0">
                <a:solidFill>
                  <a:srgbClr val="330066"/>
                </a:solidFill>
                <a:latin typeface="Arial"/>
              </a:rPr>
              <a:t>Many fast unit tests, fewer integration tests, few end-to-end tests.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880360"/>
            <a:ext cx="10971885" cy="822960"/>
          </a:xfrm>
          <a:prstGeom prst="roundRect">
            <a:avLst>
              <a:gd name="adj" fmla="val 10000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8504" y="3017520"/>
            <a:ext cx="1051468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FOCUS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In this programme you will meet the higher levels later; today we focus on the base.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10 / 58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Why Write Automated Unit Tests?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3474415" cy="2043684"/>
          </a:xfrm>
          <a:prstGeom prst="roundRect">
            <a:avLst>
              <a:gd name="adj" fmla="val 4026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504" y="1965960"/>
            <a:ext cx="3017215" cy="16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Fast feedback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Run hundreds of tests in a second after every change instead of re-checking by hand.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58640" y="1783080"/>
            <a:ext cx="3474415" cy="2043684"/>
          </a:xfrm>
          <a:prstGeom prst="roundRect">
            <a:avLst>
              <a:gd name="adj" fmla="val 4026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87240" y="1965960"/>
            <a:ext cx="3017215" cy="16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Safety net for change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If you restructure code and tests still pass, you have strong evidence nothing broke (regression protection).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7375" y="1783080"/>
            <a:ext cx="3474415" cy="2043684"/>
          </a:xfrm>
          <a:prstGeom prst="roundRect">
            <a:avLst>
              <a:gd name="adj" fmla="val 4026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35975" y="1965960"/>
            <a:ext cx="3017215" cy="16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Bugs stay fixed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Fix a defect, add a test that would have caught it. It can never silently return.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904" y="4101083"/>
            <a:ext cx="3474415" cy="2043684"/>
          </a:xfrm>
          <a:prstGeom prst="roundRect">
            <a:avLst>
              <a:gd name="adj" fmla="val 4026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8504" y="4283964"/>
            <a:ext cx="3017215" cy="16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Living documentation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A test shows how a function is meant to be used and what it returns for edge cases.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8640" y="4101083"/>
            <a:ext cx="3474415" cy="2043684"/>
          </a:xfrm>
          <a:prstGeom prst="roundRect">
            <a:avLst>
              <a:gd name="adj" fmla="val 4026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87240" y="4283964"/>
            <a:ext cx="3017215" cy="16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Better design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Code that is easy to test tends to be small, focused and loosely coupled.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7375" y="4101083"/>
            <a:ext cx="3474415" cy="2043684"/>
          </a:xfrm>
          <a:prstGeom prst="roundRect">
            <a:avLst>
              <a:gd name="adj" fmla="val 4026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35975" y="4283964"/>
            <a:ext cx="3017215" cy="16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Confidence and speed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Teams that trust their tests release more often and with less fear.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11 / 58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Manual Testing Still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1005840"/>
          </a:xfrm>
          <a:prstGeom prst="roundRect">
            <a:avLst>
              <a:gd name="adj" fmla="val 8181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504" y="1920240"/>
            <a:ext cx="1051468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RULE OF THUMB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Manual testing remains valuable for exploration, but anything you would repeat should be automated.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12 / 58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Arrange, Act, Assert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 · ANATOMY OF A GOOD TEST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669280" cy="1146048"/>
          </a:xfrm>
          <a:prstGeom prst="roundRect">
            <a:avLst>
              <a:gd name="adj" fmla="val 6382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266944" cy="85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def test_adds_two_numbers(self):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a, b = 2, 3                 # Arrange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result = add(a, b)          # Act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self.assertEqual(result, 5) # Assert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44944" y="1783080"/>
            <a:ext cx="493684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Arial"/>
              </a:rPr>
              <a:t>Arrange: prepare the inputs and the state the unit needs.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Arial"/>
              </a:rPr>
              <a:t>Act: call the unit being tested (usually one call).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Arial"/>
              </a:rPr>
              <a:t>Assert: check the outcome against the expectation.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Arial"/>
              </a:rPr>
              <a:t>Most unit tests have these three phases.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13 / 58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The FIRST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4" cy="2632454"/>
        </p:xfrm>
        <a:graphic>
          <a:graphicData uri="http://schemas.openxmlformats.org/drawingml/2006/table">
            <a:tbl>
              <a:tblPr/>
              <a:tblGrid>
                <a:gridCol w="1097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8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608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Letter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Principle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Meaning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F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Fast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Tests should run in milliseconds so people run them constantly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5563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I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Independent / Isolated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A test must not depend on another test or on execution order (recall the shared-state problems from the scope and mutability lessons)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5563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Repeatable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Same result every run, on any machine, with no reliance on time, randomness, network, or leftover files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Self-validating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The test itself decides pass or fail (an assertion); no human reading output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Timely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Written close in time to the code (ideally just before or alongside it)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14 / 58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Further Good Habits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One behaviour per test.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A descriptive name: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test_divide_by_zero_raises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rather than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test1</a:t>
            </a:r>
            <a:r>
              <a:rPr sz="17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A failure message that tells you what went wrong without opening the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15 / 58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Your First unittest Test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Code under test, the test module, and reading it line by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16 / 58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The Code Under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5A5A5A"/>
                </a:solidFill>
                <a:latin typeface="Arial"/>
              </a:rPr>
              <a:t>calculator.py: a tiny module we want to test (full script: </a:t>
            </a:r>
            <a:r>
              <a:rPr sz="1350" b="0" i="0">
                <a:solidFill>
                  <a:srgbClr val="5A5A5A"/>
                </a:solidFill>
                <a:latin typeface="Courier New"/>
              </a:rPr>
              <a:t>calculator.py</a:t>
            </a:r>
            <a:r>
              <a:rPr sz="1400" b="0" i="0">
                <a:solidFill>
                  <a:srgbClr val="5A5A5A"/>
                </a:solidFill>
                <a:latin typeface="Arial"/>
              </a:rPr>
              <a:t> in the lesson).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40280"/>
            <a:ext cx="6766560" cy="2426208"/>
          </a:xfrm>
          <a:prstGeom prst="roundRect">
            <a:avLst>
              <a:gd name="adj" fmla="val 301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386584"/>
            <a:ext cx="6364224" cy="2133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def add(a, b):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return a + b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5C8A8A"/>
                </a:solidFill>
                <a:latin typeface="Courier New"/>
              </a:rPr>
              <a:t># ...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def divide(a, b):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if b == 0: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    raise ZeroDivisionError("cannot divide by zero")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return a / b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5C8A8A"/>
                </a:solidFill>
                <a:latin typeface="Courier New"/>
              </a:rPr>
              <a:t># ...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def pass_rate(results):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"""Percentage of 'pass' outcomes (case-insensitive); 0.0 for an empty list."""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if not results: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    return 0.0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passed = sum(1 for outcome in results if outcome.lower() == "pass")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return passed / len(results) * 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42224" y="1783080"/>
            <a:ext cx="383956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add</a:t>
            </a:r>
            <a:r>
              <a:rPr sz="1400" b="0" i="0">
                <a:solidFill>
                  <a:srgbClr val="1A1A1A"/>
                </a:solidFill>
                <a:latin typeface="Arial"/>
              </a:rPr>
              <a:t>: a plain return.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divide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: raises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ZeroDivisionError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when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b == 0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pass_rate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: percentage of 'pass' outcomes, case-insensitive;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0.0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for an empty list.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pass_rate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is the corrected function from the debugging lesson.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17 / 58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The Test Module: Skeleton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5A5A5A"/>
                </a:solidFill>
                <a:latin typeface="Arial"/>
              </a:rPr>
              <a:t>test_calculator.py (full script: </a:t>
            </a:r>
            <a:r>
              <a:rPr sz="1350" b="0" i="0">
                <a:solidFill>
                  <a:srgbClr val="5A5A5A"/>
                </a:solidFill>
                <a:latin typeface="Courier New"/>
              </a:rPr>
              <a:t>test_calculator.py</a:t>
            </a:r>
            <a:r>
              <a:rPr sz="1400" b="0" i="0">
                <a:solidFill>
                  <a:srgbClr val="5A5A5A"/>
                </a:solidFill>
                <a:latin typeface="Arial"/>
              </a:rPr>
              <a:t> in the lesson).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40280"/>
            <a:ext cx="6035040" cy="2273807"/>
          </a:xfrm>
          <a:prstGeom prst="roundRect">
            <a:avLst>
              <a:gd name="adj" fmla="val 3217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386584"/>
            <a:ext cx="5632703" cy="19811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import unittest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from calculator import add, divide, is_even, pass_rate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5C8A8A"/>
                </a:solidFill>
                <a:latin typeface="Courier New"/>
              </a:rPr>
              <a:t># ...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class TestAdd(unittest.TestCase):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def test_adds_two_positive_numbers(self):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    self.assertEqual(add(2, 3), 5)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5C8A8A"/>
                </a:solidFill>
                <a:latin typeface="Courier New"/>
              </a:rPr>
              <a:t># ...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if __name__ == "__main__":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unittest.main()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10704" y="1783080"/>
            <a:ext cx="45710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import unittest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loads the standard library testing framework.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from calculator import ...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imports the units under test, like any module (Monday's import skill). The test file lives next to, or in a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tests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folder beside, the code.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class TestAdd(unittest.TestCase):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is a test case class: it gives you the assertion methods and tells the runner it contains tests.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unittest.main()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lets you run the file with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python test_calculator.py</a:t>
            </a:r>
            <a:r>
              <a:rPr sz="13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18 / 58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Test Methods and assertEqual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5A5A5A"/>
                </a:solidFill>
                <a:latin typeface="Arial"/>
              </a:rPr>
              <a:t>Excerpt from test_calculator.py.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40280"/>
            <a:ext cx="5669280" cy="1679448"/>
          </a:xfrm>
          <a:prstGeom prst="roundRect">
            <a:avLst>
              <a:gd name="adj" fmla="val 435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386584"/>
            <a:ext cx="5266944" cy="1386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class TestAdd(unittest.TestCase):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def test_adds_two_positive_numbers(self):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    self.assertEqual(add(2, 3), 5)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5C8A8A"/>
                </a:solidFill>
                <a:latin typeface="Courier New"/>
              </a:rPr>
              <a:t># ...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class TestDivide(unittest.TestCase):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def test_divides_evenly(self):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    self.assertEqual(divide(10, 2), 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44944" y="1783080"/>
            <a:ext cx="493684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1A1A1A"/>
                </a:solidFill>
                <a:latin typeface="Arial"/>
              </a:rPr>
              <a:t>Methods whose names start with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test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are discovered and run automatically as individual tests.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1A1A1A"/>
                </a:solidFill>
                <a:latin typeface="Arial"/>
              </a:rPr>
              <a:t>Other methods (like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setUp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or a helper) are not tests.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1A1A1A"/>
                </a:solidFill>
                <a:latin typeface="Arial"/>
              </a:rPr>
              <a:t>Each test method runs independently; one failing does not stop the others.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330066"/>
                </a:solidFill>
                <a:latin typeface="Courier New"/>
              </a:rPr>
              <a:t>assertEqual(actual, expected)</a:t>
            </a:r>
            <a:r>
              <a:rPr sz="1350" b="0" i="0">
                <a:solidFill>
                  <a:srgbClr val="1A1A1A"/>
                </a:solidFill>
                <a:latin typeface="Arial"/>
              </a:rPr>
              <a:t>: the usual convention puts the actual value first. If they differ, the test fails and the output shows both values.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19 / 58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Floats and Expected Exceptions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5A5A5A"/>
                </a:solidFill>
                <a:latin typeface="Arial"/>
              </a:rPr>
              <a:t>Excerpt from test_calculator.py.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40280"/>
            <a:ext cx="6035040" cy="2471928"/>
          </a:xfrm>
          <a:prstGeom prst="roundRect">
            <a:avLst>
              <a:gd name="adj" fmla="val 295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386584"/>
            <a:ext cx="5632703" cy="2179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def test_adds_floats_approximately(self):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self.assertAlmostEqual(add(0.1, 0.2), 0.3)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5C8A8A"/>
                </a:solidFill>
                <a:latin typeface="Courier New"/>
              </a:rPr>
              <a:t># ...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def test_divide_by_zero_raises(self):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with self.assertRaises(ZeroDivisionError):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    divide(1, 0)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5C8A8A"/>
                </a:solidFill>
                <a:latin typeface="Courier New"/>
              </a:rPr>
              <a:t># ...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def test_divide_by_zero_message(self):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with self.assertRaises(ZeroDivisionError) as ctx: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    divide(1, 0)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self.assertIn("zero", str(ctx.exception))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10704" y="1783080"/>
            <a:ext cx="45710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assertAlmostEqual(a, b)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rounds to 7 decimal places by default, solving the floating-point problem (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0.1 + 0.2 != 0.3</a:t>
            </a:r>
            <a:r>
              <a:rPr sz="1300" b="0" i="0">
                <a:solidFill>
                  <a:srgbClr val="1A1A1A"/>
                </a:solidFill>
                <a:latin typeface="Arial"/>
              </a:rPr>
              <a:t>).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with self.assertRaises(ZeroDivisionError):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asserts the block raises that exception. No raise, or a different exception, fails the test.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It is the context-manager syntax from Tuesday, applied to exceptions.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as ctx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lets you inspect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ctx.exception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(its message, attributes).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20 / 58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Many Inputs with subTest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5A5A5A"/>
                </a:solidFill>
                <a:latin typeface="Arial"/>
              </a:rPr>
              <a:t>Excerpt from test_calculator.py.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40280"/>
            <a:ext cx="6035040" cy="1344168"/>
          </a:xfrm>
          <a:prstGeom prst="roundRect">
            <a:avLst>
              <a:gd name="adj" fmla="val 5442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386584"/>
            <a:ext cx="5632703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class TestIsEven(unittest.TestCase):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def test_many_values(self):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   cases = [(0, True), (1, False), (2, True), (-3, False)]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   for number, expected in cases: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       with self.subTest(number=number):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           self.assertEqual(is_even(number), expected)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10704" y="1783080"/>
            <a:ext cx="45710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50" b="0" i="0">
                <a:solidFill>
                  <a:srgbClr val="330066"/>
                </a:solidFill>
                <a:latin typeface="Courier New"/>
              </a:rPr>
              <a:t>self.subTest(number=number)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runs the body once for each input.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Arial"/>
              </a:rPr>
              <a:t>Each failing input is reported separately instead of stopping at the first.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Arial"/>
              </a:rPr>
              <a:t>Great for table-driven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21 / 58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setUp and Skipping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5A5A5A"/>
                </a:solidFill>
                <a:latin typeface="Arial"/>
              </a:rPr>
              <a:t>Excerpt from test_calculator.py.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40280"/>
            <a:ext cx="6035040" cy="2273807"/>
          </a:xfrm>
          <a:prstGeom prst="roundRect">
            <a:avLst>
              <a:gd name="adj" fmla="val 3217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386584"/>
            <a:ext cx="5632703" cy="19811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class TestPassRate(unittest.TestCase):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def setUp(self):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    self.mixed = ["pass", "fail", "pass", "pass"]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5C8A8A"/>
                </a:solidFill>
                <a:latin typeface="Courier New"/>
              </a:rPr>
              <a:t>    # ...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def test_mixed_results(self):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    self.assertEqual(pass_rate(self.mixed), 75.0)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5C8A8A"/>
                </a:solidFill>
                <a:latin typeface="Courier New"/>
              </a:rPr>
              <a:t>    # ...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@unittest.skip("demonstration of skipping")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def test_skipped(self):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    self.fail("never runs")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10704" y="1783080"/>
            <a:ext cx="45710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330066"/>
                </a:solidFill>
                <a:latin typeface="Courier New"/>
              </a:rPr>
              <a:t>setUp(self)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runs before every test method in the class, giving each test its own fresh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self.mixed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list (isolation).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330066"/>
                </a:solidFill>
                <a:latin typeface="Courier New"/>
              </a:rPr>
              <a:t>@unittest.skip("reason")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marks a test as intentionally not run. It is reported as skipped, not silently ignored.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22 / 58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Running Tests, Reading Results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Commands, output symbols, failures versus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23 / 58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Running the Tests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From the folder containing both files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6400800" cy="505968"/>
          </a:xfrm>
          <a:prstGeom prst="roundRect">
            <a:avLst>
              <a:gd name="adj" fmla="val 14457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5998464" cy="21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python -m unittest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274624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020568"/>
            <a:ext cx="6400800" cy="1130808"/>
          </a:xfrm>
          <a:prstGeom prst="roundRect">
            <a:avLst>
              <a:gd name="adj" fmla="val 646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3166872"/>
            <a:ext cx="5998464" cy="838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..........s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----------------------------------------------------------------------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Ran 11 tests in 0.000s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OK (skipped=1)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Arial"/>
              </a:rPr>
              <a:t>Each character is one test.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50" b="0" i="0">
                <a:solidFill>
                  <a:srgbClr val="330066"/>
                </a:solidFill>
                <a:latin typeface="Courier New"/>
              </a:rPr>
              <a:t>.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pass,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F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failure,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E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error,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s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skipped.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50" b="0" i="0">
                <a:solidFill>
                  <a:srgbClr val="330066"/>
                </a:solidFill>
                <a:latin typeface="Courier New"/>
              </a:rPr>
              <a:t>x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expected failure,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u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unexpected success.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Arial"/>
              </a:rPr>
              <a:t>Add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-v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for names.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24 / 58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Verbose Mode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74980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python -m unittest -v (excerpt)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7498079" cy="1816608"/>
          </a:xfrm>
          <a:prstGeom prst="roundRect">
            <a:avLst>
              <a:gd name="adj" fmla="val 402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7095743" cy="1523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test_adds_floats_approximately (test_calculator.TestAdd.test_adds_floats_approximately) ... ok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test_adds_negative_numbers (test_calculator.TestAdd.test_adds_negative_numbers) ... ok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test_adds_two_positive_numbers (test_calculator.TestAdd.test_adds_two_positive_numbers) ... ok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5C8A8A"/>
                </a:solidFill>
                <a:latin typeface="Courier New"/>
              </a:rPr>
              <a:t># ...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test_skipped (test_calculator.TestPassRate.test_skipped) ... skipped 'demonstration of skipping'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5C8A8A"/>
                </a:solidFill>
                <a:latin typeface="Courier New"/>
              </a:rPr>
              <a:t># ...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OK (skipped=1)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3744" y="1783080"/>
            <a:ext cx="310804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Verbose output names every test and its result.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Within a class, tests run in alphabetical order; never rely on it, since tests must be independent.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25 / 58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Handy Command-Line 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5" cy="4029454"/>
        </p:xfrm>
        <a:graphic>
          <a:graphicData uri="http://schemas.openxmlformats.org/drawingml/2006/table">
            <a:tbl>
              <a:tblPr/>
              <a:tblGrid>
                <a:gridCol w="52665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05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Command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Effect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543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330066"/>
                          </a:solidFill>
                          <a:latin typeface="Courier New"/>
                        </a:rPr>
                        <a:t>python -m unittest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Discover and run all tests: files named </a:t>
                      </a:r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test*.py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 in the current directory tree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330066"/>
                          </a:solidFill>
                          <a:latin typeface="Courier New"/>
                        </a:rPr>
                        <a:t>python -m unittest discover -s tests -p "test_*.py"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Discover with an explicit start folder and file pattern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330066"/>
                          </a:solidFill>
                          <a:latin typeface="Courier New"/>
                        </a:rPr>
                        <a:t>python -m unittest test_calculator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Run one module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330066"/>
                          </a:solidFill>
                          <a:latin typeface="Courier New"/>
                        </a:rPr>
                        <a:t>python -m unittest test_calculator.TestAdd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Run one class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2543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330066"/>
                          </a:solidFill>
                          <a:latin typeface="Courier New"/>
                        </a:rPr>
                        <a:t>python -m unittest test_calculator.TestAdd.test_adds_negative_numbers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Run a single test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330066"/>
                          </a:solidFill>
                          <a:latin typeface="Courier New"/>
                        </a:rPr>
                        <a:t>python -m unittest -k divide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Run tests whose names contain the text </a:t>
                      </a:r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divide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330066"/>
                          </a:solidFill>
                          <a:latin typeface="Courier New"/>
                        </a:rPr>
                        <a:t>python -m unittest -f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Fail fast: stop at the first failure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330066"/>
                          </a:solidFill>
                          <a:latin typeface="Courier New"/>
                        </a:rPr>
                        <a:t>python -m unittest -b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Buffer output: show prints only for failing tests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330066"/>
                          </a:solidFill>
                          <a:latin typeface="Courier New"/>
                        </a:rPr>
                        <a:t>python -m unittest -v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Verbose names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26 / 58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What a Failing Test Looks Like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5A5A5A"/>
                </a:solidFill>
                <a:latin typeface="Arial"/>
              </a:rPr>
              <a:t>Someone breaks </a:t>
            </a:r>
            <a:r>
              <a:rPr sz="1350" b="0" i="0">
                <a:solidFill>
                  <a:srgbClr val="5A5A5A"/>
                </a:solidFill>
                <a:latin typeface="Courier New"/>
              </a:rPr>
              <a:t>add</a:t>
            </a:r>
            <a:r>
              <a:rPr sz="1400" b="0" i="0">
                <a:solidFill>
                  <a:srgbClr val="5A5A5A"/>
                </a:solidFill>
                <a:latin typeface="Arial"/>
              </a:rPr>
              <a:t> so that it subtracts (</a:t>
            </a:r>
            <a:r>
              <a:rPr sz="1350" b="0" i="0">
                <a:solidFill>
                  <a:srgbClr val="5A5A5A"/>
                </a:solidFill>
                <a:latin typeface="Courier New"/>
              </a:rPr>
              <a:t>return a - b</a:t>
            </a:r>
            <a:r>
              <a:rPr sz="1400" b="0" i="0">
                <a:solidFill>
                  <a:srgbClr val="5A5A5A"/>
                </a:solidFill>
                <a:latin typeface="Arial"/>
              </a:rPr>
              <a:t>). Excerpt of the run: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40280"/>
            <a:ext cx="6949440" cy="2426208"/>
          </a:xfrm>
          <a:prstGeom prst="roundRect">
            <a:avLst>
              <a:gd name="adj" fmla="val 301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386584"/>
            <a:ext cx="6547103" cy="2133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FFF.......s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======================================================================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5C8A8A"/>
                </a:solidFill>
                <a:latin typeface="Courier New"/>
              </a:rPr>
              <a:t># ...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======================================================================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FAIL: test_adds_two_positive_numbers (test_calculator.TestAdd.test_adds_two_positive_numbers)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----------------------------------------------------------------------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Traceback (most recent call last):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File "test_calculator.py", line 8, in test_adds_two_positive_numbers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self.assertEqual(add(2, 3), 5)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~~~~~~~~~~~~~~~~^^^^^^^^^^^^^^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AssertionError: -1 != 5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5C8A8A"/>
                </a:solidFill>
                <a:latin typeface="Courier New"/>
              </a:rPr>
              <a:t># ...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FAILED (failures=3, skipped=1)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5104" y="1783080"/>
            <a:ext cx="36566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1A1A1A"/>
                </a:solidFill>
                <a:latin typeface="Arial"/>
              </a:rPr>
              <a:t>Each block names the failing test, the line of the assertion, and actual versus expected (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-1 != 5</a:t>
            </a:r>
            <a:r>
              <a:rPr sz="1350" b="0" i="0">
                <a:solidFill>
                  <a:srgbClr val="1A1A1A"/>
                </a:solidFill>
                <a:latin typeface="Arial"/>
              </a:rPr>
              <a:t>).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1A1A1A"/>
                </a:solidFill>
                <a:latin typeface="Arial"/>
              </a:rPr>
              <a:t>Read it with the traceback skills from the debugging lesson.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1A1A1A"/>
                </a:solidFill>
                <a:latin typeface="Arial"/>
              </a:rPr>
              <a:t>Three failures point directly at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add</a:t>
            </a:r>
            <a:r>
              <a:rPr sz="1350" b="0" i="0">
                <a:solidFill>
                  <a:srgbClr val="1A1A1A"/>
                </a:solidFill>
                <a:latin typeface="Arial"/>
              </a:rPr>
              <a:t>, in two milliseconds.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27 / 58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Failure Versus Error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5" cy="2476497"/>
        </p:xfrm>
        <a:graphic>
          <a:graphicData uri="http://schemas.openxmlformats.org/drawingml/2006/table">
            <a:tbl>
              <a:tblPr/>
              <a:tblGrid>
                <a:gridCol w="21943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87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8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Result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Meaning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Typical cause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563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FAIL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An assertion was false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The code ran but gave the wrong answer (or the test's expectation is wrong)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5563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ERROR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The test raised an unexpected exception (not an assertion)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Crash in the code or in the test: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KeyError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TypeError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, bad setup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skipped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Deliberately not run (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@unittest.skip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Feature not ready, platform-specific, etc.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5563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expected failure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Marked with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@unittest.expectedFailure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; known bug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Documents a known defect without breaking the build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28 / 58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Different Outcomes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949440" cy="2212848"/>
          </a:xfrm>
          <a:prstGeom prst="roundRect">
            <a:avLst>
              <a:gd name="adj" fmla="val 330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6547103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import unittest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class T(unittest.TestCase):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def test_error(self):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    {}["x"]                                  # unexpected exception -&gt; ERROR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@unittest.expectedFailure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def test_known(self):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    self.assertEqual(1, 2)                   # fails as expected -&gt; "x"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def test_list(self):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    self.assertEqual([1, 2, 3], [1, 2, 4])   # FAIL with a helpful diff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def test_true(self):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    self.assertTrue(0)                       # FAIL: "0 is not true"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5104" y="1783080"/>
            <a:ext cx="36566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test_error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: unexpected exception gives ERROR.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test_known</a:t>
            </a:r>
            <a:r>
              <a:rPr sz="1400" b="0" i="0">
                <a:solidFill>
                  <a:srgbClr val="1A1A1A"/>
                </a:solidFill>
                <a:latin typeface="Arial"/>
              </a:rPr>
              <a:t>: fails as expected, shown as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x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test_list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: FAIL with a helpful diff.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test_true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: FAIL, "0 is not true".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29 / 58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assertEqual on Lists Shows the Diff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583680" cy="2639568"/>
          </a:xfrm>
          <a:prstGeom prst="roundRect">
            <a:avLst>
              <a:gd name="adj" fmla="val 277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6181344" cy="2346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ExFF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======================================================================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ERROR: test_error (test_err.T.test_error)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...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KeyError: 'x'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======================================================================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5C8A8A"/>
                </a:solidFill>
                <a:latin typeface="Courier New"/>
              </a:rPr>
              <a:t># ...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AssertionError: Lists differ: [1, 2, 3] != [1, 2, 4]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First differing element 2: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3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4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5C8A8A"/>
                </a:solidFill>
                <a:latin typeface="Courier New"/>
              </a:rPr>
              <a:t># ...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FAILED (failures=2, errors=1, expected failures=1)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59344" y="1783080"/>
            <a:ext cx="402244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Output for the example: one ERROR, two FAIL, one expected failure.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assertEqual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on lists shows which element differs.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59344" y="4956048"/>
            <a:ext cx="4022445" cy="914400"/>
          </a:xfrm>
          <a:prstGeom prst="roundRect">
            <a:avLst>
              <a:gd name="adj" fmla="val 9000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87944" y="5093208"/>
            <a:ext cx="356524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WHY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This is a big reason to prefer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assertEqual(a, b)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over the plain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assert a == b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when using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unittest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30 / 58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Assertion Methods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The most useful assertions, messages and conventions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31 / 58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Assertion Methods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7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4" cy="3828283"/>
        </p:xfrm>
        <a:graphic>
          <a:graphicData uri="http://schemas.openxmlformats.org/drawingml/2006/table">
            <a:tbl>
              <a:tblPr/>
              <a:tblGrid>
                <a:gridCol w="41693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21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04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Method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Passes when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Use it for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543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assertEqual(a, b)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 / </a:t>
                      </a:r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assertNotEqual(a, b)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a == b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 / </a:t>
                      </a:r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a != b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Most value comparisons (numbers, strings, lists, dicts)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543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assertTrue(x)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 / </a:t>
                      </a:r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assertFalse(x)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bool(x)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 is </a:t>
                      </a:r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True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 / </a:t>
                      </a:r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False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Conditions (prefer a more specific assertion if one exists)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543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assertIs(a, b)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 / </a:t>
                      </a:r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assertIsNot(a, b)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a is b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 / </a:t>
                      </a:r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a is not b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Identity checks (see the Mutability lesson)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assertIsNone(x)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 / </a:t>
                      </a:r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assertIsNotNone(x)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x is None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 / not </a:t>
                      </a:r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None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Checking for </a:t>
                      </a:r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None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2543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assertIn(a, b)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 / </a:t>
                      </a:r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assertNotIn(a, b)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a in b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 / not in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Membership: items in lists, keys in dicts, substrings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assertIsInstance(obj, cls)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isinstance(obj, cls)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Type checks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2543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assertAlmostEqual(a, b, places=7)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Equal after rounding (also </a:t>
                      </a:r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delta=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Floating point numbers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32 / 58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Assertion Methods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7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4" cy="3828283"/>
        </p:xfrm>
        <a:graphic>
          <a:graphicData uri="http://schemas.openxmlformats.org/drawingml/2006/table">
            <a:tbl>
              <a:tblPr/>
              <a:tblGrid>
                <a:gridCol w="41693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21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04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Method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Passes when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Use it for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543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assertGreater(a, b)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assertLess(a, b)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assertGreaterEqual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assertLessEqual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Ordering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Ranges, durations, counts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543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assertListEqual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assertDictEqual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assertSetEqual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assertTupleEqual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Same, with better diffs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Collections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543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assertCountEqual(a, b)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Same elements regardless of order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Unordered results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assertRaises(Exc)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Block raises </a:t>
                      </a:r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Exc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Expected errors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assertRaisesRegex(Exc, pattern)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Raises and message matches regex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Checking error text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2543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assertLogs(logger, level)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Block emits a log message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Verifying logging (see the Logging lesson)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2543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fail(msg)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Always fails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Marking code paths that must not be reached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33 / 58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Messages and the Expected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Every assertion accepts an optional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msg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argument to add context: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40280"/>
            <a:ext cx="10971885" cy="505968"/>
          </a:xfrm>
          <a:prstGeom prst="roundRect">
            <a:avLst>
              <a:gd name="adj" fmla="val 14457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386584"/>
            <a:ext cx="10569549" cy="21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self.assertEqual(actual, expected, msg=f"order {order_id}")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904" y="3337560"/>
            <a:ext cx="10971885" cy="1371600"/>
          </a:xfrm>
          <a:prstGeom prst="roundRect">
            <a:avLst>
              <a:gd name="adj" fmla="val 6000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8504" y="3474720"/>
            <a:ext cx="1051468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WHICH VALUE IS EXPECTED?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By convention in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unittest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assertEqual(first, second)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puts the actual value first and the expected value second. Pick a convention and keep it consistent in your team so failure messages read naturally.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34 / 58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Fixtures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Preparing and cleaning up around each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35 / 58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Fixture Hooks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8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3" cy="3052060"/>
        </p:xfrm>
        <a:graphic>
          <a:graphicData uri="http://schemas.openxmlformats.org/drawingml/2006/table">
            <a:tbl>
              <a:tblPr/>
              <a:tblGrid>
                <a:gridCol w="30721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498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498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Hook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Runs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Typical use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setUp()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Before each test method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Create fresh objects/data for isolation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5563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tearDown()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After each test method (even if the test failed)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Clean up files, close connections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5563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setUpClass()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 (a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@classmethod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Once before all tests in the class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Expensive one-time setup (start a server, open a DB)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5563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tearDownClass()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 (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@classmethod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Once after all tests in the class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Release the expensive resource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5563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addCleanup(func, *args)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Registers cleanup to run after the test (in reverse order)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Safe, flexible cleanup placed next to the setup it undoes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5596128"/>
            <a:ext cx="1097188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 fixture is everything a test needs in place before it runs (and the cleanup afterwards): data, files, objects, connections.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36 / 58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Fixture Example: The Code Under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loader.py: a CSV loader we will test with a temporary file, tying together Tuesday's file handling and fixtures.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569464"/>
            <a:ext cx="10971885" cy="2639567"/>
          </a:xfrm>
          <a:prstGeom prst="roundRect">
            <a:avLst>
              <a:gd name="adj" fmla="val 277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715768"/>
            <a:ext cx="10569549" cy="2346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5C8A8A"/>
                </a:solidFill>
                <a:latin typeface="Courier New"/>
              </a:rPr>
              <a:t># loader.py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import csv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def load_scores(path):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"""Return a list of ints from the 'score' column of a CSV file."""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scores = []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with open(path, newline="", encoding="utf-8") as fh: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    for row in csv.DictReader(fh):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        scores.append(int(row["score"]))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return scores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37 / 58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Fixture Example: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5A5A5A"/>
                </a:solidFill>
                <a:latin typeface="Arial"/>
              </a:rPr>
              <a:t>test_loader.py (full script: </a:t>
            </a:r>
            <a:r>
              <a:rPr sz="1350" b="0" i="0">
                <a:solidFill>
                  <a:srgbClr val="5A5A5A"/>
                </a:solidFill>
                <a:latin typeface="Courier New"/>
              </a:rPr>
              <a:t>test_loader.py</a:t>
            </a:r>
            <a:r>
              <a:rPr sz="1400" b="0" i="0">
                <a:solidFill>
                  <a:srgbClr val="5A5A5A"/>
                </a:solidFill>
                <a:latin typeface="Arial"/>
              </a:rPr>
              <a:t> in the lesson).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40280"/>
            <a:ext cx="6766560" cy="2746247"/>
          </a:xfrm>
          <a:prstGeom prst="roundRect">
            <a:avLst>
              <a:gd name="adj" fmla="val 266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386584"/>
            <a:ext cx="6364224" cy="24536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class TestLoadScores(unittest.TestCase):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@classmethod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def setUpClass(cls):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   print("\n[setUpClass] once before all tests in this class")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5C8A8A"/>
                </a:solidFill>
                <a:latin typeface="Courier New"/>
              </a:rPr>
              <a:t>    # ...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def setUp(self):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   self.tmp = tempfile.TemporaryDirectory()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   self.addCleanup(self.tmp.cleanup)          # guaranteed cleanup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   self.path = os.path.join(self.tmp.name, "scores.csv")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   print("[setUp] fresh temp dir")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5C8A8A"/>
                </a:solidFill>
                <a:latin typeface="Courier New"/>
              </a:rPr>
              <a:t>    # ...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def write(self, text):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   with open(self.path, "w", newline="", encoding="utf-8") as fh: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       fh.write(text)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42224" y="1783080"/>
            <a:ext cx="383956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setUpClass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runs once for the class.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setUp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creates a fresh temp directory for each test.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addCleanup(self.tmp.cleanup)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guarantees cleanup.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write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is a helper: it does not begin with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test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so it is not run as a test.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38 / 58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Fixture Example: Tests and Teardown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5A5A5A"/>
                </a:solidFill>
                <a:latin typeface="Arial"/>
              </a:rPr>
              <a:t>Excerpt from test_loader.py.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40280"/>
            <a:ext cx="6766560" cy="2388107"/>
          </a:xfrm>
          <a:prstGeom prst="roundRect">
            <a:avLst>
              <a:gd name="adj" fmla="val 306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386584"/>
            <a:ext cx="6364224" cy="2095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def test_bad_number_raises_value_error(self):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self.write("name,score\nann,abc\n")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with self.assertRaises(ValueError):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    load_scores(self.path)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5C8A8A"/>
                </a:solidFill>
                <a:latin typeface="Courier New"/>
              </a:rPr>
              <a:t># ...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def tearDown(self):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print("[tearDown]")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5C8A8A"/>
                </a:solidFill>
                <a:latin typeface="Courier New"/>
              </a:rPr>
              <a:t># ...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@classmethod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def tearDownClass(cls):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print("[tearDownClass] once after all tests")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42224" y="1783080"/>
            <a:ext cx="383956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A negative case: invalid data (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"abc"</a:t>
            </a:r>
            <a:r>
              <a:rPr sz="1400" b="0" i="0">
                <a:solidFill>
                  <a:srgbClr val="1A1A1A"/>
                </a:solidFill>
                <a:latin typeface="Arial"/>
              </a:rPr>
              <a:t>) must raise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ValueError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tearDown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runs after each test;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tearDownClass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once after all.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other tests cover normal data, a header-only file and a missing file (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FileNotFoundError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39 / 58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Fixture Example: Hook 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python -m unittest test_loader -v (excerpt)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10971885" cy="2212848"/>
          </a:xfrm>
          <a:prstGeom prst="roundRect">
            <a:avLst>
              <a:gd name="adj" fmla="val 330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10569549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[setUpClass] once before all tests in this class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test_bad_number_raises_value_error (test_loader.TestLoadScores.test_bad_number_raises_value_error) ... [setUp] fresh temp dir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[tearDown]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ok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test_header_only_gives_empty_list (test_loader.TestLoadScores.test_header_only_gives_empty_list) ... [setUp] fresh temp dir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5C8A8A"/>
                </a:solidFill>
                <a:latin typeface="Courier New"/>
              </a:rPr>
              <a:t># ...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test_missing_file_raises (test_loader.TestLoadScores.test_missing_file_raises) ... [setUp] fresh temp dir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[tearDown]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ok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[tearDownClass] once after all tests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5C8A8A"/>
                </a:solidFill>
                <a:latin typeface="Courier New"/>
              </a:rPr>
              <a:t># ...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40 / 58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Why This Design Is Good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348782" cy="2043684"/>
          </a:xfrm>
          <a:prstGeom prst="roundRect">
            <a:avLst>
              <a:gd name="adj" fmla="val 4026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504" y="1965960"/>
            <a:ext cx="4891582" cy="16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Isolation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Every test gets its own brand-new temporary directory; no test can see another's file. The test never touches your real files.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1783080"/>
            <a:ext cx="5348782" cy="2043684"/>
          </a:xfrm>
          <a:prstGeom prst="roundRect">
            <a:avLst>
              <a:gd name="adj" fmla="val 4026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61607" y="1965960"/>
            <a:ext cx="4891582" cy="16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Cleanup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330066"/>
                </a:solidFill>
                <a:latin typeface="Courier New"/>
              </a:rPr>
              <a:t>TemporaryDirectory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plus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addCleanup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removes the files even if the test fails.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4101083"/>
            <a:ext cx="5348782" cy="2043684"/>
          </a:xfrm>
          <a:prstGeom prst="roundRect">
            <a:avLst>
              <a:gd name="adj" fmla="val 4026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8504" y="4283964"/>
            <a:ext cx="4891582" cy="16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Positive and negative cases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Normal data, an edge case (header only), invalid data (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"abc"</a:t>
            </a:r>
            <a:r>
              <a:rPr sz="1350" b="0" i="0">
                <a:solidFill>
                  <a:srgbClr val="1A1A1A"/>
                </a:solidFill>
                <a:latin typeface="Arial"/>
              </a:rPr>
              <a:t>), and a missing file, each with one clear expectation.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4101083"/>
            <a:ext cx="5348782" cy="2043684"/>
          </a:xfrm>
          <a:prstGeom prst="roundRect">
            <a:avLst>
              <a:gd name="adj" fmla="val 4026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61607" y="4283964"/>
            <a:ext cx="4891582" cy="16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The helper </a:t>
            </a:r>
            <a:r>
              <a:rPr sz="1550" b="1" i="0">
                <a:solidFill>
                  <a:srgbClr val="330066"/>
                </a:solidFill>
                <a:latin typeface="Courier New"/>
              </a:rPr>
              <a:t>write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Removes repetition. It does not begin with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test</a:t>
            </a:r>
            <a:r>
              <a:rPr sz="1350" b="0" i="0">
                <a:solidFill>
                  <a:srgbClr val="1A1A1A"/>
                </a:solidFill>
                <a:latin typeface="Arial"/>
              </a:rPr>
              <a:t>, so it is not run as a test.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41 / 58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Table-Driven Tests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subTest: every failing input reported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42 / 58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subTest Reports Every Failure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6766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Two deliberately wrong expectations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6766560" cy="1664208"/>
          </a:xfrm>
          <a:prstGeom prst="roundRect">
            <a:avLst>
              <a:gd name="adj" fmla="val 439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6364224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import unittest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from calculator import is_even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class T(unittest.TestCase):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def test_m(self):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    for n, e in [(0, True), (1, True), (2, False)]:   # two deliberately wrong expectations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        with self.subTest(n=n):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            self.assertEqual(is_even(n), 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3904487"/>
            <a:ext cx="6766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Output (first failure)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4178807"/>
            <a:ext cx="6766560" cy="1168908"/>
          </a:xfrm>
          <a:prstGeom prst="roundRect">
            <a:avLst>
              <a:gd name="adj" fmla="val 6258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4325112"/>
            <a:ext cx="6364224" cy="8762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FF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======================================================================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FAIL: test_m (__main__.T.test_m) (n=1)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----------------------------------------------------------------------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AssertionError: False != True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42224" y="1783080"/>
            <a:ext cx="383956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Without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subTest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the first failing input aborts the test and hides the rest.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With it, every failing input is reported with its parameters, e.g.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(n=1)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expectations were purposely wrong to show the report.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43 / 58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Choosing and Organising Tests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What to test, red-green-refactor, layout,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44 / 58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Deciding What to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4" cy="2788411"/>
        </p:xfrm>
        <a:graphic>
          <a:graphicData uri="http://schemas.openxmlformats.org/drawingml/2006/table">
            <a:tbl>
              <a:tblPr/>
              <a:tblGrid>
                <a:gridCol w="3291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03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Category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Examples for pass_rate(results)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Typical / happy path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["pass", "fail", "pass", "pass"]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 gives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75.0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Boundaries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All pass (100.0), all fail (0.0), exactly one element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Empty / minimal input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[]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 gives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0.0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 (this was the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ZeroDivisionError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 bug)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Variations of valid input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"PASS"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"Pass"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 (the case-sensitivity bug)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5563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Invalid input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None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 instead of a list, non-string items: what should happen? Decide and test it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Error handling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Does it raise the exception your design promised?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45 / 58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Two Good Habits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348782" cy="4361688"/>
          </a:xfrm>
          <a:prstGeom prst="roundRect">
            <a:avLst>
              <a:gd name="adj" fmla="val 1886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504" y="1965960"/>
            <a:ext cx="4891582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Test behaviour, not implementation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Assert on what the function returns or raises, not on how it does it internally. Then you can refactor freely.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1783080"/>
            <a:ext cx="5348782" cy="4361688"/>
          </a:xfrm>
          <a:prstGeom prst="roundRect">
            <a:avLst>
              <a:gd name="adj" fmla="val 1886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61607" y="1965960"/>
            <a:ext cx="4891582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Each bug gets a test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pass_rate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tests are exactly the three problems found during the debugging lesson, now frozen as permanent regression tests.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46 / 58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Red, Green, Refactor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11 · TEST-DRIVEN DEVELOPMENT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19656"/>
            <a:ext cx="10423245" cy="744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330066"/>
                </a:solidFill>
                <a:latin typeface="Arial"/>
              </a:rPr>
              <a:t>Red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1A1A1A"/>
                </a:solidFill>
                <a:latin typeface="Arial"/>
              </a:rPr>
              <a:t>Write a test for the behaviour you want; run it; watch it fail. A test you have never seen fail may not test anything.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7101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746756"/>
            <a:ext cx="10423245" cy="514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330066"/>
                </a:solidFill>
                <a:latin typeface="Arial"/>
              </a:rPr>
              <a:t>Green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1A1A1A"/>
                </a:solidFill>
                <a:latin typeface="Arial"/>
              </a:rPr>
              <a:t>Write the simplest code that makes the test pass.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340709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443668"/>
            <a:ext cx="10423245" cy="514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330066"/>
                </a:solidFill>
                <a:latin typeface="Arial"/>
              </a:rPr>
              <a:t>Refactor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1A1A1A"/>
                </a:solidFill>
                <a:latin typeface="Arial"/>
              </a:rPr>
              <a:t>Clean up the code (and tests), re-running the tests to ensure they still pass.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904" y="4956048"/>
            <a:ext cx="10971885" cy="1097280"/>
          </a:xfrm>
          <a:prstGeom prst="roundRect">
            <a:avLst>
              <a:gd name="adj" fmla="val 7500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8504" y="5093208"/>
            <a:ext cx="10514685" cy="8229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BUG-FIX VARIANT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Even without full TDD, use the bug-fix variant: write a failing test that reproduces the bug (your minimal reproducible example from the debugging lesson), then fix the code until it passes.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47 / 58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Organising Tests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A typical small project layout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4023360" cy="1786128"/>
          </a:xfrm>
          <a:prstGeom prst="roundRect">
            <a:avLst>
              <a:gd name="adj" fmla="val 409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3621024" cy="149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project/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|-- calculator.py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|-- loader.py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`-- tests/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|-- __init__.py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|-- test_calculator.py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`-- test_loader.py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99024" y="1783080"/>
            <a:ext cx="658276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Name test files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test_&lt;module&gt;.py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so discovery finds them.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Run from the project root: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python -m unittest discover -s tests -t .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(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-t .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sets the top-level directory so imports work).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One test module per code module, one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TestCase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class per function/class under test.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Never leave print/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breakpoint()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statements in committed tests; use logging.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Use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.gitignore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for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__pycache__/</a:t>
            </a:r>
            <a:r>
              <a:rPr sz="1300" b="0" i="0">
                <a:solidFill>
                  <a:srgbClr val="1A1A1A"/>
                </a:solidFill>
                <a:latin typeface="Arial"/>
              </a:rPr>
              <a:t>. If edits seem ignored, delete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__pycache__</a:t>
            </a:r>
            <a:r>
              <a:rPr sz="13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48 / 58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Common Mistakes to Avoid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4" cy="4461636"/>
        </p:xfrm>
        <a:graphic>
          <a:graphicData uri="http://schemas.openxmlformats.org/drawingml/2006/table">
            <a:tbl>
              <a:tblPr/>
              <a:tblGrid>
                <a:gridCol w="35110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5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693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Mistake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Why it hurts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Better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603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Tests that depend on each other or on run order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Break when run alone or in parallel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A1A1A"/>
                          </a:solidFill>
                          <a:latin typeface="Arial"/>
                        </a:rPr>
                        <a:t>Each test sets up its own data (</a:t>
                      </a:r>
                      <a:r>
                        <a:rPr sz="1100" b="0" i="0">
                          <a:solidFill>
                            <a:srgbClr val="330066"/>
                          </a:solidFill>
                          <a:latin typeface="Courier New"/>
                        </a:rPr>
                        <a:t>setUp</a:t>
                      </a:r>
                      <a:r>
                        <a:rPr sz="1150" b="0" i="0">
                          <a:solidFill>
                            <a:srgbClr val="1A1A1A"/>
                          </a:solidFill>
                          <a:latin typeface="Arial"/>
                        </a:rPr>
                        <a:t>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603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One giant test with many assertions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First failure hides the rest; unclear cause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A1A1A"/>
                          </a:solidFill>
                          <a:latin typeface="Arial"/>
                        </a:rPr>
                        <a:t>One behaviour per test (or use </a:t>
                      </a:r>
                      <a:r>
                        <a:rPr sz="1100" b="0" i="0">
                          <a:solidFill>
                            <a:srgbClr val="330066"/>
                          </a:solidFill>
                          <a:latin typeface="Courier New"/>
                        </a:rPr>
                        <a:t>subTest</a:t>
                      </a:r>
                      <a:r>
                        <a:rPr sz="1150" b="0" i="0">
                          <a:solidFill>
                            <a:srgbClr val="1A1A1A"/>
                          </a:solidFill>
                          <a:latin typeface="Arial"/>
                        </a:rPr>
                        <a:t>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Tests with no assertion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Always pass; verify nothing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Always assert something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A1A1A"/>
                          </a:solidFill>
                          <a:latin typeface="Arial"/>
                        </a:rPr>
                        <a:t>Asserting on floats with </a:t>
                      </a:r>
                      <a:r>
                        <a:rPr sz="1100" b="0" i="0">
                          <a:solidFill>
                            <a:srgbClr val="330066"/>
                          </a:solidFill>
                          <a:latin typeface="Courier New"/>
                        </a:rPr>
                        <a:t>==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Rounding noise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0066"/>
                          </a:solidFill>
                          <a:latin typeface="Courier New"/>
                        </a:rPr>
                        <a:t>assertAlmostEqual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603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Copying the implementation into the test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Test passes even when logic is wrong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Hard-code known-correct expected values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589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Using real network/time/random in unit tests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Slow, flaky, not repeatable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A1A1A"/>
                          </a:solidFill>
                          <a:latin typeface="Arial"/>
                        </a:rPr>
                        <a:t>Isolate or replace (later we will see mocking; </a:t>
                      </a:r>
                      <a:r>
                        <a:rPr sz="1100" b="0" i="0">
                          <a:solidFill>
                            <a:srgbClr val="330066"/>
                          </a:solidFill>
                          <a:latin typeface="Courier New"/>
                        </a:rPr>
                        <a:t>unittest.mock</a:t>
                      </a:r>
                      <a:r>
                        <a:rPr sz="1150" b="0" i="0">
                          <a:solidFill>
                            <a:srgbClr val="1A1A1A"/>
                          </a:solidFill>
                          <a:latin typeface="Arial"/>
                        </a:rPr>
                        <a:t> is part of the standard library)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603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Catching exceptions inside a test to "make it pass"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Hides real errors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A1A1A"/>
                          </a:solidFill>
                          <a:latin typeface="Arial"/>
                        </a:rPr>
                        <a:t>Use </a:t>
                      </a:r>
                      <a:r>
                        <a:rPr sz="1100" b="0" i="0">
                          <a:solidFill>
                            <a:srgbClr val="330066"/>
                          </a:solidFill>
                          <a:latin typeface="Courier New"/>
                        </a:rPr>
                        <a:t>assertRaises</a:t>
                      </a:r>
                      <a:r>
                        <a:rPr sz="1150" b="0" i="0">
                          <a:solidFill>
                            <a:srgbClr val="1A1A1A"/>
                          </a:solidFill>
                          <a:latin typeface="Arial"/>
                        </a:rPr>
                        <a:t> when an error is expected; let others fail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603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Changing the expected value just to turn a test green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Hides a real defect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First prove which side is wrong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49 / 58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Code Examples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Validation, logging, and red-green in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50 / 58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Example A: The Code Under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EXAMPLE A · VALIDATION HELPER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validators.py: raises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ValueError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for non-numbers or ages outside 0-120.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67712"/>
            <a:ext cx="10971885" cy="2426207"/>
          </a:xfrm>
          <a:prstGeom prst="roundRect">
            <a:avLst>
              <a:gd name="adj" fmla="val 301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414016"/>
            <a:ext cx="10569549" cy="2133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5C8A8A"/>
                </a:solidFill>
                <a:latin typeface="Courier New"/>
              </a:rPr>
              <a:t># validators.py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def validate_age(value):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"""Return age as int; raise ValueError for non-numbers or ages outside 0-120."""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try: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    age = int(value)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except (ValueError, TypeError):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    raise ValueError(f"age must be a whole number, got {value!r}") from None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if not 0 &lt;= age &lt;= 120: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    raise ValueError(f"age out of range: {age}")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return 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51 / 58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Example A: Boundary Tests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EXAMPLE A · VALIDATION HELPER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5A5A5A"/>
                </a:solidFill>
                <a:latin typeface="Arial"/>
              </a:rPr>
              <a:t>Excerpt from test_validators.py.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40280"/>
            <a:ext cx="6400800" cy="2852927"/>
          </a:xfrm>
          <a:prstGeom prst="roundRect">
            <a:avLst>
              <a:gd name="adj" fmla="val 2564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386584"/>
            <a:ext cx="5998464" cy="25603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class TestValidateAge(unittest.TestCase):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def test_valid_text_is_converted(self):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    self.assertEqual(validate_age("42"), 42)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5C8A8A"/>
                </a:solidFill>
                <a:latin typeface="Courier New"/>
              </a:rPr>
              <a:t>    # ...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def test_lower_boundary_is_valid(self):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    self.assertEqual(validate_age(0), 0)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5C8A8A"/>
                </a:solidFill>
                <a:latin typeface="Courier New"/>
              </a:rPr>
              <a:t>    # ...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def test_just_above_upper_boundary_is_invalid(self):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    with self.assertRaises(ValueError):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        validate_age(121)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5C8A8A"/>
                </a:solidFill>
                <a:latin typeface="Courier New"/>
              </a:rPr>
              <a:t>    # ...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def test_non_numeric_text_message(self):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    with self.assertRaisesRegex(ValueError, "whole number"):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        validate_age("4x")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Boundary value analysis: values on and just beyond each limit (0, -1, 120, 121) are where bugs hide.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Test names read like a specification.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assertRaisesRegex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checks the exception type and part of its message.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raise ... from None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hides the internal chained traceback (Tuesday).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52 / 58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Example B: Testing Logged Messages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EXAMPLE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5A5A5A"/>
                </a:solidFill>
                <a:latin typeface="Arial"/>
              </a:rPr>
              <a:t>Excerpt of the example module.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40280"/>
            <a:ext cx="6949440" cy="2121408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386584"/>
            <a:ext cx="6547103" cy="18287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logger = logging.getLogger("qa.parser")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5C8A8A"/>
                </a:solidFill>
                <a:latin typeface="Courier New"/>
              </a:rPr>
              <a:t>    # ...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except (ValueError, TypeError):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    logger.warning("Invalid age value: %r", text)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    return None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5C8A8A"/>
                </a:solidFill>
                <a:latin typeface="Courier New"/>
              </a:rPr>
              <a:t>    # ...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def test_invalid_logs_warning_and_returns_none(self):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    with self.assertLogs("qa.parser", level="WARNING") as captured: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        result = parse_age("4x")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    self.assertIsNone(result)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    self.assertEqual(captured.output, ["WARNING:qa.parser:Invalid age value: '4x'"])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5104" y="1783080"/>
            <a:ext cx="36566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assertLogs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captures log records emitted inside the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with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block and fails the test if none arrive.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captured.output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is a list of formatted lines.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Closes the loop with the logging lesson: log messages are behaviour too.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53 / 58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Example C: 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EXAMPLE C · FAILING TEST TO FIX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5A5A5A"/>
                </a:solidFill>
                <a:latin typeface="Arial"/>
              </a:rPr>
              <a:t>You discover that </a:t>
            </a:r>
            <a:r>
              <a:rPr sz="1350" b="0" i="0">
                <a:solidFill>
                  <a:srgbClr val="5A5A5A"/>
                </a:solidFill>
                <a:latin typeface="Courier New"/>
              </a:rPr>
              <a:t>average([])</a:t>
            </a:r>
            <a:r>
              <a:rPr sz="1400" b="0" i="0">
                <a:solidFill>
                  <a:srgbClr val="5A5A5A"/>
                </a:solidFill>
                <a:latin typeface="Arial"/>
              </a:rPr>
              <a:t> crashes. Write the test first.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40280"/>
            <a:ext cx="6949440" cy="2273807"/>
          </a:xfrm>
          <a:prstGeom prst="roundRect">
            <a:avLst>
              <a:gd name="adj" fmla="val 3217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386584"/>
            <a:ext cx="6547103" cy="19811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import unittest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def average(values):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return sum(values) / len(values)          # current (buggy) implementation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class TestAverage(unittest.TestCase):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def test_average_of_numbers(self):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    self.assertEqual(average([2, 4, 6]), 4)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def test_average_of_empty_list_is_none(self):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    self.assertIsNone(average([]))         # desired behaviour (decided with the team)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5104" y="1783080"/>
            <a:ext cx="36566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50" b="0" i="0">
                <a:solidFill>
                  <a:srgbClr val="1A1A1A"/>
                </a:solidFill>
                <a:latin typeface="Arial"/>
              </a:rPr>
              <a:t>Running it shows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ERROR: test_average_of_empty_list_is_none ... ZeroDivisionError: division by zero</a:t>
            </a:r>
            <a:r>
              <a:rPr sz="145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50" b="0" i="0">
                <a:solidFill>
                  <a:srgbClr val="1A1A1A"/>
                </a:solidFill>
                <a:latin typeface="Arial"/>
              </a:rPr>
              <a:t>The test is 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54 / 58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Example C: Green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EXAMPLE C · FAILING TEST TO FIX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5A5A5A"/>
                </a:solidFill>
                <a:latin typeface="Arial"/>
              </a:rPr>
              <a:t>Fix the function.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40280"/>
            <a:ext cx="5120640" cy="1146048"/>
          </a:xfrm>
          <a:prstGeom prst="roundRect">
            <a:avLst>
              <a:gd name="adj" fmla="val 6382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386584"/>
            <a:ext cx="4718303" cy="85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def average(values):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if not values: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    return None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return sum(values) / len(values)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304" y="1783080"/>
            <a:ext cx="54854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Arial"/>
              </a:rPr>
              <a:t>Both tests now pass.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Arial"/>
              </a:rPr>
              <a:t>The defect can never return unnoticed.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55 / 58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Key Takeaways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 unit test automatically checks one small piece of code by comparing actual with expected. Tests form a test suite; the test runner executes and reports.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43789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511044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Unit tests give fast feedback, protect against regressions, document behaviour and let you change code with confidence.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3092704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165856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Structure tests as Arrange, Act, Assert, and follow FIRST: Fast, Isolated, Repeatable, Self-validating, Timely.</a:t>
            </a:r>
          </a:p>
        </p:txBody>
      </p:sp>
      <p:sp>
        <p:nvSpPr>
          <p:cNvPr id="10" name="Oval 9"/>
          <p:cNvSpPr/>
          <p:nvPr/>
        </p:nvSpPr>
        <p:spPr>
          <a:xfrm>
            <a:off x="609904" y="3747516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8544" y="3820668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In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unittest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: subclass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unittest.TestCase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name methods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test_*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use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assertEqual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assertTrue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assertIn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assertIsNone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assertAlmostEqual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with self.assertRaises(...)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2" name="Oval 11"/>
          <p:cNvSpPr/>
          <p:nvPr/>
        </p:nvSpPr>
        <p:spPr>
          <a:xfrm>
            <a:off x="609904" y="4402328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8544" y="4475480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Fixtures: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setUp</a:t>
            </a:r>
            <a:r>
              <a:rPr sz="1400" b="0" i="0">
                <a:solidFill>
                  <a:srgbClr val="1A1A1A"/>
                </a:solidFill>
                <a:latin typeface="Arial"/>
              </a:rPr>
              <a:t>/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tearDown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(per test),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setUpClass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/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tearDownClass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(once per class),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addCleanup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(reliable cleanup).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56 / 58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Key Takeaways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subTest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reports each failing input of a table-driven test separately.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33172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404872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Run with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python -m unittest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(add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-v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-k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-f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-b</a:t>
            </a:r>
            <a:r>
              <a:rPr sz="1400" b="0" i="0">
                <a:solidFill>
                  <a:srgbClr val="1A1A1A"/>
                </a:solidFill>
                <a:latin typeface="Arial"/>
              </a:rPr>
              <a:t>; or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discover -s tests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).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.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pass,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F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failed assertion,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unexpected exception,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skipped.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298653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059684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Test normal cases, boundaries, empty and invalid input, and error handling. Test behaviour, not implementation; one behaviour per test.</a:t>
            </a:r>
          </a:p>
        </p:txBody>
      </p:sp>
      <p:sp>
        <p:nvSpPr>
          <p:cNvPr id="10" name="Oval 9"/>
          <p:cNvSpPr/>
          <p:nvPr/>
        </p:nvSpPr>
        <p:spPr>
          <a:xfrm>
            <a:off x="609904" y="3641344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8544" y="3714496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Turn every bug into a regression test: failing test first (red), fix (green), tidy (refactor).</a:t>
            </a:r>
          </a:p>
        </p:txBody>
      </p:sp>
      <p:sp>
        <p:nvSpPr>
          <p:cNvPr id="12" name="Oval 11"/>
          <p:cNvSpPr/>
          <p:nvPr/>
        </p:nvSpPr>
        <p:spPr>
          <a:xfrm>
            <a:off x="609904" y="4189983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8544" y="4263136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pytest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offers lighter syntax and richer features, covered in later weeks; today's concepts carry over.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57 / 58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Additional Resources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8544" y="18196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Python Standard Library, unittest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https://docs.python.org/3/library/unittest.html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4347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544" y="24713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Python Tutorial, Quality Control (doctest and unittest)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https://docs.python.org/3/tutorial/stdlib.html#quality-control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08648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544" y="3123057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Python Standard Library, unittest.mock (for later study)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https://docs.python.org/3/library/unittest.mock.html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58 / 58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rners Point">
  <a:themeElements>
    <a:clrScheme name="1_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1_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1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earners Point" id="{5ABB7BE2-076F-42C1-9907-FD58862889C1}" vid="{2565D177-60C2-4381-BEC4-E0C09BB79CB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6019</Words>
  <Application>Microsoft Office PowerPoint</Application>
  <PresentationFormat>Widescreen</PresentationFormat>
  <Paragraphs>787</Paragraphs>
  <Slides>56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0" baseType="lpstr">
      <vt:lpstr>Arial</vt:lpstr>
      <vt:lpstr>Courier New</vt:lpstr>
      <vt:lpstr>Wingdings</vt:lpstr>
      <vt:lpstr>Learners Point</vt:lpstr>
      <vt:lpstr>Introduction to Unit Testing</vt:lpstr>
      <vt:lpstr>Learning Objectives (1 of 2)</vt:lpstr>
      <vt:lpstr>Learning Objectives (2 of 2)</vt:lpstr>
      <vt:lpstr>The Concept</vt:lpstr>
      <vt:lpstr>What Is a Unit Test?</vt:lpstr>
      <vt:lpstr>Analogy: Building Bicycles</vt:lpstr>
      <vt:lpstr>Where Unit Tests Fit</vt:lpstr>
      <vt:lpstr>The Shape of a Healthy Project</vt:lpstr>
      <vt:lpstr>Why Write Automated Unit Tests?</vt:lpstr>
      <vt:lpstr>Manual Testing Still Matters</vt:lpstr>
      <vt:lpstr>Arrange, Act, Assert</vt:lpstr>
      <vt:lpstr>The FIRST Principles</vt:lpstr>
      <vt:lpstr>Further Good Habits</vt:lpstr>
      <vt:lpstr>Your First unittest Test</vt:lpstr>
      <vt:lpstr>The Code Under Test</vt:lpstr>
      <vt:lpstr>The Test Module: Skeleton</vt:lpstr>
      <vt:lpstr>Test Methods and assertEqual</vt:lpstr>
      <vt:lpstr>Floats and Expected Exceptions</vt:lpstr>
      <vt:lpstr>Many Inputs with subTest</vt:lpstr>
      <vt:lpstr>setUp and Skipping</vt:lpstr>
      <vt:lpstr>Running Tests, Reading Results</vt:lpstr>
      <vt:lpstr>Running the Tests</vt:lpstr>
      <vt:lpstr>Verbose Mode</vt:lpstr>
      <vt:lpstr>Handy Command-Line Options</vt:lpstr>
      <vt:lpstr>What a Failing Test Looks Like</vt:lpstr>
      <vt:lpstr>Failure Versus Error</vt:lpstr>
      <vt:lpstr>Different Outcomes Together</vt:lpstr>
      <vt:lpstr>assertEqual on Lists Shows the Diff</vt:lpstr>
      <vt:lpstr>Assertion Methods</vt:lpstr>
      <vt:lpstr>Assertion Methods (1 of 2)</vt:lpstr>
      <vt:lpstr>Assertion Methods (2 of 2)</vt:lpstr>
      <vt:lpstr>Messages and the Expected Value</vt:lpstr>
      <vt:lpstr>Fixtures</vt:lpstr>
      <vt:lpstr>Fixture Hooks</vt:lpstr>
      <vt:lpstr>Fixture Example: The Code Under Test</vt:lpstr>
      <vt:lpstr>Fixture Example: Setup</vt:lpstr>
      <vt:lpstr>Fixture Example: Tests and Teardown</vt:lpstr>
      <vt:lpstr>Fixture Example: Hook Order</vt:lpstr>
      <vt:lpstr>Why This Design Is Good</vt:lpstr>
      <vt:lpstr>Table-Driven Tests</vt:lpstr>
      <vt:lpstr>subTest Reports Every Failure</vt:lpstr>
      <vt:lpstr>Choosing and Organising Tests</vt:lpstr>
      <vt:lpstr>Deciding What to Test</vt:lpstr>
      <vt:lpstr>Two Good Habits</vt:lpstr>
      <vt:lpstr>Red, Green, Refactor</vt:lpstr>
      <vt:lpstr>Organising Tests</vt:lpstr>
      <vt:lpstr>Common Mistakes to Avoid</vt:lpstr>
      <vt:lpstr>Code Examples</vt:lpstr>
      <vt:lpstr>Example A: The Code Under Test</vt:lpstr>
      <vt:lpstr>Example A: Boundary Tests</vt:lpstr>
      <vt:lpstr>Example B: Testing Logged Messages</vt:lpstr>
      <vt:lpstr>Example C: Red</vt:lpstr>
      <vt:lpstr>Example C: Green</vt:lpstr>
      <vt:lpstr>Key Takeaways (1 of 2)</vt:lpstr>
      <vt:lpstr>Key Takeaways (2 of 2)</vt:lpstr>
      <vt:lpstr>Additional 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Learners Point Template</dc:title>
  <dc:creator>Learners Point</dc:creator>
  <cp:lastModifiedBy>Jasdhir Singh</cp:lastModifiedBy>
  <cp:revision>1</cp:revision>
  <dcterms:modified xsi:type="dcterms:W3CDTF">2026-10-18T10:37:56Z</dcterms:modified>
</cp:coreProperties>
</file>