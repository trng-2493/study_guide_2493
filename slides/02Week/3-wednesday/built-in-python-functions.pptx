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Built-in Python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2 ·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Use the toolbox Python ships with: convert, inspect, count, pair, sort and validate data without a single import.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2017394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FFFFFF"/>
                </a:solidFill>
                <a:latin typeface="Arial"/>
              </a:rPr>
              <a:t>print / input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1873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84499" y="3520439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330066"/>
                </a:solidFill>
                <a:latin typeface="Arial"/>
              </a:rPr>
              <a:t>int / str / bool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5337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19139" y="3520439"/>
            <a:ext cx="249745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330066"/>
                </a:solidFill>
                <a:latin typeface="Arial"/>
              </a:rPr>
              <a:t>isinstance / repr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0803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73794" y="3520439"/>
            <a:ext cx="225742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330066"/>
                </a:solidFill>
                <a:latin typeface="Arial"/>
              </a:rPr>
              <a:t>zip / enumerate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122265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588419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330066"/>
                </a:solidFill>
                <a:latin typeface="Arial"/>
              </a:rPr>
              <a:t>any / all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321719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582954" y="3520439"/>
            <a:ext cx="93725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50">
                <a:solidFill>
                  <a:srgbClr val="330066"/>
                </a:solidFill>
                <a:latin typeface="Arial"/>
              </a:rPr>
              <a:t>next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 built-in function is, where it comes from (the built-in scope), and how to discover it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help()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dir()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the official docs).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Convert and inspect: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float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str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bool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list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tuple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dict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type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isinstance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repr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callable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Work with numbers: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abs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round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divmod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pow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Work with sequences: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len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range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enumerate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zip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sorted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reversed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map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filter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any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iter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next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 / 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Work with objects and text: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hasattr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getattr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setattr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vars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dir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input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format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chr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ord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Choose between a built-in and a hand-written loop, and explain why the built-in is usually clearer and faster.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Predict the results (and the errors) built-ins produce for edge cases such as empty lists or bad input.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Apply built-ins to QA tasks: validating test data, comparing expected and actual, lookup tables, readable assertions.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 / 51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330066"/>
                </a:solidFill>
                <a:latin typeface="Arial"/>
              </a:rPr>
              <a:t>Around 70 functions, available in every program with no </a:t>
            </a:r>
            <a:r>
              <a:rPr sz="2150" b="1" i="0">
                <a:solidFill>
                  <a:srgbClr val="330066"/>
                </a:solidFill>
                <a:latin typeface="Courier New"/>
              </a:rPr>
              <a:t>import</a:t>
            </a:r>
            <a:r>
              <a:rPr sz="2200" b="1" i="0">
                <a:solidFill>
                  <a:srgbClr val="330066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14600"/>
            <a:ext cx="1097188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They are written in optimised C, thoroughly tested, and express common ideas ("how many items?", "is any value negative?", "pair these two lists") in one readable 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3794760"/>
            <a:ext cx="10971885" cy="914400"/>
          </a:xfrm>
          <a:prstGeom prst="roundRect">
            <a:avLst>
              <a:gd name="adj" fmla="val 9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3931920"/>
            <a:ext cx="105146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THIS WEEK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weekly epic is about hardening your Python so test code is robust and maintainable. Built-ins help in three concrete 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 / 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Three Concrete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1. Less code, fewer bugs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all(row["status"] == "ok" for row in rows)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replaces a five-line loop with a flag variable. Every line of test code you do not write cannot be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2. Better validation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isinstance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int()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try/except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sorted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zip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check that data from a file (Tuesday) or an API has the right type, size, range and order.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3. Better debugging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the next two lessons you debug and log.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repr()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type()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id()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dir()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vars()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help()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answer "what is this object?".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5 / 51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Built-in Scope Revisited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Built-in names live in the built-in scope, the "B" in LEGB.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Shadowing them (a variable named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list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is a mistake. This lesson covers what is actually in that scope and how to use it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6 / 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What built-ins are, discovering them, and the main groups by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7 / 51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 Built-in Function?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function is a named, reusable block of code that you call with arguments, e.g.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len("hello")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A built-in function is one Python provides automatically: nothing to import.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complete official list is linked in the resources; you learn the most important ones 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794760"/>
            <a:ext cx="10971885" cy="1188720"/>
          </a:xfrm>
          <a:prstGeom prst="roundRect">
            <a:avLst>
              <a:gd name="adj" fmla="val 692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3931920"/>
            <a:ext cx="1051468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CLASSES TOO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Some built-ins are actually classes you call to create objects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list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range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enumerate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zip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...). In daily use they look and feel like functions, so we treat them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8 / 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Anatomy of a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1A1A1A"/>
                </a:solidFill>
                <a:latin typeface="Courier New"/>
              </a:rPr>
              <a:t>print(len("hello"))   #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len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the function name.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"hello"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the argument, the input value.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result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5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is the return value, which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then displays.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9 / 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Discovering Built-ins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818388"/>
          </a:xfrm>
          <a:prstGeom prst="roundRect">
            <a:avLst>
              <a:gd name="adj" fmla="val 8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525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help(len)              # prints documentation for len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print(len.__doc__)     # the same docstring, as a string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print(dir(str)[:5])    # first few attribute names of the str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You do not need to memorise everything: Python can document itself.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In an interactive session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python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with no arguments) or a debugger,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help(sorted)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often faster than a web search.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dir(obj)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lists the attributes and methods of an object: the quickest answer to "what can I do with this?".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10 / 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print(*objects, sep=" ", end="\n")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 · PRINT, INPUT, FORMAT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print("a", "b", "c")                 # a b c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print("a", "b", "c", sep="-")        # a-b-c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print("Loading", end="...")          # no newline after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print("done")                        # Loading...done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Displays values; accepts any number of arguments, converts each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str()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puts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between them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after the last.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its job is the side effect of showing output. A common beginner mistake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result = print(x)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Fine for quick checks; in real test projects replace it with logging (levels, timestamps, destinations).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11 / 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input(prompt)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612648"/>
          </a:xfrm>
          <a:prstGeom prst="roundRect">
            <a:avLst>
              <a:gd name="adj" fmla="val 1194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age_text = input("Enter your age: ")   # user types 30 -&gt; '30' (a string!)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age = int(age_text)                     # convert before doing arithmetic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Pauses and reads one line typed by the user, always returning a string.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Automated tests normally cannot wait for a human, so you rarely call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input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in test code, but know it returns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12 / 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format(value, spec) and f-strings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print(format(3.14159, ".2f"))      # 3.14   (2 decimal places)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print(f"{1234567:,}")              # 1,234,567 (thousands separator)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print(f"{'id':&lt;6}|{'status':&gt;8}")  # id    |  status  (left/right alignment)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977515"/>
            <a:ext cx="10971885" cy="3167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format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applies a format specification: the engine behind f-strings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f"..."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str.format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13 / 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Type Conversion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 · TYPE CONVERSION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3519931"/>
        </p:xfrm>
        <a:graphic>
          <a:graphicData uri="http://schemas.openxmlformats.org/drawingml/2006/table">
            <a:tbl>
              <a:tblPr firstRow="0" bandRow="0"/>
              <a:tblGrid>
                <a:gridCol w="1755501"/>
                <a:gridCol w="3291565"/>
                <a:gridCol w="592481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75563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int(x)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integer (truncates floats toward zero)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int("42")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42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int(3.9)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3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int(-3.9)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-3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int("ff", 16)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255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float(x)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floating point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float("3.5")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3.5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str(x)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str(10)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'10'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bool(x)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To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True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/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bool("")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False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bool([0])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list(x)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a list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list("abc")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['a', 'b', 'c']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tuple(x)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a tuple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tuple([1, 2])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(1, 2)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set(x)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a set (removes duplicates)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set([1, 1, 2])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{1, 2}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dict(x)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To a dict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dict([("a", 1)])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-&gt;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{'a': 1}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5687568"/>
            <a:ext cx="1097188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Data from files and APIs usually arrives as text. These functions convert one type into another.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14 / 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Conversions Can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int("abc")    # ValueError: invalid literal for int() with base 10: 'abc'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int("3.7")    # ValueError: invalid literal for int() with base 10: '3.7'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int(None)     # TypeError: int() argument must be a string, a bytes-like object or a real number, not 'NoneType'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180079"/>
            <a:ext cx="10971885" cy="296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int("3.7")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fails even though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int(3.7)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works: a string must look exactly like an integer.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Use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int(float("3.7"))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if that is what you mean.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These are exactly the failures you learned to catch on Tuesday.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15 / 51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Safe Conversion Helper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273807"/>
          </a:xfrm>
          <a:prstGeom prst="roundRect">
            <a:avLst>
              <a:gd name="adj" fmla="val 321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981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to_int(text, default=None):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"""Convert text to int; return default if impossible."""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return int(text)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except (ValueError, TypeError):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return default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print(to_int("42"))       # 42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print(to_int("4x2"))      # None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print(to_int(None, 0))    #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Wrap the conversion in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try/except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return a default when impossible.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covers bad text;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covers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16 / 51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Truthiness: How bool()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Falsy: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0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0.0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""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[]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()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{}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set()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range(0)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Truthy: almost everything else, including the string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"0"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the list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[0]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306323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3099815"/>
            <a:ext cx="10423245" cy="529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Pythonic emptiness test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if items: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the Pythonic "is the list non-empty?" test.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73030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766883"/>
            <a:ext cx="10423245" cy="529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The "False" trap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bool("False")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(a non-empty string)!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439737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4433950"/>
            <a:ext cx="10423245" cy="529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Booleans from CSV or JSON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Compare against explicit text: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value.lower() == "true"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17 / 51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type and isinstance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 · INSPECTING OBJECTS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print(type(1))                      # &lt;class 'int'&gt;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print(isinstance(1, int))           # True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print(isinstance(1, (int, float)))  # True  (a tuple of types means "any of these")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print(isinstance(True, int))        # True  (bool is a subclass of int!)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print(type(True) == int)            #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437890"/>
            <a:ext cx="10971885" cy="27068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Prefer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isinstance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for checks: it respects inheritance and accepts a tuple of types.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Quirk: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is an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int</a:t>
            </a:r>
            <a:r>
              <a:rPr sz="1550" b="0" i="0">
                <a:solidFill>
                  <a:srgbClr val="1A1A1A"/>
                </a:solidFill>
                <a:latin typeface="Arial"/>
              </a:rPr>
              <a:t>, so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isinstance(True, int)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5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To reject booleans when validating a count: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isinstance(x, int) and not isinstance(x, bool)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18 / 51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repr(obj) versus str(obj)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5299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For humans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str(obj)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gives readable output.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9586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32443"/>
            <a:ext cx="10423245" cy="76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For developers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repr(obj)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unambiguous, ideally something you could paste back into code. Strings in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repr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have quotes and escape characters, so hidden whitespace becomes 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19 / 51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repr Makes Hidden Characters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text = "a\n"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print(str(text))     # prints 'a' followed by a real line break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print(repr(text))    # 'a\n'   &lt;-- the \n is visible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print(repr(1.0))     #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"Expected 'ok' but got 'ok '"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invisible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str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but obvious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repr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In f-strings use the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!r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flag: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f"value={value!r}"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20 / 51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id(obj) and callable(obj)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54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1A1A1A"/>
                </a:solidFill>
                <a:latin typeface="Courier New"/>
              </a:rPr>
              <a:t>print(callable(len))     # True</a:t>
            </a: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1A1A1A"/>
                </a:solidFill>
                <a:latin typeface="Courier New"/>
              </a:rPr>
              <a:t>print(callable("abc"))   #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id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returns an object's identity (see Mutability and memory).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50" b="0" i="0">
                <a:solidFill>
                  <a:srgbClr val="330066"/>
                </a:solidFill>
                <a:latin typeface="Courier New"/>
              </a:rPr>
              <a:t>callable(obj)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answers: can I call this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21 / 51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Number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 ·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572768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print(abs(-3), abs(-2.5))          # 3 2.5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print(divmod(17, 5))               # (3, 2)   -&gt; quotient and remainder together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print(pow(2, 10), 2 ** 10)         # 1024 1024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print(pow(2, 10, 1000))            # 24       -&gt; (2**10) % 1000, efficient modular power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print(round(3.14159, 2))           # 3.14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print(round(1234, -2))             # 1200     -&gt; negative digits round to hundreds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695700"/>
            <a:ext cx="10971885" cy="2449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divmod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gives quotient and remainder together.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pow(2, 10, 1000)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is an efficient modular power.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Negative digits in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round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round to hundreds, tens,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22 / 51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round() Uses Banker's 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Exact halves go to the nearest even number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21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print(round(0.5), round(1.5), round(2.5), round(-2.5))   # 0 2 2 -2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6248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Floats are stored in binary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20568"/>
            <a:ext cx="10971885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" y="3166872"/>
            <a:ext cx="1056954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print(round(2.675, 2))        # 2.67  (not 2.68, because 2.675 is stored as 2.67499999...)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print(0.1 + 0.2)              # 0.30000000000000004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print(0.1 + 0.2 == 0.3)       #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23 / 51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QA Implication: Comparing Floats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780288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487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import math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print(math.isclose(0.1 + 0.2, 0.3))   # True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697480"/>
            <a:ext cx="10971885" cy="1005840"/>
          </a:xfrm>
          <a:prstGeom prst="roundRect">
            <a:avLst>
              <a:gd name="adj" fmla="val 8181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2834640"/>
            <a:ext cx="1051468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QA IMPLICATION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Never compare floats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 assertions about calculated values. 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math.isclose(a, b)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(standard library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module) or compare rounded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977639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For exact money calculations, the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decimal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module exists; you will see it when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24 / 51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sum, min, 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267968"/>
          </a:xfrm>
          <a:prstGeom prst="roundRect">
            <a:avLst>
              <a:gd name="adj" fmla="val 57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975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scores = [72, 88, 95, 60]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print(sum(scores))            # 315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print(min(scores), max(scores))   # 60 95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print(sum(scores) / len(scores))  # 78.75   (average)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25 / 51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sum, min, max: Useful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76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print(max(["bb", "a", "ccc"], key=len))        # ccc   (largest by length)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print(max([], default=None))                   # None  (avoid an error for empty input)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print(sum([[1], [2]], []))                     # [1, 2] (second arg is the start 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key=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picks the largest by a function;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default=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avoids an error on empty input.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second argument of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the start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26 / 51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sum, min, max: Edge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max([])            # ValueError: max() iterable argument is empty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sum(["a", "b"])    # TypeError: unsupported operand type(s) for +: 'int' and 'str'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for numbers; to join strings use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"".join(list_of_strings)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27 / 51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len(x): How Many Items?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 · SEQUENCES AND ITERATION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810768"/>
          </a:xfrm>
          <a:prstGeom prst="roundRect">
            <a:avLst>
              <a:gd name="adj" fmla="val 902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518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>
                <a:solidFill>
                  <a:srgbClr val="1A1A1A"/>
                </a:solidFill>
                <a:latin typeface="Courier New"/>
              </a:rPr>
              <a:t>print(len("abc"), len([1, 2, 3]), len({"a": 1}))   # 3 3 1</a:t>
            </a:r>
          </a:p>
          <a:p>
            <a:pPr algn="l">
              <a:lnSpc>
                <a:spcPct val="100000"/>
              </a:lnSpc>
            </a:pPr>
            <a:r>
              <a:rPr sz="1700">
                <a:solidFill>
                  <a:srgbClr val="1A1A1A"/>
                </a:solidFill>
                <a:latin typeface="Courier New"/>
              </a:rPr>
              <a:t>len(5)    # TypeError: object of type 'int' has no len()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28 / 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range(stop) and Friends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print(list(range(5)))          # [0, 1, 2, 3, 4]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print(list(range(2, 10, 3)))   # [2, 5, 8]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print(list(range(5, 0, -2)))   # [5, 3,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range(stop)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range(start, stop)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range(start, stop, step)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a lazy sequence of integers;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stop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excluded.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range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generates numbers as needed, so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range(10_000_000)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cheap.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29 / 51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enumerate(iterable, start=0)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792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for number, name in enumerate(["login", "search"], start=1):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print(number, name)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1 login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2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Index plus item, instead of managing a counter yourself.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Test scenario: report "row 7 is invalid" while looping over a data file,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enumerate(rows, start=2)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if row 1 is a header.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30 / 51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zip(*iterables)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names = ["a", "b", "c"]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scores = [1, 2, 3]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print(list(zip(names, scores)))        # [('a', 1), ('b', 2), ('c', 3)]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print(dict(zip(names, scores)))        # {'a': 1, 'b': 2, 'c': 3}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Walks several sequences in step.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zip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stops at the shortest input silently, which can hide missing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31 / 51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zip(strict=True)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itertools.zip_longest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(standard library) pads the shorter input instead.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Python 3.10+: raise on mismatched lengths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10971885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10569549" cy="426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list(zip([1, 2, 3], "ab", strict=True))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5C8A8A"/>
                </a:solidFill>
                <a:latin typeface="Courier New"/>
              </a:rPr>
              <a:t># ValueError: zip() argument 2 is shorter than argument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398519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Expected versus actual in a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672839"/>
            <a:ext cx="10971885" cy="1572768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" y="3819143"/>
            <a:ext cx="1056954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expected = [200, 201, 404]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actual = [200, 201, 500]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for exp, act in zip(expected, actual, strict=True):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if exp != act: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print(f"Mismatch: expected {exp}, got {act}")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5C8A8A"/>
                </a:solidFill>
                <a:latin typeface="Courier New"/>
              </a:rPr>
              <a:t># Mismatch: expected 404, got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32 / 51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sorted and reversed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print(sorted([3, 1, 2], reverse=True))             # [3, 2, 1]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print(sorted(["b", "A", "c"]))                     # ['A', 'b', 'c']   (uppercase sorts first)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print(sorted(["b", "A", "c"], key=str.lower))      # ['A', 'b', 'c']  -&gt; case-insensitive via key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print(list(reversed([1, 2, 3])))                   # [3, 2, 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437890"/>
            <a:ext cx="10971885" cy="27068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sorted(iterable, key=None, reverse=False)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returns a new list; the original is unchanged (unlike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list.sort()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key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a function applied to each item to decide its position, e.g.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sorted(users, key=lambda u: u["age"])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Mixed types fail: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sorted([3, "a"])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TypeError: '&lt;' not supported between instances of 'str' and 'int'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33 / 51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map and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Most programmers prefer comprehensions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[str(n) for n in nums]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[n for n in nums if n]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); you will see both styles.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Basic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10971885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10569549" cy="426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print(list(map(str, [1, 2])))              # ['1', '2']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print(list(filter(None, [0, 1, "", 2])))   # [1, 2]  (None means: keep truthy values)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700271"/>
            <a:ext cx="109718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Both return lazy iterators: consumed only once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974591"/>
            <a:ext cx="10971885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" y="4120895"/>
            <a:ext cx="1056954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m = map(str, [1, 2])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print(list(m))     # ['1', '2']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print(list(m))     # []   &lt;-- already used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34 / 51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any and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print(any([0, 0, 1]))        # True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print(all([1, 2]))           # True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print(all([]), any([]))      # True False   &lt;-- empty input: all is True, any is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922270"/>
            <a:ext cx="10971885" cy="3222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any(iterable)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if at least one item is truthy.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all(iterable)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if every item is truthy.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Empty input: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all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any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35 / 51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any and all: Validation One-liners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rows = [{"id": 1, "status": "ok"}, {"id": 2, "status": "ok"}]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print(all(row["status"] == "ok" for row in rows))     # True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print(any(row["id"] &lt; 0 for row in rows))             # False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3154680"/>
            <a:ext cx="10971885" cy="1280160"/>
          </a:xfrm>
          <a:prstGeom prst="roundRect">
            <a:avLst>
              <a:gd name="adj" fmla="val 6428"/>
            </a:avLst>
          </a:prstGeom>
          <a:solidFill>
            <a:srgbClr val="FBEDEB"/>
          </a:solidFill>
          <a:ln w="12700">
            <a:solidFill>
              <a:srgbClr val="FBE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3291840"/>
            <a:ext cx="10514685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WATCH OUT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all([])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being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means "no counter-examples were found". A test that "verifies all results are valid" passes on an empty result set! Pair it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 len(rows) &gt; 0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 rows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when emptiness would be a defect.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36 / 51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iter and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it = iter([10, 20])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print(next(it))              # 10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print(next(it))              # 20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print(next(it, "no more"))   # no more   (default value instead of StopIteration)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180079"/>
            <a:ext cx="10971885" cy="296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These expose the machinery behind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for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loops.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next(iterator, default)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returns a default instead of raising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StopIteration</a:t>
            </a:r>
            <a:r>
              <a:rPr sz="15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Handy for "the first match or a default":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first_admin = next((u for u in users if u["role"] == "admin"), None)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37 / 51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hasattr, getattr, setattr, vars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 · OBJECTS AND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212848"/>
          </a:xfrm>
          <a:prstGeom prst="roundRect">
            <a:avLst>
              <a:gd name="adj" fmla="val 33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class Config: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pass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cfg = Config()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setattr(cfg, "timeout", 30)                 # same as cfg.timeout = 30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print(getattr(cfg, "timeout"))              # 30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print(getattr(cfg, "retries", 3))           # 3  (default when missing)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print(hasattr(cfg, "timeout"))              # True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print(vars(cfg))                            # {'timeout': 30}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4469130"/>
            <a:ext cx="10971885" cy="16756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Work with attribute names stored in strings: common when data-driven tests describe checks by name.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dir(obj)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lists available attributes;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vars(obj)</a:t>
            </a:r>
            <a:r>
              <a:rPr sz="1550" b="0" i="0">
                <a:solidFill>
                  <a:srgbClr val="1A1A1A"/>
                </a:solidFill>
                <a:latin typeface="Arial"/>
              </a:rPr>
              <a:t> gives the object's own attribute dictionary.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38 / 51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ord, chr, hex, bin, oct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426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print(ord("A"), chr(65))             # 65 A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print(hex(255), bin(5), oct(8))      # 0xff 0b101 0o10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ord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chr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convert between a character and its Unicode code point.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hex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bin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oct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give text representations of an integer.</a:t>
            </a:r>
          </a:p>
          <a:p>
            <a:pPr algn="l" marL="228600" indent="-228600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Handy for decoding status bytes or testing character handling in input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39 / 51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Other Built-ins Worth Recognising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3026156"/>
        </p:xfrm>
        <a:graphic>
          <a:graphicData uri="http://schemas.openxmlformats.org/drawingml/2006/table">
            <a:tbl>
              <a:tblPr firstRow="0" bandRow="0"/>
              <a:tblGrid>
                <a:gridCol w="3511003"/>
                <a:gridCol w="746088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377444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open(path, mode)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Opens a file (you used it on Tuesday, ideally with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with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444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isinstance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issubclass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Type relationship checks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377444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slice(start, stop, step)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Object form of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a[start:stop:step]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444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bytes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bytearray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frozenset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Immutable/mutable binary data and immutable set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377444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eval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exec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Run text as code; dangerous with untrusted input; avoid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444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help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dir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Built-in documentation and introspection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</a:tr>
              <a:tr h="377444"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breakpoint()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Drops into the debugger (covered in Debugging techniques)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40 / 51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Code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Five worked examples, shown as snippets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41 / 51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A: Validation Helper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471928"/>
          </a:xfrm>
          <a:prstGeom prst="roundRect">
            <a:avLst>
              <a:gd name="adj" fmla="val 29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179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validate_scores(raw_scores):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"""Validate a list of text scores; return (clean_numbers, error_messages)."""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5C8A8A"/>
                </a:solidFill>
                <a:latin typeface="Courier New"/>
              </a:rPr>
              <a:t>    # 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for line_no, text in enumerate(raw_scores, start=1):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try: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value = float(text)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except (ValueError, TypeError):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errors.append(f"line {line_no}: {text!r} is not a number")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continue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if not 0 &lt;= value &lt;= 100: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errors.append(f"line {line_no}: {value} out of range 0-100")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continue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clean.append(value)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4782185"/>
            <a:ext cx="10971885" cy="1362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enumerate(raw_scores, start=1)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supplies human-friendly line numbers;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float(text)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covers bad text,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covers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!r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applies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repr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'x7'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prints with quotes,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as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0 &lt;= value &lt;= 100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is a chained comparison: a compact range check.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Returns values and problems so a caller (or test) can assert on them separately.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42 / 51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B: Summarising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273807"/>
          </a:xfrm>
          <a:prstGeom prst="roundRect">
            <a:avLst>
              <a:gd name="adj" fmla="val 321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981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tests = ["login", "search", "checkout", "logout"]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durations = [1.2, 0.8, 3.4, 0.5]          # seconds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print("Total  :", round(sum(durations), 2))                 # 5.9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print("Average:", round(sum(durations) / len(durations), 2)) # 1.48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print("Fastest:", min(zip(durations, tests)))               # (0.5, 'logout')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print("Slowest:", max(zip(durations, tests)))               # (3.4, 'checkout')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for duration, name in sorted(zip(durations, tests), reverse=True):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print(f"{name:&lt;10}{duration:&gt;5.1f}s")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4542790"/>
            <a:ext cx="10971885" cy="16019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zip(durations, tests)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pairs each time with its test name.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 Tuples compare element by element, so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pick by duration first.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{name:&lt;10}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left-aligns in width 10;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{duration:&gt;5.1f}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right-aligns a float, 1 decimal, width 5.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•  Output ends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checkout 3.4s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login 1.2s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search 0.8s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logout 0.5s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43 / 51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>
                <a:solidFill>
                  <a:srgbClr val="330066"/>
                </a:solidFill>
              </a:rPr>
              <a:t>Example C: Expected versus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350008"/>
          </a:xfrm>
          <a:prstGeom prst="roundRect">
            <a:avLst>
              <a:gd name="adj" fmla="val 311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expected = {"id": 7, "name": "Widget", "price": 9.99}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actual   = {"id": 7, "name": "Widget", "price": 9.99, "extra": True}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missing = [key for key in expected if key not in actual]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mismatched = [key for key in expected if key in actual and expected[key] != actual[key]]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unexpected = [key for key in actual if key not in expected]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5C8A8A"/>
                </a:solidFill>
                <a:latin typeface="Courier New"/>
              </a:rPr>
              <a:t># ...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print("missing   :", missing)       # []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print("mismatched:", mismatched)    # []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print("unexpected:", unexpected)    # ['extra']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4634865"/>
            <a:ext cx="10971885" cy="1509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Build small lists of what is wrong: missing, mismatched, unexpected keys.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Produces much more helpful failure messages than a single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False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unexpected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would be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['extra']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missing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mismatched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are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[]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44 / 51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D: First Match,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212848"/>
          </a:xfrm>
          <a:prstGeom prst="roundRect">
            <a:avLst>
              <a:gd name="adj" fmla="val 33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users = [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{"name": "ann", "role": "viewer"},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{"name": "bob", "role": "admin"},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first_admin = next((u for u in users if u["role"] == "admin"), None)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print(first_admin)    # {'name': 'bob', 'role': 'admin'}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none_found = next((u for u in users if u["role"] == "owner"), None)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print(none_found)     #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4469130"/>
            <a:ext cx="10971885" cy="16756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(u for u in users if ...)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a generator expression: checks users one by one.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next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stops at the first match instead of scanning everything and building a list.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No match returns the default,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45 / 51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Example E: Exploring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85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obj = "QA"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print(type(obj), repr(obj))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print([name for name in dir(obj) if not name.startswith("_")][:5])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print(hasattr(obj, "upper"), callable(obj.upper))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180079"/>
            <a:ext cx="10971885" cy="296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Prints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&lt;class 'str'&gt; 'QA'</a:t>
            </a:r>
            <a:r>
              <a:rPr sz="1550" b="0" i="0">
                <a:solidFill>
                  <a:srgbClr val="1A1A1A"/>
                </a:solidFill>
                <a:latin typeface="Arial"/>
              </a:rPr>
              <a:t>, the first five public names (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'capitalize'</a:t>
            </a:r>
            <a:r>
              <a:rPr sz="15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'casefold'</a:t>
            </a:r>
            <a:r>
              <a:rPr sz="1550" b="0" i="0">
                <a:solidFill>
                  <a:srgbClr val="1A1A1A"/>
                </a:solidFill>
                <a:latin typeface="Arial"/>
              </a:rPr>
              <a:t>, ...) and </a:t>
            </a:r>
            <a:r>
              <a:rPr sz="1500" b="0" i="0">
                <a:solidFill>
                  <a:srgbClr val="330066"/>
                </a:solidFill>
                <a:latin typeface="Courier New"/>
              </a:rPr>
              <a:t>True True</a:t>
            </a:r>
            <a:r>
              <a:rPr sz="15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•  A three-line routine for an object you did not create: what it is, what it can do, whether a method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46 / 51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PITFALLS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Shadowing built-ins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Naming a variable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list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hides the built-in.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Using print's result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result = print(x)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a bug.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input() is text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It always returns a string: convert before arithmetic.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" y="4283964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Wrong conversions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int("3.7")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fails;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int(3.7)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truncates.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bool("False")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7240" y="4283964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type() == int checks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Prefer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isinstance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remember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an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375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5975" y="4283964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Float </a:t>
            </a:r>
            <a:r>
              <a:rPr sz="1550" b="1" i="0">
                <a:solidFill>
                  <a:srgbClr val="330066"/>
                </a:solidFill>
                <a:latin typeface="Courier New"/>
              </a:rPr>
              <a:t>==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round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banker's rounding and floats are imprecise: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math.isclose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47 / 51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PITFALLS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max([]) and sum of strings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max([])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unless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default=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given;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for numbers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Silent zip truncation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zip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stops at the shortest input: use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strict=True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One-shot iterators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map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filter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zip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reversed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are consumed once; a second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list(m)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empty.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" y="4283964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all([]) is True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Guard against empty data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assert rows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7240" y="4283964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Mixed-type sorting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sorted([3, "a"])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375" y="4101083"/>
            <a:ext cx="3474415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5975" y="4283964"/>
            <a:ext cx="3017215" cy="1677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eval and exec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Dangerous with untrusted input: avoid.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48 / 51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Built-ins are always available (built-in scope) and are fast, tested and readable. Do not shadow their names.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help()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dir()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the official docs; you do not need to memorise every one.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Conversions can raise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wrap external data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try/except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int("3.7")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fails;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int(3.7)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truncates.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64134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14496"/>
            <a:ext cx="104232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Truthiness: empty containers,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are falsy; the string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"False"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truthy.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18998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263136"/>
            <a:ext cx="104232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round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uses banker's rounding and floats are imprecise: compare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math.isclose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not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49 / 51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sum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max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have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key=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default=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/start-value options;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max([])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unless you give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default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enumerate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index+item,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zip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parallel iteration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strict=True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catches length mismatches),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sorted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a new list;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reversed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map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filter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zip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 one-shot iterators.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any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plus generator expressions give compact validation.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all([])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guard against empty data.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repr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!r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exposes hidden whitespace and quotes.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isinstance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preferred over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type 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2961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369308"/>
            <a:ext cx="10423245" cy="49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getattr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setattr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hasattr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dir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allow attribute work by name and quick exploration of unknown objects.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50 / 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Standard Library, "Built-in Functions"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https://docs.python.org/3/library/functions.html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Tutorial, "Floating-Point Arithmetic: Issues and Limitations"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https://docs.python.org/3/tutorial/floatingpoint.html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Standard Library, "Built-in Types"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https://docs.python.org/3/library/stdtypes.html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Built-in Python Functions  ·  Week 2 · Wednesday   |   51 /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