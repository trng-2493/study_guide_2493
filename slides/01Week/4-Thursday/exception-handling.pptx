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01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central question: not whether your program hits unexpected conditions, but whether it handles them gracefully or crashes.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moving from the exception hierarchy through handling mechanics, raising, custom exceptions, and dunder methods.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abstract topic in the concrete stakes of test automation: one unhandled exception shouldn't be able to take down an entire suite.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tracebacks bottom-to-top is a foundational skill — the very last line is almost always the fastest path to understanding what broke.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hierarchy matters practically, not just academically: choosing which level to catch determines how broad or narrow your error handling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students will use constantly when reading their own tracebacks.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shape: try the risky code, except catches a specific failure and provides a fallback.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e` gives access to the actual exception object — useful for logging its message. A tuple in one except clause handles several types identically.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else keeps 'what to do on success' visually and logically separate from 'the risky operation itself' — a readability win.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is the one block guaranteed to execute no matter what — this is exactly why it's the right home for cleanup logic.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shape students should have memorized: specific excepts first (most specific to least), then a sparing catch-all, then else, then finally.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is how you enforce your own function's contract — validate inputs and fail loudly with a clear message rather than silently producing garbage.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Bare raise is the pattern for 'log it, then let it propagate' — common in test frameworks that need to record a failure before the test still fails.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chaining preserves the original root cause when you wrap a low-level error in a higher-level, more meaningful one — don't lose that context.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minimal three-line custom exception is a good starting template — students can add __init__ and extra attributes only when they actually need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Calling super().__init__(message) is essential — it's what makes str(exception) and print(exception) show your custom message.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built-in hierarchy pattern from Part 2 — a domain base class plus specific subclasses, so callers choose their own catch granularity.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always define __repr__ (developer-facing, ideally re-creatable); define __str__ only when you want a friendlier, separate end-user display.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__len__ is called automatically whenever your object is passed to the built-in len() function — it should always return an 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__contains__ is what makes `x in my_object` work — without it, `in` would fall back to iterating the object if __iter__ exists, or fail entirely.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 compares identity, same as is — overriding __eq__ is what lets two different Point objects with the same coordinates compare equal.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__getitem__ lets a class support subscript syntax — and it composes naturally with the custom exceptions from Part 5, raising ItemNotFoundError on a missing key.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pulls together every concept from today: custom exceptions raised from guard clauses, and three dunder methods giving it native Python syntax support.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dunder methods make the class feel native (len(), in, []), and the custom exception hierarchy from Part 5 handles domain errors precisely.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recap mirroring the written reading's summary.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official exceptions tutorial, the built-in exceptions reference, and Real Python's practical guide.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114"/>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30C0E"/>
          </a:solidFill>
          <a:ln/>
        </p:spPr>
        <p:txBody>
          <a:bodyPr/>
          <a:lstStyle/>
          <a:p>
            <a:endParaRPr lang="en-US"/>
          </a:p>
        </p:txBody>
      </p:sp>
      <p:sp>
        <p:nvSpPr>
          <p:cNvPr id="3" name="Shape 1"/>
          <p:cNvSpPr/>
          <p:nvPr/>
        </p:nvSpPr>
        <p:spPr>
          <a:xfrm>
            <a:off x="1280160" y="2103120"/>
            <a:ext cx="822960" cy="731520"/>
          </a:xfrm>
          <a:prstGeom prst="triangle">
            <a:avLst/>
          </a:prstGeom>
          <a:solidFill>
            <a:srgbClr val="E63946"/>
          </a:solidFill>
          <a:ln/>
        </p:spPr>
        <p:txBody>
          <a:bodyPr/>
          <a:lstStyle/>
          <a:p>
            <a:endParaRPr lang="en-US"/>
          </a:p>
        </p:txBody>
      </p:sp>
      <p:sp>
        <p:nvSpPr>
          <p:cNvPr id="4" name="Text 2"/>
          <p:cNvSpPr txBox="1"/>
          <p:nvPr/>
        </p:nvSpPr>
        <p:spPr>
          <a:xfrm>
            <a:off x="1280160" y="2331720"/>
            <a:ext cx="8229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Shape 3"/>
          <p:cNvSpPr/>
          <p:nvPr/>
        </p:nvSpPr>
        <p:spPr>
          <a:xfrm>
            <a:off x="1051560" y="3200400"/>
            <a:ext cx="1280160" cy="914400"/>
          </a:xfrm>
          <a:prstGeom prst="roundRect">
            <a:avLst>
              <a:gd name="adj" fmla="val 15000"/>
            </a:avLst>
          </a:prstGeom>
          <a:solidFill>
            <a:srgbClr val="457B9D"/>
          </a:solidFill>
          <a:ln/>
        </p:spPr>
        <p:txBody>
          <a:bodyPr/>
          <a:lstStyle/>
          <a:p>
            <a:endParaRPr lang="en-US"/>
          </a:p>
        </p:txBody>
      </p:sp>
      <p:sp>
        <p:nvSpPr>
          <p:cNvPr id="6" name="Text 4"/>
          <p:cNvSpPr txBox="1"/>
          <p:nvPr/>
        </p:nvSpPr>
        <p:spPr>
          <a:xfrm>
            <a:off x="1051560" y="3310128"/>
            <a:ext cx="128016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try</a:t>
            </a:r>
            <a:endParaRPr lang="en-US" sz="1300" dirty="0"/>
          </a:p>
        </p:txBody>
      </p:sp>
      <p:sp>
        <p:nvSpPr>
          <p:cNvPr id="7" name="Text 5"/>
          <p:cNvSpPr txBox="1"/>
          <p:nvPr/>
        </p:nvSpPr>
        <p:spPr>
          <a:xfrm>
            <a:off x="1051560" y="3630168"/>
            <a:ext cx="1280160" cy="320040"/>
          </a:xfrm>
          <a:prstGeom prst="rect">
            <a:avLst/>
          </a:prstGeom>
          <a:noFill/>
          <a:ln/>
        </p:spPr>
        <p:txBody>
          <a:bodyPr wrap="square" lIns="0" tIns="0" rIns="0" bIns="0" rtlCol="0" anchor="ctr"/>
          <a:lstStyle/>
          <a:p>
            <a:pPr marL="0" indent="0" algn="ctr">
              <a:buNone/>
            </a:pPr>
            <a:r>
              <a:rPr lang="en-US" sz="1300" b="1" dirty="0">
                <a:solidFill>
                  <a:srgbClr val="D6E4EC"/>
                </a:solidFill>
                <a:latin typeface="Courier New" pitchFamily="34" charset="0"/>
                <a:ea typeface="Courier New" pitchFamily="34" charset="-122"/>
                <a:cs typeface="Courier New" pitchFamily="34" charset="-120"/>
              </a:rPr>
              <a:t>except</a:t>
            </a:r>
            <a:endParaRPr lang="en-US" sz="1300" dirty="0"/>
          </a:p>
        </p:txBody>
      </p:sp>
      <p:sp>
        <p:nvSpPr>
          <p:cNvPr id="9" name="Text 7"/>
          <p:cNvSpPr txBox="1"/>
          <p:nvPr/>
        </p:nvSpPr>
        <p:spPr>
          <a:xfrm>
            <a:off x="4663440" y="2148840"/>
            <a:ext cx="6949440" cy="15544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Exception Handling &amp;</a:t>
            </a:r>
            <a:endParaRPr lang="en-US" sz="3800" dirty="0"/>
          </a:p>
          <a:p>
            <a:pPr marL="0" indent="0">
              <a:buNone/>
            </a:pPr>
            <a:r>
              <a:rPr lang="en-US" sz="3800" b="1" dirty="0">
                <a:solidFill>
                  <a:srgbClr val="FFFFFF"/>
                </a:solidFill>
                <a:latin typeface="Cambria" pitchFamily="34" charset="0"/>
                <a:ea typeface="Cambria" pitchFamily="34" charset="-122"/>
                <a:cs typeface="Cambria" pitchFamily="34" charset="-120"/>
              </a:rPr>
              <a:t>Custom Exceptions</a:t>
            </a:r>
            <a:endParaRPr lang="en-US" sz="3800" dirty="0"/>
          </a:p>
        </p:txBody>
      </p:sp>
      <p:sp>
        <p:nvSpPr>
          <p:cNvPr id="10" name="Text 8"/>
          <p:cNvSpPr txBox="1"/>
          <p:nvPr/>
        </p:nvSpPr>
        <p:spPr>
          <a:xfrm>
            <a:off x="4663440" y="3794760"/>
            <a:ext cx="6583680" cy="731520"/>
          </a:xfrm>
          <a:prstGeom prst="rect">
            <a:avLst/>
          </a:prstGeom>
          <a:noFill/>
          <a:ln/>
        </p:spPr>
        <p:txBody>
          <a:bodyPr wrap="square" lIns="0" tIns="0" rIns="0" bIns="0" rtlCol="0" anchor="ctr"/>
          <a:lstStyle/>
          <a:p>
            <a:pPr marL="0" indent="0">
              <a:buNone/>
            </a:pPr>
            <a:r>
              <a:rPr lang="en-US" sz="1600" i="1" dirty="0">
                <a:solidFill>
                  <a:srgbClr val="D9C4C6"/>
                </a:solidFill>
                <a:latin typeface="Calibri" pitchFamily="34" charset="0"/>
                <a:ea typeface="Calibri" pitchFamily="34" charset="-122"/>
                <a:cs typeface="Calibri" pitchFamily="34" charset="-120"/>
              </a:rPr>
              <a:t>Handling errors gracefully, raising them intentionally, and teaching your classes to speak Python's built-in syntax.</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GETTING ORIENTED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Learning Objectives</a:t>
            </a:r>
            <a:endParaRPr lang="en-US" sz="2500" dirty="0"/>
          </a:p>
        </p:txBody>
      </p:sp>
      <p:sp>
        <p:nvSpPr>
          <p:cNvPr id="5" name="Shape 3"/>
          <p:cNvSpPr/>
          <p:nvPr/>
        </p:nvSpPr>
        <p:spPr>
          <a:xfrm>
            <a:off x="548640" y="1508760"/>
            <a:ext cx="420624" cy="420624"/>
          </a:xfrm>
          <a:prstGeom prst="ellipse">
            <a:avLst/>
          </a:prstGeom>
          <a:solidFill>
            <a:srgbClr val="E63946"/>
          </a:solidFill>
          <a:ln/>
        </p:spPr>
        <p:txBody>
          <a:bodyPr/>
          <a:lstStyle/>
          <a:p>
            <a:endParaRPr lang="en-US"/>
          </a:p>
        </p:txBody>
      </p:sp>
      <p:sp>
        <p:nvSpPr>
          <p:cNvPr id="6" name="Text 4"/>
          <p:cNvSpPr txBox="1"/>
          <p:nvPr/>
        </p:nvSpPr>
        <p:spPr>
          <a:xfrm>
            <a:off x="548640" y="150876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097280" y="1417320"/>
            <a:ext cx="5212080" cy="9144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Explain Python's exception hierarchy and identify common built-in exceptions.</a:t>
            </a:r>
            <a:endParaRPr lang="en-US" sz="1350" dirty="0"/>
          </a:p>
        </p:txBody>
      </p:sp>
      <p:sp>
        <p:nvSpPr>
          <p:cNvPr id="8" name="Shape 6"/>
          <p:cNvSpPr/>
          <p:nvPr/>
        </p:nvSpPr>
        <p:spPr>
          <a:xfrm>
            <a:off x="548640" y="2788920"/>
            <a:ext cx="420624" cy="420624"/>
          </a:xfrm>
          <a:prstGeom prst="ellipse">
            <a:avLst/>
          </a:prstGeom>
          <a:solidFill>
            <a:srgbClr val="E63946"/>
          </a:solidFill>
          <a:ln/>
        </p:spPr>
        <p:txBody>
          <a:bodyPr/>
          <a:lstStyle/>
          <a:p>
            <a:endParaRPr lang="en-US"/>
          </a:p>
        </p:txBody>
      </p:sp>
      <p:sp>
        <p:nvSpPr>
          <p:cNvPr id="9" name="Text 7"/>
          <p:cNvSpPr txBox="1"/>
          <p:nvPr/>
        </p:nvSpPr>
        <p:spPr>
          <a:xfrm>
            <a:off x="548640" y="2788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097280" y="2697480"/>
            <a:ext cx="5212080" cy="9144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Use try, except, else, and finally to handle errors gracefully.</a:t>
            </a:r>
            <a:endParaRPr lang="en-US" sz="1350" dirty="0"/>
          </a:p>
        </p:txBody>
      </p:sp>
      <p:sp>
        <p:nvSpPr>
          <p:cNvPr id="11" name="Shape 9"/>
          <p:cNvSpPr/>
          <p:nvPr/>
        </p:nvSpPr>
        <p:spPr>
          <a:xfrm>
            <a:off x="548640" y="4069080"/>
            <a:ext cx="420624" cy="420624"/>
          </a:xfrm>
          <a:prstGeom prst="ellipse">
            <a:avLst/>
          </a:prstGeom>
          <a:solidFill>
            <a:srgbClr val="E63946"/>
          </a:solidFill>
          <a:ln/>
        </p:spPr>
        <p:txBody>
          <a:bodyPr/>
          <a:lstStyle/>
          <a:p>
            <a:endParaRPr lang="en-US"/>
          </a:p>
        </p:txBody>
      </p:sp>
      <p:sp>
        <p:nvSpPr>
          <p:cNvPr id="12" name="Text 10"/>
          <p:cNvSpPr txBox="1"/>
          <p:nvPr/>
        </p:nvSpPr>
        <p:spPr>
          <a:xfrm>
            <a:off x="548640" y="406908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097280" y="3977640"/>
            <a:ext cx="5212080" cy="9144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Raise exceptions intentionally with the raise statement.</a:t>
            </a:r>
            <a:endParaRPr lang="en-US" sz="1350" dirty="0"/>
          </a:p>
        </p:txBody>
      </p:sp>
      <p:sp>
        <p:nvSpPr>
          <p:cNvPr id="14" name="Shape 12"/>
          <p:cNvSpPr/>
          <p:nvPr/>
        </p:nvSpPr>
        <p:spPr>
          <a:xfrm>
            <a:off x="6355080" y="1508760"/>
            <a:ext cx="420624" cy="420624"/>
          </a:xfrm>
          <a:prstGeom prst="ellipse">
            <a:avLst/>
          </a:prstGeom>
          <a:solidFill>
            <a:srgbClr val="E63946"/>
          </a:solidFill>
          <a:ln/>
        </p:spPr>
        <p:txBody>
          <a:bodyPr/>
          <a:lstStyle/>
          <a:p>
            <a:endParaRPr lang="en-US"/>
          </a:p>
        </p:txBody>
      </p:sp>
      <p:sp>
        <p:nvSpPr>
          <p:cNvPr id="15" name="Text 13"/>
          <p:cNvSpPr txBox="1"/>
          <p:nvPr/>
        </p:nvSpPr>
        <p:spPr>
          <a:xfrm>
            <a:off x="6355080" y="150876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txBox="1"/>
          <p:nvPr/>
        </p:nvSpPr>
        <p:spPr>
          <a:xfrm>
            <a:off x="6903720" y="1417320"/>
            <a:ext cx="5212080" cy="9144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Create custom exception classes for domain-specific error conditions.</a:t>
            </a:r>
            <a:endParaRPr lang="en-US" sz="1350" dirty="0"/>
          </a:p>
        </p:txBody>
      </p:sp>
      <p:sp>
        <p:nvSpPr>
          <p:cNvPr id="17" name="Shape 15"/>
          <p:cNvSpPr/>
          <p:nvPr/>
        </p:nvSpPr>
        <p:spPr>
          <a:xfrm>
            <a:off x="6355080" y="2788920"/>
            <a:ext cx="420624" cy="420624"/>
          </a:xfrm>
          <a:prstGeom prst="ellipse">
            <a:avLst/>
          </a:prstGeom>
          <a:solidFill>
            <a:srgbClr val="E63946"/>
          </a:solidFill>
          <a:ln/>
        </p:spPr>
        <p:txBody>
          <a:bodyPr/>
          <a:lstStyle/>
          <a:p>
            <a:endParaRPr lang="en-US"/>
          </a:p>
        </p:txBody>
      </p:sp>
      <p:sp>
        <p:nvSpPr>
          <p:cNvPr id="18" name="Text 16"/>
          <p:cNvSpPr txBox="1"/>
          <p:nvPr/>
        </p:nvSpPr>
        <p:spPr>
          <a:xfrm>
            <a:off x="6355080" y="2788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txBox="1"/>
          <p:nvPr/>
        </p:nvSpPr>
        <p:spPr>
          <a:xfrm>
            <a:off x="6903720" y="2697480"/>
            <a:ext cx="5212080" cy="9144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Define dunder methods to give your classes built-in Python behavior.</a:t>
            </a:r>
            <a:endParaRPr lang="en-US" sz="1350" dirty="0"/>
          </a:p>
        </p:txBody>
      </p:sp>
      <p:sp>
        <p:nvSpPr>
          <p:cNvPr id="20" name="Shape 18"/>
          <p:cNvSpPr/>
          <p:nvPr/>
        </p:nvSpPr>
        <p:spPr>
          <a:xfrm>
            <a:off x="6355080" y="4069080"/>
            <a:ext cx="420624" cy="420624"/>
          </a:xfrm>
          <a:prstGeom prst="ellipse">
            <a:avLst/>
          </a:prstGeom>
          <a:solidFill>
            <a:srgbClr val="E63946"/>
          </a:solidFill>
          <a:ln/>
        </p:spPr>
        <p:txBody>
          <a:bodyPr/>
          <a:lstStyle/>
          <a:p>
            <a:endParaRPr lang="en-US"/>
          </a:p>
        </p:txBody>
      </p:sp>
      <p:sp>
        <p:nvSpPr>
          <p:cNvPr id="21" name="Text 19"/>
          <p:cNvSpPr txBox="1"/>
          <p:nvPr/>
        </p:nvSpPr>
        <p:spPr>
          <a:xfrm>
            <a:off x="6355080" y="406908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2" name="Text 20"/>
          <p:cNvSpPr txBox="1"/>
          <p:nvPr/>
        </p:nvSpPr>
        <p:spPr>
          <a:xfrm>
            <a:off x="6903720" y="3977640"/>
            <a:ext cx="5212080" cy="9144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Apply exception chaining to preserve the original cause of an error.</a:t>
            </a:r>
            <a:endParaRPr lang="en-US" sz="1350" dirty="0"/>
          </a:p>
        </p:txBody>
      </p:sp>
      <p:sp>
        <p:nvSpPr>
          <p:cNvPr id="23" name="Text 21"/>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24" name="Text 22"/>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THE WHY</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Why This Matters</a:t>
            </a:r>
            <a:endParaRPr lang="en-US" sz="2500" dirty="0"/>
          </a:p>
        </p:txBody>
      </p:sp>
      <p:sp>
        <p:nvSpPr>
          <p:cNvPr id="5" name="Text 3"/>
          <p:cNvSpPr txBox="1"/>
          <p:nvPr/>
        </p:nvSpPr>
        <p:spPr>
          <a:xfrm>
            <a:off x="548640" y="1371600"/>
            <a:ext cx="11064240" cy="777240"/>
          </a:xfrm>
          <a:prstGeom prst="rect">
            <a:avLst/>
          </a:prstGeom>
          <a:noFill/>
          <a:ln/>
        </p:spPr>
        <p:txBody>
          <a:bodyPr wrap="square" lIns="0" tIns="0" rIns="0" bIns="0" rtlCol="0" anchor="ctr"/>
          <a:lstStyle/>
          <a:p>
            <a:pPr marL="0" indent="0">
              <a:buNone/>
            </a:pPr>
            <a:r>
              <a:rPr lang="en-US" sz="1450" dirty="0">
                <a:solidFill>
                  <a:srgbClr val="281618"/>
                </a:solidFill>
                <a:latin typeface="Calibri" pitchFamily="34" charset="0"/>
                <a:ea typeface="Calibri" pitchFamily="34" charset="-122"/>
                <a:cs typeface="Calibri" pitchFamily="34" charset="-120"/>
              </a:rPr>
              <a:t>Every real program hits unexpected conditions: a missing file, an unavailable network, invalid user input, a missing database record. The question is never whether — only whether your program handles it gracefully or crashes.</a:t>
            </a:r>
            <a:endParaRPr lang="en-US" sz="1450" dirty="0"/>
          </a:p>
        </p:txBody>
      </p:sp>
      <p:sp>
        <p:nvSpPr>
          <p:cNvPr id="6" name="Shape 4"/>
          <p:cNvSpPr/>
          <p:nvPr/>
        </p:nvSpPr>
        <p:spPr>
          <a:xfrm>
            <a:off x="548640" y="2331720"/>
            <a:ext cx="11064240" cy="1371600"/>
          </a:xfrm>
          <a:prstGeom prst="roundRect">
            <a:avLst>
              <a:gd name="adj" fmla="val 4000"/>
            </a:avLst>
          </a:prstGeom>
          <a:solidFill>
            <a:srgbClr val="FFFFFF"/>
          </a:solidFill>
          <a:ln w="12700">
            <a:solidFill>
              <a:srgbClr val="E8DBDC"/>
            </a:solidFill>
            <a:prstDash val="solid"/>
          </a:ln>
        </p:spPr>
        <p:txBody>
          <a:bodyPr/>
          <a:lstStyle/>
          <a:p>
            <a:endParaRPr lang="en-US"/>
          </a:p>
        </p:txBody>
      </p:sp>
      <p:sp>
        <p:nvSpPr>
          <p:cNvPr id="7" name="Text 5"/>
          <p:cNvSpPr txBox="1"/>
          <p:nvPr/>
        </p:nvSpPr>
        <p:spPr>
          <a:xfrm>
            <a:off x="822960" y="2514600"/>
            <a:ext cx="10515600" cy="1051560"/>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In test automation — </a:t>
            </a:r>
            <a:r>
              <a:rPr lang="en-US" sz="1450" b="1" dirty="0">
                <a:solidFill>
                  <a:srgbClr val="E63946"/>
                </a:solidFill>
                <a:latin typeface="Calibri" pitchFamily="34" charset="0"/>
                <a:ea typeface="Calibri" pitchFamily="34" charset="-122"/>
                <a:cs typeface="Calibri" pitchFamily="34" charset="-120"/>
              </a:rPr>
              <a:t>exception handling is central</a:t>
            </a:r>
            <a:r>
              <a:rPr lang="en-US" sz="1450" dirty="0">
                <a:solidFill>
                  <a:srgbClr val="000000"/>
                </a:solidFill>
                <a:latin typeface="Calibri" pitchFamily="34" charset="0"/>
                <a:ea typeface="Calibri" pitchFamily="34" charset="-122"/>
                <a:cs typeface="Calibri" pitchFamily="34" charset="-120"/>
              </a:rPr>
              <a:t> to reliable test suites.</a:t>
            </a:r>
            <a:endParaRPr lang="en-US" sz="1450" dirty="0"/>
          </a:p>
          <a:p>
            <a:pPr marL="0" indent="0">
              <a:buNone/>
            </a:pPr>
            <a:r>
              <a:rPr lang="en-US" sz="1400" i="1" dirty="0">
                <a:solidFill>
                  <a:srgbClr val="000000"/>
                </a:solidFill>
                <a:latin typeface="Calibri" pitchFamily="34" charset="0"/>
                <a:ea typeface="Calibri" pitchFamily="34" charset="-122"/>
                <a:cs typeface="Calibri" pitchFamily="34" charset="-120"/>
              </a:rPr>
              <a:t>A test that crashes the entire suite over one bad network response is far worse than one that catches the error, reports it clearly, and lets the rest of the suite run.</a:t>
            </a:r>
            <a:endParaRPr lang="en-US" sz="14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1</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What Is an Exception?</a:t>
            </a:r>
            <a:endParaRPr lang="en-US" sz="2500" dirty="0"/>
          </a:p>
        </p:txBody>
      </p:sp>
      <p:sp>
        <p:nvSpPr>
          <p:cNvPr id="5" name="Text 3"/>
          <p:cNvSpPr txBox="1"/>
          <p:nvPr/>
        </p:nvSpPr>
        <p:spPr>
          <a:xfrm>
            <a:off x="548640" y="1371600"/>
            <a:ext cx="11064240" cy="594360"/>
          </a:xfrm>
          <a:prstGeom prst="rect">
            <a:avLst/>
          </a:prstGeom>
          <a:noFill/>
          <a:ln/>
        </p:spPr>
        <p:txBody>
          <a:bodyPr wrap="square" lIns="0" tIns="0" rIns="0" bIns="0" rtlCol="0" anchor="ctr"/>
          <a:lstStyle/>
          <a:p>
            <a:pPr marL="0" indent="0">
              <a:buNone/>
            </a:pPr>
            <a:r>
              <a:rPr lang="en-US" sz="1400" dirty="0">
                <a:solidFill>
                  <a:srgbClr val="281618"/>
                </a:solidFill>
                <a:latin typeface="Calibri" pitchFamily="34" charset="0"/>
                <a:ea typeface="Calibri" pitchFamily="34" charset="-122"/>
                <a:cs typeface="Calibri" pitchFamily="34" charset="-120"/>
              </a:rPr>
              <a:t>An event that disrupts the normal flow of a program. Python creates an exception object describing what went wrong. If nothing handles it, Python prints a traceback and terminates.</a:t>
            </a:r>
            <a:endParaRPr lang="en-US" sz="1400" dirty="0"/>
          </a:p>
        </p:txBody>
      </p:sp>
      <p:sp>
        <p:nvSpPr>
          <p:cNvPr id="6" name="Shape 4"/>
          <p:cNvSpPr/>
          <p:nvPr/>
        </p:nvSpPr>
        <p:spPr>
          <a:xfrm>
            <a:off x="548640" y="2103120"/>
            <a:ext cx="11064240" cy="1315720"/>
          </a:xfrm>
          <a:prstGeom prst="roundRect">
            <a:avLst>
              <a:gd name="adj" fmla="val 5560"/>
            </a:avLst>
          </a:prstGeom>
          <a:solidFill>
            <a:srgbClr val="2E1114"/>
          </a:solidFill>
          <a:ln w="12700">
            <a:solidFill>
              <a:srgbClr val="2E1114"/>
            </a:solidFill>
            <a:prstDash val="solid"/>
          </a:ln>
        </p:spPr>
        <p:txBody>
          <a:bodyPr/>
          <a:lstStyle/>
          <a:p>
            <a:endParaRPr lang="en-US"/>
          </a:p>
        </p:txBody>
      </p:sp>
      <p:sp>
        <p:nvSpPr>
          <p:cNvPr id="7" name="Text 5"/>
          <p:cNvSpPr txBox="1"/>
          <p:nvPr/>
        </p:nvSpPr>
        <p:spPr>
          <a:xfrm>
            <a:off x="777240" y="2267712"/>
            <a:ext cx="10607040" cy="986536"/>
          </a:xfrm>
          <a:prstGeom prst="rect">
            <a:avLst/>
          </a:prstGeom>
          <a:noFill/>
          <a:ln/>
        </p:spPr>
        <p:txBody>
          <a:bodyPr wrap="square" lIns="0" tIns="0" rIns="0" bIns="0" rtlCol="0" anchor="t"/>
          <a:lstStyle/>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Traceback (most recent call last):</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File "app.py", line 12, in load_data</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data = int(user_input)</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ValueError: invalid literal for int() with base 10: 'hello'</a:t>
            </a:r>
            <a:endParaRPr lang="en-US" sz="1300" dirty="0"/>
          </a:p>
        </p:txBody>
      </p:sp>
      <p:sp>
        <p:nvSpPr>
          <p:cNvPr id="8" name="Text 6"/>
          <p:cNvSpPr txBox="1"/>
          <p:nvPr/>
        </p:nvSpPr>
        <p:spPr>
          <a:xfrm>
            <a:off x="548640" y="3703320"/>
            <a:ext cx="11064240" cy="822960"/>
          </a:xfrm>
          <a:prstGeom prst="rect">
            <a:avLst/>
          </a:prstGeom>
          <a:noFill/>
          <a:ln/>
        </p:spPr>
        <p:txBody>
          <a:bodyPr wrap="square" lIns="0" tIns="0" rIns="0" bIns="0" rtlCol="0" anchor="t"/>
          <a:lstStyle/>
          <a:p>
            <a:pPr marL="228600" indent="-228600">
              <a:spcAft>
                <a:spcPts val="800"/>
              </a:spcAft>
              <a:buSzPct val="100000"/>
              <a:buChar char="•"/>
            </a:pPr>
            <a:r>
              <a:rPr lang="en-US" sz="1350" dirty="0">
                <a:solidFill>
                  <a:srgbClr val="281618"/>
                </a:solidFill>
                <a:latin typeface="Calibri" pitchFamily="34" charset="0"/>
                <a:ea typeface="Calibri" pitchFamily="34" charset="-122"/>
                <a:cs typeface="Calibri" pitchFamily="34" charset="-120"/>
              </a:rPr>
              <a:t>Read a traceback bottom to top: the last line names the exception type and message.</a:t>
            </a:r>
            <a:endParaRPr lang="en-US" sz="1350" dirty="0"/>
          </a:p>
          <a:p>
            <a:pPr marL="228600" indent="-228600">
              <a:spcAft>
                <a:spcPts val="800"/>
              </a:spcAft>
              <a:buSzPct val="100000"/>
              <a:buChar char="•"/>
            </a:pPr>
            <a:r>
              <a:rPr lang="en-US" sz="1350" dirty="0">
                <a:solidFill>
                  <a:srgbClr val="281618"/>
                </a:solidFill>
                <a:latin typeface="Calibri" pitchFamily="34" charset="0"/>
                <a:ea typeface="Calibri" pitchFamily="34" charset="-122"/>
                <a:cs typeface="Calibri" pitchFamily="34" charset="-120"/>
              </a:rPr>
              <a:t>The lines above are the call stack — the chain of function calls that led here.</a:t>
            </a:r>
            <a:endParaRPr lang="en-US" sz="1350" dirty="0"/>
          </a:p>
        </p:txBody>
      </p:sp>
      <p:sp>
        <p:nvSpPr>
          <p:cNvPr id="9" name="Text 7"/>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10" name="Text 8"/>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2</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Python's Exception Hierarchy</a:t>
            </a:r>
            <a:endParaRPr lang="en-US" sz="2500" dirty="0"/>
          </a:p>
        </p:txBody>
      </p:sp>
      <p:sp>
        <p:nvSpPr>
          <p:cNvPr id="5" name="Shape 3"/>
          <p:cNvSpPr/>
          <p:nvPr/>
        </p:nvSpPr>
        <p:spPr>
          <a:xfrm>
            <a:off x="548640" y="1417320"/>
            <a:ext cx="11064240" cy="2388870"/>
          </a:xfrm>
          <a:prstGeom prst="roundRect">
            <a:avLst>
              <a:gd name="adj" fmla="val 306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581912"/>
            <a:ext cx="10607040" cy="2059686"/>
          </a:xfrm>
          <a:prstGeom prst="rect">
            <a:avLst/>
          </a:prstGeom>
          <a:noFill/>
          <a:ln/>
        </p:spPr>
        <p:txBody>
          <a:bodyPr wrap="square" lIns="0" tIns="0" rIns="0" bIns="0" rtlCol="0" anchor="t"/>
          <a:lstStyle/>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BaseException</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SystemExit, KeyboardInterrupt, GeneratorExit</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Exception  (parent of almost all "normal" exceptions)</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ArithmeticError → ZeroDivisionError, OverflowError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AttributeError, NameError → UnboundLocalError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LookupError → IndexError, KeyError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OSError → FileNotFoundError, PermissionError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TypeError, ValueError → UnicodeError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 (your custom exceptions go here)</a:t>
            </a:r>
            <a:endParaRPr lang="en-US" sz="1300" dirty="0"/>
          </a:p>
        </p:txBody>
      </p:sp>
      <p:sp>
        <p:nvSpPr>
          <p:cNvPr id="7" name="Text 5"/>
          <p:cNvSpPr txBox="1"/>
          <p:nvPr/>
        </p:nvSpPr>
        <p:spPr>
          <a:xfrm>
            <a:off x="548640" y="4114800"/>
            <a:ext cx="11064240" cy="548640"/>
          </a:xfrm>
          <a:prstGeom prst="rect">
            <a:avLst/>
          </a:prstGeom>
          <a:noFill/>
          <a:ln/>
        </p:spPr>
        <p:txBody>
          <a:bodyPr wrap="square" lIns="0" tIns="0" rIns="0" bIns="0" rtlCol="0" anchor="ctr"/>
          <a:lstStyle/>
          <a:p>
            <a:pPr marL="0" indent="0">
              <a:buNone/>
            </a:pPr>
            <a:r>
              <a:rPr lang="en-US" sz="1300" i="1" dirty="0">
                <a:solidFill>
                  <a:srgbClr val="6E5A5C"/>
                </a:solidFill>
                <a:latin typeface="Calibri" pitchFamily="34" charset="0"/>
                <a:ea typeface="Calibri" pitchFamily="34" charset="-122"/>
                <a:cs typeface="Calibri" pitchFamily="34" charset="-120"/>
              </a:rPr>
              <a:t>Catching a parent class also catches all its subclasses — catching LookupError catches both IndexError and KeyError.</a:t>
            </a:r>
            <a:endParaRPr lang="en-US" sz="130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2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Common Exceptions &amp; When They Occur</a:t>
            </a:r>
            <a:endParaRPr lang="en-US" sz="2500" dirty="0"/>
          </a:p>
        </p:txBody>
      </p:sp>
      <p:sp>
        <p:nvSpPr>
          <p:cNvPr id="5" name="Shape 3"/>
          <p:cNvSpPr/>
          <p:nvPr/>
        </p:nvSpPr>
        <p:spPr>
          <a:xfrm>
            <a:off x="548640" y="1463040"/>
            <a:ext cx="11064240" cy="475488"/>
          </a:xfrm>
          <a:prstGeom prst="rect">
            <a:avLst/>
          </a:prstGeom>
          <a:solidFill>
            <a:srgbClr val="2E1114"/>
          </a:solidFill>
          <a:ln/>
        </p:spPr>
        <p:txBody>
          <a:bodyPr/>
          <a:lstStyle/>
          <a:p>
            <a:endParaRPr lang="en-US"/>
          </a:p>
        </p:txBody>
      </p:sp>
      <p:sp>
        <p:nvSpPr>
          <p:cNvPr id="6" name="Text 4"/>
          <p:cNvSpPr txBox="1"/>
          <p:nvPr/>
        </p:nvSpPr>
        <p:spPr>
          <a:xfrm>
            <a:off x="685800" y="1463040"/>
            <a:ext cx="2834640" cy="47548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Exception</a:t>
            </a:r>
            <a:endParaRPr lang="en-US" sz="1300" dirty="0"/>
          </a:p>
        </p:txBody>
      </p:sp>
      <p:sp>
        <p:nvSpPr>
          <p:cNvPr id="7" name="Text 5"/>
          <p:cNvSpPr txBox="1"/>
          <p:nvPr/>
        </p:nvSpPr>
        <p:spPr>
          <a:xfrm>
            <a:off x="3703320" y="1463040"/>
            <a:ext cx="7863840" cy="47548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When It Occurs</a:t>
            </a:r>
            <a:endParaRPr lang="en-US" sz="1300" dirty="0"/>
          </a:p>
        </p:txBody>
      </p:sp>
      <p:sp>
        <p:nvSpPr>
          <p:cNvPr id="8" name="Text 6"/>
          <p:cNvSpPr txBox="1"/>
          <p:nvPr/>
        </p:nvSpPr>
        <p:spPr>
          <a:xfrm>
            <a:off x="685800" y="1938528"/>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ValueError</a:t>
            </a:r>
            <a:endParaRPr lang="en-US" sz="1300" dirty="0"/>
          </a:p>
        </p:txBody>
      </p:sp>
      <p:sp>
        <p:nvSpPr>
          <p:cNvPr id="9" name="Text 7"/>
          <p:cNvSpPr txBox="1"/>
          <p:nvPr/>
        </p:nvSpPr>
        <p:spPr>
          <a:xfrm>
            <a:off x="3703320" y="1938528"/>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Right type, wrong value: int("hello")</a:t>
            </a:r>
            <a:endParaRPr lang="en-US" sz="1300" dirty="0"/>
          </a:p>
        </p:txBody>
      </p:sp>
      <p:sp>
        <p:nvSpPr>
          <p:cNvPr id="10" name="Shape 8"/>
          <p:cNvSpPr/>
          <p:nvPr/>
        </p:nvSpPr>
        <p:spPr>
          <a:xfrm>
            <a:off x="548640" y="2414016"/>
            <a:ext cx="11064240" cy="475488"/>
          </a:xfrm>
          <a:prstGeom prst="rect">
            <a:avLst/>
          </a:prstGeom>
          <a:solidFill>
            <a:srgbClr val="FFFFFF"/>
          </a:solidFill>
          <a:ln/>
        </p:spPr>
        <p:txBody>
          <a:bodyPr/>
          <a:lstStyle/>
          <a:p>
            <a:endParaRPr lang="en-US"/>
          </a:p>
        </p:txBody>
      </p:sp>
      <p:sp>
        <p:nvSpPr>
          <p:cNvPr id="11" name="Text 9"/>
          <p:cNvSpPr txBox="1"/>
          <p:nvPr/>
        </p:nvSpPr>
        <p:spPr>
          <a:xfrm>
            <a:off x="685800" y="2414016"/>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TypeError</a:t>
            </a:r>
            <a:endParaRPr lang="en-US" sz="1300" dirty="0"/>
          </a:p>
        </p:txBody>
      </p:sp>
      <p:sp>
        <p:nvSpPr>
          <p:cNvPr id="12" name="Text 10"/>
          <p:cNvSpPr txBox="1"/>
          <p:nvPr/>
        </p:nvSpPr>
        <p:spPr>
          <a:xfrm>
            <a:off x="3703320" y="2414016"/>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Wrong type: "hello" + 42</a:t>
            </a:r>
            <a:endParaRPr lang="en-US" sz="1300" dirty="0"/>
          </a:p>
        </p:txBody>
      </p:sp>
      <p:sp>
        <p:nvSpPr>
          <p:cNvPr id="13" name="Text 11"/>
          <p:cNvSpPr txBox="1"/>
          <p:nvPr/>
        </p:nvSpPr>
        <p:spPr>
          <a:xfrm>
            <a:off x="685800" y="2889504"/>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IndexError</a:t>
            </a:r>
            <a:endParaRPr lang="en-US" sz="1300" dirty="0"/>
          </a:p>
        </p:txBody>
      </p:sp>
      <p:sp>
        <p:nvSpPr>
          <p:cNvPr id="14" name="Text 12"/>
          <p:cNvSpPr txBox="1"/>
          <p:nvPr/>
        </p:nvSpPr>
        <p:spPr>
          <a:xfrm>
            <a:off x="3703320" y="2889504"/>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List index out of range: [1,2,3][5]</a:t>
            </a:r>
            <a:endParaRPr lang="en-US" sz="1300" dirty="0"/>
          </a:p>
        </p:txBody>
      </p:sp>
      <p:sp>
        <p:nvSpPr>
          <p:cNvPr id="15" name="Shape 13"/>
          <p:cNvSpPr/>
          <p:nvPr/>
        </p:nvSpPr>
        <p:spPr>
          <a:xfrm>
            <a:off x="548640" y="3364992"/>
            <a:ext cx="11064240" cy="475488"/>
          </a:xfrm>
          <a:prstGeom prst="rect">
            <a:avLst/>
          </a:prstGeom>
          <a:solidFill>
            <a:srgbClr val="FFFFFF"/>
          </a:solidFill>
          <a:ln/>
        </p:spPr>
        <p:txBody>
          <a:bodyPr/>
          <a:lstStyle/>
          <a:p>
            <a:endParaRPr lang="en-US"/>
          </a:p>
        </p:txBody>
      </p:sp>
      <p:sp>
        <p:nvSpPr>
          <p:cNvPr id="16" name="Text 14"/>
          <p:cNvSpPr txBox="1"/>
          <p:nvPr/>
        </p:nvSpPr>
        <p:spPr>
          <a:xfrm>
            <a:off x="685800" y="3364992"/>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KeyError</a:t>
            </a:r>
            <a:endParaRPr lang="en-US" sz="1300" dirty="0"/>
          </a:p>
        </p:txBody>
      </p:sp>
      <p:sp>
        <p:nvSpPr>
          <p:cNvPr id="17" name="Text 15"/>
          <p:cNvSpPr txBox="1"/>
          <p:nvPr/>
        </p:nvSpPr>
        <p:spPr>
          <a:xfrm>
            <a:off x="3703320" y="3364992"/>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Dict key not found: d["missing"]</a:t>
            </a:r>
            <a:endParaRPr lang="en-US" sz="1300" dirty="0"/>
          </a:p>
        </p:txBody>
      </p:sp>
      <p:sp>
        <p:nvSpPr>
          <p:cNvPr id="18" name="Text 16"/>
          <p:cNvSpPr txBox="1"/>
          <p:nvPr/>
        </p:nvSpPr>
        <p:spPr>
          <a:xfrm>
            <a:off x="685800" y="3840480"/>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AttributeError</a:t>
            </a:r>
            <a:endParaRPr lang="en-US" sz="1300" dirty="0"/>
          </a:p>
        </p:txBody>
      </p:sp>
      <p:sp>
        <p:nvSpPr>
          <p:cNvPr id="19" name="Text 17"/>
          <p:cNvSpPr txBox="1"/>
          <p:nvPr/>
        </p:nvSpPr>
        <p:spPr>
          <a:xfrm>
            <a:off x="3703320" y="3840480"/>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Object has no such attribute: None.upper()</a:t>
            </a:r>
            <a:endParaRPr lang="en-US" sz="1300" dirty="0"/>
          </a:p>
        </p:txBody>
      </p:sp>
      <p:sp>
        <p:nvSpPr>
          <p:cNvPr id="20" name="Shape 18"/>
          <p:cNvSpPr/>
          <p:nvPr/>
        </p:nvSpPr>
        <p:spPr>
          <a:xfrm>
            <a:off x="548640" y="4315968"/>
            <a:ext cx="11064240" cy="475488"/>
          </a:xfrm>
          <a:prstGeom prst="rect">
            <a:avLst/>
          </a:prstGeom>
          <a:solidFill>
            <a:srgbClr val="FFFFFF"/>
          </a:solidFill>
          <a:ln/>
        </p:spPr>
        <p:txBody>
          <a:bodyPr/>
          <a:lstStyle/>
          <a:p>
            <a:endParaRPr lang="en-US"/>
          </a:p>
        </p:txBody>
      </p:sp>
      <p:sp>
        <p:nvSpPr>
          <p:cNvPr id="21" name="Text 19"/>
          <p:cNvSpPr txBox="1"/>
          <p:nvPr/>
        </p:nvSpPr>
        <p:spPr>
          <a:xfrm>
            <a:off x="685800" y="4315968"/>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FileNotFoundError</a:t>
            </a:r>
            <a:endParaRPr lang="en-US" sz="1300" dirty="0"/>
          </a:p>
        </p:txBody>
      </p:sp>
      <p:sp>
        <p:nvSpPr>
          <p:cNvPr id="22" name="Text 20"/>
          <p:cNvSpPr txBox="1"/>
          <p:nvPr/>
        </p:nvSpPr>
        <p:spPr>
          <a:xfrm>
            <a:off x="3703320" y="4315968"/>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File does not exist when opening</a:t>
            </a:r>
            <a:endParaRPr lang="en-US" sz="1300" dirty="0"/>
          </a:p>
        </p:txBody>
      </p:sp>
      <p:sp>
        <p:nvSpPr>
          <p:cNvPr id="23" name="Text 21"/>
          <p:cNvSpPr txBox="1"/>
          <p:nvPr/>
        </p:nvSpPr>
        <p:spPr>
          <a:xfrm>
            <a:off x="685800" y="4791456"/>
            <a:ext cx="2834640" cy="475488"/>
          </a:xfrm>
          <a:prstGeom prst="rect">
            <a:avLst/>
          </a:prstGeom>
          <a:noFill/>
          <a:ln/>
        </p:spPr>
        <p:txBody>
          <a:bodyPr wrap="square" lIns="0" tIns="0" rIns="0" bIns="0" rtlCol="0" anchor="ctr"/>
          <a:lstStyle/>
          <a:p>
            <a:pPr marL="0" indent="0">
              <a:buNone/>
            </a:pPr>
            <a:r>
              <a:rPr lang="en-US" sz="1300" dirty="0">
                <a:solidFill>
                  <a:srgbClr val="281618"/>
                </a:solidFill>
                <a:latin typeface="Courier New" pitchFamily="34" charset="0"/>
                <a:ea typeface="Courier New" pitchFamily="34" charset="-122"/>
                <a:cs typeface="Courier New" pitchFamily="34" charset="-120"/>
              </a:rPr>
              <a:t>ZeroDivisionError</a:t>
            </a:r>
            <a:endParaRPr lang="en-US" sz="1300" dirty="0"/>
          </a:p>
        </p:txBody>
      </p:sp>
      <p:sp>
        <p:nvSpPr>
          <p:cNvPr id="24" name="Text 22"/>
          <p:cNvSpPr txBox="1"/>
          <p:nvPr/>
        </p:nvSpPr>
        <p:spPr>
          <a:xfrm>
            <a:off x="3703320" y="4791456"/>
            <a:ext cx="7863840" cy="47548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Division by zero: 5 / 0</a:t>
            </a:r>
            <a:endParaRPr lang="en-US" sz="1300" dirty="0"/>
          </a:p>
        </p:txBody>
      </p:sp>
      <p:sp>
        <p:nvSpPr>
          <p:cNvPr id="25" name="Text 23"/>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26" name="Text 24"/>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3</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try / except Block</a:t>
            </a:r>
            <a:endParaRPr lang="en-US" sz="2500" dirty="0"/>
          </a:p>
        </p:txBody>
      </p:sp>
      <p:sp>
        <p:nvSpPr>
          <p:cNvPr id="5" name="Shape 3"/>
          <p:cNvSpPr/>
          <p:nvPr/>
        </p:nvSpPr>
        <p:spPr>
          <a:xfrm>
            <a:off x="548640" y="1463040"/>
            <a:ext cx="11064240" cy="2388870"/>
          </a:xfrm>
          <a:prstGeom prst="roundRect">
            <a:avLst>
              <a:gd name="adj" fmla="val 306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2059686"/>
          </a:xfrm>
          <a:prstGeom prst="rect">
            <a:avLst/>
          </a:prstGeom>
          <a:noFill/>
          <a:ln/>
        </p:spPr>
        <p:txBody>
          <a:bodyPr wrap="square" lIns="0" tIns="0" rIns="0" bIns="0" rtlCol="0" anchor="t"/>
          <a:lstStyle/>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def divide(a, b):</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try:</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return a / b</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except ZeroDivisionError: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print("Error: cannot divide by zero.")</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return None</a:t>
            </a:r>
            <a:endParaRPr lang="en-US" sz="1300" dirty="0"/>
          </a:p>
          <a:p>
            <a:pPr marL="0" indent="0">
              <a:lnSpc>
                <a:spcPct val="115000"/>
              </a:lnSpc>
              <a:buNone/>
            </a:pP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print(divide(10, 2))   # 5.0</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print(divide(10, 0))   # Error: cannot divide by zero. → None</a:t>
            </a:r>
            <a:endParaRPr lang="en-US" sz="1300" dirty="0"/>
          </a:p>
        </p:txBody>
      </p:sp>
      <p:sp>
        <p:nvSpPr>
          <p:cNvPr id="7" name="Text 5"/>
          <p:cNvSpPr txBox="1"/>
          <p:nvPr/>
        </p:nvSpPr>
        <p:spPr>
          <a:xfrm>
            <a:off x="548640" y="3840480"/>
            <a:ext cx="11064240" cy="4572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If no exception is raised in try, the except block is skipped entirely.</a:t>
            </a:r>
            <a:endParaRPr lang="en-US" sz="13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3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Accessing the Exception &amp; Catching Multiple Types</a:t>
            </a:r>
            <a:endParaRPr lang="en-US" sz="2500" dirty="0"/>
          </a:p>
        </p:txBody>
      </p:sp>
      <p:sp>
        <p:nvSpPr>
          <p:cNvPr id="5" name="Shape 3"/>
          <p:cNvSpPr/>
          <p:nvPr/>
        </p:nvSpPr>
        <p:spPr>
          <a:xfrm>
            <a:off x="548640" y="1417320"/>
            <a:ext cx="54864" cy="292608"/>
          </a:xfrm>
          <a:prstGeom prst="rect">
            <a:avLst/>
          </a:prstGeom>
          <a:solidFill>
            <a:srgbClr val="457B9D"/>
          </a:solidFill>
          <a:ln/>
        </p:spPr>
        <p:txBody>
          <a:bodyPr/>
          <a:lstStyle/>
          <a:p>
            <a:endParaRPr lang="en-US"/>
          </a:p>
        </p:txBody>
      </p:sp>
      <p:sp>
        <p:nvSpPr>
          <p:cNvPr id="6" name="Text 4"/>
          <p:cNvSpPr txBox="1"/>
          <p:nvPr/>
        </p:nvSpPr>
        <p:spPr>
          <a:xfrm>
            <a:off x="713232" y="1389888"/>
            <a:ext cx="5230368" cy="347472"/>
          </a:xfrm>
          <a:prstGeom prst="rect">
            <a:avLst/>
          </a:prstGeom>
          <a:noFill/>
          <a:ln/>
        </p:spPr>
        <p:txBody>
          <a:bodyPr wrap="square" lIns="0" tIns="0" rIns="0" bIns="0" rtlCol="0" anchor="ctr"/>
          <a:lstStyle/>
          <a:p>
            <a:pPr marL="0" indent="0">
              <a:buNone/>
            </a:pPr>
            <a:r>
              <a:rPr lang="en-US" sz="1700" b="1" dirty="0">
                <a:solidFill>
                  <a:srgbClr val="2E1114"/>
                </a:solidFill>
                <a:latin typeface="Cambria" pitchFamily="34" charset="0"/>
                <a:ea typeface="Cambria" pitchFamily="34" charset="-122"/>
                <a:cs typeface="Cambria" pitchFamily="34" charset="-120"/>
              </a:rPr>
              <a:t>Access with as</a:t>
            </a:r>
            <a:endParaRPr lang="en-US" sz="1700" dirty="0"/>
          </a:p>
        </p:txBody>
      </p:sp>
      <p:sp>
        <p:nvSpPr>
          <p:cNvPr id="7" name="Shape 5"/>
          <p:cNvSpPr/>
          <p:nvPr/>
        </p:nvSpPr>
        <p:spPr>
          <a:xfrm>
            <a:off x="548640" y="1828800"/>
            <a:ext cx="5349240" cy="1249680"/>
          </a:xfrm>
          <a:prstGeom prst="roundRect">
            <a:avLst>
              <a:gd name="adj" fmla="val 5854"/>
            </a:avLst>
          </a:prstGeom>
          <a:solidFill>
            <a:srgbClr val="2E1114"/>
          </a:solidFill>
          <a:ln w="12700">
            <a:solidFill>
              <a:srgbClr val="2E1114"/>
            </a:solidFill>
            <a:prstDash val="solid"/>
          </a:ln>
        </p:spPr>
        <p:txBody>
          <a:bodyPr/>
          <a:lstStyle/>
          <a:p>
            <a:endParaRPr lang="en-US"/>
          </a:p>
        </p:txBody>
      </p:sp>
      <p:sp>
        <p:nvSpPr>
          <p:cNvPr id="8" name="Text 6"/>
          <p:cNvSpPr txBox="1"/>
          <p:nvPr/>
        </p:nvSpPr>
        <p:spPr>
          <a:xfrm>
            <a:off x="777240" y="1993392"/>
            <a:ext cx="4892040" cy="920496"/>
          </a:xfrm>
          <a:prstGeom prst="rect">
            <a:avLst/>
          </a:prstGeom>
          <a:noFill/>
          <a:ln/>
        </p:spPr>
        <p:txBody>
          <a:bodyPr wrap="square" lIns="0" tIns="0" rIns="0" bIns="0" rtlCol="0" anchor="t"/>
          <a:lstStyle/>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try: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age = int(text)</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except ValueError as 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print(f"Could not parse age: {e}")</a:t>
            </a:r>
            <a:endParaRPr lang="en-US" sz="1200" dirty="0"/>
          </a:p>
        </p:txBody>
      </p:sp>
      <p:sp>
        <p:nvSpPr>
          <p:cNvPr id="9" name="Shape 7"/>
          <p:cNvSpPr/>
          <p:nvPr/>
        </p:nvSpPr>
        <p:spPr>
          <a:xfrm>
            <a:off x="6172200" y="1417320"/>
            <a:ext cx="54864" cy="292608"/>
          </a:xfrm>
          <a:prstGeom prst="rect">
            <a:avLst/>
          </a:prstGeom>
          <a:solidFill>
            <a:srgbClr val="457B9D"/>
          </a:solidFill>
          <a:ln/>
        </p:spPr>
        <p:txBody>
          <a:bodyPr/>
          <a:lstStyle/>
          <a:p>
            <a:endParaRPr lang="en-US"/>
          </a:p>
        </p:txBody>
      </p:sp>
      <p:sp>
        <p:nvSpPr>
          <p:cNvPr id="10" name="Text 8"/>
          <p:cNvSpPr txBox="1"/>
          <p:nvPr/>
        </p:nvSpPr>
        <p:spPr>
          <a:xfrm>
            <a:off x="6336792" y="1389888"/>
            <a:ext cx="5230368" cy="347472"/>
          </a:xfrm>
          <a:prstGeom prst="rect">
            <a:avLst/>
          </a:prstGeom>
          <a:noFill/>
          <a:ln/>
        </p:spPr>
        <p:txBody>
          <a:bodyPr wrap="square" lIns="0" tIns="0" rIns="0" bIns="0" rtlCol="0" anchor="ctr"/>
          <a:lstStyle/>
          <a:p>
            <a:pPr marL="0" indent="0">
              <a:buNone/>
            </a:pPr>
            <a:r>
              <a:rPr lang="en-US" sz="1700" b="1" dirty="0">
                <a:solidFill>
                  <a:srgbClr val="2E1114"/>
                </a:solidFill>
                <a:latin typeface="Cambria" pitchFamily="34" charset="0"/>
                <a:ea typeface="Cambria" pitchFamily="34" charset="-122"/>
                <a:cs typeface="Cambria" pitchFamily="34" charset="-120"/>
              </a:rPr>
              <a:t>Multiple exception types</a:t>
            </a:r>
            <a:endParaRPr lang="en-US" sz="1700" dirty="0"/>
          </a:p>
        </p:txBody>
      </p:sp>
      <p:sp>
        <p:nvSpPr>
          <p:cNvPr id="11" name="Shape 9"/>
          <p:cNvSpPr/>
          <p:nvPr/>
        </p:nvSpPr>
        <p:spPr>
          <a:xfrm>
            <a:off x="6172200" y="1828800"/>
            <a:ext cx="5349240" cy="1910080"/>
          </a:xfrm>
          <a:prstGeom prst="roundRect">
            <a:avLst>
              <a:gd name="adj" fmla="val 3830"/>
            </a:avLst>
          </a:prstGeom>
          <a:solidFill>
            <a:srgbClr val="2E1114"/>
          </a:solidFill>
          <a:ln w="12700">
            <a:solidFill>
              <a:srgbClr val="2E1114"/>
            </a:solidFill>
            <a:prstDash val="solid"/>
          </a:ln>
        </p:spPr>
        <p:txBody>
          <a:bodyPr/>
          <a:lstStyle/>
          <a:p>
            <a:endParaRPr lang="en-US"/>
          </a:p>
        </p:txBody>
      </p:sp>
      <p:sp>
        <p:nvSpPr>
          <p:cNvPr id="12" name="Text 10"/>
          <p:cNvSpPr txBox="1"/>
          <p:nvPr/>
        </p:nvSpPr>
        <p:spPr>
          <a:xfrm>
            <a:off x="6400800" y="1993392"/>
            <a:ext cx="4892040" cy="1580896"/>
          </a:xfrm>
          <a:prstGeom prst="rect">
            <a:avLst/>
          </a:prstGeom>
          <a:noFill/>
          <a:ln/>
        </p:spPr>
        <p:txBody>
          <a:bodyPr wrap="square" lIns="0" tIns="0" rIns="0" bIns="0" rtlCol="0" anchor="t"/>
          <a:lstStyle/>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except FileNotFoundError:</a:t>
            </a:r>
            <a:endParaRPr lang="en-US" sz="1100" dirty="0"/>
          </a:p>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except ValueError:</a:t>
            </a:r>
            <a:endParaRPr lang="en-US" sz="1100" dirty="0"/>
          </a:p>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endParaRPr lang="en-US" sz="1100" dirty="0"/>
          </a:p>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 Or as a tuple, handled the same way:</a:t>
            </a:r>
            <a:endParaRPr lang="en-US" sz="1100" dirty="0"/>
          </a:p>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except (ValueError, TypeError) as e:</a:t>
            </a:r>
            <a:endParaRPr lang="en-US" sz="1100" dirty="0"/>
          </a:p>
          <a:p>
            <a:pPr marL="0" indent="0">
              <a:lnSpc>
                <a:spcPct val="115000"/>
              </a:lnSpc>
              <a:buNone/>
            </a:pPr>
            <a:r>
              <a:rPr lang="en-US" sz="1100" dirty="0">
                <a:solidFill>
                  <a:srgbClr val="EAD9DA"/>
                </a:solidFill>
                <a:latin typeface="Courier New" pitchFamily="34" charset="0"/>
                <a:ea typeface="Courier New" pitchFamily="34" charset="-122"/>
                <a:cs typeface="Courier New" pitchFamily="34" charset="-120"/>
              </a:rPr>
              <a:t>    print(f"Input error: {e}")</a:t>
            </a:r>
            <a:endParaRPr lang="en-US" sz="1100" dirty="0"/>
          </a:p>
        </p:txBody>
      </p:sp>
      <p:sp>
        <p:nvSpPr>
          <p:cNvPr id="13" name="Text 11"/>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14" name="Text 12"/>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3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else Clause</a:t>
            </a:r>
            <a:endParaRPr lang="en-US" sz="2500" dirty="0"/>
          </a:p>
        </p:txBody>
      </p:sp>
      <p:sp>
        <p:nvSpPr>
          <p:cNvPr id="5" name="Shape 3"/>
          <p:cNvSpPr/>
          <p:nvPr/>
        </p:nvSpPr>
        <p:spPr>
          <a:xfrm>
            <a:off x="548640" y="1463040"/>
            <a:ext cx="11064240" cy="2388870"/>
          </a:xfrm>
          <a:prstGeom prst="roundRect">
            <a:avLst>
              <a:gd name="adj" fmla="val 306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2059686"/>
          </a:xfrm>
          <a:prstGeom prst="rect">
            <a:avLst/>
          </a:prstGeom>
          <a:noFill/>
          <a:ln/>
        </p:spPr>
        <p:txBody>
          <a:bodyPr wrap="square" lIns="0" tIns="0" rIns="0" bIns="0" rtlCol="0" anchor="t"/>
          <a:lstStyle/>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def load_number(text):</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try:</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value = int(text)</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except ValueError: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print("Not a valid integer.")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else:</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print(f"Parsed successfully: {value}")</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return value</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return None</a:t>
            </a:r>
            <a:endParaRPr lang="en-US" sz="1300" dirty="0"/>
          </a:p>
        </p:txBody>
      </p:sp>
      <p:sp>
        <p:nvSpPr>
          <p:cNvPr id="7" name="Text 5"/>
          <p:cNvSpPr txBox="1"/>
          <p:nvPr/>
        </p:nvSpPr>
        <p:spPr>
          <a:xfrm>
            <a:off x="548640" y="3989070"/>
            <a:ext cx="11064240" cy="59436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An else block runs only if the try block completed WITHOUT raising — the right place for success-only code, kept separate from the risky code in try.</a:t>
            </a:r>
            <a:endParaRPr lang="en-US" sz="13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3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finally Clause</a:t>
            </a:r>
            <a:endParaRPr lang="en-US" sz="2500" dirty="0"/>
          </a:p>
        </p:txBody>
      </p:sp>
      <p:sp>
        <p:nvSpPr>
          <p:cNvPr id="5" name="Shape 3"/>
          <p:cNvSpPr/>
          <p:nvPr/>
        </p:nvSpPr>
        <p:spPr>
          <a:xfrm>
            <a:off x="548640" y="1463040"/>
            <a:ext cx="11064240" cy="2933700"/>
          </a:xfrm>
          <a:prstGeom prst="roundRect">
            <a:avLst>
              <a:gd name="adj" fmla="val 2494"/>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2604516"/>
          </a:xfrm>
          <a:prstGeom prst="rect">
            <a:avLst/>
          </a:prstGeom>
          <a:noFill/>
          <a:ln/>
        </p:spPr>
        <p:txBody>
          <a:bodyPr wrap="square" lIns="0" tIns="0" rIns="0" bIns="0" rtlCol="0" anchor="t"/>
          <a:lstStyle/>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def process_file(path):</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f = None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try: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f = open(path)</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return f.read().upper()</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except FileNotFoundError:</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print(f"File not found: {path}")</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return None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finally: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if f:</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f.close()   # always runs</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print("File closed.")</a:t>
            </a:r>
            <a:endParaRPr lang="en-US" sz="1250" dirty="0"/>
          </a:p>
        </p:txBody>
      </p:sp>
      <p:sp>
        <p:nvSpPr>
          <p:cNvPr id="7" name="Text 5"/>
          <p:cNvSpPr txBox="1"/>
          <p:nvPr/>
        </p:nvSpPr>
        <p:spPr>
          <a:xfrm>
            <a:off x="548640" y="4533900"/>
            <a:ext cx="11064240" cy="50292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finally always runs — exception or not, caught or not. Use it for cleanup: closing files, releasing locks, logging completion.</a:t>
            </a:r>
            <a:endParaRPr lang="en-US" sz="13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3 · PUTTING IT TOGETHER</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Complete Template</a:t>
            </a:r>
            <a:endParaRPr lang="en-US" sz="2500" dirty="0"/>
          </a:p>
        </p:txBody>
      </p:sp>
      <p:sp>
        <p:nvSpPr>
          <p:cNvPr id="5" name="Shape 3"/>
          <p:cNvSpPr/>
          <p:nvPr/>
        </p:nvSpPr>
        <p:spPr>
          <a:xfrm>
            <a:off x="548640" y="1417320"/>
            <a:ext cx="11064240" cy="3115310"/>
          </a:xfrm>
          <a:prstGeom prst="roundRect">
            <a:avLst>
              <a:gd name="adj" fmla="val 2348"/>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581912"/>
            <a:ext cx="10607040" cy="2786126"/>
          </a:xfrm>
          <a:prstGeom prst="rect">
            <a:avLst/>
          </a:prstGeom>
          <a:noFill/>
          <a:ln/>
        </p:spPr>
        <p:txBody>
          <a:bodyPr wrap="square" lIns="0" tIns="0" rIns="0" bIns="0" rtlCol="0" anchor="t"/>
          <a:lstStyle/>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try:</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result = do_something()</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except SpecificError as 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log_error(e)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except (AnotherError, YetAnotherError) as 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log_error(e)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except Exception as 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 Catch-all — use sparingly, it can hide bugs</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log_error(e)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raise    # re-raise so the caller knows something went wrong</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else: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save_result(result)   # only runs if no exception</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finally:</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release_resources()   # always runs</a:t>
            </a:r>
            <a:endParaRPr lang="en-US" sz="115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8" name="Text 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4</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Raising Exceptions</a:t>
            </a:r>
            <a:endParaRPr lang="en-US" sz="2500" dirty="0"/>
          </a:p>
        </p:txBody>
      </p:sp>
      <p:sp>
        <p:nvSpPr>
          <p:cNvPr id="5" name="Shape 3"/>
          <p:cNvSpPr/>
          <p:nvPr/>
        </p:nvSpPr>
        <p:spPr>
          <a:xfrm>
            <a:off x="548640" y="1463040"/>
            <a:ext cx="11064240" cy="2520950"/>
          </a:xfrm>
          <a:prstGeom prst="roundRect">
            <a:avLst>
              <a:gd name="adj" fmla="val 290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2191766"/>
          </a:xfrm>
          <a:prstGeom prst="rect">
            <a:avLst/>
          </a:prstGeom>
          <a:noFill/>
          <a:ln/>
        </p:spPr>
        <p:txBody>
          <a:bodyPr wrap="square" lIns="0" tIns="0" rIns="0" bIns="0" rtlCol="0" anchor="t"/>
          <a:lstStyle/>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def set_age(age):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if not isinstance(age, int):</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raise TypeError(f"Age must be an integer, got {type(age).__name__}")</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if age &lt; 0 or age &gt; 150:</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raise ValueError(f"Age must be between 0 and 150, got {age}")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return age</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set_age(25)     # fine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set_age(-5)     # ValueError: Age must be between 0 and 150, got -5</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set_age("old")  # TypeError: Age must be an integer, got str</a:t>
            </a:r>
            <a:endParaRPr lang="en-US" sz="1250" dirty="0"/>
          </a:p>
        </p:txBody>
      </p:sp>
      <p:sp>
        <p:nvSpPr>
          <p:cNvPr id="7" name="Text 5"/>
          <p:cNvSpPr txBox="1"/>
          <p:nvPr/>
        </p:nvSpPr>
        <p:spPr>
          <a:xfrm>
            <a:off x="548640" y="4121150"/>
            <a:ext cx="11064240" cy="45720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Use raise to deliberately throw an exception — enforcing preconditions and validating inputs.</a:t>
            </a:r>
            <a:endParaRPr lang="en-US" sz="13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4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Re-raising an Exception</a:t>
            </a:r>
            <a:endParaRPr lang="en-US" sz="2500" dirty="0"/>
          </a:p>
        </p:txBody>
      </p:sp>
      <p:sp>
        <p:nvSpPr>
          <p:cNvPr id="5" name="Shape 3"/>
          <p:cNvSpPr/>
          <p:nvPr/>
        </p:nvSpPr>
        <p:spPr>
          <a:xfrm>
            <a:off x="548640" y="1463040"/>
            <a:ext cx="11064240" cy="1744980"/>
          </a:xfrm>
          <a:prstGeom prst="roundRect">
            <a:avLst>
              <a:gd name="adj" fmla="val 419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1415796"/>
          </a:xfrm>
          <a:prstGeom prst="rect">
            <a:avLst/>
          </a:prstGeom>
          <a:noFill/>
          <a:ln/>
        </p:spPr>
        <p:txBody>
          <a:bodyPr wrap="square" lIns="0" tIns="0" rIns="0" bIns="0" rtlCol="0" anchor="t"/>
          <a:lstStyle/>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def safe_divide(a, b):</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try:</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return a / b</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except ZeroDivisionError:</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print("Logging: division by zero attempted")</a:t>
            </a:r>
            <a:endParaRPr lang="en-US" sz="1300" dirty="0"/>
          </a:p>
          <a:p>
            <a:pPr marL="0" indent="0">
              <a:lnSpc>
                <a:spcPct val="115000"/>
              </a:lnSpc>
              <a:buNone/>
            </a:pPr>
            <a:r>
              <a:rPr lang="en-US" sz="1300" dirty="0">
                <a:solidFill>
                  <a:srgbClr val="EAD9DA"/>
                </a:solidFill>
                <a:latin typeface="Courier New" pitchFamily="34" charset="0"/>
                <a:ea typeface="Courier New" pitchFamily="34" charset="-122"/>
                <a:cs typeface="Courier New" pitchFamily="34" charset="-120"/>
              </a:rPr>
              <a:t>        raise    # re-raise the original exception to the caller</a:t>
            </a:r>
            <a:endParaRPr lang="en-US" sz="1300" dirty="0"/>
          </a:p>
        </p:txBody>
      </p:sp>
      <p:sp>
        <p:nvSpPr>
          <p:cNvPr id="7" name="Text 5"/>
          <p:cNvSpPr txBox="1"/>
          <p:nvPr/>
        </p:nvSpPr>
        <p:spPr>
          <a:xfrm>
            <a:off x="548640" y="3345180"/>
            <a:ext cx="11064240" cy="64008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A bare `raise` (no argument) inside an except block re-raises the exact exception currently being handled — useful for logging before letting the caller deal with it.</a:t>
            </a:r>
            <a:endParaRPr lang="en-US" sz="13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4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Exception Chaining with raise ... from</a:t>
            </a:r>
            <a:endParaRPr lang="en-US" sz="2500" dirty="0"/>
          </a:p>
        </p:txBody>
      </p:sp>
      <p:sp>
        <p:nvSpPr>
          <p:cNvPr id="5" name="Shape 3"/>
          <p:cNvSpPr/>
          <p:nvPr/>
        </p:nvSpPr>
        <p:spPr>
          <a:xfrm>
            <a:off x="548640" y="1463040"/>
            <a:ext cx="11064240" cy="2314575"/>
          </a:xfrm>
          <a:prstGeom prst="roundRect">
            <a:avLst>
              <a:gd name="adj" fmla="val 3160"/>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1985391"/>
          </a:xfrm>
          <a:prstGeom prst="rect">
            <a:avLst/>
          </a:prstGeom>
          <a:noFill/>
          <a:ln/>
        </p:spPr>
        <p:txBody>
          <a:bodyPr wrap="square" lIns="0" tIns="0" rIns="0" bIns="0" rtlCol="0" anchor="t"/>
          <a:lstStyle/>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def load_config(path):</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try: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with open(path) as f:</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return f.read()</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except FileNotFoundError as 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raise RuntimeError(f"Configuration is missing: {path}") from e</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To explicitly suppress the chain:</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raise NewException("...") from None</a:t>
            </a:r>
            <a:endParaRPr lang="en-US" sz="1250" dirty="0"/>
          </a:p>
        </p:txBody>
      </p:sp>
      <p:sp>
        <p:nvSpPr>
          <p:cNvPr id="7" name="Text 5"/>
          <p:cNvSpPr txBox="1"/>
          <p:nvPr/>
        </p:nvSpPr>
        <p:spPr>
          <a:xfrm>
            <a:off x="548640" y="3914775"/>
            <a:ext cx="11064240" cy="64008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The traceback shows both exceptions, with “The above exception was the direct cause of the following exception” — this makes debugging much easier.</a:t>
            </a:r>
            <a:endParaRPr lang="en-US" sz="13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5</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Custom Exception Classes</a:t>
            </a:r>
            <a:endParaRPr lang="en-US" sz="2500" dirty="0"/>
          </a:p>
        </p:txBody>
      </p:sp>
      <p:sp>
        <p:nvSpPr>
          <p:cNvPr id="5" name="Text 3"/>
          <p:cNvSpPr txBox="1"/>
          <p:nvPr/>
        </p:nvSpPr>
        <p:spPr>
          <a:xfrm>
            <a:off x="548640" y="1371600"/>
            <a:ext cx="11064240" cy="548640"/>
          </a:xfrm>
          <a:prstGeom prst="rect">
            <a:avLst/>
          </a:prstGeom>
          <a:noFill/>
          <a:ln/>
        </p:spPr>
        <p:txBody>
          <a:bodyPr wrap="square" lIns="0" tIns="0" rIns="0" bIns="0" rtlCol="0" anchor="ctr"/>
          <a:lstStyle/>
          <a:p>
            <a:pPr marL="0" indent="0">
              <a:buNone/>
            </a:pPr>
            <a:r>
              <a:rPr lang="en-US" sz="1400" dirty="0">
                <a:solidFill>
                  <a:srgbClr val="281618"/>
                </a:solidFill>
                <a:latin typeface="Calibri" pitchFamily="34" charset="0"/>
                <a:ea typeface="Calibri" pitchFamily="34" charset="-122"/>
                <a:cs typeface="Calibri" pitchFamily="34" charset="-120"/>
              </a:rPr>
              <a:t>Built-in exceptions like ValueError are generic. A custom exception class communicates the exact error condition and can carry domain-specific data.</a:t>
            </a:r>
            <a:endParaRPr lang="en-US" sz="1400" dirty="0"/>
          </a:p>
        </p:txBody>
      </p:sp>
      <p:sp>
        <p:nvSpPr>
          <p:cNvPr id="6" name="Shape 4"/>
          <p:cNvSpPr/>
          <p:nvPr/>
        </p:nvSpPr>
        <p:spPr>
          <a:xfrm>
            <a:off x="548640" y="2103120"/>
            <a:ext cx="11064240" cy="1150620"/>
          </a:xfrm>
          <a:prstGeom prst="roundRect">
            <a:avLst>
              <a:gd name="adj" fmla="val 6358"/>
            </a:avLst>
          </a:prstGeom>
          <a:solidFill>
            <a:srgbClr val="2E1114"/>
          </a:solidFill>
          <a:ln w="12700">
            <a:solidFill>
              <a:srgbClr val="2E1114"/>
            </a:solidFill>
            <a:prstDash val="solid"/>
          </a:ln>
        </p:spPr>
        <p:txBody>
          <a:bodyPr/>
          <a:lstStyle/>
          <a:p>
            <a:endParaRPr lang="en-US"/>
          </a:p>
        </p:txBody>
      </p:sp>
      <p:sp>
        <p:nvSpPr>
          <p:cNvPr id="7" name="Text 5"/>
          <p:cNvSpPr txBox="1"/>
          <p:nvPr/>
        </p:nvSpPr>
        <p:spPr>
          <a:xfrm>
            <a:off x="777240" y="2267712"/>
            <a:ext cx="10607040" cy="821436"/>
          </a:xfrm>
          <a:prstGeom prst="rect">
            <a:avLst/>
          </a:prstGeom>
          <a:noFill/>
          <a:ln/>
        </p:spPr>
        <p:txBody>
          <a:bodyPr wrap="square" lIns="0" tIns="0" rIns="0" bIns="0" rtlCol="0" anchor="t"/>
          <a:lstStyle/>
          <a:p>
            <a:pPr marL="0" indent="0">
              <a:lnSpc>
                <a:spcPct val="115000"/>
              </a:lnSpc>
              <a:buNone/>
            </a:pPr>
            <a:r>
              <a:rPr lang="en-US" sz="1400" dirty="0">
                <a:solidFill>
                  <a:srgbClr val="EAD9DA"/>
                </a:solidFill>
                <a:latin typeface="Courier New" pitchFamily="34" charset="0"/>
                <a:ea typeface="Courier New" pitchFamily="34" charset="-122"/>
                <a:cs typeface="Courier New" pitchFamily="34" charset="-120"/>
              </a:rPr>
              <a:t>class ItemNotFoundError(Exception):</a:t>
            </a:r>
            <a:endParaRPr lang="en-US" sz="1400" dirty="0"/>
          </a:p>
          <a:p>
            <a:pPr marL="0" indent="0">
              <a:lnSpc>
                <a:spcPct val="115000"/>
              </a:lnSpc>
              <a:buNone/>
            </a:pPr>
            <a:r>
              <a:rPr lang="en-US" sz="1400" dirty="0">
                <a:solidFill>
                  <a:srgbClr val="EAD9DA"/>
                </a:solidFill>
                <a:latin typeface="Courier New" pitchFamily="34" charset="0"/>
                <a:ea typeface="Courier New" pitchFamily="34" charset="-122"/>
                <a:cs typeface="Courier New" pitchFamily="34" charset="-120"/>
              </a:rPr>
              <a:t>    """Raised when an item cannot be found in the inventory."""</a:t>
            </a:r>
            <a:endParaRPr lang="en-US" sz="1400" dirty="0"/>
          </a:p>
          <a:p>
            <a:pPr marL="0" indent="0">
              <a:lnSpc>
                <a:spcPct val="115000"/>
              </a:lnSpc>
              <a:buNone/>
            </a:pPr>
            <a:r>
              <a:rPr lang="en-US" sz="1400" dirty="0">
                <a:solidFill>
                  <a:srgbClr val="EAD9DA"/>
                </a:solidFill>
                <a:latin typeface="Courier New" pitchFamily="34" charset="0"/>
                <a:ea typeface="Courier New" pitchFamily="34" charset="-122"/>
                <a:cs typeface="Courier New" pitchFamily="34" charset="-120"/>
              </a:rPr>
              <a:t>    pass</a:t>
            </a:r>
            <a:endParaRPr lang="en-US" sz="1400" dirty="0"/>
          </a:p>
        </p:txBody>
      </p:sp>
      <p:sp>
        <p:nvSpPr>
          <p:cNvPr id="8" name="Text 6"/>
          <p:cNvSpPr txBox="1"/>
          <p:nvPr/>
        </p:nvSpPr>
        <p:spPr>
          <a:xfrm>
            <a:off x="548640" y="3390900"/>
            <a:ext cx="11064240" cy="640080"/>
          </a:xfrm>
          <a:prstGeom prst="rect">
            <a:avLst/>
          </a:prstGeom>
          <a:noFill/>
          <a:ln/>
        </p:spPr>
        <p:txBody>
          <a:bodyPr wrap="square" lIns="0" tIns="0" rIns="0" bIns="0" rtlCol="0" anchor="ctr"/>
          <a:lstStyle/>
          <a:p>
            <a:pPr marL="0" indent="0">
              <a:buNone/>
            </a:pPr>
            <a:r>
              <a:rPr lang="en-US" sz="1350" i="1" dirty="0">
                <a:solidFill>
                  <a:srgbClr val="6E5A5C"/>
                </a:solidFill>
                <a:latin typeface="Calibri" pitchFamily="34" charset="0"/>
                <a:ea typeface="Calibri" pitchFamily="34" charset="-122"/>
                <a:cs typeface="Calibri" pitchFamily="34" charset="-120"/>
              </a:rPr>
              <a:t>That's a valid, usable exception class with three lines — `pass` inherits everything from Exception. Custom exceptions should inherit from Exception (or a specific built-in).</a:t>
            </a:r>
            <a:endParaRPr lang="en-US" sz="1350" dirty="0"/>
          </a:p>
        </p:txBody>
      </p:sp>
      <p:sp>
        <p:nvSpPr>
          <p:cNvPr id="9" name="Text 7"/>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10" name="Text 8"/>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5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Adding a Custom Message &amp; Attributes</a:t>
            </a:r>
            <a:endParaRPr lang="en-US" sz="2500" dirty="0"/>
          </a:p>
        </p:txBody>
      </p:sp>
      <p:sp>
        <p:nvSpPr>
          <p:cNvPr id="5" name="Shape 3"/>
          <p:cNvSpPr/>
          <p:nvPr/>
        </p:nvSpPr>
        <p:spPr>
          <a:xfrm>
            <a:off x="548640" y="1463040"/>
            <a:ext cx="11064240" cy="2636520"/>
          </a:xfrm>
          <a:prstGeom prst="roundRect">
            <a:avLst>
              <a:gd name="adj" fmla="val 2775"/>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2307336"/>
          </a:xfrm>
          <a:prstGeom prst="rect">
            <a:avLst/>
          </a:prstGeom>
          <a:noFill/>
          <a:ln/>
        </p:spPr>
        <p:txBody>
          <a:bodyPr wrap="square" lIns="0" tIns="0" rIns="0" bIns="0" rtlCol="0" anchor="t"/>
          <a:lstStyle/>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class ItemNotFoundError(Exception):</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__init__(self, item_id, location=None):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self.item_id = item_id</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self.location = location</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message = f"Item '{item_id}' not found"</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if location:</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message += f" in '{location}'"</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super().__init__(message)   # pass message to Exception.__init__</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raise ItemNotFoundError("SKU-9876", "warehouse-3")</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ItemNotFoundError: Item 'SKU-9876' not found in 'warehouse-3'</a:t>
            </a:r>
            <a:endParaRPr lang="en-US" sz="1200" dirty="0"/>
          </a:p>
        </p:txBody>
      </p:sp>
      <p:sp>
        <p:nvSpPr>
          <p:cNvPr id="7" name="Text 5"/>
          <p:cNvSpPr txBox="1"/>
          <p:nvPr/>
        </p:nvSpPr>
        <p:spPr>
          <a:xfrm>
            <a:off x="548640" y="4236720"/>
            <a:ext cx="11064240" cy="457200"/>
          </a:xfrm>
          <a:prstGeom prst="rect">
            <a:avLst/>
          </a:prstGeom>
          <a:noFill/>
          <a:ln/>
        </p:spPr>
        <p:txBody>
          <a:bodyPr wrap="square" lIns="0" tIns="0" rIns="0" bIns="0" rtlCol="0" anchor="ctr"/>
          <a:lstStyle/>
          <a:p>
            <a:pPr marL="0" indent="0">
              <a:buNone/>
            </a:pPr>
            <a:r>
              <a:rPr lang="en-US" sz="1250" i="1" dirty="0">
                <a:solidFill>
                  <a:srgbClr val="6E5A5C"/>
                </a:solidFill>
                <a:latin typeface="Calibri" pitchFamily="34" charset="0"/>
                <a:ea typeface="Calibri" pitchFamily="34" charset="-122"/>
                <a:cs typeface="Calibri" pitchFamily="34" charset="-120"/>
              </a:rPr>
              <a:t>Catching it: `except ItemNotFoundError as e: print(e.item_id)` — the extra attributes are still available on the caught exception.</a:t>
            </a:r>
            <a:endParaRPr lang="en-US" sz="12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PART 5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An Exception Hierarchy for a Domain</a:t>
            </a:r>
            <a:endParaRPr lang="en-US" sz="2500" dirty="0"/>
          </a:p>
        </p:txBody>
      </p:sp>
      <p:sp>
        <p:nvSpPr>
          <p:cNvPr id="5" name="Shape 3"/>
          <p:cNvSpPr/>
          <p:nvPr/>
        </p:nvSpPr>
        <p:spPr>
          <a:xfrm>
            <a:off x="548640" y="1417320"/>
            <a:ext cx="11064240" cy="2925445"/>
          </a:xfrm>
          <a:prstGeom prst="roundRect">
            <a:avLst>
              <a:gd name="adj" fmla="val 2501"/>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581912"/>
            <a:ext cx="10607040" cy="2596261"/>
          </a:xfrm>
          <a:prstGeom prst="rect">
            <a:avLst/>
          </a:prstGeom>
          <a:noFill/>
          <a:ln/>
        </p:spPr>
        <p:txBody>
          <a:bodyPr wrap="square" lIns="0" tIns="0" rIns="0" bIns="0" rtlCol="0" anchor="t"/>
          <a:lstStyle/>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class InventoryError(Exception):</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"""Base class for all inventory-related errors."""</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pass</a:t>
            </a:r>
            <a:endParaRPr lang="en-US" sz="1150" dirty="0"/>
          </a:p>
          <a:p>
            <a:pPr marL="0" indent="0">
              <a:lnSpc>
                <a:spcPct val="115000"/>
              </a:lnSpc>
              <a:buNone/>
            </a:pP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class ItemNotFoundError(InventoryError):</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def __init__(self, item_id):</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super().__init__(f"Item not found: {item_id}")</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self.item_id = item_id</a:t>
            </a:r>
            <a:endParaRPr lang="en-US" sz="1150" dirty="0"/>
          </a:p>
          <a:p>
            <a:pPr marL="0" indent="0">
              <a:lnSpc>
                <a:spcPct val="115000"/>
              </a:lnSpc>
              <a:buNone/>
            </a:pP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class InsufficientStockError(InventoryError):</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def __init__(self, item_id, requested, available):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super().__init__(f"Insufficient stock for '{item_id}'")</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self.item_id, self.requested, self.available = item_id, requested, available</a:t>
            </a:r>
            <a:endParaRPr lang="en-US" sz="1150" dirty="0"/>
          </a:p>
        </p:txBody>
      </p:sp>
      <p:sp>
        <p:nvSpPr>
          <p:cNvPr id="7" name="Text 5"/>
          <p:cNvSpPr txBox="1"/>
          <p:nvPr/>
        </p:nvSpPr>
        <p:spPr>
          <a:xfrm>
            <a:off x="548640" y="4479925"/>
            <a:ext cx="11064240" cy="502920"/>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Callers can catch the base InventoryError to handle all domain errors, or catch specific subclasses for fine-grained handling.</a:t>
            </a:r>
            <a:endParaRPr lang="en-US" sz="130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6</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Dunder Methods: __str__ &amp; __repr__</a:t>
            </a:r>
            <a:endParaRPr lang="en-US" sz="2500" dirty="0"/>
          </a:p>
        </p:txBody>
      </p:sp>
      <p:sp>
        <p:nvSpPr>
          <p:cNvPr id="5" name="Text 3"/>
          <p:cNvSpPr txBox="1"/>
          <p:nvPr/>
        </p:nvSpPr>
        <p:spPr>
          <a:xfrm>
            <a:off x="548640" y="1371600"/>
            <a:ext cx="11064240" cy="502920"/>
          </a:xfrm>
          <a:prstGeom prst="rect">
            <a:avLst/>
          </a:prstGeom>
          <a:noFill/>
          <a:ln/>
        </p:spPr>
        <p:txBody>
          <a:bodyPr wrap="square" lIns="0" tIns="0" rIns="0" bIns="0" rtlCol="0" anchor="ctr"/>
          <a:lstStyle/>
          <a:p>
            <a:pPr marL="0" indent="0">
              <a:buNone/>
            </a:pPr>
            <a:r>
              <a:rPr lang="en-US" sz="1350" dirty="0">
                <a:solidFill>
                  <a:srgbClr val="281618"/>
                </a:solidFill>
                <a:latin typeface="Calibri" pitchFamily="34" charset="0"/>
                <a:ea typeface="Calibri" pitchFamily="34" charset="-122"/>
                <a:cs typeface="Calibri" pitchFamily="34" charset="-120"/>
              </a:rPr>
              <a:t>Dunder methods let your classes integrate with Python's built-in operations and syntax. You saw __init__ and __str__ on Wednesday — today we cover more.</a:t>
            </a:r>
            <a:endParaRPr lang="en-US" sz="1350" dirty="0"/>
          </a:p>
        </p:txBody>
      </p:sp>
      <p:sp>
        <p:nvSpPr>
          <p:cNvPr id="6" name="Shape 4"/>
          <p:cNvSpPr/>
          <p:nvPr/>
        </p:nvSpPr>
        <p:spPr>
          <a:xfrm>
            <a:off x="548640" y="1965960"/>
            <a:ext cx="11064240" cy="3032760"/>
          </a:xfrm>
          <a:prstGeom prst="roundRect">
            <a:avLst>
              <a:gd name="adj" fmla="val 2412"/>
            </a:avLst>
          </a:prstGeom>
          <a:solidFill>
            <a:srgbClr val="2E1114"/>
          </a:solidFill>
          <a:ln w="12700">
            <a:solidFill>
              <a:srgbClr val="2E1114"/>
            </a:solidFill>
            <a:prstDash val="solid"/>
          </a:ln>
        </p:spPr>
        <p:txBody>
          <a:bodyPr/>
          <a:lstStyle/>
          <a:p>
            <a:endParaRPr lang="en-US"/>
          </a:p>
        </p:txBody>
      </p:sp>
      <p:sp>
        <p:nvSpPr>
          <p:cNvPr id="7" name="Text 5"/>
          <p:cNvSpPr txBox="1"/>
          <p:nvPr/>
        </p:nvSpPr>
        <p:spPr>
          <a:xfrm>
            <a:off x="777240" y="2130552"/>
            <a:ext cx="10607040" cy="2703576"/>
          </a:xfrm>
          <a:prstGeom prst="rect">
            <a:avLst/>
          </a:prstGeom>
          <a:noFill/>
          <a:ln/>
        </p:spPr>
        <p:txBody>
          <a:bodyPr wrap="square" lIns="0" tIns="0" rIns="0" bIns="0" rtlCol="0" anchor="t"/>
          <a:lstStyle/>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class Point:</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__init__(self, x, 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self.x, self.y = x, y</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__str__(self):</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return f"({self.x}, {self.y})"</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__repr__(self):</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return f"Point(x={self.x!r}, y={self.y!r})"</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 = Point(3, 7)</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print(p)         # (3, 7)          — __str__</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print(repr(p))   # Point(x=3, y=7)  — __repr__</a:t>
            </a:r>
            <a:endParaRPr lang="en-US" sz="120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6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__len__ — Powering len(obj)</a:t>
            </a:r>
            <a:endParaRPr lang="en-US" sz="2500" dirty="0"/>
          </a:p>
        </p:txBody>
      </p:sp>
      <p:sp>
        <p:nvSpPr>
          <p:cNvPr id="5" name="Shape 3"/>
          <p:cNvSpPr/>
          <p:nvPr/>
        </p:nvSpPr>
        <p:spPr>
          <a:xfrm>
            <a:off x="548640" y="1463040"/>
            <a:ext cx="11064240" cy="3346450"/>
          </a:xfrm>
          <a:prstGeom prst="roundRect">
            <a:avLst>
              <a:gd name="adj" fmla="val 2186"/>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3017266"/>
          </a:xfrm>
          <a:prstGeom prst="rect">
            <a:avLst/>
          </a:prstGeom>
          <a:noFill/>
          <a:ln/>
        </p:spPr>
        <p:txBody>
          <a:bodyPr wrap="square" lIns="0" tIns="0" rIns="0" bIns="0" rtlCol="0" anchor="t"/>
          <a:lstStyle/>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class Inventory: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def __init__(self):</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self.items = {}</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def add(self, name, qty):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self.items[name] = qty</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def __len__(self):</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return len(self.items)</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inv = Inventory()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inv.add("widget", 50)</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inv.add("gadget", 30)</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print(len(inv))   # 2</a:t>
            </a:r>
            <a:endParaRPr lang="en-US" sz="125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8" name="Text 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6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__contains__ — Powering the in Operator</a:t>
            </a:r>
            <a:endParaRPr lang="en-US" sz="2500" dirty="0"/>
          </a:p>
        </p:txBody>
      </p:sp>
      <p:sp>
        <p:nvSpPr>
          <p:cNvPr id="5" name="Shape 3"/>
          <p:cNvSpPr/>
          <p:nvPr/>
        </p:nvSpPr>
        <p:spPr>
          <a:xfrm>
            <a:off x="548640" y="1463040"/>
            <a:ext cx="11064240" cy="3346450"/>
          </a:xfrm>
          <a:prstGeom prst="roundRect">
            <a:avLst>
              <a:gd name="adj" fmla="val 2186"/>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3017266"/>
          </a:xfrm>
          <a:prstGeom prst="rect">
            <a:avLst/>
          </a:prstGeom>
          <a:noFill/>
          <a:ln/>
        </p:spPr>
        <p:txBody>
          <a:bodyPr wrap="square" lIns="0" tIns="0" rIns="0" bIns="0" rtlCol="0" anchor="t"/>
          <a:lstStyle/>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class Inventory: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def __init__(self):</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self.items = {}</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def add(self, name, qty):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self.items[name] = qty</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def __contains__(self, name):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        return name in self.items</a:t>
            </a:r>
            <a:endParaRPr lang="en-US" sz="1250" dirty="0"/>
          </a:p>
          <a:p>
            <a:pPr marL="0" indent="0">
              <a:lnSpc>
                <a:spcPct val="115000"/>
              </a:lnSpc>
              <a:buNone/>
            </a:pP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inv = Inventory()</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inv.add("widget", 50)</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print("widget" in inv)     # True</a:t>
            </a:r>
            <a:endParaRPr lang="en-US" sz="1250" dirty="0"/>
          </a:p>
          <a:p>
            <a:pPr marL="0" indent="0">
              <a:lnSpc>
                <a:spcPct val="115000"/>
              </a:lnSpc>
              <a:buNone/>
            </a:pPr>
            <a:r>
              <a:rPr lang="en-US" sz="1250" dirty="0">
                <a:solidFill>
                  <a:srgbClr val="EAD9DA"/>
                </a:solidFill>
                <a:latin typeface="Courier New" pitchFamily="34" charset="0"/>
                <a:ea typeface="Courier New" pitchFamily="34" charset="-122"/>
                <a:cs typeface="Courier New" pitchFamily="34" charset="-120"/>
              </a:rPr>
              <a:t>print("sprocket" in inv)   # False</a:t>
            </a:r>
            <a:endParaRPr lang="en-US" sz="125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8" name="Text 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6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__eq__ — Powering ==</a:t>
            </a:r>
            <a:endParaRPr lang="en-US" sz="2500" dirty="0"/>
          </a:p>
        </p:txBody>
      </p:sp>
      <p:sp>
        <p:nvSpPr>
          <p:cNvPr id="5" name="Shape 3"/>
          <p:cNvSpPr/>
          <p:nvPr/>
        </p:nvSpPr>
        <p:spPr>
          <a:xfrm>
            <a:off x="548640" y="1463040"/>
            <a:ext cx="11064240" cy="2925445"/>
          </a:xfrm>
          <a:prstGeom prst="roundRect">
            <a:avLst>
              <a:gd name="adj" fmla="val 2501"/>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2596261"/>
          </a:xfrm>
          <a:prstGeom prst="rect">
            <a:avLst/>
          </a:prstGeom>
          <a:noFill/>
          <a:ln/>
        </p:spPr>
        <p:txBody>
          <a:bodyPr wrap="square" lIns="0" tIns="0" rIns="0" bIns="0" rtlCol="0" anchor="t"/>
          <a:lstStyle/>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class Point:</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def __init__(self, x, y):</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self.x, self.y = x, y</a:t>
            </a:r>
            <a:endParaRPr lang="en-US" sz="1150" dirty="0"/>
          </a:p>
          <a:p>
            <a:pPr marL="0" indent="0">
              <a:lnSpc>
                <a:spcPct val="115000"/>
              </a:lnSpc>
              <a:buNone/>
            </a:pP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def __eq__(self, other):</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if not isinstance(other, Point):</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return NotImplemented</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        return self.x == other.x and self.y == other.y</a:t>
            </a:r>
            <a:endParaRPr lang="en-US" sz="1150" dirty="0"/>
          </a:p>
          <a:p>
            <a:pPr marL="0" indent="0">
              <a:lnSpc>
                <a:spcPct val="115000"/>
              </a:lnSpc>
              <a:buNone/>
            </a:pP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p1, p2, p3 = Point(3, 7), Point(3, 7), Point(1, 2)</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print(p1 == p2)   # True  — same x and y</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print(p1 == p3)   # False</a:t>
            </a:r>
            <a:endParaRPr lang="en-US" sz="1150" dirty="0"/>
          </a:p>
          <a:p>
            <a:pPr marL="0" indent="0">
              <a:lnSpc>
                <a:spcPct val="115000"/>
              </a:lnSpc>
              <a:buNone/>
            </a:pPr>
            <a:r>
              <a:rPr lang="en-US" sz="1150" dirty="0">
                <a:solidFill>
                  <a:srgbClr val="EAD9DA"/>
                </a:solidFill>
                <a:latin typeface="Courier New" pitchFamily="34" charset="0"/>
                <a:ea typeface="Courier New" pitchFamily="34" charset="-122"/>
                <a:cs typeface="Courier New" pitchFamily="34" charset="-120"/>
              </a:rPr>
              <a:t>print(p1 is p2)   # False — different objects in memory</a:t>
            </a:r>
            <a:endParaRPr lang="en-US" sz="1150" dirty="0"/>
          </a:p>
        </p:txBody>
      </p:sp>
      <p:sp>
        <p:nvSpPr>
          <p:cNvPr id="7" name="Text 5"/>
          <p:cNvSpPr txBox="1"/>
          <p:nvPr/>
        </p:nvSpPr>
        <p:spPr>
          <a:xfrm>
            <a:off x="548640" y="4525645"/>
            <a:ext cx="11064240" cy="457200"/>
          </a:xfrm>
          <a:prstGeom prst="rect">
            <a:avLst/>
          </a:prstGeom>
          <a:noFill/>
          <a:ln/>
        </p:spPr>
        <p:txBody>
          <a:bodyPr wrap="square" lIns="0" tIns="0" rIns="0" bIns="0" rtlCol="0" anchor="ctr"/>
          <a:lstStyle/>
          <a:p>
            <a:pPr marL="0" indent="0">
              <a:buNone/>
            </a:pPr>
            <a:r>
              <a:rPr lang="en-US" sz="1250" i="1" dirty="0">
                <a:solidFill>
                  <a:srgbClr val="6E5A5C"/>
                </a:solidFill>
                <a:latin typeface="Calibri" pitchFamily="34" charset="0"/>
                <a:ea typeface="Calibri" pitchFamily="34" charset="-122"/>
                <a:cs typeface="Calibri" pitchFamily="34" charset="-120"/>
              </a:rPr>
              <a:t>Return `NotImplemented` (not False) when the comparison makes no sense — this tells Python to try the other object's __eq__.</a:t>
            </a:r>
            <a:endParaRPr lang="en-US" sz="12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9" name="Text 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457B9D"/>
                </a:solidFill>
                <a:latin typeface="Calibri" pitchFamily="34" charset="0"/>
                <a:ea typeface="Calibri" pitchFamily="34" charset="-122"/>
                <a:cs typeface="Calibri" pitchFamily="34" charset="-120"/>
              </a:rPr>
              <a:t>PART 6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__getitem__ — Powering obj[key]</a:t>
            </a:r>
            <a:endParaRPr lang="en-US" sz="2500" dirty="0"/>
          </a:p>
        </p:txBody>
      </p:sp>
      <p:sp>
        <p:nvSpPr>
          <p:cNvPr id="5" name="Shape 3"/>
          <p:cNvSpPr/>
          <p:nvPr/>
        </p:nvSpPr>
        <p:spPr>
          <a:xfrm>
            <a:off x="548640" y="1463040"/>
            <a:ext cx="11064240" cy="3627120"/>
          </a:xfrm>
          <a:prstGeom prst="roundRect">
            <a:avLst>
              <a:gd name="adj" fmla="val 2017"/>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3297936"/>
          </a:xfrm>
          <a:prstGeom prst="rect">
            <a:avLst/>
          </a:prstGeom>
          <a:noFill/>
          <a:ln/>
        </p:spPr>
        <p:txBody>
          <a:bodyPr wrap="square" lIns="0" tIns="0" rIns="0" bIns="0" rtlCol="0" anchor="t"/>
          <a:lstStyle/>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class Inventory: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__init__(self):</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self.items = {}</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add(self, name, qty):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self.items[name] = qty</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def __getitem__(self, name):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if name not in self.items:</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raise ItemNotFoundError(name)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return self.items[name]</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inv = Inventory()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inv.add("widget", 50)</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print(inv["widget"])     # 50</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print(inv["sprocket"])   # raises ItemNotFoundError</a:t>
            </a:r>
            <a:endParaRPr lang="en-US" sz="120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8" name="Text 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PUTTING IT TOGETHER</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A Complete Class: Inventory</a:t>
            </a:r>
            <a:endParaRPr lang="en-US" sz="2500" dirty="0"/>
          </a:p>
        </p:txBody>
      </p:sp>
      <p:sp>
        <p:nvSpPr>
          <p:cNvPr id="5" name="Shape 3"/>
          <p:cNvSpPr/>
          <p:nvPr/>
        </p:nvSpPr>
        <p:spPr>
          <a:xfrm>
            <a:off x="548640" y="1417320"/>
            <a:ext cx="11064240" cy="3845052"/>
          </a:xfrm>
          <a:prstGeom prst="roundRect">
            <a:avLst>
              <a:gd name="adj" fmla="val 190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581912"/>
            <a:ext cx="10607040" cy="3515868"/>
          </a:xfrm>
          <a:prstGeom prst="rect">
            <a:avLst/>
          </a:prstGeom>
          <a:noFill/>
          <a:ln/>
        </p:spPr>
        <p:txBody>
          <a:bodyPr wrap="square" lIns="0" tIns="0" rIns="0" bIns="0" rtlCol="0" anchor="t"/>
          <a:lstStyle/>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class Inventory:</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def __init__(self):</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self._items = {}</a:t>
            </a:r>
            <a:endParaRPr lang="en-US" sz="1080" dirty="0"/>
          </a:p>
          <a:p>
            <a:pPr marL="0" indent="0">
              <a:lnSpc>
                <a:spcPct val="115000"/>
              </a:lnSpc>
              <a:buNone/>
            </a:pP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def add(self, name, quantity):</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if quantity &lt;= 0:</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raise ValueError(f"Quantity must be positive, got {quantity}")</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self._items[name] = self._items.get(name, 0) + quantity</a:t>
            </a:r>
            <a:endParaRPr lang="en-US" sz="1080" dirty="0"/>
          </a:p>
          <a:p>
            <a:pPr marL="0" indent="0">
              <a:lnSpc>
                <a:spcPct val="115000"/>
              </a:lnSpc>
              <a:buNone/>
            </a:pP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def remove(self, name, quantity):</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if name not in self._items:</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raise ItemNotFoundError(name)</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if quantity &gt; self._items[name]:</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raise InsufficientStockError(name, quantity, self._items[name])</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self._items[name] -= quantity</a:t>
            </a:r>
            <a:endParaRPr lang="en-US" sz="1080" dirty="0"/>
          </a:p>
          <a:p>
            <a:pPr marL="0" indent="0">
              <a:lnSpc>
                <a:spcPct val="115000"/>
              </a:lnSpc>
              <a:buNone/>
            </a:pP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def __len__(self):        return len(self._items)</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def __contains__(self, n): return n in self._items</a:t>
            </a:r>
            <a:endParaRPr lang="en-US" sz="1080" dirty="0"/>
          </a:p>
          <a:p>
            <a:pPr marL="0" indent="0">
              <a:lnSpc>
                <a:spcPct val="115000"/>
              </a:lnSpc>
              <a:buNone/>
            </a:pPr>
            <a:r>
              <a:rPr lang="en-US" sz="1080" dirty="0">
                <a:solidFill>
                  <a:srgbClr val="EAD9DA"/>
                </a:solidFill>
                <a:latin typeface="Courier New" pitchFamily="34" charset="0"/>
                <a:ea typeface="Courier New" pitchFamily="34" charset="-122"/>
                <a:cs typeface="Courier New" pitchFamily="34" charset="-120"/>
              </a:rPr>
              <a:t>    def __getitem__(self, n):  return self._items[n]</a:t>
            </a:r>
            <a:endParaRPr lang="en-US" sz="108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8" name="Text 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PUTTING IT TOGETHER · CONTINUED</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Using Inventory with Exception Handling</a:t>
            </a:r>
            <a:endParaRPr lang="en-US" sz="2500" dirty="0"/>
          </a:p>
        </p:txBody>
      </p:sp>
      <p:sp>
        <p:nvSpPr>
          <p:cNvPr id="5" name="Shape 3"/>
          <p:cNvSpPr/>
          <p:nvPr/>
        </p:nvSpPr>
        <p:spPr>
          <a:xfrm>
            <a:off x="548640" y="1463040"/>
            <a:ext cx="11064240" cy="3825240"/>
          </a:xfrm>
          <a:prstGeom prst="roundRect">
            <a:avLst>
              <a:gd name="adj" fmla="val 1912"/>
            </a:avLst>
          </a:prstGeom>
          <a:solidFill>
            <a:srgbClr val="2E1114"/>
          </a:solidFill>
          <a:ln w="12700">
            <a:solidFill>
              <a:srgbClr val="2E1114"/>
            </a:solidFill>
            <a:prstDash val="solid"/>
          </a:ln>
        </p:spPr>
        <p:txBody>
          <a:bodyPr/>
          <a:lstStyle/>
          <a:p>
            <a:endParaRPr lang="en-US"/>
          </a:p>
        </p:txBody>
      </p:sp>
      <p:sp>
        <p:nvSpPr>
          <p:cNvPr id="6" name="Text 4"/>
          <p:cNvSpPr txBox="1"/>
          <p:nvPr/>
        </p:nvSpPr>
        <p:spPr>
          <a:xfrm>
            <a:off x="777240" y="1627632"/>
            <a:ext cx="10607040" cy="3496056"/>
          </a:xfrm>
          <a:prstGeom prst="rect">
            <a:avLst/>
          </a:prstGeom>
          <a:noFill/>
          <a:ln/>
        </p:spPr>
        <p:txBody>
          <a:bodyPr wrap="square" lIns="0" tIns="0" rIns="0" bIns="0" rtlCol="0" anchor="t"/>
          <a:lstStyle/>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inv = Inventory()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inv.add("widget", 100)</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inv.add("gadget", 30)</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print(len(inv))            # 2</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print("widget" in inv)     # True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print(inv["gadget"])       # 30</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try: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inv.remove("widget", 200)</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except InsufficientStockError as 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print(f"Stock error: {e}")</a:t>
            </a:r>
            <a:endParaRPr lang="en-US" sz="1200" dirty="0"/>
          </a:p>
          <a:p>
            <a:pPr marL="0" indent="0">
              <a:lnSpc>
                <a:spcPct val="115000"/>
              </a:lnSpc>
              <a:buNone/>
            </a:pP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try:</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inv.remove("sprocket", 1)</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except ItemNotFoundError as e:</a:t>
            </a:r>
            <a:endParaRPr lang="en-US" sz="1200" dirty="0"/>
          </a:p>
          <a:p>
            <a:pPr marL="0" indent="0">
              <a:lnSpc>
                <a:spcPct val="115000"/>
              </a:lnSpc>
              <a:buNone/>
            </a:pPr>
            <a:r>
              <a:rPr lang="en-US" sz="1200" dirty="0">
                <a:solidFill>
                  <a:srgbClr val="EAD9DA"/>
                </a:solidFill>
                <a:latin typeface="Courier New" pitchFamily="34" charset="0"/>
                <a:ea typeface="Courier New" pitchFamily="34" charset="-122"/>
                <a:cs typeface="Courier New" pitchFamily="34" charset="-120"/>
              </a:rPr>
              <a:t>    print(f"Not found: {e}")</a:t>
            </a:r>
            <a:endParaRPr lang="en-US" sz="120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8" name="Text 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F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E1114"/>
          </a:solidFill>
          <a:ln/>
        </p:spPr>
        <p:txBody>
          <a:bodyPr/>
          <a:lstStyle/>
          <a:p>
            <a:endParaRPr lang="en-US"/>
          </a:p>
        </p:txBody>
      </p:sp>
      <p:sp>
        <p:nvSpPr>
          <p:cNvPr id="3" name="Text 1"/>
          <p:cNvSpPr txBox="1"/>
          <p:nvPr/>
        </p:nvSpPr>
        <p:spPr>
          <a:xfrm>
            <a:off x="548640" y="164592"/>
            <a:ext cx="91440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WRAP-UP</a:t>
            </a:r>
            <a:endParaRPr lang="en-US" sz="1200" dirty="0"/>
          </a:p>
        </p:txBody>
      </p:sp>
      <p:sp>
        <p:nvSpPr>
          <p:cNvPr id="4" name="Text 2"/>
          <p:cNvSpPr txBox="1"/>
          <p:nvPr/>
        </p:nvSpPr>
        <p:spPr>
          <a:xfrm>
            <a:off x="548640" y="438912"/>
            <a:ext cx="11064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Summary</a:t>
            </a:r>
            <a:endParaRPr lang="en-US" sz="2500" dirty="0"/>
          </a:p>
        </p:txBody>
      </p:sp>
      <p:sp>
        <p:nvSpPr>
          <p:cNvPr id="5" name="Shape 3"/>
          <p:cNvSpPr/>
          <p:nvPr/>
        </p:nvSpPr>
        <p:spPr>
          <a:xfrm>
            <a:off x="548640" y="1417320"/>
            <a:ext cx="11064240" cy="658368"/>
          </a:xfrm>
          <a:prstGeom prst="rect">
            <a:avLst/>
          </a:prstGeom>
          <a:solidFill>
            <a:srgbClr val="FFFFFF"/>
          </a:solidFill>
          <a:ln/>
        </p:spPr>
        <p:txBody>
          <a:bodyPr/>
          <a:lstStyle/>
          <a:p>
            <a:endParaRPr lang="en-US"/>
          </a:p>
        </p:txBody>
      </p:sp>
      <p:sp>
        <p:nvSpPr>
          <p:cNvPr id="6" name="Text 4"/>
          <p:cNvSpPr txBox="1"/>
          <p:nvPr/>
        </p:nvSpPr>
        <p:spPr>
          <a:xfrm>
            <a:off x="777240" y="1417320"/>
            <a:ext cx="3566160" cy="658368"/>
          </a:xfrm>
          <a:prstGeom prst="rect">
            <a:avLst/>
          </a:prstGeom>
          <a:noFill/>
          <a:ln/>
        </p:spPr>
        <p:txBody>
          <a:bodyPr wrap="square" lIns="0" tIns="0" rIns="0" bIns="0" rtlCol="0" anchor="ctr"/>
          <a:lstStyle/>
          <a:p>
            <a:pPr marL="0" indent="0">
              <a:buNone/>
            </a:pPr>
            <a:r>
              <a:rPr lang="en-US" sz="1300" b="1" dirty="0">
                <a:solidFill>
                  <a:srgbClr val="E63946"/>
                </a:solidFill>
                <a:latin typeface="Cambria" pitchFamily="34" charset="0"/>
                <a:ea typeface="Cambria" pitchFamily="34" charset="-122"/>
                <a:cs typeface="Cambria" pitchFamily="34" charset="-120"/>
              </a:rPr>
              <a:t>Exception hierarchy</a:t>
            </a:r>
            <a:endParaRPr lang="en-US" sz="1300" dirty="0"/>
          </a:p>
        </p:txBody>
      </p:sp>
      <p:sp>
        <p:nvSpPr>
          <p:cNvPr id="7" name="Text 5"/>
          <p:cNvSpPr txBox="1"/>
          <p:nvPr/>
        </p:nvSpPr>
        <p:spPr>
          <a:xfrm>
            <a:off x="4480560" y="1417320"/>
            <a:ext cx="6949440" cy="65836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Starts at BaseException; most inherit from Exception</a:t>
            </a:r>
            <a:endParaRPr lang="en-US" sz="1300" dirty="0"/>
          </a:p>
        </p:txBody>
      </p:sp>
      <p:sp>
        <p:nvSpPr>
          <p:cNvPr id="8" name="Text 6"/>
          <p:cNvSpPr txBox="1"/>
          <p:nvPr/>
        </p:nvSpPr>
        <p:spPr>
          <a:xfrm>
            <a:off x="777240" y="2075688"/>
            <a:ext cx="3566160" cy="658368"/>
          </a:xfrm>
          <a:prstGeom prst="rect">
            <a:avLst/>
          </a:prstGeom>
          <a:noFill/>
          <a:ln/>
        </p:spPr>
        <p:txBody>
          <a:bodyPr wrap="square" lIns="0" tIns="0" rIns="0" bIns="0" rtlCol="0" anchor="ctr"/>
          <a:lstStyle/>
          <a:p>
            <a:pPr marL="0" indent="0">
              <a:buNone/>
            </a:pPr>
            <a:r>
              <a:rPr lang="en-US" sz="1300" b="1" dirty="0">
                <a:solidFill>
                  <a:srgbClr val="E63946"/>
                </a:solidFill>
                <a:latin typeface="Cambria" pitchFamily="34" charset="0"/>
                <a:ea typeface="Cambria" pitchFamily="34" charset="-122"/>
                <a:cs typeface="Cambria" pitchFamily="34" charset="-120"/>
              </a:rPr>
              <a:t>try / except</a:t>
            </a:r>
            <a:endParaRPr lang="en-US" sz="1300" dirty="0"/>
          </a:p>
        </p:txBody>
      </p:sp>
      <p:sp>
        <p:nvSpPr>
          <p:cNvPr id="9" name="Text 7"/>
          <p:cNvSpPr txBox="1"/>
          <p:nvPr/>
        </p:nvSpPr>
        <p:spPr>
          <a:xfrm>
            <a:off x="4480560" y="2075688"/>
            <a:ext cx="6949440" cy="65836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Catches exceptions; else runs on success, finally always runs</a:t>
            </a:r>
            <a:endParaRPr lang="en-US" sz="1300" dirty="0"/>
          </a:p>
        </p:txBody>
      </p:sp>
      <p:sp>
        <p:nvSpPr>
          <p:cNvPr id="10" name="Shape 8"/>
          <p:cNvSpPr/>
          <p:nvPr/>
        </p:nvSpPr>
        <p:spPr>
          <a:xfrm>
            <a:off x="548640" y="2734056"/>
            <a:ext cx="11064240" cy="658368"/>
          </a:xfrm>
          <a:prstGeom prst="rect">
            <a:avLst/>
          </a:prstGeom>
          <a:solidFill>
            <a:srgbClr val="FFFFFF"/>
          </a:solidFill>
          <a:ln/>
        </p:spPr>
        <p:txBody>
          <a:bodyPr/>
          <a:lstStyle/>
          <a:p>
            <a:endParaRPr lang="en-US"/>
          </a:p>
        </p:txBody>
      </p:sp>
      <p:sp>
        <p:nvSpPr>
          <p:cNvPr id="11" name="Text 9"/>
          <p:cNvSpPr txBox="1"/>
          <p:nvPr/>
        </p:nvSpPr>
        <p:spPr>
          <a:xfrm>
            <a:off x="777240" y="2734056"/>
            <a:ext cx="3566160" cy="658368"/>
          </a:xfrm>
          <a:prstGeom prst="rect">
            <a:avLst/>
          </a:prstGeom>
          <a:noFill/>
          <a:ln/>
        </p:spPr>
        <p:txBody>
          <a:bodyPr wrap="square" lIns="0" tIns="0" rIns="0" bIns="0" rtlCol="0" anchor="ctr"/>
          <a:lstStyle/>
          <a:p>
            <a:pPr marL="0" indent="0">
              <a:buNone/>
            </a:pPr>
            <a:r>
              <a:rPr lang="en-US" sz="1300" b="1" dirty="0">
                <a:solidFill>
                  <a:srgbClr val="E63946"/>
                </a:solidFill>
                <a:latin typeface="Cambria" pitchFamily="34" charset="0"/>
                <a:ea typeface="Cambria" pitchFamily="34" charset="-122"/>
                <a:cs typeface="Cambria" pitchFamily="34" charset="-120"/>
              </a:rPr>
              <a:t>raise</a:t>
            </a:r>
            <a:endParaRPr lang="en-US" sz="1300" dirty="0"/>
          </a:p>
        </p:txBody>
      </p:sp>
      <p:sp>
        <p:nvSpPr>
          <p:cNvPr id="12" name="Text 10"/>
          <p:cNvSpPr txBox="1"/>
          <p:nvPr/>
        </p:nvSpPr>
        <p:spPr>
          <a:xfrm>
            <a:off x="4480560" y="2734056"/>
            <a:ext cx="6949440" cy="65836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Throws an exception; bare raise re-raises the current one</a:t>
            </a:r>
            <a:endParaRPr lang="en-US" sz="1300" dirty="0"/>
          </a:p>
        </p:txBody>
      </p:sp>
      <p:sp>
        <p:nvSpPr>
          <p:cNvPr id="13" name="Text 11"/>
          <p:cNvSpPr txBox="1"/>
          <p:nvPr/>
        </p:nvSpPr>
        <p:spPr>
          <a:xfrm>
            <a:off x="777240" y="3392424"/>
            <a:ext cx="3566160" cy="658368"/>
          </a:xfrm>
          <a:prstGeom prst="rect">
            <a:avLst/>
          </a:prstGeom>
          <a:noFill/>
          <a:ln/>
        </p:spPr>
        <p:txBody>
          <a:bodyPr wrap="square" lIns="0" tIns="0" rIns="0" bIns="0" rtlCol="0" anchor="ctr"/>
          <a:lstStyle/>
          <a:p>
            <a:pPr marL="0" indent="0">
              <a:buNone/>
            </a:pPr>
            <a:r>
              <a:rPr lang="en-US" sz="1300" b="1" dirty="0">
                <a:solidFill>
                  <a:srgbClr val="E63946"/>
                </a:solidFill>
                <a:latin typeface="Cambria" pitchFamily="34" charset="0"/>
                <a:ea typeface="Cambria" pitchFamily="34" charset="-122"/>
                <a:cs typeface="Cambria" pitchFamily="34" charset="-120"/>
              </a:rPr>
              <a:t>Exception chaining</a:t>
            </a:r>
            <a:endParaRPr lang="en-US" sz="1300" dirty="0"/>
          </a:p>
        </p:txBody>
      </p:sp>
      <p:sp>
        <p:nvSpPr>
          <p:cNvPr id="14" name="Text 12"/>
          <p:cNvSpPr txBox="1"/>
          <p:nvPr/>
        </p:nvSpPr>
        <p:spPr>
          <a:xfrm>
            <a:off x="4480560" y="3392424"/>
            <a:ext cx="6949440" cy="65836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raise New from original preserves the root cause</a:t>
            </a:r>
            <a:endParaRPr lang="en-US" sz="1300" dirty="0"/>
          </a:p>
        </p:txBody>
      </p:sp>
      <p:sp>
        <p:nvSpPr>
          <p:cNvPr id="15" name="Shape 13"/>
          <p:cNvSpPr/>
          <p:nvPr/>
        </p:nvSpPr>
        <p:spPr>
          <a:xfrm>
            <a:off x="548640" y="4050792"/>
            <a:ext cx="11064240" cy="658368"/>
          </a:xfrm>
          <a:prstGeom prst="rect">
            <a:avLst/>
          </a:prstGeom>
          <a:solidFill>
            <a:srgbClr val="FFFFFF"/>
          </a:solidFill>
          <a:ln/>
        </p:spPr>
        <p:txBody>
          <a:bodyPr/>
          <a:lstStyle/>
          <a:p>
            <a:endParaRPr lang="en-US"/>
          </a:p>
        </p:txBody>
      </p:sp>
      <p:sp>
        <p:nvSpPr>
          <p:cNvPr id="16" name="Text 14"/>
          <p:cNvSpPr txBox="1"/>
          <p:nvPr/>
        </p:nvSpPr>
        <p:spPr>
          <a:xfrm>
            <a:off x="777240" y="4050792"/>
            <a:ext cx="3566160" cy="658368"/>
          </a:xfrm>
          <a:prstGeom prst="rect">
            <a:avLst/>
          </a:prstGeom>
          <a:noFill/>
          <a:ln/>
        </p:spPr>
        <p:txBody>
          <a:bodyPr wrap="square" lIns="0" tIns="0" rIns="0" bIns="0" rtlCol="0" anchor="ctr"/>
          <a:lstStyle/>
          <a:p>
            <a:pPr marL="0" indent="0">
              <a:buNone/>
            </a:pPr>
            <a:r>
              <a:rPr lang="en-US" sz="1300" b="1" dirty="0">
                <a:solidFill>
                  <a:srgbClr val="E63946"/>
                </a:solidFill>
                <a:latin typeface="Cambria" pitchFamily="34" charset="0"/>
                <a:ea typeface="Cambria" pitchFamily="34" charset="-122"/>
                <a:cs typeface="Cambria" pitchFamily="34" charset="-120"/>
              </a:rPr>
              <a:t>Custom exceptions</a:t>
            </a:r>
            <a:endParaRPr lang="en-US" sz="1300" dirty="0"/>
          </a:p>
        </p:txBody>
      </p:sp>
      <p:sp>
        <p:nvSpPr>
          <p:cNvPr id="17" name="Text 15"/>
          <p:cNvSpPr txBox="1"/>
          <p:nvPr/>
        </p:nvSpPr>
        <p:spPr>
          <a:xfrm>
            <a:off x="4480560" y="4050792"/>
            <a:ext cx="6949440" cy="65836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Inherit from Exception; override __init__ for extra data</a:t>
            </a:r>
            <a:endParaRPr lang="en-US" sz="1300" dirty="0"/>
          </a:p>
        </p:txBody>
      </p:sp>
      <p:sp>
        <p:nvSpPr>
          <p:cNvPr id="18" name="Text 16"/>
          <p:cNvSpPr txBox="1"/>
          <p:nvPr/>
        </p:nvSpPr>
        <p:spPr>
          <a:xfrm>
            <a:off x="777240" y="4709160"/>
            <a:ext cx="3566160" cy="658368"/>
          </a:xfrm>
          <a:prstGeom prst="rect">
            <a:avLst/>
          </a:prstGeom>
          <a:noFill/>
          <a:ln/>
        </p:spPr>
        <p:txBody>
          <a:bodyPr wrap="square" lIns="0" tIns="0" rIns="0" bIns="0" rtlCol="0" anchor="ctr"/>
          <a:lstStyle/>
          <a:p>
            <a:pPr marL="0" indent="0">
              <a:buNone/>
            </a:pPr>
            <a:r>
              <a:rPr lang="en-US" sz="1300" b="1" dirty="0">
                <a:solidFill>
                  <a:srgbClr val="E63946"/>
                </a:solidFill>
                <a:latin typeface="Cambria" pitchFamily="34" charset="0"/>
                <a:ea typeface="Cambria" pitchFamily="34" charset="-122"/>
                <a:cs typeface="Cambria" pitchFamily="34" charset="-120"/>
              </a:rPr>
              <a:t>Dunder methods</a:t>
            </a:r>
            <a:endParaRPr lang="en-US" sz="1300" dirty="0"/>
          </a:p>
        </p:txBody>
      </p:sp>
      <p:sp>
        <p:nvSpPr>
          <p:cNvPr id="19" name="Text 17"/>
          <p:cNvSpPr txBox="1"/>
          <p:nvPr/>
        </p:nvSpPr>
        <p:spPr>
          <a:xfrm>
            <a:off x="4480560" y="4709160"/>
            <a:ext cx="6949440" cy="658368"/>
          </a:xfrm>
          <a:prstGeom prst="rect">
            <a:avLst/>
          </a:prstGeom>
          <a:noFill/>
          <a:ln/>
        </p:spPr>
        <p:txBody>
          <a:bodyPr wrap="square" lIns="0" tIns="0" rIns="0" bIns="0" rtlCol="0" anchor="ctr"/>
          <a:lstStyle/>
          <a:p>
            <a:pPr marL="0" indent="0">
              <a:buNone/>
            </a:pPr>
            <a:r>
              <a:rPr lang="en-US" sz="1300" dirty="0">
                <a:solidFill>
                  <a:srgbClr val="281618"/>
                </a:solidFill>
                <a:latin typeface="Calibri" pitchFamily="34" charset="0"/>
                <a:ea typeface="Calibri" pitchFamily="34" charset="-122"/>
                <a:cs typeface="Calibri" pitchFamily="34" charset="-120"/>
              </a:rPr>
              <a:t>__str__/__repr__, __len__, __contains__, __eq__, __getitem__</a:t>
            </a:r>
            <a:endParaRPr lang="en-US" sz="1300" dirty="0"/>
          </a:p>
        </p:txBody>
      </p:sp>
      <p:sp>
        <p:nvSpPr>
          <p:cNvPr id="20" name="Text 18"/>
          <p:cNvSpPr txBox="1"/>
          <p:nvPr/>
        </p:nvSpPr>
        <p:spPr>
          <a:xfrm>
            <a:off x="548640" y="6510528"/>
            <a:ext cx="5486400" cy="274320"/>
          </a:xfrm>
          <a:prstGeom prst="rect">
            <a:avLst/>
          </a:prstGeom>
          <a:noFill/>
          <a:ln/>
        </p:spPr>
        <p:txBody>
          <a:bodyPr wrap="square" lIns="0" tIns="0" rIns="0" bIns="0" rtlCol="0" anchor="ctr"/>
          <a:lstStyle/>
          <a:p>
            <a:pPr marL="0" indent="0">
              <a:buNone/>
            </a:pPr>
            <a:endParaRPr lang="en-US" sz="1000" dirty="0"/>
          </a:p>
        </p:txBody>
      </p:sp>
      <p:sp>
        <p:nvSpPr>
          <p:cNvPr id="21" name="Text 19"/>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1000" dirty="0">
                <a:solidFill>
                  <a:srgbClr val="6E5A5C"/>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E1114"/>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30C0E"/>
          </a:solidFill>
          <a:ln/>
        </p:spPr>
        <p:txBody>
          <a:bodyPr/>
          <a:lstStyle/>
          <a:p>
            <a:endParaRPr lang="en-US"/>
          </a:p>
        </p:txBody>
      </p:sp>
      <p:sp>
        <p:nvSpPr>
          <p:cNvPr id="3" name="Text 1"/>
          <p:cNvSpPr txBox="1"/>
          <p:nvPr/>
        </p:nvSpPr>
        <p:spPr>
          <a:xfrm>
            <a:off x="548640" y="320040"/>
            <a:ext cx="91440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Additional Resources</a:t>
            </a:r>
            <a:endParaRPr lang="en-US" sz="2800" dirty="0"/>
          </a:p>
        </p:txBody>
      </p:sp>
      <p:sp>
        <p:nvSpPr>
          <p:cNvPr id="4" name="Shape 2"/>
          <p:cNvSpPr/>
          <p:nvPr/>
        </p:nvSpPr>
        <p:spPr>
          <a:xfrm>
            <a:off x="640080" y="1737360"/>
            <a:ext cx="128016" cy="128016"/>
          </a:xfrm>
          <a:prstGeom prst="ellipse">
            <a:avLst/>
          </a:prstGeom>
          <a:solidFill>
            <a:srgbClr val="E63946"/>
          </a:solidFill>
          <a:ln/>
        </p:spPr>
        <p:txBody>
          <a:bodyPr/>
          <a:lstStyle/>
          <a:p>
            <a:endParaRPr lang="en-US"/>
          </a:p>
        </p:txBody>
      </p:sp>
      <p:sp>
        <p:nvSpPr>
          <p:cNvPr id="5" name="Text 3"/>
          <p:cNvSpPr txBox="1"/>
          <p:nvPr/>
        </p:nvSpPr>
        <p:spPr>
          <a:xfrm>
            <a:off x="960120" y="1600200"/>
            <a:ext cx="100584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Python Official Docs — Errors and Exceptions</a:t>
            </a:r>
            <a:endParaRPr lang="en-US" sz="1600" dirty="0"/>
          </a:p>
        </p:txBody>
      </p:sp>
      <p:sp>
        <p:nvSpPr>
          <p:cNvPr id="6" name="Text 4"/>
          <p:cNvSpPr txBox="1"/>
          <p:nvPr/>
        </p:nvSpPr>
        <p:spPr>
          <a:xfrm>
            <a:off x="960120" y="1993392"/>
            <a:ext cx="10058400" cy="365760"/>
          </a:xfrm>
          <a:prstGeom prst="rect">
            <a:avLst/>
          </a:prstGeom>
          <a:noFill/>
          <a:ln/>
        </p:spPr>
        <p:txBody>
          <a:bodyPr wrap="square" lIns="0" tIns="0" rIns="0" bIns="0" rtlCol="0" anchor="ctr"/>
          <a:lstStyle/>
          <a:p>
            <a:pPr marL="0" indent="0">
              <a:buNone/>
            </a:pPr>
            <a:r>
              <a:rPr lang="en-US" sz="1300" i="1" dirty="0">
                <a:solidFill>
                  <a:srgbClr val="C7ABAD"/>
                </a:solidFill>
                <a:latin typeface="Calibri" pitchFamily="34" charset="0"/>
                <a:ea typeface="Calibri" pitchFamily="34" charset="-122"/>
                <a:cs typeface="Calibri" pitchFamily="34" charset="-120"/>
              </a:rPr>
              <a:t>The canonical tutorial on exception handling.</a:t>
            </a:r>
            <a:endParaRPr lang="en-US" sz="1300" dirty="0"/>
          </a:p>
        </p:txBody>
      </p:sp>
      <p:sp>
        <p:nvSpPr>
          <p:cNvPr id="7" name="Shape 5"/>
          <p:cNvSpPr/>
          <p:nvPr/>
        </p:nvSpPr>
        <p:spPr>
          <a:xfrm>
            <a:off x="640080" y="2971800"/>
            <a:ext cx="128016" cy="128016"/>
          </a:xfrm>
          <a:prstGeom prst="ellipse">
            <a:avLst/>
          </a:prstGeom>
          <a:solidFill>
            <a:srgbClr val="E63946"/>
          </a:solidFill>
          <a:ln/>
        </p:spPr>
        <p:txBody>
          <a:bodyPr/>
          <a:lstStyle/>
          <a:p>
            <a:endParaRPr lang="en-US"/>
          </a:p>
        </p:txBody>
      </p:sp>
      <p:sp>
        <p:nvSpPr>
          <p:cNvPr id="8" name="Text 6"/>
          <p:cNvSpPr txBox="1"/>
          <p:nvPr/>
        </p:nvSpPr>
        <p:spPr>
          <a:xfrm>
            <a:off x="960120" y="2834640"/>
            <a:ext cx="100584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Python Official Docs — Built-in Exceptions</a:t>
            </a:r>
            <a:endParaRPr lang="en-US" sz="1600" dirty="0"/>
          </a:p>
        </p:txBody>
      </p:sp>
      <p:sp>
        <p:nvSpPr>
          <p:cNvPr id="9" name="Text 7"/>
          <p:cNvSpPr txBox="1"/>
          <p:nvPr/>
        </p:nvSpPr>
        <p:spPr>
          <a:xfrm>
            <a:off x="960120" y="3227832"/>
            <a:ext cx="10058400" cy="365760"/>
          </a:xfrm>
          <a:prstGeom prst="rect">
            <a:avLst/>
          </a:prstGeom>
          <a:noFill/>
          <a:ln/>
        </p:spPr>
        <p:txBody>
          <a:bodyPr wrap="square" lIns="0" tIns="0" rIns="0" bIns="0" rtlCol="0" anchor="ctr"/>
          <a:lstStyle/>
          <a:p>
            <a:pPr marL="0" indent="0">
              <a:buNone/>
            </a:pPr>
            <a:r>
              <a:rPr lang="en-US" sz="1300" i="1" dirty="0">
                <a:solidFill>
                  <a:srgbClr val="C7ABAD"/>
                </a:solidFill>
                <a:latin typeface="Calibri" pitchFamily="34" charset="0"/>
                <a:ea typeface="Calibri" pitchFamily="34" charset="-122"/>
                <a:cs typeface="Calibri" pitchFamily="34" charset="-120"/>
              </a:rPr>
              <a:t>The full reference for every built-in exception type.</a:t>
            </a:r>
            <a:endParaRPr lang="en-US" sz="1300" dirty="0"/>
          </a:p>
        </p:txBody>
      </p:sp>
      <p:sp>
        <p:nvSpPr>
          <p:cNvPr id="10" name="Shape 8"/>
          <p:cNvSpPr/>
          <p:nvPr/>
        </p:nvSpPr>
        <p:spPr>
          <a:xfrm>
            <a:off x="640080" y="4206240"/>
            <a:ext cx="128016" cy="128016"/>
          </a:xfrm>
          <a:prstGeom prst="ellipse">
            <a:avLst/>
          </a:prstGeom>
          <a:solidFill>
            <a:srgbClr val="E63946"/>
          </a:solidFill>
          <a:ln/>
        </p:spPr>
        <p:txBody>
          <a:bodyPr/>
          <a:lstStyle/>
          <a:p>
            <a:endParaRPr lang="en-US"/>
          </a:p>
        </p:txBody>
      </p:sp>
      <p:sp>
        <p:nvSpPr>
          <p:cNvPr id="11" name="Text 9"/>
          <p:cNvSpPr txBox="1"/>
          <p:nvPr/>
        </p:nvSpPr>
        <p:spPr>
          <a:xfrm>
            <a:off x="960120" y="4069080"/>
            <a:ext cx="100584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Real Python — Python Exception Handling</a:t>
            </a:r>
            <a:endParaRPr lang="en-US" sz="1600" dirty="0"/>
          </a:p>
        </p:txBody>
      </p:sp>
      <p:sp>
        <p:nvSpPr>
          <p:cNvPr id="12" name="Text 10"/>
          <p:cNvSpPr txBox="1"/>
          <p:nvPr/>
        </p:nvSpPr>
        <p:spPr>
          <a:xfrm>
            <a:off x="960120" y="4462272"/>
            <a:ext cx="10058400" cy="365760"/>
          </a:xfrm>
          <a:prstGeom prst="rect">
            <a:avLst/>
          </a:prstGeom>
          <a:noFill/>
          <a:ln/>
        </p:spPr>
        <p:txBody>
          <a:bodyPr wrap="square" lIns="0" tIns="0" rIns="0" bIns="0" rtlCol="0" anchor="ctr"/>
          <a:lstStyle/>
          <a:p>
            <a:pPr marL="0" indent="0">
              <a:buNone/>
            </a:pPr>
            <a:r>
              <a:rPr lang="en-US" sz="1300" i="1" dirty="0">
                <a:solidFill>
                  <a:srgbClr val="C7ABAD"/>
                </a:solidFill>
                <a:latin typeface="Calibri" pitchFamily="34" charset="0"/>
                <a:ea typeface="Calibri" pitchFamily="34" charset="-122"/>
                <a:cs typeface="Calibri" pitchFamily="34" charset="-120"/>
              </a:rPr>
              <a:t>A practical, example-driven guide.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3325</Words>
  <Application>Microsoft Office PowerPoint</Application>
  <PresentationFormat>Widescreen</PresentationFormat>
  <Paragraphs>425</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Jasdhir Singh</cp:lastModifiedBy>
  <cp:revision>3</cp:revision>
  <dcterms:created xsi:type="dcterms:W3CDTF">2026-09-14T20:13:08Z</dcterms:created>
  <dcterms:modified xsi:type="dcterms:W3CDTF">2026-10-05T17:52:10Z</dcterms:modified>
</cp:coreProperties>
</file>