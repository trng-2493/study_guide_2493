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6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B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640080"/>
            <a:ext cx="1645920" cy="164592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WEEK 1 • TUESDAY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5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Functions,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5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and Imports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19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reusable functions, work with parameters, arguments, and return values, and use Python’s import system to bring in code from the standard library and your own modules.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B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5623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250" dirty="0">
                <a:solidFill>
                  <a:srgbClr val="9FB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learn(): return “functions, modules, imports”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875520" cy="35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single-line and multi-line comments in Python.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modules and packages are and why they exist.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built-in modules and use their contents.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function using def, with and without parameters.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positional, keyword, default parameters, and *args / **kwargs.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 from functions — and know what happens when you don’t.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(invoke) functions correctly, including nested and chained calls.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23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script, automation helper, and data-processing utility you write will be organized into functions — the fundamental unit of reusable code.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functions you’d copy-paste the same logic repeatedly, and one bug would require dozens of fixes.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 automation, a function like login(username, password) hides all the complexity of the login flow — every test just calls it, and when the UI changes you fix the function once.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and imports extend this to code others have written — pytest, selenium, and requests are all accessed through imports.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1B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annotate code for human readers — without confusing the interpreter.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COMMENTS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 Comments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1884172"/>
          </a:xfrm>
          <a:prstGeom prst="roundRect">
            <a:avLst>
              <a:gd name="adj" fmla="val 3882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26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is a standalone comment on its own line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42  # This is an inline comment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Add input validation here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FIXME: This calculation is incorrect for negative values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746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comment begins with # — Python ignores everything from # to the end of the line.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COMMENTS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Comment — and When Not 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1870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comment</a:t>
            </a:r>
            <a:endParaRPr lang="en-US" sz="1550" dirty="0"/>
          </a:p>
          <a:p>
            <a:pPr marL="457200" lvl="1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something is done — the code already shows what.</a:t>
            </a:r>
            <a:endParaRPr lang="en-US" sz="1550" dirty="0"/>
          </a:p>
          <a:p>
            <a:pPr marL="457200" lvl="1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about non-obvious behavior or edge cases.</a:t>
            </a:r>
            <a:endParaRPr lang="en-US" sz="1550" dirty="0"/>
          </a:p>
          <a:p>
            <a:pPr marL="457200" lvl="1" indent="-2286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work in progress with TODO: or FIXME: tags.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516376"/>
            <a:ext cx="5120640" cy="1072642"/>
          </a:xfrm>
          <a:prstGeom prst="roundRect">
            <a:avLst>
              <a:gd name="adj" fmla="val 6820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3516376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4944" y="360781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360781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360781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13232" y="3973576"/>
            <a:ext cx="4791456" cy="450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Bad — states the obvious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+ 1  # add 1 to x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6217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— restates the code.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3516376"/>
            <a:ext cx="5120640" cy="1298067"/>
          </a:xfrm>
          <a:prstGeom prst="roundRect">
            <a:avLst>
              <a:gd name="adj" fmla="val 5635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3516376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81344" y="360781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82512" y="360781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3680" y="360781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199632" y="3973576"/>
            <a:ext cx="479145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Good — explains the why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+ 1  # offset by 1: API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uses 1-based indexing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887595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— explains reasoning code can’t show.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COMMENTS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Comments (Option 1)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1884172"/>
          </a:xfrm>
          <a:prstGeom prst="roundRect">
            <a:avLst>
              <a:gd name="adj" fmla="val 3882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26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function connects to the database.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uses a retry mechanism with exponential backoff.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See: https://confluence.company.com/db-connection-guide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connect_to_db():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746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no /* ... */ block-comment syntax — stack multiple # lines instead.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63600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54456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8188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actual comments meant purely for human readers.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COMMENTS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Comments (Option 2): Docstrings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789920" cy="3435096"/>
          </a:xfrm>
          <a:prstGeom prst="roundRect">
            <a:avLst>
              <a:gd name="adj" fmla="val 2130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78992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460736" cy="2813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calculate_tax(amount, rate):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Calculate the tax on a given amount.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Args: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amount (float): The pre-tax amount in dollars.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rate (float): The tax rate as a decimal (e.g., 0.08 for 8%).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float: The calculated tax amount.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amount * rate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81016"/>
            <a:ext cx="10789920" cy="91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triple-quoted string as the first statement inside a function, class, or module is a docstring.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programmatically via help() and .__doc__ — writing good docstrings is a professional habit.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1B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Packages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code beyond a single file.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MODULES &amp; PACKAGES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vs. Packages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26480" y="141732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2763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4663440" cy="292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Python (.py) file containing related code — variables, functions, and/or classes.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code into modules as a project grows, to stay organized and enable reuse.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ships a large collection of built-in modules: the Standard Library — math, file I/O, networking, dates, randomness, OS interaction, and more.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55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62763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94560"/>
            <a:ext cx="4663440" cy="2133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modules organized inside a directory.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directory must contain __init__.py (which can be empty) for Python to recognize it as a package.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encounter packages constantly when installing third-party libraries.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1B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Modules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Standard Library — and your own code — into a script.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IMPORTING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2136648"/>
          </a:xfrm>
          <a:prstGeom prst="roundRect">
            <a:avLst>
              <a:gd name="adj" fmla="val 3424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print(math.pi)         # 3.141592653589793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print(math.sqrt(16))   # 4.0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print(math.floor(3.7)) # 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print(math.ceil(3.2))  # 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27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math loads the entire module — prefix everything inside it with math.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IMPORTING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Specific Names with from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1631696"/>
          </a:xfrm>
          <a:prstGeom prst="roundRect">
            <a:avLst>
              <a:gd name="adj" fmla="val 4483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00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sqrt, pi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print(sqrt(25))  # 5.0 — no 'math.' prefix needed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print(pi)        # 3.141592653589793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221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only what you need, directly into your namespace.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IMPORTING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 with 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2136648"/>
          </a:xfrm>
          <a:prstGeom prst="roundRect">
            <a:avLst>
              <a:gd name="adj" fmla="val 3424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as m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print(m.sqrt(9))   # 3.0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datetime as dt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 = dt.date.today()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print(today)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27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module a shorter alias, or resolve naming conflicts.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81888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727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017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convention: import numpy as np, import pandas as pd. Never alias to a confusing name — aliases should be shorter and/or standard.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IMPORTING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* — What to Avoid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910336"/>
          </a:xfrm>
          <a:prstGeom prst="roundRect">
            <a:avLst>
              <a:gd name="adj" fmla="val 8036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*  # Imports EVERYTHING from math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308152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9808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900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avoid 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2644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Pollutes your namespace with dozens of new names you can’t trace by reading the code — this makes debugging harder. Avoid except in narrow interactive use.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IMPORTING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Your Own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748917"/>
          </a:xfrm>
          <a:prstGeom prst="roundRect">
            <a:avLst>
              <a:gd name="adj" fmla="val 4183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4791456" cy="1127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utils.py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f"Hello, {name}!"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MAX_RETRIES = 3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39389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 — a module in the same folder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5120640" cy="2650617"/>
          </a:xfrm>
          <a:prstGeom prst="roundRect">
            <a:avLst>
              <a:gd name="adj" fmla="val 2760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825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99632" y="1874520"/>
            <a:ext cx="4791456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utils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print(utils.greet("Alice"))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print(utils.MAX_RETRIES)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utils import greet, MAX_RETRIES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print(greet("Bob"))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4141089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importing it two ways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IMPORTING MODULES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Standard Library Modules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8221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3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3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3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math.sqrt(), math.log()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paths, environment variables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runtime interaction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sys.argv, sys.exit()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and times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datetime.date.today()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number generation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random.randint(), random.choice()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encoding and decoding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 API responses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expressions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matching in strings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Time-related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time.sleep(), time.time()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data structures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Counter, defaultdict, deque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pathlib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 paths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Path("./data/file.csv")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1B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Functions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 keyword, syntax, and placeholders.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DEFINING FUNCTIONS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1884172"/>
          </a:xfrm>
          <a:prstGeom prst="roundRect">
            <a:avLst>
              <a:gd name="adj" fmla="val 3882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26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print("Hello from inside the function!")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Calling the function: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  # Output: Hello from inside the function!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7464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the function name, parentheses, a colon, then an indented body.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27024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7880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5312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is mandatory — there are no curly braces. Wrong indentation raises an IndentationError.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DEFINING FUNCTIONS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1126744"/>
          </a:xfrm>
          <a:prstGeom prst="roundRect">
            <a:avLst>
              <a:gd name="adj" fmla="val 6492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50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future_feature():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TODO: implement this later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172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is a no-op — a placeholder that satisfies Python’s non-empty-body requirement.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344728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558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6301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a function needs to exist syntactically before you’re ready to write its body.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1B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&amp; Arguments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values get matched into a function call.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PARAMETERS &amp; ARGUMENTS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vs. Arguments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1631696"/>
          </a:xfrm>
          <a:prstGeom prst="roundRect">
            <a:avLst>
              <a:gd name="adj" fmla="val 4483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00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          # a and b are PARAMETERS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add(3, 7)      # 3 and 7 are ARGUMENTS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9808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9044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788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the names listed in the def statement. Arguments are the actual values passed when calling.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PARAMETERS &amp; ARGUMENTS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Parameters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1974342"/>
          </a:xfrm>
          <a:prstGeom prst="roundRect">
            <a:avLst>
              <a:gd name="adj" fmla="val 3705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4791456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describe_person(name, age, city):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 is {age} years old\n  and lives in {city}.")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describe_person("Alice", 30, "Chicago")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Alice is 30 years old and lives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Chicago.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6481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position, in order.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5120640" cy="1523492"/>
          </a:xfrm>
          <a:prstGeom prst="roundRect">
            <a:avLst>
              <a:gd name="adj" fmla="val 4802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825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99632" y="1874520"/>
            <a:ext cx="4791456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Wrong order — position still matters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describe_person(30, "Chicago", "Alice")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 is Chicago years old and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lives in Alice.  ← nonsense!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0139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order → nonsense output.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PARAMETERS &amp; ARGUMENTS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Arguments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2136648"/>
          </a:xfrm>
          <a:prstGeom prst="roundRect">
            <a:avLst>
              <a:gd name="adj" fmla="val 3424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describe_person(age=25, city="Boston", name="Bob")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Bob is 25 years old and lives in Boston.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Mix positional and keyword — positional must come first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describe_person("Carol", city="Dallas", age=40)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Carol is 40 years old and lives in Dallas.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27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parameter lets you pass arguments in any order.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PARAMETERS &amp; ARGUMENTS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 Values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2136648"/>
          </a:xfrm>
          <a:prstGeom prst="roundRect">
            <a:avLst>
              <a:gd name="adj" fmla="val 3424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greet(name, greeting="Hello"):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print(f"{greeting}, {name}!")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greet("Alice")                    # Hello, Alice!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greet("Bob", "Good day")          # Good day, Bob!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greet("Carol", greeting="Howdy")  # Howdy, Carol!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271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automatically when the caller omits that argument.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91032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8188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932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with defaults must come AFTER parameters without defaults, e.g. def good_func(age, name="Alice").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PARAMETERS &amp; ARGUMENTS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Mutable Default Gotcha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2569464"/>
          </a:xfrm>
          <a:prstGeom prst="roundRect">
            <a:avLst>
              <a:gd name="adj" fmla="val 2847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479145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BUG — famous Python gotcha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add_item(item,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shopping_list=[]):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shopping_list.append(item)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shopping_list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add_item("apple")   # ['apple']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add_item("banana")  # ['apple',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#  'banana']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599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list is reused across every call.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5120640" cy="2353056"/>
          </a:xfrm>
          <a:prstGeom prst="roundRect">
            <a:avLst>
              <a:gd name="adj" fmla="val 3109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51206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825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99632" y="1874520"/>
            <a:ext cx="4791456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CORRECT — use None,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the list inside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add_item(item,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shopping_list=None):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shopping_list is None: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shopping_list = []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shopping_list.append(item)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shopping_list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8435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list is created on every call.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626864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" y="482803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9808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73659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0109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values are evaluated once, when the function is defined — not on each call — so the same object is reused every time.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PARAMETERS &amp; ARGUMENTS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— Arbitrary Positional Arguments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3146552"/>
          </a:xfrm>
          <a:prstGeom prst="roundRect">
            <a:avLst>
              <a:gd name="adj" fmla="val 2325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252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add_all(*numbers):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'numbers' is a TUPLE of all passed arguments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 in numbers: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print(add_all(1, 2, 3))            # 6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print(add_all(10, 20, 30, 40, 50)) # 150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print(add_all())                    # 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3702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collects any extra positional arguments into a tuple.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PARAMETERS &amp; ARGUMENTS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— Arbitrary Keyword Arguments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2894076"/>
          </a:xfrm>
          <a:prstGeom prst="roundRect">
            <a:avLst>
              <a:gd name="adj" fmla="val 2528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2272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print_info(**details):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'details' is a DICT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key, value in details.items():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print(f"{key}: {value}")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print_info(name="Alice", age=30, city="Chicago")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name: Alice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age: 30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city: Chicago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45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 collects any extra keyword arguments into a dictionary.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PARAMETERS &amp; ARGUMENTS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All Parameter 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3101467"/>
          </a:xfrm>
          <a:prstGeom prst="roundRect">
            <a:avLst>
              <a:gd name="adj" fmla="val 2359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247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mixed(a, b, *args, multiplier=1, **kwargs):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print(f"a={a}, b={b}")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print(f"extra positional: {args}")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print(f"multiplier: {multiplier}")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print(f"extra keyword: {kwargs}")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mixed(1, 2, 3, 4, 5, multiplier=10, name="test", flag=True)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a=1, b=2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 positional: (3, 4, 5)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multiplier: 10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 keyword: {'name': 'test', 'flag': True}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91939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order: def func(positional, *args, keyword_only, **kwargs).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1B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Values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results back to the caller.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RETURN VALUES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2641600"/>
          </a:xfrm>
          <a:prstGeom prst="roundRect">
            <a:avLst>
              <a:gd name="adj" fmla="val 2769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201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square(number):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number ** 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square(5)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25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the return value directly in an expression: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print(square(3) + square(4))  # 9 + 16 = 25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320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value back to the code that called the function.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RETURN VALUES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Without return?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2389124"/>
          </a:xfrm>
          <a:prstGeom prst="roundRect">
            <a:avLst>
              <a:gd name="adj" fmla="val 3062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1767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say_hello(name):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print(f"Hello, {name}!")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No return statement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say_hello("Alice")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 # None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print(type(result))  # &lt;class 'NoneType'&gt;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7959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 statement (or a bare return) implicitly returns None.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45312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4453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3616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6360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source of bugs — unexpected None values usually mean a missing return.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RETURN VALUES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Multiple Values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2966212"/>
          </a:xfrm>
          <a:prstGeom prst="roundRect">
            <a:avLst>
              <a:gd name="adj" fmla="val 2466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234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min_max(numbers):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min(numbers), max(numbers)   # Returns a tuple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min_max([4, 1, 8, 2, 7])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 # (1, 8)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print(type(result))  # &lt;class 'tuple'&gt;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Unpack the tuple directly: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smallest, largest = min_max([4, 1, 8, 2, 7])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print(f"Min: {smallest}, Max: {largest}")  # Min: 1, Max: 8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566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return values are packed into a tuple under the hood.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RETURN VALUES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Returns (Guard Clauses)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3435096"/>
          </a:xfrm>
          <a:prstGeom prst="roundRect">
            <a:avLst>
              <a:gd name="adj" fmla="val 2130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2813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classify_score(score):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&lt; 0 or score &gt; 100: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"Invalid score"     # Exit early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90: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80: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"B"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70: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"C"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&gt;= 60: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"F"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25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return statement reached ends the function immediately.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500176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91032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18464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clauses handle edge cases and invalid input first, making the main logic easier to read.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1B2A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Invocation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Calling, nesting, and passing functions as values.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41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FUNCTION INVOCATION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Invocation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2894076"/>
          </a:xfrm>
          <a:prstGeom prst="roundRect">
            <a:avLst>
              <a:gd name="adj" fmla="val 2528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2272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"Hello!"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greet()   # Calling the function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# Hello!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 = greet         # NOT calling — just a reference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print(ref)          # &lt;function greet at 0x...&gt;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print(ref())        # Hello!  — calling via the reference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45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call the function; without them, it’s just an object reference.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FUNCTION INVOCATION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Function Calls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3651504"/>
          </a:xfrm>
          <a:prstGeom prst="roundRect">
            <a:avLst>
              <a:gd name="adj" fmla="val 2003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3029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double(x):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* 2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add_ten(x):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+ 10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add_ten(double(5))  # double(5)=10, then add_ten(10)=20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20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 to: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doubled = double(5)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add_ten(doubled)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4197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function’s return value can feed directly into another call.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91032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81888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932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simple cases — too many nested levels becomes hard to read. When in doubt, use intermediate variables.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— FUNCTION INVOCATION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 Arguments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607040" cy="3399028"/>
          </a:xfrm>
          <a:prstGeom prst="roundRect">
            <a:avLst>
              <a:gd name="adj" fmla="val 2152"/>
            </a:avLst>
          </a:prstGeom>
          <a:solidFill>
            <a:srgbClr val="0D1117"/>
          </a:solidFill>
          <a:ln w="9525">
            <a:solidFill>
              <a:srgbClr val="0D1117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60704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50876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508760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13232" y="1874520"/>
            <a:ext cx="10277856" cy="277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apply(func, value):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func(value)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square(x):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** 2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print(apply(square, 4))  # 16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Built-in functions work too: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[3, 1, 4, 1, 5, 9, 2, 6]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print(apply(sorted, numbers))  # [1, 1, 2, 3, 4, 5, 6, 9]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895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first-class objects — they can be passed as arguments.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EFF3F6"/>
          </a:solidFill>
          <a:ln w="12700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4818888"/>
            <a:ext cx="365760" cy="365760"/>
          </a:xfrm>
          <a:prstGeom prst="ellipse">
            <a:avLst/>
          </a:prstGeom>
          <a:solidFill>
            <a:srgbClr val="2F66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727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017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higher-order functions (map, filter, reduce), which you’ll explore on Friday.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41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(1/2) — Comments, Modules, Imports</a:t>
            </a:r>
            <a:endParaRPr lang="en-US" sz="3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200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3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3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for single-line; triple-quoted strings for docstrings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.py file containing related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directory of modules with __init__.py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math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whole module; use with math. prefix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math import sqrt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specific name directly into namespace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math as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Alias a module to a shorter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41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(2/2) — Functions, Parameters, Returns</a:t>
            </a:r>
            <a:endParaRPr lang="en-US" sz="3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62102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7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to define a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 / Arguments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in the definition / values passed when calling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 / Keyword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by order / matched by name, order-independent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value if omitted; use None for mutable defaults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*args / **kwargs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extra positional args into a tuple / keyword args into a 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Sends a value back; no return → returns 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returns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Comma-separated values packed into a tuple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C3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+ parentheses; without () you get a reference, not a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6479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Official Docs — Defining Functions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7568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docs.python.org/3/tutorial/controlflow.html#defining-functions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0779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Official Docs — The Python Standard Library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21868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docs.python.org/3/library/index.html — bookmark this, you’ll use it constantly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EF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069080"/>
            <a:ext cx="384048" cy="384048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050792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Python — Python Functions Guide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6168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realpython.com/defining-your-own-python-function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0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3401</Words>
  <Application>Microsoft Office PowerPoint</Application>
  <PresentationFormat>Widescreen</PresentationFormat>
  <Paragraphs>545</Paragraphs>
  <Slides>41</Slides>
  <Notes>41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8</cp:revision>
  <dcterms:created xsi:type="dcterms:W3CDTF">2026-09-17T14:05:33Z</dcterms:created>
  <dcterms:modified xsi:type="dcterms:W3CDTF">2026-10-14T14:11:38Z</dcterms:modified>
</cp:coreProperties>
</file>