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8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1738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097280"/>
            <a:ext cx="3657600" cy="3657600"/>
          </a:xfrm>
          <a:prstGeom prst="ellipse">
            <a:avLst/>
          </a:prstGeom>
          <a:solidFill>
            <a:srgbClr val="2627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32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798064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Debugger,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PyPI, and pip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bugs in minutes, not hours — then reach for the library that already solves your next problem.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438912" cy="43891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0817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debugger is and why it's more powerful than print()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048256"/>
            <a:ext cx="438912" cy="43891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7510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breakpoints, step through code, and inspect variables (VS Code + PyCharm)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438912" cy="43891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5420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apart Step Over, Step Into, Step Out, and Continue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438912" cy="43891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3163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1089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PyPI is and how it fits into the Python ecosystem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438912" cy="43891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3730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67588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list, and uninstall packages with pip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438912" cy="43891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4864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24281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requirements.txt is for (full coverage Wednesday)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" cy="20116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BUGS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92808"/>
            <a:ext cx="5212080" cy="1406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debugging = guess and check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debugger pauses your program and lets you look directly inside 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every variable's value, one line at a time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82296" cy="201168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510528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OTHERS' WORK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892808"/>
            <a:ext cx="5212080" cy="89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 + pip give you access to 500,000+ pre-built libraries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write from scratch what's already battle-tested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Debugger?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built into your IDE that lets you: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512064" cy="51206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1865376"/>
            <a:ext cx="10351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
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execution at any specific line — a breakpoint.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512064" cy="51206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2834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779776"/>
            <a:ext cx="10351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
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current value of every variable, right when paused.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67328"/>
            <a:ext cx="512064" cy="51206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3749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694176"/>
            <a:ext cx="10351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
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line by line, watching values change in real time.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681728"/>
            <a:ext cx="512064" cy="51206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4663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4608576"/>
            <a:ext cx="10351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
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expressions interactively while the program is paused.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OLD 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Use print()?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6126480" cy="1691640"/>
          </a:xfrm>
          <a:prstGeom prst="roundRect">
            <a:avLst>
              <a:gd name="adj" fmla="val 4324"/>
            </a:avLst>
          </a:prstGeom>
          <a:solidFill>
            <a:srgbClr val="141420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682496"/>
            <a:ext cx="572414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3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calculate_average(scores):</a:t>
            </a:r>
            <a:endParaRPr lang="en-US" sz="1250" dirty="0"/>
          </a:p>
          <a:p>
            <a:pPr marL="0" indent="0">
              <a:lnSpc>
                <a:spcPts val="1563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print(f"DEBUG: scores = {scores}")   # ← debugging print</a:t>
            </a:r>
            <a:endParaRPr lang="en-US" sz="1250" dirty="0"/>
          </a:p>
          <a:p>
            <a:pPr marL="0" indent="0">
              <a:lnSpc>
                <a:spcPts val="1563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sum(scores)</a:t>
            </a:r>
            <a:endParaRPr lang="en-US" sz="1250" dirty="0"/>
          </a:p>
          <a:p>
            <a:pPr marL="0" indent="0">
              <a:lnSpc>
                <a:spcPts val="1563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print(f"DEBUG: total = {total}")     # ← debugging print</a:t>
            </a:r>
            <a:endParaRPr lang="en-US" sz="1250" dirty="0"/>
          </a:p>
          <a:p>
            <a:pPr marL="0" indent="0">
              <a:lnSpc>
                <a:spcPts val="1563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len(scores)</a:t>
            </a:r>
            <a:endParaRPr lang="en-US" sz="1250" dirty="0"/>
          </a:p>
          <a:p>
            <a:pPr marL="0" indent="0">
              <a:lnSpc>
                <a:spcPts val="1563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 / count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481328"/>
            <a:ext cx="4663440" cy="242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running, remove afterwards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prints leak into production code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programs need dozens of them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change what you inspect without re-running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walk the call stack to see why a function ran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KEY CONCEPTS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Breakpoints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marker on a specific line. In debug mode, execution runs normally until it reaches the breakpoint, then pauses and hands control to you.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262738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350008"/>
            <a:ext cx="219456" cy="21945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97280" y="2304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700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gutter next to the line number — a red dot appears.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2121408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262738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2350008"/>
            <a:ext cx="219456" cy="21945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846320" y="2304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6700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gutter next to the line number, same as VS Code.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2121408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262738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75320" y="2350008"/>
            <a:ext cx="219456" cy="21945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595360" y="2304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6700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breakpoint() (Python 3.7+) or import pdb; pdb.set_trace().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a Breakpoint in Code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11064240" cy="1476756"/>
          </a:xfrm>
          <a:prstGeom prst="roundRect">
            <a:avLst>
              <a:gd name="adj" fmla="val 4954"/>
            </a:avLst>
          </a:prstGeom>
          <a:solidFill>
            <a:srgbClr val="141420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956816"/>
            <a:ext cx="10661904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0"/>
              </a:lnSpc>
              <a:buNone/>
            </a:pPr>
            <a:r>
              <a:rPr lang="en-US" sz="14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calculate_discount(price, discount_percent):</a:t>
            </a:r>
            <a:endParaRPr lang="en-US" sz="140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4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breakpoint()  # Program will pause here when this line is reached</a:t>
            </a:r>
            <a:endParaRPr lang="en-US" sz="140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4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discount_amount = price * (discount_percent / 100)</a:t>
            </a:r>
            <a:endParaRPr lang="en-US" sz="140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4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final_price = price - discount_amount</a:t>
            </a:r>
            <a:endParaRPr lang="en-US" sz="140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4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final_price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WHILE PAUSED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Debug Panel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262738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82296" cy="274320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16824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panel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in scope with its current value. Expand objects to see properties.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481328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262738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1737360"/>
            <a:ext cx="82296" cy="274320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720840" y="16824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panel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1031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of function calls that led here — click any level to inspect its variables.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72968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262738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3429000"/>
            <a:ext cx="82296" cy="274320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33741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panel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7947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expressions you want to monitor continuously.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172968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262738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92240" y="3429000"/>
            <a:ext cx="82296" cy="274320"/>
          </a:xfrm>
          <a:prstGeom prst="rect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720840" y="33741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Console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7947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Python prompt evaluating against the current program state.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STEPPING THROUGH CODE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Over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 (VS Code) · F8 (PyCharm)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current line and moves to the next line in the same function. If the line calls another function, Step Over runs that entire function and returns — you never go inside it.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82296" cy="201168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49808" y="2715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81528"/>
            <a:ext cx="5394960" cy="89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confident a function call is correct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trace the main logic without drilling into helpers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481328"/>
            <a:ext cx="5303520" cy="1906524"/>
          </a:xfrm>
          <a:prstGeom prst="roundRect">
            <a:avLst>
              <a:gd name="adj" fmla="val 3837"/>
            </a:avLst>
          </a:prstGeom>
          <a:solidFill>
            <a:srgbClr val="141420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10528" y="1682496"/>
            <a:ext cx="4901184" cy="150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get_user_data():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{"name": "Alice", "score": 95}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process():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get_user_data()   # ← paused here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data["score"] * 1.1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95020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Over on the marked line runs get_user_data() and lands on the next line with data already set.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STEPPING THROUGH CODE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Into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F11 (VS Code) · F7 (PyCharm)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current line, and if it contains a function call, the debugger jumps inside that function and pauses at its first line.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82296" cy="201168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49808" y="2715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81528"/>
            <a:ext cx="5394960" cy="89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suspect the bug is inside a function call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trace exactly what a function does, step by step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481328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141420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10528" y="1682496"/>
            <a:ext cx="490118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get_user_data():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{"name": "Alice", "score": 95}  # ← lands here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process():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get_user_data()   # ← paused, press Step Into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STEPPING THROUGH CODE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Out &amp; Continue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" cy="201168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48132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— SHIFT+F11 / SHIFT+F8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47088"/>
            <a:ext cx="5349240" cy="127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rest of the current function, pauses back in the caller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you stepped in, realize the bug isn't here, and want to finish quickly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82296" cy="201168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510528" y="148132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— F5 / F9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847088"/>
            <a:ext cx="5349240" cy="89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normal execution until the next breakpoint (or program end)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you've seen enough here and want to jump ahead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Breakpoints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pauses execution when a specified condition is true — extremely useful inside loops.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984248"/>
            <a:ext cx="6400800" cy="832104"/>
          </a:xfrm>
          <a:prstGeom prst="roundRect">
            <a:avLst>
              <a:gd name="adj" fmla="val 8791"/>
            </a:avLst>
          </a:prstGeom>
          <a:solidFill>
            <a:srgbClr val="141420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49808" y="2185416"/>
            <a:ext cx="5998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score in enumerate(scores):</a:t>
            </a: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process_score(score)  # only pause when score &lt; 60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984248"/>
            <a:ext cx="4389120" cy="268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Code: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the breakpoint dot → Edit Breakpoint → enter condition (e.g. score &lt; 60)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PyCharm: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the breakpoint dot → Edit breakpoint → enter condition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STEP BY STEP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in VS Code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" cy="201168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4813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47088"/>
            <a:ext cx="5303520" cy="1406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Python file in VS Code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Python extension is installed (usually is by default)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breakpoint by clicking the gutter next to a line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82296" cy="201168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510528" y="14813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 DEBUG MODE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847088"/>
            <a:ext cx="5303520" cy="1406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F5, or click Run → Start Debugging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open the Run and Debug panel → "Python File"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time: choose "Python File" as the debug configuration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Debug Toolbar &amp; Variables Panel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" cy="201168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4813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TOOLBAR (APPEARS WHEN PAUSED)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262738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1847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Continue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95728" y="1847088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262738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395728" y="1847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↷ Step Over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42816" y="1847088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262738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242816" y="1847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Step Into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9904" y="1847088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262738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089904" y="1847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Step 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36992" y="1847088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262738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936992" y="1847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Restart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84080" y="1847088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262738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784080" y="1847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Stop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715768"/>
            <a:ext cx="11064240" cy="1406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variables: everything in the current function's scope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variables: module-level variables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any variable in the editor while paused to see its value in a tooltip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Debug Console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Python expression — it evaluates in the context of your paused program.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984248"/>
            <a:ext cx="6766560" cy="1691640"/>
          </a:xfrm>
          <a:prstGeom prst="roundRect">
            <a:avLst>
              <a:gd name="adj" fmla="val 4324"/>
            </a:avLst>
          </a:prstGeom>
          <a:solidFill>
            <a:srgbClr val="141420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49808" y="2185416"/>
            <a:ext cx="636422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75"/>
              </a:lnSpc>
              <a:buNone/>
            </a:pPr>
            <a:r>
              <a:rPr lang="en-US" sz="15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scores</a:t>
            </a:r>
            <a:endParaRPr lang="en-US" sz="150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5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[85, 90, 78]</a:t>
            </a:r>
            <a:endParaRPr lang="en-US" sz="150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5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sum(scores)</a:t>
            </a:r>
            <a:endParaRPr lang="en-US" sz="150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5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253</a:t>
            </a:r>
            <a:endParaRPr lang="en-US" sz="150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5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len(scores)</a:t>
            </a:r>
            <a:endParaRPr lang="en-US" sz="1500" dirty="0"/>
          </a:p>
          <a:p>
            <a:pPr marL="0" indent="0">
              <a:lnSpc>
                <a:spcPts val="1875"/>
              </a:lnSpc>
              <a:buNone/>
            </a:pPr>
            <a:r>
              <a:rPr lang="en-US" sz="15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in PyCharm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" cy="201168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481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47088"/>
            <a:ext cx="3383280" cy="895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in the editor → Debug '&lt;filename&gt;'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press Shift+F9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1508760"/>
            <a:ext cx="82296" cy="201168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407408" y="1481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WINDOW TABS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847088"/>
            <a:ext cx="3566160" cy="3961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Frames: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stack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tree, current frame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Console: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Python console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Watches: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to monitor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508760"/>
            <a:ext cx="82296" cy="201168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47888" y="1481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EXPRESSION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1847088"/>
            <a:ext cx="3200400" cy="1406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Alt+F8 while paused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expression, see the result instantly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switching to the console tab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FIND THE BUG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Debugging Example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3840480"/>
          </a:xfrm>
          <a:prstGeom prst="roundRect">
            <a:avLst>
              <a:gd name="adj" fmla="val 1905"/>
            </a:avLst>
          </a:prstGeom>
          <a:solidFill>
            <a:srgbClr val="141420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682496"/>
            <a:ext cx="10661904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find_passing_average(scores, pass_mark=70):</a:t>
            </a: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passing_scores = []</a:t>
            </a: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score in scores:</a:t>
            </a: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score &gt; pass_mark:        # bug is on this line</a:t>
            </a: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passing_scores.append(score)</a:t>
            </a: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len(passing_scores) == 0:</a:t>
            </a: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None</a:t>
            </a: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sum(passing_scores)</a:t>
            </a: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average = total / len(passing_scores)</a:t>
            </a: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average</a:t>
            </a: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test_scores = [55, 70, 82, 65, 91, 70, 78]</a:t>
            </a: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find_passing_average(test_scores)</a:t>
            </a: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Unexpected: scores of exactly 70 are being excluded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STEP-BY-STEP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It With the Debugger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438912" cy="43891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0817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breakpoint on the if score &gt; pass_mark: line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39696"/>
            <a:ext cx="438912" cy="43891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665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debug mode — it pauses on first reaching this line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798064"/>
            <a:ext cx="438912" cy="43891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2779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249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panel confirms: score = 55, pass_mark = 70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438912" cy="43891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3438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383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Over repeatedly, watching score change each iteration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438912" cy="43891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4096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0416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score = 70: 70 &gt; 70 evaluates to False — 70 is wrongly excluded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773168"/>
            <a:ext cx="438912" cy="438912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48640" y="4754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70001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&gt; should be &gt;=
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Python Package Index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262738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7099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500,000+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4144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on PyPI, contributed by developers worldwide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481328"/>
            <a:ext cx="7406640" cy="179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 ("pie-pee-eye") = Python Package Index, hosted at pypi.org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third-party software repository for Python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builds a useful library — scraping, viz, email, AWS, testing — and publishes it so anyone can install it with one command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 You'll Use Constantly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4224528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test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selenium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automation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browser automation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library for API calls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manipulation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computing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allure-pytest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reporting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BDD testing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sqlalchemy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pip: Python's Package Manager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“pip installs packages” — the standard tool for installing packages from PyPI. Ships with Python 3.4+.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82296" cy="201168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49808" y="19842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IT'S INSTALLED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5303520" cy="1046988"/>
          </a:xfrm>
          <a:prstGeom prst="roundRect">
            <a:avLst>
              <a:gd name="adj" fmla="val 6987"/>
            </a:avLst>
          </a:prstGeom>
          <a:solidFill>
            <a:srgbClr val="141420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2505456"/>
            <a:ext cx="490118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--version</a:t>
            </a: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</a:t>
            </a:r>
            <a:endParaRPr lang="en-US" sz="1300" dirty="0"/>
          </a:p>
          <a:p>
            <a:pPr marL="0" indent="0">
              <a:lnSpc>
                <a:spcPts val="1625"/>
              </a:lnSpc>
              <a:buNone/>
            </a:pPr>
            <a:r>
              <a:rPr lang="en-US" sz="13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pip3 --version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82296" cy="201168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10528" y="19842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 PACKAGE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304288"/>
            <a:ext cx="5303520" cy="1476756"/>
          </a:xfrm>
          <a:prstGeom prst="roundRect">
            <a:avLst>
              <a:gd name="adj" fmla="val 4954"/>
            </a:avLst>
          </a:prstGeom>
          <a:solidFill>
            <a:srgbClr val="141420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510528" y="2505456"/>
            <a:ext cx="4901184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3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requests</a:t>
            </a:r>
            <a:endParaRPr lang="en-US" sz="1250" dirty="0"/>
          </a:p>
          <a:p>
            <a:pPr marL="0" indent="0">
              <a:lnSpc>
                <a:spcPts val="1563"/>
              </a:lnSpc>
              <a:buNone/>
            </a:pPr>
            <a:endParaRPr lang="en-US" sz="1250" dirty="0"/>
          </a:p>
          <a:p>
            <a:pPr marL="0" indent="0">
              <a:lnSpc>
                <a:spcPts val="1563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always activate your venv first:</a:t>
            </a:r>
            <a:endParaRPr lang="en-US" sz="1250" dirty="0"/>
          </a:p>
          <a:p>
            <a:pPr marL="0" indent="0">
              <a:lnSpc>
                <a:spcPts val="1563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venv/bin/activate</a:t>
            </a:r>
            <a:endParaRPr lang="en-US" sz="1250" dirty="0"/>
          </a:p>
          <a:p>
            <a:pPr marL="0" indent="0">
              <a:lnSpc>
                <a:spcPts val="1563"/>
              </a:lnSpc>
              <a:buNone/>
            </a:pPr>
            <a:r>
              <a:rPr lang="en-US" sz="12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requests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pip Commands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365760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requests==2.31.0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an exact 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requests&gt;=2.28.0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a minimum 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pytest selenium pandas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multiple packages at once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--upgrade requests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a package (-U also works)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uninstall requests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package (asks to confirm)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all installed packages + versions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show requests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Version, author, deps, install location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Management: A First Look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 your virtual environment's exact setup with teammates — or reproduce it on CI — record it in a requirements.txt file.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2296" cy="201168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49808" y="21214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5303520" cy="617220"/>
          </a:xfrm>
          <a:prstGeom prst="roundRect">
            <a:avLst>
              <a:gd name="adj" fmla="val 11852"/>
            </a:avLst>
          </a:prstGeom>
          <a:solidFill>
            <a:srgbClr val="141420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2642616"/>
            <a:ext cx="49011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8"/>
              </a:lnSpc>
              <a:buNone/>
            </a:pPr>
            <a:r>
              <a:rPr lang="en-US" sz="13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freeze &gt; requirements.txt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2148840"/>
            <a:ext cx="82296" cy="201168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10528" y="21214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FROM 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441448"/>
            <a:ext cx="5303520" cy="617220"/>
          </a:xfrm>
          <a:prstGeom prst="roundRect">
            <a:avLst>
              <a:gd name="adj" fmla="val 11852"/>
            </a:avLst>
          </a:prstGeom>
          <a:solidFill>
            <a:srgbClr val="141420"/>
          </a:solidFill>
          <a:ln w="12700">
            <a:solidFill>
              <a:srgbClr val="3334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510528" y="2642616"/>
            <a:ext cx="49011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8"/>
              </a:lnSpc>
              <a:buNone/>
            </a:pPr>
            <a:r>
              <a:rPr lang="en-US" sz="135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584448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262738"/>
          </a:solidFill>
          <a:ln w="12700">
            <a:solidFill>
              <a:srgbClr val="3B3C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35844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 </a:t>
            </a: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on requirements.txt — hand-writing, version pinning, Git workflow — is tomorrow (Wednesday).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786384" y="457200"/>
            <a:ext cx="108566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86384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D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3511296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Pause, inspect, and step through running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marker that pauses execution at a 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Over / Into / 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/ enter / finish the called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until the next breakpoint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500,000+ third-party Python libraries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Installs packages from PyPI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requirements.txt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your project's exact dependencies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4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922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1893</Words>
  <Application>Microsoft Office PowerPoint</Application>
  <PresentationFormat>Widescreen</PresentationFormat>
  <Paragraphs>342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Jasdhir Singh</cp:lastModifiedBy>
  <cp:revision>4</cp:revision>
  <dcterms:created xsi:type="dcterms:W3CDTF">2026-09-17T14:15:12Z</dcterms:created>
  <dcterms:modified xsi:type="dcterms:W3CDTF">2026-09-28T14:04:17Z</dcterms:modified>
</cp:coreProperties>
</file>