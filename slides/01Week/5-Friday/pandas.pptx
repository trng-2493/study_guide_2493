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577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Pandas as the capstone tool of Week 1 — the thing students will actually reach for daily, built directly on NumPy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objectives — the richest reading of the week, spanning both core data structures and the full workflow from loading to exporting.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roles, one library — anchor Pandas in each discipline students might land in, then land on the direct 'built on NumPy' connection to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setup ritual as every library this week: install, alias, pin to requirements.txt.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 custom index, Pandas assigns a default integer index — that left-hand column of numbers is the index, not part of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label-slice-is-inclusive rule (scores['Bob':'Diana'] includes Diana) is the same rule that governs loc later — plant the seed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idxmax() is the one method students haven't seen before — it returns the label of the max, not the value, which trips people up on first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DataFrame built from a dict of equal-length lists is the most common construction pattern — each key becomes a column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df.info() is the single most useful inspection call — it surfaces missing values (non-null count &lt; total rows) and dtype in one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single-vs-double-bracket distinction (Series vs DataFrame) is one of the first genuine 'gotchas' new Pandas users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two or three most important rules in the entire reading — loc slices include the endpoint, unlike every other Python slice students have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iloc mirrors ordinary Python/NumPy slicing exactly — the exclusive end is the 'normal' rule; loc's inclusive end is the exception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custom string index makes the label-vs-position distinction unambiguous — with a default integer index, students can accidentally get the right answer for the wrong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boolean-indexing pattern as NumPy this morning — that continuity is worth calling out explicitly since it's exactly the same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function call with dozens of optional parameters — this reference slide covers the ones students will actually reach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isnull().sum() should be a reflex immediately after every read_csv() call — it's the fastest way to know what you're actually working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Sorting by multiple columns with independent ascending/descending directions (a list for each) is worth a concrete walk-through.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groupby() is arguably Pandas' single most powerful operation — split, apply, combine is the mental model to repeat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value_counts() is the one-liner students will use constantly to sanity-check a categorical column right after loading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.str is the string-data equivalent of NumPy vectorization — every method chains cleanly, as in .str.strip().str.title().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Column-wise apply() receives one value at a time — this is the direct reuse of Wednesday's if/elif/else chains, now applied per-cell.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axis=1 is the detail that trips people up — remember it as 'operate across the row', receiving the full row as a Series with column-name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index=False is the single most commonly forgotten flag — without it, every exported CSV gains an unwanted, meaningless first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kind of Pandas workflow students will write regularly as QEA engineers — load, count statuses, isolate failures, break down by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pass_rate one-liner chains groupby, apply, and a lambda together — a good checkpoint for whether the whole week's concepts have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Load, inspect, clean, enrich — the first half of a realistic end-to-end data workflow, chaining nearly every concept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Filter, aggregate, sort — the second half of the pipeline. Named aggregations (mean_score='mean') give cleanly labeled output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mirroring the written reading's summary — the richest single summary table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official getting-started tutorials, Real Python's DataFrame guide, and Kaggle's free interactive Pandas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0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740664" cy="347472"/>
          </a:xfrm>
          <a:prstGeom prst="rect">
            <a:avLst/>
          </a:prstGeom>
          <a:solidFill>
            <a:srgbClr val="8C6FE3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0" y="2148840"/>
            <a:ext cx="740664" cy="347472"/>
          </a:xfrm>
          <a:prstGeom prst="rect">
            <a:avLst/>
          </a:prstGeom>
          <a:solidFill>
            <a:srgbClr val="8C6FE3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23160" y="2148840"/>
            <a:ext cx="740664" cy="347472"/>
          </a:xfrm>
          <a:prstGeom prst="rect">
            <a:avLst/>
          </a:prstGeom>
          <a:solidFill>
            <a:srgbClr val="8C6FE3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532888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0" y="2532888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23160" y="2532888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916936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2916936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2916936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3300984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45920" y="3300984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23160" y="3300984"/>
            <a:ext cx="740664" cy="347472"/>
          </a:xfrm>
          <a:prstGeom prst="rect">
            <a:avLst/>
          </a:prstGeom>
          <a:solidFill>
            <a:srgbClr val="241A42"/>
          </a:solidFill>
          <a:ln w="9525">
            <a:solidFill>
              <a:srgbClr val="3A2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BE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1488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Series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DataFrames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749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2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NumPy is the engine, Pandas is the vehicle you actually drive — the primary data manipulation library in Python.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441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work with Pandas Series (1D labeled arrays).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7685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inspect Pandas DataFrames (2D tables).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20954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from a CSV file using pd.read_csv().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1422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columns, filter rows, and handle missing data.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74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 and iloc for precise row and column selection.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30568" y="13441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columns, sort data, and compute grouped aggregations with groupby().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2350008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355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227685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vectorized string operations using the .str accessor.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3282696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35508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30568" y="320954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custom transformations with .apply().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4215384"/>
            <a:ext cx="365760" cy="365760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35508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30568" y="41422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processed results back to a CSV with .to_csv().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453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and transform datasets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414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prepare data for modelling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2826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engineers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results, filter failures, compute pass rates, flag regressions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8191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import Pandas with the community-standard alias pd. You'll also often need NumPy alongside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952500"/>
          </a:xfrm>
          <a:prstGeom prst="roundRect">
            <a:avLst>
              <a:gd name="adj" fmla="val 7680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3090672"/>
            <a:ext cx="10607040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both to your requirements file: `pip freeze &gt; requirements.txt`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Series?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one-dimensional labeled array. Each element has a label called an index — think of it as a single column from a spreadsheet. Built on top of a NumPy array, with an index layer on top.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2108200"/>
          </a:xfrm>
          <a:prstGeom prst="roundRect">
            <a:avLst>
              <a:gd name="adj" fmla="val 3470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313432"/>
            <a:ext cx="10607040" cy="17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pd.Series([92, 78, 85, 90, 65])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   92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  78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  85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  90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   65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dtype: int64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Index &amp; Accessing Values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index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216660"/>
          </a:xfrm>
          <a:prstGeom prst="roundRect">
            <a:avLst>
              <a:gd name="adj" fmla="val 6013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887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pd.Series(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[92, 78, 85, 90, 65],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index=["Alice","Bob","Charlie","Diana","Eve"]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values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scores["Alice"]           # 92 — by label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scores[0]                 # 92 — by position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scores[["Alice","Diana"]] # select multiple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scores["Bob":"Diana"]     # end label INCLUDED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Operations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108200"/>
          </a:xfrm>
          <a:prstGeom prst="roundRect">
            <a:avLst>
              <a:gd name="adj" fmla="val 3470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7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+ 5           # add 5 to every score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* 0.9         # scale every score to 90%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&gt; 80          # returns a boolean Series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scores[scores &gt; 80]  # filter: keep only scores above 80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scores.mean()        # 82.0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scores.max()         # 92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scores.idxmax()      # Alice — index label of the maximum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scores.describe()    # count, mean, std, min, quartiles, max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a Series are vectorized — they apply to every element simultaneously, exactly as in NumPy.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DataFrame?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two-dimensional table: rows and columns, like a spreadsheet or SQL table. Each column is a Series; all columns share the same row index — think of it as an ordered dict of Series.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1901825"/>
          </a:xfrm>
          <a:prstGeom prst="roundRect">
            <a:avLst>
              <a:gd name="adj" fmla="val 3846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221992"/>
            <a:ext cx="10607040" cy="15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["Alice","Bob","Charlie","Diana","Eve"],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"score": [92, 78, 85, 90, 65],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"passed": [True, True, True, True, False],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"cohort": ["A", "B", "A", "B", "A"],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Inspection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doing anything with a DataFrame, always inspect it first — these commands run on every new dataset.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93392"/>
            <a:ext cx="106070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# (5, 4) — 5 rows, 4 columns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      # data type of each column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    # Index(['name','score','passed','cohort'])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df.index       # RangeIndex(start=0, stop=5, step=1)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df.head(3)     # first 3 rows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df.tail(2)     # last 2 rows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# column types, non-null counts, memory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# summary statistics, numeric columns only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Columns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844040"/>
          </a:xfrm>
          <a:prstGeom prst="roundRect">
            <a:avLst>
              <a:gd name="adj" fmla="val 3967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column — returns a Series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df["score"]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df.score        # attribute-style (only if a valid identifier)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columns — returns a DataFrame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df[["name", "score"]]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35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brackets with one column name return a Series; double brackets (a list of names) return a DataFrame.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Rows: loc vs. iloc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8C6F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6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selects by LABEL.    </a:t>
            </a:r>
            <a:r>
              <a:rPr lang="en-US" sz="1500" b="1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iloc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selects by INTEGER POSITION, regardless of the index.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064240" cy="1101090"/>
          </a:xfrm>
          <a:prstGeom prst="roundRect">
            <a:avLst>
              <a:gd name="adj" fmla="val 6644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10607040" cy="77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df.loc[0]                        # row with index label 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df.loc[2, "name"]                # row label 2, column "name" -&gt; "Charlie"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df.loc[1:3, ["name", "score"]]   # rows 1 to 3 INCLUSIVE, two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rule for loc: the slice end is INCLUSIVE. df.loc[1:3] returns rows 1, 2, AND 3.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iloc — Position-Based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150620"/>
          </a:xfrm>
          <a:prstGeom prst="roundRect">
            <a:avLst>
              <a:gd name="adj" fmla="val 6358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821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     # first row (position 0)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df.iloc[0, 1]          # row 0, column 1 -&gt; 92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df.iloc[1:4, 0:2]      # rows at positions 1-3, columns at positions 0-1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rule for iloc: the slice end is EXCLUSIVE, just like regular Python slicing. df.iloc[1:4] returns positions 1, 2, and 3 (not 4).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Side-by-Side: A Custom String Index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df_custom = pd.DataFrame({...}, index=["r0","r1","r2","r3"])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 uses the string labels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df_custom.loc["r0"]                 # first row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df_custom.loc["r1":"r2"]            # rows r1 AND r2 (inclusive)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iloc uses integer positions — ignores "r0","r1" entirely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df_custom.iloc[0]                   # first row (position 0)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df_custom.iloc[1:3]                 # positions 1 and 2 (exclusive stop)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loc when you know the label and want readable code; use iloc when you need position-based access.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Rows (Boolean Indexing)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520950"/>
          </a:xfrm>
          <a:prstGeom prst="roundRect">
            <a:avLst>
              <a:gd name="adj" fmla="val 2902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high_scores = df[df["score"] &gt; 80]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conditions — parentheses required, use &amp; or |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cohort_a_high = df[(df["cohort"] == "A") &amp; (df["score"] &gt; 80)]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.query() — readable string syntax alternative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cohort_a_high = df.query("cohort == 'A' and score &gt; 80")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 negates a boolean condition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did_not_pass = df[~df["passed"]]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CSV Files with pd.read_csv()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355850"/>
          </a:xfrm>
          <a:prstGeom prst="roundRect">
            <a:avLst>
              <a:gd name="adj" fmla="val 3105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02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"data/students.csv",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sep=",",                              # delimiter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header=0,                             # row to use as column names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index_col="id",                       # column to use as index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usecols=["name", "score", "cohort"],  # only load these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dtype={"score": float},               # force a column type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na_values=["N/A", "missing", ""],     # extra NaN markers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nrows=100,                            # only first 100 rows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for Missing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042160"/>
          </a:xfrm>
          <a:prstGeom prst="roundRect">
            <a:avLst>
              <a:gd name="adj" fmla="val 3582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71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   # count of NaN values per column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df.isnull().any()     # True/False — which columns have any NaN?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df.dropna()                    # drop rows with any NaN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df.dropna(subset=["score"])    # only if this column is NaN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df_filled = df.fillna(0)                        # fill all NaN with 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df["score"] = df["score"].fillna(df["score"].mean())  # fill with mean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almost always has missing values — check immediately after loading, before doing anything else.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Columns &amp; Sorting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new columns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886460"/>
          </a:xfrm>
          <a:prstGeom prst="roundRect">
            <a:avLst>
              <a:gd name="adj" fmla="val 8252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55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df["score_percent"] = df["score"] / 100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df["passed"] = df["score"] &gt;= 70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249680"/>
          </a:xfrm>
          <a:prstGeom prst="roundRect">
            <a:avLst>
              <a:gd name="adj" fmla="val 5854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df.sort_values("score", ascending=False)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df.sort_values(["cohort", "score"],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ascending=[True, False])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a column name that doesn't yet exist to create it — the same syntax as updating an existing column.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with groupby()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DataFrame into groups (one per unique value), applies a function to each, and combines the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44040"/>
          </a:xfrm>
          <a:prstGeom prst="roundRect">
            <a:avLst>
              <a:gd name="adj" fmla="val 3967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039112"/>
            <a:ext cx="1060704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avg_by_cohort = df.groupby("cohort")["score"].mean()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aggregations at once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df.groupby("cohort")["score"].agg(["mean","min","max","count"])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combinations of two columns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pass_counts = df.groupby(["cohort","passed"]).size().reset_index(name="count")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value_counts()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844040"/>
          </a:xfrm>
          <a:prstGeom prst="roundRect">
            <a:avLst>
              <a:gd name="adj" fmla="val 3967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1060704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df["cohort"].value_counts()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  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   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Name: cohort, dtype: int64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df["grade"].value_counts()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27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how many times each unique value appears in a column — the fastest way to see a category's distribution.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.str Accessor: Vectorized String Ops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844040"/>
          </a:xfrm>
          <a:prstGeom prst="roundRect">
            <a:avLst>
              <a:gd name="adj" fmla="val 3967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 = df["name"].str.strip().str.title()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  alice smith  '] -&gt; ['Alice Smith']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df["email"] = df["email"].str.lower()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df["first_name"] = df["name"].str.split().str[0]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df["is_company_email"] = df["email"].str.endswith("@company.com")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df["has_brown"] = df["name"].str.contains("Brown", case=False)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string method to every element of a column without a loop — supports most Python string methods: .upper(), .strip(), .split(), .contains(), and more.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.apply() — Custom Transformations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636520"/>
          </a:xfrm>
          <a:prstGeom prst="roundRect">
            <a:avLst>
              <a:gd name="adj" fmla="val 2775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30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score_to_grade(score):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90: return "A"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&gt;= 80: return "B"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&gt;= 70: return "C"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&gt;= 60: return "D"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return "F"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 = df["score"].apply(score_to_grade)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 works for simple inline cases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df["score_scaled"] = df["score"].apply(lambda s: round(s / 100, 2))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36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.apply() runs a function over every element in a column — the most flexible tool when built-in operators or .str aren't expressive enough.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.apply() with axis=1 — Row-wise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744980"/>
          </a:xfrm>
          <a:prstGeom prst="roundRect">
            <a:avLst>
              <a:gd name="adj" fmla="val 4192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1060704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df["summary"] = df.apply(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row: f"{row['name']} scored {row['score']} ({row['grade']})",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axis=1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print(df["summary"].tolist())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['Alice scored 92 (A)', 'Bob scored 78 (C)', ...]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80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axis=1 to apply a function across each row instead of each column — the function receives the whole row as a Series, accessed by column name.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Results to CSV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571625"/>
          </a:xfrm>
          <a:prstGeom prst="roundRect">
            <a:avLst>
              <a:gd name="adj" fmla="val 4655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10607040" cy="124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all columns, without the row index numbers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df.to_csv("results/processed_scores.csv", index=False)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only specific columns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df[["name", "score", "grade"]].to_csv("results/grades_only.csv", index=False)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54705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354705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index=False is almost always what you want — it prevents Pandas from writing a spurious 0, 1, 2, 3... column into the file.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 Example: Analyzing Test Results (1/2)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925445"/>
          </a:xfrm>
          <a:prstGeom prst="roundRect">
            <a:avLst>
              <a:gd name="adj" fmla="val 2501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59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Columns: test_name, status, duration_ms, environment, run_date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pd.read_csv("test_results.csv")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 test runs: {len(df)}")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print(df["status"].value_counts())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PASSED 142 / FAILED 18 / SKIPPED 5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all failing tests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 = df[df["status"] == "FAILED"]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print(failures[["test_name", "environment", "duration_ms"]])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environment has the most failures?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env_failures = failures["environment"].value_counts()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 Example: Analyzing Test Results (2/2)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181350"/>
          </a:xfrm>
          <a:prstGeom prst="roundRect">
            <a:avLst>
              <a:gd name="adj" fmla="val 2299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85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Flag tests that consistently run slowly (&gt; 5 seconds)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df["slow"] = df["duration_ms"] &gt; 5000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slow_tests = (df[df["slow"]]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.groupby("test_name")["duration_ms"]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.mean()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.sort_values(ascending=False))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 rate per environment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pass_rate = df.groupby("environment").apply(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g: (g["status"] == "PASSED").sum() / len(g) * 100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).round(1)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 the failure report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failures[["test_name","environment","duration_ms"]].to_csv(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"failing_tests_report.csv", index=False)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Mini-Pipeline (1/2)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84905"/>
          </a:xfrm>
          <a:prstGeom prst="roundRect">
            <a:avLst>
              <a:gd name="adj" fmla="val 1985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335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Load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pd.read_csv("data/exam_results.csv")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Inspect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Clean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df.dropna(subset=["score"])           # drop rows with missing score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df["score"] = df["score"].astype(float)    # ensure numeric type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Enrich — add computed columns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df["passed"] = df["score"] &gt;= 70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 = df["score"].apply(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s: "A" if s &gt;= 90 else "B" if s &gt;= 80 else "C" if s &gt;= 70 else "F"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Mini-Pipeline (2/2)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925445"/>
          </a:xfrm>
          <a:prstGeom prst="roundRect">
            <a:avLst>
              <a:gd name="adj" fmla="val 2501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59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Filter — students who did not pass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 = df[~df["passed"]]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print(f"Students who did not pass: {len(failures)}")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Aggregate — summary statistics by cohort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cohort_summary = df.groupby("cohort")["score"].agg(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mean_score="mean", min_score="min", max_score="max",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pass_rate=lambda s: (s &gt;= 70).mean() * 100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).round(1)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 Sort and display top performers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df[df["grade"] == "A"].sort_values("score", ascending=False)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print(top[["name", "cohort", "score"]].to_string(index=False))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0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80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labeled array — a single column with an index; vectorized like NumPy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828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table of Series sharing an index — like a spreadsheet or SQL 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377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&amp; inspecting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77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pd.read_csv(); always check .head(), .info(), .describe(), .isnull().sum()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26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 / iloc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926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(inclusive end) / position-based (exclusive end)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474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474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df[df["col"] &gt; x]; combine with &amp; / |; negate with ~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isnull().sum(), dropna(), fillna()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572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groupby() / value_counts()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572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Split-apply-combine aggregation / count unique values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20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.str / .apply()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5120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string ops / custom transforms, column- or row-wise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5669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to_csv()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results back out; index=False to skip the row-number column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0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00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Official Documentation — Getting Started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93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introductory tutorials.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28016" cy="128016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834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Python — Pandas DataFrames 101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example-driven guide.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28016" cy="128016"/>
          </a:xfrm>
          <a:prstGeom prst="ellipse">
            <a:avLst/>
          </a:prstGeom>
          <a:solidFill>
            <a:srgbClr val="8C6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— Pandas Micro-Course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462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interactive, hands-on practice.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3770</Words>
  <Application>Microsoft Office PowerPoint</Application>
  <PresentationFormat>Widescreen</PresentationFormat>
  <Paragraphs>413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2</cp:revision>
  <dcterms:created xsi:type="dcterms:W3CDTF">2026-09-15T07:11:12Z</dcterms:created>
  <dcterms:modified xsi:type="dcterms:W3CDTF">2026-09-28T14:28:16Z</dcterms:modified>
</cp:coreProperties>
</file>