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109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14255" y="1188720"/>
            <a:ext cx="0" cy="1828800"/>
          </a:xfrm>
          <a:prstGeom prst="line">
            <a:avLst/>
          </a:prstGeom>
          <a:noFill/>
          <a:ln w="381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14255" y="2103120"/>
            <a:ext cx="1188720" cy="0"/>
          </a:xfrm>
          <a:prstGeom prst="line">
            <a:avLst/>
          </a:prstGeom>
          <a:noFill/>
          <a:ln w="381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02975" y="2103120"/>
            <a:ext cx="0" cy="914400"/>
          </a:xfrm>
          <a:prstGeom prst="line">
            <a:avLst/>
          </a:prstGeom>
          <a:noFill/>
          <a:ln w="381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13671" y="1088136"/>
            <a:ext cx="201168" cy="201168"/>
          </a:xfrm>
          <a:prstGeom prst="ellipse">
            <a:avLst/>
          </a:prstGeom>
          <a:solidFill>
            <a:srgbClr val="8250DF"/>
          </a:solidFill>
          <a:ln w="25400">
            <a:solidFill>
              <a:srgbClr val="242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13671" y="2916936"/>
            <a:ext cx="201168" cy="201168"/>
          </a:xfrm>
          <a:prstGeom prst="ellipse">
            <a:avLst/>
          </a:prstGeom>
          <a:solidFill>
            <a:srgbClr val="8250DF"/>
          </a:solidFill>
          <a:ln w="25400">
            <a:solidFill>
              <a:srgbClr val="242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02391" y="2916936"/>
            <a:ext cx="201168" cy="201168"/>
          </a:xfrm>
          <a:prstGeom prst="ellipse">
            <a:avLst/>
          </a:prstGeom>
          <a:solidFill>
            <a:srgbClr val="2DA44E"/>
          </a:solidFill>
          <a:ln w="25400">
            <a:solidFill>
              <a:srgbClr val="242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331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Requests, Merging,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Branch Protection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206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bring changes together safely — and how a QE uses PRs and branch protection to gate every merge.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READING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2880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Pull Request is and why teams use them instead of merging directly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29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346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full lifecycle of a Pull Request on GitHub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84048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causes a merge conflict and resolve one step by step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484632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4632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branch protection rules on GitHub to enforce code quality standards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SOLO COMMITS TO TEAM COLLABORATION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6035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not just a personal tool — it's a collaboration platform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developers (and QEs!) work on the same codebase simultaneously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process is needed to bring those changes together safely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511296"/>
            <a:ext cx="60350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QE, you will:</a:t>
            </a:r>
            <a:endParaRPr lang="en-US" sz="155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PRs for your test code</a:t>
            </a:r>
            <a:endParaRPr lang="en-US" sz="155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PRs written by developers</a:t>
            </a:r>
            <a:endParaRPr lang="en-US" sz="155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deployments so no code reaches main without your tests passing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4739335" cy="3291840"/>
          </a:xfrm>
          <a:prstGeom prst="roundRect">
            <a:avLst>
              <a:gd name="adj" fmla="val 1667"/>
            </a:avLst>
          </a:prstGeom>
          <a:solidFill>
            <a:srgbClr val="24292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269480" y="2331720"/>
            <a:ext cx="4099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the foundation everything else is built on.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3246120"/>
            <a:ext cx="40992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are how your team's work — including yours as a QE — is reviewed </a:t>
            </a:r>
            <a:r>
              <a:rPr lang="en-US" sz="140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integrated.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LOCAL TO SHARED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Repositories &amp; GitHub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18608" cy="2651760"/>
          </a:xfrm>
          <a:prstGeom prst="roundRect">
            <a:avLst>
              <a:gd name="adj" fmla="val 206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67128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Repository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476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.git folder on your own machine. Where you've been working so far.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70168" y="1874520"/>
            <a:ext cx="5318608" cy="2651760"/>
          </a:xfrm>
          <a:prstGeom prst="roundRect">
            <a:avLst>
              <a:gd name="adj" fmla="val 2069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44488" y="214884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4448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76008" y="2167128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Repository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28803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hosted on a server that everyone on the team can access.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644488" y="370332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the most popular host — GitLab and Bitbucket are common alternatives.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ONE-TIME SETUP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a Local Repo to GitHub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2535" y="1699260"/>
            <a:ext cx="11185855" cy="2667000"/>
          </a:xfrm>
          <a:prstGeom prst="roundRect">
            <a:avLst>
              <a:gd name="adj" fmla="val 3117"/>
            </a:avLst>
          </a:prstGeom>
          <a:solidFill>
            <a:srgbClr val="2429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8567" y="1900428"/>
            <a:ext cx="10673791" cy="1944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Tell Git where the remote is (you only do this once)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https://github.com/username/repo-name.git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the remote was added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your commits to GitHub for the first time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541520"/>
            <a:ext cx="11185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5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conventional name for your primary remote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</a:t>
            </a:r>
            <a:endParaRPr lang="en-US" sz="15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origin main as the default upstream, so future pushes can just be git push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EVERYDAY SYNC COMMANDS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Pushing and Pulling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19"/>
            <a:ext cx="6675120" cy="2593963"/>
          </a:xfrm>
          <a:prstGeom prst="roundRect">
            <a:avLst>
              <a:gd name="adj" fmla="val 3117"/>
            </a:avLst>
          </a:prstGeom>
          <a:solidFill>
            <a:srgbClr val="2429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58952" y="1937672"/>
            <a:ext cx="6163056" cy="1944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Send your local commits to GitHub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the latest changes from GitHub into your local branch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Download changes without merging them (inspect first)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06640" y="1874520"/>
            <a:ext cx="4282135" cy="2346960"/>
          </a:xfrm>
          <a:prstGeom prst="roundRect">
            <a:avLst>
              <a:gd name="adj" fmla="val 233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635240" y="2039112"/>
            <a:ext cx="382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vs. pull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423160"/>
            <a:ext cx="3824935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downloads remote changes but does NOT merge them. pull does both — fetch + merge — in one step.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54152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experienced developers prefer git fetch followed by a manual git merge, so they can see what's coming in before it lands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Pull Request?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1185855" cy="1371600"/>
          </a:xfrm>
          <a:prstGeom prst="roundRect">
            <a:avLst>
              <a:gd name="adj" fmla="val 4000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Pull Request </a:t>
            </a:r>
            <a:r>
              <a:rPr lang="en-US" sz="2000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(called a Merge Request on GitLab) is a formal proposal to merge one branch into another.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657600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comes from the act of asking the repository maintainer to “pull” your changes into the target branch.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30088" y="822960"/>
            <a:ext cx="731520" cy="7315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730088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9202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the name, a PR is much more than just a merge.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conversation.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3566160"/>
            <a:ext cx="8899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 is what I changed, here is why I changed it, please review my work before we accept it into the codebase.”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TEAM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PRs? Four Key Benefits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3186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2140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(or third) pair of eyes catches bugs, logic errors, and style issues before they reach production.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70168" y="1920240"/>
            <a:ext cx="53186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98768" y="2148840"/>
            <a:ext cx="502920" cy="50292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9876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38848" y="212140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description and comment thread become a permanent record of why a change was made.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3186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3308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Quality Gates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709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tools run your test suite automatically on every PR. If tests fail, the merge is blocked.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70168" y="3931920"/>
            <a:ext cx="53186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98768" y="4160520"/>
            <a:ext cx="502920" cy="502920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59876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38848" y="413308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Alignment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4709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keep the whole team informed about what is changing in the codebase.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SEVEN STEPS, START TO FINISH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Pull Request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63040" y="2811780"/>
            <a:ext cx="744169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960120" cy="9601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34015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67329" y="2811780"/>
            <a:ext cx="744169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07209" y="2331720"/>
            <a:ext cx="960120" cy="9601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207209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87169" y="34015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71618" y="2811780"/>
            <a:ext cx="744169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11498" y="2331720"/>
            <a:ext cx="960120" cy="9601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911498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91458" y="34015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75908" y="2811780"/>
            <a:ext cx="744169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15788" y="2331720"/>
            <a:ext cx="960120" cy="9601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615788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295748" y="34015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80197" y="2811780"/>
            <a:ext cx="744169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20077" y="2331720"/>
            <a:ext cx="960120" cy="9601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20077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000037" y="34015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84486" y="2811780"/>
            <a:ext cx="744169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24366" y="2331720"/>
            <a:ext cx="960120" cy="96012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024366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704326" y="34015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728655" y="2331720"/>
            <a:ext cx="960120" cy="96012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728655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408615" y="34015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389120"/>
            <a:ext cx="11185855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commit → push → open PR → review → merge → delete branch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Create a Feature Branch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work directly on main or develop — you create a dedicated branch: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1185855" cy="938784"/>
          </a:xfrm>
          <a:prstGeom prst="roundRect">
            <a:avLst>
              <a:gd name="adj" fmla="val 7792"/>
            </a:avLst>
          </a:prstGeom>
          <a:solidFill>
            <a:srgbClr val="2429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2670048"/>
            <a:ext cx="1067379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develop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feature/add-registration-tests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Make Your Commits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your feature/fix/tests, and commit regularly: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468879"/>
            <a:ext cx="11185855" cy="2075689"/>
          </a:xfrm>
          <a:prstGeom prst="roundRect">
            <a:avLst>
              <a:gd name="adj" fmla="val 4408"/>
            </a:avLst>
          </a:prstGeom>
          <a:solidFill>
            <a:srgbClr val="2429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2670048"/>
            <a:ext cx="10673791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tests/test_registration.py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happy path test for user registration"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tests/test_registration.py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negative tests for duplicate email and weak password"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Push Your Branch to GitHub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1185855" cy="640080"/>
          </a:xfrm>
          <a:prstGeom prst="roundRect">
            <a:avLst>
              <a:gd name="adj" fmla="val 11429"/>
            </a:avLst>
          </a:prstGeom>
          <a:solidFill>
            <a:srgbClr val="2429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58952" y="2075688"/>
            <a:ext cx="106737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feature/add-registration-tests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834640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push, GitHub will usually display a banner suggesting you open a PR for the recently pushed branch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Open the Pull Request on GitHub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1118585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repository and click “Compare &amp; pull request” (or Pull Requests tab → “New pull request”)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 creation form, you: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branch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834640"/>
            <a:ext cx="8168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want your changes to go — usually develop or main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511296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35112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branch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511296"/>
            <a:ext cx="8168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feature branch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187952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title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4187952"/>
            <a:ext cx="8168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concise summary of what this PR does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864608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31520" y="4864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description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4864608"/>
            <a:ext cx="8168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what changed, why, and how to test it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Good PR Description?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556434" cy="2377440"/>
          </a:xfrm>
          <a:prstGeom prst="roundRect">
            <a:avLst>
              <a:gd name="adj" fmla="val 2308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1906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itself — what was modified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79394" y="1965960"/>
            <a:ext cx="2556434" cy="2377440"/>
          </a:xfrm>
          <a:prstGeom prst="roundRect">
            <a:avLst>
              <a:gd name="adj" fmla="val 2308"/>
            </a:avLst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562274" y="219456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62274" y="2743200"/>
            <a:ext cx="21906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was needed — context and reasoning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1965960"/>
            <a:ext cx="2556434" cy="2377440"/>
          </a:xfrm>
          <a:prstGeom prst="roundRect">
            <a:avLst>
              <a:gd name="adj" fmla="val 2308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38748" y="219456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test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2743200"/>
            <a:ext cx="21906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reviewer can verify the change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32341" y="1965960"/>
            <a:ext cx="2556434" cy="2377440"/>
          </a:xfrm>
          <a:prstGeom prst="roundRect">
            <a:avLst>
              <a:gd name="adj" fmla="val 2308"/>
            </a:avLst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315221" y="219456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315221" y="2743200"/>
            <a:ext cx="21906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or output logs, if applicable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663440"/>
            <a:ext cx="1118585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teams have a PR template that structures this for you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Review Process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20240"/>
            <a:ext cx="6400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opening the PR, your teammates are notified. A reviewer will:</a:t>
            </a:r>
            <a:endParaRPr lang="en-US" sz="15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 (the list of changed lines) in the GitHub UI</a:t>
            </a:r>
            <a:endParaRPr lang="en-US" sz="15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inline comments on specific lines</a:t>
            </a:r>
            <a:endParaRPr lang="en-US" sz="15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general comments on the PR as a whole</a:t>
            </a:r>
            <a:endParaRPr lang="en-US" sz="15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changes, or approve the PR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737360"/>
            <a:ext cx="4647895" cy="182880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0" y="1920240"/>
            <a:ext cx="4099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XPath looks fragile — can we use a data-testid attribute?”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16052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author: respond to comments, push additional commits if changes are requested — the PR updates automatically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92928" y="1188720"/>
            <a:ext cx="1005840" cy="100584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592928" y="1188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Merge the Pull Request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3291840"/>
            <a:ext cx="8534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all reviewers have approved and all required CI checks pass, click “Merge pull request”. The changes are merged into the base branch.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PR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— Clean 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merging, delete the feature branch — it has served its purpose: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468879"/>
            <a:ext cx="11185855" cy="1870207"/>
          </a:xfrm>
          <a:prstGeom prst="roundRect">
            <a:avLst>
              <a:gd name="adj" fmla="val 5322"/>
            </a:avLst>
          </a:prstGeom>
          <a:solidFill>
            <a:srgbClr val="2429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2670048"/>
            <a:ext cx="10673791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 on GitHub (GitHub usually offers this in the UI after merging)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 locally: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feature/add-registration-tests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 # Get the merged changes into your local develop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MERGE CONFLICTS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a Merge Conflict?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1185855" cy="1188720"/>
          </a:xfrm>
          <a:prstGeom prst="roundRect">
            <a:avLst>
              <a:gd name="adj" fmla="val 4615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merge conflict occurs when two branches have both modified the same line (or lines) of the same file, and Git cannot automatically determine which version is correct.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29000"/>
            <a:ext cx="1118585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very good at merging — it handles changes to different files, and even different parts of the same file, automatically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when two developers edit the exact same line, Git needs a human to decide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SAME LINE, TWO BRANCHES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Scenario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531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 — feature/update-error-message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line 42 of login.py to: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5318608" cy="1051560"/>
          </a:xfrm>
          <a:prstGeom prst="roundRect">
            <a:avLst>
              <a:gd name="adj" fmla="val 6957"/>
            </a:avLst>
          </a:prstGeom>
          <a:solidFill>
            <a:srgbClr val="2429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2852928"/>
            <a:ext cx="48065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ValueError(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 address is not valid.")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1874520"/>
            <a:ext cx="531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 — feature/refactor-validation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same line 42 to: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70168" y="2651760"/>
            <a:ext cx="5318608" cy="1051560"/>
          </a:xfrm>
          <a:prstGeom prst="roundRect">
            <a:avLst>
              <a:gd name="adj" fmla="val 6957"/>
            </a:avLst>
          </a:prstGeom>
          <a:solidFill>
            <a:srgbClr val="2429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26200" y="2852928"/>
            <a:ext cx="48065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ValidationError(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"Invalid email format provided.")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069080"/>
            <a:ext cx="11185855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try to merge either into develop, the second merge produces a conflict — Git cannot know which error message is correct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CONFLICT MARKERS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Conflict Looks Like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11185855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pauses the merge and marks the conflicting sections in the affected file: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11185855" cy="1917192"/>
          </a:xfrm>
          <a:prstGeom prst="roundRect">
            <a:avLst>
              <a:gd name="adj" fmla="val 4642"/>
            </a:avLst>
          </a:prstGeom>
          <a:solidFill>
            <a:srgbClr val="2429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2624328"/>
            <a:ext cx="10673791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ValueError("Email address is not valid.")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ValidationError("Invalid email format provided.")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feature/refactor-validation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CONFLICT MARKERS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Decoding the Markers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4023360" cy="1005840"/>
          </a:xfrm>
          <a:prstGeom prst="roundRect">
            <a:avLst>
              <a:gd name="adj" fmla="val 4545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965960"/>
            <a:ext cx="6842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this, until =======, is what the current branch (the one you're merging INTO) has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4023360" cy="1005840"/>
          </a:xfrm>
          <a:prstGeom prst="roundRect">
            <a:avLst>
              <a:gd name="adj" fmla="val 4545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154680"/>
            <a:ext cx="6842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the two conflicting versions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343400"/>
            <a:ext cx="4023360" cy="1005840"/>
          </a:xfrm>
          <a:prstGeom prst="roundRect">
            <a:avLst>
              <a:gd name="adj" fmla="val 4545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43434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feature/refactor-validation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4343400"/>
            <a:ext cx="6842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between ======= and this line is what the incoming branch has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CONFLICT RESOLUTION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Resolving a Conflict, Step by Step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1118585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status</a:t>
            </a:r>
            <a:endParaRPr lang="en-US" sz="1450" dirty="0"/>
          </a:p>
          <a:p>
            <a:pPr marL="457200" lvl="1" indent="-2286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which files have conflicts (listed under “Unmerged paths”)</a:t>
            </a:r>
            <a:endParaRPr lang="en-US" sz="145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each conflicted file</a:t>
            </a:r>
            <a:endParaRPr lang="en-US" sz="1450" dirty="0"/>
          </a:p>
          <a:p>
            <a:pPr marL="457200" lvl="1" indent="-2286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&lt;&lt;&lt;&lt;&lt;&lt;&lt; to find each conflict</a:t>
            </a:r>
            <a:endParaRPr lang="en-US" sz="145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correct final version:</a:t>
            </a:r>
            <a:endParaRPr lang="en-US" sz="1450" dirty="0"/>
          </a:p>
          <a:p>
            <a:pPr marL="457200" lvl="1" indent="-2286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current branch, keep incoming branch, or write something new combining both</a:t>
            </a:r>
            <a:endParaRPr lang="en-US" sz="145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resolved file</a:t>
            </a:r>
            <a:endParaRPr lang="en-US" sz="1450" dirty="0"/>
          </a:p>
          <a:p>
            <a:pPr marL="457200" lvl="1" indent="-2286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login.py</a:t>
            </a:r>
            <a:endParaRPr lang="en-US" sz="145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merge with a commit</a:t>
            </a:r>
            <a:endParaRPr lang="en-US" sz="1450" dirty="0"/>
          </a:p>
          <a:p>
            <a:pPr marL="457200" lvl="1" indent="-2286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"Merge feature/refactor-validation into develop..."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MAKE IT EASIER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for Conflict Resolution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484778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70989" y="224028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70989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conflict UI: “Accept Current Change”, “Accept Incoming Change”, “Accept Both Changes”, “Compare Changes”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3458" y="1965960"/>
            <a:ext cx="3484778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21528" y="224028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82152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36338" y="29260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/ PyCharm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82058" y="342900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Three-panel merge dialog: current, result (center), and incoming changes side by side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03997" y="1965960"/>
            <a:ext cx="3484778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72066" y="2240280"/>
            <a:ext cx="548640" cy="54864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67206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86877" y="29260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mergetool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342900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configured external merge tool (e.g. vimdiff, KDiff3)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THE BEST CONFLICT IS THE ONE THAT NEVER HAPPENS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Merge Conflicts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4767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branches short-lived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2316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a branch lives, the more it diverges from develop. Merge within a few days.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3244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64528" y="194767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Pull/rebase from develop frequently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64528" y="242316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develop or git rebase develop to stay in sync with the team.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63931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11480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team before refactoring a large shared file so they can plan around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4448" y="365760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2444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64528" y="3639312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commits small and focused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64528" y="4114800"/>
            <a:ext cx="47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changes to fewer files mean less overlap with teammates.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ENFORCING STANDARDS AUTOMATICALLY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Protection Rules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20240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you configure on GitHub so no one can accidentally (or intentionally) push unreviewed code to your critical branches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411480" cy="41148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788920"/>
            <a:ext cx="10591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repository on GitHub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355848"/>
            <a:ext cx="10591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Settings → Branches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922776"/>
            <a:ext cx="411480" cy="41148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922776"/>
            <a:ext cx="10591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“Branch protection rules,” click “Add rule”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489704"/>
            <a:ext cx="411480" cy="411480"/>
          </a:xfrm>
          <a:prstGeom prst="ellipse">
            <a:avLst/>
          </a:prstGeom>
          <a:solidFill>
            <a:srgbClr val="825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4489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489704"/>
            <a:ext cx="10591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“Branch name pattern,” type main (or develop)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THE MOST CRITICAL RULE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a Pull Request Before Merging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anyone from pushing directly to the protected branch — all changes must come through a PR.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SUB-OPTIONS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611880"/>
            <a:ext cx="11185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approvals</a:t>
            </a:r>
            <a:endParaRPr lang="en-US" sz="15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minimum number of approving reviews before the PR can be merged (commonly 1 or 2)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stale pull request approvals when new commits are pushed</a:t>
            </a:r>
            <a:endParaRPr lang="en-US" sz="15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author pushes more commits after an approval, the approvals are reset — prevents sneaking in bad changes after approval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GATE THE MERGE ON CI/CD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Status Checks to Pass Before Merging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65960"/>
            <a:ext cx="11185855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the merge on the results of your CI/CD pipeline</a:t>
            </a:r>
            <a:endParaRPr lang="en-US" sz="16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automated test suite runs on every PR, you can require that all tests pass before anyone can click “Merge”</a:t>
            </a:r>
            <a:endParaRPr lang="en-US" sz="16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test literally blocks the merge button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TEST AGAINST CURRENT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Branches to Be Up to Date Before Merging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65960"/>
            <a:ext cx="111858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PR author to merge the latest main (or develop) into their branch before they can merge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tests run against the most up-to-date codebase, not a stale version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FOR SENSITIVE REPOSITORIES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Restricting Push Access &amp; Bypassing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18608" cy="27432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who can push to matching branches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which GitHub users or teams are allowed to push directly to the branch (bypassing PRs). Useful for very sensitive repositories where even administrators should not bypass reviews.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70168" y="1965960"/>
            <a:ext cx="5318608" cy="2743200"/>
          </a:xfrm>
          <a:prstGeom prst="roundRect">
            <a:avLst>
              <a:gd name="adj" fmla="val 2000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644488" y="219456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allow bypassing the above settings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97180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6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repository administrators can override all protection rules. Enabling this removes that ability — even admins must follow the rules. Common in regulated industries.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A QUALITY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QEs Care About Branch Protection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20240"/>
            <a:ext cx="11185855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rules are a quality gate. As a QE, you might be the person who:</a:t>
            </a:r>
            <a:endParaRPr lang="en-US" sz="165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branch protection rules for your team's repository</a:t>
            </a:r>
            <a:endParaRPr lang="en-US" sz="165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the required status checks to include your automated test suite</a:t>
            </a:r>
            <a:endParaRPr lang="en-US" sz="165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PRs and uses your approval power to block merges when tests are inadequate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02920" y="402336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40233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require status checks before merging, you embed quality enforcement directly into the development workflow — nobody can merge code that breaks the tests.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 FROM THIS READING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5855" cy="378561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repository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copy of the repo hosted on a server (e.g., GitHub) for team collaboration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 / git pull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local commits to the remote / download and merge remote changes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 (PR)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formal proposal to merge one branch into another, with built-in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lifecycle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→ commit → push → open PR → review → merge → delete branch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conflict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Occurs when two branches modify the same line; must be resolved manually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markers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&lt;&lt;&lt;&lt;&lt;&lt;&lt;, =======, &gt;&gt;&gt;&gt;&gt;&gt;&gt; delimit the two conflicting versions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Resolving a conflict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the file to the desired final state, stage, and commit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protection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settings that enforce PR reviews and status checks before merging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Pull Requests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803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Merge Conflicts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457200" cy="457200"/>
          </a:xfrm>
          <a:prstGeom prst="ellipse">
            <a:avLst/>
          </a:prstGeom>
          <a:solidFill>
            <a:srgbClr val="2DA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7490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a Branch Protection Rule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3796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Merging &amp; Branch Protection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40135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2652</Words>
  <Application>Microsoft Office PowerPoint</Application>
  <PresentationFormat>Widescreen</PresentationFormat>
  <Paragraphs>404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10</cp:revision>
  <dcterms:created xsi:type="dcterms:W3CDTF">2026-09-17T13:37:44Z</dcterms:created>
  <dcterms:modified xsi:type="dcterms:W3CDTF">2026-10-13T10:43:52Z</dcterms:modified>
</cp:coreProperties>
</file>