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496" autoAdjust="0"/>
  </p:normalViewPr>
  <p:slideViewPr>
    <p:cSldViewPr snapToGrid="0" snapToObjects="1">
      <p:cViewPr varScale="1">
        <p:scale>
          <a:sx n="64" d="100"/>
          <a:sy n="64" d="100"/>
        </p:scale>
        <p:origin x="72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15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640080" cy="64008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Git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version control, Git's three-area model, and the branching workflow every QE relies on daily.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778240" y="4846320"/>
            <a:ext cx="0" cy="128016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78240" y="5394960"/>
            <a:ext cx="1463040" cy="0"/>
          </a:xfrm>
          <a:prstGeom prst="line">
            <a:avLst/>
          </a:prstGeom>
          <a:noFill/>
          <a:ln w="254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241280" y="5394960"/>
            <a:ext cx="0" cy="73152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23376" y="479145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23376" y="5340096"/>
            <a:ext cx="109728" cy="109728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186416" y="5340096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86416" y="5980176"/>
            <a:ext cx="109728" cy="10972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7863840" cy="2696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version control is and why every software team uses it.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Git's three-area model: Working Directory, Staging Area, and Repository.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core Git commands to initialize a repository, stage changes, and commit them.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switch between branches.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Git Flow branching strategy and why it exists.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09760" y="1600200"/>
            <a:ext cx="384048" cy="384048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509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09760" y="2240280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5097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09760" y="2880360"/>
            <a:ext cx="384048" cy="384048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509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509760" y="3520440"/>
            <a:ext cx="384048" cy="38404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5097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509760" y="4160520"/>
            <a:ext cx="384048" cy="384048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5097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alone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2140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on Tuesday looks fine, but by Thursday it breaks something that worked on Monday. Without version control you're stuck guessing what changed — or starting over.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89320" y="155448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2636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 team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121408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and three colleagues edit the same file at once. With no system to track who changed what and when, you constantly overwrite each other's work.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0520"/>
            <a:ext cx="10881360" cy="1213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solves both problems and is the industry-standard version control system.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professional software team — web apps, embedded systems, test automation — uses Git.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QE, you will use Git daily: checking out code to test, committing test scripts, and collaborating on automation frameworks.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FOUNDATIONS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Version Control?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583680" cy="102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(also called source control):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records changes to files over time so you can revisit any earlier version whenever you need to.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6583680" cy="1371600"/>
          </a:xfrm>
          <a:prstGeom prst="roundRect">
            <a:avLst>
              <a:gd name="adj" fmla="val 5333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Word's “Track Changes” — Git does the same thing for entire folders of code, with far more precision and power than any document editor.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80960" y="15087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C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95528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55280" y="2194560"/>
            <a:ext cx="274320" cy="27432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95528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1305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  —  Fix login bug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971800"/>
            <a:ext cx="274320" cy="274320"/>
          </a:xfrm>
          <a:prstGeom prst="ellipse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9552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907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  —  Add test suite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3749040"/>
            <a:ext cx="274320" cy="274320"/>
          </a:xfrm>
          <a:prstGeom prst="ellipse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95528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6850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  —  Initial commit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TWO KINDS OF 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Centralized vs. Distributed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CVCS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21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Version Control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663440" cy="160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server holds all the history.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check files out, edit, and check back in.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SVN (Subversion) works this way.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if the server goes down, nobody can commit or access history.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87452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874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DVCS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221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Version Control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51760"/>
            <a:ext cx="466344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developer has a complete copy of the entire repository history, locally.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most popular DVCS.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GitHub goes offline, you still have full history and can keep working.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A LITTLE HISTORY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Git's Origin 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37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Linus Torvalds created Git in 2005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3042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development of the Linux kernel.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r>
              <a:rPr lang="en-US" sz="16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designed to handle huge, fast-moving codebases.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r>
              <a:rPr lang="en-US" sz="16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built to handle large projects with thousands of files.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r>
              <a:rPr lang="en-US" sz="16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supports many branches of development happening at once.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MOST IMPORTANT MENTAL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Git's Three-Area Model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521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run a single command, understand that Git thinks of your project as existing in three distinct places at all times.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EFEDE9"/>
          </a:solidFill>
          <a:ln w="25400">
            <a:solidFill>
              <a:srgbClr val="6E76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01952" y="2880360"/>
            <a:ext cx="402336" cy="402336"/>
          </a:xfrm>
          <a:prstGeom prst="ellipse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90195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 system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you see and edit. Changes here are “untracked” or “modified” — not yet saved.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712464"/>
            <a:ext cx="685800" cy="256032"/>
          </a:xfrm>
          <a:prstGeom prst="rightArrow">
            <a:avLst/>
          </a:prstGeom>
          <a:solidFill>
            <a:srgbClr val="1C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11880" y="3383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265176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EFEDE9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79592" y="2880360"/>
            <a:ext cx="402336" cy="402336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87959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loading dock. You choose exactly which changes go into the next commit.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26680" y="3712464"/>
            <a:ext cx="685800" cy="256032"/>
          </a:xfrm>
          <a:prstGeom prst="rightArrow">
            <a:avLst/>
          </a:prstGeom>
          <a:solidFill>
            <a:srgbClr val="1C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89520" y="3383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2651760"/>
            <a:ext cx="3200400" cy="2377440"/>
          </a:xfrm>
          <a:prstGeom prst="roundRect">
            <a:avLst>
              <a:gd name="adj" fmla="val 3462"/>
            </a:avLst>
          </a:prstGeom>
          <a:solidFill>
            <a:srgbClr val="EFEDE9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857232" y="2880360"/>
            <a:ext cx="402336" cy="402336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857232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3429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Repository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 folder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0" y="4160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changes become a permanent snapshot — the full project history.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THREE-AREA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Directory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project folder on your hard drive — the files you see and edit in your code editor.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880360"/>
            <a:ext cx="932688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or changed files exist only here at first.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knows about them (shows them as “untracked” or “modified”) but has not saved them yet.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THREE-AREA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Area (the Index)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preparatory zone. Running git add moves a snapshot of a file from the Working Directory into the Staging Area — like a loading dock where you choose exactly what goes into your next save point.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880360"/>
            <a:ext cx="932688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stage one file, several files, or all changed files at once.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exists: precise control. Changed five files but only three are related? Stage just those three, commit with a meaningful message, then stage the rest separately.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THREE-AREA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Repository (.git folder)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00200"/>
            <a:ext cx="9326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run git commit, Git takes everything in the Staging Area and permanently records it as a commit (a snapshot) in the Local Repository — stored in the hidden .git folder at your project's root.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880360"/>
            <a:ext cx="932688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entire history of your project lives on your machine.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you can push these commits to a Remote Repository (like GitHub) to share with your team.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BEFORE YOU BEGIN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Git for the First Time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881360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use Git, tell it who you are — this information is attached to every commit you make.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881360" cy="916686"/>
          </a:xfrm>
          <a:prstGeom prst="roundRect">
            <a:avLst>
              <a:gd name="adj" fmla="val 6983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532888"/>
            <a:ext cx="1036929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"Your Name"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"your.email@example.com"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4166"/>
            <a:ext cx="1088136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applies these settings to every repository on your computer. You only do this once.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9140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your settings: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7166"/>
            <a:ext cx="5029200" cy="659511"/>
          </a:xfrm>
          <a:prstGeom prst="roundRect">
            <a:avLst>
              <a:gd name="adj" fmla="val 9705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04672" y="4958334"/>
            <a:ext cx="451713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Repository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project → git init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659511"/>
          </a:xfrm>
          <a:prstGeom prst="roundRect">
            <a:avLst>
              <a:gd name="adj" fmla="val 9705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04672" y="2212848"/>
            <a:ext cx="47000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45511"/>
            <a:ext cx="521208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hidden .git folder inside your project.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project is now a Git repository — nothing is committed yet.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has just started watching this folder.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project → git clone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26480" y="2011680"/>
            <a:ext cx="5212080" cy="882396"/>
          </a:xfrm>
          <a:prstGeom prst="roundRect">
            <a:avLst>
              <a:gd name="adj" fmla="val 7254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82512" y="2212848"/>
            <a:ext cx="470001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username/repository-name.git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168396"/>
            <a:ext cx="5212080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when the project already exists on GitHub (or another remote).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entire repository — all files and all history.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sets up the connection to the remote.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710946"/>
          </a:xfrm>
          <a:prstGeom prst="roundRect">
            <a:avLst>
              <a:gd name="adj" fmla="val 9003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460857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00200"/>
            <a:ext cx="5577840" cy="2058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command you will run more than any other.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you which files have been modified in the Working Directory.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 are staged (ready to be committed).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files are untracked (Git has never seen them before).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its output carefully — it always hints at what to do next.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Staging Changes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0881360" cy="20116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stages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filename.py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specific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changed and untracked files in the current directory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 -A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files in the repository (including deletions)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22960" y="40690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 </a:t>
            </a: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better practice to stage specific files rather than always using git add . — this forces you to think about what you're including in each commit.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staging, run git status again — staged files appear under “Changes to be committed.”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Committing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676656"/>
          </a:xfrm>
          <a:prstGeom prst="roundRect">
            <a:avLst>
              <a:gd name="adj" fmla="val 9459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login test for valid credentials"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42616"/>
            <a:ext cx="10881360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you write a short commit message inline.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message is brief (50 characters or fewer), describing what changed and why.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the imperative mood: “Add”, “Fix”, “Update” — not “Added” or “Fixed.”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Commit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takes a snapshot of everything in the Staging Area.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752344"/>
            <a:ext cx="320040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6459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1920240"/>
            <a:ext cx="502920" cy="50292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7490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606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generates a unique 40-character SHA-1 hash (e.g., a3f8c2…) that permanently identifies this commit.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2752344"/>
            <a:ext cx="320040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92240" y="16459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7208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606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stores the snapshot in the .git folder.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06840" y="2752344"/>
            <a:ext cx="320040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464040" y="164592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692640" y="192024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6926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60604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Area is cleared — files remain in your Working Directory.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Viewing History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710946"/>
          </a:xfrm>
          <a:prstGeom prst="roundRect">
            <a:avLst>
              <a:gd name="adj" fmla="val 9003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460857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00200"/>
            <a:ext cx="557784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all commits in reverse chronological order (newest first).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shows the full commit hash, author name and email, date/time, and commit message.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6834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more compact view: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134106"/>
            <a:ext cx="5120640" cy="676656"/>
          </a:xfrm>
          <a:prstGeom prst="roundRect">
            <a:avLst>
              <a:gd name="adj" fmla="val 9459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04672" y="3335274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CORE GIT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What Changed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693801"/>
          </a:xfrm>
          <a:prstGeom prst="roundRect">
            <a:avLst>
              <a:gd name="adj" fmla="val 9226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4700016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8321"/>
            <a:ext cx="5212080" cy="184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 line-by-line differences between your Working Directory and the last commit, for files not yet staged.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lines are additions; 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lines are deletions.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600200"/>
            <a:ext cx="5212080" cy="693801"/>
          </a:xfrm>
          <a:prstGeom prst="roundRect">
            <a:avLst>
              <a:gd name="adj" fmla="val 9226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382512" y="1801368"/>
            <a:ext cx="4700016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68321"/>
            <a:ext cx="5212080" cy="82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differences between the Staging Area and the last commit.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to review exactly what you are about to commit.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Branch?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84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 is a lightweight, movable pointer to a specific commit.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branch does not copy your entire project — it creates a new label pointing at the current commit.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made on this branch move the branch pointer forward, independently of other branches.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branch in a new repository is called main (previously master in older repos).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timelines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2240280"/>
            <a:ext cx="4389120" cy="0"/>
          </a:xfrm>
          <a:prstGeom prst="line">
            <a:avLst/>
          </a:prstGeom>
          <a:noFill/>
          <a:ln w="3175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90372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0" y="2240280"/>
            <a:ext cx="2926080" cy="1005840"/>
          </a:xfrm>
          <a:prstGeom prst="line">
            <a:avLst/>
          </a:prstGeom>
          <a:noFill/>
          <a:ln w="3175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feature/login-tests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2148840"/>
            <a:ext cx="182880" cy="18288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Branches Matter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5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branches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commits directly to the same timeline. One developer's half-finished feature could break another developer's working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212080" cy="2560320"/>
          </a:xfrm>
          <a:prstGeom prst="roundRect">
            <a:avLst>
              <a:gd name="adj" fmla="val 2857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branches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286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developer (or feature/fix) gets a safe, isolated workspace — the main branch stays stable while new work is built and tested elsewhere.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Switching Branches</a:t>
            </a:r>
            <a:endParaRPr lang="en-US" sz="3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3200400"/>
        </p:xfrm>
        <a:graphic>
          <a:graphicData uri="http://schemas.openxmlformats.org/drawingml/2006/table">
            <a:tbl>
              <a:tblPr/>
              <a:tblGrid>
                <a:gridCol w="594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branches (current marked with *)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branch (does not switch to 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branch feature/login-tests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an existing branch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switch feature/login-tests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— older syntax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checkout feature/login-tests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switch in one command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switch -c feature/login-tests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switch — older syntax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checkout -b feature/login-tests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-c is the one you'll use most — create the branch right where you need it and start working immediately.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Commits on a Branch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881360" cy="167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are on a branch, every commit you make advances only that branch's pointer.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branch pointer does not move.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working in a completely separate timeline until you choose to merge.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Merging a Branch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916686"/>
          </a:xfrm>
          <a:prstGeom prst="roundRect">
            <a:avLst>
              <a:gd name="adj" fmla="val 6983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4608576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feature/login-tests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00200"/>
            <a:ext cx="557784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branch work is complete, merge it back into main (or develop).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combines the two timelines.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4086"/>
          <a:ext cx="10881360" cy="17556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don't overlap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Fast-forward merge — simply moves the main pointer forward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overlap, resolvable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three-way merge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overlap, unresolvable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conflict — you resolve it manually (next reading)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BRANCHES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Deleting a Branch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0" cy="710946"/>
          </a:xfrm>
          <a:prstGeom prst="roundRect">
            <a:avLst>
              <a:gd name="adj" fmla="val 9003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4672" y="1801368"/>
            <a:ext cx="680313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feature/login-tests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088136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merging, the branch is no longer needed.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deletes it safely once its work is merged.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A BRANCHING 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Flow: The Big Picture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Flow, published by Vincent Driessen in 2010, gives your team a clear, consistent model for managing branches.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team uses it exactly — but its principles underlie all branching strategies.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00100" y="246888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DE9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9154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4348" y="3136392"/>
            <a:ext cx="146304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48940" y="246888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DE9"/>
          </a:solidFill>
          <a:ln w="25400">
            <a:solidFill>
              <a:srgbClr val="F050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4038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04038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3188" y="3136392"/>
            <a:ext cx="146304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97780" y="246888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DE9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8922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release/*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8922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82028" y="3136392"/>
            <a:ext cx="146304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46620" y="246888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DE9"/>
          </a:solidFill>
          <a:ln w="2540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33806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3806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30868" y="3136392"/>
            <a:ext cx="146304" cy="256032"/>
          </a:xfrm>
          <a:prstGeom prst="rightArrow">
            <a:avLst/>
          </a:prstGeom>
          <a:solidFill>
            <a:srgbClr val="6E76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395460" y="246888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FEDE9"/>
          </a:solidFill>
          <a:ln w="25400">
            <a:solidFill>
              <a:srgbClr val="C93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48690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3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hotfix/*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486900" y="3246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fix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89120"/>
            <a:ext cx="10881360" cy="106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feature/* branches off develop and merges back into develop.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release/* branches off develop and merges into both develop and main (tagged with a version).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hotfix/* branches off main and merges into both main and develop.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GIT FLOW BRANCH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&amp; develop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1C1F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01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(or master)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663440" cy="167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truth for what is currently in production.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 on main represents a production release.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commits to main are forbidden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changes arrive only via a merge from a release or hotfix branch.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FE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019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23160"/>
            <a:ext cx="4663440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integration branch.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finished features are merged into develop before they go to production.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the next release is assembled.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busiest branch on the team.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GIT FLOW BRANCH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feature/* Branches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1412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back 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feature/short-description  (e.g. feature/login-page)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600200"/>
            <a:ext cx="5577840" cy="9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feature gets its own branch.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work here without interfering with each other or with develop until the feature is complete and reviewed.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337560"/>
            <a:ext cx="10881360" cy="1739646"/>
          </a:xfrm>
          <a:prstGeom prst="roundRect">
            <a:avLst>
              <a:gd name="adj" fmla="val 3679"/>
            </a:avLst>
          </a:prstGeom>
          <a:solidFill>
            <a:srgbClr val="1C1F26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4672" y="3538728"/>
            <a:ext cx="10369296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develop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feature/login-page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work, commit, work, commit ...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develop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feature/login-page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feature/login-page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GIT FLOW BRANCH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release/* Branches</a:t>
            </a:r>
            <a:endParaRPr lang="en-US" sz="3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back 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develop and 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release/1.2.0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600200"/>
            <a:ext cx="5577840" cy="153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when develop has accumulated enough features for a release.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bug fixes, docs, and release tasks allowed — no new features.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freezes scope while the team stabilizes the release.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ready: merged into main (and tagged with the version number), and also back into develop to capture any bug fixes made during the release.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GIT FLOW BRANCH TYPES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hotfix/* Branches</a:t>
            </a:r>
            <a:endParaRPr lang="en-US" sz="3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 from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back into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main and develop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hotfix/fix-login-crash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600200"/>
            <a:ext cx="5577840" cy="1187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directly from main when a critical bug is discovered in production.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applied, tested, and merged back into both main (as a new release) and develop (so the fix isn't lost in the next release).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i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 emergency fix reach production without waiting on in-progress work on develop.</a:t>
            </a:r>
            <a:endParaRPr lang="en-US" sz="14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TESTING AGAINST GIT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 QE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0881360" cy="521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Quality Engineer, you will run automated tests against specific branches. Understanding Git Flow tells you what kind of testing each branch calls for:</a:t>
            </a:r>
            <a:endParaRPr lang="en-US" sz="1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0881360" cy="2377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testing it calls for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feature/*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 single, isolated piece of new functionality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testing — does everything play together?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release/*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testing — is the upcoming release stable?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tests in production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3F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1F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881360" cy="433882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7F7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5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 every change to your project over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Directory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actual files on disk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“loading dock” — changes queued for the next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history stored in .git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init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tracking a new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add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changes from Working Directory → Staging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commit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the Staging Area as a permanent snapshot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log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commit 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lightweight pointer to a commit; enables parallel development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switch -c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and switch to a new branch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merge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one branch into another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1F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strategy with main, develop, feature, release, and hotfix branches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 Git Book (free, official)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comprehensive Git reference available — Chapters 1–3 cover everything in this reading.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146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git-scm.com/book/en/v2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Atlassian Git Tutorials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visual explanations of all Git concepts.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31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atlassian.com/git/tutorials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F050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7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Flow — Original Article by Vincent Driessen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post that defined the Git Flow strategy.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nvie.com/posts/a-successful-git-branching-model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Git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698480" y="6510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2807</Words>
  <Application>Microsoft Office PowerPoint</Application>
  <PresentationFormat>Widescreen</PresentationFormat>
  <Paragraphs>444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Git</dc:title>
  <dc:subject>PptxGenJS Presentation</dc:subject>
  <dc:creator>QEA Program</dc:creator>
  <cp:lastModifiedBy>Jasdhir Singh</cp:lastModifiedBy>
  <cp:revision>7</cp:revision>
  <dcterms:created xsi:type="dcterms:W3CDTF">2026-09-17T13:29:49Z</dcterms:created>
  <dcterms:modified xsi:type="dcterms:W3CDTF">2026-10-14T11:42:24Z</dcterms:modified>
</cp:coreProperties>
</file>