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38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15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8580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intro_to_python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Python is, how it runs, and use its core building blocks — data types, operators, and console I/O — confidently.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reading, you will be able to: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90472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Python is and where it is used in the industry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difference between an interpreter and a compiler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and verify the installation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Python REPL for quick experimentation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activate a virtual environment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90472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use all of Python's primitive (built-in) data types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arithmetic, comparison, logical, assignment, identity, and membership operators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identifier naming rules and Python's reserved keywords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print() and input() for console interaction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one of two core languages in this program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Java are the two primary languages of this entire program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Python to write test scripts, interact with APIs, automate browser actions with Playwright and Selenium, and even work with AI models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readable syntax, massive testing-library ecosystem (pytest, requests, playwright, behave), and first-class data manipulation make it ideal for test automation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this program, Python consistently ranks among the top 2–3 most popular languages worldwide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dominance in data science and AI means QEs who know Python are in very high demand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0" y="1536192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0" y="1719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 toolkit built on Python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2176272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· WHAT IS PYTHON?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high-level, general-purpose, interpreted language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58368" y="14447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676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Guido van Rossum and first released in 1991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isn't from the snake — it's a nod to Monty Python's Flying Circus, the British comedy group van Rossum was a fan of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0" y="187452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95528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2514600"/>
          <a:ext cx="34747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Guido van Rossum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released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Monty 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· WHAT IS PYTHON?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“High-level”: Python hides the hardware from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think about memory addresses, CPU registers, or binary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instructions close to plain English — Python handles the lower-level details for you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· WHAT IS PYTHON?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“General-purpose”: not built for one domain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64240" cy="320040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tools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development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Django, Flask, FastAPI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&amp; ML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NumPy, Pandas, scikit-learn, TensorFlow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automation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pytest, Selenium, Playwright, Behave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Scripting &amp; automation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administration, file processing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and consuming REST services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LLM integration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OpenAI, Anthropic, Hugging Face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28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QE, you'll primarily use Python for test automation, API testing, and AI integration.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· WHAT IS PYTHON?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philosophy: the Zen of Python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 import this  in any Python shell to read it in full.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5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848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“Beautiful is better than ugly.”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5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8620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“Explicit is better than implicit.”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63931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5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6393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“Readability counts.”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41655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5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44165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should be one — and preferably only one — obvious way to do it.”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· WHAT IS PYTHON?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 vs. Python 3 — always use Python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was released in 2008 and introduced breaking changes from Python 2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 reached end-of-life on January 1, 2020 — no more bug fixes or security patches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 3.9 or newer for this program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 print "hello" without parentheses online, that's Python 2 — ignore it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· INTERPRETER VS. COMPILER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computer actually run your code?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important conceptual distinctions in programming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· INTERPRETER VS. COMPILER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languages (C, C++, Go)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1064240" cy="660146"/>
          </a:xfrm>
          <a:prstGeom prst="roundRect">
            <a:avLst>
              <a:gd name="adj" fmla="val 11081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10661904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Code (.c, .cpp)  -&gt;  [Compiler]  -&gt;  Machine Code (.exe)  -&gt;  CPU executes directly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4938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very fast — no translation overhead at runtime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errors caught at compile 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424938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recompile every time you change the code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is specific to one OS + CPU architecture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is a hybrid: it compiles to bytecode, which runs on the JVM — “write once, run anywhere.”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· INTERPRETER VS. COMPILER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languages (traditionally)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1064240" cy="660146"/>
          </a:xfrm>
          <a:prstGeom prst="roundRect">
            <a:avLst>
              <a:gd name="adj" fmla="val 11081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10661904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Code (.py)  -&gt;  [Interpreter reads and runs each line]  -&gt;  Output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4938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immediately, no compile step — great for rapid prototyping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Platform-independent: same .py runs on Windows/macOS/Linux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REPL — run one line at a 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424938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Traditionally slower than fully compiled languages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errors only appear at runtime, when that line runs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· INTERPRETER VS. COMPILER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Python actually fit?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compiles your source to bytecode — stored in .pyc files inside __pycache__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Virtual Machine (PVM) then interprets that bytecode at runtime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16352"/>
            <a:ext cx="11064240" cy="660146"/>
          </a:xfrm>
          <a:prstGeom prst="roundRect">
            <a:avLst>
              <a:gd name="adj" fmla="val 11081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3017520"/>
            <a:ext cx="10661904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Code (.py) -&gt; [CPython compiles] -&gt; Bytecode (.pyc) -&gt; [PVM interprets] -&gt; Output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136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“Compiled to bytecode, then interpreted.” As a developer you never manage the bytecode — Python just feels interpreted: you write code, run it, see results.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 · INSTALLING PYTHON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install Python 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latest stable Python 3.x release from python.org/downloads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24912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installer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“Add Python to PATH” before installing — critical, or Python won't be on the command 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84832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2628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724912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from python.org is most straightforward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with Homebrew: brew install python3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084832"/>
            <a:ext cx="3566160" cy="3108960"/>
          </a:xfrm>
          <a:prstGeom prst="roundRect">
            <a:avLst>
              <a:gd name="adj" fmla="val 2941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32104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(Ubuntu/Debian)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724912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pre-installed — check with python3 --version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needed: sudo apt install python3 python3-pip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 · INSTALLING PYTHON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installation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954786"/>
          </a:xfrm>
          <a:prstGeom prst="roundRect">
            <a:avLst>
              <a:gd name="adj" fmla="val 7662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737360"/>
            <a:ext cx="494690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python3 --version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3.x.x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584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/ Linux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36192"/>
            <a:ext cx="5349240" cy="954786"/>
          </a:xfrm>
          <a:prstGeom prst="roundRect">
            <a:avLst>
              <a:gd name="adj" fmla="val 7662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64808" y="1737360"/>
            <a:ext cx="494690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--version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3.x.x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54584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(command may be “python”)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85922"/>
            <a:ext cx="11064240" cy="1231011"/>
          </a:xfrm>
          <a:prstGeom prst="roundRect">
            <a:avLst>
              <a:gd name="adj" fmla="val 5942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9808" y="3387090"/>
            <a:ext cx="1066190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pip3 --version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--version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71797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verify pip, Python's package manager, is available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 · THE PYTHON REPL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 = Read–Eval–Print Loop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shell: type one expression or statement at a time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evaluates it immediately, prints the result, and waits for your next input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by typing python3 in your terminal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 · THE PYTHON REPL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1064240" cy="3238246"/>
          </a:xfrm>
          <a:prstGeom prst="roundRect">
            <a:avLst>
              <a:gd name="adj" fmla="val 2259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10661904" cy="2835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2 + 3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"Hello" + " " + "World"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World'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type(42)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10 / 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3.3333333333333335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10 // 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exit()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8358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&gt;&gt;&gt; prompt is waiting for your input. Exit with exit() or Ctrl+D (macOS/Linux) / Ctrl+Z, Enter (Windows).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 · THE PYTHON REPL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the REPL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experiments — “Does this string method work the way I think it does?”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syntax — “How do I write a list comprehension again?”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things — no need to open a calculator app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— try a concept and see the result instantly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developers use the REPL all the time. Do not underestimate it.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 · VIRTUAL ENVIRONMENTS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dependency conflicts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needs requests version 1.x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needs requests version 2.x (breaking changes from 1.x)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globally, you can only have one version of a package at a time — installing 2.x for B breaks A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“dependency conflict” problem, and it worsens as projects and dependencies grow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 · VIRTUAL ENVIRONMENTS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an isolated sandbox per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environment is an isolated directory with its own Python installation and installed packages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you install inside it go only into that environment — separate from the global install and every other environment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giving each project its own private sandbox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 · VIRTUAL ENVIRONMENTS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activating a virtual environment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1064240" cy="678561"/>
          </a:xfrm>
          <a:prstGeom prst="roundRect">
            <a:avLst>
              <a:gd name="adj" fmla="val 10780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1066190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venv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23897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venv/ folder with its own interpreter, standard library, and site-packages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18257"/>
            <a:ext cx="3566160" cy="641731"/>
          </a:xfrm>
          <a:prstGeom prst="roundRect">
            <a:avLst>
              <a:gd name="adj" fmla="val 11399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49808" y="3019425"/>
            <a:ext cx="3163824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148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/ Linux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818257"/>
            <a:ext cx="3566160" cy="641731"/>
          </a:xfrm>
          <a:prstGeom prst="roundRect">
            <a:avLst>
              <a:gd name="adj" fmla="val 11399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44568" y="3019425"/>
            <a:ext cx="3163824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venv\Scripts\activate.bat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5148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(cmd)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818257"/>
            <a:ext cx="3566160" cy="641731"/>
          </a:xfrm>
          <a:prstGeom prst="roundRect">
            <a:avLst>
              <a:gd name="adj" fmla="val 11399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339328" y="3019425"/>
            <a:ext cx="3163824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venv\Scripts\Activate.ps1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5148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(PowerShell)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98417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activation your prompt shows (venv) $ — every pip install / python command now runs inside it.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 · VIRTUAL ENVIRONMENTS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Deactivating, and keeping venv/ out of 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5349240" cy="678561"/>
          </a:xfrm>
          <a:prstGeom prst="roundRect">
            <a:avLst>
              <a:gd name="adj" fmla="val 10780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494690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23897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(venv) prefix disappears — you're back to the global environment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490472"/>
            <a:ext cx="5349240" cy="1507236"/>
          </a:xfrm>
          <a:prstGeom prst="roundRect">
            <a:avLst>
              <a:gd name="adj" fmla="val 4853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64808" y="1691640"/>
            <a:ext cx="4946904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venv/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__pycache__/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*.pyc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305257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venv/ — it's huge, platform-specific, and rebuildable from requirements.txt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6 · PRIMITIVE DATA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whole numbers with arbitrary precision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90472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numbers: positive, negative, or zero — no decimal point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integers have arbitrary precision — as large as memory allows, unlike Java or C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59152"/>
            <a:ext cx="11064240" cy="2207006"/>
          </a:xfrm>
          <a:prstGeom prst="roundRect">
            <a:avLst>
              <a:gd name="adj" fmla="val 3315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2560320"/>
            <a:ext cx="10661904" cy="180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42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-17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big_number = 1_000_000_000  # underscores for readability (3.6+)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print(type(x))     # &lt;class 'int'&gt;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print(big_number)  # 1000000000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6 · PRIMITIVE DATA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— decimal numbers (IEEE 754 double-precision)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90472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real numbers with a decimal point, 64-bit IEEE 754 double precision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computers can't represent all decimals exactly in binary — expect subtle rounding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59152"/>
            <a:ext cx="11064240" cy="2207006"/>
          </a:xfrm>
          <a:prstGeom prst="roundRect">
            <a:avLst>
              <a:gd name="adj" fmla="val 3315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2560320"/>
            <a:ext cx="10661904" cy="180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3.14159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scientific = 1.5e10       # 15000000000.0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0.30000000000000004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round(0.1 + 0.2, 1)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6 · PRIMITIVE DATA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— immutable text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90472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double, or triple quotes (triple for multi-line strings)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you can't change characters in place, only build new strings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(3.6+) are the modern way to embed variables inside text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24912"/>
            <a:ext cx="11064240" cy="2207006"/>
          </a:xfrm>
          <a:prstGeom prst="roundRect">
            <a:avLst>
              <a:gd name="adj" fmla="val 3315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2926080"/>
            <a:ext cx="10661904" cy="180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"Alice"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print(len(name))   # 5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print(name[0])     # 'A'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print(name[-1])    # 'e'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25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print(f"My name is {name}, I am {age} years old.")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6 · PRIMITIVE DATA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— True / False (a subclass of int)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90472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values: True and False — capitalized; lowercase true/false is invalid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are actually integers: True == 1, False == 0 (avoid relying on this)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Falsy values: False, 0, 0.0, "", [], {}, None — everything else is truthy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24912"/>
            <a:ext cx="11064240" cy="1949196"/>
          </a:xfrm>
          <a:prstGeom prst="roundRect">
            <a:avLst>
              <a:gd name="adj" fmla="val 3753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2926080"/>
            <a:ext cx="10661904" cy="154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True + True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True * 5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False + 10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6 · PRIMITIVE DATA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NoneType — the absence of a value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90472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represents “nothing”/“no value” — similar to null in Java or JavaScript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only one None object — always check with is None, not == None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default function return, unset placeholder, “not found” sentinel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24912"/>
            <a:ext cx="11064240" cy="1691386"/>
          </a:xfrm>
          <a:prstGeom prst="roundRect">
            <a:avLst>
              <a:gd name="adj" fmla="val 4325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2926080"/>
            <a:ext cx="10661904" cy="1289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None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print(type(result))  # &lt;class 'NoneType'&gt;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result is None: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result found")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 · OPERATORS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90472"/>
          <a:ext cx="6675120" cy="3072384"/>
        </p:xfrm>
        <a:graphic>
          <a:graphicData uri="http://schemas.openxmlformats.org/drawingml/2006/table">
            <a:tbl>
              <a:tblPr/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5 - 3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*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 (always float)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division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//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(remainder)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5 %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90472"/>
            <a:ext cx="3566160" cy="1092899"/>
          </a:xfrm>
          <a:prstGeom prst="roundRect">
            <a:avLst>
              <a:gd name="adj" fmla="val 6693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19288" y="1691640"/>
            <a:ext cx="3163824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/ 2)   # 3.5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print(7 // 2)  # 3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print(-7 // 2) # -4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638235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division rounds toward -∞, not toward zero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 · OPERATORS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— always return bool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90472"/>
          <a:ext cx="6675120" cy="2916936"/>
        </p:xfrm>
        <a:graphic>
          <a:graphicData uri="http://schemas.openxmlformats.org/drawingml/2006/table">
            <a:tbl>
              <a:tblPr/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==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!=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&lt;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&gt;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&lt;=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&gt;=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&gt;=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90472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01000" y="1673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= and ==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130552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assigns: x = 5 stores 5 in x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compares: x == 5 asks “does x equal 5?”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 · OPERATORS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— and, or, not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90472"/>
          <a:ext cx="6675120" cy="1755648"/>
        </p:xfrm>
        <a:graphic>
          <a:graphicData uri="http://schemas.openxmlformats.org/drawingml/2006/table">
            <a:tbl>
              <a:tblPr/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must be 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and 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one 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or 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Inverts the bool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True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90472"/>
            <a:ext cx="3566160" cy="862711"/>
          </a:xfrm>
          <a:prstGeom prst="roundRect">
            <a:avLst>
              <a:gd name="adj" fmla="val 8479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19288" y="1691640"/>
            <a:ext cx="3163824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 and has_id: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print("Entry allowed")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40804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Short-circuit: A and B skips B if A is falsy; A or B skips B if A is truthy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 · OPERATORS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90472"/>
          <a:ext cx="6675120" cy="3291840"/>
        </p:xfrm>
        <a:graphic>
          <a:graphicData uri="http://schemas.openxmlformats.org/drawingml/2006/table">
            <a:tbl>
              <a:tblPr/>
              <a:tblGrid>
                <a:gridCol w="222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and assign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+ 3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 and assign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- 3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Multiply and assign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*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and assign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//=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divide and assign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//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and assign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%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**=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Exponentiate and assign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= x **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90472"/>
            <a:ext cx="3566160" cy="1359916"/>
          </a:xfrm>
          <a:prstGeom prst="roundRect">
            <a:avLst>
              <a:gd name="adj" fmla="val 5379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019288" y="1691640"/>
            <a:ext cx="3163824" cy="95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+= 5   # 15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*= 2   # 30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-= 1   # 29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 · OPERATORS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operators — is / is not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both variables point to the same object in memory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they point to different objects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536192"/>
            <a:ext cx="5394960" cy="2317496"/>
          </a:xfrm>
          <a:prstGeom prst="roundRect">
            <a:avLst>
              <a:gd name="adj" fmla="val 3157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510528" y="1737360"/>
            <a:ext cx="4992624" cy="191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None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None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is b)   # True (singleton)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[1, 2, 3]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[1, 2, 3]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== y)   # True  (same value)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is y)   # False (diff. objects)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 · OPERATORS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operators — in / not in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5394960" cy="164592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 value is found in a sequence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in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 value is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536192"/>
            <a:ext cx="5394960" cy="1838706"/>
          </a:xfrm>
          <a:prstGeom prst="roundRect">
            <a:avLst>
              <a:gd name="adj" fmla="val 3978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510528" y="1737360"/>
            <a:ext cx="4992624" cy="1436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"cherry"]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print("banana" in fruits)  # True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print("grape" not in fruits)  # True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"Hello, World!"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print("World" in text)  # True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8 · IDENTIFIERS &amp; KEYWORDS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Identifiers: naming rules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90472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digits, and underscores only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start with a digit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a Python keyword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Case-sensitive: name, Name, NAME are three different identifiers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490472"/>
            <a:ext cx="5394960" cy="2556891"/>
          </a:xfrm>
          <a:prstGeom prst="roundRect">
            <a:avLst>
              <a:gd name="adj" fmla="val 2861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510528" y="1691640"/>
            <a:ext cx="4992624" cy="215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user_name = "Alice"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_private = 42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MyClass = None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INVALID (SyntaxError)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1count = 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my-variable = 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= 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67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naming conventions:</a:t>
            </a:r>
            <a:endParaRPr lang="en-US" sz="1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79392"/>
          <a:ext cx="11064240" cy="160020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&amp; functions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snake_case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UPPER_CASE_WITH_UNDERSCORES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PascalCase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“Private” identifiers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 a single underscore (_internal_value)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8 · IDENTIFIERS &amp; KEYWORDS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words Python has already claimed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2078101"/>
          </a:xfrm>
          <a:prstGeom prst="roundRect">
            <a:avLst>
              <a:gd name="adj" fmla="val 3520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737360"/>
            <a:ext cx="10661904" cy="1675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   await    else     import   pass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    break    except   in       raise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  class    finally  is       return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    continue for      lambda   try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      def      from     nonlocal while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  del      global   not      with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   elif     if       or       yield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69157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Python 3.11. See the current list with: import keyword; print(keyword.kwlist)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9194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memorize these — your editor highlights them, and Python raises a SyntaxError if you misuse one.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9 · INPUT &amp;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with print()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1064240" cy="2796286"/>
          </a:xfrm>
          <a:prstGeom prst="roundRect">
            <a:avLst>
              <a:gd name="adj" fmla="val 2616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10661904" cy="23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World!")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print("Name:", "Alice", "Age:", 25)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Name: Alice Age: 25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print("2024", "01", "15", sep="-")   # 2024-01-15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print("Loading", end=""); print("...", end=""); print(" done!")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Loading... done!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"Bob"; score = 97.5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print(f"{name} scored {score:.1f}%")  # Bob scored 97.5%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162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controls the separator between values; end controls what's printed instead of a newline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9 · INPUT &amp;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with input() — always returns a string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1064240" cy="2464816"/>
          </a:xfrm>
          <a:prstGeom prst="roundRect">
            <a:avLst>
              <a:gd name="adj" fmla="val 2968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10661904" cy="206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age_string = input("Enter your age: ")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print(type(age_string))   # &lt;class 'str'&gt;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int(input("Enter your age: "))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print(type(age))          # &lt;class 'int'&gt;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            # math now works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float(input("Enter the price: "))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101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input() always returns a string — convert with int() or float() before doing math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56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user types something unconvertible, Python raises a ValueError. Handling it with try/except comes on Wednesday.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9 · INPUT &amp;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together: a grade calculator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11064240" cy="3855149"/>
          </a:xfrm>
          <a:prstGeom prst="roundRect">
            <a:avLst>
              <a:gd name="adj" fmla="val 1898"/>
            </a:avLst>
          </a:prstGeom>
          <a:solidFill>
            <a:srgbClr val="0F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1691640"/>
            <a:ext cx="10661904" cy="3452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print("=== Student Grade Calculator ===")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student_name = input("Enter student name: 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score1 = float(input("Enter score 1 (out of 100): "))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score2 = float(input("Enter score 2 (out of 100): "))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score3 = float(input("Enter score 3 (out of 100): "))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= (score1 + score2 + score3) / 3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print(f"Average score: {average:.2f}%")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average &gt;= 90: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"A"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average &gt;= 80: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"B"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etc.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print(f"Grade: {grade}")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(1 OF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language &amp; tooling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90472"/>
          <a:ext cx="11064240" cy="4535424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High-level, general-purpose, interpreted; ideal for test automation and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Interpreted vs Compiled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compiles to bytecode, PVM interprets; rapid dev, platform-independent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Installing 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from python.org; always Python 3; verify with python3 --version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shell for quick experiments; open with python3; exit with exit()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per-project package sandbox; python3 -m venv venv; add venv/ to .gitignore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numbers, arbitrary precision in Python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numbers; beware floating-point 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(2 OF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language mechanics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90472"/>
          <a:ext cx="11064240" cy="4535424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text; single, double, or triple quotes; f-strings for embedding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 (capitalized); subclass of 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None singleton; represents “no value”; check with is 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- * / // % ** · == != &lt; &gt; · and or not · is ·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for variables/functions; cannot start with digit or be a keyword; snake_case convention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 words (if, for, def, etc.); cannot be used as identifiers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print() / input()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print() outputs with sep/end options; input() reads a string — convert with int()/float()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F1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 RESOURCES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exploring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64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Official Documentation — The Python Tutorial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305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Chapters 1–3 for a solid foundation.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docs.python.org/3/tutorial/index.html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1363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Python — Python Basics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021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articles with many examples.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94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realpython.com/python-basics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370832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5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4507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— Style Guide for Python Code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73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style guide; read the first half now, the rest as you learn more.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66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peps.python.org/pep-0008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6537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3441</Words>
  <Application>Microsoft Office PowerPoint</Application>
  <PresentationFormat>Widescreen</PresentationFormat>
  <Paragraphs>596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7</cp:revision>
  <dcterms:created xsi:type="dcterms:W3CDTF">2026-09-17T13:47:42Z</dcterms:created>
  <dcterms:modified xsi:type="dcterms:W3CDTF">2026-10-13T15:29:53Z</dcterms:modified>
</cp:coreProperties>
</file>