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8449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Frame today as the shift from 'a script that runs top to bottom' to 'a program that responds to data and conditions' — the core of real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objectives: one bookkeeping topic (requirements.txt, promised on Tuesday), then the two-part core of the day — scope and control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both halves of the day with concrete QE-relevant examples, then land on the direct line to Friday's Pandas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bridges directly from Tuesday's pip reading — requirements.txt is the promised 'full detail tomorrow' topic. The -r flag reads requirements from a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 freeze captures direct installs plus every transitive dependency, which is what makes the environment fully reproducible.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Ties requirements.txt back to Monday's Git reading — it's committed, venv/ is gitignored. This closes the loop on environment reproducibility.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nested-rings visual mirrors the written reading's box diagram: Python walks from the innermost (Local) ring outward to Built-in, stopping at the first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lifecycle: created on call, destroyed on return. This is why message doesn't exist outside greet().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distinction: reading a global needs nothing special, but *reassigning* one requires the global keyword or Python creates a shadowing local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Closures are a preview of a powerful pattern: a function that remembers state between calls. Same UnboundLocalError logic applies here as with global.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all three print(x) calls in order, naming which scope resolves each. Then flag the built-in-shadowing trap as a real, easy-to-make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Indentation defines the block. elif lets you chain as many conditions as needed; the trailing else is optional but acts as a catch-all.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falsy-values list is worth memorizing — it's the single most common source of 'why did my if statement do that' confusion for beginners.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Ternary is a syntax convenience for simple assignments only — don't nest ternaries or use them for anything with side effects. Chained comparisons are a genuine Python readability win over other languages.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range() is the most common way to repeat code a fixed number of times. Note all three forms: stop-only, start+stop, and start+stop+step (including negative step for counting down).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the manual-counter version against enumerate() explicitly — this is a strong 'more Pythonic' teaching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multiplication table example row by row — this is the clearest way to make 'inner loop completes fully per outer iteration'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of the most-used loop control keywords — break stops everything, continue only skips the current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distinctly Python feature many other languages lack. Emphasize: else here means 'no break happened', not 'the condition was false' as in an if/else.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immediately with for: while is for unknown iteration counts. The infinite-loop risk is the single biggest new hazard this introduces.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canonical 'keep asking until valid' pattern — students will reuse it constantly, e.g. for retry logic in test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password-attempt example mirrors the earlier for-loop else clause exactly, just applied to while — reinforce that it's the same rule in both loop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clean decision table students can refer back to whenever they're deciding which loop construct fits a new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 recap mirroring the written reading's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students to the official if/for docs and the Real Python LEGB deep dive for further reading.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4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31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234440" y="2103120"/>
            <a:ext cx="822960" cy="640080"/>
          </a:xfrm>
          <a:prstGeom prst="diamond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0" y="2743200"/>
            <a:ext cx="0" cy="457200"/>
          </a:xfrm>
          <a:prstGeom prst="line">
            <a:avLst/>
          </a:prstGeom>
          <a:noFill/>
          <a:ln w="25400">
            <a:solidFill>
              <a:srgbClr val="9B87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45920" y="3200400"/>
            <a:ext cx="0" cy="365760"/>
          </a:xfrm>
          <a:prstGeom prst="line">
            <a:avLst/>
          </a:prstGeom>
          <a:noFill/>
          <a:ln w="25400">
            <a:solidFill>
              <a:srgbClr val="9B87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45920" y="3200400"/>
            <a:ext cx="548640" cy="365760"/>
          </a:xfrm>
          <a:prstGeom prst="line">
            <a:avLst/>
          </a:prstGeom>
          <a:noFill/>
          <a:ln w="25400">
            <a:solidFill>
              <a:srgbClr val="E0A4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05840" y="3520440"/>
            <a:ext cx="219456" cy="219456"/>
          </a:xfrm>
          <a:prstGeom prst="ellipse">
            <a:avLst/>
          </a:prstGeom>
          <a:solidFill>
            <a:srgbClr val="9B87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84832" y="3520440"/>
            <a:ext cx="219456" cy="219456"/>
          </a:xfrm>
          <a:prstGeom prst="ellipse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663440" y="214884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Flow, Scope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Loops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7490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BC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Decisions, name resolution, and repetition — the three things that turn a script into a program.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24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ORIENTED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420624" cy="420624"/>
          </a:xfrm>
          <a:prstGeom prst="ellipse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4173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7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requirements.txt manages and reproduces project dependencies.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420624" cy="420624"/>
          </a:xfrm>
          <a:prstGeom prst="ellipse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788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6974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7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local, global, and nonlocal scope and predict which value Python uses.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069080"/>
            <a:ext cx="420624" cy="420624"/>
          </a:xfrm>
          <a:prstGeom prst="ellipse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9776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7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if / elif / else chains to make decisions.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55080" y="1508760"/>
            <a:ext cx="420624" cy="420624"/>
          </a:xfrm>
          <a:prstGeom prst="ellipse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355080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14173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7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loops to iterate over sequences and other iterables.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55080" y="2788920"/>
            <a:ext cx="420624" cy="420624"/>
          </a:xfrm>
          <a:prstGeom prst="ellipse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355080" y="2788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26974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7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while loops to repeat actions until a condition is met.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355080" y="4069080"/>
            <a:ext cx="420624" cy="420624"/>
          </a:xfrm>
          <a:prstGeom prst="ellipse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355080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39776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7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break, continue, and else clauses on loops effectively.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24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7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real program makes decisions and repeats work: check if an element exists before clicking it, loop through thousands of records skipping invalid ones, retry a failed request until it succeeds.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53492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D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496312"/>
            <a:ext cx="146304" cy="146304"/>
          </a:xfrm>
          <a:prstGeom prst="ellipse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97280" y="2423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Flow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260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7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a program runs the same lines top to bottom and stops. With it, a program responds to input, data, and conditions.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2240280"/>
            <a:ext cx="53492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D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46520" y="2496312"/>
            <a:ext cx="146304" cy="146304"/>
          </a:xfrm>
          <a:prstGeom prst="ellipse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720840" y="2423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9260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7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a team trust that a variable in one function won't collide with a same-named variable elsewhere — the basis of safe, reusable functions.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24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requirements.txt File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7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plain-text list of your project's Python packages and their exact versions. One command installs precisely the right setup: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2E2452"/>
          </a:solidFill>
          <a:ln w="12700">
            <a:solidFill>
              <a:srgbClr val="2E24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2176272"/>
            <a:ext cx="10607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17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one, each teammate must guess which packages and versions to install — version mismatches cause bugs that are extremely difficult to diagnose. This file eliminates that ambiguity.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24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It &amp; Version Specifiers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" cy="292608"/>
          </a:xfrm>
          <a:prstGeom prst="rect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Freeze your environment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49240" cy="923544"/>
          </a:xfrm>
          <a:prstGeom prst="roundRect">
            <a:avLst>
              <a:gd name="adj" fmla="val 7921"/>
            </a:avLst>
          </a:prstGeom>
          <a:solidFill>
            <a:srgbClr val="2E2452"/>
          </a:solidFill>
          <a:ln w="12700">
            <a:solidFill>
              <a:srgbClr val="2E24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993392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venv/bin/activate   # activate venv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requests       # install packages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freeze &gt; requirements.txt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864" cy="292608"/>
          </a:xfrm>
          <a:prstGeom prst="rect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33679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Pinned vs. flexible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2E2452"/>
          </a:solidFill>
          <a:ln w="12700">
            <a:solidFill>
              <a:srgbClr val="2E24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0" y="1993392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requests==2.31.0        # exact (most reproducible)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requests&gt;=2.28.0        # minimum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requests~=2.31.0        # compatible release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requests&gt;=2.28.0,&lt;3.0.0 # range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03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exact pins (==) in application projects for repeatable builds; flexible specifiers in libraries so downstream projects aren't forced into conflicts.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24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 Team Workflow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94960" cy="1664208"/>
          </a:xfrm>
          <a:prstGeom prst="roundRect">
            <a:avLst>
              <a:gd name="adj" fmla="val 4396"/>
            </a:avLst>
          </a:prstGeom>
          <a:solidFill>
            <a:srgbClr val="2E2452"/>
          </a:solidFill>
          <a:ln w="12700">
            <a:solidFill>
              <a:srgbClr val="2E24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493776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your-project/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.gitignore          # should include venv/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requirements.txt    # committed to Git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main.py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venv/               # NOT committed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2E2452"/>
          </a:solidFill>
          <a:ln w="12700">
            <a:solidFill>
              <a:srgbClr val="2E24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00800" y="1627632"/>
            <a:ext cx="48920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https://github.com/your-org/your-project.git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your-project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venv venv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venv/bin/activate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319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7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travels with your code in Git. A teammate who clones and runs these five commands ends up in an environment identical to yours.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24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Scope? The LEGB Rule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7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is the region where a name is visible. Python searches four nested scopes, in this order, and stops at the first match: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10607040" cy="621792"/>
          </a:xfrm>
          <a:prstGeom prst="roundRect">
            <a:avLst>
              <a:gd name="adj" fmla="val 8824"/>
            </a:avLst>
          </a:prstGeom>
          <a:solidFill>
            <a:srgbClr val="2E24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005840" y="201168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01168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01168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8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len, print, range, int, list ...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920240" y="2724912"/>
            <a:ext cx="8412480" cy="621792"/>
          </a:xfrm>
          <a:prstGeom prst="roundRect">
            <a:avLst>
              <a:gd name="adj" fmla="val 8824"/>
            </a:avLst>
          </a:prstGeom>
          <a:solidFill>
            <a:srgbClr val="4A3C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2103120" y="2724912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272491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724912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8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at module (file) level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017520" y="3438144"/>
            <a:ext cx="6217920" cy="621792"/>
          </a:xfrm>
          <a:prstGeom prst="roundRect">
            <a:avLst>
              <a:gd name="adj" fmla="val 8824"/>
            </a:avLst>
          </a:prstGeom>
          <a:solidFill>
            <a:srgbClr val="6350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200400" y="3438144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703320" y="343814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Enclosing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760720" y="3438144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8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outer function's names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0" y="4151376"/>
            <a:ext cx="4937760" cy="621792"/>
          </a:xfrm>
          <a:prstGeom prst="roundRect">
            <a:avLst>
              <a:gd name="adj" fmla="val 8824"/>
            </a:avLst>
          </a:prstGeom>
          <a:solidFill>
            <a:srgbClr val="7C5C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3840480" y="4151376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343400" y="4151376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415137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8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function's own namespace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24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Scope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2157984"/>
          </a:xfrm>
          <a:prstGeom prst="roundRect">
            <a:avLst>
              <a:gd name="adj" fmla="val 3390"/>
            </a:avLst>
          </a:prstGeom>
          <a:solidFill>
            <a:srgbClr val="2E2452"/>
          </a:solidFill>
          <a:ln w="12700">
            <a:solidFill>
              <a:srgbClr val="2E24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greet():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 = "Hello, trainee!"  # local variable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print(message)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Hello, trainee!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print(message)  # NameError: name 'message' is not defined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created inside a function is local to that function — created fresh each call, destroyed when the function returns. Calls never share local variables.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24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Scope &amp; the global Keyword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" cy="292608"/>
          </a:xfrm>
          <a:prstGeom prst="rect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global — no declaration needed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49240" cy="1911096"/>
          </a:xfrm>
          <a:prstGeom prst="roundRect">
            <a:avLst>
              <a:gd name="adj" fmla="val 3828"/>
            </a:avLst>
          </a:prstGeom>
          <a:solidFill>
            <a:srgbClr val="2E2452"/>
          </a:solidFill>
          <a:ln w="12700">
            <a:solidFill>
              <a:srgbClr val="2E24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993392"/>
            <a:ext cx="489204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company = "Revature"   # global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introduce():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print("Welcome to", company)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introduce()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Welcome to Revature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864" cy="292608"/>
          </a:xfrm>
          <a:prstGeom prst="rect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33679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Reassigning needs global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349240" cy="1911096"/>
          </a:xfrm>
          <a:prstGeom prst="roundRect">
            <a:avLst>
              <a:gd name="adj" fmla="val 3828"/>
            </a:avLst>
          </a:prstGeom>
          <a:solidFill>
            <a:srgbClr val="2E2452"/>
          </a:solidFill>
          <a:ln w="12700">
            <a:solidFill>
              <a:srgbClr val="2E24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0" y="1993392"/>
            <a:ext cx="489204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 = 0   # global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increment():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global counter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counter += 1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increment()  # counter is now 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977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`global`, `counter += 1` raises UnboundLocalError — Python sees the assignment and treats counter as local. Best practice: use global sparingly; prefer passing arguments and returning results.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24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Nonlocal Scope &amp; Closures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7315200" cy="3639312"/>
          </a:xfrm>
          <a:prstGeom prst="roundRect">
            <a:avLst>
              <a:gd name="adj" fmla="val 2010"/>
            </a:avLst>
          </a:prstGeom>
          <a:solidFill>
            <a:srgbClr val="2E2452"/>
          </a:solidFill>
          <a:ln w="12700">
            <a:solidFill>
              <a:srgbClr val="2E24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581912"/>
            <a:ext cx="6858000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make_counter():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 = 0             # enclosing scope variable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increment():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nonlocal count    # refer to the enclosing 'count'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 += 1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count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increment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my_counter = make_counter()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print(my_counter())   # 1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print(my_counter())   # 2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print(my_counter())   # 3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001000" y="1554480"/>
            <a:ext cx="3611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7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`nonlocal` modifies a variable in the enclosing function, not global scope.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7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to `make_counter()` creates a fresh `count` and a new `increment` closing over it.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7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pattern is called a closure — a stateful function without a class.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24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LEGB Walk-Through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6309360" cy="3639312"/>
          </a:xfrm>
          <a:prstGeom prst="roundRect">
            <a:avLst>
              <a:gd name="adj" fmla="val 2010"/>
            </a:avLst>
          </a:prstGeom>
          <a:solidFill>
            <a:srgbClr val="2E2452"/>
          </a:solidFill>
          <a:ln w="12700">
            <a:solidFill>
              <a:srgbClr val="2E24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581912"/>
            <a:ext cx="5852160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"global"          # G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outer():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"enclosing"   # E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inner():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 = "local"   # L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print(x)      # "local"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inner()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print(x)          # "enclosing"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outer()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print(x)              # "global"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040880" y="1417320"/>
            <a:ext cx="4572000" cy="1828800"/>
          </a:xfrm>
          <a:prstGeom prst="roundRect">
            <a:avLst>
              <a:gd name="adj" fmla="val 3000"/>
            </a:avLst>
          </a:prstGeom>
          <a:solidFill>
            <a:srgbClr val="2E24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269480" y="1572768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0A458"/>
                </a:solidFill>
              </a:rPr>
              <a:t>Never shadow a built-in: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 = 42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print(len("hi"))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TypeError: 'int' object is not callable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480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7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print(x) resolves to the nearest x in LEGB order. Naming a variable after a built-in (len, list, str) silently breaks that built-in for the rest of the scope.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24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/ elif / else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" cy="292608"/>
          </a:xfrm>
          <a:prstGeom prst="rect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/ else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49240" cy="1664208"/>
          </a:xfrm>
          <a:prstGeom prst="roundRect">
            <a:avLst>
              <a:gd name="adj" fmla="val 4396"/>
            </a:avLst>
          </a:prstGeom>
          <a:solidFill>
            <a:srgbClr val="2E2452"/>
          </a:solidFill>
          <a:ln w="12700">
            <a:solidFill>
              <a:srgbClr val="2E24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993392"/>
            <a:ext cx="489204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15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age &gt;= 18: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print("You are an adult.")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print("You are a minor.")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864" cy="292608"/>
          </a:xfrm>
          <a:prstGeom prst="rect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33679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elif chains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349240" cy="2898648"/>
          </a:xfrm>
          <a:prstGeom prst="roundRect">
            <a:avLst>
              <a:gd name="adj" fmla="val 2524"/>
            </a:avLst>
          </a:prstGeom>
          <a:solidFill>
            <a:srgbClr val="2E2452"/>
          </a:solidFill>
          <a:ln w="12700">
            <a:solidFill>
              <a:srgbClr val="2E24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0" y="1993392"/>
            <a:ext cx="4892040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78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score &gt;= 90: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grade = "A"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score &gt;= 80: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grade = "B"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score &gt;= 70: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grade = "C"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grade = "F"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Grade: C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8646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evaluates top-to-bottom and runs the first True branch — all remaining branches are skipped. Only one block ever runs.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24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Conditionals &amp; Truthy/Falsy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" cy="292608"/>
          </a:xfrm>
          <a:prstGeom prst="rect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if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49240" cy="1911096"/>
          </a:xfrm>
          <a:prstGeom prst="roundRect">
            <a:avLst>
              <a:gd name="adj" fmla="val 3828"/>
            </a:avLst>
          </a:prstGeom>
          <a:solidFill>
            <a:srgbClr val="2E2452"/>
          </a:solidFill>
          <a:ln w="12700">
            <a:solidFill>
              <a:srgbClr val="2E24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993392"/>
            <a:ext cx="489204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username == "jasdhir":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is_active: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print("Welcome back!")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print("Account deactivated.")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print("User not found.")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864" cy="292608"/>
          </a:xfrm>
          <a:prstGeom prst="rect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33679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Falsy values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87452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24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   0   0.0   ""   []   {}   ()   set()   None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24231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2E2452"/>
          </a:solidFill>
          <a:ln w="12700">
            <a:solidFill>
              <a:srgbClr val="2E24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00800" y="2587752"/>
            <a:ext cx="48920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input("Enter your name: ")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name:              # True if non-empty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print(f"Hello, {name}!")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print("You did not enter a name.")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343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ifs work but hurt readability fast — use carefully. Everything not in the falsy list is truthy.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24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Ternary Expressions &amp; Chained Comparisons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" cy="292608"/>
          </a:xfrm>
          <a:prstGeom prst="rect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One-line conditional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49240" cy="923544"/>
          </a:xfrm>
          <a:prstGeom prst="roundRect">
            <a:avLst>
              <a:gd name="adj" fmla="val 7921"/>
            </a:avLst>
          </a:prstGeom>
          <a:solidFill>
            <a:srgbClr val="2E2452"/>
          </a:solidFill>
          <a:ln w="12700">
            <a:solidFill>
              <a:srgbClr val="2E24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993392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20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= "adult" if age &gt;= 18 else "minor"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print(status)   # adult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8036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value_if_true if condition else value_if_false — only for simple expressions on both sides.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4864" cy="292608"/>
          </a:xfrm>
          <a:prstGeom prst="rect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33679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Chained comparisons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172200" y="1828800"/>
            <a:ext cx="5349240" cy="1911096"/>
          </a:xfrm>
          <a:prstGeom prst="roundRect">
            <a:avLst>
              <a:gd name="adj" fmla="val 3828"/>
            </a:avLst>
          </a:prstGeom>
          <a:solidFill>
            <a:srgbClr val="2E2452"/>
          </a:solidFill>
          <a:ln w="12700">
            <a:solidFill>
              <a:srgbClr val="2E24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00800" y="1993392"/>
            <a:ext cx="489204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15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10 &lt; x &lt; 20:               # Python style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print("x is between 10 and 20")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&gt; 10 and x &lt; 20:         # equivalent, more verbose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print("x is between 10 and 20")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24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 Loop &amp; range()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" cy="292608"/>
          </a:xfrm>
          <a:prstGeom prst="rect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Iterating a collection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2E2452"/>
          </a:solidFill>
          <a:ln w="12700">
            <a:solidFill>
              <a:srgbClr val="2E24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993392"/>
            <a:ext cx="48920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 = ["apple", "banana", "cherry"]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fruit in fruits: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print(fruit)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apple / banana / cherry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864" cy="292608"/>
          </a:xfrm>
          <a:prstGeom prst="rect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33679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range(start, stop, step)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2E2452"/>
          </a:solidFill>
          <a:ln w="12700">
            <a:solidFill>
              <a:srgbClr val="2E24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0" y="1993392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range(5): print(i)          # 0 1 2 3 4</a:t>
            </a:r>
            <a:endParaRPr lang="en-US" sz="108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range(2, 6): print(i)       # 2 3 4 5</a:t>
            </a:r>
            <a:endParaRPr lang="en-US" sz="108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range(0, 10, 2): print(i)   # 0 2 4 6 8</a:t>
            </a:r>
            <a:endParaRPr lang="en-US" sz="108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range(10, 0, -1): print(i)  # 10..1</a:t>
            </a:r>
            <a:endParaRPr lang="en-US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6118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7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 loop iterates over an iterable — any object that produces items one at a time. range() produces integers without building a list in memory.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24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Iterating Strings &amp; enumerate()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" cy="292608"/>
          </a:xfrm>
          <a:prstGeom prst="rect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Strings are iterable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2E2452"/>
          </a:solidFill>
          <a:ln w="12700">
            <a:solidFill>
              <a:srgbClr val="2E24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993392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 = "Python"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char in word: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print(char)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 y t h o 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864" cy="292608"/>
          </a:xfrm>
          <a:prstGeom prst="rect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33679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enumerate() for index + value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2E2452"/>
          </a:solidFill>
          <a:ln w="12700">
            <a:solidFill>
              <a:srgbClr val="2E24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0" y="1993392"/>
            <a:ext cx="48920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index, lang in enumerate(languages):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print(index, lang)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index, lang in enumerate(languages, start=1):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print(f"{index}. {lang}")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5661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tracking an index with `i += 1` is fragile — enumerate() is the clean, Pythonic way to get both index and value together, and can start counting anywhere.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24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for Loops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400800" cy="2651760"/>
          </a:xfrm>
          <a:prstGeom prst="roundRect">
            <a:avLst>
              <a:gd name="adj" fmla="val 2759"/>
            </a:avLst>
          </a:prstGeom>
          <a:solidFill>
            <a:srgbClr val="2E2452"/>
          </a:solidFill>
          <a:ln w="12700">
            <a:solidFill>
              <a:srgbClr val="2E24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594360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Multiplication table (3x3)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row in range(1, 4):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col in range(1, 4):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print(row * col, end="\t")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   2    3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   4    6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   6    9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160020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7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 loop runs completely for every single iteration of the outer loop — a 3×3 outer/inner pair means 9 total executions of the inner body.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24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&amp; continue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" cy="292608"/>
          </a:xfrm>
          <a:prstGeom prst="rect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— exit the loop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49240" cy="1664208"/>
          </a:xfrm>
          <a:prstGeom prst="roundRect">
            <a:avLst>
              <a:gd name="adj" fmla="val 4396"/>
            </a:avLst>
          </a:prstGeom>
          <a:solidFill>
            <a:srgbClr val="2E2452"/>
          </a:solidFill>
          <a:ln w="12700">
            <a:solidFill>
              <a:srgbClr val="2E24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993392"/>
            <a:ext cx="489204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[3, 7, 2, 9, 4, 6]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i, num in enumerate(numbers):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num == 9: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found_at = i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    # stop once found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Found 9 at index 3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864" cy="292608"/>
          </a:xfrm>
          <a:prstGeom prst="rect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33679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4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continue — skip this iteration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349240" cy="1664208"/>
          </a:xfrm>
          <a:prstGeom prst="roundRect">
            <a:avLst>
              <a:gd name="adj" fmla="val 4396"/>
            </a:avLst>
          </a:prstGeom>
          <a:solidFill>
            <a:srgbClr val="2E2452"/>
          </a:solidFill>
          <a:ln w="12700">
            <a:solidFill>
              <a:srgbClr val="2E24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0" y="1993392"/>
            <a:ext cx="489204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Print only odd numbers 0-9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range(10):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 % 2 == 0: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     # skip even numbers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3 5 7 9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840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7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`break` immediately exits the nearest enclosing loop. `continue` skips the rest of the current iteration and jumps to the next one.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24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else Clause on a for Loop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2898648"/>
          </a:xfrm>
          <a:prstGeom prst="roundRect">
            <a:avLst>
              <a:gd name="adj" fmla="val 2524"/>
            </a:avLst>
          </a:prstGeom>
          <a:solidFill>
            <a:srgbClr val="2E2452"/>
          </a:solidFill>
          <a:ln w="12700">
            <a:solidFill>
              <a:srgbClr val="2E24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10607040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[3, 7, 2, 4, 6]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= 9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num in numbers: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num == target: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print(f"Found {target}")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print(f"{target} was not found in the list")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9 was not found in the list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988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else block runs only if the loop completed normally — that is, it was NOT stopped by a break. A clean alternative to a manual boolean flag.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24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while Loop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309360" cy="1417320"/>
          </a:xfrm>
          <a:prstGeom prst="roundRect">
            <a:avLst>
              <a:gd name="adj" fmla="val 5161"/>
            </a:avLst>
          </a:prstGeom>
          <a:solidFill>
            <a:srgbClr val="2E2452"/>
          </a:solidFill>
          <a:ln w="12700">
            <a:solidFill>
              <a:srgbClr val="2E24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58521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0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count &lt; 5: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print(count)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 += 1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0 1 2 3 4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040880" y="1463040"/>
            <a:ext cx="4572000" cy="2103120"/>
          </a:xfrm>
          <a:prstGeom prst="roundRect">
            <a:avLst>
              <a:gd name="adj" fmla="val 2609"/>
            </a:avLst>
          </a:prstGeom>
          <a:solidFill>
            <a:srgbClr val="2E24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269480" y="1627632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0A458"/>
                </a:solidFill>
              </a:rPr>
              <a:t>⚠ Infinite Loop Warning</a:t>
            </a:r>
            <a:endParaRPr lang="en-US" sz="1400" dirty="0"/>
          </a:p>
          <a:p>
            <a:pPr marL="0" indent="0">
              <a:buNone/>
            </a:pPr>
            <a:r>
              <a:rPr lang="en-US" sz="1300" i="1" dirty="0">
                <a:solidFill>
                  <a:srgbClr val="DCD5EE"/>
                </a:solidFill>
              </a:rPr>
              <a:t>If the condition never becomes False and there's no break, the loop runs forever. Always ensure something inside the loop changes the condition.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while loop repeats a block as long as its condition stays True. Use it when you don't know in advance how many iterations are needed.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24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while True Input-Validation Pattern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2404872"/>
          </a:xfrm>
          <a:prstGeom prst="roundRect">
            <a:avLst>
              <a:gd name="adj" fmla="val 3042"/>
            </a:avLst>
          </a:prstGeom>
          <a:solidFill>
            <a:srgbClr val="2E2452"/>
          </a:solidFill>
          <a:ln w="12700">
            <a:solidFill>
              <a:srgbClr val="2E24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10607040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raw = input("Enter a positive integer: ")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raw.isdigit() and int(raw) &gt; 0: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number = int(raw)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print("That is not a positive integer. Try again.")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print(f"You entered: {number}")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00507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`while True` creates an intentional infinite loop. The only way out is the `break` when input is finally valid — an extremely common real-world pattern.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24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break, continue &amp; else in while Loops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7315200" cy="2651760"/>
          </a:xfrm>
          <a:prstGeom prst="roundRect">
            <a:avLst>
              <a:gd name="adj" fmla="val 2759"/>
            </a:avLst>
          </a:prstGeom>
          <a:solidFill>
            <a:srgbClr val="2E2452"/>
          </a:solidFill>
          <a:ln w="12700">
            <a:solidFill>
              <a:srgbClr val="2E24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581912"/>
            <a:ext cx="685800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attempts = 0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max_attempts = 3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attempts &lt; max_attempts: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guess = input(f"Attempt {attempts+1}: ")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attempts += 1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guess == password: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print("Access granted!")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D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print("Too many failed attempts. Locked.")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001000" y="1554480"/>
            <a:ext cx="3611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7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`break` / `continue` behave identically to for loops.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7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`else` runs only if the loop ended because the condition went False — not via break.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7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guess is correct, break fires and else is skipped.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24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for vs. while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777240"/>
          </a:xfrm>
          <a:prstGeom prst="rect">
            <a:avLst/>
          </a:prstGeom>
          <a:solidFill>
            <a:srgbClr val="2E24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85800" y="155448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for when...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55448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while when...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33172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exactly how many iterations you need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33172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iteration count depends on runtime data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1106424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85800" y="310896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iterating over a collection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310896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waiting for a condition to change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88620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using range() for a fixed count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388620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implementing retry or polling logic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24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642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3716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5C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requirements.txt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3716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7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pinned dependencies for reproducible environments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9659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5C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LEGB rule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96596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7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→ Enclosing → Global → Built-in name resolution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110642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77240" y="25603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5C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/ nonlocal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56032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7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Reassign a global / an enclosing-function variable from inside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1546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5C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/ elif / else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315468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7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top-to-bottom; runs the first True branch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110642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77240" y="37490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5C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loop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374904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7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any iterable; range() for counts, enumerate() for index+value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343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5C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while loop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43434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7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while a condition is True — for unknown iteration counts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110642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77240" y="49377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5C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/ continue / else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493776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7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now / skip to next / runs only if no break occurred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E24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31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Resources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28016" cy="128016"/>
          </a:xfrm>
          <a:prstGeom prst="ellipse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60120" y="1600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Official Docs — The if Statement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9933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5A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canonical reference for conditional syntax.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128016" cy="128016"/>
          </a:xfrm>
          <a:prstGeom prst="ellipse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60120" y="28346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Official Docs — for Statements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2278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5A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coverage of iteration and looping constructs.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128016" cy="128016"/>
          </a:xfrm>
          <a:prstGeom prst="ellipse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960120" y="40690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Python — Python Scope and the LEGB Rule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4622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5A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dive into name resolution with examples.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3094</Words>
  <Application>Microsoft Office PowerPoint</Application>
  <PresentationFormat>Widescreen</PresentationFormat>
  <Paragraphs>410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Jasdhir Singh</cp:lastModifiedBy>
  <cp:revision>4</cp:revision>
  <dcterms:created xsi:type="dcterms:W3CDTF">2026-09-14T19:53:11Z</dcterms:created>
  <dcterms:modified xsi:type="dcterms:W3CDTF">2026-09-28T14:05:27Z</dcterms:modified>
</cp:coreProperties>
</file>