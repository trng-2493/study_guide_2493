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0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41148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744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Classes in Python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four pillars of OOP, define classes with attributes and methods, and use __init__ to build real, working objects.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READING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85216" y="186537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8521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four core principles of Object-Oriented Programming (OOP)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0216" y="186537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30021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7830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Python class with attributes and methods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85216" y="323697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5216" y="3236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546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__init__ to initialize object state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0216" y="323697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300216" y="3236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1546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instance attributes and class attributes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85216" y="460857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85216" y="4608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5262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Python's object base class underpins every class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0216" y="460857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00216" y="4608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5262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Python's garbage collector manages memory automatically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significant Python codebase uses classes. Learn OOP now, and every library or framework you meet from here on will make immediate sense — not feel like a black box.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25374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508760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you'll use Friday is a class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5374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89120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object from an HTTP call is a class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69480" y="25374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269480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Page Object Model is a class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22860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49840" y="25374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149840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SDKs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S3 bucket, EC2 instance, or Lambda is an object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FOUR PILLARS OF 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OOP: Organizing Code Around Objects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is a way of organizing code around objects — bundles of data (attributes) and behavior (methods) that model real-world or conceptual entities.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880360" y="2926080"/>
            <a:ext cx="6400800" cy="2743200"/>
          </a:xfrm>
          <a:prstGeom prst="roundRect">
            <a:avLst>
              <a:gd name="adj" fmla="val 3333"/>
            </a:avLst>
          </a:prstGeom>
          <a:solidFill>
            <a:srgbClr val="10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88036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3566160"/>
            <a:ext cx="0" cy="19202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1546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4114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the object knows)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4114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the object can do)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8973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897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276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299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+ behavior; hide internals behind a clean interface.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89738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92240" y="1897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6276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0299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reuses and extends a parent class's behavior.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58902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589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19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216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classes respond to the same method call in their own way.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358902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92240" y="3589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19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7216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only essential features; hide unnecessary detail.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and the functions that operate on that data into a single unit (the class) — and controlling access to the internals. The object exposes a clean interface (its public methods) while hiding implementation details.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98280" y="219456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098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“Volume Up”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6118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button and the volume increases. You don't need to know the infrared signal frequency or the circuit that interprets it — the remote encapsulates the complexity behind a simple interface.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a new class (the child, or subclass) reuse and extend the behavior of an existing class (the parent, or superclass).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95360" y="169164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9536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0" y="246888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96112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04120" y="2240280"/>
            <a:ext cx="0" cy="228600"/>
          </a:xfrm>
          <a:prstGeom prst="line">
            <a:avLst/>
          </a:prstGeom>
          <a:noFill/>
          <a:ln w="19050">
            <a:solidFill>
              <a:srgbClr val="C7D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classes can respond to the same method call in different ways appropriate to their type.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0" y="1737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Dog.speak()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503920" y="251460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0" y="2514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Cat.speak()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329184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0" y="3291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Duck.speak()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means exposing only the essential features of an object and hiding unnecessary detail. Python's Abstract Base Classes (ABCs) formalize this.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DEFINING A CLASS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83680" cy="1472184"/>
          </a:xfrm>
          <a:prstGeom prst="roundRect">
            <a:avLst>
              <a:gd name="adj" fmla="val 4969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029968"/>
            <a:ext cx="60716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ClassName: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"""Optional docstring describing the class."""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class body: attributes and methods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8288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convention, class names use PascalCase (UpperCamelCase): every word starts with a capital letter, no underscores.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3383280"/>
            <a:ext cx="4206240" cy="384048"/>
          </a:xfrm>
          <a:prstGeom prst="roundRect">
            <a:avLst>
              <a:gd name="adj" fmla="val 83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406640" y="3383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3886200"/>
            <a:ext cx="4206240" cy="384048"/>
          </a:xfrm>
          <a:prstGeom prst="roundRect">
            <a:avLst>
              <a:gd name="adj" fmla="val 83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06640" y="3886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TraineeProfile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4389120"/>
            <a:ext cx="4206240" cy="384048"/>
          </a:xfrm>
          <a:prstGeom prst="roundRect">
            <a:avLst>
              <a:gd name="adj" fmla="val 83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06640" y="4389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Class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1055217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Dog: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"""Represents a dog with a name and breed."""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bark(self):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print("Woof!")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with one method: bark.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95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the class, you instantiate it — you create an object (an instance) from the blueprint.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Instantiating Objects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0" cy="1739646"/>
          </a:xfrm>
          <a:prstGeom prst="roundRect">
            <a:avLst>
              <a:gd name="adj" fmla="val 4205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5888736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my_dog = Dog()       # instantiate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my_dog.bark()        # Output: Woof!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another_dog = Dog()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another_dog.bark()   # Output: Woof!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389120" cy="1739646"/>
          </a:xfrm>
          <a:prstGeom prst="roundRect">
            <a:avLst>
              <a:gd name="adj" fmla="val 3154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0" y="1463040"/>
            <a:ext cx="3840480" cy="173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my_dog and another_dog are two separate objects. They share the same behavior (bark is defined once) but are independent instances.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__INIT__ 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__init__ Method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165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is the initializer (often called the constructor). Python calls it automatically every time you create a new instance of the class.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job: set up the initial state of the object by assigning values to instance attributes.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__init__ Syntax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2336978"/>
          </a:xfrm>
          <a:prstGeom prst="roundRect">
            <a:avLst>
              <a:gd name="adj" fmla="val 3130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10552176" cy="193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Dog: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breed):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     # instance attribute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self.breed = breed   # instance attribute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bark(self):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print(f"{self.name} says: Woof!")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9145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instantiation requires arguments.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__init__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2470709"/>
          </a:xfrm>
          <a:prstGeom prst="roundRect">
            <a:avLst>
              <a:gd name="adj" fmla="val 2961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5797296" cy="206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dog1 = Dog("Rex", "Labrador")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dog2 = Dog("Bella", "Poodle")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dog1.bark()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dog2.bark()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print(dog1.name)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print(dog2.breed)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389120" cy="1436522"/>
          </a:xfrm>
          <a:prstGeom prst="roundRect">
            <a:avLst>
              <a:gd name="adj" fmla="val 5092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79792" y="1664208"/>
            <a:ext cx="3877056" cy="103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 says: Woof!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Bella says: Woof!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Poodle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99100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self Parameter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method's first parameter is self. It is a reference to the instance the method is being called on.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223760" y="1463040"/>
            <a:ext cx="4389120" cy="669798"/>
          </a:xfrm>
          <a:prstGeom prst="roundRect">
            <a:avLst>
              <a:gd name="adj" fmla="val 10922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79792" y="1664208"/>
            <a:ext cx="387705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dog1.bark()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36143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automatically passes dog1 as the self argument behind the scenes. You never pass self manually when calling a method.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Is a Convention — and a Requirement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technically name this parameter anything, but by universal convention and PEP 8 requirement, it is always called self.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BE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any other name will confuse every Python developer who reads your code.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INSTANCE VS CLASS ATTRIBUTES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Attributes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attribute is specific to one object. Each object gets its own copy.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972922"/>
          </a:xfrm>
          <a:prstGeom prst="roundRect">
            <a:avLst>
              <a:gd name="adj" fmla="val 7519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944368"/>
            <a:ext cx="1055217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dog1.name   # "Rex"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dog2.name   # "Bella"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0756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and self.breed are instance attributes — each dog has its own values.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Attributes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attribute is shared by all instances of the class. It's defined directly in the class body, outside any method.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309360" cy="1900123"/>
          </a:xfrm>
          <a:prstGeom prst="roundRect">
            <a:avLst>
              <a:gd name="adj" fmla="val 3850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532888"/>
            <a:ext cx="5797296" cy="1497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species = "Canis lupus familiaris"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breed):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self.breed = breed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0" y="2331720"/>
            <a:ext cx="4389120" cy="1793138"/>
          </a:xfrm>
          <a:prstGeom prst="roundRect">
            <a:avLst>
              <a:gd name="adj" fmla="val 4080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79792" y="2532888"/>
            <a:ext cx="3877056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print(dog1.species)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print(dog2.species)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print(Dog.species)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three print: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Canis lupus familiaris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Attribute Shadows Class Attribute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an attribute with the same name on an instance creates an instance attribute that shadows the class attribute for that instance only.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1064240" cy="1472184"/>
          </a:xfrm>
          <a:prstGeom prst="roundRect">
            <a:avLst>
              <a:gd name="adj" fmla="val 4969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578608"/>
            <a:ext cx="105521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dog1.species = "Wolf (honorary)"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print(dog1.species)   # Wolf (honorary) — instance attribute wins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print(dog2.species)   # Canis lupus familiaris — unchanged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print(Dog.species)    # Canis lupus familiaris — unchanged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Rule of Thumb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be confusing at first — use this guideline to decide which kind of attribute fits.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2057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9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9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9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attribute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that is truly shared and constant across all instances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attribute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Per-object data that differs from one instance to the next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breed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METHODS — 1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Methods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methods receive self as their first argument. They can read and modify the instance's attributes.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11064240" cy="3397910"/>
          </a:xfrm>
          <a:prstGeom prst="roundRect">
            <a:avLst>
              <a:gd name="adj" fmla="val 2153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414016"/>
            <a:ext cx="10552176" cy="2995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 simple bank account model."""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initial_balance=0.0):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initial_balance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self.transactions = []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deposit(self, amount):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&lt;= 0: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print("Deposit amount must be positive.")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+= amount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self.transactions.append(f"+{amount}")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print(f"Deposited {amount}. New balance: {self.balance}")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METHODS — 2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Methods, Continued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503420"/>
          </a:xfrm>
          <a:prstGeom prst="roundRect">
            <a:avLst>
              <a:gd name="adj" fmla="val 1624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029968"/>
            <a:ext cx="10552176" cy="4101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withdraw(self, amount):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&lt;= 0: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print("Withdrawal amount must be positive.")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self.balance: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print("Insufficient funds.")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-= amount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self.transactions.append(f"-{amount}")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print(f"Withdrew {amount}. New balance: {self.balance}")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get_balance(self):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self.balance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print_statement(self):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print(f"Account owner: {self.owner}")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print(f"Current balance: {self.balance}")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print("Transaction history:")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self.transactions: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{t}")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BankAccount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1650492"/>
          </a:xfrm>
          <a:prstGeom prst="roundRect">
            <a:avLst>
              <a:gd name="adj" fmla="val 4432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74336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= BankAccount("Jasdhir", 1000.0)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account.deposit(250.0)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account.withdraw(100.0)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account.withdraw(2000.0)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account.print_statement()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5303520" cy="2185416"/>
          </a:xfrm>
          <a:prstGeom prst="roundRect">
            <a:avLst>
              <a:gd name="adj" fmla="val 3347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565392" y="1664208"/>
            <a:ext cx="47914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Deposited 250.0. New balance: 1250.0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Withdrew 100.0. New balance: 1150.0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 funds.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owner: Jasdhir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balance: 1150.0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 history: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+250.0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-100.0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7398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__str__ Method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is a special (“dunder” — double underscore) method that Python calls when you pass an object to print() or str(). It should return a human-readable string representation of the object.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__str__ in Action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3183941"/>
          </a:xfrm>
          <a:prstGeom prst="roundRect">
            <a:avLst>
              <a:gd name="adj" fmla="val 2298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5797296" cy="278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initial_balance=0.0):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initial_balance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f"BankAccount(owner={self.owner!r}, 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f"balance={self.balance:.2f})"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= BankAccount("Jasdhir", 1000.0)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print(account)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389120" cy="830275"/>
          </a:xfrm>
          <a:prstGeom prst="roundRect">
            <a:avLst>
              <a:gd name="adj" fmla="val 8811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79792" y="1664208"/>
            <a:ext cx="387705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BankAccount(owner='Jasdhir',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balance=1000.00)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384755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2951683"/>
            <a:ext cx="4389120" cy="1463040"/>
          </a:xfrm>
          <a:prstGeom prst="roundRect">
            <a:avLst>
              <a:gd name="adj" fmla="val 375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0" y="2951683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__str__, print(account) would show &lt;__main__.BankAccount object at 0x7f3c...&gt; — not useful.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PYTHON'S OBJECT BASE CLASS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an Object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every value is an object — every integer, string, list, function, and class. This has practical consequences.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2274570"/>
          </a:xfrm>
          <a:prstGeom prst="roundRect">
            <a:avLst>
              <a:gd name="adj" fmla="val 3216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852928"/>
            <a:ext cx="10552176" cy="187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42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                # &lt;class 'int'&gt;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print(isinstance(x, object))  # True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"Python"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print(type(name))             # &lt;class 'str'&gt;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print(isinstance(name, object))  # True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Inheritance from object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class in Python 3 without specifying a parent, and Python automatically makes it inherit from object.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11064240" cy="2060600"/>
          </a:xfrm>
          <a:prstGeom prst="roundRect">
            <a:avLst>
              <a:gd name="adj" fmla="val 3550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441448"/>
            <a:ext cx="10552176" cy="165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Dog: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These are equivalent in Python 3: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Dog(object):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5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you write has methods inherited from object — see them with dir(Dog): __class__, __eq__, __repr__, __str__, __hash__, __init__, and more.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Important Inherited Methods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9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9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__repr__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an “official” string representation, used by the REPL and in debugging. If __str__ isn't defined, Python falls back to __repr__.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__eq__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default compares objects by identity (same object in memory?). Can be overridden to compare by value.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Types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695069"/>
          </a:xfrm>
          <a:prstGeom prst="roundRect">
            <a:avLst>
              <a:gd name="adj" fmla="val 4316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10552176" cy="1292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= Dog("Rex", "Labrador")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print(type(dog))               # &lt;class '__main__.Dog'&gt;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print(isinstance(dog, Dog))    # True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print(isinstance(dog, object)) # True — everything inherits from object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32429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3432429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isinstance() is preferred over type() == because it handles inheritance correctly: if Puppy subclasses Dog, isinstance(puppy, Dog) is True.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GARBAGE COLLECTION BASICS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Memory Management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program creates objects, it uses memory. If memory is never freed, the program will eventually run out of it — a memory leak.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lower-level languages like C, the programmer must explicitly allocate and free memory. Python handles this automatically.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Counting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primary memory management mechanism. Every object tracks how many references point to it. When that count drops to zero, Python frees its memory.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064240" cy="3050210"/>
          </a:xfrm>
          <a:prstGeom prst="roundRect">
            <a:avLst>
              <a:gd name="adj" fmla="val 2398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532888"/>
            <a:ext cx="10552176" cy="264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this line, "hello" has a reference count of 1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"hello"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the string has a reference count of 2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= name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this, the reference count drops back to 1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name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this, the reference count drops to 0 — memory is freed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alias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7337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almost never think about reference counts directly — Python manages them for you.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Cyclic Garbage Collector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counting has one weakness: reference cycles. If A references B, and B references A, and nothing else references either, their counts never reach zero — even though they're unreachable.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7315200" cy="2488540"/>
          </a:xfrm>
          <a:prstGeom prst="roundRect">
            <a:avLst>
              <a:gd name="adj" fmla="val 2940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715768"/>
            <a:ext cx="6803136" cy="208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value):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Node(1)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Node(2)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a.next = b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b.next = a   # 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0" y="2514600"/>
            <a:ext cx="3566160" cy="2488540"/>
          </a:xfrm>
          <a:prstGeom prst="roundRect">
            <a:avLst>
              <a:gd name="adj" fmla="val 220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321040" y="2514600"/>
            <a:ext cx="3017520" cy="248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cyclic garbage collector (the gc module) periodically detects and collects these cycles automatically, in the background.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__del__ Method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calls __del__ on an object just before it's destroyed — a destructor. Rarely needed, since the garbage collector handles cleanup.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6400800" cy="2631186"/>
          </a:xfrm>
          <a:prstGeom prst="roundRect">
            <a:avLst>
              <a:gd name="adj" fmla="val 2780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487168"/>
            <a:ext cx="5888736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ManagedResource: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print(f"Acquiring {self.name}")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__del__(self):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print(f"Releasing {self.name}")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= ManagedResource("db connection")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resource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23760" y="2286000"/>
            <a:ext cx="4389120" cy="865937"/>
          </a:xfrm>
          <a:prstGeom prst="roundRect">
            <a:avLst>
              <a:gd name="adj" fmla="val 8448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79792" y="2487168"/>
            <a:ext cx="3877056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Acquiring db connection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Releasing db connection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3243377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3810305"/>
            <a:ext cx="4389120" cy="128016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98080" y="3810305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prefer context managers (with statements) over __del__ for resource cleanup.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Collection: Key Takeaway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garbage collection is largely invisible and automatic. You create objects when you need them, and Python frees the memory when they're no longer referenced.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things that makes Python fast to develop in — you spend your time solving problems, not managing memory.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— 1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Class Example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TraineeProfile demonstrates everything covered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11064240" cy="3888257"/>
          </a:xfrm>
          <a:prstGeom prst="roundRect">
            <a:avLst>
              <a:gd name="adj" fmla="val 1881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340864"/>
            <a:ext cx="10552176" cy="3485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TraineeProfile: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"""Represents a trainee enrolled in the QEA program."""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program = "Quality Engineer &amp; AI"   # class attribute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cohort, start_date):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self.cohort = cohort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self.start_date = start_date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self.completed_weeks = []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complete_week(self, week_name):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"""Mark a week as completed."""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week_name not in self.completed_weeks: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self.completed_weeks.append(week_name)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print(f"{self.name} completed: {week_name}")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print(f"{self.name} already completed: {week_name}")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— 2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Class Example, Continued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39819"/>
          </a:xfrm>
          <a:prstGeom prst="roundRect">
            <a:avLst>
              <a:gd name="adj" fmla="val 1811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029968"/>
            <a:ext cx="10552176" cy="3637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progress_report(self):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"""Print a summary of the trainee's progress."""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= len(self.completed_weeks)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print(f"Trainee: {self.name}")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print(f"Cohort:  {self.cohort}")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print(f"Program: {self.program}")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print(f"Weeks completed: {total}")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week in self.completed_weeks: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- {week}")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f"TraineeProfile("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f"name={self.name!r}, 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f"cohort={self.cohort!r}, 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f"weeks_done={len(self.completed_weeks)})"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TraineeProfile in Action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852160" cy="2256739"/>
          </a:xfrm>
          <a:prstGeom prst="roundRect">
            <a:avLst>
              <a:gd name="adj" fmla="val 3241"/>
            </a:avLst>
          </a:prstGeom>
          <a:solidFill>
            <a:srgbClr val="10203A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5340096" cy="1854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jasdhir = TraineeProfile(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"Jasdhir", "QEA-Aug-2026", "2026-08-01")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jasdhir.complete_week("Week 1 - Git &amp; Python")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jasdhir.complete_week("Week 1 - Git &amp; Python")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print(jasdhir)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jasdhir.progress_report()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0" y="1463040"/>
            <a:ext cx="4937760" cy="2461793"/>
          </a:xfrm>
          <a:prstGeom prst="roundRect">
            <a:avLst>
              <a:gd name="adj" fmla="val 2971"/>
            </a:avLst>
          </a:prstGeom>
          <a:solidFill>
            <a:srgbClr val="0B1220"/>
          </a:solidFill>
          <a:ln/>
          <a:effectLst>
            <a:outerShdw blurRad="76200" dist="254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931152" y="1664208"/>
            <a:ext cx="4425696" cy="2059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Jasdhir completed: Week 1 - Git &amp; Python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Jasdhir already completed: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Week 1 - Git &amp; Python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TraineeProfile(name='Jasdhir',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cohort='QEA-Aug-2026', weeks_done=1)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Trainee: Jasdhir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Cohort:  QEA-Aug-2026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Program: Quality Engineer &amp; AI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completed: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Week 1 - Git &amp; Python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016273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5156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organizes code into classes — blueprints for objects that bundle data (attributes) and behavior (methods).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are Encapsulation, Inheritance, Polymorphism, and Abstraction. Today's focus is Encapsulation.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initializes each new instance's attributes. It's called automatically when you instantiate a class.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is the reference to the current instance. Every instance method receives it as its first parameter.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belong to one object; class attributes are shared by all instances.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Python class implicitly inherits from object, which provides defaults for __str__, __repr__, and __eq__.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manages memory through reference counting plus a cyclic garbage collector — no manual freeing needed.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54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Official Docs — Classes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385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docs.python.org/3/tutorial/classes.html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60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Python — OOP in Python 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44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realpython.com/python3-object-oriented-programming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66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Python — Python Memory Management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9502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realpython.com/python-memory-management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3201</Words>
  <Application>Microsoft Office PowerPoint</Application>
  <PresentationFormat>Widescreen</PresentationFormat>
  <Paragraphs>485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8</cp:revision>
  <dcterms:created xsi:type="dcterms:W3CDTF">2026-09-17T16:35:17Z</dcterms:created>
  <dcterms:modified xsi:type="dcterms:W3CDTF">2026-10-15T17:21:00Z</dcterms:modified>
</cp:coreProperties>
</file>