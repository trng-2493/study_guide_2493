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11" r:id="rId28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numFmt formatCode="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Requirements</c:v>
                </c:pt>
                <c:pt idx="1">
                  <c:v>Design</c:v>
                </c:pt>
                <c:pt idx="2">
                  <c:v>Coding</c:v>
                </c:pt>
                <c:pt idx="3">
                  <c:v>Testing</c:v>
                </c:pt>
                <c:pt idx="4">
                  <c:v>Production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678-4ED6-9091-0AED21177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86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 and set the scene: today is about how software gets built and where quality fits in.</a:t>
            </a:r>
          </a:p>
          <a:p>
            <a:r>
              <a:rPr dirty="0"/>
              <a:t>- This is the first of six Monday lessons: SDLC, delivery models, STLC, Scrum events, Agile roles, Jira.</a:t>
            </a:r>
          </a:p>
          <a:p>
            <a:r>
              <a:rPr dirty="0"/>
              <a:t>- Ask: "Who has worked on a project that was late or built the wrong thing? What went wrong?"</a:t>
            </a:r>
          </a:p>
          <a:p>
            <a:r>
              <a:rPr dirty="0"/>
              <a:t>- Keep their answers; we come back to them under skipped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objectives aloud and link them to the job: a Quality Engineer (QE) adds value in every phase, not only during testing.</a:t>
            </a:r>
          </a:p>
          <a:p>
            <a:r>
              <a:t>- Objective 3 is the heart of the lesson: for each phase, ask "what can the QE do here?"</a:t>
            </a:r>
          </a:p>
          <a:p>
            <a:r>
              <a:t>- Objectives 4 and 5 explain why: early quality work is cheaper than late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 builds the vocabulary: software, defect, process, SDLC and its seven phases. About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Software is the instructions (plus data and documentation) that tell the hardware what to do.</a:t>
            </a:r>
          </a:p>
          <a:p>
            <a:r>
              <a:t>- Defect, also called a bug: the software behaves differently from what is expected.</a:t>
            </a:r>
          </a:p>
          <a:p>
            <a:r>
              <a:t>- A tester or QE helps find defects and, more importantly, helps prevent them.</a:t>
            </a:r>
          </a:p>
          <a:p>
            <a:r>
              <a:t>- Each row explains why quality needs deliberate effort: you cannot "see" software, it changes often, it is complex, and many people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Software has a life: it is conceived, built, released, maintained for years and finally retired.</a:t>
            </a:r>
          </a:p>
          <a:p>
            <a:r>
              <a:rPr dirty="0"/>
              <a:t>- Without a process: nobody agrees what is being built, work is repeated or forgotten, problems surface when it is too late to change cheaply.</a:t>
            </a:r>
          </a:p>
          <a:p>
            <a:r>
              <a:rPr dirty="0"/>
              <a:t>- A process is an agreed, repeatable way of working: steps, order, who does what, and what must exist before moving on.</a:t>
            </a:r>
          </a:p>
          <a:p>
            <a:r>
              <a:rPr dirty="0"/>
              <a:t>- Ask: "Which of these problems have you seen in a project or a group assignment?"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cycle clockwise: planning, requirements analysis, design, implementation, testing, deployment, maintenance.</a:t>
            </a:r>
          </a:p>
          <a:p>
            <a:r>
              <a:t>- The dashed line: maintenance brings feedback and new needs, which start the next cycle.</a:t>
            </a:r>
          </a:p>
          <a:p>
            <a:r>
              <a:t>- The phases are building blocks. Some teams do them once in order; others repeat small versions every two weeks. Those arrangements are SDLC models, the next lesson.</a:t>
            </a:r>
          </a:p>
          <a:p>
            <a:r>
              <a:t>- Books name phases slightly differently ("analysis", "feasibility study"); the ideas are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deck's one analogy; we reuse it for design (HLD/LLD) and for the cost of late defects.</a:t>
            </a:r>
          </a:p>
          <a:p>
            <a:r>
              <a:t>- Planning: should we build at all, with what budget and help? Requirements: talk to the family. Design: the architect's floor plan (high level) and the electrician's wiring diagram (detailed).</a:t>
            </a:r>
          </a:p>
          <a:p>
            <a:r>
              <a:t>- Testing: the inspector checks structure, plumbing, every light switch.</a:t>
            </a:r>
          </a:p>
          <a:p>
            <a:r>
              <a:t>- The callout prepares Part 3: finding a problem on paper is far cheaper than after it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Parts 2 and 3 take one slide per phase: purpose, main activities, the QE's role and a short example. Inputs, outputs and people for each phase are in these notes and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a business idea, market research, budget limits. Outputs: project plan, feasibility or business case, rough schedule and budget, risk list, scope statement.</a:t>
            </a:r>
          </a:p>
          <a:p>
            <a:r>
              <a:t>People: business owners such as Sunita, product owner Rohan, senior technical leads, often a lead QE.</a:t>
            </a:r>
          </a:p>
          <a:p>
            <a:r>
              <a:t>- Stress "out of scope" as much as "in scope": it tells the QE what not to test.</a:t>
            </a:r>
          </a:p>
          <a:p>
            <a:r>
              <a:t>- The payment sandbox lets testers simulate payments without moving real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project plan and scope, stakeholder knowledge, regulations. Outputs: a Software Requirements Specification (SRS) or a backlog of user stories with acceptance criteria.</a:t>
            </a:r>
          </a:p>
          <a:p>
            <a:r>
              <a:t>People: business analyst Farhan, product owner Rohan, stakeholders, developers (feasibility), the QE.</a:t>
            </a:r>
          </a:p>
          <a:p>
            <a:r>
              <a:t>- Functional requirements say what the system does; non-functional say how well (speed, security, usability). Friday covers this in depth.</a:t>
            </a:r>
          </a:p>
          <a:p>
            <a:r>
              <a:t>- One of the highest-value places for a QE: a question here costs minutes, a defect later costs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approved requirements, technical standards, existing architecture. Outputs: HLD and LLD documents, architecture diagrams, database designs, wireframes, interface specifications.</a:t>
            </a:r>
          </a:p>
          <a:p>
            <a:r>
              <a:t>People: architects, senior developers, UX designer Divya, security specialists, the QE.</a:t>
            </a:r>
          </a:p>
          <a:p>
            <a:r>
              <a:t>- Also review wireframes against requirements so nothing is missing.</a:t>
            </a:r>
          </a:p>
          <a:p>
            <a:r>
              <a:t>- Note which parts are good candidates for automation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HLD answers "what are the big pieces and how do they talk?" LLD answers "exactly how does this piece work?"</a:t>
            </a:r>
          </a:p>
          <a:p>
            <a:r>
              <a:t>- Example LLD rule: cart quantity must be between 1 and 20. A QE can test that rule directly.</a:t>
            </a:r>
          </a:p>
          <a:p>
            <a:r>
              <a:t>- QE questions on an HLD: what happens if one component is unavailable? Can each component be tested on its own?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pattern for the last four phases. Keep asking: what is the QE doing while this happens?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design documents, requirements, coding standards, tools. Outputs: source code, unit tests, build artifacts, a build ready for testing.</a:t>
            </a:r>
          </a:p>
          <a:p>
            <a:r>
              <a:t>People: developers, tech leads, DevOps engineer Vikram for build tools, the QE.</a:t>
            </a:r>
          </a:p>
          <a:p>
            <a:r>
              <a:t>- A unit test checks one small piece, for example the function that totals the cart.</a:t>
            </a:r>
          </a:p>
          <a:p>
            <a:r>
              <a:t>- The QE does not wait: test preparation runs in parallel with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the built software, requirements, test cases, data, environments. Outputs: test results, defect reports, a summary and a release recommendation.</a:t>
            </a:r>
          </a:p>
          <a:p>
            <a:r>
              <a:t>People: QEs lead; developers fix; BA and PO clarify; business users run user acceptance testing (UAT).</a:t>
            </a:r>
          </a:p>
          <a:p>
            <a:r>
              <a:t>- Regression testing: checking that a fix did not break something that worked before.</a:t>
            </a:r>
          </a:p>
          <a:p>
            <a:r>
              <a:t>- Pointers: STLC later today, defect lifecycle Tuesday, test design techniques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approved build, release notes, deployment instructions, infrastructure. Outputs: live software, release record, monitoring in place.</a:t>
            </a:r>
          </a:p>
          <a:p>
            <a:r>
              <a:t>People: DevOps engineer Vikram, release managers, developers, support, PO, QE.</a:t>
            </a:r>
          </a:p>
          <a:p>
            <a:r>
              <a:t>- Rollback plan: the steps to undo a release quickly.</a:t>
            </a:r>
          </a:p>
          <a:p>
            <a:r>
              <a:t>- Lessons from the example: rehearse deployments, prepare rollbacks, avoid risky releases just before the team is away, include quality input in go/no-go.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Inputs: user feedback, support tickets, monitoring data, change requests. Outputs: patches, new versions, updated documentation, retirement plans.</a:t>
            </a:r>
          </a:p>
          <a:p>
            <a:r>
              <a:t>People: support teams, developers, operations, PO, QE.</a:t>
            </a:r>
          </a:p>
          <a:p>
            <a:r>
              <a:t>- Maintenance often costs more in total than the original build.</a:t>
            </a:r>
          </a:p>
          <a:p>
            <a:r>
              <a:t>- Automation pays off most here, because the same regression checks run after every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learners to classify a change: "The app must support a new tax rule" (adaptive), "Speed up the search page" (perfective), "Users can't log in after the last release" (corrective).</a:t>
            </a:r>
          </a:p>
          <a:p>
            <a:r>
              <a:t>- Every type needs regression testing, because each change can break something that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Summary of Part 2. Point to each column and ask the room to recall the QE's role before revealing it.</a:t>
            </a:r>
          </a:p>
          <a:p>
            <a:r>
              <a:t>- Typical outputs per phase: plan and risk list; SRS or user stories with acceptance criteria; HLD/LLD and wireframes; code and builds; test results and defect reports; live system and release notes; patches and updates.</a:t>
            </a:r>
          </a:p>
          <a:p>
            <a:r>
              <a:t>- The point: quality is built in all along the way, not inspected 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3 explains the economics behind everything in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defect is not a thing sitting somewhere; it is a human mistake, for example a misunderstood requirement.</a:t>
            </a:r>
          </a:p>
          <a:p>
            <a:r>
              <a:t>- Everything built on the wrong assumption must change: designs, code, tests, documentation.</a:t>
            </a:r>
          </a:p>
          <a:p>
            <a:r>
              <a:t>- In production there is more: emergency fixes, support calls, possible fines, and reputation damage (a banking app that shows wrong balances loses trust quickly).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bars left to right: a defect fixed in requirements costs 1 unit; in design about 5; in coding about 10; in testing about 20; after release 50 to 100 times or more.</a:t>
            </a:r>
          </a:p>
          <a:p>
            <a:r>
              <a:t>- These numbers are illustrative (Barry Boehm's research and later textbooks). Organisations differ; the rising trend is what matters.</a:t>
            </a:r>
          </a:p>
          <a:p>
            <a:r>
              <a:t>- Link back to the inspector who reads the plans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Shift-left means moving quality activities earlier. It does not mean "stop testing at the end"; it means "start quality work at the beginning and keep going".</a:t>
            </a:r>
          </a:p>
          <a:p>
            <a:r>
              <a:t>- In practice: requirement and design reviews, test cases written before code, automated checks running on every change.</a:t>
            </a:r>
          </a:p>
          <a:p>
            <a:r>
              <a:t>- Goal: prevent defects, or find them while they are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Examples for discussion:</a:t>
            </a:r>
          </a:p>
          <a:p>
            <a:r>
              <a:t>- Planning: in month four the team learns the payment provider needs a certification nobody planned for.</a:t>
            </a:r>
          </a:p>
          <a:p>
            <a:r>
              <a:t>- Requirements: the business wanted guest checkout; developers built mandatory sign-up.</a:t>
            </a:r>
          </a:p>
          <a:p>
            <a:r>
              <a:t>- Design: works for 100 users, crashes at 10,000.</a:t>
            </a:r>
          </a:p>
          <a:p>
            <a:r>
              <a:t>- Testing: customers charged twice because payment retry was never tested.</a:t>
            </a:r>
          </a:p>
          <a:p>
            <a:r>
              <a:t>- Deployment: a release overwrites production data and there is no rollback plan.</a:t>
            </a:r>
          </a:p>
          <a:p>
            <a:r>
              <a:t>- Maintenance: an unpatched library is exploited by attackers.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Testing finds defects; it cannot easily fix a wrong requirement or a poor design. Quality has to be built into every phase.</a:t>
            </a:r>
          </a:p>
          <a:p>
            <a:r>
              <a:t>- Job titles differ between organisations; the QE leads on testing and quality advocacy, but everyone contributes.</a:t>
            </a:r>
          </a:p>
          <a:p>
            <a:r>
              <a:t>- Effort follows risk: a banking feature deserves more early quality work than a simple brochure site, but the same life cycle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in one sentence per point. Then preview the day: next lesson, delivery models (how phases are arranged); later today, the STLC, which zooms into the testing phase.</a:t>
            </a:r>
          </a:p>
          <a:p>
            <a:r>
              <a:t>- Through the week: requirements analysis and defect lifecycle (Tuesday), testing principles (Wednesday), test design techniques (Thursday), advanced testing (Friday).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learners to the written lesson first; these links are optional extra reading. ISTQB Foundation Level is a useful long-term target for anyone starting in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10/26/2026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10/26/2026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SDLC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How software gets built, and where quality fits in.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28216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Explain why software needs a structured process.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41448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478024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Define the SDLC and name its seven phases.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191256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27832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Describe each phase's purpose and the QE's role in it.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3941064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977640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Explain why late defects cost more, and what shift-left means.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690872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727448"/>
            <a:ext cx="10287000" cy="704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Recognise what goes wrong when phases are skipped or rushed.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and the SDLC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software is, why it needs a process, and the seven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Software?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Software = programs + data + documentation. A defect (bug) is behaviour that differs from what is expected.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240280"/>
          <a:ext cx="10972800" cy="37947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8951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Property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Why it matters for quality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1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Invisible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You can't see if it is finished or broken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We need deliberate checks (testing)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1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Easy to change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line of code is cheap to change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Every change can break something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1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Complex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Thousands of decisions and paths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"It looks fine" is not enough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1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Built by teams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Many people, many points of view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Misunderstandings cause defects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SDLC?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SDLC = Software Development Life Cycle: every stage from the first idea to retirement.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40280"/>
            <a:ext cx="10972800" cy="3703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Without a process, people build different things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Result: rework, missed deadlines, products that miss user needs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 process agrees the steps, order, owners and hand-offs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Goal: the right software, good quality, on time and budget</a:t>
            </a:r>
          </a:p>
          <a:p>
            <a:pPr marL="285750" indent="-285750">
              <a:spcAft>
                <a:spcPts val="23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Goal: work that is visible, measurable and predictable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Most texts list six or seven phases; this course uses seven.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317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1.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9856" y="23317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2. Requirements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811779"/>
            <a:ext cx="219456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27064" y="23317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3.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2811779"/>
            <a:ext cx="219456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34272" y="23317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4. Implementation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96528" y="2811779"/>
            <a:ext cx="219456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19856" y="41605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7. Maintenance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989320" y="4640580"/>
            <a:ext cx="219456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7064" y="41605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6. Deployment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796528" y="4640580"/>
            <a:ext cx="219456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34272" y="4160520"/>
            <a:ext cx="2551176" cy="9601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5. Testing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09860" y="3310127"/>
            <a:ext cx="0" cy="1330453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052560" y="4640580"/>
            <a:ext cx="125730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888236" y="4640580"/>
            <a:ext cx="1531620" cy="0"/>
          </a:xfrm>
          <a:prstGeom prst="line">
            <a:avLst/>
          </a:prstGeom>
          <a:ln w="22225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88236" y="3310127"/>
            <a:ext cx="0" cy="1330453"/>
          </a:xfrm>
          <a:prstGeom prst="line">
            <a:avLst/>
          </a:prstGeom>
          <a:ln w="22225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53492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Feedback and new needs flow back to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Building-a-House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Planning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37636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Budget, land,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9785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4773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9785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Family's needs: rooms, garden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6922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11910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86922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Floor plan, wiring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4059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Implemen-tation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7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74059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Foundations, walls, pipes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1196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6185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61196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Inspector checks every room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8333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3322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48333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Hand over the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5470" y="182880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Maintenance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60459" y="274320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35470" y="3154680"/>
            <a:ext cx="1449977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Fix a tap, add a room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KEEP THIS THOUGHT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good inspector reads the plans before the walls go up: a stair that is too steep is cheap to fix on paper.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1–3: Plan to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Deciding what to build and how, and the QE's role in each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decide whether to build it, and how (goals, scope, cost, time, risk).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Set the business goal and scope (in and out)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Check feasibility: technical, financial, legal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Estimate effort, cost and timeline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Choose the team, tools and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Raise quality risks early, e.g. online payments. Estimate test effort. Ask what "good quality" means here. Budget test environments and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Scope for a food-ordering app: card payments in version 1, loyalty points out. Ananya flags payments as high risk and asks for a payment sandbox.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Requirements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turn vague wishes into clear, testable statements of what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Interview stakeholders and run workshops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Write requirements or user stories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Review for gaps, conflicts and ambiguity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Agree acceptance criteria and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Check each requirement is clear and testable. Challenge words like "fast" or "easy". Help write acceptance criteria. Full detail on Tuesday.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"Search must be fast and easy." Ananya asks: how fast, on which devices? Result: "Results in under 2 seconds for 95% of searches."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decide how the software will meet the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Choose the architecture and technology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Design the database, screens and flows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Define interfaces to other systems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Plan for security, performance and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Review designs for testability. Ask "what if?", e.g. the payment provider is down. Plan test data and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password-reset design sends an email link but says nothing about expired or reused links. Found now: one paragraph. Found in production: a security hole.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Design: HLD and LLD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72100" cy="45262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" y="1783080"/>
            <a:ext cx="4969764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330066"/>
                </a:solidFill>
                <a:latin typeface="Arial"/>
              </a:rPr>
              <a:t>High-Level Design (HLD)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The main components and how they connect: app, server, database, payment service. Like the architect's floor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5372100" cy="4526280"/>
          </a:xfrm>
          <a:prstGeom prst="roundRect">
            <a:avLst>
              <a:gd name="adj" fmla="val 12000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4516" y="1783080"/>
            <a:ext cx="4969764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330066"/>
                </a:solidFill>
                <a:latin typeface="Arial"/>
              </a:rPr>
              <a:t>Low-Level Design (LLD)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Inside each component: modules, tables, screen rules, error messages. Like the wiring diagram for one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4–7: Build to Maintain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Building, testing, releasing and running the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turn the design into working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Write code to agreed standards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Write unit tests for small pieces of code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Review code with peers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Keep code in version control (Git) and build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Prepare test cases, data and environments while code is written. Start automation for stable areas. Check builds and unit tests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Karan codes the cart; Neha reviews his pull request; the build runs the unit tests. Meanwhile Ananya writes the checkout test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find defects, check the requirements are met, report honestly on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Run planned tests, from features to end-to-end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Log defects with clear steps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Retest fixes and run regression tests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Check performance, security, usability; users run UAT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core of the job: design and run tests, report defects, automate repeatable checks. The STLC (later today) zooms into this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discount is counted twice when the quantity changes. Ananya logs it, Karan fixes it, Ananya retests and reruns the related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release the tested software to production, where real users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Make a go/no-go decision; write release notes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Release in stages, e.g. a small group first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Prepare a rollback plan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Smoke-test straight after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Summarise known risks and open defects for go/no-go. Verify the right version is live. Run post-release smoke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Friday-evening release with no rollback plan corrupts some orders. The team repairs data by hand all weekend.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7: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5A5A"/>
                </a:solidFill>
                <a:latin typeface="Arial"/>
              </a:rPr>
              <a:t>Purpose: keep it working, useful and secure; usually the longest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86000"/>
            <a:ext cx="67208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Monitor health and handle support tickets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Fix bugs and release patches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Plan and add enhancements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1A1A1A"/>
                </a:solidFill>
                <a:latin typeface="Arial"/>
              </a:rPr>
              <a:t>Eventually retire the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3995928" cy="25146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359152"/>
            <a:ext cx="3630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QE ROLE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Test every fix and change. Grow and automate the regression suite. Study production defects to improve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93776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Orders slow down on Friday evenings: the team fixes a database issue, then adds a "reorder" button. Each change goes through the phases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3886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Corrective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Fix defects found after release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Orders fail when an address has an apostrophe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Adaptive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Suit a changed environment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 new phone OS version is released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Perfective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Improve or add features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Add a "reorder last order" button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Preventive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Clean up to avoid future problems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Rewrite a fragile, bug-prone module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in Every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Planning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37636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2648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Quality risks, test effort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9785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4773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9785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Clarity and testability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6922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11910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86922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Testability, environ-ments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74059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Implemen-tation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7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74059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Prepare tests,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1196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Testing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86185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61196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Run tests, report, advise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8333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3322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48333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Go/no-go input, smoke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35470" y="1691640"/>
            <a:ext cx="1449977" cy="8686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Maintenance</a:t>
            </a:r>
            <a:endParaRPr sz="14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0860459" y="2606040"/>
            <a:ext cx="0" cy="36576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35470" y="3017520"/>
            <a:ext cx="1449977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Regression, learn from escapes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KEY LESSON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A quality engineer has useful work in every phase, not only in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Late Defects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early quality work pays, and what goes wrong when phases are skipped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6600" b="1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Defects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 defect is a mistake a person made in some phase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Often introduced in one phase, found in a later one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The longer it hides, the more work is built on top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Late fixes mean rework of documents, code and tests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Production defects add support costs, lost sales, lost trust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 misplaced bathroom costs an eraser on paper, demolition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Cost to Fix a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45920"/>
          <a:ext cx="7498079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210312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Arial"/>
              </a:rPr>
              <a:t>Rule of thumb from Boehm and others.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Arial"/>
              </a:rPr>
              <a:t>Real numbers vary by project: read it as a trend, not a measurement.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  <a:latin typeface="Arial"/>
              </a:rPr>
              <a:t>Production can be 50–100x or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Shift-Left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8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Require-ments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025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130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27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132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029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134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031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136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033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13848" y="2514600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Maintain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03536" y="2903220"/>
            <a:ext cx="192024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8408" y="2103120"/>
            <a:ext cx="10424160" cy="0"/>
          </a:xfrm>
          <a:prstGeom prst="line">
            <a:avLst/>
          </a:prstGeom>
          <a:ln w="635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84248" y="16002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Arial"/>
              </a:rPr>
              <a:t>SHIFT-LEFT: start quality work early, and keep going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" y="3520440"/>
            <a:ext cx="10424160" cy="0"/>
          </a:xfrm>
          <a:prstGeom prst="line">
            <a:avLst/>
          </a:prstGeom>
          <a:ln w="381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13448" y="36118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C00000"/>
                </a:solidFill>
                <a:latin typeface="Arial"/>
              </a:rPr>
              <a:t>Cost to fix 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069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Review requirements and designs; write tests early; run automated checks as soon as code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892040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001768"/>
            <a:ext cx="10515600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5C8A8A"/>
                </a:solidFill>
                <a:latin typeface="Arial"/>
              </a:rPr>
              <a:t>EXAMPLE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"Free delivery over a set amount": before or after discounts? Asked in review, it is one sentence. Found after release, it is lost money and a patch.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Skipped or Rushed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91640"/>
          <a:ext cx="10972800" cy="4343395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Phase skipped or rushed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Typical consequence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Unrealistic deadlines, no budget for testing, scope creep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Requirements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The wrong thing gets built; endless rework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Fragile software that can't scale or stay secure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Implementation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Many defects, no unit tests, hard to change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Testing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Defects reach customers; emergency fixes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Deployment and maintenance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Failed releases, no way back, unpatched holes</a:t>
                      </a:r>
                    </a:p>
                  </a:txBody>
                  <a:tcPr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Treating testing as the safety net for earlier mistakes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Skipping requirement and design reviews to "save time"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Bringing the QE in only after coding is done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Accepting vague words: fast, easy, user-friendly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Releasing with no rollback plan or smoke checks</a:t>
            </a:r>
          </a:p>
          <a:p>
            <a:pPr marL="285750" indent="-285750">
              <a:spcAft>
                <a:spcPts val="2200"/>
              </a:spcAft>
              <a:buFont typeface="Arial"/>
              <a:buChar char="•"/>
            </a:pPr>
            <a:r>
              <a:rPr sz="2200" b="0">
                <a:solidFill>
                  <a:srgbClr val="1A1A1A"/>
                </a:solidFill>
                <a:latin typeface="Arial"/>
              </a:rPr>
              <a:t>Changing live software without regression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916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7282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Software is invisible and complex, so it needs a disciplined process.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4384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47497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SDLC has seven phases, from planning to maintenance.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1851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22173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Requirements say what, design says how; then build, test, release, sustain.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931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96849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The QE has a role in every phase, not only in testing.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6786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71525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Defects cost more the later they are found: shift quality left.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4254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462016"/>
            <a:ext cx="1028700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Next: SDLC models arrange these phases in different ways.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Guru99 - Software Development Life Cycle (SDLC) tutorial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https://www.guru99.com/software-development-life-cycle-tutorial.html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Certified Tester Foundation Level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https://www.istqb.org/certifications/certified-tester-foundation-level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 - Agile and software development resources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A5A5A"/>
                </a:solidFill>
                <a:latin typeface="Arial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3758</Words>
  <Application>Microsoft Office PowerPoint</Application>
  <PresentationFormat>Widescreen</PresentationFormat>
  <Paragraphs>385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Courier New</vt:lpstr>
      <vt:lpstr>Wingdings</vt:lpstr>
      <vt:lpstr>Learners Point</vt:lpstr>
      <vt:lpstr>SDLC Fundamentals</vt:lpstr>
      <vt:lpstr>Learning Objectives</vt:lpstr>
      <vt:lpstr>Software and the SDLC</vt:lpstr>
      <vt:lpstr>What Is Software?</vt:lpstr>
      <vt:lpstr>What Is the SDLC?</vt:lpstr>
      <vt:lpstr>The Seven Phases</vt:lpstr>
      <vt:lpstr>The Building-a-House Analogy</vt:lpstr>
      <vt:lpstr>Phases 1–3: Plan to Design</vt:lpstr>
      <vt:lpstr>Phase 1: Planning</vt:lpstr>
      <vt:lpstr>Phase 2: Requirements Analysis</vt:lpstr>
      <vt:lpstr>Phase 3: Design</vt:lpstr>
      <vt:lpstr>Design: HLD and LLD</vt:lpstr>
      <vt:lpstr>Phases 4–7: Build to Maintain</vt:lpstr>
      <vt:lpstr>Phase 4: Implementation</vt:lpstr>
      <vt:lpstr>Phase 5: Testing</vt:lpstr>
      <vt:lpstr>Phase 6: Deployment</vt:lpstr>
      <vt:lpstr>Phase 7: Maintenance</vt:lpstr>
      <vt:lpstr>Types of Maintenance</vt:lpstr>
      <vt:lpstr>Quality in Every Phase</vt:lpstr>
      <vt:lpstr>Cost of Late Defects</vt:lpstr>
      <vt:lpstr>Where Defects Come From</vt:lpstr>
      <vt:lpstr>Relative Cost to Fix a Defect</vt:lpstr>
      <vt:lpstr>Shift-Left</vt:lpstr>
      <vt:lpstr>Skipped or Rushed Phases</vt:lpstr>
      <vt:lpstr>Common Mistakes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5</cp:revision>
  <dcterms:modified xsi:type="dcterms:W3CDTF">2026-10-26T12:22:12Z</dcterms:modified>
</cp:coreProperties>
</file>