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341" r:id="rId3"/>
    <p:sldId id="342" r:id="rId4"/>
    <p:sldId id="343"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40" r:id="rId31"/>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Ideal</c:v>
                </c:pt>
              </c:strCache>
            </c:strRef>
          </c:tx>
          <c:spPr>
            <a:ln w="38100">
              <a:solidFill>
                <a:srgbClr val="9E9E9E"/>
              </a:solidFill>
              <a:prstDash val="dash"/>
            </a:ln>
          </c:spPr>
          <c:marker>
            <c:symbol val="none"/>
          </c:marker>
          <c:cat>
            <c:strRef>
              <c:f>Sheet1!$A$2:$A$12</c:f>
              <c:strCache>
                <c:ptCount val="11"/>
                <c:pt idx="0">
                  <c:v>D0</c:v>
                </c:pt>
                <c:pt idx="1">
                  <c:v>D1</c:v>
                </c:pt>
                <c:pt idx="2">
                  <c:v>D2</c:v>
                </c:pt>
                <c:pt idx="3">
                  <c:v>D3</c:v>
                </c:pt>
                <c:pt idx="4">
                  <c:v>D4</c:v>
                </c:pt>
                <c:pt idx="5">
                  <c:v>D5</c:v>
                </c:pt>
                <c:pt idx="6">
                  <c:v>D6</c:v>
                </c:pt>
                <c:pt idx="7">
                  <c:v>D7</c:v>
                </c:pt>
                <c:pt idx="8">
                  <c:v>D8</c:v>
                </c:pt>
                <c:pt idx="9">
                  <c:v>D9</c:v>
                </c:pt>
                <c:pt idx="10">
                  <c:v>D10</c:v>
                </c:pt>
              </c:strCache>
            </c:strRef>
          </c:cat>
          <c:val>
            <c:numRef>
              <c:f>Sheet1!$B$2:$B$12</c:f>
              <c:numCache>
                <c:formatCode>General</c:formatCode>
                <c:ptCount val="11"/>
                <c:pt idx="0">
                  <c:v>30</c:v>
                </c:pt>
                <c:pt idx="1">
                  <c:v>27</c:v>
                </c:pt>
                <c:pt idx="2">
                  <c:v>24</c:v>
                </c:pt>
                <c:pt idx="3">
                  <c:v>21</c:v>
                </c:pt>
                <c:pt idx="4">
                  <c:v>18</c:v>
                </c:pt>
                <c:pt idx="5">
                  <c:v>15</c:v>
                </c:pt>
                <c:pt idx="6">
                  <c:v>12</c:v>
                </c:pt>
                <c:pt idx="7">
                  <c:v>9</c:v>
                </c:pt>
                <c:pt idx="8">
                  <c:v>6</c:v>
                </c:pt>
                <c:pt idx="9">
                  <c:v>3</c:v>
                </c:pt>
                <c:pt idx="10">
                  <c:v>0</c:v>
                </c:pt>
              </c:numCache>
            </c:numRef>
          </c:val>
          <c:smooth val="0"/>
          <c:extLst>
            <c:ext xmlns:c16="http://schemas.microsoft.com/office/drawing/2014/chart" uri="{C3380CC4-5D6E-409C-BE32-E72D297353CC}">
              <c16:uniqueId val="{00000000-8E20-4704-8313-30096D38E64F}"/>
            </c:ext>
          </c:extLst>
        </c:ser>
        <c:ser>
          <c:idx val="1"/>
          <c:order val="1"/>
          <c:tx>
            <c:strRef>
              <c:f>Sheet1!$C$1</c:f>
              <c:strCache>
                <c:ptCount val="1"/>
                <c:pt idx="0">
                  <c:v>Actual</c:v>
                </c:pt>
              </c:strCache>
            </c:strRef>
          </c:tx>
          <c:spPr>
            <a:ln w="38100">
              <a:solidFill>
                <a:srgbClr val="C00000"/>
              </a:solidFill>
            </a:ln>
          </c:spPr>
          <c:marker>
            <c:symbol val="none"/>
          </c:marker>
          <c:cat>
            <c:strRef>
              <c:f>Sheet1!$A$2:$A$12</c:f>
              <c:strCache>
                <c:ptCount val="11"/>
                <c:pt idx="0">
                  <c:v>D0</c:v>
                </c:pt>
                <c:pt idx="1">
                  <c:v>D1</c:v>
                </c:pt>
                <c:pt idx="2">
                  <c:v>D2</c:v>
                </c:pt>
                <c:pt idx="3">
                  <c:v>D3</c:v>
                </c:pt>
                <c:pt idx="4">
                  <c:v>D4</c:v>
                </c:pt>
                <c:pt idx="5">
                  <c:v>D5</c:v>
                </c:pt>
                <c:pt idx="6">
                  <c:v>D6</c:v>
                </c:pt>
                <c:pt idx="7">
                  <c:v>D7</c:v>
                </c:pt>
                <c:pt idx="8">
                  <c:v>D8</c:v>
                </c:pt>
                <c:pt idx="9">
                  <c:v>D9</c:v>
                </c:pt>
                <c:pt idx="10">
                  <c:v>D10</c:v>
                </c:pt>
              </c:strCache>
            </c:strRef>
          </c:cat>
          <c:val>
            <c:numRef>
              <c:f>Sheet1!$C$2:$C$12</c:f>
              <c:numCache>
                <c:formatCode>General</c:formatCode>
                <c:ptCount val="11"/>
                <c:pt idx="0">
                  <c:v>30</c:v>
                </c:pt>
                <c:pt idx="1">
                  <c:v>30</c:v>
                </c:pt>
                <c:pt idx="2">
                  <c:v>28</c:v>
                </c:pt>
                <c:pt idx="3">
                  <c:v>27</c:v>
                </c:pt>
                <c:pt idx="4">
                  <c:v>27</c:v>
                </c:pt>
                <c:pt idx="5">
                  <c:v>22</c:v>
                </c:pt>
                <c:pt idx="6">
                  <c:v>19</c:v>
                </c:pt>
                <c:pt idx="7">
                  <c:v>17</c:v>
                </c:pt>
                <c:pt idx="8">
                  <c:v>12</c:v>
                </c:pt>
                <c:pt idx="9">
                  <c:v>6</c:v>
                </c:pt>
                <c:pt idx="10">
                  <c:v>0</c:v>
                </c:pt>
              </c:numCache>
            </c:numRef>
          </c:val>
          <c:smooth val="0"/>
          <c:extLst>
            <c:ext xmlns:c16="http://schemas.microsoft.com/office/drawing/2014/chart" uri="{C3380CC4-5D6E-409C-BE32-E72D297353CC}">
              <c16:uniqueId val="{00000001-8E20-4704-8313-30096D38E64F}"/>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4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48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Delivery models gave a one-slide view of Scrum. This lesson is the full version: what a Scrum team actually does, day by day, and where testing fits.</a:t>
            </a:r>
          </a:p>
          <a:p>
            <a:r>
              <a:t>- Ask: "If a sprint is two weeks, when should testing start?" Most beginners answer "week two". By the end of the lesson the answer is "day one".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Scrum Guide (2020) wording: the five events are the Sprint itself, Sprint Planning, Daily Scrum, Sprint Review and Sprint Retrospective. Backlog refinement is an ongoing activity, not an event, but we cover it because the QE's work there matters so much.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1: the container (the sprint) and the things it produces.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deck's one analogy. The QE is not waiting at the last hand-over; they run every lap with the team.</a:t>
            </a:r>
          </a:p>
          <a:p>
            <a:r>
              <a:t>- Use it again on the "Scrum-fall" slide: a sprint where developers code in week one and testers test in week two is a relay squeezed into two weeks.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picture left to right: the Product Owner orders the Product Backlog; Sprint Planning selects items into the Sprint Backlog with a Sprint Goal; during the sprint the Developers meet daily; the sprint produces an Increment that meets the Definition of Done; Review and Retrospective close the sprint.</a:t>
            </a:r>
          </a:p>
          <a:p>
            <a:r>
              <a:t>- Scrum is a lightweight framework: a few rules and roles, not a detailed method. Teams fill in the practices, such as how they test.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these rules: short cycles give fast feedback and limit how wrong a plan can go; a fixed length makes planning predictable and removes the temptation to "take a few more days".</a:t>
            </a:r>
          </a:p>
          <a:p>
            <a:r>
              <a:t>- Scope can still be clarified and renegotiated with the PO as the team learns.</a:t>
            </a:r>
          </a:p>
          <a:p>
            <a:r>
              <a:t>- A sprint can be cancelled only by the PO, and only if the Sprint Goal becomes obsolete. Two weeks is the most common length.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by day (2-week sprint): Day 1 Sprint Planning; Days 2–8 build and test continuously, Daily Scrum every day, a refinement session around Day 3 and Day 8; mid-sprint check around Day 5 (is the goal still safe?); Day 9 finish remaining tests and regression; Day 10 Sprint Review then Retrospective. The next sprint starts immediately.</a:t>
            </a:r>
          </a:p>
          <a:p>
            <a:r>
              <a:t>- Timeboxes for 2 weeks are typical, not rules: Planning up to 4 hours, Daily Scrum 15 minutes, Review up to 2 hours, Retrospective up to 1.5 hours.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Product Goal: "Let first-time shoppers find and buy a product in under three minutes." Example Sprint Goal: "A shopper can add items to a cart and see an accurate total."</a:t>
            </a:r>
          </a:p>
          <a:p>
            <a:r>
              <a:t>- Work becomes part of the Increment only when it meets the Definition of Done. There is no partial credit.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DoR is the front door: a checklist a story passes before it is pulled into a sprint. It is not an official Scrum artifact but is widely used.</a:t>
            </a:r>
          </a:p>
          <a:p>
            <a:r>
              <a:t>DoD is the exit: an official Scrum commitment attached to the Increment.</a:t>
            </a:r>
          </a:p>
          <a:p>
            <a:r>
              <a:t>- A story that is "99 percent done" is not done.</a:t>
            </a:r>
          </a:p>
          <a:p>
            <a:r>
              <a:t>- Do not confuse the DoD (applies to every item) with acceptance criteria (specific to one story).</a:t>
            </a:r>
          </a:p>
          <a:p>
            <a:r>
              <a:t>- QEs often help write and sharpen both checklists.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2: how work is described, sized and tracked.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user story is a short description of a feature from the point of view of the person who wants it. It is a placeholder for a conversation, not a full specification.</a:t>
            </a:r>
          </a:p>
          <a:p>
            <a:r>
              <a:t>INVEST: Independent (can be built and tested alone), Negotiable (details are discussed), Valuable (to a user or the business), Estimable (the team can size it), Small (fits in a sprint), Testable (you can describe how to prove it works).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story says what the user wants; acceptance criteria (AC) say how we will know it is correctly done: specific, testable conditions.</a:t>
            </a:r>
          </a:p>
          <a:p>
            <a:r>
              <a:t>- Given/When/Then turns AC directly into test cases. It is the format used later in the course for BDD.</a:t>
            </a:r>
          </a:p>
          <a:p>
            <a:r>
              <a:t>- Tip: write at least one unhappy path (wrong password, empty field) for every story.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points is not 8 hours; it is roughly twice as big and uncertain as 4 points. Gaps widen in the scale because large estimates are less precise.</a:t>
            </a:r>
          </a:p>
          <a:p>
            <a:r>
              <a:t>- A QE who votes 8 when developers vote 3 might say "this needs checking on three browsers and two payment types". That is planning poker working well.</a:t>
            </a:r>
          </a:p>
          <a:p>
            <a:r>
              <a:t>- Example velocity: 24, 28 and 26 points in three sprints, so plan about 26 next sprint. Half-done stories count as zero.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sprint burndown shows remaining work (usually story points, vertical axis) over the sprint days (horizontal).</a:t>
            </a:r>
          </a:p>
          <a:p>
            <a:r>
              <a:t>- The dashed grey line is the ideal pace; the red line is reality.</a:t>
            </a:r>
          </a:p>
          <a:p>
            <a:r>
              <a:t>- In the example the team was behind around Day 3–4, then caught up. A line that stays flat and then drops off a cliff on the last day usually means stories were tested and closed only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Refinement used to be called grooming. The Scrum Guide calls it an activity, not an event, so it is not strictly time-boxed. Many teams spend up to about 10% of their capacity on it.</a:t>
            </a:r>
          </a:p>
          <a:p>
            <a:r>
              <a:t>Example: story "As a shopper, I want to search for products so that I find what I need quickly." Ananya asks: what is "quickly"? What happens with no results, a typo, or 1,000 results? Rohan answers; Karan re-estimates from 3 to 5 points; two new acceptance criteria are added.</a:t>
            </a:r>
          </a:p>
          <a:p>
            <a:r>
              <a:t>Common mistakes: a quick "just estimate it" meeting with no testing discussion; refining too far ahead (stories go stale).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Sprint is the container event. Inside it are four events. One slide each: purpose, who, timebox, output and the QE's role.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Inputs: refined Product Backlog, Product Goal, Definition of Done, recent velocity, team capacity, last retrospective's actions.</a:t>
            </a:r>
          </a:p>
          <a:p>
            <a:r>
              <a:t>QE also identifies environments, test data, accounts and tools, and leaves time for fixing and retesting.</a:t>
            </a:r>
          </a:p>
          <a:p>
            <a:r>
              <a:t>Common mistakes: over-committing because testing time was not counted; a list of unrelated stories called a goal; starting stories with unclear AC; forgetting leave and holidays.</a:t>
            </a:r>
          </a:p>
          <a:p>
            <a:r>
              <a:t>Example script: Rohan proposes the goal "A shopper can find a product, add it to the cart and see an accurate total." Karan notes capacity of about 26 points. Ananya asks for test data with at least 50 products and suggests taking 24 points to leave room for retesting. The team agrees.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Scrum Master makes sure it happens and stays within 15 minutes; the PO may listen.</a:t>
            </a:r>
          </a:p>
          <a:p>
            <a:r>
              <a:t>- Details are taken offline afterwards.</a:t>
            </a:r>
          </a:p>
          <a:p>
            <a:r>
              <a:t>- Why the example is good: specific, linked to the goal, names a blocker and asks for help.</a:t>
            </a:r>
          </a:p>
          <a:p>
            <a:r>
              <a:t>Common mistakes: a status report to the Scrum Master or a manager; running 30–45 minutes; problem-solving in the meeting; vague updates ("working on testing"); QEs left out.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Inputs: the Increment, the Sprint Goal, the Product Backlog, the DoD.</a:t>
            </a:r>
          </a:p>
          <a:p>
            <a:r>
              <a:t>QE also checks the demo environment is stable with realistic data, and rehearses.</a:t>
            </a:r>
          </a:p>
          <a:p>
            <a:r>
              <a:t>Example: Rohan recalls the Sprint Goal; Karan demonstrates search and adding two items to the cart. Ananya explains what was verified (cart totals with discounts on two browsers) and one known low-severity issue. Sunita asks for a "recently viewed" list, which Rohan adds to the backlog.</a:t>
            </a:r>
          </a:p>
          <a:p>
            <a:r>
              <a:t>Common mistakes: slides instead of working software; showing unfinished work; nobody capturing feedback; treating it as an approval meeting.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Rhythm of a good retrospective: set the stage, gather data, generate insights, decide what to do, close.</a:t>
            </a:r>
          </a:p>
          <a:p>
            <a:r>
              <a:t>Blame-free: "the story arrived late", not "Karan was late".</a:t>
            </a:r>
          </a:p>
          <a:p>
            <a:r>
              <a:t>Example: Meera runs Start/Stop/Continue. Ananya points out three of five stories reached testing only on Day 8 or later. The team agrees to split any story over 5 points during refinement and to smoke-check each build before handing it to the QE.</a:t>
            </a:r>
          </a:p>
          <a:p>
            <a:r>
              <a:t>Common mistakes: skipping it when the sprint went well; complaining without actions; too many actions; never reviewing earlier actions.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 the format every few sprints so the retrospective doesn't become a ritual.</a:t>
            </a:r>
          </a:p>
          <a:p>
            <a:r>
              <a:t>- Whatever the format, finish with a short list of concrete, owned actions; the most important one goes into the next Sprint Backlog so it actually happens.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4: the QE's view of the sprint.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Scrum-fall is a mini-waterfall inside the sprint: the relay race squeezed into two weeks. Stories arrive for testing on Day 8 or 9, defects are found too late to fix, and the goal is missed.</a:t>
            </a:r>
          </a:p>
          <a:p>
            <a:r>
              <a:t>- Continuous testing: each small story is tested as soon as it is built, so defects are fixed the same day or the next.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 one story across the board. The QE is involved before a line of code is written (refinement and planning), prepares scenarios during development, tests the moment code is available, and confirms fixes with regression.</a:t>
            </a:r>
          </a:p>
          <a:p>
            <a:r>
              <a:t>- The dashed red arrow: if a defect is found, the story loops back between testing and fixing until it meets the DoD.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table as a health check in the retrospective. If the right-hand column sounds familiar, the fix is usually smaller stories and earlier testing, not more overtime.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Sprint Goal is the commitment, not every individual story.</a:t>
            </a:r>
          </a:p>
          <a:p>
            <a:r>
              <a:t>- Better less that is Done than more that is not.</a:t>
            </a:r>
          </a:p>
          <a:p>
            <a:r>
              <a:t>- If the goal is still missed: unfinished stories don't count toward velocity, go back to the Product Backlog, and the team discusses why in the retrospective. It is a learning event, not a punishment.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Options in step 3: fix now if time allows and the goal depends on it; reduce the story's scope and ship what is verified; or move the story back to the Product Backlog.</a:t>
            </a:r>
          </a:p>
          <a:p>
            <a:r>
              <a:t>- In the retrospective ask: could better acceptance criteria, earlier testing or more regression have caught it sooner?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More: excluding QEs from events because "testing is separate"; ignoring blockers; skipping the retrospective when the sprint went well; treating the review as an approval meeting.</a:t>
            </a:r>
          </a:p>
          <a:p>
            <a:r>
              <a:t>- Ask the room which of these they think is most common, and why.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Agile roles, who does what on the team, and where the QE fits. Then Jira, the tool that runs all of this.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Scrum Guide is about 13 pages; ask learners to read it before the end of the week.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10/26/2026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10/26/2026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10/26/2026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10/26/2026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10/26/2026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10/26/2026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10/26/2026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10/26/2026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10/26/2026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10/26/2026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10/26/2026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10/26/2026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10/26/2026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330066"/>
                </a:solidFill>
              </a:rPr>
              <a:t>Scrum Ceremonies and the Sprint Lifecycle</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What a Scrum team actually does and when, and where testing fits in every sprint.</a:t>
            </a:r>
          </a:p>
        </p:txBody>
      </p:sp>
      <p:sp>
        <p:nvSpPr>
          <p:cNvPr id="5" name="Rounded Rectangle 4"/>
          <p:cNvSpPr/>
          <p:nvPr/>
        </p:nvSpPr>
        <p:spPr>
          <a:xfrm>
            <a:off x="609904" y="3520439"/>
            <a:ext cx="1177290"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Sprint</a:t>
            </a:r>
          </a:p>
        </p:txBody>
      </p:sp>
      <p:sp>
        <p:nvSpPr>
          <p:cNvPr id="6" name="Right Arrow 5"/>
          <p:cNvSpPr/>
          <p:nvPr/>
        </p:nvSpPr>
        <p:spPr>
          <a:xfrm>
            <a:off x="18786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244394" y="3520439"/>
            <a:ext cx="153733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Artifacts</a:t>
            </a:r>
          </a:p>
        </p:txBody>
      </p:sp>
      <p:sp>
        <p:nvSpPr>
          <p:cNvPr id="8" name="Right Arrow 7"/>
          <p:cNvSpPr/>
          <p:nvPr/>
        </p:nvSpPr>
        <p:spPr>
          <a:xfrm>
            <a:off x="387316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38929" y="3520439"/>
            <a:ext cx="189738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User stories</a:t>
            </a:r>
          </a:p>
        </p:txBody>
      </p:sp>
      <p:sp>
        <p:nvSpPr>
          <p:cNvPr id="10" name="Right Arrow 9"/>
          <p:cNvSpPr/>
          <p:nvPr/>
        </p:nvSpPr>
        <p:spPr>
          <a:xfrm>
            <a:off x="622774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93509" y="3520439"/>
            <a:ext cx="117729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Events</a:t>
            </a:r>
          </a:p>
        </p:txBody>
      </p:sp>
      <p:sp>
        <p:nvSpPr>
          <p:cNvPr id="12" name="Right Arrow 11"/>
          <p:cNvSpPr/>
          <p:nvPr/>
        </p:nvSpPr>
        <p:spPr>
          <a:xfrm>
            <a:off x="786223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7999" y="3520439"/>
            <a:ext cx="273748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Testing in a sprint</a:t>
            </a:r>
          </a:p>
        </p:txBody>
      </p:sp>
      <p:sp>
        <p:nvSpPr>
          <p:cNvPr id="14" name="Oval 13"/>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5" name="Oval 14"/>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6" name="Oval 15"/>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Objectives</a:t>
            </a:r>
          </a:p>
        </p:txBody>
      </p:sp>
      <p:sp>
        <p:nvSpPr>
          <p:cNvPr id="3" name="Oval 2"/>
          <p:cNvSpPr/>
          <p:nvPr/>
        </p:nvSpPr>
        <p:spPr>
          <a:xfrm>
            <a:off x="612648" y="169164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1</a:t>
            </a:r>
          </a:p>
        </p:txBody>
      </p:sp>
      <p:sp>
        <p:nvSpPr>
          <p:cNvPr id="4" name="TextBox 3"/>
          <p:cNvSpPr txBox="1"/>
          <p:nvPr/>
        </p:nvSpPr>
        <p:spPr>
          <a:xfrm>
            <a:off x="1298448" y="1728216"/>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Explain the sprint, its rules, and the three artifacts with their commitments.</a:t>
            </a:r>
          </a:p>
        </p:txBody>
      </p:sp>
      <p:sp>
        <p:nvSpPr>
          <p:cNvPr id="5" name="Oval 4"/>
          <p:cNvSpPr/>
          <p:nvPr/>
        </p:nvSpPr>
        <p:spPr>
          <a:xfrm>
            <a:off x="612648" y="2441448"/>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2</a:t>
            </a:r>
          </a:p>
        </p:txBody>
      </p:sp>
      <p:sp>
        <p:nvSpPr>
          <p:cNvPr id="6" name="TextBox 5"/>
          <p:cNvSpPr txBox="1"/>
          <p:nvPr/>
        </p:nvSpPr>
        <p:spPr>
          <a:xfrm>
            <a:off x="1298448" y="2478024"/>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Write a user story with Given/When/Then acceptance criteria.</a:t>
            </a:r>
          </a:p>
        </p:txBody>
      </p:sp>
      <p:sp>
        <p:nvSpPr>
          <p:cNvPr id="7" name="Oval 6"/>
          <p:cNvSpPr/>
          <p:nvPr/>
        </p:nvSpPr>
        <p:spPr>
          <a:xfrm>
            <a:off x="612648" y="3191256"/>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3</a:t>
            </a:r>
          </a:p>
        </p:txBody>
      </p:sp>
      <p:sp>
        <p:nvSpPr>
          <p:cNvPr id="8" name="TextBox 7"/>
          <p:cNvSpPr txBox="1"/>
          <p:nvPr/>
        </p:nvSpPr>
        <p:spPr>
          <a:xfrm>
            <a:off x="1298448" y="3227832"/>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Explain story points, velocity and how to read a burndown.</a:t>
            </a:r>
          </a:p>
        </p:txBody>
      </p:sp>
      <p:sp>
        <p:nvSpPr>
          <p:cNvPr id="9" name="Oval 8"/>
          <p:cNvSpPr/>
          <p:nvPr/>
        </p:nvSpPr>
        <p:spPr>
          <a:xfrm>
            <a:off x="612648" y="3941064"/>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4</a:t>
            </a:r>
          </a:p>
        </p:txBody>
      </p:sp>
      <p:sp>
        <p:nvSpPr>
          <p:cNvPr id="10" name="TextBox 9"/>
          <p:cNvSpPr txBox="1"/>
          <p:nvPr/>
        </p:nvSpPr>
        <p:spPr>
          <a:xfrm>
            <a:off x="1298448" y="3977640"/>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Describe the Scrum events and the QE's role in each.</a:t>
            </a:r>
          </a:p>
        </p:txBody>
      </p:sp>
      <p:sp>
        <p:nvSpPr>
          <p:cNvPr id="11" name="Oval 10"/>
          <p:cNvSpPr/>
          <p:nvPr/>
        </p:nvSpPr>
        <p:spPr>
          <a:xfrm>
            <a:off x="612648" y="4690872"/>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5</a:t>
            </a:r>
          </a:p>
        </p:txBody>
      </p:sp>
      <p:sp>
        <p:nvSpPr>
          <p:cNvPr id="12" name="TextBox 11"/>
          <p:cNvSpPr txBox="1"/>
          <p:nvPr/>
        </p:nvSpPr>
        <p:spPr>
          <a:xfrm>
            <a:off x="1298448" y="4727448"/>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Show how testing runs continuously inside a sprint.</a:t>
            </a:r>
          </a:p>
        </p:txBody>
      </p:sp>
      <p:sp>
        <p:nvSpPr>
          <p:cNvPr id="13" name="TextBox 12"/>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 / 30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Sprint and Scrum Basics</a:t>
            </a:r>
          </a:p>
        </p:txBody>
      </p:sp>
      <p:sp>
        <p:nvSpPr>
          <p:cNvPr id="3" name="Text Placeholder 2"/>
          <p:cNvSpPr>
            <a:spLocks noGrp="1"/>
          </p:cNvSpPr>
          <p:nvPr>
            <p:ph type="body" idx="1"/>
          </p:nvPr>
        </p:nvSpPr>
        <p:spPr/>
        <p:txBody>
          <a:bodyPr/>
          <a:lstStyle/>
          <a:p>
            <a:r>
              <a:t>The framework, sprint rules, artifacts and commitments</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01</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 / 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Analogy: The Relay Race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Rounded Rectangle 3"/>
          <p:cNvSpPr/>
          <p:nvPr/>
        </p:nvSpPr>
        <p:spPr>
          <a:xfrm>
            <a:off x="612648" y="1645920"/>
            <a:ext cx="5372100" cy="452628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5" name="TextBox 4"/>
          <p:cNvSpPr txBox="1"/>
          <p:nvPr/>
        </p:nvSpPr>
        <p:spPr>
          <a:xfrm>
            <a:off x="813816" y="1783080"/>
            <a:ext cx="4969764" cy="4251960"/>
          </a:xfrm>
          <a:prstGeom prst="rect">
            <a:avLst/>
          </a:prstGeom>
          <a:noFill/>
        </p:spPr>
        <p:txBody>
          <a:bodyPr wrap="square" lIns="0" tIns="0" rIns="0" bIns="0">
            <a:spAutoFit/>
          </a:bodyPr>
          <a:lstStyle/>
          <a:p>
            <a:pPr>
              <a:spcAft>
                <a:spcPts val="400"/>
              </a:spcAft>
            </a:pPr>
            <a:r>
              <a:rPr sz="1900" b="1">
                <a:solidFill>
                  <a:srgbClr val="330066"/>
                </a:solidFill>
                <a:latin typeface="Arial"/>
              </a:rPr>
              <a:t>Waterfall: a relay</a:t>
            </a:r>
          </a:p>
          <a:p>
            <a:pPr>
              <a:spcAft>
                <a:spcPts val="400"/>
              </a:spcAft>
            </a:pPr>
            <a:r>
              <a:rPr sz="1900" b="0">
                <a:solidFill>
                  <a:srgbClr val="1A1A1A"/>
                </a:solidFill>
                <a:latin typeface="Arial"/>
              </a:rPr>
              <a:t>The baton passes from analysts to developers to testers. Testers run only when everyone else has finished; a dropped baton loses the race.</a:t>
            </a:r>
          </a:p>
        </p:txBody>
      </p:sp>
      <p:sp>
        <p:nvSpPr>
          <p:cNvPr id="6" name="Rounded Rectangle 5"/>
          <p:cNvSpPr/>
          <p:nvPr/>
        </p:nvSpPr>
        <p:spPr>
          <a:xfrm>
            <a:off x="6213348" y="1645920"/>
            <a:ext cx="5372100" cy="4526280"/>
          </a:xfrm>
          <a:prstGeom prst="roundRect">
            <a:avLst>
              <a:gd name="adj" fmla="val 12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7" name="TextBox 6"/>
          <p:cNvSpPr txBox="1"/>
          <p:nvPr/>
        </p:nvSpPr>
        <p:spPr>
          <a:xfrm>
            <a:off x="6414516" y="1783080"/>
            <a:ext cx="4969764" cy="4251960"/>
          </a:xfrm>
          <a:prstGeom prst="rect">
            <a:avLst/>
          </a:prstGeom>
          <a:noFill/>
        </p:spPr>
        <p:txBody>
          <a:bodyPr wrap="square" lIns="0" tIns="0" rIns="0" bIns="0">
            <a:spAutoFit/>
          </a:bodyPr>
          <a:lstStyle/>
          <a:p>
            <a:pPr>
              <a:spcAft>
                <a:spcPts val="400"/>
              </a:spcAft>
            </a:pPr>
            <a:r>
              <a:rPr sz="1900" b="1">
                <a:solidFill>
                  <a:srgbClr val="330066"/>
                </a:solidFill>
                <a:latin typeface="Arial"/>
              </a:rPr>
              <a:t>Scrum: run together</a:t>
            </a:r>
          </a:p>
          <a:p>
            <a:pPr>
              <a:spcAft>
                <a:spcPts val="400"/>
              </a:spcAft>
            </a:pPr>
            <a:r>
              <a:rPr sz="1900" b="0">
                <a:solidFill>
                  <a:srgbClr val="1A1A1A"/>
                </a:solidFill>
                <a:latin typeface="Arial"/>
              </a:rPr>
              <a:t>The whole team runs short laps (sprints) side by side. After every lap there is a working, tested product in hand.</a:t>
            </a:r>
          </a:p>
        </p:txBody>
      </p:sp>
      <p:sp>
        <p:nvSpPr>
          <p:cNvPr id="8" name="TextBox 7"/>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4 / 30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Scrum Framework</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Rounded Rectangle 3"/>
          <p:cNvSpPr/>
          <p:nvPr/>
        </p:nvSpPr>
        <p:spPr>
          <a:xfrm>
            <a:off x="612648" y="2377440"/>
            <a:ext cx="2194560" cy="11887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a:solidFill>
                  <a:srgbClr val="1A1A1A"/>
                </a:solidFill>
                <a:latin typeface="Arial"/>
              </a:rPr>
              <a:t>Product Backlog</a:t>
            </a:r>
          </a:p>
          <a:p>
            <a:pPr algn="ctr"/>
            <a:r>
              <a:rPr sz="1600" b="0">
                <a:solidFill>
                  <a:srgbClr val="1A1A1A"/>
                </a:solidFill>
                <a:latin typeface="Arial"/>
              </a:rPr>
              <a:t>(Product Goal)</a:t>
            </a:r>
          </a:p>
        </p:txBody>
      </p:sp>
      <p:sp>
        <p:nvSpPr>
          <p:cNvPr id="5" name="Rounded Rectangle 4"/>
          <p:cNvSpPr/>
          <p:nvPr/>
        </p:nvSpPr>
        <p:spPr>
          <a:xfrm>
            <a:off x="3264408" y="2377440"/>
            <a:ext cx="1645920" cy="11887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Arial"/>
              </a:rPr>
              <a:t>Sprint Planning</a:t>
            </a:r>
          </a:p>
        </p:txBody>
      </p:sp>
      <p:sp>
        <p:nvSpPr>
          <p:cNvPr id="6" name="Rounded Rectangle 5"/>
          <p:cNvSpPr/>
          <p:nvPr/>
        </p:nvSpPr>
        <p:spPr>
          <a:xfrm>
            <a:off x="5367528" y="2377440"/>
            <a:ext cx="2103120" cy="11887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a:solidFill>
                  <a:srgbClr val="1A1A1A"/>
                </a:solidFill>
                <a:latin typeface="Arial"/>
              </a:rPr>
              <a:t>Sprint Backlog</a:t>
            </a:r>
          </a:p>
          <a:p>
            <a:pPr algn="ctr"/>
            <a:r>
              <a:rPr sz="1600" b="0">
                <a:solidFill>
                  <a:srgbClr val="1A1A1A"/>
                </a:solidFill>
                <a:latin typeface="Arial"/>
              </a:rPr>
              <a:t>(Sprint Goal)</a:t>
            </a:r>
          </a:p>
        </p:txBody>
      </p:sp>
      <p:sp>
        <p:nvSpPr>
          <p:cNvPr id="7" name="Oval 6"/>
          <p:cNvSpPr/>
          <p:nvPr/>
        </p:nvSpPr>
        <p:spPr>
          <a:xfrm>
            <a:off x="7882128" y="1645920"/>
            <a:ext cx="1828800" cy="2651760"/>
          </a:xfrm>
          <a:prstGeom prst="ellipse">
            <a:avLst/>
          </a:prstGeom>
          <a:solidFill>
            <a:srgbClr val="E4DFEC"/>
          </a:solidFill>
          <a:ln w="25400">
            <a:solidFill>
              <a:srgbClr val="5B2C8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8" name="TextBox 7"/>
          <p:cNvSpPr txBox="1"/>
          <p:nvPr/>
        </p:nvSpPr>
        <p:spPr>
          <a:xfrm>
            <a:off x="7882128" y="2606040"/>
            <a:ext cx="1828800" cy="822960"/>
          </a:xfrm>
          <a:prstGeom prst="rect">
            <a:avLst/>
          </a:prstGeom>
          <a:noFill/>
        </p:spPr>
        <p:txBody>
          <a:bodyPr wrap="square" lIns="0" tIns="0" rIns="0" bIns="0">
            <a:spAutoFit/>
          </a:bodyPr>
          <a:lstStyle/>
          <a:p>
            <a:pPr algn="ctr">
              <a:spcAft>
                <a:spcPts val="0"/>
              </a:spcAft>
            </a:pPr>
            <a:r>
              <a:rPr sz="1600" b="1">
                <a:solidFill>
                  <a:srgbClr val="5B2C83"/>
                </a:solidFill>
                <a:latin typeface="Arial"/>
              </a:rPr>
              <a:t>Sprint</a:t>
            </a:r>
          </a:p>
          <a:p>
            <a:pPr algn="ctr">
              <a:spcAft>
                <a:spcPts val="0"/>
              </a:spcAft>
            </a:pPr>
            <a:r>
              <a:rPr sz="1600" b="0">
                <a:solidFill>
                  <a:srgbClr val="1A1A1A"/>
                </a:solidFill>
                <a:latin typeface="Arial"/>
              </a:rPr>
              <a:t>1–4 weeks</a:t>
            </a:r>
          </a:p>
        </p:txBody>
      </p:sp>
      <p:sp>
        <p:nvSpPr>
          <p:cNvPr id="9" name="Rounded Rectangle 8"/>
          <p:cNvSpPr/>
          <p:nvPr/>
        </p:nvSpPr>
        <p:spPr>
          <a:xfrm>
            <a:off x="8156448" y="1417320"/>
            <a:ext cx="1280160" cy="4572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Daily Scrum</a:t>
            </a:r>
          </a:p>
        </p:txBody>
      </p:sp>
      <p:sp>
        <p:nvSpPr>
          <p:cNvPr id="10" name="Rounded Rectangle 9"/>
          <p:cNvSpPr/>
          <p:nvPr/>
        </p:nvSpPr>
        <p:spPr>
          <a:xfrm>
            <a:off x="10122408" y="2377440"/>
            <a:ext cx="1463040" cy="11887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a:solidFill>
                  <a:srgbClr val="1A1A1A"/>
                </a:solidFill>
                <a:latin typeface="Arial"/>
              </a:rPr>
              <a:t>Increment</a:t>
            </a:r>
          </a:p>
          <a:p>
            <a:pPr algn="ctr"/>
            <a:r>
              <a:rPr sz="1500" b="0">
                <a:solidFill>
                  <a:srgbClr val="1A1A1A"/>
                </a:solidFill>
                <a:latin typeface="Arial"/>
              </a:rPr>
              <a:t>(meets DoD)</a:t>
            </a:r>
          </a:p>
        </p:txBody>
      </p:sp>
      <p:cxnSp>
        <p:nvCxnSpPr>
          <p:cNvPr id="11" name="Connector 10"/>
          <p:cNvCxnSpPr/>
          <p:nvPr/>
        </p:nvCxnSpPr>
        <p:spPr>
          <a:xfrm>
            <a:off x="2852928" y="2971800"/>
            <a:ext cx="36576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956048" y="2971800"/>
            <a:ext cx="36576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516368" y="2971800"/>
            <a:ext cx="32004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756648" y="2971800"/>
            <a:ext cx="32004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38728" y="4434840"/>
            <a:ext cx="310896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Arial"/>
              </a:rPr>
              <a:t>Sprint Review</a:t>
            </a:r>
          </a:p>
        </p:txBody>
      </p:sp>
      <p:sp>
        <p:nvSpPr>
          <p:cNvPr id="16" name="Rounded Rectangle 15"/>
          <p:cNvSpPr/>
          <p:nvPr/>
        </p:nvSpPr>
        <p:spPr>
          <a:xfrm>
            <a:off x="7013448" y="4434840"/>
            <a:ext cx="310896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Arial"/>
              </a:rPr>
              <a:t>Sprint Retrospective</a:t>
            </a:r>
          </a:p>
        </p:txBody>
      </p:sp>
      <p:sp>
        <p:nvSpPr>
          <p:cNvPr id="17" name="TextBox 16"/>
          <p:cNvSpPr txBox="1"/>
          <p:nvPr/>
        </p:nvSpPr>
        <p:spPr>
          <a:xfrm>
            <a:off x="612648" y="5394960"/>
            <a:ext cx="10972800" cy="548640"/>
          </a:xfrm>
          <a:prstGeom prst="rect">
            <a:avLst/>
          </a:prstGeom>
          <a:noFill/>
        </p:spPr>
        <p:txBody>
          <a:bodyPr wrap="square" lIns="0" tIns="0" rIns="0" bIns="0">
            <a:spAutoFit/>
          </a:bodyPr>
          <a:lstStyle/>
          <a:p>
            <a:pPr>
              <a:spcAft>
                <a:spcPts val="600"/>
              </a:spcAft>
            </a:pPr>
            <a:r>
              <a:rPr sz="1500" b="0">
                <a:solidFill>
                  <a:srgbClr val="5A5A5A"/>
                </a:solidFill>
                <a:latin typeface="Arial"/>
              </a:rPr>
              <a:t>Blue: artifacts · Purple: events · Green: the Increment that meets the Definition of Done</a:t>
            </a:r>
          </a:p>
        </p:txBody>
      </p:sp>
      <p:sp>
        <p:nvSpPr>
          <p:cNvPr id="18" name="TextBox 17"/>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5 / 30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Sprint Rules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graphicFrame>
        <p:nvGraphicFramePr>
          <p:cNvPr id="4" name="Table 3"/>
          <p:cNvGraphicFramePr>
            <a:graphicFrameLocks noGrp="1"/>
          </p:cNvGraphicFramePr>
          <p:nvPr/>
        </p:nvGraphicFramePr>
        <p:xfrm>
          <a:off x="612648" y="1691640"/>
          <a:ext cx="10972800" cy="4343400"/>
        </p:xfrm>
        <a:graphic>
          <a:graphicData uri="http://schemas.openxmlformats.org/drawingml/2006/table">
            <a:tbl>
              <a:tblPr/>
              <a:tblGrid>
                <a:gridCol w="27432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723900">
                <a:tc>
                  <a:txBody>
                    <a:bodyPr/>
                    <a:lstStyle/>
                    <a:p>
                      <a:r>
                        <a:rPr sz="1800" b="1">
                          <a:solidFill>
                            <a:srgbClr val="FFFFFF"/>
                          </a:solidFill>
                          <a:latin typeface="Arial"/>
                        </a:rPr>
                        <a:t>Rule</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800" b="1">
                          <a:solidFill>
                            <a:srgbClr val="FFFFFF"/>
                          </a:solidFill>
                          <a:latin typeface="Arial"/>
                        </a:rPr>
                        <a:t>What it means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extLst>
                  <a:ext uri="{0D108BD9-81ED-4DB2-BD59-A6C34878D82A}">
                    <a16:rowId xmlns:a16="http://schemas.microsoft.com/office/drawing/2014/main" val="10000"/>
                  </a:ext>
                </a:extLst>
              </a:tr>
              <a:tr h="723900">
                <a:tc>
                  <a:txBody>
                    <a:bodyPr/>
                    <a:lstStyle/>
                    <a:p>
                      <a:r>
                        <a:rPr sz="1800" b="1">
                          <a:solidFill>
                            <a:srgbClr val="330066"/>
                          </a:solidFill>
                          <a:latin typeface="Arial"/>
                        </a:rPr>
                        <a:t>Timeboxed</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800" b="0">
                          <a:solidFill>
                            <a:srgbClr val="1A1A1A"/>
                          </a:solidFill>
                          <a:latin typeface="Arial"/>
                        </a:rPr>
                        <a:t>One month or less; most teams choose 2 weeks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1"/>
                  </a:ext>
                </a:extLst>
              </a:tr>
              <a:tr h="723900">
                <a:tc>
                  <a:txBody>
                    <a:bodyPr/>
                    <a:lstStyle/>
                    <a:p>
                      <a:r>
                        <a:rPr sz="1800" b="1">
                          <a:solidFill>
                            <a:srgbClr val="330066"/>
                          </a:solidFill>
                          <a:latin typeface="Arial"/>
                        </a:rPr>
                        <a:t>Fixed length</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800" b="0">
                          <a:solidFill>
                            <a:srgbClr val="1A1A1A"/>
                          </a:solidFill>
                          <a:latin typeface="Arial"/>
                        </a:rPr>
                        <a:t>Every sprint the same length; it ends on its date</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2"/>
                  </a:ext>
                </a:extLst>
              </a:tr>
              <a:tr h="723900">
                <a:tc>
                  <a:txBody>
                    <a:bodyPr/>
                    <a:lstStyle/>
                    <a:p>
                      <a:r>
                        <a:rPr sz="1800" b="1">
                          <a:solidFill>
                            <a:srgbClr val="330066"/>
                          </a:solidFill>
                          <a:latin typeface="Arial"/>
                        </a:rPr>
                        <a:t>Has a goal</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800" b="0">
                          <a:solidFill>
                            <a:srgbClr val="1A1A1A"/>
                          </a:solidFill>
                          <a:latin typeface="Arial"/>
                        </a:rPr>
                        <a:t>One clear Sprint Goal gives the work meaning</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3"/>
                  </a:ext>
                </a:extLst>
              </a:tr>
              <a:tr h="723900">
                <a:tc>
                  <a:txBody>
                    <a:bodyPr/>
                    <a:lstStyle/>
                    <a:p>
                      <a:r>
                        <a:rPr sz="1800" b="1">
                          <a:solidFill>
                            <a:srgbClr val="330066"/>
                          </a:solidFill>
                          <a:latin typeface="Arial"/>
                        </a:rPr>
                        <a:t>No gaps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800" b="0">
                          <a:solidFill>
                            <a:srgbClr val="1A1A1A"/>
                          </a:solidFill>
                          <a:latin typeface="Arial"/>
                        </a:rPr>
                        <a:t>The next sprint starts as soon as one ends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4"/>
                  </a:ext>
                </a:extLst>
              </a:tr>
              <a:tr h="723900">
                <a:tc>
                  <a:txBody>
                    <a:bodyPr/>
                    <a:lstStyle/>
                    <a:p>
                      <a:r>
                        <a:rPr sz="1800" b="1">
                          <a:solidFill>
                            <a:srgbClr val="330066"/>
                          </a:solidFill>
                          <a:latin typeface="Arial"/>
                        </a:rPr>
                        <a:t>Goal protected</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800" b="0">
                          <a:solidFill>
                            <a:srgbClr val="1A1A1A"/>
                          </a:solidFill>
                          <a:latin typeface="Arial"/>
                        </a:rPr>
                        <a:t>No changes that endanger the goal; quality never drops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6 / 30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Two-Week Sprint at a Glance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Rounded Rectangle 3"/>
          <p:cNvSpPr/>
          <p:nvPr/>
        </p:nvSpPr>
        <p:spPr>
          <a:xfrm>
            <a:off x="612648"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D1</a:t>
            </a:r>
          </a:p>
        </p:txBody>
      </p:sp>
      <p:sp>
        <p:nvSpPr>
          <p:cNvPr id="5" name="Rounded Rectangle 4"/>
          <p:cNvSpPr/>
          <p:nvPr/>
        </p:nvSpPr>
        <p:spPr>
          <a:xfrm>
            <a:off x="1715414"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D2</a:t>
            </a:r>
          </a:p>
        </p:txBody>
      </p:sp>
      <p:sp>
        <p:nvSpPr>
          <p:cNvPr id="6" name="Rounded Rectangle 5"/>
          <p:cNvSpPr/>
          <p:nvPr/>
        </p:nvSpPr>
        <p:spPr>
          <a:xfrm>
            <a:off x="2818180"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D3</a:t>
            </a:r>
          </a:p>
        </p:txBody>
      </p:sp>
      <p:sp>
        <p:nvSpPr>
          <p:cNvPr id="7" name="Rounded Rectangle 6"/>
          <p:cNvSpPr/>
          <p:nvPr/>
        </p:nvSpPr>
        <p:spPr>
          <a:xfrm>
            <a:off x="3920947"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D4</a:t>
            </a:r>
          </a:p>
        </p:txBody>
      </p:sp>
      <p:sp>
        <p:nvSpPr>
          <p:cNvPr id="8" name="Rounded Rectangle 7"/>
          <p:cNvSpPr/>
          <p:nvPr/>
        </p:nvSpPr>
        <p:spPr>
          <a:xfrm>
            <a:off x="5023713"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D5</a:t>
            </a:r>
          </a:p>
        </p:txBody>
      </p:sp>
      <p:sp>
        <p:nvSpPr>
          <p:cNvPr id="9" name="Rounded Rectangle 8"/>
          <p:cNvSpPr/>
          <p:nvPr/>
        </p:nvSpPr>
        <p:spPr>
          <a:xfrm>
            <a:off x="6126480"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D6</a:t>
            </a:r>
          </a:p>
        </p:txBody>
      </p:sp>
      <p:sp>
        <p:nvSpPr>
          <p:cNvPr id="10" name="Rounded Rectangle 9"/>
          <p:cNvSpPr/>
          <p:nvPr/>
        </p:nvSpPr>
        <p:spPr>
          <a:xfrm>
            <a:off x="7229246"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D7</a:t>
            </a:r>
          </a:p>
        </p:txBody>
      </p:sp>
      <p:sp>
        <p:nvSpPr>
          <p:cNvPr id="11" name="Rounded Rectangle 10"/>
          <p:cNvSpPr/>
          <p:nvPr/>
        </p:nvSpPr>
        <p:spPr>
          <a:xfrm>
            <a:off x="8332012"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D8</a:t>
            </a:r>
          </a:p>
        </p:txBody>
      </p:sp>
      <p:sp>
        <p:nvSpPr>
          <p:cNvPr id="12" name="Rounded Rectangle 11"/>
          <p:cNvSpPr/>
          <p:nvPr/>
        </p:nvSpPr>
        <p:spPr>
          <a:xfrm>
            <a:off x="9434779"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D9</a:t>
            </a:r>
          </a:p>
        </p:txBody>
      </p:sp>
      <p:sp>
        <p:nvSpPr>
          <p:cNvPr id="13" name="Rounded Rectangle 12"/>
          <p:cNvSpPr/>
          <p:nvPr/>
        </p:nvSpPr>
        <p:spPr>
          <a:xfrm>
            <a:off x="10537545" y="1691640"/>
            <a:ext cx="1047902" cy="411480"/>
          </a:xfrm>
          <a:prstGeom prst="roundRect">
            <a:avLst>
              <a:gd name="adj" fmla="val 12000"/>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D10</a:t>
            </a:r>
          </a:p>
        </p:txBody>
      </p:sp>
      <p:sp>
        <p:nvSpPr>
          <p:cNvPr id="14" name="Rounded Rectangle 13"/>
          <p:cNvSpPr/>
          <p:nvPr/>
        </p:nvSpPr>
        <p:spPr>
          <a:xfrm>
            <a:off x="612648" y="2240280"/>
            <a:ext cx="1047902" cy="54864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Planning ≤4h</a:t>
            </a:r>
          </a:p>
        </p:txBody>
      </p:sp>
      <p:sp>
        <p:nvSpPr>
          <p:cNvPr id="15" name="Rounded Rectangle 14"/>
          <p:cNvSpPr/>
          <p:nvPr/>
        </p:nvSpPr>
        <p:spPr>
          <a:xfrm>
            <a:off x="1715414" y="2240280"/>
            <a:ext cx="9870033" cy="54864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Daily Scrum, 15 min every day</a:t>
            </a:r>
          </a:p>
        </p:txBody>
      </p:sp>
      <p:sp>
        <p:nvSpPr>
          <p:cNvPr id="16" name="Rounded Rectangle 15"/>
          <p:cNvSpPr/>
          <p:nvPr/>
        </p:nvSpPr>
        <p:spPr>
          <a:xfrm>
            <a:off x="2818180" y="2880360"/>
            <a:ext cx="1047902"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Refine</a:t>
            </a:r>
          </a:p>
        </p:txBody>
      </p:sp>
      <p:sp>
        <p:nvSpPr>
          <p:cNvPr id="17" name="Rounded Rectangle 16"/>
          <p:cNvSpPr/>
          <p:nvPr/>
        </p:nvSpPr>
        <p:spPr>
          <a:xfrm>
            <a:off x="8332012" y="2880360"/>
            <a:ext cx="1047902"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Refine</a:t>
            </a:r>
          </a:p>
        </p:txBody>
      </p:sp>
      <p:sp>
        <p:nvSpPr>
          <p:cNvPr id="18" name="Rounded Rectangle 17"/>
          <p:cNvSpPr/>
          <p:nvPr/>
        </p:nvSpPr>
        <p:spPr>
          <a:xfrm>
            <a:off x="10537545" y="2880360"/>
            <a:ext cx="1047902" cy="54864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Review ≤2h</a:t>
            </a:r>
          </a:p>
        </p:txBody>
      </p:sp>
      <p:sp>
        <p:nvSpPr>
          <p:cNvPr id="19" name="Rounded Rectangle 18"/>
          <p:cNvSpPr/>
          <p:nvPr/>
        </p:nvSpPr>
        <p:spPr>
          <a:xfrm>
            <a:off x="10537545" y="3520440"/>
            <a:ext cx="1047902" cy="54864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Retro ≤1.5h</a:t>
            </a:r>
          </a:p>
        </p:txBody>
      </p:sp>
      <p:sp>
        <p:nvSpPr>
          <p:cNvPr id="20" name="Rounded Rectangle 19"/>
          <p:cNvSpPr/>
          <p:nvPr/>
        </p:nvSpPr>
        <p:spPr>
          <a:xfrm>
            <a:off x="1715414" y="3520440"/>
            <a:ext cx="8767267"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Build and test together, story by story</a:t>
            </a:r>
          </a:p>
        </p:txBody>
      </p:sp>
      <p:sp>
        <p:nvSpPr>
          <p:cNvPr id="21" name="TextBox 20"/>
          <p:cNvSpPr txBox="1"/>
          <p:nvPr/>
        </p:nvSpPr>
        <p:spPr>
          <a:xfrm>
            <a:off x="612648" y="4343400"/>
            <a:ext cx="10972800" cy="1463040"/>
          </a:xfrm>
          <a:prstGeom prst="rect">
            <a:avLst/>
          </a:prstGeom>
          <a:noFill/>
        </p:spPr>
        <p:txBody>
          <a:bodyPr wrap="square" lIns="0" tIns="0" rIns="0" bIns="0">
            <a:spAutoFit/>
          </a:bodyPr>
          <a:lstStyle/>
          <a:p>
            <a:pPr marL="285750" indent="-285750">
              <a:spcAft>
                <a:spcPts val="600"/>
              </a:spcAft>
              <a:buFont typeface="Arial"/>
              <a:buChar char="•"/>
            </a:pPr>
            <a:r>
              <a:rPr sz="1600" b="0">
                <a:solidFill>
                  <a:srgbClr val="1A1A1A"/>
                </a:solidFill>
                <a:latin typeface="Arial"/>
              </a:rPr>
              <a:t>Timeboxes for a 2-week sprint; 1-month maximums: 8h, 4h, 3h</a:t>
            </a:r>
          </a:p>
          <a:p>
            <a:pPr marL="285750" indent="-285750">
              <a:spcAft>
                <a:spcPts val="600"/>
              </a:spcAft>
              <a:buFont typeface="Arial"/>
              <a:buChar char="•"/>
            </a:pPr>
            <a:r>
              <a:rPr sz="1600" b="0">
                <a:solidFill>
                  <a:srgbClr val="1A1A1A"/>
                </a:solidFill>
                <a:latin typeface="Arial"/>
              </a:rPr>
              <a:t>Refinement is an ongoing activity, often 1–2 sessions per sprint.</a:t>
            </a:r>
          </a:p>
        </p:txBody>
      </p:sp>
      <p:sp>
        <p:nvSpPr>
          <p:cNvPr id="22" name="TextBox 21"/>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7 / 30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Artifacts and Commitments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graphicFrame>
        <p:nvGraphicFramePr>
          <p:cNvPr id="4" name="Table 3"/>
          <p:cNvGraphicFramePr>
            <a:graphicFrameLocks noGrp="1"/>
          </p:cNvGraphicFramePr>
          <p:nvPr/>
        </p:nvGraphicFramePr>
        <p:xfrm>
          <a:off x="612648" y="1691640"/>
          <a:ext cx="10972800" cy="3108960"/>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777240">
                <a:tc>
                  <a:txBody>
                    <a:bodyPr/>
                    <a:lstStyle/>
                    <a:p>
                      <a:r>
                        <a:rPr sz="1700" b="1">
                          <a:solidFill>
                            <a:srgbClr val="FFFFFF"/>
                          </a:solidFill>
                          <a:latin typeface="Arial"/>
                        </a:rPr>
                        <a:t>Artifact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What it is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Commitment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extLst>
                  <a:ext uri="{0D108BD9-81ED-4DB2-BD59-A6C34878D82A}">
                    <a16:rowId xmlns:a16="http://schemas.microsoft.com/office/drawing/2014/main" val="10000"/>
                  </a:ext>
                </a:extLst>
              </a:tr>
              <a:tr h="777240">
                <a:tc>
                  <a:txBody>
                    <a:bodyPr/>
                    <a:lstStyle/>
                    <a:p>
                      <a:r>
                        <a:rPr sz="1700" b="1">
                          <a:solidFill>
                            <a:srgbClr val="330066"/>
                          </a:solidFill>
                          <a:latin typeface="Arial"/>
                        </a:rPr>
                        <a:t>Product Backlog</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Ordered list of everything the product might need; owned by the PO</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Product Goal: the long-term objective</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1"/>
                  </a:ext>
                </a:extLst>
              </a:tr>
              <a:tr h="777240">
                <a:tc>
                  <a:txBody>
                    <a:bodyPr/>
                    <a:lstStyle/>
                    <a:p>
                      <a:r>
                        <a:rPr sz="1700" b="1">
                          <a:solidFill>
                            <a:srgbClr val="330066"/>
                          </a:solidFill>
                          <a:latin typeface="Arial"/>
                        </a:rPr>
                        <a:t>Sprint Backlog</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Items chosen for this sprint plus a plan; owned by the Developers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Sprint Goal: the one objective for this sprint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2"/>
                  </a:ext>
                </a:extLst>
              </a:tr>
              <a:tr h="777240">
                <a:tc>
                  <a:txBody>
                    <a:bodyPr/>
                    <a:lstStyle/>
                    <a:p>
                      <a:r>
                        <a:rPr sz="1700" b="1">
                          <a:solidFill>
                            <a:srgbClr val="330066"/>
                          </a:solidFill>
                          <a:latin typeface="Arial"/>
                        </a:rPr>
                        <a:t>Increment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A usable step toward the Product Goal; increments add up</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Definition of Done: what "finished" means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8 / 30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Ready and Done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Rounded Rectangle 3"/>
          <p:cNvSpPr/>
          <p:nvPr/>
        </p:nvSpPr>
        <p:spPr>
          <a:xfrm>
            <a:off x="612648" y="1783080"/>
            <a:ext cx="3108960" cy="1554480"/>
          </a:xfrm>
          <a:prstGeom prst="roundRect">
            <a:avLst>
              <a:gd name="adj" fmla="val 12000"/>
            </a:avLst>
          </a:prstGeom>
          <a:solidFill>
            <a:srgbClr val="FBE5D6"/>
          </a:solidFill>
          <a:ln w="254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a:solidFill>
                  <a:srgbClr val="1A1A1A"/>
                </a:solidFill>
                <a:latin typeface="Arial"/>
              </a:rPr>
              <a:t>Definition of Ready</a:t>
            </a:r>
          </a:p>
          <a:p>
            <a:pPr algn="ctr"/>
            <a:r>
              <a:rPr sz="1600" b="0">
                <a:solidFill>
                  <a:srgbClr val="1A1A1A"/>
                </a:solidFill>
                <a:latin typeface="Arial"/>
              </a:rPr>
              <a:t>Is the story clear enough to start?</a:t>
            </a:r>
          </a:p>
        </p:txBody>
      </p:sp>
      <p:sp>
        <p:nvSpPr>
          <p:cNvPr id="5" name="Rounded Rectangle 4"/>
          <p:cNvSpPr/>
          <p:nvPr/>
        </p:nvSpPr>
        <p:spPr>
          <a:xfrm>
            <a:off x="4544568" y="2057400"/>
            <a:ext cx="3108960" cy="10058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Arial"/>
              </a:rPr>
              <a:t>Work in the sprint</a:t>
            </a:r>
          </a:p>
        </p:txBody>
      </p:sp>
      <p:sp>
        <p:nvSpPr>
          <p:cNvPr id="6" name="Rounded Rectangle 5"/>
          <p:cNvSpPr/>
          <p:nvPr/>
        </p:nvSpPr>
        <p:spPr>
          <a:xfrm>
            <a:off x="8476488" y="1783080"/>
            <a:ext cx="3108960" cy="1554480"/>
          </a:xfrm>
          <a:prstGeom prst="roundRect">
            <a:avLst>
              <a:gd name="adj" fmla="val 12000"/>
            </a:avLst>
          </a:prstGeom>
          <a:solidFill>
            <a:srgbClr val="FBE5D6"/>
          </a:solidFill>
          <a:ln w="254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0">
                <a:solidFill>
                  <a:srgbClr val="1A1A1A"/>
                </a:solidFill>
                <a:latin typeface="Arial"/>
              </a:rPr>
              <a:t>Definition of Done</a:t>
            </a:r>
          </a:p>
          <a:p>
            <a:pPr algn="ctr"/>
            <a:r>
              <a:rPr sz="1600" b="0">
                <a:solidFill>
                  <a:srgbClr val="1A1A1A"/>
                </a:solidFill>
                <a:latin typeface="Arial"/>
              </a:rPr>
              <a:t>Is it really finished?</a:t>
            </a:r>
          </a:p>
        </p:txBody>
      </p:sp>
      <p:cxnSp>
        <p:nvCxnSpPr>
          <p:cNvPr id="7" name="Connector 6"/>
          <p:cNvCxnSpPr/>
          <p:nvPr/>
        </p:nvCxnSpPr>
        <p:spPr>
          <a:xfrm>
            <a:off x="3767328" y="2560320"/>
            <a:ext cx="73152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99248" y="2560320"/>
            <a:ext cx="73152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12648" y="3611880"/>
            <a:ext cx="5120640" cy="2377440"/>
          </a:xfrm>
          <a:prstGeom prst="rect">
            <a:avLst/>
          </a:prstGeom>
          <a:noFill/>
        </p:spPr>
        <p:txBody>
          <a:bodyPr wrap="square" lIns="0" tIns="0" rIns="0" bIns="0">
            <a:spAutoFit/>
          </a:bodyPr>
          <a:lstStyle/>
          <a:p>
            <a:pPr marL="285750" indent="-285750">
              <a:spcAft>
                <a:spcPts val="600"/>
              </a:spcAft>
              <a:buFont typeface="Arial"/>
              <a:buChar char="•"/>
            </a:pPr>
            <a:r>
              <a:rPr sz="1600" b="0">
                <a:solidFill>
                  <a:srgbClr val="1A1A1A"/>
                </a:solidFill>
                <a:latin typeface="Arial"/>
              </a:rPr>
              <a:t>Has acceptance criteria</a:t>
            </a:r>
          </a:p>
          <a:p>
            <a:pPr marL="285750" indent="-285750">
              <a:spcAft>
                <a:spcPts val="600"/>
              </a:spcAft>
              <a:buFont typeface="Arial"/>
              <a:buChar char="•"/>
            </a:pPr>
            <a:r>
              <a:rPr sz="1600" b="0">
                <a:solidFill>
                  <a:srgbClr val="1A1A1A"/>
                </a:solidFill>
                <a:latin typeface="Arial"/>
              </a:rPr>
              <a:t>Estimated</a:t>
            </a:r>
          </a:p>
          <a:p>
            <a:pPr marL="285750" indent="-285750">
              <a:spcAft>
                <a:spcPts val="600"/>
              </a:spcAft>
              <a:buFont typeface="Arial"/>
              <a:buChar char="•"/>
            </a:pPr>
            <a:r>
              <a:rPr sz="1600" b="0">
                <a:solidFill>
                  <a:srgbClr val="1A1A1A"/>
                </a:solidFill>
                <a:latin typeface="Arial"/>
              </a:rPr>
              <a:t>No blocking dependencies</a:t>
            </a:r>
          </a:p>
          <a:p>
            <a:pPr marL="285750" indent="-285750">
              <a:spcAft>
                <a:spcPts val="600"/>
              </a:spcAft>
              <a:buFont typeface="Arial"/>
              <a:buChar char="•"/>
            </a:pPr>
            <a:r>
              <a:rPr sz="1600" b="0">
                <a:solidFill>
                  <a:srgbClr val="1A1A1A"/>
                </a:solidFill>
                <a:latin typeface="Arial"/>
              </a:rPr>
              <a:t>Team practice, not official Scrum</a:t>
            </a:r>
          </a:p>
        </p:txBody>
      </p:sp>
      <p:sp>
        <p:nvSpPr>
          <p:cNvPr id="10" name="TextBox 9"/>
          <p:cNvSpPr txBox="1"/>
          <p:nvPr/>
        </p:nvSpPr>
        <p:spPr>
          <a:xfrm>
            <a:off x="6464808" y="3611880"/>
            <a:ext cx="5120640" cy="2377440"/>
          </a:xfrm>
          <a:prstGeom prst="rect">
            <a:avLst/>
          </a:prstGeom>
          <a:noFill/>
        </p:spPr>
        <p:txBody>
          <a:bodyPr wrap="square" lIns="0" tIns="0" rIns="0" bIns="0">
            <a:spAutoFit/>
          </a:bodyPr>
          <a:lstStyle/>
          <a:p>
            <a:pPr marL="285750" indent="-285750">
              <a:spcAft>
                <a:spcPts val="600"/>
              </a:spcAft>
              <a:buFont typeface="Arial"/>
              <a:buChar char="•"/>
            </a:pPr>
            <a:r>
              <a:rPr sz="1600" b="0">
                <a:solidFill>
                  <a:srgbClr val="1A1A1A"/>
                </a:solidFill>
                <a:latin typeface="Arial"/>
              </a:rPr>
              <a:t>Code reviewed; unit tests pass</a:t>
            </a:r>
          </a:p>
          <a:p>
            <a:pPr marL="285750" indent="-285750">
              <a:spcAft>
                <a:spcPts val="600"/>
              </a:spcAft>
              <a:buFont typeface="Arial"/>
              <a:buChar char="•"/>
            </a:pPr>
            <a:r>
              <a:rPr sz="1600" b="0">
                <a:solidFill>
                  <a:srgbClr val="1A1A1A"/>
                </a:solidFill>
                <a:latin typeface="Arial"/>
              </a:rPr>
              <a:t>Acceptance criteria tested</a:t>
            </a:r>
          </a:p>
          <a:p>
            <a:pPr marL="285750" indent="-285750">
              <a:spcAft>
                <a:spcPts val="600"/>
              </a:spcAft>
              <a:buFont typeface="Arial"/>
              <a:buChar char="•"/>
            </a:pPr>
            <a:r>
              <a:rPr sz="1600" b="0">
                <a:solidFill>
                  <a:srgbClr val="1A1A1A"/>
                </a:solidFill>
                <a:latin typeface="Arial"/>
              </a:rPr>
              <a:t>No open critical or high bugs</a:t>
            </a:r>
          </a:p>
          <a:p>
            <a:pPr marL="285750" indent="-285750">
              <a:spcAft>
                <a:spcPts val="600"/>
              </a:spcAft>
              <a:buFont typeface="Arial"/>
              <a:buChar char="•"/>
            </a:pPr>
            <a:r>
              <a:rPr sz="1600" b="0">
                <a:solidFill>
                  <a:srgbClr val="1A1A1A"/>
                </a:solidFill>
                <a:latin typeface="Arial"/>
              </a:rPr>
              <a:t>Regression passed; PO accepted</a:t>
            </a:r>
          </a:p>
        </p:txBody>
      </p:sp>
      <p:sp>
        <p:nvSpPr>
          <p:cNvPr id="11" name="TextBox 10"/>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9 / 30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Stories, Estimation and Refinement</a:t>
            </a:r>
          </a:p>
        </p:txBody>
      </p:sp>
      <p:sp>
        <p:nvSpPr>
          <p:cNvPr id="3" name="Text Placeholder 2"/>
          <p:cNvSpPr>
            <a:spLocks noGrp="1"/>
          </p:cNvSpPr>
          <p:nvPr>
            <p:ph type="body" idx="1"/>
          </p:nvPr>
        </p:nvSpPr>
        <p:spPr/>
        <p:txBody>
          <a:bodyPr/>
          <a:lstStyle/>
          <a:p>
            <a:r>
              <a:t>User stories, Given/When/Then, story points, burndown</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02</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10 / 30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Stories and INVEST</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Rounded Rectangle 3"/>
          <p:cNvSpPr/>
          <p:nvPr/>
        </p:nvSpPr>
        <p:spPr>
          <a:xfrm>
            <a:off x="612648" y="1691640"/>
            <a:ext cx="10972800" cy="86868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0">
                <a:solidFill>
                  <a:srgbClr val="1A1A1A"/>
                </a:solidFill>
                <a:latin typeface="Arial"/>
              </a:rPr>
              <a:t>As a [type of user], I want [goal], so that [benefit].</a:t>
            </a:r>
          </a:p>
        </p:txBody>
      </p:sp>
      <p:sp>
        <p:nvSpPr>
          <p:cNvPr id="5" name="TextBox 4"/>
          <p:cNvSpPr txBox="1"/>
          <p:nvPr/>
        </p:nvSpPr>
        <p:spPr>
          <a:xfrm>
            <a:off x="612648" y="2697480"/>
            <a:ext cx="10972800" cy="457200"/>
          </a:xfrm>
          <a:prstGeom prst="rect">
            <a:avLst/>
          </a:prstGeom>
          <a:noFill/>
        </p:spPr>
        <p:txBody>
          <a:bodyPr wrap="square" lIns="0" tIns="0" rIns="0" bIns="0">
            <a:spAutoFit/>
          </a:bodyPr>
          <a:lstStyle/>
          <a:p>
            <a:pPr>
              <a:spcAft>
                <a:spcPts val="600"/>
              </a:spcAft>
            </a:pPr>
            <a:r>
              <a:rPr sz="1700" b="0">
                <a:solidFill>
                  <a:srgbClr val="5A5A5A"/>
                </a:solidFill>
                <a:latin typeface="Arial"/>
              </a:rPr>
              <a:t>Example: As a shopper, I want to save my address so that I don't retype it.</a:t>
            </a:r>
          </a:p>
        </p:txBody>
      </p:sp>
      <p:sp>
        <p:nvSpPr>
          <p:cNvPr id="6" name="Rounded Rectangle 5"/>
          <p:cNvSpPr/>
          <p:nvPr/>
        </p:nvSpPr>
        <p:spPr>
          <a:xfrm>
            <a:off x="612648" y="3429000"/>
            <a:ext cx="1676400" cy="11430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a:solidFill>
                  <a:srgbClr val="FFFFFF"/>
                </a:solidFill>
                <a:latin typeface="Arial"/>
              </a:rPr>
              <a:t>I</a:t>
            </a:r>
          </a:p>
          <a:p>
            <a:pPr algn="ctr"/>
            <a:r>
              <a:rPr sz="2000" b="0">
                <a:solidFill>
                  <a:srgbClr val="FFFFFF"/>
                </a:solidFill>
                <a:latin typeface="Arial"/>
              </a:rPr>
              <a:t>Independent</a:t>
            </a:r>
          </a:p>
        </p:txBody>
      </p:sp>
      <p:sp>
        <p:nvSpPr>
          <p:cNvPr id="7" name="Rounded Rectangle 6"/>
          <p:cNvSpPr/>
          <p:nvPr/>
        </p:nvSpPr>
        <p:spPr>
          <a:xfrm>
            <a:off x="2471928" y="3429000"/>
            <a:ext cx="1676400" cy="11430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a:solidFill>
                  <a:srgbClr val="FFFFFF"/>
                </a:solidFill>
                <a:latin typeface="Arial"/>
              </a:rPr>
              <a:t>N</a:t>
            </a:r>
          </a:p>
          <a:p>
            <a:pPr algn="ctr"/>
            <a:r>
              <a:rPr sz="2000" b="0">
                <a:solidFill>
                  <a:srgbClr val="FFFFFF"/>
                </a:solidFill>
                <a:latin typeface="Arial"/>
              </a:rPr>
              <a:t>Negotiable</a:t>
            </a:r>
          </a:p>
        </p:txBody>
      </p:sp>
      <p:sp>
        <p:nvSpPr>
          <p:cNvPr id="8" name="Rounded Rectangle 7"/>
          <p:cNvSpPr/>
          <p:nvPr/>
        </p:nvSpPr>
        <p:spPr>
          <a:xfrm>
            <a:off x="4331208" y="3429000"/>
            <a:ext cx="1676400" cy="11430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a:solidFill>
                  <a:srgbClr val="FFFFFF"/>
                </a:solidFill>
                <a:latin typeface="Arial"/>
              </a:rPr>
              <a:t>V</a:t>
            </a:r>
          </a:p>
          <a:p>
            <a:pPr algn="ctr"/>
            <a:r>
              <a:rPr sz="2000" b="0">
                <a:solidFill>
                  <a:srgbClr val="FFFFFF"/>
                </a:solidFill>
                <a:latin typeface="Arial"/>
              </a:rPr>
              <a:t>Valuable</a:t>
            </a:r>
          </a:p>
        </p:txBody>
      </p:sp>
      <p:sp>
        <p:nvSpPr>
          <p:cNvPr id="9" name="Rounded Rectangle 8"/>
          <p:cNvSpPr/>
          <p:nvPr/>
        </p:nvSpPr>
        <p:spPr>
          <a:xfrm>
            <a:off x="6190488" y="3429000"/>
            <a:ext cx="1676400" cy="11430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a:solidFill>
                  <a:srgbClr val="FFFFFF"/>
                </a:solidFill>
                <a:latin typeface="Arial"/>
              </a:rPr>
              <a:t>E</a:t>
            </a:r>
          </a:p>
          <a:p>
            <a:pPr algn="ctr"/>
            <a:r>
              <a:rPr sz="2000" b="0">
                <a:solidFill>
                  <a:srgbClr val="FFFFFF"/>
                </a:solidFill>
                <a:latin typeface="Arial"/>
              </a:rPr>
              <a:t>Estimable</a:t>
            </a:r>
          </a:p>
        </p:txBody>
      </p:sp>
      <p:sp>
        <p:nvSpPr>
          <p:cNvPr id="10" name="Rounded Rectangle 9"/>
          <p:cNvSpPr/>
          <p:nvPr/>
        </p:nvSpPr>
        <p:spPr>
          <a:xfrm>
            <a:off x="8049767" y="3429000"/>
            <a:ext cx="1676400" cy="11430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a:solidFill>
                  <a:srgbClr val="FFFFFF"/>
                </a:solidFill>
                <a:latin typeface="Arial"/>
              </a:rPr>
              <a:t>S</a:t>
            </a:r>
          </a:p>
          <a:p>
            <a:pPr algn="ctr"/>
            <a:r>
              <a:rPr sz="2000" b="0">
                <a:solidFill>
                  <a:srgbClr val="FFFFFF"/>
                </a:solidFill>
                <a:latin typeface="Arial"/>
              </a:rPr>
              <a:t>Small</a:t>
            </a:r>
          </a:p>
        </p:txBody>
      </p:sp>
      <p:sp>
        <p:nvSpPr>
          <p:cNvPr id="11" name="Rounded Rectangle 10"/>
          <p:cNvSpPr/>
          <p:nvPr/>
        </p:nvSpPr>
        <p:spPr>
          <a:xfrm>
            <a:off x="9909048" y="3429000"/>
            <a:ext cx="1676400" cy="114300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a:solidFill>
                  <a:srgbClr val="FFFFFF"/>
                </a:solidFill>
                <a:latin typeface="Arial"/>
              </a:rPr>
              <a:t>T</a:t>
            </a:r>
          </a:p>
          <a:p>
            <a:pPr algn="ctr"/>
            <a:r>
              <a:rPr sz="2000" b="0">
                <a:solidFill>
                  <a:srgbClr val="FFFFFF"/>
                </a:solidFill>
                <a:latin typeface="Arial"/>
              </a:rPr>
              <a:t>Testable</a:t>
            </a:r>
          </a:p>
        </p:txBody>
      </p:sp>
      <p:sp>
        <p:nvSpPr>
          <p:cNvPr id="12" name="TextBox 11"/>
          <p:cNvSpPr txBox="1"/>
          <p:nvPr/>
        </p:nvSpPr>
        <p:spPr>
          <a:xfrm>
            <a:off x="612648" y="4800600"/>
            <a:ext cx="10972800" cy="1097280"/>
          </a:xfrm>
          <a:prstGeom prst="rect">
            <a:avLst/>
          </a:prstGeom>
          <a:noFill/>
        </p:spPr>
        <p:txBody>
          <a:bodyPr wrap="square" lIns="0" tIns="0" rIns="0" bIns="0">
            <a:spAutoFit/>
          </a:bodyPr>
          <a:lstStyle/>
          <a:p>
            <a:pPr>
              <a:spcAft>
                <a:spcPts val="600"/>
              </a:spcAft>
            </a:pPr>
            <a:r>
              <a:rPr sz="1700" b="0">
                <a:solidFill>
                  <a:srgbClr val="1A1A1A"/>
                </a:solidFill>
                <a:latin typeface="Arial"/>
              </a:rPr>
              <a:t>INVEST: a good story. T is the QE's special lens: if you can't imagine how to test it, it isn't ready.</a:t>
            </a:r>
          </a:p>
        </p:txBody>
      </p:sp>
      <p:sp>
        <p:nvSpPr>
          <p:cNvPr id="13" name="TextBox 12"/>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11 / 30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Acceptance Criteria: Given / When / Then</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Rounded Rectangle 3"/>
          <p:cNvSpPr/>
          <p:nvPr/>
        </p:nvSpPr>
        <p:spPr>
          <a:xfrm>
            <a:off x="612648" y="1645920"/>
            <a:ext cx="3505200" cy="173736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5" name="TextBox 4"/>
          <p:cNvSpPr txBox="1"/>
          <p:nvPr/>
        </p:nvSpPr>
        <p:spPr>
          <a:xfrm>
            <a:off x="813816" y="1783080"/>
            <a:ext cx="3102864" cy="1463039"/>
          </a:xfrm>
          <a:prstGeom prst="rect">
            <a:avLst/>
          </a:prstGeom>
          <a:noFill/>
        </p:spPr>
        <p:txBody>
          <a:bodyPr wrap="square" lIns="0" tIns="0" rIns="0" bIns="0">
            <a:spAutoFit/>
          </a:bodyPr>
          <a:lstStyle/>
          <a:p>
            <a:pPr>
              <a:spcAft>
                <a:spcPts val="400"/>
              </a:spcAft>
            </a:pPr>
            <a:r>
              <a:rPr sz="1900" b="1">
                <a:solidFill>
                  <a:srgbClr val="330066"/>
                </a:solidFill>
                <a:latin typeface="Arial"/>
              </a:rPr>
              <a:t>Given</a:t>
            </a:r>
          </a:p>
          <a:p>
            <a:pPr>
              <a:spcAft>
                <a:spcPts val="400"/>
              </a:spcAft>
            </a:pPr>
            <a:r>
              <a:rPr sz="1900" b="0">
                <a:solidFill>
                  <a:srgbClr val="1A1A1A"/>
                </a:solidFill>
                <a:latin typeface="Arial"/>
              </a:rPr>
              <a:t>A starting situation: the context or preconditions.</a:t>
            </a:r>
          </a:p>
        </p:txBody>
      </p:sp>
      <p:sp>
        <p:nvSpPr>
          <p:cNvPr id="6" name="Rounded Rectangle 5"/>
          <p:cNvSpPr/>
          <p:nvPr/>
        </p:nvSpPr>
        <p:spPr>
          <a:xfrm>
            <a:off x="4346448" y="1645920"/>
            <a:ext cx="3505200" cy="1737360"/>
          </a:xfrm>
          <a:prstGeom prst="roundRect">
            <a:avLst>
              <a:gd name="adj" fmla="val 12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7" name="TextBox 6"/>
          <p:cNvSpPr txBox="1"/>
          <p:nvPr/>
        </p:nvSpPr>
        <p:spPr>
          <a:xfrm>
            <a:off x="4547616" y="1783080"/>
            <a:ext cx="3102864" cy="1463039"/>
          </a:xfrm>
          <a:prstGeom prst="rect">
            <a:avLst/>
          </a:prstGeom>
          <a:noFill/>
        </p:spPr>
        <p:txBody>
          <a:bodyPr wrap="square" lIns="0" tIns="0" rIns="0" bIns="0">
            <a:spAutoFit/>
          </a:bodyPr>
          <a:lstStyle/>
          <a:p>
            <a:pPr>
              <a:spcAft>
                <a:spcPts val="400"/>
              </a:spcAft>
            </a:pPr>
            <a:r>
              <a:rPr sz="1900" b="1">
                <a:solidFill>
                  <a:srgbClr val="330066"/>
                </a:solidFill>
                <a:latin typeface="Arial"/>
              </a:rPr>
              <a:t>When</a:t>
            </a:r>
          </a:p>
          <a:p>
            <a:pPr>
              <a:spcAft>
                <a:spcPts val="400"/>
              </a:spcAft>
            </a:pPr>
            <a:r>
              <a:rPr sz="1900" b="0">
                <a:solidFill>
                  <a:srgbClr val="1A1A1A"/>
                </a:solidFill>
                <a:latin typeface="Arial"/>
              </a:rPr>
              <a:t>Something happens: a user or system action.</a:t>
            </a:r>
          </a:p>
        </p:txBody>
      </p:sp>
      <p:sp>
        <p:nvSpPr>
          <p:cNvPr id="8" name="Rounded Rectangle 7"/>
          <p:cNvSpPr/>
          <p:nvPr/>
        </p:nvSpPr>
        <p:spPr>
          <a:xfrm>
            <a:off x="8080248" y="1645920"/>
            <a:ext cx="3505200" cy="173736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9" name="TextBox 8"/>
          <p:cNvSpPr txBox="1"/>
          <p:nvPr/>
        </p:nvSpPr>
        <p:spPr>
          <a:xfrm>
            <a:off x="8281416" y="1783080"/>
            <a:ext cx="3102864" cy="1463039"/>
          </a:xfrm>
          <a:prstGeom prst="rect">
            <a:avLst/>
          </a:prstGeom>
          <a:noFill/>
        </p:spPr>
        <p:txBody>
          <a:bodyPr wrap="square" lIns="0" tIns="0" rIns="0" bIns="0">
            <a:spAutoFit/>
          </a:bodyPr>
          <a:lstStyle/>
          <a:p>
            <a:pPr>
              <a:spcAft>
                <a:spcPts val="400"/>
              </a:spcAft>
            </a:pPr>
            <a:r>
              <a:rPr sz="1900" b="1">
                <a:solidFill>
                  <a:srgbClr val="330066"/>
                </a:solidFill>
                <a:latin typeface="Arial"/>
              </a:rPr>
              <a:t>Then</a:t>
            </a:r>
          </a:p>
          <a:p>
            <a:pPr>
              <a:spcAft>
                <a:spcPts val="400"/>
              </a:spcAft>
            </a:pPr>
            <a:r>
              <a:rPr sz="1900" b="0">
                <a:solidFill>
                  <a:srgbClr val="1A1A1A"/>
                </a:solidFill>
                <a:latin typeface="Arial"/>
              </a:rPr>
              <a:t>An observable result. Every Then must be checkable.</a:t>
            </a:r>
          </a:p>
        </p:txBody>
      </p:sp>
      <p:sp>
        <p:nvSpPr>
          <p:cNvPr id="10" name="Rounded Rectangle 9"/>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11" name="TextBox 10"/>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EXAMPLE</a:t>
            </a:r>
          </a:p>
          <a:p>
            <a:pPr>
              <a:spcAft>
                <a:spcPts val="300"/>
              </a:spcAft>
            </a:pPr>
            <a:r>
              <a:rPr sz="1600" b="0">
                <a:solidFill>
                  <a:srgbClr val="1A1A1A"/>
                </a:solidFill>
                <a:latin typeface="Arial"/>
              </a:rPr>
              <a:t>Given I am on the login page with a registered account, When I enter a wrong password and click Log in, Then I see "Invalid email or password" and stay on the page.</a:t>
            </a:r>
          </a:p>
        </p:txBody>
      </p:sp>
      <p:sp>
        <p:nvSpPr>
          <p:cNvPr id="12" name="TextBox 11"/>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12 / 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Story Points, Planning Poker, Velocity</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200"/>
              </a:spcAft>
              <a:buFont typeface="Arial"/>
              <a:buChar char="•"/>
            </a:pPr>
            <a:r>
              <a:rPr sz="2200" b="0">
                <a:solidFill>
                  <a:srgbClr val="1A1A1A"/>
                </a:solidFill>
                <a:latin typeface="Arial"/>
              </a:rPr>
              <a:t>Story points: relative size, not hours (1, 2, 3, 5, 8, 13…)</a:t>
            </a:r>
          </a:p>
          <a:p>
            <a:pPr marL="285750" indent="-285750">
              <a:spcAft>
                <a:spcPts val="2200"/>
              </a:spcAft>
              <a:buFont typeface="Arial"/>
              <a:buChar char="•"/>
            </a:pPr>
            <a:r>
              <a:rPr sz="2200" b="0">
                <a:solidFill>
                  <a:srgbClr val="1A1A1A"/>
                </a:solidFill>
                <a:latin typeface="Arial"/>
              </a:rPr>
              <a:t>Points include testing effort, not only coding</a:t>
            </a:r>
          </a:p>
          <a:p>
            <a:pPr marL="285750" indent="-285750">
              <a:spcAft>
                <a:spcPts val="2200"/>
              </a:spcAft>
              <a:buFont typeface="Arial"/>
              <a:buChar char="•"/>
            </a:pPr>
            <a:r>
              <a:rPr sz="2200" b="0">
                <a:solidFill>
                  <a:srgbClr val="1A1A1A"/>
                </a:solidFill>
                <a:latin typeface="Arial"/>
              </a:rPr>
              <a:t>Planning poker: everyone votes privately, reveals at once</a:t>
            </a:r>
          </a:p>
          <a:p>
            <a:pPr marL="285750" indent="-285750">
              <a:spcAft>
                <a:spcPts val="2200"/>
              </a:spcAft>
              <a:buFont typeface="Arial"/>
              <a:buChar char="•"/>
            </a:pPr>
            <a:r>
              <a:rPr sz="2200" b="0">
                <a:solidFill>
                  <a:srgbClr val="1A1A1A"/>
                </a:solidFill>
                <a:latin typeface="Arial"/>
              </a:rPr>
              <a:t>Big gaps? Highest and lowest voters explain, then re-vote</a:t>
            </a:r>
          </a:p>
          <a:p>
            <a:pPr marL="285750" indent="-285750">
              <a:spcAft>
                <a:spcPts val="2200"/>
              </a:spcAft>
              <a:buFont typeface="Arial"/>
              <a:buChar char="•"/>
            </a:pPr>
            <a:r>
              <a:rPr sz="2200" b="0">
                <a:solidFill>
                  <a:srgbClr val="1A1A1A"/>
                </a:solidFill>
                <a:latin typeface="Arial"/>
              </a:rPr>
              <a:t>Velocity: points completed (meeting DoD) per sprint</a:t>
            </a:r>
          </a:p>
          <a:p>
            <a:pPr marL="285750" indent="-285750">
              <a:spcAft>
                <a:spcPts val="2200"/>
              </a:spcAft>
              <a:buFont typeface="Arial"/>
              <a:buChar char="•"/>
            </a:pPr>
            <a:r>
              <a:rPr sz="2200" b="0">
                <a:solidFill>
                  <a:srgbClr val="1A1A1A"/>
                </a:solidFill>
                <a:latin typeface="Arial"/>
              </a:rPr>
              <a:t>Velocity forecasts one team; never compare teams with it</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13 / 30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a Burndown Chart</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graphicFrame>
        <p:nvGraphicFramePr>
          <p:cNvPr id="4" name="Chart 3"/>
          <p:cNvGraphicFramePr>
            <a:graphicFrameLocks noGrp="1"/>
          </p:cNvGraphicFramePr>
          <p:nvPr/>
        </p:nvGraphicFramePr>
        <p:xfrm>
          <a:off x="612648" y="164592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7863840" y="1828800"/>
            <a:ext cx="3657600" cy="4114800"/>
          </a:xfrm>
          <a:prstGeom prst="rect">
            <a:avLst/>
          </a:prstGeom>
          <a:noFill/>
        </p:spPr>
        <p:txBody>
          <a:bodyPr wrap="square" lIns="0" tIns="0" rIns="0" bIns="0">
            <a:spAutoFit/>
          </a:bodyPr>
          <a:lstStyle/>
          <a:p>
            <a:pPr marL="285750" indent="-285750">
              <a:spcAft>
                <a:spcPts val="1200"/>
              </a:spcAft>
              <a:buFont typeface="Arial"/>
              <a:buChar char="•"/>
            </a:pPr>
            <a:r>
              <a:rPr sz="1700" b="0">
                <a:solidFill>
                  <a:srgbClr val="1A1A1A"/>
                </a:solidFill>
                <a:latin typeface="Arial"/>
              </a:rPr>
              <a:t>Actual above ideal: behind; discuss at the Daily Scrum.</a:t>
            </a:r>
          </a:p>
          <a:p>
            <a:pPr marL="285750" indent="-285750">
              <a:spcAft>
                <a:spcPts val="1200"/>
              </a:spcAft>
              <a:buFont typeface="Arial"/>
              <a:buChar char="•"/>
            </a:pPr>
            <a:r>
              <a:rPr sz="1700" b="0">
                <a:solidFill>
                  <a:srgbClr val="1A1A1A"/>
                </a:solidFill>
                <a:latin typeface="Arial"/>
              </a:rPr>
              <a:t>Actual below ideal: ahead, or estimates were high.</a:t>
            </a:r>
          </a:p>
          <a:p>
            <a:pPr marL="285750" indent="-285750">
              <a:spcAft>
                <a:spcPts val="1200"/>
              </a:spcAft>
              <a:buFont typeface="Arial"/>
              <a:buChar char="•"/>
            </a:pPr>
            <a:r>
              <a:rPr sz="1700" b="0">
                <a:solidFill>
                  <a:srgbClr val="1A1A1A"/>
                </a:solidFill>
                <a:latin typeface="Arial"/>
              </a:rPr>
              <a:t>Flat line: work stuck, often waiting for testing.</a:t>
            </a:r>
          </a:p>
        </p:txBody>
      </p:sp>
      <p:sp>
        <p:nvSpPr>
          <p:cNvPr id="6" name="TextBox 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14 / 30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Backlog Refinement (an Activity)</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200"/>
              </a:spcAft>
              <a:buFont typeface="Arial"/>
              <a:buChar char="•"/>
            </a:pPr>
            <a:r>
              <a:rPr sz="2200" b="0">
                <a:solidFill>
                  <a:srgbClr val="1A1A1A"/>
                </a:solidFill>
                <a:latin typeface="Arial"/>
              </a:rPr>
              <a:t>Break down, clarify and estimate upcoming backlog items</a:t>
            </a:r>
          </a:p>
          <a:p>
            <a:pPr marL="285750" indent="-285750">
              <a:spcAft>
                <a:spcPts val="2200"/>
              </a:spcAft>
              <a:buFont typeface="Arial"/>
              <a:buChar char="•"/>
            </a:pPr>
            <a:r>
              <a:rPr sz="2200" b="0">
                <a:solidFill>
                  <a:srgbClr val="1A1A1A"/>
                </a:solidFill>
                <a:latin typeface="Arial"/>
              </a:rPr>
              <a:t>Ongoing activity, not a Scrum event; often 1–2 sessions a sprint</a:t>
            </a:r>
          </a:p>
          <a:p>
            <a:pPr marL="285750" indent="-285750">
              <a:spcAft>
                <a:spcPts val="2200"/>
              </a:spcAft>
              <a:buFont typeface="Arial"/>
              <a:buChar char="•"/>
            </a:pPr>
            <a:r>
              <a:rPr sz="2200" b="0">
                <a:solidFill>
                  <a:srgbClr val="1A1A1A"/>
                </a:solidFill>
                <a:latin typeface="Arial"/>
              </a:rPr>
              <a:t>PO explains value; Developers, including QEs, ask and estimate</a:t>
            </a:r>
          </a:p>
          <a:p>
            <a:pPr marL="285750" indent="-285750">
              <a:spcAft>
                <a:spcPts val="2200"/>
              </a:spcAft>
              <a:buFont typeface="Arial"/>
              <a:buChar char="•"/>
            </a:pPr>
            <a:r>
              <a:rPr sz="2200" b="0">
                <a:solidFill>
                  <a:srgbClr val="1A1A1A"/>
                </a:solidFill>
                <a:latin typeface="Arial"/>
              </a:rPr>
              <a:t>QE asks of every story: how will we test this?</a:t>
            </a:r>
          </a:p>
          <a:p>
            <a:pPr marL="285750" indent="-285750">
              <a:spcAft>
                <a:spcPts val="2200"/>
              </a:spcAft>
              <a:buFont typeface="Arial"/>
              <a:buChar char="•"/>
            </a:pPr>
            <a:r>
              <a:rPr sz="2200" b="0">
                <a:solidFill>
                  <a:srgbClr val="1A1A1A"/>
                </a:solidFill>
                <a:latin typeface="Arial"/>
              </a:rPr>
              <a:t>QE challenges vague words and adds missing edge cases</a:t>
            </a:r>
          </a:p>
          <a:p>
            <a:pPr marL="285750" indent="-285750">
              <a:spcAft>
                <a:spcPts val="2200"/>
              </a:spcAft>
              <a:buFont typeface="Arial"/>
              <a:buChar char="•"/>
            </a:pPr>
            <a:r>
              <a:rPr sz="2200" b="0">
                <a:solidFill>
                  <a:srgbClr val="1A1A1A"/>
                </a:solidFill>
                <a:latin typeface="Arial"/>
              </a:rPr>
              <a:t>Output: small, clear, estimated, testable stories</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15 / 30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Scrum Events</a:t>
            </a:r>
          </a:p>
        </p:txBody>
      </p:sp>
      <p:sp>
        <p:nvSpPr>
          <p:cNvPr id="3" name="Text Placeholder 2"/>
          <p:cNvSpPr>
            <a:spLocks noGrp="1"/>
          </p:cNvSpPr>
          <p:nvPr>
            <p:ph type="body" idx="1"/>
          </p:nvPr>
        </p:nvSpPr>
        <p:spPr/>
        <p:txBody>
          <a:bodyPr/>
          <a:lstStyle/>
          <a:p>
            <a:r>
              <a:t>Planning, Daily Scrum, Review and Retrospective, inside the Sprint</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03</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16 / 30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Sprint Planning</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Purpose: agree a Sprint Goal, choose the work for it, and plan how to do it.</a:t>
            </a:r>
          </a:p>
        </p:txBody>
      </p:sp>
      <p:sp>
        <p:nvSpPr>
          <p:cNvPr id="5" name="Rounded Rectangle 4"/>
          <p:cNvSpPr/>
          <p:nvPr/>
        </p:nvSpPr>
        <p:spPr>
          <a:xfrm>
            <a:off x="612648" y="2240280"/>
            <a:ext cx="5120640" cy="25603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6" name="TextBox 5"/>
          <p:cNvSpPr txBox="1"/>
          <p:nvPr/>
        </p:nvSpPr>
        <p:spPr>
          <a:xfrm>
            <a:off x="795528" y="2350008"/>
            <a:ext cx="4754880" cy="2377440"/>
          </a:xfrm>
          <a:prstGeom prst="rect">
            <a:avLst/>
          </a:prstGeom>
          <a:noFill/>
        </p:spPr>
        <p:txBody>
          <a:bodyPr wrap="square" lIns="0" tIns="0" rIns="0" bIns="0">
            <a:spAutoFit/>
          </a:bodyPr>
          <a:lstStyle/>
          <a:p>
            <a:pPr>
              <a:spcAft>
                <a:spcPts val="1000"/>
              </a:spcAft>
            </a:pPr>
            <a:r>
              <a:rPr sz="1700" b="1">
                <a:solidFill>
                  <a:srgbClr val="5B2C83"/>
                </a:solidFill>
                <a:latin typeface="Arial"/>
              </a:rPr>
              <a:t>Who: </a:t>
            </a:r>
            <a:r>
              <a:rPr sz="1700" b="0">
                <a:solidFill>
                  <a:srgbClr val="1A1A1A"/>
                </a:solidFill>
                <a:latin typeface="Arial"/>
              </a:rPr>
              <a:t>the whole Scrum Team.</a:t>
            </a:r>
          </a:p>
          <a:p>
            <a:pPr>
              <a:spcAft>
                <a:spcPts val="1000"/>
              </a:spcAft>
            </a:pPr>
            <a:r>
              <a:rPr sz="1700" b="1">
                <a:solidFill>
                  <a:srgbClr val="5B2C83"/>
                </a:solidFill>
                <a:latin typeface="Arial"/>
              </a:rPr>
              <a:t>Timebox: </a:t>
            </a:r>
            <a:r>
              <a:rPr sz="1700" b="0">
                <a:solidFill>
                  <a:srgbClr val="1A1A1A"/>
                </a:solidFill>
                <a:latin typeface="Arial"/>
              </a:rPr>
              <a:t>up to 4 h (2-week sprint).</a:t>
            </a:r>
          </a:p>
          <a:p>
            <a:pPr>
              <a:spcAft>
                <a:spcPts val="1000"/>
              </a:spcAft>
            </a:pPr>
            <a:r>
              <a:rPr sz="1700" b="1">
                <a:solidFill>
                  <a:srgbClr val="5B2C83"/>
                </a:solidFill>
                <a:latin typeface="Arial"/>
              </a:rPr>
              <a:t>Output: </a:t>
            </a:r>
            <a:r>
              <a:rPr sz="1700" b="0">
                <a:solidFill>
                  <a:srgbClr val="1A1A1A"/>
                </a:solidFill>
                <a:latin typeface="Arial"/>
              </a:rPr>
              <a:t>Sprint Goal and Sprint Backlog.</a:t>
            </a:r>
          </a:p>
        </p:txBody>
      </p:sp>
      <p:sp>
        <p:nvSpPr>
          <p:cNvPr id="7" name="Rounded Rectangle 6"/>
          <p:cNvSpPr/>
          <p:nvPr/>
        </p:nvSpPr>
        <p:spPr>
          <a:xfrm>
            <a:off x="5961888" y="2240280"/>
            <a:ext cx="5623560" cy="25603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8" name="TextBox 7"/>
          <p:cNvSpPr txBox="1"/>
          <p:nvPr/>
        </p:nvSpPr>
        <p:spPr>
          <a:xfrm>
            <a:off x="6144768" y="2350008"/>
            <a:ext cx="5257800" cy="2377440"/>
          </a:xfrm>
          <a:prstGeom prst="rect">
            <a:avLst/>
          </a:prstGeom>
          <a:noFill/>
        </p:spPr>
        <p:txBody>
          <a:bodyPr wrap="square" lIns="0" tIns="0" rIns="0" bIns="0">
            <a:spAutoFit/>
          </a:bodyPr>
          <a:lstStyle/>
          <a:p>
            <a:pPr>
              <a:spcAft>
                <a:spcPts val="600"/>
              </a:spcAft>
            </a:pPr>
            <a:r>
              <a:rPr sz="1700" b="1">
                <a:solidFill>
                  <a:srgbClr val="2E7D32"/>
                </a:solidFill>
                <a:latin typeface="Arial"/>
              </a:rPr>
              <a:t>QE ROLE</a:t>
            </a:r>
          </a:p>
          <a:p>
            <a:pPr>
              <a:spcAft>
                <a:spcPts val="600"/>
              </a:spcAft>
            </a:pPr>
            <a:r>
              <a:rPr sz="1700" b="0">
                <a:solidFill>
                  <a:srgbClr val="1A1A1A"/>
                </a:solidFill>
                <a:latin typeface="Arial"/>
              </a:rPr>
              <a:t>• Check each story has testable criteria</a:t>
            </a:r>
          </a:p>
          <a:p>
            <a:pPr>
              <a:spcAft>
                <a:spcPts val="600"/>
              </a:spcAft>
            </a:pPr>
            <a:r>
              <a:rPr sz="1700" b="0">
                <a:solidFill>
                  <a:srgbClr val="1A1A1A"/>
                </a:solidFill>
                <a:latin typeface="Arial"/>
              </a:rPr>
              <a:t>• Include testing effort in capacity</a:t>
            </a:r>
          </a:p>
          <a:p>
            <a:pPr>
              <a:spcAft>
                <a:spcPts val="600"/>
              </a:spcAft>
            </a:pPr>
            <a:r>
              <a:rPr sz="1700" b="0">
                <a:solidFill>
                  <a:srgbClr val="1A1A1A"/>
                </a:solidFill>
                <a:latin typeface="Arial"/>
              </a:rPr>
              <a:t>• Flag risks; add test tasks</a:t>
            </a:r>
          </a:p>
        </p:txBody>
      </p:sp>
      <p:sp>
        <p:nvSpPr>
          <p:cNvPr id="9" name="TextBox 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17 / 30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Daily Scrum</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Purpose: inspect progress toward the Sprint Goal and plan the next 24 hours.</a:t>
            </a:r>
          </a:p>
        </p:txBody>
      </p:sp>
      <p:sp>
        <p:nvSpPr>
          <p:cNvPr id="5" name="Rounded Rectangle 4"/>
          <p:cNvSpPr/>
          <p:nvPr/>
        </p:nvSpPr>
        <p:spPr>
          <a:xfrm>
            <a:off x="612648" y="2240280"/>
            <a:ext cx="5120640" cy="25603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6" name="TextBox 5"/>
          <p:cNvSpPr txBox="1"/>
          <p:nvPr/>
        </p:nvSpPr>
        <p:spPr>
          <a:xfrm>
            <a:off x="795528" y="2350008"/>
            <a:ext cx="4754880" cy="2377440"/>
          </a:xfrm>
          <a:prstGeom prst="rect">
            <a:avLst/>
          </a:prstGeom>
          <a:noFill/>
        </p:spPr>
        <p:txBody>
          <a:bodyPr wrap="square" lIns="0" tIns="0" rIns="0" bIns="0">
            <a:spAutoFit/>
          </a:bodyPr>
          <a:lstStyle/>
          <a:p>
            <a:pPr>
              <a:spcAft>
                <a:spcPts val="1000"/>
              </a:spcAft>
            </a:pPr>
            <a:r>
              <a:rPr sz="1700" b="1">
                <a:solidFill>
                  <a:srgbClr val="5B2C83"/>
                </a:solidFill>
                <a:latin typeface="Arial"/>
              </a:rPr>
              <a:t>Who: </a:t>
            </a:r>
            <a:r>
              <a:rPr sz="1700" b="0">
                <a:solidFill>
                  <a:srgbClr val="1A1A1A"/>
                </a:solidFill>
                <a:latin typeface="Arial"/>
              </a:rPr>
              <a:t>the Developers, including QEs.</a:t>
            </a:r>
          </a:p>
          <a:p>
            <a:pPr>
              <a:spcAft>
                <a:spcPts val="1000"/>
              </a:spcAft>
            </a:pPr>
            <a:r>
              <a:rPr sz="1700" b="1">
                <a:solidFill>
                  <a:srgbClr val="5B2C83"/>
                </a:solidFill>
                <a:latin typeface="Arial"/>
              </a:rPr>
              <a:t>Timebox: </a:t>
            </a:r>
            <a:r>
              <a:rPr sz="1700" b="0">
                <a:solidFill>
                  <a:srgbClr val="1A1A1A"/>
                </a:solidFill>
                <a:latin typeface="Arial"/>
              </a:rPr>
              <a:t>15 min, same time and place.</a:t>
            </a:r>
          </a:p>
          <a:p>
            <a:pPr>
              <a:spcAft>
                <a:spcPts val="1000"/>
              </a:spcAft>
            </a:pPr>
            <a:r>
              <a:rPr sz="1700" b="1">
                <a:solidFill>
                  <a:srgbClr val="5B2C83"/>
                </a:solidFill>
                <a:latin typeface="Arial"/>
              </a:rPr>
              <a:t>Output: </a:t>
            </a:r>
            <a:r>
              <a:rPr sz="1700" b="0">
                <a:solidFill>
                  <a:srgbClr val="1A1A1A"/>
                </a:solidFill>
                <a:latin typeface="Arial"/>
              </a:rPr>
              <a:t>updated plan; blockers named.</a:t>
            </a:r>
          </a:p>
        </p:txBody>
      </p:sp>
      <p:sp>
        <p:nvSpPr>
          <p:cNvPr id="7" name="Rounded Rectangle 6"/>
          <p:cNvSpPr/>
          <p:nvPr/>
        </p:nvSpPr>
        <p:spPr>
          <a:xfrm>
            <a:off x="5961888" y="2240280"/>
            <a:ext cx="5623560" cy="25603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8" name="TextBox 7"/>
          <p:cNvSpPr txBox="1"/>
          <p:nvPr/>
        </p:nvSpPr>
        <p:spPr>
          <a:xfrm>
            <a:off x="6144768" y="2350008"/>
            <a:ext cx="5257800" cy="2377440"/>
          </a:xfrm>
          <a:prstGeom prst="rect">
            <a:avLst/>
          </a:prstGeom>
          <a:noFill/>
        </p:spPr>
        <p:txBody>
          <a:bodyPr wrap="square" lIns="0" tIns="0" rIns="0" bIns="0">
            <a:spAutoFit/>
          </a:bodyPr>
          <a:lstStyle/>
          <a:p>
            <a:pPr>
              <a:spcAft>
                <a:spcPts val="600"/>
              </a:spcAft>
            </a:pPr>
            <a:r>
              <a:rPr sz="1700" b="1">
                <a:solidFill>
                  <a:srgbClr val="2E7D32"/>
                </a:solidFill>
                <a:latin typeface="Arial"/>
              </a:rPr>
              <a:t>QE ROLE</a:t>
            </a:r>
          </a:p>
          <a:p>
            <a:pPr>
              <a:spcAft>
                <a:spcPts val="600"/>
              </a:spcAft>
            </a:pPr>
            <a:r>
              <a:rPr sz="1700" b="0">
                <a:solidFill>
                  <a:srgbClr val="1A1A1A"/>
                </a:solidFill>
                <a:latin typeface="Arial"/>
              </a:rPr>
              <a:t>• Report status by story, not test counts</a:t>
            </a:r>
          </a:p>
          <a:p>
            <a:pPr>
              <a:spcAft>
                <a:spcPts val="600"/>
              </a:spcAft>
            </a:pPr>
            <a:r>
              <a:rPr sz="1700" b="0">
                <a:solidFill>
                  <a:srgbClr val="1A1A1A"/>
                </a:solidFill>
                <a:latin typeface="Arial"/>
              </a:rPr>
              <a:t>• Raise blockers early</a:t>
            </a:r>
          </a:p>
          <a:p>
            <a:pPr>
              <a:spcAft>
                <a:spcPts val="600"/>
              </a:spcAft>
            </a:pPr>
            <a:r>
              <a:rPr sz="1700" b="0">
                <a:solidFill>
                  <a:srgbClr val="1A1A1A"/>
                </a:solidFill>
                <a:latin typeface="Arial"/>
              </a:rPr>
              <a:t>• Warn when "ready for test" piles up</a:t>
            </a:r>
          </a:p>
        </p:txBody>
      </p:sp>
      <p:sp>
        <p:nvSpPr>
          <p:cNvPr id="9" name="Rounded Rectangle 8"/>
          <p:cNvSpPr/>
          <p:nvPr/>
        </p:nvSpPr>
        <p:spPr>
          <a:xfrm>
            <a:off x="612648" y="4983480"/>
            <a:ext cx="10972800" cy="118872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10" name="TextBox 9"/>
          <p:cNvSpPr txBox="1"/>
          <p:nvPr/>
        </p:nvSpPr>
        <p:spPr>
          <a:xfrm>
            <a:off x="841248" y="5093208"/>
            <a:ext cx="10515600" cy="969264"/>
          </a:xfrm>
          <a:prstGeom prst="rect">
            <a:avLst/>
          </a:prstGeom>
          <a:noFill/>
        </p:spPr>
        <p:txBody>
          <a:bodyPr wrap="square" lIns="0" tIns="0" rIns="0" bIns="0">
            <a:spAutoFit/>
          </a:bodyPr>
          <a:lstStyle/>
          <a:p>
            <a:pPr>
              <a:spcAft>
                <a:spcPts val="300"/>
              </a:spcAft>
            </a:pPr>
            <a:r>
              <a:rPr sz="1600" b="1">
                <a:solidFill>
                  <a:srgbClr val="5C8A8A"/>
                </a:solidFill>
                <a:latin typeface="Arial"/>
              </a:rPr>
              <a:t>EXAMPLE</a:t>
            </a:r>
          </a:p>
          <a:p>
            <a:pPr>
              <a:spcAft>
                <a:spcPts val="300"/>
              </a:spcAft>
            </a:pPr>
            <a:r>
              <a:rPr sz="1600" b="0">
                <a:solidFill>
                  <a:srgbClr val="1A1A1A"/>
                </a:solidFill>
                <a:latin typeface="Arial"/>
              </a:rPr>
              <a:t>Ananya: "Search: two issues found, one fixed. Today: retest, then add-to-cart. Blocker: stale test data; can we fix it after this?"</a:t>
            </a:r>
          </a:p>
        </p:txBody>
      </p:sp>
      <p:sp>
        <p:nvSpPr>
          <p:cNvPr id="11" name="TextBox 10"/>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18 / 30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Sprint Review</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Purpose: inspect the Increment with stakeholders and adapt the Product Backlog.</a:t>
            </a:r>
          </a:p>
        </p:txBody>
      </p:sp>
      <p:sp>
        <p:nvSpPr>
          <p:cNvPr id="5" name="Rounded Rectangle 4"/>
          <p:cNvSpPr/>
          <p:nvPr/>
        </p:nvSpPr>
        <p:spPr>
          <a:xfrm>
            <a:off x="612648" y="2240280"/>
            <a:ext cx="5120640" cy="25603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6" name="TextBox 5"/>
          <p:cNvSpPr txBox="1"/>
          <p:nvPr/>
        </p:nvSpPr>
        <p:spPr>
          <a:xfrm>
            <a:off x="795528" y="2350008"/>
            <a:ext cx="4754880" cy="2377440"/>
          </a:xfrm>
          <a:prstGeom prst="rect">
            <a:avLst/>
          </a:prstGeom>
          <a:noFill/>
        </p:spPr>
        <p:txBody>
          <a:bodyPr wrap="square" lIns="0" tIns="0" rIns="0" bIns="0">
            <a:spAutoFit/>
          </a:bodyPr>
          <a:lstStyle/>
          <a:p>
            <a:pPr>
              <a:spcAft>
                <a:spcPts val="1000"/>
              </a:spcAft>
            </a:pPr>
            <a:r>
              <a:rPr sz="1700" b="1">
                <a:solidFill>
                  <a:srgbClr val="5B2C83"/>
                </a:solidFill>
                <a:latin typeface="Arial"/>
              </a:rPr>
              <a:t>Who: </a:t>
            </a:r>
            <a:r>
              <a:rPr sz="1700" b="0">
                <a:solidFill>
                  <a:srgbClr val="1A1A1A"/>
                </a:solidFill>
                <a:latin typeface="Arial"/>
              </a:rPr>
              <a:t>Scrum Team and key stakeholders, e.g. Sunita.</a:t>
            </a:r>
          </a:p>
          <a:p>
            <a:pPr>
              <a:spcAft>
                <a:spcPts val="1000"/>
              </a:spcAft>
            </a:pPr>
            <a:r>
              <a:rPr sz="1700" b="1">
                <a:solidFill>
                  <a:srgbClr val="5B2C83"/>
                </a:solidFill>
                <a:latin typeface="Arial"/>
              </a:rPr>
              <a:t>Timebox: </a:t>
            </a:r>
            <a:r>
              <a:rPr sz="1700" b="0">
                <a:solidFill>
                  <a:srgbClr val="1A1A1A"/>
                </a:solidFill>
                <a:latin typeface="Arial"/>
              </a:rPr>
              <a:t>up to 2 h (2-week sprint).</a:t>
            </a:r>
          </a:p>
          <a:p>
            <a:pPr>
              <a:spcAft>
                <a:spcPts val="1000"/>
              </a:spcAft>
            </a:pPr>
            <a:r>
              <a:rPr sz="1700" b="1">
                <a:solidFill>
                  <a:srgbClr val="5B2C83"/>
                </a:solidFill>
                <a:latin typeface="Arial"/>
              </a:rPr>
              <a:t>Output: </a:t>
            </a:r>
            <a:r>
              <a:rPr sz="1700" b="0">
                <a:solidFill>
                  <a:srgbClr val="1A1A1A"/>
                </a:solidFill>
                <a:latin typeface="Arial"/>
              </a:rPr>
              <a:t>feedback; revised Product Backlog.</a:t>
            </a:r>
          </a:p>
        </p:txBody>
      </p:sp>
      <p:sp>
        <p:nvSpPr>
          <p:cNvPr id="7" name="Rounded Rectangle 6"/>
          <p:cNvSpPr/>
          <p:nvPr/>
        </p:nvSpPr>
        <p:spPr>
          <a:xfrm>
            <a:off x="5961888" y="2240280"/>
            <a:ext cx="5623560" cy="25603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8" name="TextBox 7"/>
          <p:cNvSpPr txBox="1"/>
          <p:nvPr/>
        </p:nvSpPr>
        <p:spPr>
          <a:xfrm>
            <a:off x="6144768" y="2350008"/>
            <a:ext cx="5257800" cy="2377440"/>
          </a:xfrm>
          <a:prstGeom prst="rect">
            <a:avLst/>
          </a:prstGeom>
          <a:noFill/>
        </p:spPr>
        <p:txBody>
          <a:bodyPr wrap="square" lIns="0" tIns="0" rIns="0" bIns="0">
            <a:spAutoFit/>
          </a:bodyPr>
          <a:lstStyle/>
          <a:p>
            <a:pPr>
              <a:spcAft>
                <a:spcPts val="600"/>
              </a:spcAft>
            </a:pPr>
            <a:r>
              <a:rPr sz="1700" b="1">
                <a:solidFill>
                  <a:srgbClr val="2E7D32"/>
                </a:solidFill>
                <a:latin typeface="Arial"/>
              </a:rPr>
              <a:t>QE ROLE</a:t>
            </a:r>
          </a:p>
          <a:p>
            <a:pPr>
              <a:spcAft>
                <a:spcPts val="600"/>
              </a:spcAft>
            </a:pPr>
            <a:r>
              <a:rPr sz="1700" b="0">
                <a:solidFill>
                  <a:srgbClr val="1A1A1A"/>
                </a:solidFill>
                <a:latin typeface="Arial"/>
              </a:rPr>
              <a:t>• Demo only work that meets the DoD</a:t>
            </a:r>
          </a:p>
          <a:p>
            <a:pPr>
              <a:spcAft>
                <a:spcPts val="600"/>
              </a:spcAft>
            </a:pPr>
            <a:r>
              <a:rPr sz="1700" b="0">
                <a:solidFill>
                  <a:srgbClr val="1A1A1A"/>
                </a:solidFill>
                <a:latin typeface="Arial"/>
              </a:rPr>
              <a:t>• Give an honest view of quality</a:t>
            </a:r>
          </a:p>
          <a:p>
            <a:pPr>
              <a:spcAft>
                <a:spcPts val="600"/>
              </a:spcAft>
            </a:pPr>
            <a:r>
              <a:rPr sz="1700" b="0">
                <a:solidFill>
                  <a:srgbClr val="1A1A1A"/>
                </a:solidFill>
                <a:latin typeface="Arial"/>
              </a:rPr>
              <a:t>• Turn feedback into backlog items</a:t>
            </a:r>
          </a:p>
        </p:txBody>
      </p:sp>
      <p:sp>
        <p:nvSpPr>
          <p:cNvPr id="9" name="TextBox 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19 / 30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Sprint Retrospective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Purpose: inspect how the sprint went and commit to concrete improvements.</a:t>
            </a:r>
          </a:p>
        </p:txBody>
      </p:sp>
      <p:sp>
        <p:nvSpPr>
          <p:cNvPr id="5" name="Rounded Rectangle 4"/>
          <p:cNvSpPr/>
          <p:nvPr/>
        </p:nvSpPr>
        <p:spPr>
          <a:xfrm>
            <a:off x="612648" y="2240280"/>
            <a:ext cx="5120640" cy="25603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6" name="TextBox 5"/>
          <p:cNvSpPr txBox="1"/>
          <p:nvPr/>
        </p:nvSpPr>
        <p:spPr>
          <a:xfrm>
            <a:off x="795528" y="2350008"/>
            <a:ext cx="4754880" cy="2377440"/>
          </a:xfrm>
          <a:prstGeom prst="rect">
            <a:avLst/>
          </a:prstGeom>
          <a:noFill/>
        </p:spPr>
        <p:txBody>
          <a:bodyPr wrap="square" lIns="0" tIns="0" rIns="0" bIns="0">
            <a:spAutoFit/>
          </a:bodyPr>
          <a:lstStyle/>
          <a:p>
            <a:pPr>
              <a:spcAft>
                <a:spcPts val="1000"/>
              </a:spcAft>
            </a:pPr>
            <a:r>
              <a:rPr sz="1700" b="1">
                <a:solidFill>
                  <a:srgbClr val="5B2C83"/>
                </a:solidFill>
                <a:latin typeface="Arial"/>
              </a:rPr>
              <a:t>Who: </a:t>
            </a:r>
            <a:r>
              <a:rPr sz="1700" b="0">
                <a:solidFill>
                  <a:srgbClr val="1A1A1A"/>
                </a:solidFill>
                <a:latin typeface="Arial"/>
              </a:rPr>
              <a:t>the Scrum Team only.</a:t>
            </a:r>
          </a:p>
          <a:p>
            <a:pPr>
              <a:spcAft>
                <a:spcPts val="1000"/>
              </a:spcAft>
            </a:pPr>
            <a:r>
              <a:rPr sz="1700" b="1">
                <a:solidFill>
                  <a:srgbClr val="5B2C83"/>
                </a:solidFill>
                <a:latin typeface="Arial"/>
              </a:rPr>
              <a:t>Timebox: </a:t>
            </a:r>
            <a:r>
              <a:rPr sz="1700" b="0">
                <a:solidFill>
                  <a:srgbClr val="1A1A1A"/>
                </a:solidFill>
                <a:latin typeface="Arial"/>
              </a:rPr>
              <a:t>up to 1.5 h (2-week sprint).</a:t>
            </a:r>
          </a:p>
          <a:p>
            <a:pPr>
              <a:spcAft>
                <a:spcPts val="1000"/>
              </a:spcAft>
            </a:pPr>
            <a:r>
              <a:rPr sz="1700" b="1">
                <a:solidFill>
                  <a:srgbClr val="5B2C83"/>
                </a:solidFill>
                <a:latin typeface="Arial"/>
              </a:rPr>
              <a:t>Output: </a:t>
            </a:r>
            <a:r>
              <a:rPr sz="1700" b="0">
                <a:solidFill>
                  <a:srgbClr val="1A1A1A"/>
                </a:solidFill>
                <a:latin typeface="Arial"/>
              </a:rPr>
              <a:t>a few improvement actions with owners.</a:t>
            </a:r>
          </a:p>
        </p:txBody>
      </p:sp>
      <p:sp>
        <p:nvSpPr>
          <p:cNvPr id="7" name="Rounded Rectangle 6"/>
          <p:cNvSpPr/>
          <p:nvPr/>
        </p:nvSpPr>
        <p:spPr>
          <a:xfrm>
            <a:off x="5961888" y="2240280"/>
            <a:ext cx="5623560" cy="25603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8" name="TextBox 7"/>
          <p:cNvSpPr txBox="1"/>
          <p:nvPr/>
        </p:nvSpPr>
        <p:spPr>
          <a:xfrm>
            <a:off x="6144768" y="2350008"/>
            <a:ext cx="5257800" cy="2377440"/>
          </a:xfrm>
          <a:prstGeom prst="rect">
            <a:avLst/>
          </a:prstGeom>
          <a:noFill/>
        </p:spPr>
        <p:txBody>
          <a:bodyPr wrap="square" lIns="0" tIns="0" rIns="0" bIns="0">
            <a:spAutoFit/>
          </a:bodyPr>
          <a:lstStyle/>
          <a:p>
            <a:pPr>
              <a:spcAft>
                <a:spcPts val="600"/>
              </a:spcAft>
            </a:pPr>
            <a:r>
              <a:rPr sz="1700" b="1">
                <a:solidFill>
                  <a:srgbClr val="2E7D32"/>
                </a:solidFill>
                <a:latin typeface="Arial"/>
              </a:rPr>
              <a:t>QE ROLE</a:t>
            </a:r>
          </a:p>
          <a:p>
            <a:pPr>
              <a:spcAft>
                <a:spcPts val="600"/>
              </a:spcAft>
            </a:pPr>
            <a:r>
              <a:rPr sz="1700" b="0">
                <a:solidFill>
                  <a:srgbClr val="1A1A1A"/>
                </a:solidFill>
                <a:latin typeface="Arial"/>
              </a:rPr>
              <a:t>• Share quality observations with facts</a:t>
            </a:r>
          </a:p>
          <a:p>
            <a:pPr>
              <a:spcAft>
                <a:spcPts val="600"/>
              </a:spcAft>
            </a:pPr>
            <a:r>
              <a:rPr sz="1700" b="0">
                <a:solidFill>
                  <a:srgbClr val="1A1A1A"/>
                </a:solidFill>
                <a:latin typeface="Arial"/>
              </a:rPr>
              <a:t>• Stay blame-free</a:t>
            </a:r>
          </a:p>
          <a:p>
            <a:pPr>
              <a:spcAft>
                <a:spcPts val="600"/>
              </a:spcAft>
            </a:pPr>
            <a:r>
              <a:rPr sz="1700" b="0">
                <a:solidFill>
                  <a:srgbClr val="1A1A1A"/>
                </a:solidFill>
                <a:latin typeface="Arial"/>
              </a:rPr>
              <a:t>• Own and follow up quality actions</a:t>
            </a:r>
          </a:p>
        </p:txBody>
      </p:sp>
      <p:sp>
        <p:nvSpPr>
          <p:cNvPr id="9" name="TextBox 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20 / 30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Retrospective Formats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graphicFrame>
        <p:nvGraphicFramePr>
          <p:cNvPr id="4" name="Table 3"/>
          <p:cNvGraphicFramePr>
            <a:graphicFrameLocks noGrp="1"/>
          </p:cNvGraphicFramePr>
          <p:nvPr/>
        </p:nvGraphicFramePr>
        <p:xfrm>
          <a:off x="612648" y="1691640"/>
          <a:ext cx="10972800" cy="3886200"/>
        </p:xfrm>
        <a:graphic>
          <a:graphicData uri="http://schemas.openxmlformats.org/drawingml/2006/table">
            <a:tbl>
              <a:tblPr/>
              <a:tblGrid>
                <a:gridCol w="329184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777240">
                <a:tc>
                  <a:txBody>
                    <a:bodyPr/>
                    <a:lstStyle/>
                    <a:p>
                      <a:r>
                        <a:rPr sz="1800" b="1">
                          <a:solidFill>
                            <a:srgbClr val="FFFFFF"/>
                          </a:solidFill>
                          <a:latin typeface="Arial"/>
                        </a:rPr>
                        <a:t>Format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800" b="1">
                          <a:solidFill>
                            <a:srgbClr val="FFFFFF"/>
                          </a:solidFill>
                          <a:latin typeface="Arial"/>
                        </a:rPr>
                        <a:t>How it works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extLst>
                  <a:ext uri="{0D108BD9-81ED-4DB2-BD59-A6C34878D82A}">
                    <a16:rowId xmlns:a16="http://schemas.microsoft.com/office/drawing/2014/main" val="10000"/>
                  </a:ext>
                </a:extLst>
              </a:tr>
              <a:tr h="777240">
                <a:tc>
                  <a:txBody>
                    <a:bodyPr/>
                    <a:lstStyle/>
                    <a:p>
                      <a:r>
                        <a:rPr sz="1800" b="1">
                          <a:solidFill>
                            <a:srgbClr val="330066"/>
                          </a:solidFill>
                          <a:latin typeface="Arial"/>
                        </a:rPr>
                        <a:t>Start / Stop / Continue</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800" b="0">
                          <a:solidFill>
                            <a:srgbClr val="1A1A1A"/>
                          </a:solidFill>
                          <a:latin typeface="Arial"/>
                        </a:rPr>
                        <a:t>What to start, stop and keep doing; good first format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1"/>
                  </a:ext>
                </a:extLst>
              </a:tr>
              <a:tr h="777240">
                <a:tc>
                  <a:txBody>
                    <a:bodyPr/>
                    <a:lstStyle/>
                    <a:p>
                      <a:r>
                        <a:rPr sz="1800" b="1">
                          <a:solidFill>
                            <a:srgbClr val="330066"/>
                          </a:solidFill>
                          <a:latin typeface="Arial"/>
                        </a:rPr>
                        <a:t>4Ls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800" b="0">
                          <a:solidFill>
                            <a:srgbClr val="1A1A1A"/>
                          </a:solidFill>
                          <a:latin typeface="Arial"/>
                        </a:rPr>
                        <a:t>Liked, Learned, Lacked, Longed for</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2"/>
                  </a:ext>
                </a:extLst>
              </a:tr>
              <a:tr h="777240">
                <a:tc>
                  <a:txBody>
                    <a:bodyPr/>
                    <a:lstStyle/>
                    <a:p>
                      <a:r>
                        <a:rPr sz="1800" b="1">
                          <a:solidFill>
                            <a:srgbClr val="330066"/>
                          </a:solidFill>
                          <a:latin typeface="Arial"/>
                        </a:rPr>
                        <a:t>Mad / Sad / Glad</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800" b="0">
                          <a:solidFill>
                            <a:srgbClr val="1A1A1A"/>
                          </a:solidFill>
                          <a:latin typeface="Arial"/>
                        </a:rPr>
                        <a:t>Notes under feelings; surfaces tension</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3"/>
                  </a:ext>
                </a:extLst>
              </a:tr>
              <a:tr h="777240">
                <a:tc>
                  <a:txBody>
                    <a:bodyPr/>
                    <a:lstStyle/>
                    <a:p>
                      <a:r>
                        <a:rPr sz="1800" b="1">
                          <a:solidFill>
                            <a:srgbClr val="330066"/>
                          </a:solidFill>
                          <a:latin typeface="Arial"/>
                        </a:rPr>
                        <a:t>Sailboat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800" b="0">
                          <a:solidFill>
                            <a:srgbClr val="1A1A1A"/>
                          </a:solidFill>
                          <a:latin typeface="Arial"/>
                        </a:rPr>
                        <a:t>Wind (helped), anchors (slowed), rocks (risks ahead)</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21 / 30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 Inside a Sprint</a:t>
            </a:r>
          </a:p>
        </p:txBody>
      </p:sp>
      <p:sp>
        <p:nvSpPr>
          <p:cNvPr id="3" name="Text Placeholder 2"/>
          <p:cNvSpPr>
            <a:spLocks noGrp="1"/>
          </p:cNvSpPr>
          <p:nvPr>
            <p:ph type="body" idx="1"/>
          </p:nvPr>
        </p:nvSpPr>
        <p:spPr/>
        <p:txBody>
          <a:bodyPr/>
          <a:lstStyle/>
          <a:p>
            <a:r>
              <a:t>Continuous testing, the flow of one story, and what to do when things go wrong</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04</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22 / 30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Scrum-Fall vs Continuous Testing</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TextBox 3"/>
          <p:cNvSpPr txBox="1"/>
          <p:nvPr/>
        </p:nvSpPr>
        <p:spPr>
          <a:xfrm>
            <a:off x="612648" y="1737360"/>
            <a:ext cx="2743200" cy="457200"/>
          </a:xfrm>
          <a:prstGeom prst="rect">
            <a:avLst/>
          </a:prstGeom>
          <a:noFill/>
        </p:spPr>
        <p:txBody>
          <a:bodyPr wrap="square" lIns="0" tIns="0" rIns="0" bIns="0">
            <a:spAutoFit/>
          </a:bodyPr>
          <a:lstStyle/>
          <a:p>
            <a:pPr>
              <a:spcAft>
                <a:spcPts val="600"/>
              </a:spcAft>
            </a:pPr>
            <a:r>
              <a:rPr sz="1700" b="1">
                <a:solidFill>
                  <a:srgbClr val="C00000"/>
                </a:solidFill>
                <a:latin typeface="Arial"/>
              </a:rPr>
              <a:t>Scrum-fall (avoid)</a:t>
            </a:r>
          </a:p>
        </p:txBody>
      </p:sp>
      <p:sp>
        <p:nvSpPr>
          <p:cNvPr id="5" name="Rounded Rectangle 4"/>
          <p:cNvSpPr/>
          <p:nvPr/>
        </p:nvSpPr>
        <p:spPr>
          <a:xfrm>
            <a:off x="3355848" y="1645920"/>
            <a:ext cx="4023360" cy="6400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Week 1: developers code</a:t>
            </a:r>
          </a:p>
        </p:txBody>
      </p:sp>
      <p:sp>
        <p:nvSpPr>
          <p:cNvPr id="6" name="Rounded Rectangle 5"/>
          <p:cNvSpPr/>
          <p:nvPr/>
        </p:nvSpPr>
        <p:spPr>
          <a:xfrm>
            <a:off x="7470648" y="1645920"/>
            <a:ext cx="4114800" cy="640080"/>
          </a:xfrm>
          <a:prstGeom prst="roundRect">
            <a:avLst>
              <a:gd name="adj" fmla="val 12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Week 2: QE tests everything</a:t>
            </a:r>
          </a:p>
        </p:txBody>
      </p:sp>
      <p:sp>
        <p:nvSpPr>
          <p:cNvPr id="7" name="TextBox 6"/>
          <p:cNvSpPr txBox="1"/>
          <p:nvPr/>
        </p:nvSpPr>
        <p:spPr>
          <a:xfrm>
            <a:off x="612648" y="2743200"/>
            <a:ext cx="2743200" cy="457200"/>
          </a:xfrm>
          <a:prstGeom prst="rect">
            <a:avLst/>
          </a:prstGeom>
          <a:noFill/>
        </p:spPr>
        <p:txBody>
          <a:bodyPr wrap="square" lIns="0" tIns="0" rIns="0" bIns="0">
            <a:spAutoFit/>
          </a:bodyPr>
          <a:lstStyle/>
          <a:p>
            <a:pPr>
              <a:spcAft>
                <a:spcPts val="600"/>
              </a:spcAft>
            </a:pPr>
            <a:r>
              <a:rPr sz="1700" b="1">
                <a:solidFill>
                  <a:srgbClr val="2E7D32"/>
                </a:solidFill>
                <a:latin typeface="Arial"/>
              </a:rPr>
              <a:t>Continuous (aim for)</a:t>
            </a:r>
          </a:p>
        </p:txBody>
      </p:sp>
      <p:sp>
        <p:nvSpPr>
          <p:cNvPr id="8" name="Rounded Rectangle 7"/>
          <p:cNvSpPr/>
          <p:nvPr/>
        </p:nvSpPr>
        <p:spPr>
          <a:xfrm>
            <a:off x="3355848" y="2651760"/>
            <a:ext cx="1554480" cy="4114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Story 1: build</a:t>
            </a:r>
          </a:p>
        </p:txBody>
      </p:sp>
      <p:sp>
        <p:nvSpPr>
          <p:cNvPr id="9" name="Rounded Rectangle 8"/>
          <p:cNvSpPr/>
          <p:nvPr/>
        </p:nvSpPr>
        <p:spPr>
          <a:xfrm>
            <a:off x="3721608" y="3108960"/>
            <a:ext cx="1554480" cy="4114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test</a:t>
            </a:r>
          </a:p>
        </p:txBody>
      </p:sp>
      <p:sp>
        <p:nvSpPr>
          <p:cNvPr id="10" name="Rounded Rectangle 9"/>
          <p:cNvSpPr/>
          <p:nvPr/>
        </p:nvSpPr>
        <p:spPr>
          <a:xfrm>
            <a:off x="5001768" y="2651760"/>
            <a:ext cx="1554480" cy="4114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Story 2: build</a:t>
            </a:r>
          </a:p>
        </p:txBody>
      </p:sp>
      <p:sp>
        <p:nvSpPr>
          <p:cNvPr id="11" name="Rounded Rectangle 10"/>
          <p:cNvSpPr/>
          <p:nvPr/>
        </p:nvSpPr>
        <p:spPr>
          <a:xfrm>
            <a:off x="5367528" y="3108960"/>
            <a:ext cx="1554480" cy="4114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test</a:t>
            </a:r>
          </a:p>
        </p:txBody>
      </p:sp>
      <p:sp>
        <p:nvSpPr>
          <p:cNvPr id="12" name="Rounded Rectangle 11"/>
          <p:cNvSpPr/>
          <p:nvPr/>
        </p:nvSpPr>
        <p:spPr>
          <a:xfrm>
            <a:off x="6647688" y="2651760"/>
            <a:ext cx="1554480" cy="4114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Story 3: build</a:t>
            </a:r>
          </a:p>
        </p:txBody>
      </p:sp>
      <p:sp>
        <p:nvSpPr>
          <p:cNvPr id="13" name="Rounded Rectangle 12"/>
          <p:cNvSpPr/>
          <p:nvPr/>
        </p:nvSpPr>
        <p:spPr>
          <a:xfrm>
            <a:off x="7013448" y="3108960"/>
            <a:ext cx="1554480" cy="4114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test</a:t>
            </a:r>
          </a:p>
        </p:txBody>
      </p:sp>
      <p:sp>
        <p:nvSpPr>
          <p:cNvPr id="14" name="Rounded Rectangle 13"/>
          <p:cNvSpPr/>
          <p:nvPr/>
        </p:nvSpPr>
        <p:spPr>
          <a:xfrm>
            <a:off x="8293608" y="2651760"/>
            <a:ext cx="1554480" cy="4114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Story 4: build</a:t>
            </a:r>
          </a:p>
        </p:txBody>
      </p:sp>
      <p:sp>
        <p:nvSpPr>
          <p:cNvPr id="15" name="Rounded Rectangle 14"/>
          <p:cNvSpPr/>
          <p:nvPr/>
        </p:nvSpPr>
        <p:spPr>
          <a:xfrm>
            <a:off x="8659368" y="3108960"/>
            <a:ext cx="1554480" cy="4114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test</a:t>
            </a:r>
          </a:p>
        </p:txBody>
      </p:sp>
      <p:sp>
        <p:nvSpPr>
          <p:cNvPr id="16" name="Rounded Rectangle 15"/>
          <p:cNvSpPr/>
          <p:nvPr/>
        </p:nvSpPr>
        <p:spPr>
          <a:xfrm>
            <a:off x="9939528" y="2651760"/>
            <a:ext cx="1554480" cy="4114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Story 5: build</a:t>
            </a:r>
          </a:p>
        </p:txBody>
      </p:sp>
      <p:sp>
        <p:nvSpPr>
          <p:cNvPr id="17" name="Rounded Rectangle 16"/>
          <p:cNvSpPr/>
          <p:nvPr/>
        </p:nvSpPr>
        <p:spPr>
          <a:xfrm>
            <a:off x="10305288" y="3108960"/>
            <a:ext cx="1554480" cy="4114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FFFFF"/>
                </a:solidFill>
                <a:latin typeface="Arial"/>
              </a:rPr>
              <a:t>test</a:t>
            </a:r>
          </a:p>
        </p:txBody>
      </p:sp>
      <p:sp>
        <p:nvSpPr>
          <p:cNvPr id="18" name="TextBox 17"/>
          <p:cNvSpPr txBox="1"/>
          <p:nvPr/>
        </p:nvSpPr>
        <p:spPr>
          <a:xfrm>
            <a:off x="612648" y="4023360"/>
            <a:ext cx="10972800" cy="1828800"/>
          </a:xfrm>
          <a:prstGeom prst="rect">
            <a:avLst/>
          </a:prstGeom>
          <a:noFill/>
        </p:spPr>
        <p:txBody>
          <a:bodyPr wrap="square" lIns="0" tIns="0" rIns="0" bIns="0">
            <a:spAutoFit/>
          </a:bodyPr>
          <a:lstStyle/>
          <a:p>
            <a:pPr marL="285750" indent="-285750">
              <a:spcAft>
                <a:spcPts val="600"/>
              </a:spcAft>
              <a:buFont typeface="Arial"/>
              <a:buChar char="•"/>
            </a:pPr>
            <a:r>
              <a:rPr sz="1700" b="0">
                <a:solidFill>
                  <a:srgbClr val="1A1A1A"/>
                </a:solidFill>
                <a:latin typeface="Arial"/>
              </a:rPr>
              <a:t>Split stories small so they reach testing from Day 3</a:t>
            </a:r>
          </a:p>
          <a:p>
            <a:pPr marL="285750" indent="-285750">
              <a:spcAft>
                <a:spcPts val="600"/>
              </a:spcAft>
              <a:buFont typeface="Arial"/>
              <a:buChar char="•"/>
            </a:pPr>
            <a:r>
              <a:rPr sz="1700" b="0">
                <a:solidFill>
                  <a:srgbClr val="1A1A1A"/>
                </a:solidFill>
                <a:latin typeface="Arial"/>
              </a:rPr>
              <a:t>QE writes test scenarios while the developer codes</a:t>
            </a:r>
          </a:p>
          <a:p>
            <a:pPr marL="285750" indent="-285750">
              <a:spcAft>
                <a:spcPts val="600"/>
              </a:spcAft>
              <a:buFont typeface="Arial"/>
              <a:buChar char="•"/>
            </a:pPr>
            <a:r>
              <a:rPr sz="1700" b="0">
                <a:solidFill>
                  <a:srgbClr val="1A1A1A"/>
                </a:solidFill>
                <a:latin typeface="Arial"/>
              </a:rPr>
              <a:t>Developers help test when the testing column fills</a:t>
            </a:r>
          </a:p>
        </p:txBody>
      </p:sp>
      <p:sp>
        <p:nvSpPr>
          <p:cNvPr id="19" name="TextBox 1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23 / 30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Flow of a Single Story</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Rounded Rectangle 3"/>
          <p:cNvSpPr/>
          <p:nvPr/>
        </p:nvSpPr>
        <p:spPr>
          <a:xfrm>
            <a:off x="612648" y="1828800"/>
            <a:ext cx="1600200" cy="100584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dirty="0">
                <a:solidFill>
                  <a:srgbClr val="FFFFFF"/>
                </a:solidFill>
                <a:latin typeface="Arial"/>
              </a:rPr>
              <a:t>Refined</a:t>
            </a:r>
          </a:p>
          <a:p>
            <a:pPr algn="ctr"/>
            <a:r>
              <a:rPr sz="1400" b="0" dirty="0">
                <a:solidFill>
                  <a:srgbClr val="FFFFFF"/>
                </a:solidFill>
                <a:latin typeface="Arial"/>
              </a:rPr>
              <a:t>(AC ready)</a:t>
            </a:r>
          </a:p>
        </p:txBody>
      </p:sp>
      <p:sp>
        <p:nvSpPr>
          <p:cNvPr id="5" name="Rounded Rectangle 4"/>
          <p:cNvSpPr/>
          <p:nvPr/>
        </p:nvSpPr>
        <p:spPr>
          <a:xfrm>
            <a:off x="2487168" y="1828800"/>
            <a:ext cx="1600200" cy="100584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Planned</a:t>
            </a:r>
          </a:p>
          <a:p>
            <a:pPr algn="ctr"/>
            <a:r>
              <a:rPr sz="1400" b="0">
                <a:solidFill>
                  <a:srgbClr val="FFFFFF"/>
                </a:solidFill>
                <a:latin typeface="Arial"/>
              </a:rPr>
              <a:t>(Day 1)</a:t>
            </a:r>
          </a:p>
        </p:txBody>
      </p:sp>
      <p:cxnSp>
        <p:nvCxnSpPr>
          <p:cNvPr id="6" name="Connector 5"/>
          <p:cNvCxnSpPr/>
          <p:nvPr/>
        </p:nvCxnSpPr>
        <p:spPr>
          <a:xfrm>
            <a:off x="2231136" y="2331720"/>
            <a:ext cx="237743"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61688" y="1828800"/>
            <a:ext cx="1600200" cy="100584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In Development</a:t>
            </a:r>
          </a:p>
        </p:txBody>
      </p:sp>
      <p:cxnSp>
        <p:nvCxnSpPr>
          <p:cNvPr id="8" name="Connector 7"/>
          <p:cNvCxnSpPr/>
          <p:nvPr/>
        </p:nvCxnSpPr>
        <p:spPr>
          <a:xfrm>
            <a:off x="4105655" y="23317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36207" y="1828800"/>
            <a:ext cx="1600200" cy="100584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In Testing</a:t>
            </a:r>
          </a:p>
        </p:txBody>
      </p:sp>
      <p:cxnSp>
        <p:nvCxnSpPr>
          <p:cNvPr id="10" name="Connector 9"/>
          <p:cNvCxnSpPr/>
          <p:nvPr/>
        </p:nvCxnSpPr>
        <p:spPr>
          <a:xfrm>
            <a:off x="5980175" y="23317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10727" y="1828800"/>
            <a:ext cx="1600200" cy="100584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Fix / Retest</a:t>
            </a:r>
          </a:p>
        </p:txBody>
      </p:sp>
      <p:cxnSp>
        <p:nvCxnSpPr>
          <p:cNvPr id="12" name="Connector 11"/>
          <p:cNvCxnSpPr/>
          <p:nvPr/>
        </p:nvCxnSpPr>
        <p:spPr>
          <a:xfrm>
            <a:off x="7854695" y="23317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985248" y="1828800"/>
            <a:ext cx="1600200" cy="100584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Arial"/>
              </a:rPr>
              <a:t>Done</a:t>
            </a:r>
          </a:p>
          <a:p>
            <a:pPr algn="ctr"/>
            <a:r>
              <a:rPr sz="1400" b="0">
                <a:solidFill>
                  <a:srgbClr val="FFFFFF"/>
                </a:solidFill>
                <a:latin typeface="Arial"/>
              </a:rPr>
              <a:t>(meets DoD)</a:t>
            </a:r>
          </a:p>
        </p:txBody>
      </p:sp>
      <p:cxnSp>
        <p:nvCxnSpPr>
          <p:cNvPr id="14" name="Connector 13"/>
          <p:cNvCxnSpPr/>
          <p:nvPr/>
        </p:nvCxnSpPr>
        <p:spPr>
          <a:xfrm>
            <a:off x="9729215" y="23317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8" y="3108960"/>
            <a:ext cx="1600200" cy="91440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Testability questions</a:t>
            </a:r>
          </a:p>
        </p:txBody>
      </p:sp>
      <p:sp>
        <p:nvSpPr>
          <p:cNvPr id="16" name="Rounded Rectangle 15"/>
          <p:cNvSpPr/>
          <p:nvPr/>
        </p:nvSpPr>
        <p:spPr>
          <a:xfrm>
            <a:off x="2487168" y="3108960"/>
            <a:ext cx="1600200" cy="91440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Test tasks estimated</a:t>
            </a:r>
          </a:p>
        </p:txBody>
      </p:sp>
      <p:sp>
        <p:nvSpPr>
          <p:cNvPr id="17" name="Rounded Rectangle 16"/>
          <p:cNvSpPr/>
          <p:nvPr/>
        </p:nvSpPr>
        <p:spPr>
          <a:xfrm>
            <a:off x="4361688" y="3108960"/>
            <a:ext cx="1600200" cy="91440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QE writes scenarios</a:t>
            </a:r>
          </a:p>
        </p:txBody>
      </p:sp>
      <p:sp>
        <p:nvSpPr>
          <p:cNvPr id="18" name="Rounded Rectangle 17"/>
          <p:cNvSpPr/>
          <p:nvPr/>
        </p:nvSpPr>
        <p:spPr>
          <a:xfrm>
            <a:off x="6236207" y="3108960"/>
            <a:ext cx="1600200" cy="91440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Run tests, explore</a:t>
            </a:r>
          </a:p>
        </p:txBody>
      </p:sp>
      <p:sp>
        <p:nvSpPr>
          <p:cNvPr id="19" name="Rounded Rectangle 18"/>
          <p:cNvSpPr/>
          <p:nvPr/>
        </p:nvSpPr>
        <p:spPr>
          <a:xfrm>
            <a:off x="8110727" y="3108960"/>
            <a:ext cx="1600200" cy="91440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Confirm fix, regression</a:t>
            </a:r>
          </a:p>
        </p:txBody>
      </p:sp>
      <p:sp>
        <p:nvSpPr>
          <p:cNvPr id="20" name="Rounded Rectangle 19"/>
          <p:cNvSpPr/>
          <p:nvPr/>
        </p:nvSpPr>
        <p:spPr>
          <a:xfrm>
            <a:off x="9985248" y="3108960"/>
            <a:ext cx="1600200" cy="91440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Ready for Review</a:t>
            </a:r>
          </a:p>
        </p:txBody>
      </p:sp>
      <p:cxnSp>
        <p:nvCxnSpPr>
          <p:cNvPr id="21" name="Connector 20"/>
          <p:cNvCxnSpPr/>
          <p:nvPr/>
        </p:nvCxnSpPr>
        <p:spPr>
          <a:xfrm flipH="1">
            <a:off x="7036307" y="1783080"/>
            <a:ext cx="1874521" cy="0"/>
          </a:xfrm>
          <a:prstGeom prst="line">
            <a:avLst/>
          </a:prstGeom>
          <a:ln w="19050">
            <a:solidFill>
              <a:srgbClr val="C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2648" y="4389120"/>
            <a:ext cx="10972800" cy="914400"/>
          </a:xfrm>
          <a:prstGeom prst="rect">
            <a:avLst/>
          </a:prstGeom>
          <a:noFill/>
        </p:spPr>
        <p:txBody>
          <a:bodyPr wrap="square" lIns="0" tIns="0" rIns="0" bIns="0">
            <a:spAutoFit/>
          </a:bodyPr>
          <a:lstStyle/>
          <a:p>
            <a:pPr>
              <a:spcAft>
                <a:spcPts val="600"/>
              </a:spcAft>
            </a:pPr>
            <a:r>
              <a:rPr sz="1700" b="0">
                <a:solidFill>
                  <a:srgbClr val="1A1A1A"/>
                </a:solidFill>
                <a:latin typeface="Arial"/>
              </a:rPr>
              <a:t>Green: the QE's work at each step. While the developer codes, the QE is already preparing tests.</a:t>
            </a:r>
          </a:p>
        </p:txBody>
      </p:sp>
      <p:sp>
        <p:nvSpPr>
          <p:cNvPr id="23" name="TextBox 22"/>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24 / 30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Healthy vs Unhealthy Testing Rhythm</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graphicFrame>
        <p:nvGraphicFramePr>
          <p:cNvPr id="4" name="Table 3"/>
          <p:cNvGraphicFramePr>
            <a:graphicFrameLocks noGrp="1"/>
          </p:cNvGraphicFramePr>
          <p:nvPr/>
        </p:nvGraphicFramePr>
        <p:xfrm>
          <a:off x="612648" y="1691640"/>
          <a:ext cx="10972800" cy="4343400"/>
        </p:xfrm>
        <a:graphic>
          <a:graphicData uri="http://schemas.openxmlformats.org/drawingml/2006/table">
            <a:tbl>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723900">
                <a:tc>
                  <a:txBody>
                    <a:bodyPr/>
                    <a:lstStyle/>
                    <a:p>
                      <a:r>
                        <a:rPr sz="1700" b="1">
                          <a:solidFill>
                            <a:srgbClr val="FFFFFF"/>
                          </a:solidFill>
                          <a:latin typeface="Arial"/>
                        </a:rPr>
                        <a:t>Healthy</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Unhealthy</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extLst>
                  <a:ext uri="{0D108BD9-81ED-4DB2-BD59-A6C34878D82A}">
                    <a16:rowId xmlns:a16="http://schemas.microsoft.com/office/drawing/2014/main" val="10000"/>
                  </a:ext>
                </a:extLst>
              </a:tr>
              <a:tr h="723900">
                <a:tc>
                  <a:txBody>
                    <a:bodyPr/>
                    <a:lstStyle/>
                    <a:p>
                      <a:r>
                        <a:rPr sz="1700" b="1">
                          <a:solidFill>
                            <a:srgbClr val="330066"/>
                          </a:solidFill>
                          <a:latin typeface="Arial"/>
                        </a:rPr>
                        <a:t>Stories reach testing steadily from Day 3</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Most stories reach testing on Day 8 or 9</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1"/>
                  </a:ext>
                </a:extLst>
              </a:tr>
              <a:tr h="723900">
                <a:tc>
                  <a:txBody>
                    <a:bodyPr/>
                    <a:lstStyle/>
                    <a:p>
                      <a:r>
                        <a:rPr sz="1700" b="1">
                          <a:solidFill>
                            <a:srgbClr val="330066"/>
                          </a:solidFill>
                          <a:latin typeface="Arial"/>
                        </a:rPr>
                        <a:t>QE and developer talk about issues the same day</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Issues wait in a queue for days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2"/>
                  </a:ext>
                </a:extLst>
              </a:tr>
              <a:tr h="723900">
                <a:tc>
                  <a:txBody>
                    <a:bodyPr/>
                    <a:lstStyle/>
                    <a:p>
                      <a:r>
                        <a:rPr sz="1700" b="1">
                          <a:solidFill>
                            <a:srgbClr val="330066"/>
                          </a:solidFill>
                          <a:latin typeface="Arial"/>
                        </a:rPr>
                        <a:t>Regression is small and frequent</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Regression is one stressful event at the end</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3"/>
                  </a:ext>
                </a:extLst>
              </a:tr>
              <a:tr h="723900">
                <a:tc>
                  <a:txBody>
                    <a:bodyPr/>
                    <a:lstStyle/>
                    <a:p>
                      <a:r>
                        <a:rPr sz="1700" b="1">
                          <a:solidFill>
                            <a:srgbClr val="330066"/>
                          </a:solidFill>
                          <a:latin typeface="Arial"/>
                        </a:rPr>
                        <a:t>Burndown goes down gradually</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Flat burndown, then a cliff</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extLst>
                  <a:ext uri="{0D108BD9-81ED-4DB2-BD59-A6C34878D82A}">
                    <a16:rowId xmlns:a16="http://schemas.microsoft.com/office/drawing/2014/main" val="10004"/>
                  </a:ext>
                </a:extLst>
              </a:tr>
              <a:tr h="723900">
                <a:tc>
                  <a:txBody>
                    <a:bodyPr/>
                    <a:lstStyle/>
                    <a:p>
                      <a:r>
                        <a:rPr sz="1700" b="1">
                          <a:solidFill>
                            <a:srgbClr val="330066"/>
                          </a:solidFill>
                          <a:latin typeface="Arial"/>
                        </a:rPr>
                        <a:t>Final hardening takes a day or less</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Hardening becomes a multi-day phase</a:t>
                      </a:r>
                    </a:p>
                  </a:txBody>
                  <a:tcPr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25 / 30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the Sprint Goal Is at Risk</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200"/>
              </a:spcAft>
              <a:buFont typeface="Arial"/>
              <a:buChar char="•"/>
            </a:pPr>
            <a:r>
              <a:rPr sz="2200" b="0">
                <a:solidFill>
                  <a:srgbClr val="1A1A1A"/>
                </a:solidFill>
                <a:latin typeface="Arial"/>
              </a:rPr>
              <a:t>Say so early, at the Daily Scrum; don't wait for Day 10</a:t>
            </a:r>
          </a:p>
          <a:p>
            <a:pPr marL="285750" indent="-285750">
              <a:spcAft>
                <a:spcPts val="2200"/>
              </a:spcAft>
              <a:buFont typeface="Arial"/>
              <a:buChar char="•"/>
            </a:pPr>
            <a:r>
              <a:rPr sz="2200" b="0">
                <a:solidFill>
                  <a:srgbClr val="1A1A1A"/>
                </a:solidFill>
                <a:latin typeface="Arial"/>
              </a:rPr>
              <a:t>Negotiate scope with the PO, keeping the goal</a:t>
            </a:r>
          </a:p>
          <a:p>
            <a:pPr marL="285750" indent="-285750">
              <a:spcAft>
                <a:spcPts val="2200"/>
              </a:spcAft>
              <a:buFont typeface="Arial"/>
              <a:buChar char="•"/>
            </a:pPr>
            <a:r>
              <a:rPr sz="2200" b="0">
                <a:solidFill>
                  <a:srgbClr val="1A1A1A"/>
                </a:solidFill>
                <a:latin typeface="Arial"/>
              </a:rPr>
              <a:t>Swarm on the most important unfinished item</a:t>
            </a:r>
          </a:p>
          <a:p>
            <a:pPr marL="285750" indent="-285750">
              <a:spcAft>
                <a:spcPts val="2200"/>
              </a:spcAft>
              <a:buFont typeface="Arial"/>
              <a:buChar char="•"/>
            </a:pPr>
            <a:r>
              <a:rPr sz="2200" b="0">
                <a:solidFill>
                  <a:srgbClr val="1A1A1A"/>
                </a:solidFill>
                <a:latin typeface="Arial"/>
              </a:rPr>
              <a:t>Never lower the Definition of Done to hit a date</a:t>
            </a:r>
          </a:p>
          <a:p>
            <a:pPr marL="285750" indent="-285750">
              <a:spcAft>
                <a:spcPts val="2200"/>
              </a:spcAft>
              <a:buFont typeface="Arial"/>
              <a:buChar char="•"/>
            </a:pPr>
            <a:r>
              <a:rPr sz="2200" b="0">
                <a:solidFill>
                  <a:srgbClr val="1A1A1A"/>
                </a:solidFill>
                <a:latin typeface="Arial"/>
              </a:rPr>
              <a:t>Never extend the sprint</a:t>
            </a:r>
          </a:p>
          <a:p>
            <a:pPr marL="285750" indent="-285750">
              <a:spcAft>
                <a:spcPts val="2200"/>
              </a:spcAft>
              <a:buFont typeface="Arial"/>
              <a:buChar char="•"/>
            </a:pPr>
            <a:r>
              <a:rPr sz="2200" b="0">
                <a:solidFill>
                  <a:srgbClr val="1A1A1A"/>
                </a:solidFill>
                <a:latin typeface="Arial"/>
              </a:rPr>
              <a:t>Missed goal? Unfinished work returns to the backlog</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26 / 30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Bug Found Late on Day 9</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Rounded Rectangle 3"/>
          <p:cNvSpPr/>
          <p:nvPr/>
        </p:nvSpPr>
        <p:spPr>
          <a:xfrm>
            <a:off x="612648" y="2103120"/>
            <a:ext cx="1600200" cy="9144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Report it now</a:t>
            </a:r>
          </a:p>
        </p:txBody>
      </p:sp>
      <p:sp>
        <p:nvSpPr>
          <p:cNvPr id="5" name="Rounded Rectangle 4"/>
          <p:cNvSpPr/>
          <p:nvPr/>
        </p:nvSpPr>
        <p:spPr>
          <a:xfrm>
            <a:off x="2487168" y="2103120"/>
            <a:ext cx="1600200" cy="9144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Assess impact</a:t>
            </a:r>
          </a:p>
        </p:txBody>
      </p:sp>
      <p:cxnSp>
        <p:nvCxnSpPr>
          <p:cNvPr id="6" name="Connector 5"/>
          <p:cNvCxnSpPr/>
          <p:nvPr/>
        </p:nvCxnSpPr>
        <p:spPr>
          <a:xfrm>
            <a:off x="2231136" y="2560320"/>
            <a:ext cx="237743"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61688" y="2103120"/>
            <a:ext cx="1600200" cy="9144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Decide with the PO</a:t>
            </a:r>
          </a:p>
        </p:txBody>
      </p:sp>
      <p:cxnSp>
        <p:nvCxnSpPr>
          <p:cNvPr id="8" name="Connector 7"/>
          <p:cNvCxnSpPr/>
          <p:nvPr/>
        </p:nvCxnSpPr>
        <p:spPr>
          <a:xfrm>
            <a:off x="4105655" y="25603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36207" y="2103120"/>
            <a:ext cx="1600200" cy="9144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Keep the DoD</a:t>
            </a:r>
          </a:p>
        </p:txBody>
      </p:sp>
      <p:cxnSp>
        <p:nvCxnSpPr>
          <p:cNvPr id="10" name="Connector 9"/>
          <p:cNvCxnSpPr/>
          <p:nvPr/>
        </p:nvCxnSpPr>
        <p:spPr>
          <a:xfrm>
            <a:off x="5980175" y="25603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10727" y="2103120"/>
            <a:ext cx="1600200" cy="9144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Be transparent</a:t>
            </a:r>
          </a:p>
        </p:txBody>
      </p:sp>
      <p:cxnSp>
        <p:nvCxnSpPr>
          <p:cNvPr id="12" name="Connector 11"/>
          <p:cNvCxnSpPr/>
          <p:nvPr/>
        </p:nvCxnSpPr>
        <p:spPr>
          <a:xfrm>
            <a:off x="7854695" y="25603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985248" y="2103120"/>
            <a:ext cx="1600200" cy="9144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Arial"/>
              </a:rPr>
              <a:t>Learn in the retro</a:t>
            </a:r>
          </a:p>
        </p:txBody>
      </p:sp>
      <p:cxnSp>
        <p:nvCxnSpPr>
          <p:cNvPr id="14" name="Connector 13"/>
          <p:cNvCxnSpPr/>
          <p:nvPr/>
        </p:nvCxnSpPr>
        <p:spPr>
          <a:xfrm>
            <a:off x="9729215" y="2560320"/>
            <a:ext cx="237745"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8" y="3200400"/>
            <a:ext cx="1600200" cy="1143000"/>
          </a:xfrm>
          <a:prstGeom prst="roundRect">
            <a:avLst>
              <a:gd name="adj" fmla="val 12000"/>
            </a:avLst>
          </a:prstGeom>
          <a:solidFill>
            <a:srgbClr val="F8D7D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Tell the team at once</a:t>
            </a:r>
          </a:p>
        </p:txBody>
      </p:sp>
      <p:sp>
        <p:nvSpPr>
          <p:cNvPr id="16" name="Rounded Rectangle 15"/>
          <p:cNvSpPr/>
          <p:nvPr/>
        </p:nvSpPr>
        <p:spPr>
          <a:xfrm>
            <a:off x="2487168" y="3200400"/>
            <a:ext cx="1600200" cy="1143000"/>
          </a:xfrm>
          <a:prstGeom prst="roundRect">
            <a:avLst>
              <a:gd name="adj" fmla="val 12000"/>
            </a:avLst>
          </a:prstGeom>
          <a:solidFill>
            <a:srgbClr val="F8D7D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Breaks the goal? Workaround?</a:t>
            </a:r>
          </a:p>
        </p:txBody>
      </p:sp>
      <p:sp>
        <p:nvSpPr>
          <p:cNvPr id="17" name="Rounded Rectangle 16"/>
          <p:cNvSpPr/>
          <p:nvPr/>
        </p:nvSpPr>
        <p:spPr>
          <a:xfrm>
            <a:off x="4361688" y="3200400"/>
            <a:ext cx="1600200" cy="1143000"/>
          </a:xfrm>
          <a:prstGeom prst="roundRect">
            <a:avLst>
              <a:gd name="adj" fmla="val 12000"/>
            </a:avLst>
          </a:prstGeom>
          <a:solidFill>
            <a:srgbClr val="F8D7D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Fix now, cut scope, or move back</a:t>
            </a:r>
          </a:p>
        </p:txBody>
      </p:sp>
      <p:sp>
        <p:nvSpPr>
          <p:cNvPr id="18" name="Rounded Rectangle 17"/>
          <p:cNvSpPr/>
          <p:nvPr/>
        </p:nvSpPr>
        <p:spPr>
          <a:xfrm>
            <a:off x="6236207" y="3200400"/>
            <a:ext cx="1600200" cy="1143000"/>
          </a:xfrm>
          <a:prstGeom prst="roundRect">
            <a:avLst>
              <a:gd name="adj" fmla="val 12000"/>
            </a:avLst>
          </a:prstGeom>
          <a:solidFill>
            <a:srgbClr val="F8D7D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Serious open bug = not Done</a:t>
            </a:r>
          </a:p>
        </p:txBody>
      </p:sp>
      <p:sp>
        <p:nvSpPr>
          <p:cNvPr id="19" name="Rounded Rectangle 18"/>
          <p:cNvSpPr/>
          <p:nvPr/>
        </p:nvSpPr>
        <p:spPr>
          <a:xfrm>
            <a:off x="8110727" y="3200400"/>
            <a:ext cx="1600200" cy="1143000"/>
          </a:xfrm>
          <a:prstGeom prst="roundRect">
            <a:avLst>
              <a:gd name="adj" fmla="val 12000"/>
            </a:avLst>
          </a:prstGeom>
          <a:solidFill>
            <a:srgbClr val="F8D7D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Say what wasn't completed</a:t>
            </a:r>
          </a:p>
        </p:txBody>
      </p:sp>
      <p:sp>
        <p:nvSpPr>
          <p:cNvPr id="20" name="Rounded Rectangle 19"/>
          <p:cNvSpPr/>
          <p:nvPr/>
        </p:nvSpPr>
        <p:spPr>
          <a:xfrm>
            <a:off x="9985248" y="3200400"/>
            <a:ext cx="1600200" cy="1143000"/>
          </a:xfrm>
          <a:prstGeom prst="roundRect">
            <a:avLst>
              <a:gd name="adj" fmla="val 12000"/>
            </a:avLst>
          </a:prstGeom>
          <a:solidFill>
            <a:srgbClr val="F8D7D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a:solidFill>
                  <a:srgbClr val="1A1A1A"/>
                </a:solidFill>
                <a:latin typeface="Arial"/>
              </a:rPr>
              <a:t>Why was it found late?</a:t>
            </a:r>
          </a:p>
        </p:txBody>
      </p:sp>
      <p:sp>
        <p:nvSpPr>
          <p:cNvPr id="21" name="Rounded Rectangle 20"/>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endParaRPr/>
          </a:p>
        </p:txBody>
      </p:sp>
      <p:sp>
        <p:nvSpPr>
          <p:cNvPr id="22" name="TextBox 21"/>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GUIDING PRINCIPLE</a:t>
            </a:r>
          </a:p>
          <a:p>
            <a:pPr>
              <a:spcAft>
                <a:spcPts val="300"/>
              </a:spcAft>
            </a:pPr>
            <a:r>
              <a:rPr sz="1600" b="0">
                <a:solidFill>
                  <a:srgbClr val="1A1A1A"/>
                </a:solidFill>
                <a:latin typeface="Arial"/>
              </a:rPr>
              <a:t>Hiding a late bug costs far more than reporting it. Raise it early, calmly and with facts.</a:t>
            </a:r>
          </a:p>
        </p:txBody>
      </p:sp>
      <p:sp>
        <p:nvSpPr>
          <p:cNvPr id="23" name="TextBox 22"/>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27 / 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Mistakes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200"/>
              </a:spcAft>
              <a:buFont typeface="Arial"/>
              <a:buChar char="•"/>
            </a:pPr>
            <a:r>
              <a:rPr sz="2200" b="0">
                <a:solidFill>
                  <a:srgbClr val="1A1A1A"/>
                </a:solidFill>
                <a:latin typeface="Arial"/>
              </a:rPr>
              <a:t>Estimating stories without any testing discussion</a:t>
            </a:r>
          </a:p>
          <a:p>
            <a:pPr marL="285750" indent="-285750">
              <a:spcAft>
                <a:spcPts val="2200"/>
              </a:spcAft>
              <a:buFont typeface="Arial"/>
              <a:buChar char="•"/>
            </a:pPr>
            <a:r>
              <a:rPr sz="2200" b="0">
                <a:solidFill>
                  <a:srgbClr val="1A1A1A"/>
                </a:solidFill>
                <a:latin typeface="Arial"/>
              </a:rPr>
              <a:t>Over-committing because testing time wasn't counted</a:t>
            </a:r>
          </a:p>
          <a:p>
            <a:pPr marL="285750" indent="-285750">
              <a:spcAft>
                <a:spcPts val="2200"/>
              </a:spcAft>
              <a:buFont typeface="Arial"/>
              <a:buChar char="•"/>
            </a:pPr>
            <a:r>
              <a:rPr sz="2200" b="0">
                <a:solidFill>
                  <a:srgbClr val="1A1A1A"/>
                </a:solidFill>
                <a:latin typeface="Arial"/>
              </a:rPr>
              <a:t>Daily Scrum as a status report, running 30+ minutes</a:t>
            </a:r>
          </a:p>
          <a:p>
            <a:pPr marL="285750" indent="-285750">
              <a:spcAft>
                <a:spcPts val="2200"/>
              </a:spcAft>
              <a:buFont typeface="Arial"/>
              <a:buChar char="•"/>
            </a:pPr>
            <a:r>
              <a:rPr sz="2200" b="0">
                <a:solidFill>
                  <a:srgbClr val="1A1A1A"/>
                </a:solidFill>
                <a:latin typeface="Arial"/>
              </a:rPr>
              <a:t>Demoing unfinished work at the Sprint Review</a:t>
            </a:r>
          </a:p>
          <a:p>
            <a:pPr marL="285750" indent="-285750">
              <a:spcAft>
                <a:spcPts val="2200"/>
              </a:spcAft>
              <a:buFont typeface="Arial"/>
              <a:buChar char="•"/>
            </a:pPr>
            <a:r>
              <a:rPr sz="2200" b="0">
                <a:solidFill>
                  <a:srgbClr val="1A1A1A"/>
                </a:solidFill>
                <a:latin typeface="Arial"/>
              </a:rPr>
              <a:t>Retrospectives with complaints but no actions</a:t>
            </a:r>
          </a:p>
          <a:p>
            <a:pPr marL="285750" indent="-285750">
              <a:spcAft>
                <a:spcPts val="2200"/>
              </a:spcAft>
              <a:buFont typeface="Arial"/>
              <a:buChar char="•"/>
            </a:pPr>
            <a:r>
              <a:rPr sz="2200" b="0">
                <a:solidFill>
                  <a:srgbClr val="1A1A1A"/>
                </a:solidFill>
                <a:latin typeface="Arial"/>
              </a:rPr>
              <a:t>Testing everything in the last two days of the sprint</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28 / 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SUMMARY</a:t>
            </a:r>
          </a:p>
        </p:txBody>
      </p:sp>
      <p:sp>
        <p:nvSpPr>
          <p:cNvPr id="4" name="Oval 3"/>
          <p:cNvSpPr/>
          <p:nvPr/>
        </p:nvSpPr>
        <p:spPr>
          <a:xfrm>
            <a:off x="612648" y="169164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1</a:t>
            </a:r>
          </a:p>
        </p:txBody>
      </p:sp>
      <p:sp>
        <p:nvSpPr>
          <p:cNvPr id="5" name="TextBox 4"/>
          <p:cNvSpPr txBox="1"/>
          <p:nvPr/>
        </p:nvSpPr>
        <p:spPr>
          <a:xfrm>
            <a:off x="1298448" y="172821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A sprint is a fixed timebox (≤1 month, often 2 weeks) with one goal.</a:t>
            </a:r>
          </a:p>
        </p:txBody>
      </p:sp>
      <p:sp>
        <p:nvSpPr>
          <p:cNvPr id="6" name="Oval 5"/>
          <p:cNvSpPr/>
          <p:nvPr/>
        </p:nvSpPr>
        <p:spPr>
          <a:xfrm>
            <a:off x="612648" y="243840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2</a:t>
            </a:r>
          </a:p>
        </p:txBody>
      </p:sp>
      <p:sp>
        <p:nvSpPr>
          <p:cNvPr id="7" name="TextBox 6"/>
          <p:cNvSpPr txBox="1"/>
          <p:nvPr/>
        </p:nvSpPr>
        <p:spPr>
          <a:xfrm>
            <a:off x="1298448" y="247497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Each artifact has a commitment: Product Goal, Sprint Goal, DoD.</a:t>
            </a:r>
          </a:p>
        </p:txBody>
      </p:sp>
      <p:sp>
        <p:nvSpPr>
          <p:cNvPr id="8" name="Oval 7"/>
          <p:cNvSpPr/>
          <p:nvPr/>
        </p:nvSpPr>
        <p:spPr>
          <a:xfrm>
            <a:off x="612648" y="318516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3</a:t>
            </a:r>
          </a:p>
        </p:txBody>
      </p:sp>
      <p:sp>
        <p:nvSpPr>
          <p:cNvPr id="9" name="TextBox 8"/>
          <p:cNvSpPr txBox="1"/>
          <p:nvPr/>
        </p:nvSpPr>
        <p:spPr>
          <a:xfrm>
            <a:off x="1298448" y="322173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Stories describe value; Given/When/Then criteria become tests.</a:t>
            </a:r>
          </a:p>
        </p:txBody>
      </p:sp>
      <p:sp>
        <p:nvSpPr>
          <p:cNvPr id="10" name="Oval 9"/>
          <p:cNvSpPr/>
          <p:nvPr/>
        </p:nvSpPr>
        <p:spPr>
          <a:xfrm>
            <a:off x="612648" y="393192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4</a:t>
            </a:r>
          </a:p>
        </p:txBody>
      </p:sp>
      <p:sp>
        <p:nvSpPr>
          <p:cNvPr id="11" name="TextBox 10"/>
          <p:cNvSpPr txBox="1"/>
          <p:nvPr/>
        </p:nvSpPr>
        <p:spPr>
          <a:xfrm>
            <a:off x="1298448" y="396849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Points size work; velocity forecasts; burndown shows progress.</a:t>
            </a:r>
          </a:p>
        </p:txBody>
      </p:sp>
      <p:sp>
        <p:nvSpPr>
          <p:cNvPr id="12" name="Oval 11"/>
          <p:cNvSpPr/>
          <p:nvPr/>
        </p:nvSpPr>
        <p:spPr>
          <a:xfrm>
            <a:off x="612648" y="467868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5</a:t>
            </a:r>
          </a:p>
        </p:txBody>
      </p:sp>
      <p:sp>
        <p:nvSpPr>
          <p:cNvPr id="13" name="TextBox 12"/>
          <p:cNvSpPr txBox="1"/>
          <p:nvPr/>
        </p:nvSpPr>
        <p:spPr>
          <a:xfrm>
            <a:off x="1298448" y="471525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The QE contributes in every event, and in refinement.</a:t>
            </a:r>
          </a:p>
        </p:txBody>
      </p:sp>
      <p:sp>
        <p:nvSpPr>
          <p:cNvPr id="14" name="Oval 13"/>
          <p:cNvSpPr/>
          <p:nvPr/>
        </p:nvSpPr>
        <p:spPr>
          <a:xfrm>
            <a:off x="612648" y="542544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r>
              <a:rPr sz="1400" b="1">
                <a:solidFill>
                  <a:srgbClr val="FFFFFF"/>
                </a:solidFill>
                <a:latin typeface="Arial"/>
              </a:rPr>
              <a:t>6</a:t>
            </a:r>
          </a:p>
        </p:txBody>
      </p:sp>
      <p:sp>
        <p:nvSpPr>
          <p:cNvPr id="15" name="TextBox 14"/>
          <p:cNvSpPr txBox="1"/>
          <p:nvPr/>
        </p:nvSpPr>
        <p:spPr>
          <a:xfrm>
            <a:off x="1298448" y="546201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Testing is continuous inside the sprint, never a final phase.</a:t>
            </a:r>
          </a:p>
        </p:txBody>
      </p:sp>
      <p:sp>
        <p:nvSpPr>
          <p:cNvPr id="16" name="TextBox 1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29 / 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The Scrum Guide (2020 edition)</a:t>
            </a:r>
          </a:p>
          <a:p>
            <a:pPr algn="l">
              <a:lnSpc>
                <a:spcPct val="110000"/>
              </a:lnSpc>
              <a:spcAft>
                <a:spcPts val="600"/>
              </a:spcAft>
            </a:pPr>
            <a:r>
              <a:rPr sz="1200" b="0" i="0">
                <a:solidFill>
                  <a:srgbClr val="330066"/>
                </a:solidFill>
                <a:latin typeface="Courier New"/>
              </a:rPr>
              <a:t>https://scrumguides.org/scrum-guide.html</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Atlassian Agile Coach: Scrum</a:t>
            </a:r>
          </a:p>
          <a:p>
            <a:pPr algn="l">
              <a:lnSpc>
                <a:spcPct val="110000"/>
              </a:lnSpc>
              <a:spcAft>
                <a:spcPts val="600"/>
              </a:spcAft>
            </a:pPr>
            <a:r>
              <a:rPr sz="1200" b="0" i="0">
                <a:solidFill>
                  <a:srgbClr val="330066"/>
                </a:solidFill>
                <a:latin typeface="Courier New"/>
              </a:rPr>
              <a:t>https://www.atlassian.com/agile/scrum</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Scrum.org Resources</a:t>
            </a:r>
          </a:p>
          <a:p>
            <a:pPr algn="l">
              <a:lnSpc>
                <a:spcPct val="110000"/>
              </a:lnSpc>
              <a:spcAft>
                <a:spcPts val="600"/>
              </a:spcAft>
            </a:pPr>
            <a:r>
              <a:rPr sz="1200" b="0" i="0">
                <a:solidFill>
                  <a:srgbClr val="330066"/>
                </a:solidFill>
                <a:latin typeface="Courier New"/>
              </a:rPr>
              <a:t>https://www.scrum.org/resources</a:t>
            </a:r>
          </a:p>
        </p:txBody>
      </p:sp>
      <p:sp>
        <p:nvSpPr>
          <p:cNvPr id="9" name="TextBox 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30 / 30</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3909</Words>
  <Application>Microsoft Office PowerPoint</Application>
  <PresentationFormat>Widescreen</PresentationFormat>
  <Paragraphs>422</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Courier New</vt:lpstr>
      <vt:lpstr>Wingdings</vt:lpstr>
      <vt:lpstr>Learners Point</vt:lpstr>
      <vt:lpstr>Scrum Ceremonies and the Sprint Lifecycle</vt:lpstr>
      <vt:lpstr>Learning Objectives</vt:lpstr>
      <vt:lpstr>The Sprint and Scrum Basics</vt:lpstr>
      <vt:lpstr>Analogy: The Relay Race</vt:lpstr>
      <vt:lpstr>The Scrum Framework</vt:lpstr>
      <vt:lpstr>Sprint Rules</vt:lpstr>
      <vt:lpstr>A Two-Week Sprint at a Glance</vt:lpstr>
      <vt:lpstr>Artifacts and Commitments</vt:lpstr>
      <vt:lpstr>Definition of Ready and Done</vt:lpstr>
      <vt:lpstr>Stories, Estimation and Refinement</vt:lpstr>
      <vt:lpstr>User Stories and INVEST</vt:lpstr>
      <vt:lpstr>Acceptance Criteria: Given / When / Then</vt:lpstr>
      <vt:lpstr>Story Points, Planning Poker, Velocity</vt:lpstr>
      <vt:lpstr>Reading a Burndown Chart</vt:lpstr>
      <vt:lpstr>Backlog Refinement (an Activity)</vt:lpstr>
      <vt:lpstr>The Scrum Events</vt:lpstr>
      <vt:lpstr>Sprint Planning</vt:lpstr>
      <vt:lpstr>Daily Scrum</vt:lpstr>
      <vt:lpstr>Sprint Review</vt:lpstr>
      <vt:lpstr>Sprint Retrospective</vt:lpstr>
      <vt:lpstr>Retrospective Formats</vt:lpstr>
      <vt:lpstr>Testing Inside a Sprint</vt:lpstr>
      <vt:lpstr>Scrum-Fall vs Continuous Testing</vt:lpstr>
      <vt:lpstr>The Flow of a Single Story</vt:lpstr>
      <vt:lpstr>Healthy vs Unhealthy Testing Rhythm</vt:lpstr>
      <vt:lpstr>When the Sprint Goal Is at Risk</vt:lpstr>
      <vt:lpstr>A Bug Found Late on Day 9</vt:lpstr>
      <vt:lpstr>Common Mistakes</vt:lpstr>
      <vt:lpstr>Key Takeaways</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2</cp:revision>
  <dcterms:modified xsi:type="dcterms:W3CDTF">2026-10-26T10:57:05Z</dcterms:modified>
</cp:coreProperties>
</file>