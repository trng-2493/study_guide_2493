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56" r:id="rId2"/>
    <p:sldId id="338" r:id="rId3"/>
    <p:sldId id="339" r:id="rId4"/>
    <p:sldId id="340" r:id="rId5"/>
    <p:sldId id="341" r:id="rId6"/>
    <p:sldId id="342" r:id="rId7"/>
    <p:sldId id="343" r:id="rId8"/>
    <p:sldId id="344" r:id="rId9"/>
    <p:sldId id="345" r:id="rId10"/>
    <p:sldId id="346" r:id="rId11"/>
    <p:sldId id="347" r:id="rId12"/>
    <p:sldId id="348" r:id="rId13"/>
    <p:sldId id="349" r:id="rId14"/>
    <p:sldId id="350" r:id="rId15"/>
    <p:sldId id="351" r:id="rId16"/>
    <p:sldId id="352" r:id="rId17"/>
    <p:sldId id="353" r:id="rId18"/>
    <p:sldId id="354" r:id="rId19"/>
    <p:sldId id="355" r:id="rId20"/>
    <p:sldId id="356" r:id="rId21"/>
    <p:sldId id="357" r:id="rId22"/>
    <p:sldId id="358" r:id="rId23"/>
    <p:sldId id="359" r:id="rId24"/>
    <p:sldId id="360" r:id="rId25"/>
    <p:sldId id="337" r:id="rId26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76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5687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SDLC lesson showed testing as one phase. The STLC zooms into that phase: the planned steps a testing effort moves through.</a:t>
            </a:r>
          </a:p>
          <a:p>
            <a:r>
              <a:t>- Ask: "If you were told 'test this login page' tomorrow, what would you do first?" Collect answers; most people jump straight to clicking. The STLC shows what comes before and after.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phases here are an introduction. Tuesday goes deep on requirements analysis, test planning and execution, and the defect lifecycle; Thursday covers test design techniques.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Part 1: what the STLC is, how it relates to the SDLC, and the criteria that open and close each phase.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Quality goals: targets for "good enough to release", for example no open critical defects, all high-priority requirements tested.</a:t>
            </a:r>
          </a:p>
          <a:p>
            <a:r>
              <a:t>- How to test a particular feature is the job of test design techniques (Thursday).</a:t>
            </a:r>
          </a:p>
          <a:p>
            <a:r>
              <a:t>- Books may list five or seven phases; the six-phase version is the one most often taught and asked about in interviews.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message: the STLC is not something that happens after the SDLC. It runs alongside it.</a:t>
            </a:r>
          </a:p>
          <a:p>
            <a:r>
              <a:t>- Key outputs: SDLC produces requirements, designs, code, builds, releases; STLC produces test plans, test cases, defect reports, closure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common beginner belief: "developers build first, then testers test". That is the worst-case picture.</a:t>
            </a:r>
          </a:p>
          <a:p>
            <a:r>
              <a:t>- Requirements gathering ↔ requirement analysis for testability. Planning and design ↔ test planning. Development ↔ test case development and environment setup. Testing ↔ execution. Release ↔ closure. Maintenance ↔ regression testing.</a:t>
            </a:r>
          </a:p>
          <a:p>
            <a:r>
              <a:t>- In healthy teams the two cycles run side by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Role: the people involved in a phase. Each phase in the STLC is described with these words: activities, entry and exit criteria, deliverables, roles, tools and pitfalls.</a:t>
            </a:r>
          </a:p>
          <a:p>
            <a:r>
              <a:t>- Deliverables are the evidence that quality work happened.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Suspension criteria: when to pause testing because continuing wastes effort (the login page does not load at all).</a:t>
            </a:r>
          </a:p>
          <a:p>
            <a:r>
              <a:t>Resumption criteria: what must be true to restart (new build deployed, login loads, quick sanity check passes).</a:t>
            </a:r>
          </a:p>
          <a:p>
            <a:r>
              <a:t>- Both are written in the test plan in advance, so nobody argues about them under pressure.</a:t>
            </a:r>
          </a:p>
          <a:p>
            <a:r>
              <a:t>- Without suspension, testers log dozens of duplicate defects against a broken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Parts 2 and 3 give one slide per phase. Roles, tools and pitfalls for each phase are in the notes and the written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map for Parts 2 and 3. Walk the six phases left to right.</a:t>
            </a:r>
          </a:p>
          <a:p>
            <a:r>
              <a:t>- Phase 4 often runs in parallel with phase 3, because environment work is independent of writing test cases.</a:t>
            </a:r>
          </a:p>
          <a:p>
            <a:r>
              <a:t>- The dashed arrow: the STLC is not strictly one-way. A requirement change sends you back to update the plan, the cases and the RTM.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testable requirement is clear, specific and measurable. "Quickly" became "result shown within 3 seconds"; lock rules were added.</a:t>
            </a:r>
          </a:p>
          <a:p>
            <a:r>
              <a:t>Roles: QE and test lead (main); BA Farhan, PO Rohan, developers (clarification).</a:t>
            </a:r>
          </a:p>
          <a:p>
            <a:r>
              <a:t>Tools: documents or wiki pages, Jira for stories, spreadsheets for the RTM draft.</a:t>
            </a:r>
          </a:p>
          <a:p>
            <a:r>
              <a:t>Pitfalls: starting too late; accepting vague words like "fast" or "secure"; not recording answers. Tuesday covers requirements analysis in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Roles: test lead or manager (main); project manager, QEs, PO Rohan (approval).</a:t>
            </a:r>
          </a:p>
          <a:p>
            <a:r>
              <a:t>Tools: Jira, TestRail, Zephyr, Azure DevOps Test Plans, spreadsheets, Confluence.</a:t>
            </a:r>
          </a:p>
          <a:p>
            <a:r>
              <a:t>Pitfalls: copying an old plan without adapting it; a plan nobody reads because it is too long; ignoring risks; forgetting to define "done".</a:t>
            </a:r>
          </a:p>
          <a:p>
            <a:r>
              <a:t>Agile teams often use a one-page plan. Tuesday covers test planning in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Test case: preconditions, steps, data and expected result for one behaviour. Test suite: related cases run together. Test script: instructions for a tool to run a case.</a:t>
            </a:r>
          </a:p>
          <a:p>
            <a:r>
              <a:t>Roles: QEs and automation engineers (main); test lead, developers, BA (review).</a:t>
            </a:r>
          </a:p>
          <a:p>
            <a:r>
              <a:t>Tools: TestRail, Zephyr, Xray (Jira add-on), spreadsheets, test data tools.</a:t>
            </a:r>
          </a:p>
          <a:p>
            <a:r>
              <a:t>Pitfalls: only "happy path" cases; vague steps; real customer data in tests (privacy risk); never updating cases after requirements change.</a:t>
            </a:r>
          </a:p>
          <a:p>
            <a:r>
              <a:t>How to choose good cases: Thursday.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Traceability works both ways: requirement → tests ("is everything covered?") and test → requirement ("why does this test exist?").</a:t>
            </a:r>
          </a:p>
          <a:p>
            <a:r>
              <a:t>- The RTM starts as a draft in phase 1, is filled in phase 3, shows results in phase 5, and gives coverage in phase 6.</a:t>
            </a:r>
          </a:p>
          <a:p>
            <a:r>
              <a:t>- A requirement with no linked test is a visible gap, as REQ-03 shows.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Part 3 covers the phases where tests actually run, and how we summarise the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Test environment: hardware, software, network, configuration and data used for testing. Smoke test: a quick check that the build basically works.</a:t>
            </a:r>
          </a:p>
          <a:p>
            <a:r>
              <a:t>Roles: DevOps engineer Vikram or system administrators (often main); QE (smoke test); developers (build support).</a:t>
            </a:r>
          </a:p>
          <a:p>
            <a:r>
              <a:t>Tools: Docker, AWS, Azure; Jenkins, GitHub Actions; BrowserStack, Sauce Labs; database tools.</a:t>
            </a:r>
          </a:p>
          <a:p>
            <a:r>
              <a:t>Pitfalls: environment very different from production; testers overwriting each other's data; no smoke test, so hours are wasted on a broken build.</a:t>
            </a:r>
          </a:p>
          <a:p>
            <a:r>
              <a:t>This phase can run in parallel with phase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Results: Pass, Fail, or Blocked (could not run because of another problem).</a:t>
            </a:r>
          </a:p>
          <a:p>
            <a:r>
              <a:t>Confirmation testing reruns the failed test; regression testing checks that the fix broke nothing else. The defect lifecycle and good defect reports are Tuesday's topics.</a:t>
            </a:r>
          </a:p>
          <a:p>
            <a:r>
              <a:t>Roles: QEs and automation engineers (main); developers fix; test lead monitors; PO sets priorities.</a:t>
            </a:r>
          </a:p>
          <a:p>
            <a:r>
              <a:t>Pitfalls: poor defect reports ("login broken"); skipping retest or regression; updating results from memory; testing an unstable build instead of suspending.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Test cycle: one round of running tests against a build. A project may have several cycles.</a:t>
            </a:r>
          </a:p>
          <a:p>
            <a:r>
              <a:t>Roles: test lead (main); QEs, project manager, PO Rohan (decides on release).</a:t>
            </a:r>
          </a:p>
          <a:p>
            <a:r>
              <a:t>Tools: Jira dashboards, TestRail or Zephyr reports, spreadsheets, Power BI or Grafana.</a:t>
            </a:r>
          </a:p>
          <a:p>
            <a:r>
              <a:t>Pitfalls: skipping closure because "we're late"; numbers without the story; not recording lessons; hiding known risks.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Introductory level only. Defect distribution (where defects cluster, by module or severity) is another useful view: for example, 7 of 12 defects in the password-reset module tells you where to focus.</a:t>
            </a:r>
          </a:p>
          <a:p>
            <a:r>
              <a:t>- Numbers do not speak for themselves: always add the story and the risks.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Part 4: in Agile the six phases still happen, but small, overlapping and every sprint.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Traditional vs Agile, phase by phase:</a:t>
            </a:r>
          </a:p>
          <a:p>
            <a:r>
              <a:t>- Requirement analysis: weeks on a big document vs a refinement conversation per story.</a:t>
            </a:r>
          </a:p>
          <a:p>
            <a:r>
              <a:t>- Test planning: a large formal plan vs a light plan per sprint.</a:t>
            </a:r>
          </a:p>
          <a:p>
            <a:r>
              <a:t>- Test case development: one block before testing vs continuously, story by story.</a:t>
            </a:r>
          </a:p>
          <a:p>
            <a:r>
              <a:t>- Environment: once at the start vs kept ready, often automated.</a:t>
            </a:r>
          </a:p>
          <a:p>
            <a:r>
              <a:t>- Execution: a long phase near the end vs daily, as stories finish.</a:t>
            </a:r>
          </a:p>
          <a:p>
            <a:r>
              <a:t>- Closure: one report at the end vs the sprint review and retrospective.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Scrum events lesson shows exactly where testing sits in a two-week sprint.</a:t>
            </a:r>
          </a:p>
          <a:p>
            <a:r>
              <a:t>- Definition of Done: a shared checklist a story must meet to count as complete, for example "acceptance criteria tested, no open high-severity defects".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Other common mistakes, from the phase pitfalls: starting requirement review too late; plans nobody reads; happy-path-only test cases; vague defect reports; skipping regression to "save time"; skipping closure because the project is 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Deeper detail this week: Tuesday (requirements analysis, test planning and execution, defect lifecycle) and Thursday (test design techniques). AI-assisted testing comes in Week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ISTQB glossary is a good reference for any testing term learners are unsure 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97536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16000" y="457200"/>
            <a:ext cx="8519584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F304A9D6-1313-4D51-A62E-402D441D9A7B}" type="datetime1">
              <a:rPr lang="en-US" smtClean="0"/>
              <a:t>10/26/2026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1117600" y="2819400"/>
            <a:ext cx="8636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955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5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A8556-2F07-416B-A81B-5F1C3AFD01EF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954" y="6261305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2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729637-7636-4388-949A-FC8BFDAA4705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9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F5DED8-6456-47A2-A5CC-BE8BEC6BD892}" type="datetime1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595759-8665-4708-8376-28A90FA13BDD}" type="datetime1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B0C243-4A55-4741-8265-C0A2FA769F7B}" type="datetime1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4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9A12F7-971D-41C1-A2B7-EBB58FF381A3}" type="datetime1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3C3D28-2E0C-4F8B-A45D-9E87921943BF}" type="datetime1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020A2-9D30-48AD-A70D-69AD2B027FCA}" type="datetime1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1F6343-4644-43E3-AA07-6869EC7CEA0D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5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A0A126-F3CA-45B4-970B-597BE67A203E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6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16815F9B-CAFE-4C37-897A-C6403744783F}" type="datetime1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9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10668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C569D4A1-8BB6-4430-9601-3FBC79908E8C}" type="datetime1">
              <a:rPr lang="en-US" smtClean="0"/>
              <a:t>10/26/2026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609600" y="1524000"/>
            <a:ext cx="10058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63422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Software Testing Life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057400"/>
            <a:ext cx="877750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 i="0">
                <a:solidFill>
                  <a:srgbClr val="5A5A5A"/>
                </a:solidFill>
                <a:latin typeface="Arial"/>
              </a:rPr>
              <a:t>The planned sequence of testing phases, and how each one starts, finishes and feeds the next.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" y="3520439"/>
            <a:ext cx="2017394" cy="402336"/>
          </a:xfrm>
          <a:prstGeom prst="roundRect">
            <a:avLst>
              <a:gd name="adj" fmla="val 50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Req. Analysis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206675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572435" y="3520439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Planning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81195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446955" y="3520439"/>
            <a:ext cx="165735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Test Cases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195745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61505" y="3520439"/>
            <a:ext cx="177736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Environment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430310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796070" y="3520439"/>
            <a:ext cx="153733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Execution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0424845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790605" y="3520439"/>
            <a:ext cx="129730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Closure</a:t>
            </a:r>
          </a:p>
        </p:txBody>
      </p:sp>
      <p:sp>
        <p:nvSpPr>
          <p:cNvPr id="16" name="Oval 15"/>
          <p:cNvSpPr/>
          <p:nvPr/>
        </p:nvSpPr>
        <p:spPr>
          <a:xfrm>
            <a:off x="609904" y="5596128"/>
            <a:ext cx="292608" cy="29260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67104" y="5596128"/>
            <a:ext cx="292608" cy="292608"/>
          </a:xfrm>
          <a:prstGeom prst="ellipse">
            <a:avLst/>
          </a:prstGeom>
          <a:solidFill>
            <a:srgbClr val="66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524304" y="5596128"/>
            <a:ext cx="292608" cy="292608"/>
          </a:xfrm>
          <a:prstGeom prst="ellipse">
            <a:avLst/>
          </a:prstGeom>
          <a:solidFill>
            <a:srgbClr val="CC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Oval 2"/>
          <p:cNvSpPr/>
          <p:nvPr/>
        </p:nvSpPr>
        <p:spPr>
          <a:xfrm>
            <a:off x="612648" y="16916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1728216"/>
            <a:ext cx="10287000" cy="7040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Arial"/>
              </a:rPr>
              <a:t>Define the STLC and explain how it runs alongside the SDLC.</a:t>
            </a:r>
          </a:p>
        </p:txBody>
      </p:sp>
      <p:sp>
        <p:nvSpPr>
          <p:cNvPr id="5" name="Oval 4"/>
          <p:cNvSpPr/>
          <p:nvPr/>
        </p:nvSpPr>
        <p:spPr>
          <a:xfrm>
            <a:off x="612648" y="2441448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478024"/>
            <a:ext cx="10287000" cy="7040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Arial"/>
              </a:rPr>
              <a:t>Name the six STLC phases and the purpose of each.</a:t>
            </a:r>
          </a:p>
        </p:txBody>
      </p:sp>
      <p:sp>
        <p:nvSpPr>
          <p:cNvPr id="7" name="Oval 6"/>
          <p:cNvSpPr/>
          <p:nvPr/>
        </p:nvSpPr>
        <p:spPr>
          <a:xfrm>
            <a:off x="612648" y="3191256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3227832"/>
            <a:ext cx="10287000" cy="7040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Arial"/>
              </a:rPr>
              <a:t>Write entry, exit, suspension and resumption criteria.</a:t>
            </a:r>
          </a:p>
        </p:txBody>
      </p:sp>
      <p:sp>
        <p:nvSpPr>
          <p:cNvPr id="9" name="Oval 8"/>
          <p:cNvSpPr/>
          <p:nvPr/>
        </p:nvSpPr>
        <p:spPr>
          <a:xfrm>
            <a:off x="612648" y="3941064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3977640"/>
            <a:ext cx="10287000" cy="7040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Arial"/>
              </a:rPr>
              <a:t>Read basic test metrics and explain what an RTM is for.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" y="4690872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4727448"/>
            <a:ext cx="10287000" cy="7040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Arial"/>
              </a:rPr>
              <a:t>Describe how the STLC is compressed inside an Agile sprint.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2 /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STLC Is and How It Runs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Definition, STLC vs SDLC, and the vocabulary of 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6600" b="1">
                <a:solidFill>
                  <a:srgbClr val="669999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3 /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the STLC?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544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5A5A5A"/>
                </a:solidFill>
                <a:latin typeface="Arial"/>
              </a:rPr>
              <a:t>STLC = Software Testing Life Cycle: the planned steps that make sure quality goals are met.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2240280"/>
            <a:ext cx="10972800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23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A planned sequence of testing activities</a:t>
            </a:r>
          </a:p>
          <a:p>
            <a:pPr marL="285750" indent="-285750">
              <a:spcAft>
                <a:spcPts val="23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Each phase has its own goals, start and finish conditions</a:t>
            </a:r>
          </a:p>
          <a:p>
            <a:pPr marL="285750" indent="-285750">
              <a:spcAft>
                <a:spcPts val="23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Each phase produces outputs (deliverables)</a:t>
            </a:r>
          </a:p>
          <a:p>
            <a:pPr marL="285750" indent="-285750">
              <a:spcAft>
                <a:spcPts val="23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It says what stages testing moves through, not how to test a feature</a:t>
            </a:r>
          </a:p>
          <a:p>
            <a:pPr marL="285750" indent="-285750">
              <a:spcAft>
                <a:spcPts val="23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Six phases is the most common version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4 /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STLC versus SDLC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91640"/>
          <a:ext cx="10972800" cy="4343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Aspect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SDLC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STLC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Focus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Building the whole product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Testing activities only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Scope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Idea to retirement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Requirement review to test closure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Main goal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Working software that meets needs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Confidence in quality, defects found early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Main people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BAs, architects, developers, testers…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QEs and test leads, with the team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Relationship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Contains testing as one phase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Runs in parallel, starting early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5 /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STLC Runs Parallel to the SDLC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69164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Arial"/>
              </a:rPr>
              <a:t>SDLC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342900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E7D32"/>
                </a:solidFill>
                <a:latin typeface="Arial"/>
              </a:rPr>
              <a:t>STLC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75688" y="1554480"/>
            <a:ext cx="1470660" cy="86868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Requirements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811018" y="2468880"/>
            <a:ext cx="0" cy="685800"/>
          </a:xfrm>
          <a:prstGeom prst="line">
            <a:avLst/>
          </a:prstGeom>
          <a:ln w="19050">
            <a:solidFill>
              <a:srgbClr val="1A1A1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075688" y="3200400"/>
            <a:ext cx="1470660" cy="105156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Requirement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83508" y="1554480"/>
            <a:ext cx="1470660" cy="86868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Design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418838" y="2468880"/>
            <a:ext cx="0" cy="685800"/>
          </a:xfrm>
          <a:prstGeom prst="line">
            <a:avLst/>
          </a:prstGeom>
          <a:ln w="19050">
            <a:solidFill>
              <a:srgbClr val="1A1A1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683508" y="3200400"/>
            <a:ext cx="1470660" cy="105156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Test Planning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91328" y="1554480"/>
            <a:ext cx="1470660" cy="86868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Development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26658" y="2468880"/>
            <a:ext cx="0" cy="685800"/>
          </a:xfrm>
          <a:prstGeom prst="line">
            <a:avLst/>
          </a:prstGeom>
          <a:ln w="19050">
            <a:solidFill>
              <a:srgbClr val="1A1A1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291328" y="3200400"/>
            <a:ext cx="1470660" cy="105156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Test Case Development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99148" y="1554480"/>
            <a:ext cx="1470660" cy="86868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Testing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634478" y="2468880"/>
            <a:ext cx="0" cy="685800"/>
          </a:xfrm>
          <a:prstGeom prst="line">
            <a:avLst/>
          </a:prstGeom>
          <a:ln w="19050">
            <a:solidFill>
              <a:srgbClr val="1A1A1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899148" y="3200400"/>
            <a:ext cx="1470660" cy="105156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Environment + Execution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6968" y="1554480"/>
            <a:ext cx="1470660" cy="86868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Deployment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242298" y="2468880"/>
            <a:ext cx="0" cy="685800"/>
          </a:xfrm>
          <a:prstGeom prst="line">
            <a:avLst/>
          </a:prstGeom>
          <a:ln w="19050">
            <a:solidFill>
              <a:srgbClr val="1A1A1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506968" y="3200400"/>
            <a:ext cx="1470660" cy="105156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Test Cycle Closure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14788" y="1554480"/>
            <a:ext cx="1470660" cy="86868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Maintenance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850118" y="2468880"/>
            <a:ext cx="0" cy="685800"/>
          </a:xfrm>
          <a:prstGeom prst="line">
            <a:avLst/>
          </a:prstGeom>
          <a:ln w="19050">
            <a:solidFill>
              <a:srgbClr val="1A1A1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114788" y="3200400"/>
            <a:ext cx="1470660" cy="105156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Regression 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4572000"/>
            <a:ext cx="109728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700" b="0">
                <a:solidFill>
                  <a:srgbClr val="1A1A1A"/>
                </a:solidFill>
                <a:latin typeface="Arial"/>
              </a:rPr>
              <a:t>Testing starts with requirements, not with a finished build.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700" b="0">
                <a:solidFill>
                  <a:srgbClr val="1A1A1A"/>
                </a:solidFill>
                <a:latin typeface="Arial"/>
              </a:rPr>
              <a:t>Shift-left (SDLC lesson): the earlier a defect is found, the cheaper the fix.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6 /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Vocabulary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91640"/>
          <a:ext cx="10972800" cy="4343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Term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Plain-language meaning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Entry criteria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What must be true before a phase can start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Exit criteria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What must be true before a phase can finish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Deliverable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A tangible output of a phase, e.g. a test plan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Activity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A task inside a phase, e.g. review requirements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Pitfall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A common mistake or trap in that phase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7 /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Entry, Exit, Suspend, Resume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Diamond 3"/>
          <p:cNvSpPr/>
          <p:nvPr/>
        </p:nvSpPr>
        <p:spPr>
          <a:xfrm>
            <a:off x="612648" y="2148840"/>
            <a:ext cx="2194560" cy="1005840"/>
          </a:xfrm>
          <a:prstGeom prst="diamond">
            <a:avLst/>
          </a:prstGeom>
          <a:solidFill>
            <a:srgbClr val="FBE5D6"/>
          </a:solidFill>
          <a:ln w="254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0">
                <a:solidFill>
                  <a:srgbClr val="1A1A1A"/>
                </a:solidFill>
                <a:latin typeface="Arial"/>
              </a:rPr>
              <a:t>Entry criteria met?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38728" y="2194560"/>
            <a:ext cx="3840480" cy="91440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Phase activities</a:t>
            </a:r>
          </a:p>
        </p:txBody>
      </p:sp>
      <p:sp>
        <p:nvSpPr>
          <p:cNvPr id="6" name="Diamond 5"/>
          <p:cNvSpPr/>
          <p:nvPr/>
        </p:nvSpPr>
        <p:spPr>
          <a:xfrm>
            <a:off x="8110727" y="2148840"/>
            <a:ext cx="2194560" cy="1005840"/>
          </a:xfrm>
          <a:prstGeom prst="diamond">
            <a:avLst/>
          </a:prstGeom>
          <a:solidFill>
            <a:srgbClr val="FBE5D6"/>
          </a:solidFill>
          <a:ln w="254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0">
                <a:solidFill>
                  <a:srgbClr val="1A1A1A"/>
                </a:solidFill>
                <a:latin typeface="Arial"/>
              </a:rPr>
              <a:t>Exit criteria met?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825496" y="2651760"/>
            <a:ext cx="667512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424928" y="2651760"/>
            <a:ext cx="640080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323576" y="2651760"/>
            <a:ext cx="1170432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396728" y="224028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Arial"/>
              </a:rPr>
              <a:t>next phase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38728" y="3520440"/>
            <a:ext cx="1828800" cy="6858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0">
                <a:solidFill>
                  <a:srgbClr val="1A1A1A"/>
                </a:solidFill>
                <a:latin typeface="Arial"/>
              </a:rPr>
              <a:t>Suspend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50408" y="3520440"/>
            <a:ext cx="1828800" cy="685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0">
                <a:solidFill>
                  <a:srgbClr val="1A1A1A"/>
                </a:solidFill>
                <a:latin typeface="Arial"/>
              </a:rPr>
              <a:t>Resume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453128" y="3127248"/>
            <a:ext cx="0" cy="365760"/>
          </a:xfrm>
          <a:prstGeom prst="line">
            <a:avLst/>
          </a:prstGeom>
          <a:ln w="22225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385816" y="3858768"/>
            <a:ext cx="146304" cy="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464808" y="3127248"/>
            <a:ext cx="0" cy="365760"/>
          </a:xfrm>
          <a:prstGeom prst="line">
            <a:avLst/>
          </a:prstGeom>
          <a:ln w="22225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8" y="43434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>Write criteria as yes/no facts: "v1.0 approved by the PO", not "mostly clear".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" y="4892040"/>
            <a:ext cx="10972800" cy="123444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" y="5001768"/>
            <a:ext cx="10515600" cy="1014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5C8A8A"/>
                </a:solidFill>
                <a:latin typeface="Arial"/>
              </a:rPr>
              <a:t>EXAMPLE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Day 2 of execution: every login attempt returns a server error. Testing is suspended until a new build loads and a smoke test passes.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8 /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Phases 1–3: Prepare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Requirement analysis, test planning and test case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6600" b="1">
                <a:solidFill>
                  <a:srgbClr val="669999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9 /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Six Phases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920240"/>
            <a:ext cx="1584960" cy="100584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1. Requirement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3017520"/>
            <a:ext cx="15849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What is testable?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90216" y="1920240"/>
            <a:ext cx="1584960" cy="100584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2. Test 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90216" y="3017520"/>
            <a:ext cx="15849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How will we test?</a:t>
            </a:r>
          </a:p>
        </p:txBody>
      </p:sp>
      <p:sp>
        <p:nvSpPr>
          <p:cNvPr id="8" name="Diamond 7"/>
          <p:cNvSpPr/>
          <p:nvPr/>
        </p:nvSpPr>
        <p:spPr>
          <a:xfrm>
            <a:off x="2243328" y="2286000"/>
            <a:ext cx="201168" cy="274320"/>
          </a:xfrm>
          <a:prstGeom prst="diamond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67784" y="1920240"/>
            <a:ext cx="1584960" cy="100584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3. Test Case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7784" y="3017520"/>
            <a:ext cx="15849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Create the checks</a:t>
            </a:r>
          </a:p>
        </p:txBody>
      </p:sp>
      <p:sp>
        <p:nvSpPr>
          <p:cNvPr id="11" name="Diamond 10"/>
          <p:cNvSpPr/>
          <p:nvPr/>
        </p:nvSpPr>
        <p:spPr>
          <a:xfrm>
            <a:off x="4120895" y="2286000"/>
            <a:ext cx="201168" cy="274320"/>
          </a:xfrm>
          <a:prstGeom prst="diamond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45352" y="1920240"/>
            <a:ext cx="1584960" cy="100584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4. Test Environment Setup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5352" y="3017520"/>
            <a:ext cx="15849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Prepare where tests run</a:t>
            </a:r>
          </a:p>
        </p:txBody>
      </p:sp>
      <p:sp>
        <p:nvSpPr>
          <p:cNvPr id="14" name="Diamond 13"/>
          <p:cNvSpPr/>
          <p:nvPr/>
        </p:nvSpPr>
        <p:spPr>
          <a:xfrm>
            <a:off x="5998464" y="2286000"/>
            <a:ext cx="201168" cy="274320"/>
          </a:xfrm>
          <a:prstGeom prst="diamond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122920" y="1920240"/>
            <a:ext cx="1584960" cy="100584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5. Test Execution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2920" y="3017520"/>
            <a:ext cx="15849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Run and report</a:t>
            </a:r>
          </a:p>
        </p:txBody>
      </p:sp>
      <p:sp>
        <p:nvSpPr>
          <p:cNvPr id="17" name="Diamond 16"/>
          <p:cNvSpPr/>
          <p:nvPr/>
        </p:nvSpPr>
        <p:spPr>
          <a:xfrm>
            <a:off x="7876032" y="2286000"/>
            <a:ext cx="201168" cy="274320"/>
          </a:xfrm>
          <a:prstGeom prst="diamond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000488" y="1920240"/>
            <a:ext cx="1584960" cy="100584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6. Test Cycle Closure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00488" y="3017520"/>
            <a:ext cx="15849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Summarise and learn</a:t>
            </a:r>
          </a:p>
        </p:txBody>
      </p:sp>
      <p:sp>
        <p:nvSpPr>
          <p:cNvPr id="20" name="Diamond 19"/>
          <p:cNvSpPr/>
          <p:nvPr/>
        </p:nvSpPr>
        <p:spPr>
          <a:xfrm>
            <a:off x="9753600" y="2286000"/>
            <a:ext cx="201168" cy="274320"/>
          </a:xfrm>
          <a:prstGeom prst="diamond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2648" y="38404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C55A11"/>
                </a:solidFill>
                <a:latin typeface="Arial"/>
              </a:rPr>
              <a:t>Orange diamonds: exit criteria of one phase feed the entry criteria of the next.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1069848" y="4526280"/>
            <a:ext cx="10058400" cy="0"/>
          </a:xfrm>
          <a:prstGeom prst="line">
            <a:avLst/>
          </a:prstGeom>
          <a:ln w="19050">
            <a:solidFill>
              <a:srgbClr val="5A5A5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12648" y="461772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Arial"/>
              </a:rPr>
              <a:t>In real life phases overlap and loop back: requirements change, so plans and test cases change too.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10 /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1: Requirement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544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5A5A5A"/>
                </a:solidFill>
                <a:latin typeface="Arial"/>
              </a:rPr>
              <a:t>Purpose: study the requirements from a testing view and decide what is testable.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2286000"/>
            <a:ext cx="630936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1A1A1A"/>
                </a:solidFill>
                <a:latin typeface="Arial"/>
              </a:rPr>
              <a:t>Review requirements, user stories, acceptance criteria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1A1A1A"/>
                </a:solidFill>
                <a:latin typeface="Arial"/>
              </a:rPr>
              <a:t>Identify test types needed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1A1A1A"/>
                </a:solidFill>
                <a:latin typeface="Arial"/>
              </a:rPr>
              <a:t>Log questions and get answers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1A1A1A"/>
                </a:solidFill>
                <a:latin typeface="Arial"/>
              </a:rPr>
              <a:t>Start the RTM; note automation candidates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78040" y="2240280"/>
            <a:ext cx="4407408" cy="256032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905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60920" y="2350008"/>
            <a:ext cx="4041648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C55A11"/>
                </a:solidFill>
                <a:latin typeface="Arial"/>
              </a:rPr>
              <a:t>Entry: </a:t>
            </a:r>
            <a:r>
              <a:rPr sz="1600" b="0">
                <a:solidFill>
                  <a:srgbClr val="1A1A1A"/>
                </a:solidFill>
                <a:latin typeface="Arial"/>
              </a:rPr>
              <a:t>requirements or stories available, someone to answer questions.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55A11"/>
                </a:solidFill>
                <a:latin typeface="Arial"/>
              </a:rPr>
              <a:t>Exit: </a:t>
            </a:r>
            <a:r>
              <a:rPr sz="1600" b="0">
                <a:solidFill>
                  <a:srgbClr val="1A1A1A"/>
                </a:solidFill>
                <a:latin typeface="Arial"/>
              </a:rPr>
              <a:t>all requirements reviewed, questions logged.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55A11"/>
                </a:solidFill>
                <a:latin typeface="Arial"/>
              </a:rPr>
              <a:t>Output: </a:t>
            </a:r>
            <a:r>
              <a:rPr sz="1600" b="0">
                <a:solidFill>
                  <a:srgbClr val="1A1A1A"/>
                </a:solidFill>
                <a:latin typeface="Arial"/>
              </a:rPr>
              <a:t>question log, list of testable requirements, draft RTM.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4983480"/>
            <a:ext cx="10972800" cy="118872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5093208"/>
            <a:ext cx="1051560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5C8A8A"/>
                </a:solidFill>
                <a:latin typeface="Arial"/>
              </a:rPr>
              <a:t>EXAMPLE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"Users can log in quickly." Ananya asks: how quickly? After how many wrong attempts is the account locked?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11 /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2: Test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544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5A5A5A"/>
                </a:solidFill>
                <a:latin typeface="Arial"/>
              </a:rPr>
              <a:t>Purpose: decide what will be tested, how, by whom, with what, and by when.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2286000"/>
            <a:ext cx="630936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1A1A1A"/>
                </a:solidFill>
                <a:latin typeface="Arial"/>
              </a:rPr>
              <a:t>Define scope: in and out of testing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1A1A1A"/>
                </a:solidFill>
                <a:latin typeface="Arial"/>
              </a:rPr>
              <a:t>Choose approach and test types; estimate effort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1A1A1A"/>
                </a:solidFill>
                <a:latin typeface="Arial"/>
              </a:rPr>
              <a:t>Identify risks, tools and environments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1A1A1A"/>
                </a:solidFill>
                <a:latin typeface="Arial"/>
              </a:rPr>
              <a:t>Agree exit, suspension and resumption criteria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78040" y="2240280"/>
            <a:ext cx="4407408" cy="256032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905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60920" y="2350008"/>
            <a:ext cx="4041648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C55A11"/>
                </a:solidFill>
                <a:latin typeface="Arial"/>
              </a:rPr>
              <a:t>Entry: </a:t>
            </a:r>
            <a:r>
              <a:rPr sz="1600" b="0">
                <a:solidFill>
                  <a:srgbClr val="1A1A1A"/>
                </a:solidFill>
                <a:latin typeface="Arial"/>
              </a:rPr>
              <a:t>requirement analysis complete enough to plan.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55A11"/>
                </a:solidFill>
                <a:latin typeface="Arial"/>
              </a:rPr>
              <a:t>Exit: </a:t>
            </a:r>
            <a:r>
              <a:rPr sz="1600" b="0">
                <a:solidFill>
                  <a:srgbClr val="1A1A1A"/>
                </a:solidFill>
                <a:latin typeface="Arial"/>
              </a:rPr>
              <a:t>test plan reviewed and approved; effort agreed.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55A11"/>
                </a:solidFill>
                <a:latin typeface="Arial"/>
              </a:rPr>
              <a:t>Output: </a:t>
            </a:r>
            <a:r>
              <a:rPr sz="1600" b="0">
                <a:solidFill>
                  <a:srgbClr val="1A1A1A"/>
                </a:solidFill>
                <a:latin typeface="Arial"/>
              </a:rPr>
              <a:t>test plan (or one-page strategy), estimate, risk list.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4983480"/>
            <a:ext cx="10972800" cy="118872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5093208"/>
            <a:ext cx="1051560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5C8A8A"/>
                </a:solidFill>
                <a:latin typeface="Arial"/>
              </a:rPr>
              <a:t>EXAMPLE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Login plan: in scope, form, errors, reset link; out of scope, single sign-on. Chrome and Firefox. Three days of execution.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12 /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3: Test Case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544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5A5A5A"/>
                </a:solidFill>
                <a:latin typeface="Arial"/>
              </a:rPr>
              <a:t>Purpose: create repeatable checks and their data, so anyone gets the same result.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2286000"/>
            <a:ext cx="630936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1A1A1A"/>
                </a:solidFill>
                <a:latin typeface="Arial"/>
              </a:rPr>
              <a:t>Write test cases for normal and unusual situations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1A1A1A"/>
                </a:solidFill>
                <a:latin typeface="Arial"/>
              </a:rPr>
              <a:t>Prepare test data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1A1A1A"/>
                </a:solidFill>
                <a:latin typeface="Arial"/>
              </a:rPr>
              <a:t>Review cases with the team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1A1A1A"/>
                </a:solidFill>
                <a:latin typeface="Arial"/>
              </a:rPr>
              <a:t>Link cases to requirements in the RTM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78040" y="2240280"/>
            <a:ext cx="4407408" cy="256032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905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60920" y="2350008"/>
            <a:ext cx="4041648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C55A11"/>
                </a:solidFill>
                <a:latin typeface="Arial"/>
              </a:rPr>
              <a:t>Entry: </a:t>
            </a:r>
            <a:r>
              <a:rPr sz="1600" b="0">
                <a:solidFill>
                  <a:srgbClr val="1A1A1A"/>
                </a:solidFill>
                <a:latin typeface="Arial"/>
              </a:rPr>
              <a:t>analysis done, plan approved, requirements stable enough.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55A11"/>
                </a:solidFill>
                <a:latin typeface="Arial"/>
              </a:rPr>
              <a:t>Exit: </a:t>
            </a:r>
            <a:r>
              <a:rPr sz="1600" b="0">
                <a:solidFill>
                  <a:srgbClr val="1A1A1A"/>
                </a:solidFill>
                <a:latin typeface="Arial"/>
              </a:rPr>
              <a:t>cases and data reviewed; no uncovered high-priority requirement.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55A11"/>
                </a:solidFill>
                <a:latin typeface="Arial"/>
              </a:rPr>
              <a:t>Output: </a:t>
            </a:r>
            <a:r>
              <a:rPr sz="1600" b="0">
                <a:solidFill>
                  <a:srgbClr val="1A1A1A"/>
                </a:solidFill>
                <a:latin typeface="Arial"/>
              </a:rPr>
              <a:t>test cases, test data, updated RTM.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4983480"/>
            <a:ext cx="10972800" cy="118872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5093208"/>
            <a:ext cx="1051560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5C8A8A"/>
                </a:solidFill>
                <a:latin typeface="Arial"/>
              </a:rPr>
              <a:t>EXAMPLE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TC-03: open the login page, leave both fields empty, click Log in. Expected: "Email is required" under the field.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13 /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Traceability: the RTM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828800"/>
            <a:ext cx="3840480" cy="73152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REQ-01 Valid login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33288" y="1828800"/>
            <a:ext cx="1554480" cy="73152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TC-01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62088" y="1828800"/>
            <a:ext cx="1554480" cy="73152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TC-07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498848" y="2194560"/>
            <a:ext cx="1188720" cy="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12648" y="2880360"/>
            <a:ext cx="3840480" cy="73152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REQ-02 Wrong password error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33288" y="2880360"/>
            <a:ext cx="1554480" cy="73152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TC-02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62088" y="2880360"/>
            <a:ext cx="1554480" cy="73152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TC-03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498848" y="3246120"/>
            <a:ext cx="1188720" cy="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2648" y="3931920"/>
            <a:ext cx="3840480" cy="73152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REQ-03 Lock after 5 failures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33288" y="3931920"/>
            <a:ext cx="3383280" cy="73152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0">
                <a:solidFill>
                  <a:srgbClr val="1A1A1A"/>
                </a:solidFill>
                <a:latin typeface="Arial"/>
              </a:rPr>
              <a:t>No test yet: coverage gap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498848" y="4297680"/>
            <a:ext cx="1188720" cy="0"/>
          </a:xfrm>
          <a:prstGeom prst="line">
            <a:avLst/>
          </a:prstGeom>
          <a:ln w="22225">
            <a:solidFill>
              <a:srgbClr val="C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12648" y="50749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>RTM = Requirements Traceability Matrix: each requirement linked to the tests that check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14 /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Phases 4–6: Run and Close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Environment setup, test execution, closure and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6600" b="1">
                <a:solidFill>
                  <a:srgbClr val="669999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15 /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4: Test Environment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544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5A5A5A"/>
                </a:solidFill>
                <a:latin typeface="Arial"/>
              </a:rPr>
              <a:t>Purpose: prepare a place to test that is close enough to the real world.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2286000"/>
            <a:ext cx="630936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1A1A1A"/>
                </a:solidFill>
                <a:latin typeface="Arial"/>
              </a:rPr>
              <a:t>Define servers, browsers, devices, services needed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1A1A1A"/>
                </a:solidFill>
                <a:latin typeface="Arial"/>
              </a:rPr>
              <a:t>Deploy the build and load test data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1A1A1A"/>
                </a:solidFill>
                <a:latin typeface="Arial"/>
              </a:rPr>
              <a:t>Configure sandboxes for third parties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1A1A1A"/>
                </a:solidFill>
                <a:latin typeface="Arial"/>
              </a:rPr>
              <a:t>Run a smoke 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78040" y="2240280"/>
            <a:ext cx="4407408" cy="256032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905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60920" y="2350008"/>
            <a:ext cx="4041648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C55A11"/>
                </a:solidFill>
                <a:latin typeface="Arial"/>
              </a:rPr>
              <a:t>Entry: </a:t>
            </a:r>
            <a:r>
              <a:rPr sz="1600" b="0">
                <a:solidFill>
                  <a:srgbClr val="1A1A1A"/>
                </a:solidFill>
                <a:latin typeface="Arial"/>
              </a:rPr>
              <a:t>plan lists the needs; a build is available.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55A11"/>
                </a:solidFill>
                <a:latin typeface="Arial"/>
              </a:rPr>
              <a:t>Exit: </a:t>
            </a:r>
            <a:r>
              <a:rPr sz="1600" b="0">
                <a:solidFill>
                  <a:srgbClr val="1A1A1A"/>
                </a:solidFill>
                <a:latin typeface="Arial"/>
              </a:rPr>
              <a:t>environment matches the plan; smoke test passes.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55A11"/>
                </a:solidFill>
                <a:latin typeface="Arial"/>
              </a:rPr>
              <a:t>Output: </a:t>
            </a:r>
            <a:r>
              <a:rPr sz="1600" b="0">
                <a:solidFill>
                  <a:srgbClr val="1A1A1A"/>
                </a:solidFill>
                <a:latin typeface="Arial"/>
              </a:rPr>
              <a:t>ready environment, setup record, smoke result.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4983480"/>
            <a:ext cx="10972800" cy="118872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5093208"/>
            <a:ext cx="1051560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5C8A8A"/>
                </a:solidFill>
                <a:latin typeface="Arial"/>
              </a:rPr>
              <a:t>EXAMPLE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Build 1.0.3 deployed to the QA server, 10 sample users loaded, email service in sandbox mode, login page opens: ready.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16 /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5: Test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544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5A5A5A"/>
                </a:solidFill>
                <a:latin typeface="Arial"/>
              </a:rPr>
              <a:t>Purpose: run the tests, compare actual with expected, report defects.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2286000"/>
            <a:ext cx="630936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1A1A1A"/>
                </a:solidFill>
                <a:latin typeface="Arial"/>
              </a:rPr>
              <a:t>Run cases manually or automated; record results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1A1A1A"/>
                </a:solidFill>
                <a:latin typeface="Arial"/>
              </a:rPr>
              <a:t>Log defects with clear steps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1A1A1A"/>
                </a:solidFill>
                <a:latin typeface="Arial"/>
              </a:rPr>
              <a:t>Retest fixes (confirmation testing)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1A1A1A"/>
                </a:solidFill>
                <a:latin typeface="Arial"/>
              </a:rPr>
              <a:t>Run regression tests; report status daily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78040" y="2240280"/>
            <a:ext cx="4407408" cy="256032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905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60920" y="2350008"/>
            <a:ext cx="4041648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C55A11"/>
                </a:solidFill>
                <a:latin typeface="Arial"/>
              </a:rPr>
              <a:t>Entry: </a:t>
            </a:r>
            <a:r>
              <a:rPr sz="1600" b="0">
                <a:solidFill>
                  <a:srgbClr val="1A1A1A"/>
                </a:solidFill>
                <a:latin typeface="Arial"/>
              </a:rPr>
              <a:t>cases, data and environment ready; smoke passed.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55A11"/>
                </a:solidFill>
                <a:latin typeface="Arial"/>
              </a:rPr>
              <a:t>Exit: </a:t>
            </a:r>
            <a:r>
              <a:rPr sz="1600" b="0">
                <a:solidFill>
                  <a:srgbClr val="1A1A1A"/>
                </a:solidFill>
                <a:latin typeface="Arial"/>
              </a:rPr>
              <a:t>planned cases run; agreed pass level reached.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55A11"/>
                </a:solidFill>
                <a:latin typeface="Arial"/>
              </a:rPr>
              <a:t>Output: </a:t>
            </a:r>
            <a:r>
              <a:rPr sz="1600" b="0">
                <a:solidFill>
                  <a:srgbClr val="1A1A1A"/>
                </a:solidFill>
                <a:latin typeface="Arial"/>
              </a:rPr>
              <a:t>results, defect reports, status reports, updated RTM.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4983480"/>
            <a:ext cx="10972800" cy="118872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5093208"/>
            <a:ext cx="1051560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5C8A8A"/>
                </a:solidFill>
                <a:latin typeface="Arial"/>
              </a:rPr>
              <a:t>EXAMPLE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TC-03 fails: empty fields reload the page with no message. Ananya logs a defect; after the fix she retests TC-03 and reruns the login suite.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17 / 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6: Test Cycle Closure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544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5A5A5A"/>
                </a:solidFill>
                <a:latin typeface="Arial"/>
              </a:rPr>
              <a:t>Purpose: wrap up, summarise results, record lessons, support the release decision.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2286000"/>
            <a:ext cx="630936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1A1A1A"/>
                </a:solidFill>
                <a:latin typeface="Arial"/>
              </a:rPr>
              <a:t>Check execution exit criteria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1A1A1A"/>
                </a:solidFill>
                <a:latin typeface="Arial"/>
              </a:rPr>
              <a:t>Calculate metrics; review open defects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1A1A1A"/>
                </a:solidFill>
                <a:latin typeface="Arial"/>
              </a:rPr>
              <a:t>Write the closure (summary) report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1A1A1A"/>
                </a:solidFill>
                <a:latin typeface="Arial"/>
              </a:rPr>
              <a:t>Hold a lessons-learned review; archive assets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78040" y="2240280"/>
            <a:ext cx="4407408" cy="256032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905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60920" y="2350008"/>
            <a:ext cx="4041648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C55A11"/>
                </a:solidFill>
                <a:latin typeface="Arial"/>
              </a:rPr>
              <a:t>Entry: </a:t>
            </a:r>
            <a:r>
              <a:rPr sz="1600" b="0">
                <a:solidFill>
                  <a:srgbClr val="1A1A1A"/>
                </a:solidFill>
                <a:latin typeface="Arial"/>
              </a:rPr>
              <a:t>execution complete; defect statuses current.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55A11"/>
                </a:solidFill>
                <a:latin typeface="Arial"/>
              </a:rPr>
              <a:t>Exit: </a:t>
            </a:r>
            <a:r>
              <a:rPr sz="1600" b="0">
                <a:solidFill>
                  <a:srgbClr val="1A1A1A"/>
                </a:solidFill>
                <a:latin typeface="Arial"/>
              </a:rPr>
              <a:t>report signed off; lessons recorded.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55A11"/>
                </a:solidFill>
                <a:latin typeface="Arial"/>
              </a:rPr>
              <a:t>Output: </a:t>
            </a:r>
            <a:r>
              <a:rPr sz="1600" b="0">
                <a:solidFill>
                  <a:srgbClr val="1A1A1A"/>
                </a:solidFill>
                <a:latin typeface="Arial"/>
              </a:rPr>
              <a:t>closure report, metrics, lessons learned.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4983480"/>
            <a:ext cx="10972800" cy="118872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5093208"/>
            <a:ext cx="1051560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5C8A8A"/>
                </a:solidFill>
                <a:latin typeface="Arial"/>
              </a:rPr>
              <a:t>EXAMPLE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Login, cycle 1: 20 of 20 run, 17 passed, 1 low defect deferred, coverage 100%. Recommendation: ready for release.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18 /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Test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91640"/>
          <a:ext cx="10972800" cy="313182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05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Meaning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Formula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Example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Execution %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Planned tests actually run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Executed / planned × 100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18/20 = 90%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Pass %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Executed tests that passed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Passed / executed × 100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16/18 = 89%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Requirement coverage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Requirements with at least one test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Covered / total × 100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9/10 = 90%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Defect density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Defects per unit of size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Defects / size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12 per 4 features = 3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Defect leakage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Defects users found after release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After release / total × 100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2/50 = 4%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12648" y="4892040"/>
            <a:ext cx="10972800" cy="123444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5001768"/>
            <a:ext cx="10515600" cy="1014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5C8A8A"/>
                </a:solidFill>
                <a:latin typeface="Arial"/>
              </a:rPr>
              <a:t>CAUTION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A 95% pass rate means little if the 5% that failed are critical payment bugs. Read metrics with severity and risk.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19 /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STLC in Agile Sprints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same six phases, compressed and repeated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6600" b="1">
                <a:solidFill>
                  <a:srgbClr val="669999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20 /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STLC Inside a Sprint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2048255" cy="548640"/>
          </a:xfrm>
          <a:prstGeom prst="roundRect">
            <a:avLst>
              <a:gd name="adj" fmla="val 12000"/>
            </a:avLst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Days 1–2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377440"/>
            <a:ext cx="2048255" cy="14173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0">
                <a:solidFill>
                  <a:srgbClr val="1A1A1A"/>
                </a:solidFill>
                <a:latin typeface="Arial"/>
              </a:rPr>
              <a:t>Analysis + planning: clarify acceptance criteria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43784" y="1737360"/>
            <a:ext cx="2048255" cy="548640"/>
          </a:xfrm>
          <a:prstGeom prst="roundRect">
            <a:avLst>
              <a:gd name="adj" fmla="val 12000"/>
            </a:avLst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Days 2–5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43784" y="2377440"/>
            <a:ext cx="2048255" cy="14173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0">
                <a:solidFill>
                  <a:srgbClr val="1A1A1A"/>
                </a:solidFill>
                <a:latin typeface="Arial"/>
              </a:rPr>
              <a:t>Test cases written as stories are built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737360"/>
            <a:ext cx="2048255" cy="548640"/>
          </a:xfrm>
          <a:prstGeom prst="roundRect">
            <a:avLst>
              <a:gd name="adj" fmla="val 12000"/>
            </a:avLst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Days 3–8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2377440"/>
            <a:ext cx="2048255" cy="14173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0">
                <a:solidFill>
                  <a:srgbClr val="1A1A1A"/>
                </a:solidFill>
                <a:latin typeface="Arial"/>
              </a:rPr>
              <a:t>Execution as each story lands; defects fixed fast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06056" y="1737360"/>
            <a:ext cx="2048255" cy="548640"/>
          </a:xfrm>
          <a:prstGeom prst="roundRect">
            <a:avLst>
              <a:gd name="adj" fmla="val 12000"/>
            </a:avLst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Day 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06056" y="2377440"/>
            <a:ext cx="2048255" cy="14173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0">
                <a:solidFill>
                  <a:srgbClr val="1A1A1A"/>
                </a:solidFill>
                <a:latin typeface="Arial"/>
              </a:rPr>
              <a:t>Regression run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37192" y="1737360"/>
            <a:ext cx="2048255" cy="548640"/>
          </a:xfrm>
          <a:prstGeom prst="roundRect">
            <a:avLst>
              <a:gd name="adj" fmla="val 12000"/>
            </a:avLst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Day 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37192" y="2377440"/>
            <a:ext cx="2048255" cy="14173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0">
                <a:solidFill>
                  <a:srgbClr val="1A1A1A"/>
                </a:solidFill>
                <a:latin typeface="Arial"/>
              </a:rPr>
              <a:t>Closure: sprint review and retrospective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4023360"/>
            <a:ext cx="10972800" cy="5029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0">
                <a:solidFill>
                  <a:srgbClr val="1A1A1A"/>
                </a:solidFill>
                <a:latin typeface="Arial"/>
              </a:rPr>
              <a:t>Environment kept ready all sprint (often automated)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4709160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700" b="0">
                <a:solidFill>
                  <a:srgbClr val="1A1A1A"/>
                </a:solidFill>
                <a:latin typeface="Arial"/>
              </a:rPr>
              <a:t>Waterfall: each phase is weeks long and done once.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700" b="0">
                <a:solidFill>
                  <a:srgbClr val="1A1A1A"/>
                </a:solidFill>
                <a:latin typeface="Arial"/>
              </a:rPr>
              <a:t>Agile: each phase is hours or days, repeated every sprint.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21 /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Ideas in Agile STLC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600200"/>
            <a:ext cx="10972800" cy="434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26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Continuous testing: test each story as soon as it is ready</a:t>
            </a:r>
          </a:p>
          <a:p>
            <a:pPr marL="285750" indent="-285750">
              <a:spcAft>
                <a:spcPts val="26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Whole-team quality: developers, QEs and PO share it</a:t>
            </a:r>
          </a:p>
          <a:p>
            <a:pPr marL="285750" indent="-285750">
              <a:spcAft>
                <a:spcPts val="26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Definition of Done works as team-wide exit criteria</a:t>
            </a:r>
          </a:p>
          <a:p>
            <a:pPr marL="285750" indent="-285750">
              <a:spcAft>
                <a:spcPts val="26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Automated regression protects old features every sprint</a:t>
            </a:r>
          </a:p>
          <a:p>
            <a:pPr marL="285750" indent="-285750">
              <a:spcAft>
                <a:spcPts val="26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Small batches: defects found within hours or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22 /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91640"/>
          <a:ext cx="10972800" cy="4343395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0485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Situation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Without a structured STLC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With the STLC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Unclear requirements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Found in testing, after coding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Questioned in requirement analysis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"What are we testing?"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Different opinions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Agreed in the test plan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Test cases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Kept in people's heads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Written, reviewed, traceable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Broken environment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Hours wasted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Smoke test catches it first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Release decision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"I think it's fine"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Closure report with metrics and risks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Next project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Same mistakes repeated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Lessons learned applied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23 /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12648" y="16916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1728216"/>
            <a:ext cx="10287000" cy="701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The STLC is the planned sequence of testing phases: six of them.</a:t>
            </a:r>
          </a:p>
        </p:txBody>
      </p:sp>
      <p:sp>
        <p:nvSpPr>
          <p:cNvPr id="6" name="Oval 5"/>
          <p:cNvSpPr/>
          <p:nvPr/>
        </p:nvSpPr>
        <p:spPr>
          <a:xfrm>
            <a:off x="612648" y="24384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474976"/>
            <a:ext cx="10287000" cy="701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It runs in parallel with the SDLC, starting at requirements.</a:t>
            </a:r>
          </a:p>
        </p:txBody>
      </p:sp>
      <p:sp>
        <p:nvSpPr>
          <p:cNvPr id="8" name="Oval 7"/>
          <p:cNvSpPr/>
          <p:nvPr/>
        </p:nvSpPr>
        <p:spPr>
          <a:xfrm>
            <a:off x="612648" y="318516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3221736"/>
            <a:ext cx="10287000" cy="701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Each phase has entry and exit criteria; write them as yes/no facts.</a:t>
            </a:r>
          </a:p>
        </p:txBody>
      </p:sp>
      <p:sp>
        <p:nvSpPr>
          <p:cNvPr id="10" name="Oval 9"/>
          <p:cNvSpPr/>
          <p:nvPr/>
        </p:nvSpPr>
        <p:spPr>
          <a:xfrm>
            <a:off x="612648" y="393192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3968496"/>
            <a:ext cx="10287000" cy="701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The RTM links requirements to tests and shows coverage gaps.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" y="467868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4715256"/>
            <a:ext cx="10287000" cy="701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Read metrics with severity and risk, not on their own.</a:t>
            </a:r>
          </a:p>
        </p:txBody>
      </p:sp>
      <p:sp>
        <p:nvSpPr>
          <p:cNvPr id="14" name="Oval 13"/>
          <p:cNvSpPr/>
          <p:nvPr/>
        </p:nvSpPr>
        <p:spPr>
          <a:xfrm>
            <a:off x="612648" y="54254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5462016"/>
            <a:ext cx="10287000" cy="701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In Agile the same phases are compressed and repeated every sprint.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24 /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Additional Resources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544" y="18196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ISTQB (International Software Testing Qualifications Board)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https://www.istqb.org/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347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713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ISTQB glossary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https://glossary.istqb.org/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0864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123057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Guru99, Software Testing Life Cycle (STLC)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https://www.guru99.com/software-testing-life-cycle.html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7381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8544" y="3774757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Atlassian, Software Testing (Continuous Delivery guides)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https://www.atlassian.com/continuous-delivery/software-testing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25 /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3314</Words>
  <Application>Microsoft Office PowerPoint</Application>
  <PresentationFormat>Widescreen</PresentationFormat>
  <Paragraphs>392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Courier New</vt:lpstr>
      <vt:lpstr>Wingdings</vt:lpstr>
      <vt:lpstr>Learners Point</vt:lpstr>
      <vt:lpstr>Software Testing Life Cycle</vt:lpstr>
      <vt:lpstr>Learning Objectives</vt:lpstr>
      <vt:lpstr>What the STLC Is and How It Runs</vt:lpstr>
      <vt:lpstr>What Is the STLC?</vt:lpstr>
      <vt:lpstr>STLC versus SDLC</vt:lpstr>
      <vt:lpstr>STLC Runs Parallel to the SDLC</vt:lpstr>
      <vt:lpstr>Key Vocabulary</vt:lpstr>
      <vt:lpstr>Entry, Exit, Suspend, Resume</vt:lpstr>
      <vt:lpstr>Phases 1–3: Prepare</vt:lpstr>
      <vt:lpstr>The Six Phases at a Glance</vt:lpstr>
      <vt:lpstr>Phase 1: Requirement Analysis</vt:lpstr>
      <vt:lpstr>Phase 2: Test Planning</vt:lpstr>
      <vt:lpstr>Phase 3: Test Case Development</vt:lpstr>
      <vt:lpstr>Traceability: the RTM</vt:lpstr>
      <vt:lpstr>Phases 4–6: Run and Close</vt:lpstr>
      <vt:lpstr>Phase 4: Test Environment Setup</vt:lpstr>
      <vt:lpstr>Phase 5: Test Execution</vt:lpstr>
      <vt:lpstr>Phase 6: Test Cycle Closure</vt:lpstr>
      <vt:lpstr>Basic Test Metrics</vt:lpstr>
      <vt:lpstr>STLC in Agile Sprints</vt:lpstr>
      <vt:lpstr>The STLC Inside a Sprint</vt:lpstr>
      <vt:lpstr>Key Ideas in Agile STLC</vt:lpstr>
      <vt:lpstr>Common Mistakes</vt:lpstr>
      <vt:lpstr>Key Takeaways</vt:lpstr>
      <vt:lpstr>Additional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Learners Point Template</dc:title>
  <dc:creator>Learners Point</dc:creator>
  <cp:lastModifiedBy>Jasdhir Singh</cp:lastModifiedBy>
  <cp:revision>4</cp:revision>
  <dcterms:modified xsi:type="dcterms:W3CDTF">2026-10-26T10:34:33Z</dcterms:modified>
</cp:coreProperties>
</file>