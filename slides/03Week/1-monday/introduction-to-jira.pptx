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31" r:id="rId75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5" Type="http://schemas.openxmlformats.org/officeDocument/2006/relationships/slide" Target="slides/slide74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notesMaster" Target="notesMasters/notesMaster1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Monday lesson: the tool that holds the backlog, the sprint board and the QE's daily work.</a:t>
            </a:r>
          </a:p>
          <a:p>
            <a:r>
              <a:t>- The slides give the concepts and the 3–4 key actions per screen; the real screens are shown live in the demo.</a:t>
            </a:r>
          </a:p>
          <a:p>
            <a:r>
              <a:t>- Ask: "Who has used Jira, Trello, or any board tool before?"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boundary: Tuesday covers issue types in detail (stories, tasks, bugs), the defect lifecycle, workflows and board customisation. Today is the introduction.</a:t>
            </a:r>
          </a:p>
          <a:p>
            <a:r>
              <a:t>- Sample project in the slides: "Demo Project", key DEMO, so issues read DEMO-1, DEMO-2…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what Jira is for, before any clicking.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name comes from "Gojira", the Japanese name for Godzilla.</a:t>
            </a:r>
          </a:p>
          <a:p>
            <a:r>
              <a:t>Product families: Jira Software (software teams), Jira Work Management (business teams such as HR or finance), Jira Service Management (IT and customer support).</a:t>
            </a:r>
          </a:p>
          <a:p>
            <a:r>
              <a:t>Cloud vs Data Center: Cloud is hosted by Atlassian at an address like yourname.atlassian.net; Data Center is installed and run by the company itself. Atlassian has offered a free Cloud plan for small teams; check what is currently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searching and reporting (find any group of issues with a query, turn results into dashboards) and integration with code, build, chat and test-management tools.</a:t>
            </a:r>
          </a:p>
          <a:p>
            <a:r>
              <a:t>- Ask: "What goes wrong when a team tracks work in emails and spreadsheets?"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Atlassian products learners may see: Loom (short video messages) and AI features (Atlassian Intelligence, Rovo) that summarise and draft. AI in quality engineering is covered in Week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vocabulary first, so the demo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Issue key: chosen when the project is created, usually two to five capital letters, hard to change later. "Can you review DEMO-12?" is how teams refer to work.</a:t>
            </a:r>
          </a:p>
          <a:p>
            <a:r>
              <a:t>Issue types: Epic = large body of work broken into smaller issues; Story = a feature from the user's point of view; Task = work that is not a user-facing feature; Bug = something that does not work as expected; Subtask = a smaller piece of a parent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use the default workflow. On Tuesday learners customise workflows and see how a bug moves through the defect lifecycle.</a:t>
            </a:r>
          </a:p>
          <a:p>
            <a:r>
              <a:t>- Priority answers "how soon should we deal with this?"; it is different from severity, which Tuesday covers for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Agree label conventions, or you get Regression, regression and regresion as three separate labels.</a:t>
            </a:r>
          </a:p>
          <a:p>
            <a:r>
              <a:t>- Components are set up by an administrator and chosen from a list: more controlled than labels.</a:t>
            </a:r>
          </a:p>
          <a:p>
            <a:r>
              <a:t>- Versions (releases) such as "1.0" record which release a bug affects and which release fixes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top to bottom: a project contains epics; epics contain stories; stories have subtasks such as test-case design; bugs are linked to the story they affect.</a:t>
            </a:r>
          </a:p>
          <a:p>
            <a:r>
              <a:t>- This traceability lets the team answer "what was tested for this story, and what broke?" without a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first steps. Keep the slides short and go to the live demo; learners repeat the steps in the exercise using the setup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Click-by-click steps are in the exercise checklist (templates/jira-setup-checklist.md).</a:t>
            </a:r>
          </a:p>
          <a:p>
            <a:r>
              <a:t>- Site names must be unique; pick something professional.</a:t>
            </a:r>
          </a:p>
          <a:p>
            <a:r>
              <a:t>- If asked for a plan, choose the free option for learning. Atlassian may offer a sample project; we create our own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things are: app switcher (grid icon, top left) to jump between Atlassian products; Your work = issues assigned to you; Filters = saved searches; Dashboards = pages of gadgets; Create = new issue.</a:t>
            </a:r>
          </a:p>
          <a:p>
            <a:r>
              <a:t>- Inside a project the sidebar also holds Summary, List, Timeline, Issues and Project settings, depending on the project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Scrum template: sprints, backlog, burndown. Kanban template: continuous flow, WIP limits (see the delivery models lesson).</a:t>
            </a:r>
          </a:p>
          <a:p>
            <a:r>
              <a:t>Team-managed vs company-managed: team-managed projects are controlled by the team, quick to set up and good for learning; company-managed projects share workflows and fields across many projects and are run by Jira administrators. Older material calls them "next-gen" and "classic".</a:t>
            </a:r>
          </a:p>
          <a:p>
            <a:r>
              <a:t>- Keys are hard to change later, so choose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getting work into Jira and seeing it on a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new issue gets the next key: DEMO-1, DEMO-2…</a:t>
            </a:r>
          </a:p>
          <a:p>
            <a:r>
              <a:t>The full form offers: project and issue type, summary, description, assignee, priority, labels, sprint, story points and more, depending on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backlog is an ordered list: issues at the top are picked first. The Product Owner (Rohan in our examples) usually owns the order.</a:t>
            </a:r>
          </a:p>
          <a:p>
            <a:r>
              <a:t>- Comments and history keep a record of every decision; @mentions notify a teammate.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Kanban boards look similar but have no sprint; columns may show WIP limits. The course uses the Scrum template.</a:t>
            </a:r>
          </a:p>
          <a:p>
            <a:r>
              <a:t>- Adding columns, swimlanes and quick filters is Tuesday's topic, together with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the Jira side of the Scrum events from today's Scrum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Purple boxes are the Scrum events (refinement in black because it is an ongoing activity, not an event).</a:t>
            </a:r>
          </a:p>
          <a:p>
            <a:r>
              <a:t>- Jira does not replace the conversations; it records their results so the whole team can see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preparation: issues should have summaries, descriptions and ideally estimates before planning.</a:t>
            </a:r>
          </a:p>
          <a:p>
            <a:r>
              <a:t>- Only drag in as much as the team believes it can finish; the sprint goal is a short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QE, "Done" means testing for that item is complete as agreed in the Definition of Done.</a:t>
            </a:r>
          </a:p>
          <a:p>
            <a:r>
              <a:t>- Look for cards stuck in one column for several days: they need a conversation.</a:t>
            </a:r>
          </a:p>
          <a:p>
            <a:r>
              <a:t>- At Complete sprint, unfinished issues go to the backlog or the next sprint; never delete them or pretend they are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finding exactly the issues you need, and making progress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condition is field + operator + value; keywords such as AND, OR and ORDER BY combine and sort.</a:t>
            </a:r>
          </a:p>
          <a:p>
            <a:r>
              <a:t>- != means "is not equal to". This query finds every unfinished issue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More: project = DEMO AND summary ~ "login" AND created &gt;= -14d finds issues with "login" in the title created in the last 14 days (~ means contains; -14d means 14 days ago).</a:t>
            </a:r>
          </a:p>
          <a:p>
            <a:r>
              <a:t>- currentUser() means whoever is logged in; openSprints() means active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QE's "Quality overview" dashboard might show: open bugs by priority; bugs created in the last 30 days; test tasks still in progress; issues assigned to me.</a:t>
            </a:r>
          </a:p>
          <a:p>
            <a:r>
              <a:t>- Gadget names vary between Jira versions; focus on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reports exist (sprint report, cumulative flow diagram, created vs resolved). Names and locations change between versions.</a:t>
            </a:r>
          </a:p>
          <a:p>
            <a:r>
              <a:t>- Reading a burndown chart was taught in the Scrum lesson; here we only show where to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7: the QE's view, good habits and common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Linking: use Link issue to connect a bug to the story it affects and a test task to its story, so anyone can see the full picture.</a:t>
            </a:r>
          </a:p>
          <a:p>
            <a:r>
              <a:t>- Supporting release decisions: search for open high-priority bugs before a release.</a:t>
            </a:r>
          </a:p>
          <a:p>
            <a:r>
              <a:t>- Roles and permissions: administrators change settings and manage people; members create and edit issues; viewers can only see. Inviting people is in the exercise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habits: useful descriptions (context, what is needed, why; for a bug, steps to reproduce, expected and actual result); honest statuses; linked work; acceptance criteria on every story (Given/When/Then, from the Scrum lesson).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mistakes: putting a whole feature in one giant issue; assigning everything to yourself or to nobody; adding lots of work to a running sprint; many inconsistent labels; being afraid to explore (use a practice project).</a:t>
            </a:r>
          </a:p>
          <a:p>
            <a:r>
              <a:t>- Example of good daily use: Ananya opens Your work and sees DEMO-6 (design test cases for checkout) and DEMO-9 (a bug awaiting retest). After the Daily Scrum she retests DEMO-9, comments the result, moves it to Done, then runs her "Sprint 1 open bugs"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 names change often: focus on the concepts. The live demo and the exercise turn these slides into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Atlassian's own documentation and Agile Coach pages are the most up-to-date references for menu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10/23/2026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10/23/2026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330066"/>
                </a:solidFill>
              </a:rPr>
              <a:t>Introduction to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The shared whiteboard where Agile teams plan, track and report work, and how a QE uses it every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Projects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186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8442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Issues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5315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891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Backlog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076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7341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Sprints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621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627924" y="3520439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JQL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3660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02369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Dashboards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Jira Software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https://support.atlassian.com/jira-software-cloud/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Agile Coach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University / Atlassian Learning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https://university.atlassian.com/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34 / 34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28216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Explain what Jira is and why Agile teams use it.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41448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478024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Use the core vocabulary: project, issue, key, type, status, priority.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191256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227832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Create a Scrum project, issues and a sprint, and run the sprint.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941064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977640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Write simple JQL searches and save them as filters and dashboards.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690872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727448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Describe how a QE uses Jira, with good habits and common mistakes.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 / 34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Jira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tool, why teams use it, and the Atlassian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 / 34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Jira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Think of Jira as the team's shared, searchable, always-current whiteboard.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109728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 work-tracking tool from Atlassian, first built for bugs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Every piece of work is an issue: feature, task, bug, test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Issues live in projects; shown on boards, backlogs, reports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This course uses Jira Software (for software teams)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We use Jira Cloud: hosted by Atlassian, free plan for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4 / 34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Teams Use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Reason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What it means in practice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Single source of truth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Everyone sees the same list of work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Visibility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Anyone can see the status of any item, any time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Accountability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Every issue has an assignee and a reporter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Traceability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History of every change; bugs linked to stories and fixes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Agile built 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Backlogs, sprints, boards, burndown and velocity charts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5 / 34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Atlassian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306324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6126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Plan and track work: issues, sprints,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Confluence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Team documents: requirements pages, test plans, notes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Bitbucket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Source code hosting and code review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Trello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Simple card-based boards for light task tracking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REAL WORLD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common pattern: requirements in Confluence, work items in Jira, code in Bitbucket or GitHub, all linked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6 / 34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Vocabulary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words on every Jira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7 / 34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Project, Issue, Issue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78308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Project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A container for related work, e.g. one product or team. Ours: "Demo Project".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4516" y="178308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Issue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One item of work: a story, task, bug or subtask. Not always a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02336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416052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Issue key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Project key + number: the 12th issue in DEMO is DEMO-12.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402336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416052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Issue types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Epic, Story, Task, Bug, Subtask. Full detail on Tuesday.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8 / 34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Status, Workflow,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29260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783080"/>
            <a:ext cx="31028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Status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Where an issue is now: To Do, In Progress, Done. Each status is a board column.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1645920"/>
            <a:ext cx="3505200" cy="292608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7616" y="1783080"/>
            <a:ext cx="31028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Workflow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statuses an issue can pass through and the allowed moves. In depth on Tuesday.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0248" y="1645920"/>
            <a:ext cx="3505200" cy="29260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1416" y="1783080"/>
            <a:ext cx="310286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330066"/>
                </a:solidFill>
                <a:latin typeface="Arial"/>
              </a:rPr>
              <a:t>Priority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How urgent: Highest, High, Medium, Low, Lowest.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9 / 34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People, Labels and Planning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78308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330066"/>
                </a:solidFill>
                <a:latin typeface="Arial"/>
              </a:rPr>
              <a:t>Assignee / Reporter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Who is doing it / who raised it. A QE reports a bug; a developer is assigned to fix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4516" y="178308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330066"/>
                </a:solidFill>
                <a:latin typeface="Arial"/>
              </a:rPr>
              <a:t>Labels / Components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Free tags (regression, smoke) / named product parts (Checkout, Search).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02336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416052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330066"/>
                </a:solidFill>
                <a:latin typeface="Arial"/>
              </a:rPr>
              <a:t>Sprint / Backlog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The sprint's chosen issues / the ordered list not yet in a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4023360"/>
            <a:ext cx="5372100" cy="214884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4160520"/>
            <a:ext cx="496976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330066"/>
                </a:solidFill>
                <a:latin typeface="Arial"/>
              </a:rPr>
              <a:t>Board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Issues shown as cards in status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10 / 34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Pieces Relate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61688" y="164592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Project: Demo Project (DEMO)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260604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Epic: User Login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2304288"/>
            <a:ext cx="0" cy="27432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86968" y="361188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Story DEMO-3: Log in with email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624328" y="3264408"/>
            <a:ext cx="3474720" cy="32004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61688" y="361188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Story DEMO-4: Reset password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3264408"/>
            <a:ext cx="0" cy="32004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36408" y="361188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Story DEMO-5: Lock after 5 failures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3264408"/>
            <a:ext cx="3474720" cy="32004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" y="46634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Subtask: write test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5768" y="46634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Bug DEMO-9: no error message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9928" y="4315968"/>
            <a:ext cx="0" cy="32004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24328" y="4315968"/>
            <a:ext cx="914400" cy="32004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18888" y="470916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Links connect a bug to the story it affects, so anyone can see what was tested and what broke.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11 / 34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Site, interface, and creating a Scrum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12 / 34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an Account and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You need an Atlassian account and a site: your team's own Jira address.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Sign up for Jira (free plan) with an email you will keep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Choose a site name, e.g. demo-yourname.atlassian.net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Answer the short setup questions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Bookmark your site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sign-up page, the site-name step and the first screen after setup. Screens and wording change often; focus on the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13 / 34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Your Way Around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Three regions: top navigation bar, project sidebar, main content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Top bar: Your work, Projects, Filters, Dashboards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Create button and search in the top bar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Sidebar inside a project: Backlog, Board, Reports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Notifications, settings and profile: top 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Point to each region on the real screen, then give learners two minutes to click through every top-level menu.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14 / 34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 Scrum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Use the Scrum template: it matches the ceremonies from today's Scrum lesson.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Projects → Create project → Scrum template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Choose team-managed: quick, you are the admin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Name it Demo Project; set the key to DEMO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Create: you land on the Backlog or 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template picker (Scrum vs Kanban), the team-managed choice and the name and key fields.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15 / 34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Backlog, Issues and Boards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Creating issues and reading the 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16 / 34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Backlog and Creating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Top: sprint panels. Below: backlog issues not yet in a sprint.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In the Backlog panel select + Create issue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Pick the type, e.g. Story or Task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Type a short summary; press Enter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Use the top-bar Create button for the full 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Create three stories in the backlog, then open the full Create form and fill description, priority and 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17 / 34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Details and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39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14884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17627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Open an issue: summary, description, comments on the left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86207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889503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Fields on the right: status, assignee, priority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57530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60273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Change status from the drop-down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28853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31596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Drag issues to reorder the 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73736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4708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Open one story, edit fields, add a comment with an @mention, then drag it to the top of the backlog.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18 / 34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Scrum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When a sprint is active, the board shows its issues as cards in status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Each card: key, summary, assignee, type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Drag a card to the next column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Anyone can see the real situation at the Daily Scrum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Board customisation comes on Tuesday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active sprint board, moving a card from To Do to In Progress to Done.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19 / 34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a Sprint in Jira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Plan, start, update daily and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20 / 34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Events in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Backlog refinement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67328" y="2057400"/>
            <a:ext cx="5486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61688" y="1691640"/>
            <a:ext cx="7223760" cy="73152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Add details, estimates, acceptance criteria; rank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56032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Sprint Planning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67328" y="2926079"/>
            <a:ext cx="5486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61688" y="2560320"/>
            <a:ext cx="7223760" cy="73152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Create sprint, drag issues in, set goal and dates,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42900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Daily Scrum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67328" y="3794760"/>
            <a:ext cx="5486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61688" y="3429000"/>
            <a:ext cx="7223760" cy="73152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Look at the board, move cards, comment on blockers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297679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Sprint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67328" y="4663440"/>
            <a:ext cx="5486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61688" y="4297679"/>
            <a:ext cx="7223760" cy="73152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Check the Done column and the sprint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516636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Retrospective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67328" y="5532120"/>
            <a:ext cx="5486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61688" y="5166360"/>
            <a:ext cx="7223760" cy="73152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Use sprint report data to see what was finished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21 / 34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and Start 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39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14884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17627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Backlog in priority order, issues refined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86207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889503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Create sprint; drag in only what fits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57530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60273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Start sprint: name, 2 weeks, sprint goal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28853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31596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Jira opens the board with issues in To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73736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4708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Create DEMO Sprint 1, drag in four stories, set the goal "Users can register and log in", and start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22 / 34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Updates and Completing 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39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14884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17627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Move cards as work starts and finishes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86207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889503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Comment progress and blockers; @mention people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57530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60273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Move to Done only when it meets the DoD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28853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31596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Complete sprint; send unfinished work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73736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4708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Move cards through a simulated day, then Complete sprint and open the sprint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23 / 34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and Report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JQL, filters, dashboards and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24 / 34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JQL: Jira Query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JQL asks for exactly the issues you want. It reads like a sentence.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1499616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40"/>
            <a:ext cx="14996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field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9424" y="2286000"/>
            <a:ext cx="566928" cy="7315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operator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2286000"/>
            <a:ext cx="1033272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3063240"/>
            <a:ext cx="1033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3944" y="2286000"/>
            <a:ext cx="877824" cy="73152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keyword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7" y="2286000"/>
            <a:ext cx="1344168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7" y="3063240"/>
            <a:ext cx="13441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0255" y="2286000"/>
            <a:ext cx="722376" cy="7315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!=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244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operator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9792" y="2286000"/>
            <a:ext cx="1033272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063240"/>
            <a:ext cx="1033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65760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Start simple; add one condition at a time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The search box suggests fields and values as you type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Text with spaces goes in quotes: status = "To Do"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Use the basic search first, then switch to JQL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25 / 34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JQL for a 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799" cy="4343400"/>
        </p:xfrm>
        <a:graphic>
          <a:graphicData uri="http://schemas.openxmlformats.org/drawingml/2006/table">
            <a:tbl>
              <a:tblPr/>
              <a:tblGrid>
                <a:gridCol w="3017520"/>
                <a:gridCol w="7955279"/>
              </a:tblGrid>
              <a:tr h="7239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Query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Assigned to 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project = DEMO AND assignee = currentUser()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Unfinished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project = DEMO AND issuetype = Bug AND status !=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High priority, newest first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project = DEMO AND priority IN (Highest, High) ORDER BY created DESC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Regression label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project = DEMO AND labels = regression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Bugs in this sprint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project = DEMO AND sprint in openSprints() AND issuetype = 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26 / 34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and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A filter is a saved search; a dashboard is a page of gadgets built on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Run a query, then Save as, e.g. "DEMO open bugs"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Create a dashboard; add gadgets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Gadgets: open bugs by priority, created vs resolved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Share the dashboard with the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Save "Sprint 1 open bugs" as a filter and build a small "Quality overview" dashboard from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27 / 34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Burndown and Velocity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Under Reports in the project sidebar.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0066"/>
                </a:solidFill>
                <a:latin typeface="Arial"/>
              </a:rPr>
              <a:t>KEY ACTIONS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697480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249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Burndown: work remaining in the sprint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410712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38144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Velocity: work completed per sprint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4123944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51376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Open them in the Review and Retrospective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837176"/>
            <a:ext cx="411480" cy="41148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4608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How to read them: see the Scrum lesson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4041648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367588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SHOWN LIVE IN THE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Open the burndown and velocity reports for the completed sprint.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28 / 34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QE Use and Good Habits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a QE works in Jira day to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29 / 34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QE Uses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3063240"/>
        </p:xfrm>
        <a:graphic>
          <a:graphicData uri="http://schemas.openxmlformats.org/drawingml/2006/table">
            <a:tbl>
              <a:tblPr/>
              <a:tblGrid>
                <a:gridCol w="3108960"/>
                <a:gridCol w="7863840"/>
              </a:tblGrid>
              <a:tr h="5105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QE activity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How it appears in Jira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Review 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Read stories and acceptance criteria; comment questions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Plan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Create test tasks, e.g. "Design test cases for DEMO-3"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Report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Create bugs with clear steps; link them to the 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Verify fixes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Retest bugs marked fixed; update status and comment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Give visibility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Filters and dashboards for open bugs and progress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VISIBILITY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Quality work is visible in Jira only if you put it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30 / 34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Habits: Clear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38862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Weak title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Stronger title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Login broken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Login fails with "Invalid request" when password has a space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 stuff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Design test cases for user registration (DEMO-1)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Fix 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Show validation message for empty email on registration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Search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As a shopper, I can search products by name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31 / 34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Vague titles such as "Bug" or "Issue with page"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Empty descriptions and statuses never updated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Duplicates created without searching first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Every priority set to Highest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Moving cards to Done before testing is complete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Closing a sprint without deciding on unfinished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32 / 34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7282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Jira is the team's shared, searchable, always-current whiteboard.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4384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47497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Everything is an issue in a project, with a key such as DEMO-12.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1851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22173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Jira sprint flow mirrors the Scrum events: plan, update, complete.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931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6849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JQL finds exactly the issues you want; save them as filters.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6786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71525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A QE uses Jira to track tests, report and link bugs, keep quality visible.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4254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4620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Tuesday: issue types, bugs, defect lifecycle, workflows, 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33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7046</Words>
  <Application>Microsoft Office PowerPoint</Application>
  <PresentationFormat>Widescreen</PresentationFormat>
  <Paragraphs>753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Arial</vt:lpstr>
      <vt:lpstr>Courier New</vt:lpstr>
      <vt:lpstr>Wingdings</vt:lpstr>
      <vt:lpstr>Learners Point</vt:lpstr>
      <vt:lpstr>Introduction to Jira</vt:lpstr>
      <vt:lpstr>Learning Objectives (1 of 2)</vt:lpstr>
      <vt:lpstr>Learning Objectives (2 of 2)</vt:lpstr>
      <vt:lpstr>What Jira Is</vt:lpstr>
      <vt:lpstr>What Jira Is</vt:lpstr>
      <vt:lpstr>Why Teams Use Jira (1 of 2)</vt:lpstr>
      <vt:lpstr>Why Teams Use Jira (2 of 2)</vt:lpstr>
      <vt:lpstr>The Atlassian Ecosystem</vt:lpstr>
      <vt:lpstr>Jira Product Families</vt:lpstr>
      <vt:lpstr>Cloud vs Data Center</vt:lpstr>
      <vt:lpstr>Core Vocabulary</vt:lpstr>
      <vt:lpstr>Project, Issue, Issue Key</vt:lpstr>
      <vt:lpstr>Issue Types</vt:lpstr>
      <vt:lpstr>Status, Workflow, Priority</vt:lpstr>
      <vt:lpstr>People, Labels, Components</vt:lpstr>
      <vt:lpstr>Versions, Epic, Sprint, Backlog, Board</vt:lpstr>
      <vt:lpstr>How the Pieces Relate</vt:lpstr>
      <vt:lpstr>Account, Site and Interface</vt:lpstr>
      <vt:lpstr>Creating an Account and Site (1 of 2)</vt:lpstr>
      <vt:lpstr>Creating an Account and Site (2 of 2)</vt:lpstr>
      <vt:lpstr>Navigating the Interface</vt:lpstr>
      <vt:lpstr>Where Things Are (1 of 2)</vt:lpstr>
      <vt:lpstr>Where Things Are (2 of 2)</vt:lpstr>
      <vt:lpstr>Creating a Project</vt:lpstr>
      <vt:lpstr>Scrum vs Kanban Template</vt:lpstr>
      <vt:lpstr>This Course Uses Scrum</vt:lpstr>
      <vt:lpstr>Team-Managed vs Company-Managed</vt:lpstr>
      <vt:lpstr>Create the Project (1 of 2)</vt:lpstr>
      <vt:lpstr>Create the Project (2 of 2)</vt:lpstr>
      <vt:lpstr>Backlog, Issues and Boards</vt:lpstr>
      <vt:lpstr>The Backlog View</vt:lpstr>
      <vt:lpstr>Creating Issues Quickly</vt:lpstr>
      <vt:lpstr>The Full Create Form</vt:lpstr>
      <vt:lpstr>Issue Detail View and Ranking</vt:lpstr>
      <vt:lpstr>The Scrum Board</vt:lpstr>
      <vt:lpstr>The Kanban Board</vt:lpstr>
      <vt:lpstr>Depth Boundary: Boards</vt:lpstr>
      <vt:lpstr>Running a Sprint in Jira</vt:lpstr>
      <vt:lpstr>Scrum Events in Jira</vt:lpstr>
      <vt:lpstr>Plan and Start a Sprint (1 of 2)</vt:lpstr>
      <vt:lpstr>Plan and Start a Sprint (2 of 2)</vt:lpstr>
      <vt:lpstr>Daily Updates During the Sprint</vt:lpstr>
      <vt:lpstr>Complete a Sprint</vt:lpstr>
      <vt:lpstr>Searching with JQL</vt:lpstr>
      <vt:lpstr>JQL: Jira Query Language</vt:lpstr>
      <vt:lpstr>JQL Examples (1 of 3)</vt:lpstr>
      <vt:lpstr>JQL Examples (2 of 3)</vt:lpstr>
      <vt:lpstr>JQL Examples (3 of 3)</vt:lpstr>
      <vt:lpstr>Tips for Learning JQL</vt:lpstr>
      <vt:lpstr>Filters, Dashboards, Reports</vt:lpstr>
      <vt:lpstr>Filters and Dashboards</vt:lpstr>
      <vt:lpstr>A QE Quality Overview Dashboard</vt:lpstr>
      <vt:lpstr>Burndown and Velocity Reports</vt:lpstr>
      <vt:lpstr>QE Use, People, Good Habits</vt:lpstr>
      <vt:lpstr>How a QE Uses Jira (1 of 2)</vt:lpstr>
      <vt:lpstr>How a QE Uses Jira (2 of 2)</vt:lpstr>
      <vt:lpstr>Visibility in Practice</vt:lpstr>
      <vt:lpstr>Inviting People</vt:lpstr>
      <vt:lpstr>Roles and Permissions</vt:lpstr>
      <vt:lpstr>Jira's AI Features</vt:lpstr>
      <vt:lpstr>Good Habits: Clear Titles</vt:lpstr>
      <vt:lpstr>Good Habits: The List</vt:lpstr>
      <vt:lpstr>Good Habits: Acceptance Criteria</vt:lpstr>
      <vt:lpstr>Common Beginner Mistakes (1 of 3)</vt:lpstr>
      <vt:lpstr>Common Beginner Mistakes (2 of 3)</vt:lpstr>
      <vt:lpstr>Common Beginner Mistakes (3 of 3)</vt:lpstr>
      <vt:lpstr>Worked Examples</vt:lpstr>
      <vt:lpstr>Example 1: A Day in Jira for a QE</vt:lpstr>
      <vt:lpstr>Example 1: Filter and Dashboard</vt:lpstr>
      <vt:lpstr>Example 2: Story, Test Task, Bug</vt:lpstr>
      <vt:lpstr>Example 3: Reading the Burndown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2026-10-23T19:33:48Z</dcterms:modified>
</cp:coreProperties>
</file>