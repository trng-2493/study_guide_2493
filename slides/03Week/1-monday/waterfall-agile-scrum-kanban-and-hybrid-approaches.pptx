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26" r:id="rId70"/>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70" Type="http://schemas.openxmlformats.org/officeDocument/2006/relationships/slide" Target="slides/slide69.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openxmlformats.org/officeDocument/2006/relationships/notesMaster" Target="notesMasters/notesMaster1.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SDLC lesson gave us seven phases. This lesson is about how teams arrange them: one long pass, short repeated cycles, or a continuous flow.</a:t>
            </a:r>
          </a:p>
          <a:p>
            <a:r>
              <a:t>- Ask: "Has anyone worked in sprints, or used a board with columns?"</a:t>
            </a:r>
          </a:p>
          <a:p>
            <a:r>
              <a:t>- We meet Waterfall, the V-Model, Agile, Scrum (overview only), Kanban and hybrids, then choose a model for a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5 is the practical outcome: given a project description, pick a model and justify it.</a:t>
            </a:r>
          </a:p>
          <a:p>
            <a:r>
              <a:t>- Scrum is only an overview here; the Scrum events lesson and the Agile roles lesson cover it in depth.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sets up the idea that the same phases can be arranged in different ways.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names: software development methodology, process model, SDLC model.</a:t>
            </a:r>
          </a:p>
          <a:p>
            <a:r>
              <a:t>- A model answers: in what order do we do the phases, how big is each step, and how much do they overlap?</a:t>
            </a:r>
          </a:p>
          <a:p>
            <a:r>
              <a:t>- For a QE the key question is: when do I get to test, and when do users give feedback?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deck's one analogy. Use it again when you reach the late-testing problem: the banquet guests are the users who only "taste" at the end.</a:t>
            </a:r>
          </a:p>
          <a:p>
            <a:r>
              <a:t>- Teams choose a style that fits the situation, just as a cook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Iterative: repeat a cycle (plan, build, test, review) and improve the product each round.</a:t>
            </a:r>
          </a:p>
          <a:p>
            <a:r>
              <a:t>Incremental: deliver the product in usable pieces, each adding capability: search first, then cart, then payment.</a:t>
            </a:r>
          </a:p>
          <a:p>
            <a:r>
              <a:t>- Ask: "Which is a writer redrafting an essay?" (iterative) "Which is a builder finishing one room at a time?" (incremental)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covers the two sequential models: classic Waterfall and its testing-focused variant, the V-Model.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Waterfall is the classic sequential approach, usually traced to Winston Royce's 1970 paper (he actually warned about its risks).</a:t>
            </a:r>
          </a:p>
          <a:p>
            <a:r>
              <a:t>- Like water over steps: it does not flow back up.</a:t>
            </a:r>
          </a:p>
          <a:p>
            <a:r>
              <a:t>- Typical outputs: requirements document, design documents, working code, test reports, live system, patches.</a:t>
            </a:r>
          </a:p>
          <a:p>
            <a:r>
              <a:t>- A formal sign-off usually closes each phase.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also include predictable planning when requirements are stable, and easier management of large, distributed teams.</a:t>
            </a:r>
          </a:p>
          <a:p>
            <a:r>
              <a:t>- Weakness to stress: it assumes requirements are complete and correct at the start, which is rarely true for new products.</a:t>
            </a:r>
          </a:p>
          <a:p>
            <a:r>
              <a:t>- Good fits: small fixed projects, regulated work, contracts with fixed scope.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banquet: users "taste" only at the end, when fixing the soup is expensive.</a:t>
            </a:r>
          </a:p>
          <a:p>
            <a:r>
              <a:t>- Defects introduced in requirements are found in the test phase, where they cost the most (see the cost chart in the SDLC lesson).</a:t>
            </a:r>
          </a:p>
          <a:p>
            <a:r>
              <a:t>- Static testing = reviewing documents without running code. It is the QE's main early tool in a sequential project.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V-Model (Verification and Validation model) keeps Waterfall's sequence but pairs each development phase on the left with a test level on the right.</a:t>
            </a:r>
          </a:p>
          <a:p>
            <a:r>
              <a:t>- Acceptance tests are planned from business requirements, system tests from system requirements, and so on.</a:t>
            </a:r>
          </a:p>
          <a:p>
            <a:r>
              <a:t>- Left side = verification (are we building the product right?); right side = validation (are we building the right product?). One line only here: Wednesday covers V&amp;V properly.</a:t>
            </a:r>
          </a:p>
          <a:p>
            <a:r>
              <a:t>- Test levels are taught in detail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V-Model improves the QE's position compared with Waterfall: test design starts during each development phase.</a:t>
            </a:r>
          </a:p>
          <a:p>
            <a:r>
              <a:t>- But execution still happens after coding, and users still see the product late.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why Agile appeared, what it values, and how testing changes.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Manifesto adds: "while there is value in the items on the right, we value the items on the left more." Agile does not ban documents or plans.</a:t>
            </a:r>
          </a:p>
          <a:p>
            <a:r>
              <a:t>- Agile is a set of values and principles, not a single process. Scrum and Kanban are ways to put it into practice.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wording, in plain language:</a:t>
            </a:r>
          </a:p>
          <a:p>
            <a:r>
              <a:t>1 Satisfy the customer through early and continuous delivery. 2 Welcome changing requirements, even late. 3 Deliver working software frequently (weeks, not months). 4 Business people and developers work together daily. 5 Build projects around motivated individuals and trust them. 6 Face-to-face conversation is the most effective communication. 7 Working software is the primary measure of progress. 8 Sustainable pace. 9 Continuous attention to technical excellence and good design. 10 Simplicity: maximise the work not done. 11 Self-organising teams produce the best designs. 12 Regularly reflect and adjust.</a:t>
            </a:r>
          </a:p>
          <a:p>
            <a:r>
              <a:t>- Ask: "Which principles help a tester most?" (2, 3, 4, 7, 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total time, very different feedback. Waterfall users first see working software near the end; Agile users see something after the first cycle and every cycle after that.</a:t>
            </a:r>
          </a:p>
          <a:p>
            <a:r>
              <a:t>- For the QE: in Agile, testing happens in every cycle, not in one block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benefits: higher motivation through ownership. More challenges: scope creep; scaling to many teams needs coordination.</a:t>
            </a:r>
          </a:p>
          <a:p>
            <a:r>
              <a:t>- Warning: dropping documents alone does not make a team Agile; without discipline it becomes chaos.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testing: test each small piece as soon as it exists.</a:t>
            </a:r>
          </a:p>
          <a:p>
            <a:r>
              <a:t>- Whole-team approach: developers write unit tests, the QE leads test design and exploratory testing, the PO clarifies acceptance criteria.</a:t>
            </a:r>
          </a:p>
          <a:p>
            <a:r>
              <a:t>- The Scrum events lesson shows exactly how testing fits inside a sprint; the Agile roles lesson covers whole-team quality.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common ways to put Agile into practice. Scrum gets one slide here because the next lessons cover it in depth.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Empiricism: knowledge comes from experience. Make work visible (transparency), check it often (inspection), adjust when something is off (adaptation).</a:t>
            </a:r>
          </a:p>
          <a:p>
            <a:r>
              <a:t>- Keep this to five minutes; learners will meet every item again later today.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Columns should reflect the team's real process, for example Backlog, Ready, In Development, Code Review, In Testing, Ready for Release, Done.</a:t>
            </a:r>
          </a:p>
          <a:p>
            <a:r>
              <a:t>- The numbers in brackets are WIP limits (next slide).</a:t>
            </a:r>
          </a:p>
          <a:p>
            <a:r>
              <a:t>- Kanban principles: start with what you do now, change step by step, respect current roles, make policies explicit.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WIP = work in progress. Starting many things feels productive but causes context switching, delays everything and hides problems.</a:t>
            </a:r>
          </a:p>
          <a:p>
            <a:r>
              <a:t>- Bottleneck example: developers finish code faster than testers can test. "In Testing" hits its limit, so developers help test or fix defects instead of starting new features. The whole team feels the problem and solves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time: from request to delivery, including waiting in the backlog. This is what the customer feels.</a:t>
            </a:r>
          </a:p>
          <a:p>
            <a:r>
              <a:t>Cycle time: from when the team starts work to when it is finished. This is what the team controls.</a:t>
            </a:r>
          </a:p>
          <a:p>
            <a:r>
              <a:t>- In the example, the item waited 9 days before anyone started it. Shortening lead time often means reducing waiting, not working faster.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is better; they answer different needs.</a:t>
            </a:r>
          </a:p>
          <a:p>
            <a:r>
              <a:t>- Delivery: Scrum delivers an increment at least every sprint; Kanban delivers whenever an item is done.</a:t>
            </a:r>
          </a:p>
          <a:p>
            <a:r>
              <a:t>- Meetings: Scrum has defined events; Kanban has none required, though many teams hold stand-ups and reviews.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real organisations mix models. We compare everything and practise choosing.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Water-Scrum-Fall is a half-joking name for a common reality: requirements and budget are approved the traditional way, development runs in sprints, and a final test and release phase follows.</a:t>
            </a:r>
          </a:p>
          <a:p>
            <a:r>
              <a:t>- Critics note it keeps late feedback at the end; it is realistic where governance demands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Regulated industries: healthcare, finance, aviation, automotive. They need evidence that each requirement was tested.</a:t>
            </a:r>
          </a:p>
          <a:p>
            <a:r>
              <a:t>- In these teams the Definition of Done includes compliance tasks, such as updating the traceability matrix.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dimensions for discussion: customer involvement (start and end vs constant), documentation (heavy vs just enough), predictability of scope (high vs lower), risk discovery (late vs early).</a:t>
            </a:r>
          </a:p>
          <a:p>
            <a:r>
              <a:t>- Main weaknesses: Waterfall, late feedback; V-Model, rigid; Scrum, needs discipline and an available PO; Kanban, less predictable delivery dates.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questions from the full decision guide: Is the contract fixed-scope, fixed-price? (leans Waterfall). Is the team experienced with Agile? (helps Scrum). Is it a new product built in increments? (Scrum).</a:t>
            </a:r>
          </a:p>
          <a:p>
            <a:r>
              <a:t>Practice scenarios (ask the room):</a:t>
            </a:r>
          </a:p>
          <a:p>
            <a:r>
              <a:t>- Hospital billing, traceable requirements required by law: V-Model, maybe with Agile inside.</a:t>
            </a:r>
          </a:p>
          <a:p>
            <a:r>
              <a:t>- Start-up social app, nobody knows what users will love: Scrum with short sprints.</a:t>
            </a:r>
          </a:p>
          <a:p>
            <a:r>
              <a:t>- IT help-desk with unpredictable daily requests: Kanban with WIP limits.</a:t>
            </a:r>
          </a:p>
          <a:p>
            <a:r>
              <a:t>- Bank mobile app, Agile speed plus strict security audits: hybrid.</a:t>
            </a:r>
          </a:p>
          <a:p>
            <a:r>
              <a:t>- One-off event website, fixed content, 3-week deadline: simple Waterfall-style plan.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modern teams the QE is embedded, involved early and focused on prevention, whatever the model.</a:t>
            </a:r>
          </a:p>
          <a:p>
            <a:r>
              <a:t>- In general Agile teams the QE is in the team from day one, asking questions and testing continuously.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misconceptions:</a:t>
            </a:r>
          </a:p>
          <a:p>
            <a:r>
              <a:t>- "There is no tester in Scrum, so testing is nobody's job." False: testing is everyone's job; testers are part of the Developers.</a:t>
            </a:r>
          </a:p>
          <a:p>
            <a:r>
              <a:t>- "A sprint is a mini-Waterfall." A warning sign: work in small slices and test continuously.</a:t>
            </a:r>
          </a:p>
          <a:p>
            <a:r>
              <a:t>- "Hybrid means we couldn't decide." False when the compromises are deliberate.</a:t>
            </a:r>
          </a:p>
          <a:p>
            <a:r>
              <a:t>- "One model fits every project forever." Reassess as the product changes.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lesson: the STLC, which zooms into how testing itself is organised. After that, Scrum events, Agile roles and Jira.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Agile Manifesto and the Scrum Guide are short; recommend reading both this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10/23/2026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10/23/2026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10/23/2026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10/23/2026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10/23/2026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10/23/2026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10/23/2026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10/23/2026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10/23/2026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10/23/2026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10/23/2026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10/23/2026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10/23/2026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Delivery Models</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Waterfall, Agile, Scrum, Kanban and hybrid approaches: how teams arrange the SDLC phases.</a:t>
            </a:r>
          </a:p>
        </p:txBody>
      </p:sp>
      <p:sp>
        <p:nvSpPr>
          <p:cNvPr id="5" name="Rounded Rectangle 4"/>
          <p:cNvSpPr/>
          <p:nvPr/>
        </p:nvSpPr>
        <p:spPr>
          <a:xfrm>
            <a:off x="609904" y="3520439"/>
            <a:ext cx="1537335"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Waterfall</a:t>
            </a:r>
          </a:p>
        </p:txBody>
      </p:sp>
      <p:sp>
        <p:nvSpPr>
          <p:cNvPr id="6" name="Right Arrow 5"/>
          <p:cNvSpPr/>
          <p:nvPr/>
        </p:nvSpPr>
        <p:spPr>
          <a:xfrm>
            <a:off x="223867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04439" y="3520439"/>
            <a:ext cx="129730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V-Model</a:t>
            </a:r>
          </a:p>
        </p:txBody>
      </p:sp>
      <p:sp>
        <p:nvSpPr>
          <p:cNvPr id="8" name="Right Arrow 7"/>
          <p:cNvSpPr/>
          <p:nvPr/>
        </p:nvSpPr>
        <p:spPr>
          <a:xfrm>
            <a:off x="399318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58944" y="3520439"/>
            <a:ext cx="105727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Agile</a:t>
            </a:r>
          </a:p>
        </p:txBody>
      </p:sp>
      <p:sp>
        <p:nvSpPr>
          <p:cNvPr id="10" name="Right Arrow 9"/>
          <p:cNvSpPr/>
          <p:nvPr/>
        </p:nvSpPr>
        <p:spPr>
          <a:xfrm>
            <a:off x="550765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873419" y="3520439"/>
            <a:ext cx="105727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Scrum</a:t>
            </a:r>
          </a:p>
        </p:txBody>
      </p:sp>
      <p:sp>
        <p:nvSpPr>
          <p:cNvPr id="12" name="Right Arrow 11"/>
          <p:cNvSpPr/>
          <p:nvPr/>
        </p:nvSpPr>
        <p:spPr>
          <a:xfrm>
            <a:off x="702213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87894" y="3520439"/>
            <a:ext cx="117729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Kanban</a:t>
            </a:r>
          </a:p>
        </p:txBody>
      </p:sp>
      <p:sp>
        <p:nvSpPr>
          <p:cNvPr id="14" name="Right Arrow 13"/>
          <p:cNvSpPr/>
          <p:nvPr/>
        </p:nvSpPr>
        <p:spPr>
          <a:xfrm>
            <a:off x="865662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022384" y="3520439"/>
            <a:ext cx="117729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Hybrid</a:t>
            </a:r>
          </a:p>
        </p:txBody>
      </p:sp>
      <p:sp>
        <p:nvSpPr>
          <p:cNvPr id="16" name="Oval 15"/>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7" name="Oval 16"/>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 name="Oval 17"/>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Agile Manifesto and Principles</a:t>
            </a:r>
          </a:p>
          <a:p>
            <a:pPr algn="l">
              <a:lnSpc>
                <a:spcPct val="110000"/>
              </a:lnSpc>
              <a:spcAft>
                <a:spcPts val="600"/>
              </a:spcAft>
            </a:pPr>
            <a:r>
              <a:rPr sz="1200" b="0" i="0">
                <a:solidFill>
                  <a:srgbClr val="330066"/>
                </a:solidFill>
                <a:latin typeface="Courier New"/>
              </a:rPr>
              <a:t>https://agilemanifesto.org</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The Scrum Guide</a:t>
            </a:r>
          </a:p>
          <a:p>
            <a:pPr algn="l">
              <a:lnSpc>
                <a:spcPct val="110000"/>
              </a:lnSpc>
              <a:spcAft>
                <a:spcPts val="600"/>
              </a:spcAft>
            </a:pPr>
            <a:r>
              <a:rPr sz="1200" b="0" i="0">
                <a:solidFill>
                  <a:srgbClr val="330066"/>
                </a:solidFill>
                <a:latin typeface="Courier New"/>
              </a:rPr>
              <a:t>https://scrumguides.org</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Atlassian Agile Coach</a:t>
            </a:r>
          </a:p>
          <a:p>
            <a:pPr algn="l">
              <a:lnSpc>
                <a:spcPct val="110000"/>
              </a:lnSpc>
              <a:spcAft>
                <a:spcPts val="600"/>
              </a:spcAft>
            </a:pPr>
            <a:r>
              <a:rPr sz="1200" b="0" i="0">
                <a:solidFill>
                  <a:srgbClr val="330066"/>
                </a:solidFill>
                <a:latin typeface="Courier New"/>
              </a:rPr>
              <a:t>https://www.atlassian.com/agile</a:t>
            </a:r>
          </a:p>
        </p:txBody>
      </p:sp>
      <p:sp>
        <p:nvSpPr>
          <p:cNvPr id="9" name="TextBox 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33 / 33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Oval 2"/>
          <p:cNvSpPr/>
          <p:nvPr/>
        </p:nvSpPr>
        <p:spPr>
          <a:xfrm>
            <a:off x="612648" y="169164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1</a:t>
            </a:r>
          </a:p>
        </p:txBody>
      </p:sp>
      <p:sp>
        <p:nvSpPr>
          <p:cNvPr id="4" name="TextBox 3"/>
          <p:cNvSpPr txBox="1"/>
          <p:nvPr/>
        </p:nvSpPr>
        <p:spPr>
          <a:xfrm>
            <a:off x="1298448" y="1728216"/>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Explain what a delivery model is and why teams need one.</a:t>
            </a:r>
          </a:p>
        </p:txBody>
      </p:sp>
      <p:sp>
        <p:nvSpPr>
          <p:cNvPr id="5" name="Oval 4"/>
          <p:cNvSpPr/>
          <p:nvPr/>
        </p:nvSpPr>
        <p:spPr>
          <a:xfrm>
            <a:off x="612648" y="2441448"/>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2</a:t>
            </a:r>
          </a:p>
        </p:txBody>
      </p:sp>
      <p:sp>
        <p:nvSpPr>
          <p:cNvPr id="6" name="TextBox 5"/>
          <p:cNvSpPr txBox="1"/>
          <p:nvPr/>
        </p:nvSpPr>
        <p:spPr>
          <a:xfrm>
            <a:off x="1298448" y="2478024"/>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Compare Waterfall and the V-Model, including the late-testing problem.</a:t>
            </a:r>
          </a:p>
        </p:txBody>
      </p:sp>
      <p:sp>
        <p:nvSpPr>
          <p:cNvPr id="7" name="Oval 6"/>
          <p:cNvSpPr/>
          <p:nvPr/>
        </p:nvSpPr>
        <p:spPr>
          <a:xfrm>
            <a:off x="612648" y="3191256"/>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3</a:t>
            </a:r>
          </a:p>
        </p:txBody>
      </p:sp>
      <p:sp>
        <p:nvSpPr>
          <p:cNvPr id="8" name="TextBox 7"/>
          <p:cNvSpPr txBox="1"/>
          <p:nvPr/>
        </p:nvSpPr>
        <p:spPr>
          <a:xfrm>
            <a:off x="1298448" y="3227832"/>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Explain Agile values and principles, and iterative vs incremental delivery.</a:t>
            </a:r>
          </a:p>
        </p:txBody>
      </p:sp>
      <p:sp>
        <p:nvSpPr>
          <p:cNvPr id="9" name="Oval 8"/>
          <p:cNvSpPr/>
          <p:nvPr/>
        </p:nvSpPr>
        <p:spPr>
          <a:xfrm>
            <a:off x="612648" y="3941064"/>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4</a:t>
            </a:r>
          </a:p>
        </p:txBody>
      </p:sp>
      <p:sp>
        <p:nvSpPr>
          <p:cNvPr id="10" name="TextBox 9"/>
          <p:cNvSpPr txBox="1"/>
          <p:nvPr/>
        </p:nvSpPr>
        <p:spPr>
          <a:xfrm>
            <a:off x="1298448" y="3977640"/>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Describe Scrum at a glance, and Kanban's board, WIP limits and flow.</a:t>
            </a:r>
          </a:p>
        </p:txBody>
      </p:sp>
      <p:sp>
        <p:nvSpPr>
          <p:cNvPr id="11" name="Oval 10"/>
          <p:cNvSpPr/>
          <p:nvPr/>
        </p:nvSpPr>
        <p:spPr>
          <a:xfrm>
            <a:off x="612648" y="4690872"/>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5</a:t>
            </a:r>
          </a:p>
        </p:txBody>
      </p:sp>
      <p:sp>
        <p:nvSpPr>
          <p:cNvPr id="12" name="TextBox 11"/>
          <p:cNvSpPr txBox="1"/>
          <p:nvPr/>
        </p:nvSpPr>
        <p:spPr>
          <a:xfrm>
            <a:off x="1298448" y="4727448"/>
            <a:ext cx="10287000" cy="704087"/>
          </a:xfrm>
          <a:prstGeom prst="rect">
            <a:avLst/>
          </a:prstGeom>
          <a:noFill/>
        </p:spPr>
        <p:txBody>
          <a:bodyPr wrap="square" lIns="0" tIns="0" rIns="0" bIns="0">
            <a:spAutoFit/>
          </a:bodyPr>
          <a:lstStyle/>
          <a:p>
            <a:pPr>
              <a:spcAft>
                <a:spcPts val="600"/>
              </a:spcAft>
            </a:pPr>
            <a:r>
              <a:rPr sz="2000" b="0">
                <a:solidFill>
                  <a:srgbClr val="1A1A1A"/>
                </a:solidFill>
                <a:latin typeface="Arial"/>
              </a:rPr>
              <a:t>Choose a model or hybrid for a project and place the QE in it.</a:t>
            </a:r>
          </a:p>
        </p:txBody>
      </p:sp>
      <p:sp>
        <p:nvSpPr>
          <p:cNvPr id="13" name="TextBox 12"/>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 / 33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Delivery Model?</a:t>
            </a:r>
          </a:p>
        </p:txBody>
      </p:sp>
      <p:sp>
        <p:nvSpPr>
          <p:cNvPr id="3" name="Text Placeholder 2"/>
          <p:cNvSpPr>
            <a:spLocks noGrp="1"/>
          </p:cNvSpPr>
          <p:nvPr>
            <p:ph type="body" idx="1"/>
          </p:nvPr>
        </p:nvSpPr>
        <p:spPr/>
        <p:txBody>
          <a:bodyPr/>
          <a:lstStyle/>
          <a:p>
            <a:r>
              <a:t>Methodology, the cooking analogy, iterative versus incremental</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01</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 / 33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Delivery Model Defined</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A delivery model (methodology, process model) is an agreed way to organise the SDLC phases.</a:t>
            </a:r>
          </a:p>
        </p:txBody>
      </p:sp>
      <p:sp>
        <p:nvSpPr>
          <p:cNvPr id="5" name="TextBox 4"/>
          <p:cNvSpPr txBox="1"/>
          <p:nvPr/>
        </p:nvSpPr>
        <p:spPr>
          <a:xfrm>
            <a:off x="612648" y="2240280"/>
            <a:ext cx="10972800" cy="3703320"/>
          </a:xfrm>
          <a:prstGeom prst="rect">
            <a:avLst/>
          </a:prstGeom>
          <a:noFill/>
        </p:spPr>
        <p:txBody>
          <a:bodyPr wrap="square" lIns="0" tIns="0" rIns="0" bIns="0">
            <a:spAutoFit/>
          </a:bodyPr>
          <a:lstStyle/>
          <a:p>
            <a:pPr marL="285750" indent="-285750">
              <a:spcAft>
                <a:spcPts val="2300"/>
              </a:spcAft>
              <a:buFont typeface="Arial"/>
              <a:buChar char="•"/>
            </a:pPr>
            <a:r>
              <a:rPr sz="2200" b="0">
                <a:solidFill>
                  <a:srgbClr val="1A1A1A"/>
                </a:solidFill>
                <a:latin typeface="Arial"/>
              </a:rPr>
              <a:t>Same SDLC phases in every model</a:t>
            </a:r>
          </a:p>
          <a:p>
            <a:pPr marL="285750" indent="-285750">
              <a:spcAft>
                <a:spcPts val="2300"/>
              </a:spcAft>
              <a:buFont typeface="Arial"/>
              <a:buChar char="•"/>
            </a:pPr>
            <a:r>
              <a:rPr sz="2200" b="0">
                <a:solidFill>
                  <a:srgbClr val="1A1A1A"/>
                </a:solidFill>
                <a:latin typeface="Arial"/>
              </a:rPr>
              <a:t>Models differ in the order, size and overlap of phases</a:t>
            </a:r>
          </a:p>
          <a:p>
            <a:pPr marL="285750" indent="-285750">
              <a:spcAft>
                <a:spcPts val="2300"/>
              </a:spcAft>
              <a:buFont typeface="Arial"/>
              <a:buChar char="•"/>
            </a:pPr>
            <a:r>
              <a:rPr sz="2200" b="0">
                <a:solidFill>
                  <a:srgbClr val="1A1A1A"/>
                </a:solidFill>
                <a:latin typeface="Arial"/>
              </a:rPr>
              <a:t>They decide when users first see working software</a:t>
            </a:r>
          </a:p>
          <a:p>
            <a:pPr marL="285750" indent="-285750">
              <a:spcAft>
                <a:spcPts val="2300"/>
              </a:spcAft>
              <a:buFont typeface="Arial"/>
              <a:buChar char="•"/>
            </a:pPr>
            <a:r>
              <a:rPr sz="2200" b="0">
                <a:solidFill>
                  <a:srgbClr val="1A1A1A"/>
                </a:solidFill>
                <a:latin typeface="Arial"/>
              </a:rPr>
              <a:t>They decide when, and how often, testing happens</a:t>
            </a:r>
          </a:p>
          <a:p>
            <a:pPr marL="285750" indent="-285750">
              <a:spcAft>
                <a:spcPts val="2300"/>
              </a:spcAft>
              <a:buFont typeface="Arial"/>
              <a:buChar char="•"/>
            </a:pPr>
            <a:r>
              <a:rPr sz="2200" b="0">
                <a:solidFill>
                  <a:srgbClr val="1A1A1A"/>
                </a:solidFill>
                <a:latin typeface="Arial"/>
              </a:rPr>
              <a:t>Choose the model that fits the project, not the fashion</a:t>
            </a:r>
          </a:p>
        </p:txBody>
      </p:sp>
      <p:sp>
        <p:nvSpPr>
          <p:cNvPr id="6" name="TextBox 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4 / 33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Cooking Analogy</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Rounded Rectangle 3"/>
          <p:cNvSpPr/>
          <p:nvPr/>
        </p:nvSpPr>
        <p:spPr>
          <a:xfrm>
            <a:off x="612648" y="1645920"/>
            <a:ext cx="5372100" cy="310896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5" name="TextBox 4"/>
          <p:cNvSpPr txBox="1"/>
          <p:nvPr/>
        </p:nvSpPr>
        <p:spPr>
          <a:xfrm>
            <a:off x="813816" y="1783080"/>
            <a:ext cx="4969764" cy="2834640"/>
          </a:xfrm>
          <a:prstGeom prst="rect">
            <a:avLst/>
          </a:prstGeom>
          <a:noFill/>
        </p:spPr>
        <p:txBody>
          <a:bodyPr wrap="square" lIns="0" tIns="0" rIns="0" bIns="0">
            <a:spAutoFit/>
          </a:bodyPr>
          <a:lstStyle/>
          <a:p>
            <a:pPr>
              <a:spcAft>
                <a:spcPts val="400"/>
              </a:spcAft>
            </a:pPr>
            <a:r>
              <a:rPr sz="1900" b="1">
                <a:solidFill>
                  <a:srgbClr val="330066"/>
                </a:solidFill>
                <a:latin typeface="Arial"/>
              </a:rPr>
              <a:t>Banquet for 200 (Waterfall)</a:t>
            </a:r>
          </a:p>
          <a:p>
            <a:pPr>
              <a:spcAft>
                <a:spcPts val="400"/>
              </a:spcAft>
            </a:pPr>
            <a:r>
              <a:rPr sz="1900" b="0">
                <a:solidFill>
                  <a:srgbClr val="1A1A1A"/>
                </a:solidFill>
                <a:latin typeface="Arial"/>
              </a:rPr>
              <a:t>Menu fixed weeks ahead. Shop, cook and plate everything. Guests taste only at the banquet; too-salty soup is too late to fix.</a:t>
            </a:r>
          </a:p>
        </p:txBody>
      </p:sp>
      <p:sp>
        <p:nvSpPr>
          <p:cNvPr id="6" name="Rounded Rectangle 5"/>
          <p:cNvSpPr/>
          <p:nvPr/>
        </p:nvSpPr>
        <p:spPr>
          <a:xfrm>
            <a:off x="6213348" y="1645920"/>
            <a:ext cx="5372100" cy="3108960"/>
          </a:xfrm>
          <a:prstGeom prst="roundRect">
            <a:avLst>
              <a:gd name="adj" fmla="val 12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7" name="TextBox 6"/>
          <p:cNvSpPr txBox="1"/>
          <p:nvPr/>
        </p:nvSpPr>
        <p:spPr>
          <a:xfrm>
            <a:off x="6414516" y="1783080"/>
            <a:ext cx="4969764" cy="2834640"/>
          </a:xfrm>
          <a:prstGeom prst="rect">
            <a:avLst/>
          </a:prstGeom>
          <a:noFill/>
        </p:spPr>
        <p:txBody>
          <a:bodyPr wrap="square" lIns="0" tIns="0" rIns="0" bIns="0">
            <a:spAutoFit/>
          </a:bodyPr>
          <a:lstStyle/>
          <a:p>
            <a:pPr>
              <a:spcAft>
                <a:spcPts val="400"/>
              </a:spcAft>
            </a:pPr>
            <a:r>
              <a:rPr sz="1900" b="1">
                <a:solidFill>
                  <a:srgbClr val="330066"/>
                </a:solidFill>
                <a:latin typeface="Arial"/>
              </a:rPr>
              <a:t>Dinner for friends (Agile)</a:t>
            </a:r>
          </a:p>
          <a:p>
            <a:pPr>
              <a:spcAft>
                <a:spcPts val="400"/>
              </a:spcAft>
            </a:pPr>
            <a:r>
              <a:rPr sz="1900" b="0">
                <a:solidFill>
                  <a:srgbClr val="1A1A1A"/>
                </a:solidFill>
                <a:latin typeface="Arial"/>
              </a:rPr>
              <a:t>Cook one dish, taste it, ask, adjust. Then the next dish. Surprises are caught early because feedback is constant.</a:t>
            </a:r>
          </a:p>
        </p:txBody>
      </p:sp>
      <p:sp>
        <p:nvSpPr>
          <p:cNvPr id="8" name="Rounded Rectangle 7"/>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9" name="TextBox 8"/>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ANALOGY</a:t>
            </a:r>
          </a:p>
          <a:p>
            <a:pPr>
              <a:spcAft>
                <a:spcPts val="300"/>
              </a:spcAft>
            </a:pPr>
            <a:r>
              <a:rPr sz="1600" b="0">
                <a:solidFill>
                  <a:srgbClr val="1A1A1A"/>
                </a:solidFill>
                <a:latin typeface="Arial"/>
              </a:rPr>
              <a:t>Neither is wrong: a banquet needs planning and discipline; a home dinner needs flexibility.</a:t>
            </a:r>
          </a:p>
        </p:txBody>
      </p:sp>
      <p:sp>
        <p:nvSpPr>
          <p:cNvPr id="10" name="TextBox 9"/>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5 / 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Iterative and Incremental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1</a:t>
            </a:r>
          </a:p>
        </p:txBody>
      </p:sp>
      <p:sp>
        <p:nvSpPr>
          <p:cNvPr id="4" name="TextBox 3"/>
          <p:cNvSpPr txBox="1"/>
          <p:nvPr/>
        </p:nvSpPr>
        <p:spPr>
          <a:xfrm>
            <a:off x="612648" y="1645920"/>
            <a:ext cx="5120640" cy="411480"/>
          </a:xfrm>
          <a:prstGeom prst="rect">
            <a:avLst/>
          </a:prstGeom>
          <a:noFill/>
        </p:spPr>
        <p:txBody>
          <a:bodyPr wrap="square" lIns="0" tIns="0" rIns="0" bIns="0">
            <a:spAutoFit/>
          </a:bodyPr>
          <a:lstStyle/>
          <a:p>
            <a:pPr>
              <a:spcAft>
                <a:spcPts val="600"/>
              </a:spcAft>
            </a:pPr>
            <a:r>
              <a:rPr sz="1800" b="1">
                <a:solidFill>
                  <a:srgbClr val="330066"/>
                </a:solidFill>
                <a:latin typeface="Arial"/>
              </a:rPr>
              <a:t>Iterative: repeat and improve</a:t>
            </a:r>
          </a:p>
        </p:txBody>
      </p:sp>
      <p:sp>
        <p:nvSpPr>
          <p:cNvPr id="5" name="Rounded Rectangle 4"/>
          <p:cNvSpPr/>
          <p:nvPr/>
        </p:nvSpPr>
        <p:spPr>
          <a:xfrm>
            <a:off x="2395728" y="2103120"/>
            <a:ext cx="1371600" cy="64008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Plan</a:t>
            </a:r>
          </a:p>
        </p:txBody>
      </p:sp>
      <p:sp>
        <p:nvSpPr>
          <p:cNvPr id="6" name="Rounded Rectangle 5"/>
          <p:cNvSpPr/>
          <p:nvPr/>
        </p:nvSpPr>
        <p:spPr>
          <a:xfrm>
            <a:off x="3995928" y="3063240"/>
            <a:ext cx="1371600" cy="64008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Build</a:t>
            </a:r>
          </a:p>
        </p:txBody>
      </p:sp>
      <p:sp>
        <p:nvSpPr>
          <p:cNvPr id="7" name="Rounded Rectangle 6"/>
          <p:cNvSpPr/>
          <p:nvPr/>
        </p:nvSpPr>
        <p:spPr>
          <a:xfrm>
            <a:off x="2395728" y="4023360"/>
            <a:ext cx="1371600" cy="64008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Test</a:t>
            </a:r>
          </a:p>
        </p:txBody>
      </p:sp>
      <p:sp>
        <p:nvSpPr>
          <p:cNvPr id="8" name="Rounded Rectangle 7"/>
          <p:cNvSpPr/>
          <p:nvPr/>
        </p:nvSpPr>
        <p:spPr>
          <a:xfrm>
            <a:off x="795528" y="3063240"/>
            <a:ext cx="1371600" cy="64008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Review</a:t>
            </a:r>
          </a:p>
        </p:txBody>
      </p:sp>
      <p:cxnSp>
        <p:nvCxnSpPr>
          <p:cNvPr id="9" name="Connector 8"/>
          <p:cNvCxnSpPr/>
          <p:nvPr/>
        </p:nvCxnSpPr>
        <p:spPr>
          <a:xfrm>
            <a:off x="3767328" y="2560320"/>
            <a:ext cx="777240" cy="45720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767328" y="3749040"/>
            <a:ext cx="777240" cy="45720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1618488" y="3749040"/>
            <a:ext cx="777240" cy="45720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618488" y="2560320"/>
            <a:ext cx="777240" cy="45720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09360" y="1645920"/>
            <a:ext cx="5303520" cy="411480"/>
          </a:xfrm>
          <a:prstGeom prst="rect">
            <a:avLst/>
          </a:prstGeom>
          <a:noFill/>
        </p:spPr>
        <p:txBody>
          <a:bodyPr wrap="square" lIns="0" tIns="0" rIns="0" bIns="0">
            <a:spAutoFit/>
          </a:bodyPr>
          <a:lstStyle/>
          <a:p>
            <a:pPr>
              <a:spcAft>
                <a:spcPts val="600"/>
              </a:spcAft>
            </a:pPr>
            <a:r>
              <a:rPr sz="1800" b="1">
                <a:solidFill>
                  <a:srgbClr val="330066"/>
                </a:solidFill>
                <a:latin typeface="Arial"/>
              </a:rPr>
              <a:t>Incremental: add usable pieces</a:t>
            </a:r>
          </a:p>
        </p:txBody>
      </p:sp>
      <p:sp>
        <p:nvSpPr>
          <p:cNvPr id="14" name="TextBox 13"/>
          <p:cNvSpPr txBox="1"/>
          <p:nvPr/>
        </p:nvSpPr>
        <p:spPr>
          <a:xfrm>
            <a:off x="6309360" y="2423160"/>
            <a:ext cx="1371600" cy="457200"/>
          </a:xfrm>
          <a:prstGeom prst="rect">
            <a:avLst/>
          </a:prstGeom>
          <a:noFill/>
        </p:spPr>
        <p:txBody>
          <a:bodyPr wrap="square" lIns="0" tIns="0" rIns="0" bIns="0">
            <a:spAutoFit/>
          </a:bodyPr>
          <a:lstStyle/>
          <a:p>
            <a:pPr>
              <a:spcAft>
                <a:spcPts val="600"/>
              </a:spcAft>
            </a:pPr>
            <a:r>
              <a:rPr sz="1500" b="0">
                <a:solidFill>
                  <a:srgbClr val="5A5A5A"/>
                </a:solidFill>
                <a:latin typeface="Arial"/>
              </a:rPr>
              <a:t>Release 1</a:t>
            </a:r>
          </a:p>
        </p:txBody>
      </p:sp>
      <p:sp>
        <p:nvSpPr>
          <p:cNvPr id="15" name="Rounded Rectangle 14"/>
          <p:cNvSpPr/>
          <p:nvPr/>
        </p:nvSpPr>
        <p:spPr>
          <a:xfrm>
            <a:off x="7772400" y="2240280"/>
            <a:ext cx="1188720" cy="65836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Search</a:t>
            </a:r>
          </a:p>
        </p:txBody>
      </p:sp>
      <p:sp>
        <p:nvSpPr>
          <p:cNvPr id="16" name="TextBox 15"/>
          <p:cNvSpPr txBox="1"/>
          <p:nvPr/>
        </p:nvSpPr>
        <p:spPr>
          <a:xfrm>
            <a:off x="6309360" y="3264408"/>
            <a:ext cx="1371600" cy="457200"/>
          </a:xfrm>
          <a:prstGeom prst="rect">
            <a:avLst/>
          </a:prstGeom>
          <a:noFill/>
        </p:spPr>
        <p:txBody>
          <a:bodyPr wrap="square" lIns="0" tIns="0" rIns="0" bIns="0">
            <a:spAutoFit/>
          </a:bodyPr>
          <a:lstStyle/>
          <a:p>
            <a:pPr>
              <a:spcAft>
                <a:spcPts val="600"/>
              </a:spcAft>
            </a:pPr>
            <a:r>
              <a:rPr sz="1500" b="0">
                <a:solidFill>
                  <a:srgbClr val="5A5A5A"/>
                </a:solidFill>
                <a:latin typeface="Arial"/>
              </a:rPr>
              <a:t>Release 2</a:t>
            </a:r>
          </a:p>
        </p:txBody>
      </p:sp>
      <p:sp>
        <p:nvSpPr>
          <p:cNvPr id="17" name="Rounded Rectangle 16"/>
          <p:cNvSpPr/>
          <p:nvPr/>
        </p:nvSpPr>
        <p:spPr>
          <a:xfrm>
            <a:off x="7772400" y="3081528"/>
            <a:ext cx="1188720" cy="65836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Search</a:t>
            </a:r>
          </a:p>
        </p:txBody>
      </p:sp>
      <p:sp>
        <p:nvSpPr>
          <p:cNvPr id="18" name="Rounded Rectangle 17"/>
          <p:cNvSpPr/>
          <p:nvPr/>
        </p:nvSpPr>
        <p:spPr>
          <a:xfrm>
            <a:off x="9052560" y="3081528"/>
            <a:ext cx="1188720" cy="65836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Cart</a:t>
            </a:r>
          </a:p>
        </p:txBody>
      </p:sp>
      <p:sp>
        <p:nvSpPr>
          <p:cNvPr id="19" name="TextBox 18"/>
          <p:cNvSpPr txBox="1"/>
          <p:nvPr/>
        </p:nvSpPr>
        <p:spPr>
          <a:xfrm>
            <a:off x="6309360" y="4105656"/>
            <a:ext cx="1371600" cy="457200"/>
          </a:xfrm>
          <a:prstGeom prst="rect">
            <a:avLst/>
          </a:prstGeom>
          <a:noFill/>
        </p:spPr>
        <p:txBody>
          <a:bodyPr wrap="square" lIns="0" tIns="0" rIns="0" bIns="0">
            <a:spAutoFit/>
          </a:bodyPr>
          <a:lstStyle/>
          <a:p>
            <a:pPr>
              <a:spcAft>
                <a:spcPts val="600"/>
              </a:spcAft>
            </a:pPr>
            <a:r>
              <a:rPr sz="1500" b="0">
                <a:solidFill>
                  <a:srgbClr val="5A5A5A"/>
                </a:solidFill>
                <a:latin typeface="Arial"/>
              </a:rPr>
              <a:t>Release 3</a:t>
            </a:r>
          </a:p>
        </p:txBody>
      </p:sp>
      <p:sp>
        <p:nvSpPr>
          <p:cNvPr id="20" name="Rounded Rectangle 19"/>
          <p:cNvSpPr/>
          <p:nvPr/>
        </p:nvSpPr>
        <p:spPr>
          <a:xfrm>
            <a:off x="7772400" y="3922776"/>
            <a:ext cx="1188720" cy="65836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Search</a:t>
            </a:r>
          </a:p>
        </p:txBody>
      </p:sp>
      <p:sp>
        <p:nvSpPr>
          <p:cNvPr id="21" name="Rounded Rectangle 20"/>
          <p:cNvSpPr/>
          <p:nvPr/>
        </p:nvSpPr>
        <p:spPr>
          <a:xfrm>
            <a:off x="9052560" y="3922776"/>
            <a:ext cx="1188720" cy="65836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Cart</a:t>
            </a:r>
          </a:p>
        </p:txBody>
      </p:sp>
      <p:sp>
        <p:nvSpPr>
          <p:cNvPr id="22" name="Rounded Rectangle 21"/>
          <p:cNvSpPr/>
          <p:nvPr/>
        </p:nvSpPr>
        <p:spPr>
          <a:xfrm>
            <a:off x="10332720" y="3922776"/>
            <a:ext cx="1188720" cy="65836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Pay</a:t>
            </a:r>
          </a:p>
        </p:txBody>
      </p:sp>
      <p:sp>
        <p:nvSpPr>
          <p:cNvPr id="23" name="Rounded Rectangle 22"/>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24" name="TextBox 23"/>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TOGETHER</a:t>
            </a:r>
          </a:p>
          <a:p>
            <a:pPr>
              <a:spcAft>
                <a:spcPts val="300"/>
              </a:spcAft>
            </a:pPr>
            <a:r>
              <a:rPr sz="1600" b="0">
                <a:solidFill>
                  <a:srgbClr val="1A1A1A"/>
                </a:solidFill>
                <a:latin typeface="Arial"/>
              </a:rPr>
              <a:t>Agile teams do both: each short cycle delivers a small, working, improved piece.</a:t>
            </a:r>
          </a:p>
        </p:txBody>
      </p:sp>
      <p:sp>
        <p:nvSpPr>
          <p:cNvPr id="25" name="TextBox 2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6 / 33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Sequential Models: Waterfall and V-Model</a:t>
            </a:r>
          </a:p>
        </p:txBody>
      </p:sp>
      <p:sp>
        <p:nvSpPr>
          <p:cNvPr id="3" name="Text Placeholder 2"/>
          <p:cNvSpPr>
            <a:spLocks noGrp="1"/>
          </p:cNvSpPr>
          <p:nvPr>
            <p:ph type="body" idx="1"/>
          </p:nvPr>
        </p:nvSpPr>
        <p:spPr/>
        <p:txBody>
          <a:bodyPr/>
          <a:lstStyle/>
          <a:p>
            <a:r>
              <a:t>One pass through the phases, and the late-testing problem</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02</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7 / 33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Waterfall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Rounded Rectangle 3"/>
          <p:cNvSpPr/>
          <p:nvPr/>
        </p:nvSpPr>
        <p:spPr>
          <a:xfrm>
            <a:off x="612648" y="1691640"/>
            <a:ext cx="237744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Requirements</a:t>
            </a:r>
          </a:p>
        </p:txBody>
      </p:sp>
      <p:sp>
        <p:nvSpPr>
          <p:cNvPr id="5" name="Rounded Rectangle 4"/>
          <p:cNvSpPr/>
          <p:nvPr/>
        </p:nvSpPr>
        <p:spPr>
          <a:xfrm>
            <a:off x="2029968" y="2350008"/>
            <a:ext cx="237744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Design</a:t>
            </a:r>
          </a:p>
        </p:txBody>
      </p:sp>
      <p:cxnSp>
        <p:nvCxnSpPr>
          <p:cNvPr id="6" name="Connector 5"/>
          <p:cNvCxnSpPr/>
          <p:nvPr/>
        </p:nvCxnSpPr>
        <p:spPr>
          <a:xfrm>
            <a:off x="1847088" y="1965960"/>
            <a:ext cx="411480" cy="36576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47288" y="3008376"/>
            <a:ext cx="237744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Implementation</a:t>
            </a:r>
          </a:p>
        </p:txBody>
      </p:sp>
      <p:cxnSp>
        <p:nvCxnSpPr>
          <p:cNvPr id="8" name="Connector 7"/>
          <p:cNvCxnSpPr/>
          <p:nvPr/>
        </p:nvCxnSpPr>
        <p:spPr>
          <a:xfrm>
            <a:off x="3264408" y="2624328"/>
            <a:ext cx="411479" cy="36576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4608" y="3666744"/>
            <a:ext cx="237744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Testing</a:t>
            </a:r>
          </a:p>
        </p:txBody>
      </p:sp>
      <p:cxnSp>
        <p:nvCxnSpPr>
          <p:cNvPr id="10" name="Connector 9"/>
          <p:cNvCxnSpPr/>
          <p:nvPr/>
        </p:nvCxnSpPr>
        <p:spPr>
          <a:xfrm>
            <a:off x="4681728" y="3282696"/>
            <a:ext cx="411480" cy="36576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81928" y="4325112"/>
            <a:ext cx="237744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Deployment</a:t>
            </a:r>
          </a:p>
        </p:txBody>
      </p:sp>
      <p:cxnSp>
        <p:nvCxnSpPr>
          <p:cNvPr id="12" name="Connector 11"/>
          <p:cNvCxnSpPr/>
          <p:nvPr/>
        </p:nvCxnSpPr>
        <p:spPr>
          <a:xfrm>
            <a:off x="6099048" y="3941064"/>
            <a:ext cx="411480" cy="36576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699248" y="4983479"/>
            <a:ext cx="2377440" cy="56692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Maintenance</a:t>
            </a:r>
          </a:p>
        </p:txBody>
      </p:sp>
      <p:cxnSp>
        <p:nvCxnSpPr>
          <p:cNvPr id="14" name="Connector 13"/>
          <p:cNvCxnSpPr/>
          <p:nvPr/>
        </p:nvCxnSpPr>
        <p:spPr>
          <a:xfrm>
            <a:off x="7516368" y="4599431"/>
            <a:ext cx="411480" cy="365761"/>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4663440"/>
            <a:ext cx="5486400" cy="1463040"/>
          </a:xfrm>
          <a:prstGeom prst="rect">
            <a:avLst/>
          </a:prstGeom>
          <a:noFill/>
        </p:spPr>
        <p:txBody>
          <a:bodyPr wrap="square" lIns="0" tIns="0" rIns="0" bIns="0">
            <a:spAutoFit/>
          </a:bodyPr>
          <a:lstStyle/>
          <a:p>
            <a:pPr marL="285750" indent="-285750">
              <a:spcAft>
                <a:spcPts val="600"/>
              </a:spcAft>
              <a:buFont typeface="Arial"/>
              <a:buChar char="•"/>
            </a:pPr>
            <a:r>
              <a:rPr sz="1700" b="0">
                <a:solidFill>
                  <a:srgbClr val="1A1A1A"/>
                </a:solidFill>
                <a:latin typeface="Arial"/>
              </a:rPr>
              <a:t>Each phase finishes before the next starts.</a:t>
            </a:r>
          </a:p>
          <a:p>
            <a:pPr marL="285750" indent="-285750">
              <a:spcAft>
                <a:spcPts val="600"/>
              </a:spcAft>
              <a:buFont typeface="Arial"/>
              <a:buChar char="•"/>
            </a:pPr>
            <a:r>
              <a:rPr sz="1700" b="0">
                <a:solidFill>
                  <a:srgbClr val="1A1A1A"/>
                </a:solidFill>
                <a:latin typeface="Arial"/>
              </a:rPr>
              <a:t>The output of one phase is the input of the next.</a:t>
            </a:r>
          </a:p>
        </p:txBody>
      </p:sp>
      <p:sp>
        <p:nvSpPr>
          <p:cNvPr id="16" name="TextBox 1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8 / 33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Waterfall: Strengths, Weaknesses, Fit</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Rounded Rectangle 3"/>
          <p:cNvSpPr/>
          <p:nvPr/>
        </p:nvSpPr>
        <p:spPr>
          <a:xfrm>
            <a:off x="612648" y="1645920"/>
            <a:ext cx="3505200" cy="452628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5" name="TextBox 4"/>
          <p:cNvSpPr txBox="1"/>
          <p:nvPr/>
        </p:nvSpPr>
        <p:spPr>
          <a:xfrm>
            <a:off x="813816" y="1783080"/>
            <a:ext cx="3102864" cy="4251960"/>
          </a:xfrm>
          <a:prstGeom prst="rect">
            <a:avLst/>
          </a:prstGeom>
          <a:noFill/>
        </p:spPr>
        <p:txBody>
          <a:bodyPr wrap="square" lIns="0" tIns="0" rIns="0" bIns="0">
            <a:spAutoFit/>
          </a:bodyPr>
          <a:lstStyle/>
          <a:p>
            <a:pPr>
              <a:spcAft>
                <a:spcPts val="400"/>
              </a:spcAft>
            </a:pPr>
            <a:r>
              <a:rPr sz="1800" b="1">
                <a:solidFill>
                  <a:srgbClr val="330066"/>
                </a:solidFill>
                <a:latin typeface="Arial"/>
              </a:rPr>
              <a:t>Strengths</a:t>
            </a:r>
          </a:p>
          <a:p>
            <a:pPr>
              <a:spcAft>
                <a:spcPts val="400"/>
              </a:spcAft>
            </a:pPr>
            <a:r>
              <a:rPr sz="1800" b="0">
                <a:solidFill>
                  <a:srgbClr val="1A1A1A"/>
                </a:solidFill>
                <a:latin typeface="Arial"/>
              </a:rPr>
              <a:t>Simple and clear. Firm milestones. Thorough documents for audits and handovers.</a:t>
            </a:r>
          </a:p>
        </p:txBody>
      </p:sp>
      <p:sp>
        <p:nvSpPr>
          <p:cNvPr id="6" name="Rounded Rectangle 5"/>
          <p:cNvSpPr/>
          <p:nvPr/>
        </p:nvSpPr>
        <p:spPr>
          <a:xfrm>
            <a:off x="4346448" y="1645920"/>
            <a:ext cx="3505200" cy="4526280"/>
          </a:xfrm>
          <a:prstGeom prst="roundRect">
            <a:avLst>
              <a:gd name="adj" fmla="val 12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7" name="TextBox 6"/>
          <p:cNvSpPr txBox="1"/>
          <p:nvPr/>
        </p:nvSpPr>
        <p:spPr>
          <a:xfrm>
            <a:off x="4547616" y="1783080"/>
            <a:ext cx="3102864" cy="4251960"/>
          </a:xfrm>
          <a:prstGeom prst="rect">
            <a:avLst/>
          </a:prstGeom>
          <a:noFill/>
        </p:spPr>
        <p:txBody>
          <a:bodyPr wrap="square" lIns="0" tIns="0" rIns="0" bIns="0">
            <a:spAutoFit/>
          </a:bodyPr>
          <a:lstStyle/>
          <a:p>
            <a:pPr>
              <a:spcAft>
                <a:spcPts val="400"/>
              </a:spcAft>
            </a:pPr>
            <a:r>
              <a:rPr sz="1800" b="1">
                <a:solidFill>
                  <a:srgbClr val="330066"/>
                </a:solidFill>
                <a:latin typeface="Arial"/>
              </a:rPr>
              <a:t>Weaknesses</a:t>
            </a:r>
          </a:p>
          <a:p>
            <a:pPr>
              <a:spcAft>
                <a:spcPts val="400"/>
              </a:spcAft>
            </a:pPr>
            <a:r>
              <a:rPr sz="1800" b="0">
                <a:solidFill>
                  <a:srgbClr val="1A1A1A"/>
                </a:solidFill>
                <a:latin typeface="Arial"/>
              </a:rPr>
              <a:t>Change is costly. Users see nothing until late. Risk and testing are squeezed at the end.</a:t>
            </a:r>
          </a:p>
        </p:txBody>
      </p:sp>
      <p:sp>
        <p:nvSpPr>
          <p:cNvPr id="8" name="Rounded Rectangle 7"/>
          <p:cNvSpPr/>
          <p:nvPr/>
        </p:nvSpPr>
        <p:spPr>
          <a:xfrm>
            <a:off x="8080248" y="1645920"/>
            <a:ext cx="3505200" cy="452628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9" name="TextBox 8"/>
          <p:cNvSpPr txBox="1"/>
          <p:nvPr/>
        </p:nvSpPr>
        <p:spPr>
          <a:xfrm>
            <a:off x="8281416" y="1783080"/>
            <a:ext cx="3102864" cy="4251960"/>
          </a:xfrm>
          <a:prstGeom prst="rect">
            <a:avLst/>
          </a:prstGeom>
          <a:noFill/>
        </p:spPr>
        <p:txBody>
          <a:bodyPr wrap="square" lIns="0" tIns="0" rIns="0" bIns="0">
            <a:spAutoFit/>
          </a:bodyPr>
          <a:lstStyle/>
          <a:p>
            <a:pPr>
              <a:spcAft>
                <a:spcPts val="400"/>
              </a:spcAft>
            </a:pPr>
            <a:r>
              <a:rPr sz="1800" b="1">
                <a:solidFill>
                  <a:srgbClr val="330066"/>
                </a:solidFill>
                <a:latin typeface="Arial"/>
              </a:rPr>
              <a:t>Use it when</a:t>
            </a:r>
          </a:p>
          <a:p>
            <a:pPr>
              <a:spcAft>
                <a:spcPts val="400"/>
              </a:spcAft>
            </a:pPr>
            <a:r>
              <a:rPr sz="1800" b="0">
                <a:solidFill>
                  <a:srgbClr val="1A1A1A"/>
                </a:solidFill>
                <a:latin typeface="Arial"/>
              </a:rPr>
              <a:t>Requirements are stable and well understood; the technology is familiar; documents are required.</a:t>
            </a:r>
          </a:p>
        </p:txBody>
      </p:sp>
      <p:sp>
        <p:nvSpPr>
          <p:cNvPr id="10" name="TextBox 9"/>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9 / 33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Late-Testing Problem</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In pure Waterfall, testing starts only after all the code is written.</a:t>
            </a:r>
          </a:p>
        </p:txBody>
      </p:sp>
      <p:sp>
        <p:nvSpPr>
          <p:cNvPr id="5" name="Rounded Rectangle 4"/>
          <p:cNvSpPr/>
          <p:nvPr/>
        </p:nvSpPr>
        <p:spPr>
          <a:xfrm>
            <a:off x="612648" y="2377440"/>
            <a:ext cx="1989734" cy="82296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Requirements</a:t>
            </a:r>
          </a:p>
        </p:txBody>
      </p:sp>
      <p:sp>
        <p:nvSpPr>
          <p:cNvPr id="6" name="Rounded Rectangle 5"/>
          <p:cNvSpPr/>
          <p:nvPr/>
        </p:nvSpPr>
        <p:spPr>
          <a:xfrm>
            <a:off x="2858414" y="2377440"/>
            <a:ext cx="1989734" cy="82296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Design</a:t>
            </a:r>
          </a:p>
        </p:txBody>
      </p:sp>
      <p:cxnSp>
        <p:nvCxnSpPr>
          <p:cNvPr id="7" name="Connector 6"/>
          <p:cNvCxnSpPr/>
          <p:nvPr/>
        </p:nvCxnSpPr>
        <p:spPr>
          <a:xfrm>
            <a:off x="2620670" y="2788920"/>
            <a:ext cx="219456"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104180" y="2377440"/>
            <a:ext cx="1989734" cy="82296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Code</a:t>
            </a:r>
          </a:p>
        </p:txBody>
      </p:sp>
      <p:cxnSp>
        <p:nvCxnSpPr>
          <p:cNvPr id="9" name="Connector 8"/>
          <p:cNvCxnSpPr/>
          <p:nvPr/>
        </p:nvCxnSpPr>
        <p:spPr>
          <a:xfrm>
            <a:off x="4866436" y="2788920"/>
            <a:ext cx="219456"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49947" y="2377440"/>
            <a:ext cx="1989734" cy="82296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Test</a:t>
            </a:r>
          </a:p>
        </p:txBody>
      </p:sp>
      <p:cxnSp>
        <p:nvCxnSpPr>
          <p:cNvPr id="11" name="Connector 10"/>
          <p:cNvCxnSpPr/>
          <p:nvPr/>
        </p:nvCxnSpPr>
        <p:spPr>
          <a:xfrm>
            <a:off x="7112203" y="2788920"/>
            <a:ext cx="219456"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595713" y="2377440"/>
            <a:ext cx="1989734" cy="82296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Release</a:t>
            </a:r>
          </a:p>
        </p:txBody>
      </p:sp>
      <p:cxnSp>
        <p:nvCxnSpPr>
          <p:cNvPr id="13" name="Connector 12"/>
          <p:cNvCxnSpPr/>
          <p:nvPr/>
        </p:nvCxnSpPr>
        <p:spPr>
          <a:xfrm>
            <a:off x="9357969" y="2788920"/>
            <a:ext cx="219456"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240219" y="2240280"/>
            <a:ext cx="4454956" cy="1097280"/>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15" name="TextBox 14"/>
          <p:cNvSpPr txBox="1"/>
          <p:nvPr/>
        </p:nvSpPr>
        <p:spPr>
          <a:xfrm>
            <a:off x="7258507" y="3429000"/>
            <a:ext cx="4389120" cy="457200"/>
          </a:xfrm>
          <a:prstGeom prst="rect">
            <a:avLst/>
          </a:prstGeom>
          <a:noFill/>
        </p:spPr>
        <p:txBody>
          <a:bodyPr wrap="square" lIns="0" tIns="0" rIns="0" bIns="0">
            <a:spAutoFit/>
          </a:bodyPr>
          <a:lstStyle/>
          <a:p>
            <a:pPr>
              <a:spcAft>
                <a:spcPts val="600"/>
              </a:spcAft>
            </a:pPr>
            <a:r>
              <a:rPr sz="1600" b="1">
                <a:solidFill>
                  <a:srgbClr val="C00000"/>
                </a:solidFill>
                <a:latin typeface="Arial"/>
              </a:rPr>
              <a:t>Most defects found here, at the end</a:t>
            </a:r>
          </a:p>
        </p:txBody>
      </p:sp>
      <p:sp>
        <p:nvSpPr>
          <p:cNvPr id="16" name="TextBox 15"/>
          <p:cNvSpPr txBox="1"/>
          <p:nvPr/>
        </p:nvSpPr>
        <p:spPr>
          <a:xfrm>
            <a:off x="612648" y="3977639"/>
            <a:ext cx="6400800" cy="914400"/>
          </a:xfrm>
          <a:prstGeom prst="rect">
            <a:avLst/>
          </a:prstGeom>
          <a:noFill/>
        </p:spPr>
        <p:txBody>
          <a:bodyPr wrap="square" lIns="0" tIns="0" rIns="0" bIns="0">
            <a:spAutoFit/>
          </a:bodyPr>
          <a:lstStyle/>
          <a:p>
            <a:pPr marL="285750" indent="-285750">
              <a:spcAft>
                <a:spcPts val="600"/>
              </a:spcAft>
              <a:buFont typeface="Arial"/>
              <a:buChar char="•"/>
            </a:pPr>
            <a:r>
              <a:rPr sz="1700" b="0">
                <a:solidFill>
                  <a:srgbClr val="1A1A1A"/>
                </a:solidFill>
                <a:latin typeface="Arial"/>
              </a:rPr>
              <a:t>A misunderstood requirement surfaces months later</a:t>
            </a:r>
          </a:p>
          <a:p>
            <a:pPr marL="285750" indent="-285750">
              <a:spcAft>
                <a:spcPts val="600"/>
              </a:spcAft>
              <a:buFont typeface="Arial"/>
              <a:buChar char="•"/>
            </a:pPr>
            <a:r>
              <a:rPr sz="1700" b="0">
                <a:solidFill>
                  <a:srgbClr val="1A1A1A"/>
                </a:solidFill>
                <a:latin typeface="Arial"/>
              </a:rPr>
              <a:t>Testing time is squeezed by earlier delays</a:t>
            </a:r>
          </a:p>
        </p:txBody>
      </p:sp>
      <p:sp>
        <p:nvSpPr>
          <p:cNvPr id="17" name="Rounded Rectangle 16"/>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18" name="TextBox 17"/>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GOOD PRACTICE</a:t>
            </a:r>
          </a:p>
          <a:p>
            <a:pPr>
              <a:spcAft>
                <a:spcPts val="300"/>
              </a:spcAft>
            </a:pPr>
            <a:r>
              <a:rPr sz="1600" b="0">
                <a:solidFill>
                  <a:srgbClr val="1A1A1A"/>
                </a:solidFill>
                <a:latin typeface="Arial"/>
              </a:rPr>
              <a:t>Even in Waterfall a QE reviews requirements and designs early (static testing) and writes test cases while code is built.</a:t>
            </a:r>
          </a:p>
        </p:txBody>
      </p:sp>
      <p:sp>
        <p:nvSpPr>
          <p:cNvPr id="19" name="TextBox 18"/>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10 / 33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V-Model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Rounded Rectangle 3"/>
          <p:cNvSpPr/>
          <p:nvPr/>
        </p:nvSpPr>
        <p:spPr>
          <a:xfrm>
            <a:off x="612648" y="1645920"/>
            <a:ext cx="3017520" cy="6400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Business requirements</a:t>
            </a:r>
          </a:p>
        </p:txBody>
      </p:sp>
      <p:sp>
        <p:nvSpPr>
          <p:cNvPr id="5" name="Rounded Rectangle 4"/>
          <p:cNvSpPr/>
          <p:nvPr/>
        </p:nvSpPr>
        <p:spPr>
          <a:xfrm>
            <a:off x="8567928" y="1645920"/>
            <a:ext cx="3017520" cy="6400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Acceptance testing</a:t>
            </a:r>
          </a:p>
        </p:txBody>
      </p:sp>
      <p:cxnSp>
        <p:nvCxnSpPr>
          <p:cNvPr id="6" name="Connector 5"/>
          <p:cNvCxnSpPr/>
          <p:nvPr/>
        </p:nvCxnSpPr>
        <p:spPr>
          <a:xfrm>
            <a:off x="3675888" y="1965960"/>
            <a:ext cx="4846320" cy="0"/>
          </a:xfrm>
          <a:prstGeom prst="line">
            <a:avLst/>
          </a:prstGeom>
          <a:ln w="22225">
            <a:solidFill>
              <a:srgbClr val="C55A11"/>
            </a:solidFill>
            <a:prstDash val="dash"/>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298448" y="2514600"/>
            <a:ext cx="3017520" cy="6400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System requirements</a:t>
            </a:r>
          </a:p>
        </p:txBody>
      </p:sp>
      <p:sp>
        <p:nvSpPr>
          <p:cNvPr id="8" name="Rounded Rectangle 7"/>
          <p:cNvSpPr/>
          <p:nvPr/>
        </p:nvSpPr>
        <p:spPr>
          <a:xfrm>
            <a:off x="7882128" y="2514600"/>
            <a:ext cx="3017520" cy="6400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System testing</a:t>
            </a:r>
          </a:p>
        </p:txBody>
      </p:sp>
      <p:cxnSp>
        <p:nvCxnSpPr>
          <p:cNvPr id="9" name="Connector 8"/>
          <p:cNvCxnSpPr/>
          <p:nvPr/>
        </p:nvCxnSpPr>
        <p:spPr>
          <a:xfrm>
            <a:off x="4361688" y="2834640"/>
            <a:ext cx="3474720" cy="0"/>
          </a:xfrm>
          <a:prstGeom prst="line">
            <a:avLst/>
          </a:prstGeom>
          <a:ln w="22225">
            <a:solidFill>
              <a:srgbClr val="C55A11"/>
            </a:solidFill>
            <a:prstDash val="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984248" y="3383280"/>
            <a:ext cx="3017520" cy="6400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High-level design</a:t>
            </a:r>
          </a:p>
        </p:txBody>
      </p:sp>
      <p:sp>
        <p:nvSpPr>
          <p:cNvPr id="11" name="Rounded Rectangle 10"/>
          <p:cNvSpPr/>
          <p:nvPr/>
        </p:nvSpPr>
        <p:spPr>
          <a:xfrm>
            <a:off x="7196328" y="3383280"/>
            <a:ext cx="3017520" cy="6400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Integration testing</a:t>
            </a:r>
          </a:p>
        </p:txBody>
      </p:sp>
      <p:cxnSp>
        <p:nvCxnSpPr>
          <p:cNvPr id="12" name="Connector 11"/>
          <p:cNvCxnSpPr/>
          <p:nvPr/>
        </p:nvCxnSpPr>
        <p:spPr>
          <a:xfrm>
            <a:off x="5047488" y="3703320"/>
            <a:ext cx="2103120" cy="0"/>
          </a:xfrm>
          <a:prstGeom prst="line">
            <a:avLst/>
          </a:prstGeom>
          <a:ln w="22225">
            <a:solidFill>
              <a:srgbClr val="C55A11"/>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70048" y="4251959"/>
            <a:ext cx="3017520" cy="6400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Detailed design</a:t>
            </a:r>
          </a:p>
        </p:txBody>
      </p:sp>
      <p:sp>
        <p:nvSpPr>
          <p:cNvPr id="14" name="Rounded Rectangle 13"/>
          <p:cNvSpPr/>
          <p:nvPr/>
        </p:nvSpPr>
        <p:spPr>
          <a:xfrm>
            <a:off x="6510528" y="4251959"/>
            <a:ext cx="3017520" cy="6400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Unit testing</a:t>
            </a:r>
          </a:p>
        </p:txBody>
      </p:sp>
      <p:cxnSp>
        <p:nvCxnSpPr>
          <p:cNvPr id="15" name="Connector 14"/>
          <p:cNvCxnSpPr/>
          <p:nvPr/>
        </p:nvCxnSpPr>
        <p:spPr>
          <a:xfrm>
            <a:off x="5733288" y="4571999"/>
            <a:ext cx="731520" cy="0"/>
          </a:xfrm>
          <a:prstGeom prst="line">
            <a:avLst/>
          </a:prstGeom>
          <a:ln w="22225">
            <a:solidFill>
              <a:srgbClr val="C55A11"/>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818888" y="5166360"/>
            <a:ext cx="2560320" cy="64008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Coding</a:t>
            </a:r>
          </a:p>
        </p:txBody>
      </p:sp>
      <p:cxnSp>
        <p:nvCxnSpPr>
          <p:cNvPr id="17" name="Connector 16"/>
          <p:cNvCxnSpPr/>
          <p:nvPr/>
        </p:nvCxnSpPr>
        <p:spPr>
          <a:xfrm>
            <a:off x="4133087" y="4910327"/>
            <a:ext cx="960121" cy="228601"/>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104888" y="4910327"/>
            <a:ext cx="960120" cy="228601"/>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2648" y="5897880"/>
            <a:ext cx="10972800" cy="365760"/>
          </a:xfrm>
          <a:prstGeom prst="rect">
            <a:avLst/>
          </a:prstGeom>
          <a:noFill/>
        </p:spPr>
        <p:txBody>
          <a:bodyPr wrap="square" lIns="0" tIns="0" rIns="0" bIns="0">
            <a:spAutoFit/>
          </a:bodyPr>
          <a:lstStyle/>
          <a:p>
            <a:pPr>
              <a:spcAft>
                <a:spcPts val="600"/>
              </a:spcAft>
            </a:pPr>
            <a:r>
              <a:rPr sz="1400" b="0">
                <a:solidFill>
                  <a:srgbClr val="5A5A5A"/>
                </a:solidFill>
                <a:latin typeface="Arial"/>
              </a:rPr>
              <a:t>Dashed lines: the test level planned from each development phase.</a:t>
            </a:r>
          </a:p>
        </p:txBody>
      </p:sp>
      <p:sp>
        <p:nvSpPr>
          <p:cNvPr id="20" name="TextBox 19"/>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11 / 33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V-Model: Strengths and Weaknesses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2</a:t>
            </a:r>
          </a:p>
        </p:txBody>
      </p:sp>
      <p:sp>
        <p:nvSpPr>
          <p:cNvPr id="4" name="Rounded Rectangle 3"/>
          <p:cNvSpPr/>
          <p:nvPr/>
        </p:nvSpPr>
        <p:spPr>
          <a:xfrm>
            <a:off x="612648" y="1645920"/>
            <a:ext cx="5372100" cy="310896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5" name="TextBox 4"/>
          <p:cNvSpPr txBox="1"/>
          <p:nvPr/>
        </p:nvSpPr>
        <p:spPr>
          <a:xfrm>
            <a:off x="813816" y="1783080"/>
            <a:ext cx="4969764" cy="2834640"/>
          </a:xfrm>
          <a:prstGeom prst="rect">
            <a:avLst/>
          </a:prstGeom>
          <a:noFill/>
        </p:spPr>
        <p:txBody>
          <a:bodyPr wrap="square" lIns="0" tIns="0" rIns="0" bIns="0">
            <a:spAutoFit/>
          </a:bodyPr>
          <a:lstStyle/>
          <a:p>
            <a:pPr>
              <a:spcAft>
                <a:spcPts val="400"/>
              </a:spcAft>
            </a:pPr>
            <a:r>
              <a:rPr sz="1900" b="1">
                <a:solidFill>
                  <a:srgbClr val="330066"/>
                </a:solidFill>
                <a:latin typeface="Arial"/>
              </a:rPr>
              <a:t>Strengths</a:t>
            </a:r>
          </a:p>
          <a:p>
            <a:pPr>
              <a:spcAft>
                <a:spcPts val="400"/>
              </a:spcAft>
            </a:pPr>
            <a:r>
              <a:rPr sz="1900" b="0">
                <a:solidFill>
                  <a:srgbClr val="1A1A1A"/>
                </a:solidFill>
                <a:latin typeface="Arial"/>
              </a:rPr>
              <a:t>Testing is planned early. Every phase has a matching quality check. Requirement defects are found sooner.</a:t>
            </a:r>
          </a:p>
        </p:txBody>
      </p:sp>
      <p:sp>
        <p:nvSpPr>
          <p:cNvPr id="6" name="Rounded Rectangle 5"/>
          <p:cNvSpPr/>
          <p:nvPr/>
        </p:nvSpPr>
        <p:spPr>
          <a:xfrm>
            <a:off x="6213348" y="1645920"/>
            <a:ext cx="5372100" cy="3108960"/>
          </a:xfrm>
          <a:prstGeom prst="roundRect">
            <a:avLst>
              <a:gd name="adj" fmla="val 12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7" name="TextBox 6"/>
          <p:cNvSpPr txBox="1"/>
          <p:nvPr/>
        </p:nvSpPr>
        <p:spPr>
          <a:xfrm>
            <a:off x="6414516" y="1783080"/>
            <a:ext cx="4969764" cy="2834640"/>
          </a:xfrm>
          <a:prstGeom prst="rect">
            <a:avLst/>
          </a:prstGeom>
          <a:noFill/>
        </p:spPr>
        <p:txBody>
          <a:bodyPr wrap="square" lIns="0" tIns="0" rIns="0" bIns="0">
            <a:spAutoFit/>
          </a:bodyPr>
          <a:lstStyle/>
          <a:p>
            <a:pPr>
              <a:spcAft>
                <a:spcPts val="400"/>
              </a:spcAft>
            </a:pPr>
            <a:r>
              <a:rPr sz="1900" b="1">
                <a:solidFill>
                  <a:srgbClr val="330066"/>
                </a:solidFill>
                <a:latin typeface="Arial"/>
              </a:rPr>
              <a:t>Weaknesses</a:t>
            </a:r>
          </a:p>
          <a:p>
            <a:pPr>
              <a:spcAft>
                <a:spcPts val="400"/>
              </a:spcAft>
            </a:pPr>
            <a:r>
              <a:rPr sz="1900" b="0">
                <a:solidFill>
                  <a:srgbClr val="1A1A1A"/>
                </a:solidFill>
                <a:latin typeface="Arial"/>
              </a:rPr>
              <a:t>Still sequential and rigid. Working software still arrives late.</a:t>
            </a:r>
          </a:p>
        </p:txBody>
      </p:sp>
      <p:sp>
        <p:nvSpPr>
          <p:cNvPr id="8" name="Rounded Rectangle 7"/>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9" name="TextBox 8"/>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WHERE YOU MEET IT</a:t>
            </a:r>
          </a:p>
          <a:p>
            <a:pPr>
              <a:spcAft>
                <a:spcPts val="300"/>
              </a:spcAft>
            </a:pPr>
            <a:r>
              <a:rPr sz="1600" b="0">
                <a:solidFill>
                  <a:srgbClr val="1A1A1A"/>
                </a:solidFill>
                <a:latin typeface="Arial"/>
              </a:rPr>
              <a:t>Common in regulated fields such as automotive, medical devices and aerospace.</a:t>
            </a:r>
          </a:p>
        </p:txBody>
      </p:sp>
      <p:sp>
        <p:nvSpPr>
          <p:cNvPr id="10" name="TextBox 9"/>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12 / 33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Agile</a:t>
            </a:r>
          </a:p>
        </p:txBody>
      </p:sp>
      <p:sp>
        <p:nvSpPr>
          <p:cNvPr id="3" name="Text Placeholder 2"/>
          <p:cNvSpPr>
            <a:spLocks noGrp="1"/>
          </p:cNvSpPr>
          <p:nvPr>
            <p:ph type="body" idx="1"/>
          </p:nvPr>
        </p:nvSpPr>
        <p:spPr/>
        <p:txBody>
          <a:bodyPr/>
          <a:lstStyle/>
          <a:p>
            <a:r>
              <a:t>Values, principles, iterative delivery and testing in Agile</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03</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13 / 33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Four Agile Values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By the 1990s many projects ran late or built the wrong thing. The 2001 Agile Manifesto named a different way.</a:t>
            </a:r>
          </a:p>
        </p:txBody>
      </p:sp>
      <p:graphicFrame>
        <p:nvGraphicFramePr>
          <p:cNvPr id="5" name="Table 4"/>
          <p:cNvGraphicFramePr>
            <a:graphicFrameLocks noGrp="1"/>
          </p:cNvGraphicFramePr>
          <p:nvPr/>
        </p:nvGraphicFramePr>
        <p:xfrm>
          <a:off x="612648" y="2240280"/>
          <a:ext cx="10972800" cy="3794755"/>
        </p:xfrm>
        <a:graphic>
          <a:graphicData uri="http://schemas.openxmlformats.org/drawingml/2006/table">
            <a:tbl>
              <a:tblPr/>
              <a:tblGrid>
                <a:gridCol w="3291840"/>
                <a:gridCol w="3291840"/>
                <a:gridCol w="4389120"/>
              </a:tblGrid>
              <a:tr h="758951">
                <a:tc>
                  <a:txBody>
                    <a:bodyPr/>
                    <a:lstStyle/>
                    <a:p>
                      <a:r>
                        <a:rPr sz="1700" b="1">
                          <a:solidFill>
                            <a:srgbClr val="FFFFFF"/>
                          </a:solidFill>
                          <a:latin typeface="Arial"/>
                        </a:rPr>
                        <a:t>We value…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…over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In plain words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r>
              <a:tr h="758951">
                <a:tc>
                  <a:txBody>
                    <a:bodyPr/>
                    <a:lstStyle/>
                    <a:p>
                      <a:r>
                        <a:rPr sz="1700" b="1">
                          <a:solidFill>
                            <a:srgbClr val="330066"/>
                          </a:solidFill>
                          <a:latin typeface="Arial"/>
                        </a:rPr>
                        <a:t>Individuals and interactions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Processes and tools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Good conversations solve more than forms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758951">
                <a:tc>
                  <a:txBody>
                    <a:bodyPr/>
                    <a:lstStyle/>
                    <a:p>
                      <a:r>
                        <a:rPr sz="1700" b="1">
                          <a:solidFill>
                            <a:srgbClr val="330066"/>
                          </a:solidFill>
                          <a:latin typeface="Arial"/>
                        </a:rPr>
                        <a:t>Working software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Comprehensive documentation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Show it working; document just enough</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758951">
                <a:tc>
                  <a:txBody>
                    <a:bodyPr/>
                    <a:lstStyle/>
                    <a:p>
                      <a:r>
                        <a:rPr sz="1700" b="1">
                          <a:solidFill>
                            <a:srgbClr val="330066"/>
                          </a:solidFill>
                          <a:latin typeface="Arial"/>
                        </a:rPr>
                        <a:t>Customer collaboration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Contract negotiation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Work with the customer all along</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758951">
                <a:tc>
                  <a:txBody>
                    <a:bodyPr/>
                    <a:lstStyle/>
                    <a:p>
                      <a:r>
                        <a:rPr sz="1700" b="1">
                          <a:solidFill>
                            <a:srgbClr val="330066"/>
                          </a:solidFill>
                          <a:latin typeface="Arial"/>
                        </a:rPr>
                        <a:t>Responding to change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Following a plan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A plan is a guide, not a cage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bl>
          </a:graphicData>
        </a:graphic>
      </p:graphicFrame>
      <p:sp>
        <p:nvSpPr>
          <p:cNvPr id="6" name="TextBox 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14 / 33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Twelve Agile Principles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Rounded Rectangle 3"/>
          <p:cNvSpPr/>
          <p:nvPr/>
        </p:nvSpPr>
        <p:spPr>
          <a:xfrm>
            <a:off x="612648" y="16916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1  </a:t>
            </a:r>
            <a:r>
              <a:rPr sz="1600" b="0">
                <a:solidFill>
                  <a:srgbClr val="1A1A1A"/>
                </a:solidFill>
                <a:latin typeface="Arial"/>
              </a:rPr>
              <a:t>Deliver value early and continuously</a:t>
            </a:r>
          </a:p>
        </p:txBody>
      </p:sp>
      <p:sp>
        <p:nvSpPr>
          <p:cNvPr id="5" name="Rounded Rectangle 4"/>
          <p:cNvSpPr/>
          <p:nvPr/>
        </p:nvSpPr>
        <p:spPr>
          <a:xfrm>
            <a:off x="3401568" y="16916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2  </a:t>
            </a:r>
            <a:r>
              <a:rPr sz="1600" b="0">
                <a:solidFill>
                  <a:srgbClr val="1A1A1A"/>
                </a:solidFill>
                <a:latin typeface="Arial"/>
              </a:rPr>
              <a:t>Welcome changing requirements</a:t>
            </a:r>
          </a:p>
        </p:txBody>
      </p:sp>
      <p:sp>
        <p:nvSpPr>
          <p:cNvPr id="6" name="Rounded Rectangle 5"/>
          <p:cNvSpPr/>
          <p:nvPr/>
        </p:nvSpPr>
        <p:spPr>
          <a:xfrm>
            <a:off x="6190488" y="16916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3  </a:t>
            </a:r>
            <a:r>
              <a:rPr sz="1600" b="0">
                <a:solidFill>
                  <a:srgbClr val="1A1A1A"/>
                </a:solidFill>
                <a:latin typeface="Arial"/>
              </a:rPr>
              <a:t>Deliver working software often</a:t>
            </a:r>
          </a:p>
        </p:txBody>
      </p:sp>
      <p:sp>
        <p:nvSpPr>
          <p:cNvPr id="7" name="Rounded Rectangle 6"/>
          <p:cNvSpPr/>
          <p:nvPr/>
        </p:nvSpPr>
        <p:spPr>
          <a:xfrm>
            <a:off x="8979408" y="16916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4  </a:t>
            </a:r>
            <a:r>
              <a:rPr sz="1600" b="0">
                <a:solidFill>
                  <a:srgbClr val="1A1A1A"/>
                </a:solidFill>
                <a:latin typeface="Arial"/>
              </a:rPr>
              <a:t>Business and developers work daily together</a:t>
            </a:r>
          </a:p>
        </p:txBody>
      </p:sp>
      <p:sp>
        <p:nvSpPr>
          <p:cNvPr id="8" name="Rounded Rectangle 7"/>
          <p:cNvSpPr/>
          <p:nvPr/>
        </p:nvSpPr>
        <p:spPr>
          <a:xfrm>
            <a:off x="612648" y="30632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5  </a:t>
            </a:r>
            <a:r>
              <a:rPr sz="1600" b="0">
                <a:solidFill>
                  <a:srgbClr val="1A1A1A"/>
                </a:solidFill>
                <a:latin typeface="Arial"/>
              </a:rPr>
              <a:t>Trust motivated people</a:t>
            </a:r>
          </a:p>
        </p:txBody>
      </p:sp>
      <p:sp>
        <p:nvSpPr>
          <p:cNvPr id="9" name="Rounded Rectangle 8"/>
          <p:cNvSpPr/>
          <p:nvPr/>
        </p:nvSpPr>
        <p:spPr>
          <a:xfrm>
            <a:off x="3401568" y="30632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6  </a:t>
            </a:r>
            <a:r>
              <a:rPr sz="1600" b="0">
                <a:solidFill>
                  <a:srgbClr val="1A1A1A"/>
                </a:solidFill>
                <a:latin typeface="Arial"/>
              </a:rPr>
              <a:t>Talk face to face</a:t>
            </a:r>
          </a:p>
        </p:txBody>
      </p:sp>
      <p:sp>
        <p:nvSpPr>
          <p:cNvPr id="10" name="Rounded Rectangle 9"/>
          <p:cNvSpPr/>
          <p:nvPr/>
        </p:nvSpPr>
        <p:spPr>
          <a:xfrm>
            <a:off x="6190488" y="30632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7  </a:t>
            </a:r>
            <a:r>
              <a:rPr sz="1600" b="0">
                <a:solidFill>
                  <a:srgbClr val="1A1A1A"/>
                </a:solidFill>
                <a:latin typeface="Arial"/>
              </a:rPr>
              <a:t>Working software shows progress</a:t>
            </a:r>
          </a:p>
        </p:txBody>
      </p:sp>
      <p:sp>
        <p:nvSpPr>
          <p:cNvPr id="11" name="Rounded Rectangle 10"/>
          <p:cNvSpPr/>
          <p:nvPr/>
        </p:nvSpPr>
        <p:spPr>
          <a:xfrm>
            <a:off x="8979408" y="30632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8  </a:t>
            </a:r>
            <a:r>
              <a:rPr sz="1600" b="0">
                <a:solidFill>
                  <a:srgbClr val="1A1A1A"/>
                </a:solidFill>
                <a:latin typeface="Arial"/>
              </a:rPr>
              <a:t>Keep a sustainable pace</a:t>
            </a:r>
          </a:p>
        </p:txBody>
      </p:sp>
      <p:sp>
        <p:nvSpPr>
          <p:cNvPr id="12" name="Rounded Rectangle 11"/>
          <p:cNvSpPr/>
          <p:nvPr/>
        </p:nvSpPr>
        <p:spPr>
          <a:xfrm>
            <a:off x="612648" y="44348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9  </a:t>
            </a:r>
            <a:r>
              <a:rPr sz="1600" b="0">
                <a:solidFill>
                  <a:srgbClr val="1A1A1A"/>
                </a:solidFill>
                <a:latin typeface="Arial"/>
              </a:rPr>
              <a:t>Technical excellence and good design</a:t>
            </a:r>
          </a:p>
        </p:txBody>
      </p:sp>
      <p:sp>
        <p:nvSpPr>
          <p:cNvPr id="13" name="Rounded Rectangle 12"/>
          <p:cNvSpPr/>
          <p:nvPr/>
        </p:nvSpPr>
        <p:spPr>
          <a:xfrm>
            <a:off x="3401568" y="44348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10  </a:t>
            </a:r>
            <a:r>
              <a:rPr sz="1600" b="0">
                <a:solidFill>
                  <a:srgbClr val="1A1A1A"/>
                </a:solidFill>
                <a:latin typeface="Arial"/>
              </a:rPr>
              <a:t>Simplicity: maximise work not done</a:t>
            </a:r>
          </a:p>
        </p:txBody>
      </p:sp>
      <p:sp>
        <p:nvSpPr>
          <p:cNvPr id="14" name="Rounded Rectangle 13"/>
          <p:cNvSpPr/>
          <p:nvPr/>
        </p:nvSpPr>
        <p:spPr>
          <a:xfrm>
            <a:off x="6190488" y="44348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11  </a:t>
            </a:r>
            <a:r>
              <a:rPr sz="1600" b="0">
                <a:solidFill>
                  <a:srgbClr val="1A1A1A"/>
                </a:solidFill>
                <a:latin typeface="Arial"/>
              </a:rPr>
              <a:t>Self-organising teams</a:t>
            </a:r>
          </a:p>
        </p:txBody>
      </p:sp>
      <p:sp>
        <p:nvSpPr>
          <p:cNvPr id="15" name="Rounded Rectangle 14"/>
          <p:cNvSpPr/>
          <p:nvPr/>
        </p:nvSpPr>
        <p:spPr>
          <a:xfrm>
            <a:off x="8979408" y="4434840"/>
            <a:ext cx="2606040" cy="1188720"/>
          </a:xfrm>
          <a:prstGeom prst="roundRect">
            <a:avLst>
              <a:gd name="adj" fmla="val 12000"/>
            </a:avLst>
          </a:prstGeom>
          <a:solidFill>
            <a:srgbClr val="E4DFEC"/>
          </a:solidFill>
          <a:ln w="19050">
            <a:solidFill>
              <a:srgbClr val="5B2C8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5B2C83"/>
                </a:solidFill>
                <a:latin typeface="Arial"/>
              </a:rPr>
              <a:t>12  </a:t>
            </a:r>
            <a:r>
              <a:rPr sz="1600" b="0">
                <a:solidFill>
                  <a:srgbClr val="1A1A1A"/>
                </a:solidFill>
                <a:latin typeface="Arial"/>
              </a:rPr>
              <a:t>Reflect and adjust regularly</a:t>
            </a:r>
          </a:p>
        </p:txBody>
      </p:sp>
      <p:sp>
        <p:nvSpPr>
          <p:cNvPr id="16" name="TextBox 1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15 / 33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Waterfall vs Agile Timeline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828800"/>
            <a:ext cx="1828800" cy="457200"/>
          </a:xfrm>
          <a:prstGeom prst="rect">
            <a:avLst/>
          </a:prstGeom>
          <a:noFill/>
        </p:spPr>
        <p:txBody>
          <a:bodyPr wrap="square" lIns="0" tIns="0" rIns="0" bIns="0">
            <a:spAutoFit/>
          </a:bodyPr>
          <a:lstStyle/>
          <a:p>
            <a:pPr>
              <a:spcAft>
                <a:spcPts val="600"/>
              </a:spcAft>
            </a:pPr>
            <a:r>
              <a:rPr sz="1700" b="1">
                <a:solidFill>
                  <a:srgbClr val="330066"/>
                </a:solidFill>
                <a:latin typeface="Arial"/>
              </a:rPr>
              <a:t>Waterfall</a:t>
            </a:r>
          </a:p>
        </p:txBody>
      </p:sp>
      <p:sp>
        <p:nvSpPr>
          <p:cNvPr id="5" name="Rounded Rectangle 4"/>
          <p:cNvSpPr/>
          <p:nvPr/>
        </p:nvSpPr>
        <p:spPr>
          <a:xfrm>
            <a:off x="2441448" y="1737360"/>
            <a:ext cx="1783080" cy="6858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Requirements</a:t>
            </a:r>
          </a:p>
        </p:txBody>
      </p:sp>
      <p:sp>
        <p:nvSpPr>
          <p:cNvPr id="6" name="Rounded Rectangle 5"/>
          <p:cNvSpPr/>
          <p:nvPr/>
        </p:nvSpPr>
        <p:spPr>
          <a:xfrm>
            <a:off x="4270248" y="1737360"/>
            <a:ext cx="1508760" cy="6858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Design</a:t>
            </a:r>
          </a:p>
        </p:txBody>
      </p:sp>
      <p:sp>
        <p:nvSpPr>
          <p:cNvPr id="7" name="Rounded Rectangle 6"/>
          <p:cNvSpPr/>
          <p:nvPr/>
        </p:nvSpPr>
        <p:spPr>
          <a:xfrm>
            <a:off x="5824728" y="1737360"/>
            <a:ext cx="2697480" cy="6858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Code</a:t>
            </a:r>
          </a:p>
        </p:txBody>
      </p:sp>
      <p:sp>
        <p:nvSpPr>
          <p:cNvPr id="8" name="Rounded Rectangle 7"/>
          <p:cNvSpPr/>
          <p:nvPr/>
        </p:nvSpPr>
        <p:spPr>
          <a:xfrm>
            <a:off x="8567928" y="1737360"/>
            <a:ext cx="1234439" cy="6858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Test</a:t>
            </a:r>
          </a:p>
        </p:txBody>
      </p:sp>
      <p:sp>
        <p:nvSpPr>
          <p:cNvPr id="9" name="Rounded Rectangle 8"/>
          <p:cNvSpPr/>
          <p:nvPr/>
        </p:nvSpPr>
        <p:spPr>
          <a:xfrm>
            <a:off x="9848088" y="1737360"/>
            <a:ext cx="1234439" cy="68580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Release</a:t>
            </a:r>
          </a:p>
        </p:txBody>
      </p:sp>
      <p:sp>
        <p:nvSpPr>
          <p:cNvPr id="10" name="TextBox 9"/>
          <p:cNvSpPr txBox="1"/>
          <p:nvPr/>
        </p:nvSpPr>
        <p:spPr>
          <a:xfrm>
            <a:off x="9756648" y="2514600"/>
            <a:ext cx="2743200" cy="365760"/>
          </a:xfrm>
          <a:prstGeom prst="rect">
            <a:avLst/>
          </a:prstGeom>
          <a:noFill/>
        </p:spPr>
        <p:txBody>
          <a:bodyPr wrap="square" lIns="0" tIns="0" rIns="0" bIns="0">
            <a:spAutoFit/>
          </a:bodyPr>
          <a:lstStyle/>
          <a:p>
            <a:pPr>
              <a:spcAft>
                <a:spcPts val="600"/>
              </a:spcAft>
            </a:pPr>
            <a:r>
              <a:rPr sz="1500" b="1">
                <a:solidFill>
                  <a:srgbClr val="C00000"/>
                </a:solidFill>
                <a:latin typeface="Arial"/>
              </a:rPr>
              <a:t>First feedback ▲</a:t>
            </a:r>
          </a:p>
        </p:txBody>
      </p:sp>
      <p:sp>
        <p:nvSpPr>
          <p:cNvPr id="11" name="TextBox 10"/>
          <p:cNvSpPr txBox="1"/>
          <p:nvPr/>
        </p:nvSpPr>
        <p:spPr>
          <a:xfrm>
            <a:off x="612648" y="3337560"/>
            <a:ext cx="1828800" cy="457200"/>
          </a:xfrm>
          <a:prstGeom prst="rect">
            <a:avLst/>
          </a:prstGeom>
          <a:noFill/>
        </p:spPr>
        <p:txBody>
          <a:bodyPr wrap="square" lIns="0" tIns="0" rIns="0" bIns="0">
            <a:spAutoFit/>
          </a:bodyPr>
          <a:lstStyle/>
          <a:p>
            <a:pPr>
              <a:spcAft>
                <a:spcPts val="600"/>
              </a:spcAft>
            </a:pPr>
            <a:r>
              <a:rPr sz="1700" b="1">
                <a:solidFill>
                  <a:srgbClr val="330066"/>
                </a:solidFill>
                <a:latin typeface="Arial"/>
              </a:rPr>
              <a:t>Agile</a:t>
            </a:r>
          </a:p>
        </p:txBody>
      </p:sp>
      <p:sp>
        <p:nvSpPr>
          <p:cNvPr id="12" name="Rounded Rectangle 11"/>
          <p:cNvSpPr/>
          <p:nvPr/>
        </p:nvSpPr>
        <p:spPr>
          <a:xfrm>
            <a:off x="2441448" y="3246120"/>
            <a:ext cx="141732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Cycle 1</a:t>
            </a:r>
          </a:p>
        </p:txBody>
      </p:sp>
      <p:sp>
        <p:nvSpPr>
          <p:cNvPr id="13" name="TextBox 12"/>
          <p:cNvSpPr txBox="1"/>
          <p:nvPr/>
        </p:nvSpPr>
        <p:spPr>
          <a:xfrm>
            <a:off x="2441448" y="4005072"/>
            <a:ext cx="1417320" cy="320040"/>
          </a:xfrm>
          <a:prstGeom prst="rect">
            <a:avLst/>
          </a:prstGeom>
          <a:noFill/>
        </p:spPr>
        <p:txBody>
          <a:bodyPr wrap="square" lIns="0" tIns="0" rIns="0" bIns="0">
            <a:spAutoFit/>
          </a:bodyPr>
          <a:lstStyle/>
          <a:p>
            <a:pPr algn="ctr">
              <a:spcAft>
                <a:spcPts val="600"/>
              </a:spcAft>
            </a:pPr>
            <a:r>
              <a:rPr sz="1300" b="0">
                <a:solidFill>
                  <a:srgbClr val="2E7D32"/>
                </a:solidFill>
                <a:latin typeface="Arial"/>
              </a:rPr>
              <a:t>release ▲</a:t>
            </a:r>
          </a:p>
        </p:txBody>
      </p:sp>
      <p:sp>
        <p:nvSpPr>
          <p:cNvPr id="14" name="Rounded Rectangle 13"/>
          <p:cNvSpPr/>
          <p:nvPr/>
        </p:nvSpPr>
        <p:spPr>
          <a:xfrm>
            <a:off x="3904487" y="3246120"/>
            <a:ext cx="141732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Cycle 2</a:t>
            </a:r>
          </a:p>
        </p:txBody>
      </p:sp>
      <p:sp>
        <p:nvSpPr>
          <p:cNvPr id="15" name="TextBox 14"/>
          <p:cNvSpPr txBox="1"/>
          <p:nvPr/>
        </p:nvSpPr>
        <p:spPr>
          <a:xfrm>
            <a:off x="3904487" y="4005072"/>
            <a:ext cx="1417320" cy="320040"/>
          </a:xfrm>
          <a:prstGeom prst="rect">
            <a:avLst/>
          </a:prstGeom>
          <a:noFill/>
        </p:spPr>
        <p:txBody>
          <a:bodyPr wrap="square" lIns="0" tIns="0" rIns="0" bIns="0">
            <a:spAutoFit/>
          </a:bodyPr>
          <a:lstStyle/>
          <a:p>
            <a:pPr algn="ctr">
              <a:spcAft>
                <a:spcPts val="600"/>
              </a:spcAft>
            </a:pPr>
            <a:r>
              <a:rPr sz="1300" b="0">
                <a:solidFill>
                  <a:srgbClr val="2E7D32"/>
                </a:solidFill>
                <a:latin typeface="Arial"/>
              </a:rPr>
              <a:t>release ▲</a:t>
            </a:r>
          </a:p>
        </p:txBody>
      </p:sp>
      <p:sp>
        <p:nvSpPr>
          <p:cNvPr id="16" name="Rounded Rectangle 15"/>
          <p:cNvSpPr/>
          <p:nvPr/>
        </p:nvSpPr>
        <p:spPr>
          <a:xfrm>
            <a:off x="5367527" y="3246120"/>
            <a:ext cx="141732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Cycle 3</a:t>
            </a:r>
          </a:p>
        </p:txBody>
      </p:sp>
      <p:sp>
        <p:nvSpPr>
          <p:cNvPr id="17" name="TextBox 16"/>
          <p:cNvSpPr txBox="1"/>
          <p:nvPr/>
        </p:nvSpPr>
        <p:spPr>
          <a:xfrm>
            <a:off x="5367527" y="4005072"/>
            <a:ext cx="1417320" cy="320040"/>
          </a:xfrm>
          <a:prstGeom prst="rect">
            <a:avLst/>
          </a:prstGeom>
          <a:noFill/>
        </p:spPr>
        <p:txBody>
          <a:bodyPr wrap="square" lIns="0" tIns="0" rIns="0" bIns="0">
            <a:spAutoFit/>
          </a:bodyPr>
          <a:lstStyle/>
          <a:p>
            <a:pPr algn="ctr">
              <a:spcAft>
                <a:spcPts val="600"/>
              </a:spcAft>
            </a:pPr>
            <a:r>
              <a:rPr sz="1300" b="0">
                <a:solidFill>
                  <a:srgbClr val="2E7D32"/>
                </a:solidFill>
                <a:latin typeface="Arial"/>
              </a:rPr>
              <a:t>release ▲</a:t>
            </a:r>
          </a:p>
        </p:txBody>
      </p:sp>
      <p:sp>
        <p:nvSpPr>
          <p:cNvPr id="18" name="Rounded Rectangle 17"/>
          <p:cNvSpPr/>
          <p:nvPr/>
        </p:nvSpPr>
        <p:spPr>
          <a:xfrm>
            <a:off x="6830567" y="3246120"/>
            <a:ext cx="141732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Cycle 4</a:t>
            </a:r>
          </a:p>
        </p:txBody>
      </p:sp>
      <p:sp>
        <p:nvSpPr>
          <p:cNvPr id="19" name="TextBox 18"/>
          <p:cNvSpPr txBox="1"/>
          <p:nvPr/>
        </p:nvSpPr>
        <p:spPr>
          <a:xfrm>
            <a:off x="6830567" y="4005072"/>
            <a:ext cx="1417320" cy="320040"/>
          </a:xfrm>
          <a:prstGeom prst="rect">
            <a:avLst/>
          </a:prstGeom>
          <a:noFill/>
        </p:spPr>
        <p:txBody>
          <a:bodyPr wrap="square" lIns="0" tIns="0" rIns="0" bIns="0">
            <a:spAutoFit/>
          </a:bodyPr>
          <a:lstStyle/>
          <a:p>
            <a:pPr algn="ctr">
              <a:spcAft>
                <a:spcPts val="600"/>
              </a:spcAft>
            </a:pPr>
            <a:r>
              <a:rPr sz="1300" b="0">
                <a:solidFill>
                  <a:srgbClr val="2E7D32"/>
                </a:solidFill>
                <a:latin typeface="Arial"/>
              </a:rPr>
              <a:t>release ▲</a:t>
            </a:r>
          </a:p>
        </p:txBody>
      </p:sp>
      <p:sp>
        <p:nvSpPr>
          <p:cNvPr id="20" name="Rounded Rectangle 19"/>
          <p:cNvSpPr/>
          <p:nvPr/>
        </p:nvSpPr>
        <p:spPr>
          <a:xfrm>
            <a:off x="8293607" y="3246120"/>
            <a:ext cx="141732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Cycle 5</a:t>
            </a:r>
          </a:p>
        </p:txBody>
      </p:sp>
      <p:sp>
        <p:nvSpPr>
          <p:cNvPr id="21" name="TextBox 20"/>
          <p:cNvSpPr txBox="1"/>
          <p:nvPr/>
        </p:nvSpPr>
        <p:spPr>
          <a:xfrm>
            <a:off x="8293607" y="4005072"/>
            <a:ext cx="1417320" cy="320040"/>
          </a:xfrm>
          <a:prstGeom prst="rect">
            <a:avLst/>
          </a:prstGeom>
          <a:noFill/>
        </p:spPr>
        <p:txBody>
          <a:bodyPr wrap="square" lIns="0" tIns="0" rIns="0" bIns="0">
            <a:spAutoFit/>
          </a:bodyPr>
          <a:lstStyle/>
          <a:p>
            <a:pPr algn="ctr">
              <a:spcAft>
                <a:spcPts val="600"/>
              </a:spcAft>
            </a:pPr>
            <a:r>
              <a:rPr sz="1300" b="0">
                <a:solidFill>
                  <a:srgbClr val="2E7D32"/>
                </a:solidFill>
                <a:latin typeface="Arial"/>
              </a:rPr>
              <a:t>release ▲</a:t>
            </a:r>
          </a:p>
        </p:txBody>
      </p:sp>
      <p:sp>
        <p:nvSpPr>
          <p:cNvPr id="22" name="Rounded Rectangle 21"/>
          <p:cNvSpPr/>
          <p:nvPr/>
        </p:nvSpPr>
        <p:spPr>
          <a:xfrm>
            <a:off x="9756647" y="3246120"/>
            <a:ext cx="1417320" cy="68580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Cycle 6</a:t>
            </a:r>
          </a:p>
        </p:txBody>
      </p:sp>
      <p:sp>
        <p:nvSpPr>
          <p:cNvPr id="23" name="TextBox 22"/>
          <p:cNvSpPr txBox="1"/>
          <p:nvPr/>
        </p:nvSpPr>
        <p:spPr>
          <a:xfrm>
            <a:off x="9756647" y="4005072"/>
            <a:ext cx="1417320" cy="320040"/>
          </a:xfrm>
          <a:prstGeom prst="rect">
            <a:avLst/>
          </a:prstGeom>
          <a:noFill/>
        </p:spPr>
        <p:txBody>
          <a:bodyPr wrap="square" lIns="0" tIns="0" rIns="0" bIns="0">
            <a:spAutoFit/>
          </a:bodyPr>
          <a:lstStyle/>
          <a:p>
            <a:pPr algn="ctr">
              <a:spcAft>
                <a:spcPts val="600"/>
              </a:spcAft>
            </a:pPr>
            <a:r>
              <a:rPr sz="1300" b="0">
                <a:solidFill>
                  <a:srgbClr val="2E7D32"/>
                </a:solidFill>
                <a:latin typeface="Arial"/>
              </a:rPr>
              <a:t>release ▲</a:t>
            </a:r>
          </a:p>
        </p:txBody>
      </p:sp>
      <p:cxnSp>
        <p:nvCxnSpPr>
          <p:cNvPr id="24" name="Connector 23"/>
          <p:cNvCxnSpPr/>
          <p:nvPr/>
        </p:nvCxnSpPr>
        <p:spPr>
          <a:xfrm>
            <a:off x="2441448" y="4709160"/>
            <a:ext cx="9144000"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213848" y="4800600"/>
            <a:ext cx="1371600" cy="365760"/>
          </a:xfrm>
          <a:prstGeom prst="rect">
            <a:avLst/>
          </a:prstGeom>
          <a:noFill/>
        </p:spPr>
        <p:txBody>
          <a:bodyPr wrap="square" lIns="0" tIns="0" rIns="0" bIns="0">
            <a:spAutoFit/>
          </a:bodyPr>
          <a:lstStyle/>
          <a:p>
            <a:pPr algn="r">
              <a:spcAft>
                <a:spcPts val="600"/>
              </a:spcAft>
            </a:pPr>
            <a:r>
              <a:rPr sz="1400" b="0">
                <a:solidFill>
                  <a:srgbClr val="5A5A5A"/>
                </a:solidFill>
                <a:latin typeface="Arial"/>
              </a:rPr>
              <a:t>time</a:t>
            </a:r>
          </a:p>
        </p:txBody>
      </p:sp>
      <p:sp>
        <p:nvSpPr>
          <p:cNvPr id="26" name="TextBox 25"/>
          <p:cNvSpPr txBox="1"/>
          <p:nvPr/>
        </p:nvSpPr>
        <p:spPr>
          <a:xfrm>
            <a:off x="612648" y="5212080"/>
            <a:ext cx="10972800" cy="822960"/>
          </a:xfrm>
          <a:prstGeom prst="rect">
            <a:avLst/>
          </a:prstGeom>
          <a:noFill/>
        </p:spPr>
        <p:txBody>
          <a:bodyPr wrap="square" lIns="0" tIns="0" rIns="0" bIns="0">
            <a:spAutoFit/>
          </a:bodyPr>
          <a:lstStyle/>
          <a:p>
            <a:pPr>
              <a:spcAft>
                <a:spcPts val="600"/>
              </a:spcAft>
            </a:pPr>
            <a:r>
              <a:rPr sz="1700" b="0">
                <a:solidFill>
                  <a:srgbClr val="1A1A1A"/>
                </a:solidFill>
                <a:latin typeface="Arial"/>
              </a:rPr>
              <a:t>Each Agile cycle (1–4 weeks) plans, designs, builds, tests and releases a small piece.</a:t>
            </a:r>
          </a:p>
        </p:txBody>
      </p:sp>
      <p:sp>
        <p:nvSpPr>
          <p:cNvPr id="27" name="TextBox 26"/>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16 / 33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Agile: Benefits and Challenges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Rounded Rectangle 3"/>
          <p:cNvSpPr/>
          <p:nvPr/>
        </p:nvSpPr>
        <p:spPr>
          <a:xfrm>
            <a:off x="612648" y="1645920"/>
            <a:ext cx="5372100" cy="4526280"/>
          </a:xfrm>
          <a:prstGeom prst="roundRect">
            <a:avLst>
              <a:gd name="adj" fmla="val 12000"/>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5" name="TextBox 4"/>
          <p:cNvSpPr txBox="1"/>
          <p:nvPr/>
        </p:nvSpPr>
        <p:spPr>
          <a:xfrm>
            <a:off x="813816" y="1783080"/>
            <a:ext cx="4969764" cy="4251960"/>
          </a:xfrm>
          <a:prstGeom prst="rect">
            <a:avLst/>
          </a:prstGeom>
          <a:noFill/>
        </p:spPr>
        <p:txBody>
          <a:bodyPr wrap="square" lIns="0" tIns="0" rIns="0" bIns="0">
            <a:spAutoFit/>
          </a:bodyPr>
          <a:lstStyle/>
          <a:p>
            <a:pPr>
              <a:spcAft>
                <a:spcPts val="400"/>
              </a:spcAft>
            </a:pPr>
            <a:r>
              <a:rPr sz="1900" b="1">
                <a:solidFill>
                  <a:srgbClr val="330066"/>
                </a:solidFill>
                <a:latin typeface="Arial"/>
              </a:rPr>
              <a:t>Benefits</a:t>
            </a:r>
          </a:p>
          <a:p>
            <a:pPr>
              <a:spcAft>
                <a:spcPts val="400"/>
              </a:spcAft>
            </a:pPr>
            <a:r>
              <a:rPr sz="1900" b="0">
                <a:solidFill>
                  <a:srgbClr val="1A1A1A"/>
                </a:solidFill>
                <a:latin typeface="Arial"/>
              </a:rPr>
              <a:t>Value delivered early. Constant feedback. Change is cheaper. Defects found sooner. Progress is visible.</a:t>
            </a:r>
          </a:p>
        </p:txBody>
      </p:sp>
      <p:sp>
        <p:nvSpPr>
          <p:cNvPr id="6" name="Rounded Rectangle 5"/>
          <p:cNvSpPr/>
          <p:nvPr/>
        </p:nvSpPr>
        <p:spPr>
          <a:xfrm>
            <a:off x="6213348" y="1645920"/>
            <a:ext cx="5372100" cy="4526280"/>
          </a:xfrm>
          <a:prstGeom prst="roundRect">
            <a:avLst>
              <a:gd name="adj" fmla="val 12000"/>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7" name="TextBox 6"/>
          <p:cNvSpPr txBox="1"/>
          <p:nvPr/>
        </p:nvSpPr>
        <p:spPr>
          <a:xfrm>
            <a:off x="6414516" y="1783080"/>
            <a:ext cx="4969764" cy="4251960"/>
          </a:xfrm>
          <a:prstGeom prst="rect">
            <a:avLst/>
          </a:prstGeom>
          <a:noFill/>
        </p:spPr>
        <p:txBody>
          <a:bodyPr wrap="square" lIns="0" tIns="0" rIns="0" bIns="0">
            <a:spAutoFit/>
          </a:bodyPr>
          <a:lstStyle/>
          <a:p>
            <a:pPr>
              <a:spcAft>
                <a:spcPts val="400"/>
              </a:spcAft>
            </a:pPr>
            <a:r>
              <a:rPr sz="1900" b="1">
                <a:solidFill>
                  <a:srgbClr val="330066"/>
                </a:solidFill>
                <a:latin typeface="Arial"/>
              </a:rPr>
              <a:t>Challenges</a:t>
            </a:r>
          </a:p>
          <a:p>
            <a:pPr>
              <a:spcAft>
                <a:spcPts val="400"/>
              </a:spcAft>
            </a:pPr>
            <a:r>
              <a:rPr sz="1900" b="0">
                <a:solidFill>
                  <a:srgbClr val="1A1A1A"/>
                </a:solidFill>
                <a:latin typeface="Arial"/>
              </a:rPr>
              <a:t>Less predictable scope and dates. Needs discipline and customer time. Regression risk: automation needed.</a:t>
            </a:r>
          </a:p>
        </p:txBody>
      </p:sp>
      <p:sp>
        <p:nvSpPr>
          <p:cNvPr id="8" name="TextBox 7"/>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17 / 33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in Agile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3</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600"/>
              </a:spcAft>
              <a:buFont typeface="Arial"/>
              <a:buChar char="•"/>
            </a:pPr>
            <a:r>
              <a:rPr sz="2200" b="0">
                <a:solidFill>
                  <a:srgbClr val="1A1A1A"/>
                </a:solidFill>
                <a:latin typeface="Arial"/>
              </a:rPr>
              <a:t>Testing is an activity, not a phase: it starts on day one</a:t>
            </a:r>
          </a:p>
          <a:p>
            <a:pPr marL="285750" indent="-285750">
              <a:spcAft>
                <a:spcPts val="2600"/>
              </a:spcAft>
              <a:buFont typeface="Arial"/>
              <a:buChar char="•"/>
            </a:pPr>
            <a:r>
              <a:rPr sz="2200" b="0">
                <a:solidFill>
                  <a:srgbClr val="1A1A1A"/>
                </a:solidFill>
                <a:latin typeface="Arial"/>
              </a:rPr>
              <a:t>A story is not done until it is tested</a:t>
            </a:r>
          </a:p>
          <a:p>
            <a:pPr marL="285750" indent="-285750">
              <a:spcAft>
                <a:spcPts val="2600"/>
              </a:spcAft>
              <a:buFont typeface="Arial"/>
              <a:buChar char="•"/>
            </a:pPr>
            <a:r>
              <a:rPr sz="2200" b="0">
                <a:solidFill>
                  <a:srgbClr val="1A1A1A"/>
                </a:solidFill>
                <a:latin typeface="Arial"/>
              </a:rPr>
              <a:t>Testers prepare tests while developers build</a:t>
            </a:r>
          </a:p>
          <a:p>
            <a:pPr marL="285750" indent="-285750">
              <a:spcAft>
                <a:spcPts val="2600"/>
              </a:spcAft>
              <a:buFont typeface="Arial"/>
              <a:buChar char="•"/>
            </a:pPr>
            <a:r>
              <a:rPr sz="2200" b="0">
                <a:solidFill>
                  <a:srgbClr val="1A1A1A"/>
                </a:solidFill>
                <a:latin typeface="Arial"/>
              </a:rPr>
              <a:t>Automation keeps frequent releases safe</a:t>
            </a:r>
          </a:p>
          <a:p>
            <a:pPr marL="285750" indent="-285750">
              <a:spcAft>
                <a:spcPts val="2600"/>
              </a:spcAft>
              <a:buFont typeface="Arial"/>
              <a:buChar char="•"/>
            </a:pPr>
            <a:r>
              <a:rPr sz="2200" b="0">
                <a:solidFill>
                  <a:srgbClr val="1A1A1A"/>
                </a:solidFill>
                <a:latin typeface="Arial"/>
              </a:rPr>
              <a:t>Quality is the whole team's job</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18 / 33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Agile Frameworks: Scrum and Kanban</a:t>
            </a:r>
          </a:p>
        </p:txBody>
      </p:sp>
      <p:sp>
        <p:nvSpPr>
          <p:cNvPr id="3" name="Text Placeholder 2"/>
          <p:cNvSpPr>
            <a:spLocks noGrp="1"/>
          </p:cNvSpPr>
          <p:nvPr>
            <p:ph type="body" idx="1"/>
          </p:nvPr>
        </p:nvSpPr>
        <p:spPr/>
        <p:txBody>
          <a:bodyPr/>
          <a:lstStyle/>
          <a:p>
            <a:r>
              <a:t>Scrum at a glance; Kanban's board, limits and flow</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04</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19 / 33</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Scrum at a Glance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Scrum is the most widely used Agile framework, built on transparency, inspection and adaptation.</a:t>
            </a:r>
          </a:p>
        </p:txBody>
      </p:sp>
      <p:sp>
        <p:nvSpPr>
          <p:cNvPr id="5" name="TextBox 4"/>
          <p:cNvSpPr txBox="1"/>
          <p:nvPr/>
        </p:nvSpPr>
        <p:spPr>
          <a:xfrm>
            <a:off x="612648" y="2240280"/>
            <a:ext cx="10972800" cy="3703320"/>
          </a:xfrm>
          <a:prstGeom prst="rect">
            <a:avLst/>
          </a:prstGeom>
          <a:noFill/>
        </p:spPr>
        <p:txBody>
          <a:bodyPr wrap="square" lIns="0" tIns="0" rIns="0" bIns="0">
            <a:spAutoFit/>
          </a:bodyPr>
          <a:lstStyle/>
          <a:p>
            <a:pPr marL="285750" indent="-285750">
              <a:spcAft>
                <a:spcPts val="2300"/>
              </a:spcAft>
              <a:buFont typeface="Arial"/>
              <a:buChar char="•"/>
            </a:pPr>
            <a:r>
              <a:rPr sz="2200" b="0">
                <a:solidFill>
                  <a:srgbClr val="1A1A1A"/>
                </a:solidFill>
                <a:latin typeface="Arial"/>
              </a:rPr>
              <a:t>Work in sprints: fixed time-boxes of 1–4 weeks</a:t>
            </a:r>
          </a:p>
          <a:p>
            <a:pPr marL="285750" indent="-285750">
              <a:spcAft>
                <a:spcPts val="2300"/>
              </a:spcAft>
              <a:buFont typeface="Arial"/>
              <a:buChar char="•"/>
            </a:pPr>
            <a:r>
              <a:rPr sz="2200" b="0">
                <a:solidFill>
                  <a:srgbClr val="1A1A1A"/>
                </a:solidFill>
                <a:latin typeface="Arial"/>
              </a:rPr>
              <a:t>3 accountabilities: Product Owner, Scrum Master, Developers</a:t>
            </a:r>
          </a:p>
          <a:p>
            <a:pPr marL="285750" indent="-285750">
              <a:spcAft>
                <a:spcPts val="2300"/>
              </a:spcAft>
              <a:buFont typeface="Arial"/>
              <a:buChar char="•"/>
            </a:pPr>
            <a:r>
              <a:rPr sz="2200" b="0">
                <a:solidFill>
                  <a:srgbClr val="1A1A1A"/>
                </a:solidFill>
                <a:latin typeface="Arial"/>
              </a:rPr>
              <a:t>5 events: Sprint, Planning, Daily Scrum, Review, Retrospective</a:t>
            </a:r>
          </a:p>
          <a:p>
            <a:pPr marL="285750" indent="-285750">
              <a:spcAft>
                <a:spcPts val="2300"/>
              </a:spcAft>
              <a:buFont typeface="Arial"/>
              <a:buChar char="•"/>
            </a:pPr>
            <a:r>
              <a:rPr sz="2200" b="0">
                <a:solidFill>
                  <a:srgbClr val="1A1A1A"/>
                </a:solidFill>
                <a:latin typeface="Arial"/>
              </a:rPr>
              <a:t>3 artifacts: Product Backlog, Sprint Backlog, Increment</a:t>
            </a:r>
          </a:p>
          <a:p>
            <a:pPr marL="285750" indent="-285750">
              <a:spcAft>
                <a:spcPts val="2300"/>
              </a:spcAft>
              <a:buFont typeface="Arial"/>
              <a:buChar char="•"/>
            </a:pPr>
            <a:r>
              <a:rPr sz="2200" b="0">
                <a:solidFill>
                  <a:srgbClr val="1A1A1A"/>
                </a:solidFill>
                <a:latin typeface="Arial"/>
              </a:rPr>
              <a:t>Full detail in the Scrum and Agile roles lessons</a:t>
            </a:r>
          </a:p>
        </p:txBody>
      </p:sp>
      <p:sp>
        <p:nvSpPr>
          <p:cNvPr id="6" name="TextBox 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20 / 33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Kanban Board</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Kanban (Japanese for "signboard") began in manufacturing. Work items are cards; stages are columns.</a:t>
            </a:r>
          </a:p>
        </p:txBody>
      </p:sp>
      <p:sp>
        <p:nvSpPr>
          <p:cNvPr id="5" name="Rounded Rectangle 4"/>
          <p:cNvSpPr/>
          <p:nvPr/>
        </p:nvSpPr>
        <p:spPr>
          <a:xfrm>
            <a:off x="612648" y="2240280"/>
            <a:ext cx="2048255"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Backlog</a:t>
            </a:r>
          </a:p>
        </p:txBody>
      </p:sp>
      <p:sp>
        <p:nvSpPr>
          <p:cNvPr id="6" name="Rounded Rectangle 5"/>
          <p:cNvSpPr/>
          <p:nvPr/>
        </p:nvSpPr>
        <p:spPr>
          <a:xfrm>
            <a:off x="612648" y="2834640"/>
            <a:ext cx="2048255" cy="2743200"/>
          </a:xfrm>
          <a:prstGeom prst="roundRect">
            <a:avLst>
              <a:gd name="adj" fmla="val 12000"/>
            </a:avLst>
          </a:prstGeom>
          <a:solidFill>
            <a:srgbClr val="F7F7F7"/>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7" name="Rounded Rectangle 6"/>
          <p:cNvSpPr/>
          <p:nvPr/>
        </p:nvSpPr>
        <p:spPr>
          <a:xfrm>
            <a:off x="749808" y="2971800"/>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1.1</a:t>
            </a:r>
          </a:p>
        </p:txBody>
      </p:sp>
      <p:sp>
        <p:nvSpPr>
          <p:cNvPr id="8" name="Rounded Rectangle 7"/>
          <p:cNvSpPr/>
          <p:nvPr/>
        </p:nvSpPr>
        <p:spPr>
          <a:xfrm>
            <a:off x="749808" y="3593592"/>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1.2</a:t>
            </a:r>
          </a:p>
        </p:txBody>
      </p:sp>
      <p:sp>
        <p:nvSpPr>
          <p:cNvPr id="9" name="Rounded Rectangle 8"/>
          <p:cNvSpPr/>
          <p:nvPr/>
        </p:nvSpPr>
        <p:spPr>
          <a:xfrm>
            <a:off x="749808" y="4215384"/>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1.3</a:t>
            </a:r>
          </a:p>
        </p:txBody>
      </p:sp>
      <p:sp>
        <p:nvSpPr>
          <p:cNvPr id="10" name="Rounded Rectangle 9"/>
          <p:cNvSpPr/>
          <p:nvPr/>
        </p:nvSpPr>
        <p:spPr>
          <a:xfrm>
            <a:off x="749808" y="4837176"/>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1.4</a:t>
            </a:r>
          </a:p>
        </p:txBody>
      </p:sp>
      <p:sp>
        <p:nvSpPr>
          <p:cNvPr id="11" name="Rounded Rectangle 10"/>
          <p:cNvSpPr/>
          <p:nvPr/>
        </p:nvSpPr>
        <p:spPr>
          <a:xfrm>
            <a:off x="2843784" y="2240280"/>
            <a:ext cx="2048255"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To Do</a:t>
            </a:r>
          </a:p>
        </p:txBody>
      </p:sp>
      <p:sp>
        <p:nvSpPr>
          <p:cNvPr id="12" name="Rounded Rectangle 11"/>
          <p:cNvSpPr/>
          <p:nvPr/>
        </p:nvSpPr>
        <p:spPr>
          <a:xfrm>
            <a:off x="2843784" y="2834640"/>
            <a:ext cx="2048255" cy="2743200"/>
          </a:xfrm>
          <a:prstGeom prst="roundRect">
            <a:avLst>
              <a:gd name="adj" fmla="val 12000"/>
            </a:avLst>
          </a:prstGeom>
          <a:solidFill>
            <a:srgbClr val="F7F7F7"/>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13" name="Rounded Rectangle 12"/>
          <p:cNvSpPr/>
          <p:nvPr/>
        </p:nvSpPr>
        <p:spPr>
          <a:xfrm>
            <a:off x="2980944" y="2971800"/>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2.1</a:t>
            </a:r>
          </a:p>
        </p:txBody>
      </p:sp>
      <p:sp>
        <p:nvSpPr>
          <p:cNvPr id="14" name="Rounded Rectangle 13"/>
          <p:cNvSpPr/>
          <p:nvPr/>
        </p:nvSpPr>
        <p:spPr>
          <a:xfrm>
            <a:off x="2980944" y="3593592"/>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2.2</a:t>
            </a:r>
          </a:p>
        </p:txBody>
      </p:sp>
      <p:sp>
        <p:nvSpPr>
          <p:cNvPr id="15" name="Rounded Rectangle 14"/>
          <p:cNvSpPr/>
          <p:nvPr/>
        </p:nvSpPr>
        <p:spPr>
          <a:xfrm>
            <a:off x="5074920" y="2240280"/>
            <a:ext cx="2048255"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In Progress  (WIP 3)</a:t>
            </a:r>
          </a:p>
        </p:txBody>
      </p:sp>
      <p:sp>
        <p:nvSpPr>
          <p:cNvPr id="16" name="Rounded Rectangle 15"/>
          <p:cNvSpPr/>
          <p:nvPr/>
        </p:nvSpPr>
        <p:spPr>
          <a:xfrm>
            <a:off x="5074920" y="2834640"/>
            <a:ext cx="2048255" cy="2743200"/>
          </a:xfrm>
          <a:prstGeom prst="roundRect">
            <a:avLst>
              <a:gd name="adj" fmla="val 12000"/>
            </a:avLst>
          </a:prstGeom>
          <a:solidFill>
            <a:srgbClr val="F7F7F7"/>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17" name="Rounded Rectangle 16"/>
          <p:cNvSpPr/>
          <p:nvPr/>
        </p:nvSpPr>
        <p:spPr>
          <a:xfrm>
            <a:off x="5212080" y="2971800"/>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3.1</a:t>
            </a:r>
          </a:p>
        </p:txBody>
      </p:sp>
      <p:sp>
        <p:nvSpPr>
          <p:cNvPr id="18" name="Rounded Rectangle 17"/>
          <p:cNvSpPr/>
          <p:nvPr/>
        </p:nvSpPr>
        <p:spPr>
          <a:xfrm>
            <a:off x="5212080" y="3593592"/>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3.2</a:t>
            </a:r>
          </a:p>
        </p:txBody>
      </p:sp>
      <p:sp>
        <p:nvSpPr>
          <p:cNvPr id="19" name="Rounded Rectangle 18"/>
          <p:cNvSpPr/>
          <p:nvPr/>
        </p:nvSpPr>
        <p:spPr>
          <a:xfrm>
            <a:off x="5212080" y="4215384"/>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3.3</a:t>
            </a:r>
          </a:p>
        </p:txBody>
      </p:sp>
      <p:sp>
        <p:nvSpPr>
          <p:cNvPr id="20" name="Rounded Rectangle 19"/>
          <p:cNvSpPr/>
          <p:nvPr/>
        </p:nvSpPr>
        <p:spPr>
          <a:xfrm>
            <a:off x="7306056" y="2240280"/>
            <a:ext cx="2048255"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In Testing  (WIP 2)</a:t>
            </a:r>
          </a:p>
        </p:txBody>
      </p:sp>
      <p:sp>
        <p:nvSpPr>
          <p:cNvPr id="21" name="Rounded Rectangle 20"/>
          <p:cNvSpPr/>
          <p:nvPr/>
        </p:nvSpPr>
        <p:spPr>
          <a:xfrm>
            <a:off x="7306056" y="2834640"/>
            <a:ext cx="2048255" cy="2743200"/>
          </a:xfrm>
          <a:prstGeom prst="roundRect">
            <a:avLst>
              <a:gd name="adj" fmla="val 12000"/>
            </a:avLst>
          </a:prstGeom>
          <a:solidFill>
            <a:srgbClr val="F7F7F7"/>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22" name="Rounded Rectangle 21"/>
          <p:cNvSpPr/>
          <p:nvPr/>
        </p:nvSpPr>
        <p:spPr>
          <a:xfrm>
            <a:off x="7443216" y="2971800"/>
            <a:ext cx="1773935" cy="5029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4.1</a:t>
            </a:r>
          </a:p>
        </p:txBody>
      </p:sp>
      <p:sp>
        <p:nvSpPr>
          <p:cNvPr id="23" name="Rounded Rectangle 22"/>
          <p:cNvSpPr/>
          <p:nvPr/>
        </p:nvSpPr>
        <p:spPr>
          <a:xfrm>
            <a:off x="7443216" y="3593592"/>
            <a:ext cx="1773935" cy="502920"/>
          </a:xfrm>
          <a:prstGeom prst="roundRect">
            <a:avLst>
              <a:gd name="adj" fmla="val 12000"/>
            </a:avLst>
          </a:prstGeom>
          <a:solidFill>
            <a:srgbClr val="E2F0D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4.2</a:t>
            </a:r>
          </a:p>
        </p:txBody>
      </p:sp>
      <p:sp>
        <p:nvSpPr>
          <p:cNvPr id="24" name="Rounded Rectangle 23"/>
          <p:cNvSpPr/>
          <p:nvPr/>
        </p:nvSpPr>
        <p:spPr>
          <a:xfrm>
            <a:off x="9537192" y="2240280"/>
            <a:ext cx="2048255" cy="548640"/>
          </a:xfrm>
          <a:prstGeom prst="roundRect">
            <a:avLst>
              <a:gd name="adj" fmla="val 12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a:solidFill>
                  <a:srgbClr val="FFFFFF"/>
                </a:solidFill>
                <a:latin typeface="Arial"/>
              </a:rPr>
              <a:t>Done</a:t>
            </a:r>
          </a:p>
        </p:txBody>
      </p:sp>
      <p:sp>
        <p:nvSpPr>
          <p:cNvPr id="25" name="Rounded Rectangle 24"/>
          <p:cNvSpPr/>
          <p:nvPr/>
        </p:nvSpPr>
        <p:spPr>
          <a:xfrm>
            <a:off x="9537192" y="2834640"/>
            <a:ext cx="2048255" cy="2743200"/>
          </a:xfrm>
          <a:prstGeom prst="roundRect">
            <a:avLst>
              <a:gd name="adj" fmla="val 12000"/>
            </a:avLst>
          </a:prstGeom>
          <a:solidFill>
            <a:srgbClr val="F7F7F7"/>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26" name="Rounded Rectangle 25"/>
          <p:cNvSpPr/>
          <p:nvPr/>
        </p:nvSpPr>
        <p:spPr>
          <a:xfrm>
            <a:off x="9674352" y="2971800"/>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5.1</a:t>
            </a:r>
          </a:p>
        </p:txBody>
      </p:sp>
      <p:sp>
        <p:nvSpPr>
          <p:cNvPr id="27" name="Rounded Rectangle 26"/>
          <p:cNvSpPr/>
          <p:nvPr/>
        </p:nvSpPr>
        <p:spPr>
          <a:xfrm>
            <a:off x="9674352" y="3593592"/>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5.2</a:t>
            </a:r>
          </a:p>
        </p:txBody>
      </p:sp>
      <p:sp>
        <p:nvSpPr>
          <p:cNvPr id="28" name="Rounded Rectangle 27"/>
          <p:cNvSpPr/>
          <p:nvPr/>
        </p:nvSpPr>
        <p:spPr>
          <a:xfrm>
            <a:off x="9674352" y="4215384"/>
            <a:ext cx="1773935" cy="502920"/>
          </a:xfrm>
          <a:prstGeom prst="roundRect">
            <a:avLst>
              <a:gd name="adj" fmla="val 12000"/>
            </a:avLst>
          </a:prstGeom>
          <a:solidFill>
            <a:srgbClr val="DEEBF7"/>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0">
                <a:solidFill>
                  <a:srgbClr val="1A1A1A"/>
                </a:solidFill>
                <a:latin typeface="Arial"/>
              </a:rPr>
              <a:t>Card 5.3</a:t>
            </a:r>
          </a:p>
        </p:txBody>
      </p:sp>
      <p:cxnSp>
        <p:nvCxnSpPr>
          <p:cNvPr id="29" name="Connector 28"/>
          <p:cNvCxnSpPr/>
          <p:nvPr/>
        </p:nvCxnSpPr>
        <p:spPr>
          <a:xfrm>
            <a:off x="612648" y="5806440"/>
            <a:ext cx="10972800"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67928" y="5852160"/>
            <a:ext cx="3017520" cy="320040"/>
          </a:xfrm>
          <a:prstGeom prst="rect">
            <a:avLst/>
          </a:prstGeom>
          <a:noFill/>
        </p:spPr>
        <p:txBody>
          <a:bodyPr wrap="square" lIns="0" tIns="0" rIns="0" bIns="0">
            <a:spAutoFit/>
          </a:bodyPr>
          <a:lstStyle/>
          <a:p>
            <a:pPr algn="r">
              <a:spcAft>
                <a:spcPts val="600"/>
              </a:spcAft>
            </a:pPr>
            <a:r>
              <a:rPr sz="1300" b="0">
                <a:solidFill>
                  <a:srgbClr val="5A5A5A"/>
                </a:solidFill>
                <a:latin typeface="Arial"/>
              </a:rPr>
              <a:t>cards move left to right</a:t>
            </a:r>
          </a:p>
        </p:txBody>
      </p:sp>
      <p:sp>
        <p:nvSpPr>
          <p:cNvPr id="31" name="TextBox 30"/>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21 / 33</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WIP Limits and Pull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600"/>
              </a:spcAft>
              <a:buFont typeface="Arial"/>
              <a:buChar char="•"/>
            </a:pPr>
            <a:r>
              <a:rPr sz="2200" b="0">
                <a:solidFill>
                  <a:srgbClr val="1A1A1A"/>
                </a:solidFill>
                <a:latin typeface="Arial"/>
              </a:rPr>
              <a:t>WIP limit: the most cards allowed in a column at once</a:t>
            </a:r>
          </a:p>
          <a:p>
            <a:pPr marL="285750" indent="-285750">
              <a:spcAft>
                <a:spcPts val="2600"/>
              </a:spcAft>
              <a:buFont typeface="Arial"/>
              <a:buChar char="•"/>
            </a:pPr>
            <a:r>
              <a:rPr sz="2200" b="0">
                <a:solidFill>
                  <a:srgbClr val="1A1A1A"/>
                </a:solidFill>
                <a:latin typeface="Arial"/>
              </a:rPr>
              <a:t>Column full? Help finish work before starting new work</a:t>
            </a:r>
          </a:p>
          <a:p>
            <a:pPr marL="285750" indent="-285750">
              <a:spcAft>
                <a:spcPts val="2600"/>
              </a:spcAft>
              <a:buFont typeface="Arial"/>
              <a:buChar char="•"/>
            </a:pPr>
            <a:r>
              <a:rPr sz="2200" b="0">
                <a:solidFill>
                  <a:srgbClr val="1A1A1A"/>
                </a:solidFill>
                <a:latin typeface="Arial"/>
              </a:rPr>
              <a:t>Pull: take new work only when you have capacity</a:t>
            </a:r>
          </a:p>
          <a:p>
            <a:pPr marL="285750" indent="-285750">
              <a:spcAft>
                <a:spcPts val="2600"/>
              </a:spcAft>
              <a:buFont typeface="Arial"/>
              <a:buChar char="•"/>
            </a:pPr>
            <a:r>
              <a:rPr sz="2200" b="0">
                <a:solidFill>
                  <a:srgbClr val="1A1A1A"/>
                </a:solidFill>
                <a:latin typeface="Arial"/>
              </a:rPr>
              <a:t>Limits expose bottlenecks, e.g. a crowded testing column</a:t>
            </a:r>
          </a:p>
          <a:p>
            <a:pPr marL="285750" indent="-285750">
              <a:spcAft>
                <a:spcPts val="2600"/>
              </a:spcAft>
              <a:buFont typeface="Arial"/>
              <a:buChar char="•"/>
            </a:pPr>
            <a:r>
              <a:rPr sz="2200" b="0">
                <a:solidFill>
                  <a:srgbClr val="1A1A1A"/>
                </a:solidFill>
                <a:latin typeface="Arial"/>
              </a:rPr>
              <a:t>Motto: stop starting, start finishing</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22 / 33</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Lead Time and Cycle Time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cxnSp>
        <p:nvCxnSpPr>
          <p:cNvPr id="4" name="Connector 3"/>
          <p:cNvCxnSpPr/>
          <p:nvPr/>
        </p:nvCxnSpPr>
        <p:spPr>
          <a:xfrm>
            <a:off x="612648" y="3017520"/>
            <a:ext cx="10972800" cy="0"/>
          </a:xfrm>
          <a:prstGeom prst="line">
            <a:avLst/>
          </a:prstGeom>
          <a:ln w="25400">
            <a:solidFill>
              <a:srgbClr val="1A1A1A"/>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768096" y="2898648"/>
            <a:ext cx="237744" cy="237744"/>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6" name="TextBox 5"/>
          <p:cNvSpPr txBox="1"/>
          <p:nvPr/>
        </p:nvSpPr>
        <p:spPr>
          <a:xfrm>
            <a:off x="-210311" y="3246120"/>
            <a:ext cx="2194560" cy="731520"/>
          </a:xfrm>
          <a:prstGeom prst="rect">
            <a:avLst/>
          </a:prstGeom>
          <a:noFill/>
        </p:spPr>
        <p:txBody>
          <a:bodyPr wrap="square" lIns="0" tIns="0" rIns="0" bIns="0">
            <a:spAutoFit/>
          </a:bodyPr>
          <a:lstStyle/>
          <a:p>
            <a:pPr algn="ctr">
              <a:spcAft>
                <a:spcPts val="0"/>
              </a:spcAft>
            </a:pPr>
            <a:r>
              <a:rPr sz="1500" b="1">
                <a:solidFill>
                  <a:srgbClr val="1A1A1A"/>
                </a:solidFill>
                <a:latin typeface="Arial"/>
              </a:rPr>
              <a:t>1 Mar</a:t>
            </a:r>
          </a:p>
          <a:p>
            <a:pPr algn="ctr">
              <a:spcAft>
                <a:spcPts val="0"/>
              </a:spcAft>
            </a:pPr>
            <a:r>
              <a:rPr sz="1500" b="0">
                <a:solidFill>
                  <a:srgbClr val="5A5A5A"/>
                </a:solidFill>
                <a:latin typeface="Arial"/>
              </a:rPr>
              <a:t>request created</a:t>
            </a:r>
          </a:p>
        </p:txBody>
      </p:sp>
      <p:sp>
        <p:nvSpPr>
          <p:cNvPr id="7" name="Oval 6"/>
          <p:cNvSpPr/>
          <p:nvPr/>
        </p:nvSpPr>
        <p:spPr>
          <a:xfrm>
            <a:off x="6528816" y="2898648"/>
            <a:ext cx="237744" cy="237744"/>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8" name="TextBox 7"/>
          <p:cNvSpPr txBox="1"/>
          <p:nvPr/>
        </p:nvSpPr>
        <p:spPr>
          <a:xfrm>
            <a:off x="5550407" y="3246120"/>
            <a:ext cx="2194560" cy="731520"/>
          </a:xfrm>
          <a:prstGeom prst="rect">
            <a:avLst/>
          </a:prstGeom>
          <a:noFill/>
        </p:spPr>
        <p:txBody>
          <a:bodyPr wrap="square" lIns="0" tIns="0" rIns="0" bIns="0">
            <a:spAutoFit/>
          </a:bodyPr>
          <a:lstStyle/>
          <a:p>
            <a:pPr algn="ctr">
              <a:spcAft>
                <a:spcPts val="0"/>
              </a:spcAft>
            </a:pPr>
            <a:r>
              <a:rPr sz="1500" b="1">
                <a:solidFill>
                  <a:srgbClr val="1A1A1A"/>
                </a:solidFill>
                <a:latin typeface="Arial"/>
              </a:rPr>
              <a:t>10 Mar</a:t>
            </a:r>
          </a:p>
          <a:p>
            <a:pPr algn="ctr">
              <a:spcAft>
                <a:spcPts val="0"/>
              </a:spcAft>
            </a:pPr>
            <a:r>
              <a:rPr sz="1500" b="0">
                <a:solidFill>
                  <a:srgbClr val="5A5A5A"/>
                </a:solidFill>
                <a:latin typeface="Arial"/>
              </a:rPr>
              <a:t>work starts</a:t>
            </a:r>
          </a:p>
        </p:txBody>
      </p:sp>
      <p:sp>
        <p:nvSpPr>
          <p:cNvPr id="9" name="Oval 8"/>
          <p:cNvSpPr/>
          <p:nvPr/>
        </p:nvSpPr>
        <p:spPr>
          <a:xfrm>
            <a:off x="10917936" y="2898648"/>
            <a:ext cx="237744" cy="237744"/>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10" name="TextBox 9"/>
          <p:cNvSpPr txBox="1"/>
          <p:nvPr/>
        </p:nvSpPr>
        <p:spPr>
          <a:xfrm>
            <a:off x="9939528" y="3246120"/>
            <a:ext cx="2194560" cy="731520"/>
          </a:xfrm>
          <a:prstGeom prst="rect">
            <a:avLst/>
          </a:prstGeom>
          <a:noFill/>
        </p:spPr>
        <p:txBody>
          <a:bodyPr wrap="square" lIns="0" tIns="0" rIns="0" bIns="0">
            <a:spAutoFit/>
          </a:bodyPr>
          <a:lstStyle/>
          <a:p>
            <a:pPr algn="ctr">
              <a:spcAft>
                <a:spcPts val="0"/>
              </a:spcAft>
            </a:pPr>
            <a:r>
              <a:rPr sz="1500" b="1">
                <a:solidFill>
                  <a:srgbClr val="1A1A1A"/>
                </a:solidFill>
                <a:latin typeface="Arial"/>
              </a:rPr>
              <a:t>15 Mar</a:t>
            </a:r>
          </a:p>
          <a:p>
            <a:pPr algn="ctr">
              <a:spcAft>
                <a:spcPts val="0"/>
              </a:spcAft>
            </a:pPr>
            <a:r>
              <a:rPr sz="1500" b="0">
                <a:solidFill>
                  <a:srgbClr val="5A5A5A"/>
                </a:solidFill>
                <a:latin typeface="Arial"/>
              </a:rPr>
              <a:t>delivered</a:t>
            </a:r>
          </a:p>
        </p:txBody>
      </p:sp>
      <p:cxnSp>
        <p:nvCxnSpPr>
          <p:cNvPr id="11" name="Connector 10"/>
          <p:cNvCxnSpPr/>
          <p:nvPr/>
        </p:nvCxnSpPr>
        <p:spPr>
          <a:xfrm>
            <a:off x="886968" y="2148840"/>
            <a:ext cx="10149840" cy="0"/>
          </a:xfrm>
          <a:prstGeom prst="line">
            <a:avLst/>
          </a:prstGeom>
          <a:ln w="31750">
            <a:solidFill>
              <a:srgbClr val="33006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55848" y="1691640"/>
            <a:ext cx="4572000" cy="411480"/>
          </a:xfrm>
          <a:prstGeom prst="rect">
            <a:avLst/>
          </a:prstGeom>
          <a:noFill/>
        </p:spPr>
        <p:txBody>
          <a:bodyPr wrap="square" lIns="0" tIns="0" rIns="0" bIns="0">
            <a:spAutoFit/>
          </a:bodyPr>
          <a:lstStyle/>
          <a:p>
            <a:pPr>
              <a:spcAft>
                <a:spcPts val="600"/>
              </a:spcAft>
            </a:pPr>
            <a:r>
              <a:rPr sz="1600" b="1">
                <a:solidFill>
                  <a:srgbClr val="330066"/>
                </a:solidFill>
                <a:latin typeface="Arial"/>
              </a:rPr>
              <a:t>Lead time = 14 days (customer's view)</a:t>
            </a:r>
          </a:p>
        </p:txBody>
      </p:sp>
      <p:cxnSp>
        <p:nvCxnSpPr>
          <p:cNvPr id="13" name="Connector 12"/>
          <p:cNvCxnSpPr/>
          <p:nvPr/>
        </p:nvCxnSpPr>
        <p:spPr>
          <a:xfrm>
            <a:off x="6647688" y="2606040"/>
            <a:ext cx="4389120" cy="0"/>
          </a:xfrm>
          <a:prstGeom prst="line">
            <a:avLst/>
          </a:prstGeom>
          <a:ln w="31750">
            <a:solidFill>
              <a:srgbClr val="2E7D3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22008" y="2194560"/>
            <a:ext cx="4206240" cy="365760"/>
          </a:xfrm>
          <a:prstGeom prst="rect">
            <a:avLst/>
          </a:prstGeom>
          <a:noFill/>
        </p:spPr>
        <p:txBody>
          <a:bodyPr wrap="square" lIns="0" tIns="0" rIns="0" bIns="0">
            <a:spAutoFit/>
          </a:bodyPr>
          <a:lstStyle/>
          <a:p>
            <a:pPr>
              <a:spcAft>
                <a:spcPts val="600"/>
              </a:spcAft>
            </a:pPr>
            <a:r>
              <a:rPr sz="1500" b="1">
                <a:solidFill>
                  <a:srgbClr val="2E7D32"/>
                </a:solidFill>
                <a:latin typeface="Arial"/>
              </a:rPr>
              <a:t>Cycle time = 5 days (team's view)</a:t>
            </a:r>
          </a:p>
        </p:txBody>
      </p:sp>
      <p:sp>
        <p:nvSpPr>
          <p:cNvPr id="15" name="TextBox 14"/>
          <p:cNvSpPr txBox="1"/>
          <p:nvPr/>
        </p:nvSpPr>
        <p:spPr>
          <a:xfrm>
            <a:off x="612648" y="4343400"/>
            <a:ext cx="10972800" cy="1463040"/>
          </a:xfrm>
          <a:prstGeom prst="rect">
            <a:avLst/>
          </a:prstGeom>
          <a:noFill/>
        </p:spPr>
        <p:txBody>
          <a:bodyPr wrap="square" lIns="0" tIns="0" rIns="0" bIns="0">
            <a:spAutoFit/>
          </a:bodyPr>
          <a:lstStyle/>
          <a:p>
            <a:pPr marL="285750" indent="-285750">
              <a:spcAft>
                <a:spcPts val="600"/>
              </a:spcAft>
              <a:buFont typeface="Arial"/>
              <a:buChar char="•"/>
            </a:pPr>
            <a:r>
              <a:rPr sz="1700" b="0">
                <a:solidFill>
                  <a:srgbClr val="1A1A1A"/>
                </a:solidFill>
                <a:latin typeface="Arial"/>
              </a:rPr>
              <a:t>Track both to see flow improve and to forecast delivery</a:t>
            </a:r>
          </a:p>
          <a:p>
            <a:pPr marL="285750" indent="-285750">
              <a:spcAft>
                <a:spcPts val="600"/>
              </a:spcAft>
              <a:buFont typeface="Arial"/>
              <a:buChar char="•"/>
            </a:pPr>
            <a:r>
              <a:rPr sz="1700" b="0">
                <a:solidFill>
                  <a:srgbClr val="1A1A1A"/>
                </a:solidFill>
                <a:latin typeface="Arial"/>
              </a:rPr>
              <a:t>Kanban fits continuous work: support, maintenance, operations.</a:t>
            </a:r>
          </a:p>
        </p:txBody>
      </p:sp>
      <p:sp>
        <p:nvSpPr>
          <p:cNvPr id="16" name="TextBox 1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23 / 33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Scrum vs Kanban</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4</a:t>
            </a:r>
          </a:p>
        </p:txBody>
      </p:sp>
      <p:graphicFrame>
        <p:nvGraphicFramePr>
          <p:cNvPr id="4" name="Table 3"/>
          <p:cNvGraphicFramePr>
            <a:graphicFrameLocks noGrp="1"/>
          </p:cNvGraphicFramePr>
          <p:nvPr/>
        </p:nvGraphicFramePr>
        <p:xfrm>
          <a:off x="612648" y="1691640"/>
          <a:ext cx="10972800" cy="4343395"/>
        </p:xfrm>
        <a:graphic>
          <a:graphicData uri="http://schemas.openxmlformats.org/drawingml/2006/table">
            <a:tbl>
              <a:tblPr/>
              <a:tblGrid>
                <a:gridCol w="2194560"/>
                <a:gridCol w="4389120"/>
                <a:gridCol w="4389120"/>
              </a:tblGrid>
              <a:tr h="620485">
                <a:tc>
                  <a:txBody>
                    <a:bodyPr/>
                    <a:lstStyle/>
                    <a:p>
                      <a:r>
                        <a:rPr sz="1700" b="1">
                          <a:solidFill>
                            <a:srgbClr val="FFFFFF"/>
                          </a:solidFill>
                          <a:latin typeface="Arial"/>
                        </a:rPr>
                        <a:t>Aspect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Scrum</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Kanban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r>
              <a:tr h="620485">
                <a:tc>
                  <a:txBody>
                    <a:bodyPr/>
                    <a:lstStyle/>
                    <a:p>
                      <a:r>
                        <a:rPr sz="1700" b="1">
                          <a:solidFill>
                            <a:srgbClr val="330066"/>
                          </a:solidFill>
                          <a:latin typeface="Arial"/>
                        </a:rPr>
                        <a:t>Cadence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Fixed sprints of 1–4 weeks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Continuous flow</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620485">
                <a:tc>
                  <a:txBody>
                    <a:bodyPr/>
                    <a:lstStyle/>
                    <a:p>
                      <a:r>
                        <a:rPr sz="1700" b="1">
                          <a:solidFill>
                            <a:srgbClr val="330066"/>
                          </a:solidFill>
                          <a:latin typeface="Arial"/>
                        </a:rPr>
                        <a:t>Roles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PO, Scrum Master, Developers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No prescribed roles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620485">
                <a:tc>
                  <a:txBody>
                    <a:bodyPr/>
                    <a:lstStyle/>
                    <a:p>
                      <a:r>
                        <a:rPr sz="1700" b="1">
                          <a:solidFill>
                            <a:srgbClr val="330066"/>
                          </a:solidFill>
                          <a:latin typeface="Arial"/>
                        </a:rPr>
                        <a:t>Changes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Not mid-sprint (protects the goal)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Any time, if WIP allows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620485">
                <a:tc>
                  <a:txBody>
                    <a:bodyPr/>
                    <a:lstStyle/>
                    <a:p>
                      <a:r>
                        <a:rPr sz="1700" b="1">
                          <a:solidFill>
                            <a:srgbClr val="330066"/>
                          </a:solidFill>
                          <a:latin typeface="Arial"/>
                        </a:rPr>
                        <a:t>Metrics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Velocity, burndown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Lead time, cycle time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620485">
                <a:tc>
                  <a:txBody>
                    <a:bodyPr/>
                    <a:lstStyle/>
                    <a:p>
                      <a:r>
                        <a:rPr sz="1700" b="1">
                          <a:solidFill>
                            <a:srgbClr val="330066"/>
                          </a:solidFill>
                          <a:latin typeface="Arial"/>
                        </a:rPr>
                        <a:t>Board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Reset every sprint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Persistent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620485">
                <a:tc>
                  <a:txBody>
                    <a:bodyPr/>
                    <a:lstStyle/>
                    <a:p>
                      <a:r>
                        <a:rPr sz="1700" b="1">
                          <a:solidFill>
                            <a:srgbClr val="330066"/>
                          </a:solidFill>
                          <a:latin typeface="Arial"/>
                        </a:rPr>
                        <a:t>Best for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Product development in increments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Continuous, unpredictable work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bl>
          </a:graphicData>
        </a:graphic>
      </p:graphicFrame>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24 / 33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and Choosing a Model</a:t>
            </a:r>
          </a:p>
        </p:txBody>
      </p:sp>
      <p:sp>
        <p:nvSpPr>
          <p:cNvPr id="3" name="Text Placeholder 2"/>
          <p:cNvSpPr>
            <a:spLocks noGrp="1"/>
          </p:cNvSpPr>
          <p:nvPr>
            <p:ph type="body" idx="1"/>
          </p:nvPr>
        </p:nvSpPr>
        <p:spPr/>
        <p:txBody>
          <a:bodyPr/>
          <a:lstStyle/>
          <a:p>
            <a:r>
              <a:t>Blending models, comparing them, and the QE's place in each</a:t>
            </a:r>
          </a:p>
        </p:txBody>
      </p:sp>
      <p:sp>
        <p:nvSpPr>
          <p:cNvPr id="4" name="TextBox 3"/>
          <p:cNvSpPr txBox="1"/>
          <p:nvPr/>
        </p:nvSpPr>
        <p:spPr>
          <a:xfrm>
            <a:off x="832104" y="1600200"/>
            <a:ext cx="3657600" cy="1097280"/>
          </a:xfrm>
          <a:prstGeom prst="rect">
            <a:avLst/>
          </a:prstGeom>
          <a:noFill/>
        </p:spPr>
        <p:txBody>
          <a:bodyPr wrap="square" lIns="0" tIns="0" rIns="0" bIns="0">
            <a:spAutoFit/>
          </a:bodyPr>
          <a:lstStyle/>
          <a:p>
            <a:pPr>
              <a:spcAft>
                <a:spcPts val="600"/>
              </a:spcAft>
            </a:pPr>
            <a:r>
              <a:rPr sz="6600" b="1">
                <a:solidFill>
                  <a:srgbClr val="669999"/>
                </a:solidFill>
                <a:latin typeface="Arial"/>
              </a:rPr>
              <a:t>05</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25 / 33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Water-Scrum-Fall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5</a:t>
            </a:r>
          </a:p>
        </p:txBody>
      </p:sp>
      <p:sp>
        <p:nvSpPr>
          <p:cNvPr id="4" name="TextBox 3"/>
          <p:cNvSpPr txBox="1"/>
          <p:nvPr/>
        </p:nvSpPr>
        <p:spPr>
          <a:xfrm>
            <a:off x="612648" y="1554480"/>
            <a:ext cx="10972800" cy="548640"/>
          </a:xfrm>
          <a:prstGeom prst="rect">
            <a:avLst/>
          </a:prstGeom>
          <a:noFill/>
        </p:spPr>
        <p:txBody>
          <a:bodyPr wrap="square" lIns="0" tIns="0" rIns="0" bIns="0">
            <a:spAutoFit/>
          </a:bodyPr>
          <a:lstStyle/>
          <a:p>
            <a:pPr>
              <a:spcAft>
                <a:spcPts val="600"/>
              </a:spcAft>
            </a:pPr>
            <a:r>
              <a:rPr sz="1800" b="0">
                <a:solidFill>
                  <a:srgbClr val="5A5A5A"/>
                </a:solidFill>
                <a:latin typeface="Arial"/>
              </a:rPr>
              <a:t>A hybrid blends models to fit real constraints. Water-Scrum-Fall is the most common.</a:t>
            </a:r>
          </a:p>
        </p:txBody>
      </p:sp>
      <p:sp>
        <p:nvSpPr>
          <p:cNvPr id="5" name="Rounded Rectangle 4"/>
          <p:cNvSpPr/>
          <p:nvPr/>
        </p:nvSpPr>
        <p:spPr>
          <a:xfrm>
            <a:off x="612648" y="2377440"/>
            <a:ext cx="3108960" cy="118872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Requirements and approval</a:t>
            </a:r>
          </a:p>
          <a:p>
            <a:pPr algn="ctr"/>
            <a:r>
              <a:rPr sz="1600" b="0">
                <a:solidFill>
                  <a:srgbClr val="FFFFFF"/>
                </a:solidFill>
                <a:latin typeface="Arial"/>
              </a:rPr>
              <a:t>(Waterfall)</a:t>
            </a:r>
          </a:p>
        </p:txBody>
      </p:sp>
      <p:sp>
        <p:nvSpPr>
          <p:cNvPr id="6" name="Rounded Rectangle 5"/>
          <p:cNvSpPr/>
          <p:nvPr/>
        </p:nvSpPr>
        <p:spPr>
          <a:xfrm>
            <a:off x="4544568" y="2377440"/>
            <a:ext cx="3108960" cy="11887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Sprints: build and test</a:t>
            </a:r>
          </a:p>
          <a:p>
            <a:pPr algn="ctr"/>
            <a:r>
              <a:rPr sz="1600" b="0">
                <a:solidFill>
                  <a:srgbClr val="FFFFFF"/>
                </a:solidFill>
                <a:latin typeface="Arial"/>
              </a:rPr>
              <a:t>(Scrum)</a:t>
            </a:r>
          </a:p>
        </p:txBody>
      </p:sp>
      <p:sp>
        <p:nvSpPr>
          <p:cNvPr id="7" name="Rounded Rectangle 6"/>
          <p:cNvSpPr/>
          <p:nvPr/>
        </p:nvSpPr>
        <p:spPr>
          <a:xfrm>
            <a:off x="8476488" y="2377440"/>
            <a:ext cx="3108960" cy="118872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Final testing and release</a:t>
            </a:r>
          </a:p>
          <a:p>
            <a:pPr algn="ctr"/>
            <a:r>
              <a:rPr sz="1600" b="0">
                <a:solidFill>
                  <a:srgbClr val="FFFFFF"/>
                </a:solidFill>
                <a:latin typeface="Arial"/>
              </a:rPr>
              <a:t>(Waterfall)</a:t>
            </a:r>
          </a:p>
        </p:txBody>
      </p:sp>
      <p:cxnSp>
        <p:nvCxnSpPr>
          <p:cNvPr id="8" name="Connector 7"/>
          <p:cNvCxnSpPr/>
          <p:nvPr/>
        </p:nvCxnSpPr>
        <p:spPr>
          <a:xfrm>
            <a:off x="3767328" y="2971800"/>
            <a:ext cx="73152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699248" y="2971800"/>
            <a:ext cx="731520" cy="0"/>
          </a:xfrm>
          <a:prstGeom prst="line">
            <a:avLst/>
          </a:prstGeom>
          <a:ln w="2540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385048" y="2286000"/>
            <a:ext cx="3291840" cy="1371600"/>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11" name="TextBox 10"/>
          <p:cNvSpPr txBox="1"/>
          <p:nvPr/>
        </p:nvSpPr>
        <p:spPr>
          <a:xfrm>
            <a:off x="7562088" y="3749039"/>
            <a:ext cx="4114800" cy="457200"/>
          </a:xfrm>
          <a:prstGeom prst="rect">
            <a:avLst/>
          </a:prstGeom>
          <a:noFill/>
        </p:spPr>
        <p:txBody>
          <a:bodyPr wrap="square" lIns="0" tIns="0" rIns="0" bIns="0">
            <a:spAutoFit/>
          </a:bodyPr>
          <a:lstStyle/>
          <a:p>
            <a:pPr algn="r">
              <a:spcAft>
                <a:spcPts val="600"/>
              </a:spcAft>
            </a:pPr>
            <a:r>
              <a:rPr sz="1500" b="1">
                <a:solidFill>
                  <a:srgbClr val="C00000"/>
                </a:solidFill>
                <a:latin typeface="Arial"/>
              </a:rPr>
              <a:t>Late-testing risk remains here</a:t>
            </a:r>
          </a:p>
        </p:txBody>
      </p:sp>
      <p:sp>
        <p:nvSpPr>
          <p:cNvPr id="12" name="TextBox 11"/>
          <p:cNvSpPr txBox="1"/>
          <p:nvPr/>
        </p:nvSpPr>
        <p:spPr>
          <a:xfrm>
            <a:off x="612648" y="4343400"/>
            <a:ext cx="10972800" cy="1463040"/>
          </a:xfrm>
          <a:prstGeom prst="rect">
            <a:avLst/>
          </a:prstGeom>
          <a:noFill/>
        </p:spPr>
        <p:txBody>
          <a:bodyPr wrap="square" lIns="0" tIns="0" rIns="0" bIns="0">
            <a:spAutoFit/>
          </a:bodyPr>
          <a:lstStyle/>
          <a:p>
            <a:pPr>
              <a:spcAft>
                <a:spcPts val="600"/>
              </a:spcAft>
            </a:pPr>
            <a:r>
              <a:rPr sz="1700" b="0">
                <a:solidFill>
                  <a:srgbClr val="1A1A1A"/>
                </a:solidFill>
                <a:latin typeface="Arial"/>
              </a:rPr>
              <a:t>Other hybrids: Agile software on top of sequential hardware; Agile teams inside a traditional budget and release process.</a:t>
            </a:r>
          </a:p>
        </p:txBody>
      </p:sp>
      <p:sp>
        <p:nvSpPr>
          <p:cNvPr id="13" name="TextBox 12"/>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26 / 33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Scrumban and Regulated Agile</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5</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600"/>
              </a:spcAft>
              <a:buFont typeface="Arial"/>
              <a:buChar char="•"/>
            </a:pPr>
            <a:r>
              <a:rPr sz="2200" b="0">
                <a:solidFill>
                  <a:srgbClr val="1A1A1A"/>
                </a:solidFill>
                <a:latin typeface="Arial"/>
              </a:rPr>
              <a:t>Scrumban: Scrum's rhythm plus Kanban's board and WIP limits</a:t>
            </a:r>
          </a:p>
          <a:p>
            <a:pPr marL="285750" indent="-285750">
              <a:spcAft>
                <a:spcPts val="2600"/>
              </a:spcAft>
              <a:buFont typeface="Arial"/>
              <a:buChar char="•"/>
            </a:pPr>
            <a:r>
              <a:rPr sz="2200" b="0">
                <a:solidFill>
                  <a:srgbClr val="1A1A1A"/>
                </a:solidFill>
                <a:latin typeface="Arial"/>
              </a:rPr>
              <a:t>Useful when sprints meet a constant stream of urgent bugs</a:t>
            </a:r>
          </a:p>
          <a:p>
            <a:pPr marL="285750" indent="-285750">
              <a:spcAft>
                <a:spcPts val="2600"/>
              </a:spcAft>
              <a:buFont typeface="Arial"/>
              <a:buChar char="•"/>
            </a:pPr>
            <a:r>
              <a:rPr sz="2200" b="0">
                <a:solidFill>
                  <a:srgbClr val="1A1A1A"/>
                </a:solidFill>
                <a:latin typeface="Arial"/>
              </a:rPr>
              <a:t>Regulated work needs traceability, sign-offs, documents</a:t>
            </a:r>
          </a:p>
          <a:p>
            <a:pPr marL="285750" indent="-285750">
              <a:spcAft>
                <a:spcPts val="2600"/>
              </a:spcAft>
              <a:buFont typeface="Arial"/>
              <a:buChar char="•"/>
            </a:pPr>
            <a:r>
              <a:rPr sz="2200" b="0">
                <a:solidFill>
                  <a:srgbClr val="1A1A1A"/>
                </a:solidFill>
                <a:latin typeface="Arial"/>
              </a:rPr>
              <a:t>Often a V-Model overall, with Agile inside</a:t>
            </a:r>
          </a:p>
          <a:p>
            <a:pPr marL="285750" indent="-285750">
              <a:spcAft>
                <a:spcPts val="2600"/>
              </a:spcAft>
              <a:buFont typeface="Arial"/>
              <a:buChar char="•"/>
            </a:pPr>
            <a:r>
              <a:rPr sz="2200" b="0">
                <a:solidFill>
                  <a:srgbClr val="1A1A1A"/>
                </a:solidFill>
                <a:latin typeface="Arial"/>
              </a:rPr>
              <a:t>A deliberate hybrid is a valid choice, not a failure</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27 / 33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 Approaches Compared</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5</a:t>
            </a:r>
          </a:p>
        </p:txBody>
      </p:sp>
      <p:graphicFrame>
        <p:nvGraphicFramePr>
          <p:cNvPr id="4" name="Table 3"/>
          <p:cNvGraphicFramePr>
            <a:graphicFrameLocks noGrp="1"/>
          </p:cNvGraphicFramePr>
          <p:nvPr/>
        </p:nvGraphicFramePr>
        <p:xfrm>
          <a:off x="612648" y="1691640"/>
          <a:ext cx="10972800" cy="4343400"/>
        </p:xfrm>
        <a:graphic>
          <a:graphicData uri="http://schemas.openxmlformats.org/drawingml/2006/table">
            <a:tbl>
              <a:tblPr/>
              <a:tblGrid>
                <a:gridCol w="2468880"/>
                <a:gridCol w="2834640"/>
                <a:gridCol w="2834640"/>
                <a:gridCol w="2834640"/>
              </a:tblGrid>
              <a:tr h="723900">
                <a:tc>
                  <a:txBody>
                    <a:bodyPr/>
                    <a:lstStyle/>
                    <a:p>
                      <a:r>
                        <a:rPr sz="1600" b="1">
                          <a:solidFill>
                            <a:srgbClr val="FFFFFF"/>
                          </a:solidFill>
                          <a:latin typeface="Arial"/>
                        </a:rPr>
                        <a:t>Dimension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600" b="1">
                          <a:solidFill>
                            <a:srgbClr val="FFFFFF"/>
                          </a:solidFill>
                          <a:latin typeface="Arial"/>
                        </a:rPr>
                        <a:t>Waterfall / V-Model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600" b="1">
                          <a:solidFill>
                            <a:srgbClr val="FFFFFF"/>
                          </a:solidFill>
                          <a:latin typeface="Arial"/>
                        </a:rPr>
                        <a:t>Scrum</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600" b="1">
                          <a:solidFill>
                            <a:srgbClr val="FFFFFF"/>
                          </a:solidFill>
                          <a:latin typeface="Arial"/>
                        </a:rPr>
                        <a:t>Kanban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r>
              <a:tr h="723900">
                <a:tc>
                  <a:txBody>
                    <a:bodyPr/>
                    <a:lstStyle/>
                    <a:p>
                      <a:r>
                        <a:rPr sz="1600" b="1">
                          <a:solidFill>
                            <a:srgbClr val="330066"/>
                          </a:solidFill>
                          <a:latin typeface="Arial"/>
                        </a:rPr>
                        <a:t>Requirements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Fixed up front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Evolve each sprint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Evolve continuously</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723900">
                <a:tc>
                  <a:txBody>
                    <a:bodyPr/>
                    <a:lstStyle/>
                    <a:p>
                      <a:r>
                        <a:rPr sz="1600" b="1">
                          <a:solidFill>
                            <a:srgbClr val="330066"/>
                          </a:solidFill>
                          <a:latin typeface="Arial"/>
                        </a:rPr>
                        <a:t>First working software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600" b="0">
                          <a:solidFill>
                            <a:srgbClr val="1A1A1A"/>
                          </a:solidFill>
                          <a:latin typeface="Arial"/>
                        </a:rPr>
                        <a:t>Near the end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600" b="0">
                          <a:solidFill>
                            <a:srgbClr val="1A1A1A"/>
                          </a:solidFill>
                          <a:latin typeface="Arial"/>
                        </a:rPr>
                        <a:t>End of the first sprint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600" b="0">
                          <a:solidFill>
                            <a:srgbClr val="1A1A1A"/>
                          </a:solidFill>
                          <a:latin typeface="Arial"/>
                        </a:rPr>
                        <a:t>As soon as an item is done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723900">
                <a:tc>
                  <a:txBody>
                    <a:bodyPr/>
                    <a:lstStyle/>
                    <a:p>
                      <a:r>
                        <a:rPr sz="1600" b="1">
                          <a:solidFill>
                            <a:srgbClr val="330066"/>
                          </a:solidFill>
                          <a:latin typeface="Arial"/>
                        </a:rPr>
                        <a:t>Testing</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After coding (V: planned early)</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Inside every sprint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Continuous, per item</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723900">
                <a:tc>
                  <a:txBody>
                    <a:bodyPr/>
                    <a:lstStyle/>
                    <a:p>
                      <a:r>
                        <a:rPr sz="1600" b="1">
                          <a:solidFill>
                            <a:srgbClr val="330066"/>
                          </a:solidFill>
                          <a:latin typeface="Arial"/>
                        </a:rPr>
                        <a:t>Change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600" b="0">
                          <a:solidFill>
                            <a:srgbClr val="1A1A1A"/>
                          </a:solidFill>
                          <a:latin typeface="Arial"/>
                        </a:rPr>
                        <a:t>Hard; formal change control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600" b="0">
                          <a:solidFill>
                            <a:srgbClr val="1A1A1A"/>
                          </a:solidFill>
                          <a:latin typeface="Arial"/>
                        </a:rPr>
                        <a:t>Between sprints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600" b="0">
                          <a:solidFill>
                            <a:srgbClr val="1A1A1A"/>
                          </a:solidFill>
                          <a:latin typeface="Arial"/>
                        </a:rPr>
                        <a:t>Any time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723900">
                <a:tc>
                  <a:txBody>
                    <a:bodyPr/>
                    <a:lstStyle/>
                    <a:p>
                      <a:r>
                        <a:rPr sz="1600" b="1">
                          <a:solidFill>
                            <a:srgbClr val="330066"/>
                          </a:solidFill>
                          <a:latin typeface="Arial"/>
                        </a:rPr>
                        <a:t>Best for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Stable, regulated projects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New products in increments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600" b="0">
                          <a:solidFill>
                            <a:srgbClr val="1A1A1A"/>
                          </a:solidFill>
                          <a:latin typeface="Arial"/>
                        </a:rPr>
                        <a:t>Support and maintenance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28 / 33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a Model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5</a:t>
            </a:r>
          </a:p>
        </p:txBody>
      </p:sp>
      <p:sp>
        <p:nvSpPr>
          <p:cNvPr id="4" name="Rounded Rectangle 3"/>
          <p:cNvSpPr/>
          <p:nvPr/>
        </p:nvSpPr>
        <p:spPr>
          <a:xfrm>
            <a:off x="612648" y="1737360"/>
            <a:ext cx="3291840" cy="9144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a:solidFill>
                  <a:srgbClr val="1A1A1A"/>
                </a:solidFill>
                <a:latin typeface="Arial"/>
              </a:rPr>
              <a:t>Is the work a continuous stream of requests?</a:t>
            </a:r>
          </a:p>
        </p:txBody>
      </p:sp>
      <p:sp>
        <p:nvSpPr>
          <p:cNvPr id="5" name="Rounded Rectangle 4"/>
          <p:cNvSpPr/>
          <p:nvPr/>
        </p:nvSpPr>
        <p:spPr>
          <a:xfrm>
            <a:off x="932688" y="3246120"/>
            <a:ext cx="2651760" cy="73152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Kanban</a:t>
            </a:r>
          </a:p>
        </p:txBody>
      </p:sp>
      <p:cxnSp>
        <p:nvCxnSpPr>
          <p:cNvPr id="6" name="Connector 5"/>
          <p:cNvCxnSpPr/>
          <p:nvPr/>
        </p:nvCxnSpPr>
        <p:spPr>
          <a:xfrm>
            <a:off x="2258568" y="2670048"/>
            <a:ext cx="0" cy="54864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350008" y="2788920"/>
            <a:ext cx="548640" cy="320040"/>
          </a:xfrm>
          <a:prstGeom prst="rect">
            <a:avLst/>
          </a:prstGeom>
          <a:noFill/>
        </p:spPr>
        <p:txBody>
          <a:bodyPr wrap="square" lIns="0" tIns="0" rIns="0" bIns="0">
            <a:spAutoFit/>
          </a:bodyPr>
          <a:lstStyle/>
          <a:p>
            <a:pPr>
              <a:spcAft>
                <a:spcPts val="600"/>
              </a:spcAft>
            </a:pPr>
            <a:r>
              <a:rPr sz="1400" b="0">
                <a:solidFill>
                  <a:srgbClr val="5A5A5A"/>
                </a:solidFill>
                <a:latin typeface="Arial"/>
              </a:rPr>
              <a:t>Yes</a:t>
            </a:r>
          </a:p>
        </p:txBody>
      </p:sp>
      <p:sp>
        <p:nvSpPr>
          <p:cNvPr id="8" name="Rounded Rectangle 7"/>
          <p:cNvSpPr/>
          <p:nvPr/>
        </p:nvSpPr>
        <p:spPr>
          <a:xfrm>
            <a:off x="4453128" y="1737360"/>
            <a:ext cx="3291840" cy="9144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a:solidFill>
                  <a:srgbClr val="1A1A1A"/>
                </a:solidFill>
                <a:latin typeface="Arial"/>
              </a:rPr>
              <a:t>Requirements stable and regulation heavy?</a:t>
            </a:r>
          </a:p>
        </p:txBody>
      </p:sp>
      <p:cxnSp>
        <p:nvCxnSpPr>
          <p:cNvPr id="9" name="Connector 8"/>
          <p:cNvCxnSpPr/>
          <p:nvPr/>
        </p:nvCxnSpPr>
        <p:spPr>
          <a:xfrm>
            <a:off x="3922776" y="2194560"/>
            <a:ext cx="512064"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950208" y="1828800"/>
            <a:ext cx="548640" cy="320040"/>
          </a:xfrm>
          <a:prstGeom prst="rect">
            <a:avLst/>
          </a:prstGeom>
          <a:noFill/>
        </p:spPr>
        <p:txBody>
          <a:bodyPr wrap="square" lIns="0" tIns="0" rIns="0" bIns="0">
            <a:spAutoFit/>
          </a:bodyPr>
          <a:lstStyle/>
          <a:p>
            <a:pPr>
              <a:spcAft>
                <a:spcPts val="600"/>
              </a:spcAft>
            </a:pPr>
            <a:r>
              <a:rPr sz="1400" b="0">
                <a:solidFill>
                  <a:srgbClr val="5A5A5A"/>
                </a:solidFill>
                <a:latin typeface="Arial"/>
              </a:rPr>
              <a:t>No</a:t>
            </a:r>
          </a:p>
        </p:txBody>
      </p:sp>
      <p:sp>
        <p:nvSpPr>
          <p:cNvPr id="11" name="Rounded Rectangle 10"/>
          <p:cNvSpPr/>
          <p:nvPr/>
        </p:nvSpPr>
        <p:spPr>
          <a:xfrm>
            <a:off x="4773168" y="3246120"/>
            <a:ext cx="2651760" cy="73152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Waterfall / V-Model</a:t>
            </a:r>
          </a:p>
        </p:txBody>
      </p:sp>
      <p:cxnSp>
        <p:nvCxnSpPr>
          <p:cNvPr id="12" name="Connector 11"/>
          <p:cNvCxnSpPr/>
          <p:nvPr/>
        </p:nvCxnSpPr>
        <p:spPr>
          <a:xfrm>
            <a:off x="6099048" y="2670048"/>
            <a:ext cx="0" cy="54864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0488" y="2788920"/>
            <a:ext cx="548640" cy="320040"/>
          </a:xfrm>
          <a:prstGeom prst="rect">
            <a:avLst/>
          </a:prstGeom>
          <a:noFill/>
        </p:spPr>
        <p:txBody>
          <a:bodyPr wrap="square" lIns="0" tIns="0" rIns="0" bIns="0">
            <a:spAutoFit/>
          </a:bodyPr>
          <a:lstStyle/>
          <a:p>
            <a:pPr>
              <a:spcAft>
                <a:spcPts val="600"/>
              </a:spcAft>
            </a:pPr>
            <a:r>
              <a:rPr sz="1400" b="0">
                <a:solidFill>
                  <a:srgbClr val="5A5A5A"/>
                </a:solidFill>
                <a:latin typeface="Arial"/>
              </a:rPr>
              <a:t>Yes</a:t>
            </a:r>
          </a:p>
        </p:txBody>
      </p:sp>
      <p:sp>
        <p:nvSpPr>
          <p:cNvPr id="14" name="Rounded Rectangle 13"/>
          <p:cNvSpPr/>
          <p:nvPr/>
        </p:nvSpPr>
        <p:spPr>
          <a:xfrm>
            <a:off x="8293608" y="1737360"/>
            <a:ext cx="3291840" cy="914400"/>
          </a:xfrm>
          <a:prstGeom prst="roundRect">
            <a:avLst>
              <a:gd name="adj" fmla="val 12000"/>
            </a:avLst>
          </a:prstGeom>
          <a:solidFill>
            <a:srgbClr val="FFFFFF"/>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0">
                <a:solidFill>
                  <a:srgbClr val="1A1A1A"/>
                </a:solidFill>
                <a:latin typeface="Arial"/>
              </a:rPr>
              <a:t>Customer available for frequent feedback?</a:t>
            </a:r>
          </a:p>
        </p:txBody>
      </p:sp>
      <p:cxnSp>
        <p:nvCxnSpPr>
          <p:cNvPr id="15" name="Connector 14"/>
          <p:cNvCxnSpPr/>
          <p:nvPr/>
        </p:nvCxnSpPr>
        <p:spPr>
          <a:xfrm>
            <a:off x="7763256" y="2194560"/>
            <a:ext cx="512064" cy="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90688" y="1828800"/>
            <a:ext cx="548640" cy="320040"/>
          </a:xfrm>
          <a:prstGeom prst="rect">
            <a:avLst/>
          </a:prstGeom>
          <a:noFill/>
        </p:spPr>
        <p:txBody>
          <a:bodyPr wrap="square" lIns="0" tIns="0" rIns="0" bIns="0">
            <a:spAutoFit/>
          </a:bodyPr>
          <a:lstStyle/>
          <a:p>
            <a:pPr>
              <a:spcAft>
                <a:spcPts val="600"/>
              </a:spcAft>
            </a:pPr>
            <a:r>
              <a:rPr sz="1400" b="0">
                <a:solidFill>
                  <a:srgbClr val="5A5A5A"/>
                </a:solidFill>
                <a:latin typeface="Arial"/>
              </a:rPr>
              <a:t>No</a:t>
            </a:r>
          </a:p>
        </p:txBody>
      </p:sp>
      <p:sp>
        <p:nvSpPr>
          <p:cNvPr id="17" name="Rounded Rectangle 16"/>
          <p:cNvSpPr/>
          <p:nvPr/>
        </p:nvSpPr>
        <p:spPr>
          <a:xfrm>
            <a:off x="8613648" y="3246120"/>
            <a:ext cx="2651760" cy="731520"/>
          </a:xfrm>
          <a:prstGeom prst="roundRect">
            <a:avLst>
              <a:gd name="adj" fmla="val 12000"/>
            </a:avLst>
          </a:prstGeom>
          <a:solidFill>
            <a:srgbClr val="5B2C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Scrum</a:t>
            </a:r>
          </a:p>
        </p:txBody>
      </p:sp>
      <p:cxnSp>
        <p:nvCxnSpPr>
          <p:cNvPr id="18" name="Connector 17"/>
          <p:cNvCxnSpPr/>
          <p:nvPr/>
        </p:nvCxnSpPr>
        <p:spPr>
          <a:xfrm>
            <a:off x="9939528" y="2670048"/>
            <a:ext cx="0" cy="548640"/>
          </a:xfrm>
          <a:prstGeom prst="line">
            <a:avLst/>
          </a:prstGeom>
          <a:ln w="22225">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30968" y="2788920"/>
            <a:ext cx="548640" cy="320040"/>
          </a:xfrm>
          <a:prstGeom prst="rect">
            <a:avLst/>
          </a:prstGeom>
          <a:noFill/>
        </p:spPr>
        <p:txBody>
          <a:bodyPr wrap="square" lIns="0" tIns="0" rIns="0" bIns="0">
            <a:spAutoFit/>
          </a:bodyPr>
          <a:lstStyle/>
          <a:p>
            <a:pPr>
              <a:spcAft>
                <a:spcPts val="600"/>
              </a:spcAft>
            </a:pPr>
            <a:r>
              <a:rPr sz="1400" b="0">
                <a:solidFill>
                  <a:srgbClr val="5A5A5A"/>
                </a:solidFill>
                <a:latin typeface="Arial"/>
              </a:rPr>
              <a:t>Yes</a:t>
            </a:r>
          </a:p>
        </p:txBody>
      </p:sp>
      <p:sp>
        <p:nvSpPr>
          <p:cNvPr id="20" name="Rounded Rectangle 19"/>
          <p:cNvSpPr/>
          <p:nvPr/>
        </p:nvSpPr>
        <p:spPr>
          <a:xfrm>
            <a:off x="8613648" y="4343400"/>
            <a:ext cx="2651760" cy="731520"/>
          </a:xfrm>
          <a:prstGeom prst="roundRect">
            <a:avLst>
              <a:gd name="adj" fmla="val 12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Arial"/>
              </a:rPr>
              <a:t>Hybrid</a:t>
            </a:r>
          </a:p>
        </p:txBody>
      </p:sp>
      <p:cxnSp>
        <p:nvCxnSpPr>
          <p:cNvPr id="21" name="Connector 20"/>
          <p:cNvCxnSpPr/>
          <p:nvPr/>
        </p:nvCxnSpPr>
        <p:spPr>
          <a:xfrm>
            <a:off x="11494008" y="2670048"/>
            <a:ext cx="0" cy="2039112"/>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1283696" y="4709160"/>
            <a:ext cx="210312" cy="0"/>
          </a:xfrm>
          <a:prstGeom prst="line">
            <a:avLst/>
          </a:prstGeom>
          <a:ln w="19050">
            <a:solidFill>
              <a:srgbClr val="1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539728" y="3657600"/>
            <a:ext cx="548640" cy="320040"/>
          </a:xfrm>
          <a:prstGeom prst="rect">
            <a:avLst/>
          </a:prstGeom>
          <a:noFill/>
        </p:spPr>
        <p:txBody>
          <a:bodyPr wrap="square" lIns="0" tIns="0" rIns="0" bIns="0">
            <a:spAutoFit/>
          </a:bodyPr>
          <a:lstStyle/>
          <a:p>
            <a:pPr>
              <a:spcAft>
                <a:spcPts val="600"/>
              </a:spcAft>
            </a:pPr>
            <a:r>
              <a:rPr sz="1400" b="0">
                <a:solidFill>
                  <a:srgbClr val="5A5A5A"/>
                </a:solidFill>
                <a:latin typeface="Arial"/>
              </a:rPr>
              <a:t>No</a:t>
            </a:r>
          </a:p>
        </p:txBody>
      </p:sp>
      <p:sp>
        <p:nvSpPr>
          <p:cNvPr id="24" name="TextBox 23"/>
          <p:cNvSpPr txBox="1"/>
          <p:nvPr/>
        </p:nvSpPr>
        <p:spPr>
          <a:xfrm>
            <a:off x="612648" y="4572000"/>
            <a:ext cx="7132320" cy="1280160"/>
          </a:xfrm>
          <a:prstGeom prst="rect">
            <a:avLst/>
          </a:prstGeom>
          <a:noFill/>
        </p:spPr>
        <p:txBody>
          <a:bodyPr wrap="square" lIns="0" tIns="0" rIns="0" bIns="0">
            <a:spAutoFit/>
          </a:bodyPr>
          <a:lstStyle/>
          <a:p>
            <a:pPr marL="285750" indent="-285750">
              <a:spcAft>
                <a:spcPts val="600"/>
              </a:spcAft>
              <a:buFont typeface="Arial"/>
              <a:buChar char="•"/>
            </a:pPr>
            <a:r>
              <a:rPr sz="1600" b="0">
                <a:solidFill>
                  <a:srgbClr val="1A1A1A"/>
                </a:solidFill>
                <a:latin typeface="Arial"/>
              </a:rPr>
              <a:t>Agile speed but strict audits? Usually a hybrid.</a:t>
            </a:r>
          </a:p>
          <a:p>
            <a:pPr marL="285750" indent="-285750">
              <a:spcAft>
                <a:spcPts val="600"/>
              </a:spcAft>
              <a:buFont typeface="Arial"/>
              <a:buChar char="•"/>
            </a:pPr>
            <a:r>
              <a:rPr sz="1600" b="0">
                <a:solidFill>
                  <a:srgbClr val="1A1A1A"/>
                </a:solidFill>
                <a:latin typeface="Arial"/>
              </a:rPr>
              <a:t>Ask the questions in order; more "yes" answers point to one model.</a:t>
            </a:r>
          </a:p>
        </p:txBody>
      </p:sp>
      <p:sp>
        <p:nvSpPr>
          <p:cNvPr id="25" name="TextBox 2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29 / 33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QE's Place in Each Model</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5</a:t>
            </a:r>
          </a:p>
        </p:txBody>
      </p:sp>
      <p:graphicFrame>
        <p:nvGraphicFramePr>
          <p:cNvPr id="4" name="Table 3"/>
          <p:cNvGraphicFramePr>
            <a:graphicFrameLocks noGrp="1"/>
          </p:cNvGraphicFramePr>
          <p:nvPr/>
        </p:nvGraphicFramePr>
        <p:xfrm>
          <a:off x="612648" y="1691640"/>
          <a:ext cx="10972800" cy="3063240"/>
        </p:xfrm>
        <a:graphic>
          <a:graphicData uri="http://schemas.openxmlformats.org/drawingml/2006/table">
            <a:tbl>
              <a:tblPr/>
              <a:tblGrid>
                <a:gridCol w="2377440"/>
                <a:gridCol w="8595360"/>
              </a:tblGrid>
              <a:tr h="510540">
                <a:tc>
                  <a:txBody>
                    <a:bodyPr/>
                    <a:lstStyle/>
                    <a:p>
                      <a:r>
                        <a:rPr sz="1700" b="1">
                          <a:solidFill>
                            <a:srgbClr val="FFFFFF"/>
                          </a:solidFill>
                          <a:latin typeface="Arial"/>
                        </a:rPr>
                        <a:t>Model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c>
                  <a:txBody>
                    <a:bodyPr/>
                    <a:lstStyle/>
                    <a:p>
                      <a:r>
                        <a:rPr sz="1700" b="1">
                          <a:solidFill>
                            <a:srgbClr val="FFFFFF"/>
                          </a:solidFill>
                          <a:latin typeface="Arial"/>
                        </a:rPr>
                        <a:t>QE position and key activities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330066"/>
                    </a:solidFill>
                  </a:tcPr>
                </a:tc>
              </a:tr>
              <a:tr h="510540">
                <a:tc>
                  <a:txBody>
                    <a:bodyPr/>
                    <a:lstStyle/>
                    <a:p>
                      <a:r>
                        <a:rPr sz="1700" b="1">
                          <a:solidFill>
                            <a:srgbClr val="330066"/>
                          </a:solidFill>
                          <a:latin typeface="Arial"/>
                        </a:rPr>
                        <a:t>Waterfall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Often joins late; best practice is early requirement and design reviews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10540">
                <a:tc>
                  <a:txBody>
                    <a:bodyPr/>
                    <a:lstStyle/>
                    <a:p>
                      <a:r>
                        <a:rPr sz="1700" b="1">
                          <a:solidFill>
                            <a:srgbClr val="330066"/>
                          </a:solidFill>
                          <a:latin typeface="Arial"/>
                        </a:rPr>
                        <a:t>V-Model</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Plans the matching test level alongside each development phase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510540">
                <a:tc>
                  <a:txBody>
                    <a:bodyPr/>
                    <a:lstStyle/>
                    <a:p>
                      <a:r>
                        <a:rPr sz="1700" b="1">
                          <a:solidFill>
                            <a:srgbClr val="330066"/>
                          </a:solidFill>
                          <a:latin typeface="Arial"/>
                        </a:rPr>
                        <a:t>Scrum</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Part of the Developers; tests inside every sprint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10540">
                <a:tc>
                  <a:txBody>
                    <a:bodyPr/>
                    <a:lstStyle/>
                    <a:p>
                      <a:r>
                        <a:rPr sz="1700" b="1">
                          <a:solidFill>
                            <a:srgbClr val="330066"/>
                          </a:solidFill>
                          <a:latin typeface="Arial"/>
                        </a:rPr>
                        <a:t>Kanban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c>
                  <a:txBody>
                    <a:bodyPr/>
                    <a:lstStyle/>
                    <a:p>
                      <a:r>
                        <a:rPr sz="1700" b="0">
                          <a:solidFill>
                            <a:srgbClr val="1A1A1A"/>
                          </a:solidFill>
                          <a:latin typeface="Arial"/>
                        </a:rPr>
                        <a:t>Watches the testing column for bottlenecks; tests each item as it flows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7F5FA"/>
                    </a:solidFill>
                  </a:tcPr>
                </a:tc>
              </a:tr>
              <a:tr h="510540">
                <a:tc>
                  <a:txBody>
                    <a:bodyPr/>
                    <a:lstStyle/>
                    <a:p>
                      <a:r>
                        <a:rPr sz="1700" b="1">
                          <a:solidFill>
                            <a:srgbClr val="330066"/>
                          </a:solidFill>
                          <a:latin typeface="Arial"/>
                        </a:rPr>
                        <a:t>Hybrid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r>
                        <a:rPr sz="1700" b="0">
                          <a:solidFill>
                            <a:srgbClr val="1A1A1A"/>
                          </a:solidFill>
                          <a:latin typeface="Arial"/>
                        </a:rPr>
                        <a:t>Continuous testing in sprints plus formal test phases and sign-offs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
        <p:nvSpPr>
          <p:cNvPr id="5" name="Rounded Rectangle 4"/>
          <p:cNvSpPr/>
          <p:nvPr/>
        </p:nvSpPr>
        <p:spPr>
          <a:xfrm>
            <a:off x="612648" y="4892040"/>
            <a:ext cx="10972800" cy="1234440"/>
          </a:xfrm>
          <a:prstGeom prst="roundRect">
            <a:avLst>
              <a:gd name="adj" fmla="val 12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0">
                <a:solidFill>
                  <a:srgbClr val="1A1A1A"/>
                </a:solidFill>
                <a:latin typeface="Arial"/>
              </a:rPr>
              <a:t/>
            </a:r>
          </a:p>
        </p:txBody>
      </p:sp>
      <p:sp>
        <p:nvSpPr>
          <p:cNvPr id="6" name="TextBox 5"/>
          <p:cNvSpPr txBox="1"/>
          <p:nvPr/>
        </p:nvSpPr>
        <p:spPr>
          <a:xfrm>
            <a:off x="841248" y="5001768"/>
            <a:ext cx="10515600" cy="1014984"/>
          </a:xfrm>
          <a:prstGeom prst="rect">
            <a:avLst/>
          </a:prstGeom>
          <a:noFill/>
        </p:spPr>
        <p:txBody>
          <a:bodyPr wrap="square" lIns="0" tIns="0" rIns="0" bIns="0">
            <a:spAutoFit/>
          </a:bodyPr>
          <a:lstStyle/>
          <a:p>
            <a:pPr>
              <a:spcAft>
                <a:spcPts val="300"/>
              </a:spcAft>
            </a:pPr>
            <a:r>
              <a:rPr sz="1600" b="1">
                <a:solidFill>
                  <a:srgbClr val="5C8A8A"/>
                </a:solidFill>
                <a:latin typeface="Arial"/>
              </a:rPr>
              <a:t>QE MISSION</a:t>
            </a:r>
          </a:p>
          <a:p>
            <a:pPr>
              <a:spcAft>
                <a:spcPts val="300"/>
              </a:spcAft>
            </a:pPr>
            <a:r>
              <a:rPr sz="1600" b="0">
                <a:solidFill>
                  <a:srgbClr val="1A1A1A"/>
                </a:solidFill>
                <a:latin typeface="Arial"/>
              </a:rPr>
              <a:t>In every model: help the team deliver the right product with the right quality.</a:t>
            </a:r>
          </a:p>
        </p:txBody>
      </p:sp>
      <p:sp>
        <p:nvSpPr>
          <p:cNvPr id="7" name="TextBox 6"/>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30 / 33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Mistakes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PART 5</a:t>
            </a:r>
          </a:p>
        </p:txBody>
      </p:sp>
      <p:sp>
        <p:nvSpPr>
          <p:cNvPr id="4" name="TextBox 3"/>
          <p:cNvSpPr txBox="1"/>
          <p:nvPr/>
        </p:nvSpPr>
        <p:spPr>
          <a:xfrm>
            <a:off x="612648" y="1600200"/>
            <a:ext cx="10972800" cy="4343400"/>
          </a:xfrm>
          <a:prstGeom prst="rect">
            <a:avLst/>
          </a:prstGeom>
          <a:noFill/>
        </p:spPr>
        <p:txBody>
          <a:bodyPr wrap="square" lIns="0" tIns="0" rIns="0" bIns="0">
            <a:spAutoFit/>
          </a:bodyPr>
          <a:lstStyle/>
          <a:p>
            <a:pPr marL="285750" indent="-285750">
              <a:spcAft>
                <a:spcPts val="2200"/>
              </a:spcAft>
              <a:buFont typeface="Arial"/>
              <a:buChar char="•"/>
            </a:pPr>
            <a:r>
              <a:rPr sz="2200" b="0">
                <a:solidFill>
                  <a:srgbClr val="1A1A1A"/>
                </a:solidFill>
                <a:latin typeface="Arial"/>
              </a:rPr>
              <a:t>"Agile means no planning or documents": it plans in small steps</a:t>
            </a:r>
          </a:p>
          <a:p>
            <a:pPr marL="285750" indent="-285750">
              <a:spcAft>
                <a:spcPts val="2200"/>
              </a:spcAft>
              <a:buFont typeface="Arial"/>
              <a:buChar char="•"/>
            </a:pPr>
            <a:r>
              <a:rPr sz="2200" b="0">
                <a:solidFill>
                  <a:srgbClr val="1A1A1A"/>
                </a:solidFill>
                <a:latin typeface="Arial"/>
              </a:rPr>
              <a:t>"Agile is faster, so skip testing": it needs more test discipline</a:t>
            </a:r>
          </a:p>
          <a:p>
            <a:pPr marL="285750" indent="-285750">
              <a:spcAft>
                <a:spcPts val="2200"/>
              </a:spcAft>
              <a:buFont typeface="Arial"/>
              <a:buChar char="•"/>
            </a:pPr>
            <a:r>
              <a:rPr sz="2200" b="0">
                <a:solidFill>
                  <a:srgbClr val="1A1A1A"/>
                </a:solidFill>
                <a:latin typeface="Arial"/>
              </a:rPr>
              <a:t>"Waterfall is always bad": it suits stable, regulated work</a:t>
            </a:r>
          </a:p>
          <a:p>
            <a:pPr marL="285750" indent="-285750">
              <a:spcAft>
                <a:spcPts val="2200"/>
              </a:spcAft>
              <a:buFont typeface="Arial"/>
              <a:buChar char="•"/>
            </a:pPr>
            <a:r>
              <a:rPr sz="2200" b="0">
                <a:solidFill>
                  <a:srgbClr val="1A1A1A"/>
                </a:solidFill>
                <a:latin typeface="Arial"/>
              </a:rPr>
              <a:t>"Scrum and Agile are the same": Scrum is one Agile framework</a:t>
            </a:r>
          </a:p>
          <a:p>
            <a:pPr marL="285750" indent="-285750">
              <a:spcAft>
                <a:spcPts val="2200"/>
              </a:spcAft>
              <a:buFont typeface="Arial"/>
              <a:buChar char="•"/>
            </a:pPr>
            <a:r>
              <a:rPr sz="2200" b="0">
                <a:solidFill>
                  <a:srgbClr val="1A1A1A"/>
                </a:solidFill>
                <a:latin typeface="Arial"/>
              </a:rPr>
              <a:t>"Kanban has no rules": it has WIP limits and explicit policies</a:t>
            </a:r>
          </a:p>
          <a:p>
            <a:pPr marL="285750" indent="-285750">
              <a:spcAft>
                <a:spcPts val="2200"/>
              </a:spcAft>
              <a:buFont typeface="Arial"/>
              <a:buChar char="•"/>
            </a:pPr>
            <a:r>
              <a:rPr sz="2200" b="0">
                <a:solidFill>
                  <a:srgbClr val="1A1A1A"/>
                </a:solidFill>
                <a:latin typeface="Arial"/>
              </a:rPr>
              <a:t>"Stand-ups and boards make us Agile": the values matter</a:t>
            </a:r>
          </a:p>
        </p:txBody>
      </p:sp>
      <p:sp>
        <p:nvSpPr>
          <p:cNvPr id="5" name="TextBox 4"/>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31 / 33</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TextBox 2"/>
          <p:cNvSpPr txBox="1"/>
          <p:nvPr/>
        </p:nvSpPr>
        <p:spPr>
          <a:xfrm>
            <a:off x="612648" y="18288"/>
            <a:ext cx="10972800" cy="274320"/>
          </a:xfrm>
          <a:prstGeom prst="rect">
            <a:avLst/>
          </a:prstGeom>
          <a:noFill/>
        </p:spPr>
        <p:txBody>
          <a:bodyPr wrap="square" lIns="0" tIns="0" rIns="0" bIns="0">
            <a:spAutoFit/>
          </a:bodyPr>
          <a:lstStyle/>
          <a:p>
            <a:pPr>
              <a:spcAft>
                <a:spcPts val="600"/>
              </a:spcAft>
            </a:pPr>
            <a:r>
              <a:rPr sz="1200" b="1">
                <a:solidFill>
                  <a:srgbClr val="669999"/>
                </a:solidFill>
                <a:latin typeface="Arial"/>
              </a:rPr>
              <a:t>SUMMARY</a:t>
            </a:r>
          </a:p>
        </p:txBody>
      </p:sp>
      <p:sp>
        <p:nvSpPr>
          <p:cNvPr id="4" name="Oval 3"/>
          <p:cNvSpPr/>
          <p:nvPr/>
        </p:nvSpPr>
        <p:spPr>
          <a:xfrm>
            <a:off x="612648" y="169164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1</a:t>
            </a:r>
          </a:p>
        </p:txBody>
      </p:sp>
      <p:sp>
        <p:nvSpPr>
          <p:cNvPr id="5" name="TextBox 4"/>
          <p:cNvSpPr txBox="1"/>
          <p:nvPr/>
        </p:nvSpPr>
        <p:spPr>
          <a:xfrm>
            <a:off x="1298448" y="172821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A delivery model arranges the same SDLC phases in different ways.</a:t>
            </a:r>
          </a:p>
        </p:txBody>
      </p:sp>
      <p:sp>
        <p:nvSpPr>
          <p:cNvPr id="6" name="Oval 5"/>
          <p:cNvSpPr/>
          <p:nvPr/>
        </p:nvSpPr>
        <p:spPr>
          <a:xfrm>
            <a:off x="612648" y="243840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2</a:t>
            </a:r>
          </a:p>
        </p:txBody>
      </p:sp>
      <p:sp>
        <p:nvSpPr>
          <p:cNvPr id="7" name="TextBox 6"/>
          <p:cNvSpPr txBox="1"/>
          <p:nvPr/>
        </p:nvSpPr>
        <p:spPr>
          <a:xfrm>
            <a:off x="1298448" y="247497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Waterfall and the V-Model are sequential; the V plans tests early.</a:t>
            </a:r>
          </a:p>
        </p:txBody>
      </p:sp>
      <p:sp>
        <p:nvSpPr>
          <p:cNvPr id="8" name="Oval 7"/>
          <p:cNvSpPr/>
          <p:nvPr/>
        </p:nvSpPr>
        <p:spPr>
          <a:xfrm>
            <a:off x="612648" y="318516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3</a:t>
            </a:r>
          </a:p>
        </p:txBody>
      </p:sp>
      <p:sp>
        <p:nvSpPr>
          <p:cNvPr id="9" name="TextBox 8"/>
          <p:cNvSpPr txBox="1"/>
          <p:nvPr/>
        </p:nvSpPr>
        <p:spPr>
          <a:xfrm>
            <a:off x="1298448" y="322173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Agile is values and principles: short cycles, feedback, change welcome.</a:t>
            </a:r>
          </a:p>
        </p:txBody>
      </p:sp>
      <p:sp>
        <p:nvSpPr>
          <p:cNvPr id="10" name="Oval 9"/>
          <p:cNvSpPr/>
          <p:nvPr/>
        </p:nvSpPr>
        <p:spPr>
          <a:xfrm>
            <a:off x="612648" y="393192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4</a:t>
            </a:r>
          </a:p>
        </p:txBody>
      </p:sp>
      <p:sp>
        <p:nvSpPr>
          <p:cNvPr id="11" name="TextBox 10"/>
          <p:cNvSpPr txBox="1"/>
          <p:nvPr/>
        </p:nvSpPr>
        <p:spPr>
          <a:xfrm>
            <a:off x="1298448" y="396849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Scrum uses sprints; Kanban uses a board, WIP limits and flow.</a:t>
            </a:r>
          </a:p>
        </p:txBody>
      </p:sp>
      <p:sp>
        <p:nvSpPr>
          <p:cNvPr id="12" name="Oval 11"/>
          <p:cNvSpPr/>
          <p:nvPr/>
        </p:nvSpPr>
        <p:spPr>
          <a:xfrm>
            <a:off x="612648" y="467868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5</a:t>
            </a:r>
          </a:p>
        </p:txBody>
      </p:sp>
      <p:sp>
        <p:nvSpPr>
          <p:cNvPr id="13" name="TextBox 12"/>
          <p:cNvSpPr txBox="1"/>
          <p:nvPr/>
        </p:nvSpPr>
        <p:spPr>
          <a:xfrm>
            <a:off x="1298448" y="471525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Hybrids are legitimate; choose by stability, regulation and feedback.</a:t>
            </a:r>
          </a:p>
        </p:txBody>
      </p:sp>
      <p:sp>
        <p:nvSpPr>
          <p:cNvPr id="14" name="Oval 13"/>
          <p:cNvSpPr/>
          <p:nvPr/>
        </p:nvSpPr>
        <p:spPr>
          <a:xfrm>
            <a:off x="612648" y="5425440"/>
            <a:ext cx="457200" cy="457200"/>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r>
              <a:rPr sz="1400" b="1">
                <a:solidFill>
                  <a:srgbClr val="FFFFFF"/>
                </a:solidFill>
                <a:latin typeface="Arial"/>
              </a:rPr>
              <a:t>6</a:t>
            </a:r>
          </a:p>
        </p:txBody>
      </p:sp>
      <p:sp>
        <p:nvSpPr>
          <p:cNvPr id="15" name="TextBox 14"/>
          <p:cNvSpPr txBox="1"/>
          <p:nvPr/>
        </p:nvSpPr>
        <p:spPr>
          <a:xfrm>
            <a:off x="1298448" y="5462016"/>
            <a:ext cx="10287000" cy="701040"/>
          </a:xfrm>
          <a:prstGeom prst="rect">
            <a:avLst/>
          </a:prstGeom>
          <a:noFill/>
        </p:spPr>
        <p:txBody>
          <a:bodyPr wrap="square" lIns="0" tIns="0" rIns="0" bIns="0">
            <a:spAutoFit/>
          </a:bodyPr>
          <a:lstStyle/>
          <a:p>
            <a:pPr>
              <a:spcAft>
                <a:spcPts val="600"/>
              </a:spcAft>
            </a:pPr>
            <a:r>
              <a:rPr sz="1800" b="0">
                <a:solidFill>
                  <a:srgbClr val="1A1A1A"/>
                </a:solidFill>
                <a:latin typeface="Arial"/>
              </a:rPr>
              <a:t>In every model the QE helps deliver the right product, well.</a:t>
            </a:r>
          </a:p>
        </p:txBody>
      </p:sp>
      <p:sp>
        <p:nvSpPr>
          <p:cNvPr id="16" name="TextBox 15"/>
          <p:cNvSpPr txBox="1"/>
          <p:nvPr/>
        </p:nvSpPr>
        <p:spPr>
          <a:xfrm>
            <a:off x="612648" y="6382512"/>
            <a:ext cx="8686800" cy="137160"/>
          </a:xfrm>
          <a:prstGeom prst="rect">
            <a:avLst/>
          </a:prstGeom>
          <a:noFill/>
        </p:spPr>
        <p:txBody>
          <a:bodyPr wrap="square" lIns="0" tIns="0" rIns="0" bIns="0">
            <a:spAutoFit/>
          </a:bodyPr>
          <a:lstStyle/>
          <a:p>
            <a:pPr>
              <a:spcAft>
                <a:spcPts val="600"/>
              </a:spcAft>
            </a:pPr>
            <a:r>
              <a:rPr sz="900" b="0">
                <a:solidFill>
                  <a:srgbClr val="5A5A5A"/>
                </a:solidFill>
                <a:latin typeface="Arial"/>
              </a:rPr>
              <a:t>32 / 33</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6600</Words>
  <Application>Microsoft Office PowerPoint</Application>
  <PresentationFormat>Widescreen</PresentationFormat>
  <Paragraphs>785</Paragraphs>
  <Slides>69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Courier New</vt:lpstr>
      <vt:lpstr>Wingdings</vt:lpstr>
      <vt:lpstr>Learners Point</vt:lpstr>
      <vt:lpstr>Delivery Models</vt:lpstr>
      <vt:lpstr>Learning Objectives (1 of 2)</vt:lpstr>
      <vt:lpstr>Learning Objectives (2 of 2)</vt:lpstr>
      <vt:lpstr>What Is a Delivery Model?</vt:lpstr>
      <vt:lpstr>Delivery Model Defined</vt:lpstr>
      <vt:lpstr>The Cooking Analogy</vt:lpstr>
      <vt:lpstr>Iterative and Incremental</vt:lpstr>
      <vt:lpstr>Waterfall</vt:lpstr>
      <vt:lpstr>Waterfall: History</vt:lpstr>
      <vt:lpstr>Waterfall Phases</vt:lpstr>
      <vt:lpstr>Waterfall: Strengths and Weaknesses</vt:lpstr>
      <vt:lpstr>The Late-Testing Problem</vt:lpstr>
      <vt:lpstr>Static Testing Even in Waterfall</vt:lpstr>
      <vt:lpstr>When to Use Waterfall</vt:lpstr>
      <vt:lpstr>Worked Example: PageTurn</vt:lpstr>
      <vt:lpstr>The V-Model</vt:lpstr>
      <vt:lpstr>V-Model Diagram</vt:lpstr>
      <vt:lpstr>V-Model Pairings</vt:lpstr>
      <vt:lpstr>Verification and Validation</vt:lpstr>
      <vt:lpstr>V-Model: Strengths and Weaknesses</vt:lpstr>
      <vt:lpstr>Agile</vt:lpstr>
      <vt:lpstr>Why Agile Emerged</vt:lpstr>
      <vt:lpstr>The Four Agile Values</vt:lpstr>
      <vt:lpstr>Twelve Principles (1 of 3)</vt:lpstr>
      <vt:lpstr>Twelve Principles (2 of 3)</vt:lpstr>
      <vt:lpstr>Twelve Principles (3 of 3)</vt:lpstr>
      <vt:lpstr>Waterfall vs Agile Timeline</vt:lpstr>
      <vt:lpstr>Agile: Benefits and Challenges</vt:lpstr>
      <vt:lpstr>Testing in Agile (1 of 2)</vt:lpstr>
      <vt:lpstr>Testing in Agile (2 of 2)</vt:lpstr>
      <vt:lpstr>Scrum Overview</vt:lpstr>
      <vt:lpstr>What Is Scrum?</vt:lpstr>
      <vt:lpstr>Three Pillars of Empiricism</vt:lpstr>
      <vt:lpstr>The Sprint</vt:lpstr>
      <vt:lpstr>The Three Artifacts</vt:lpstr>
      <vt:lpstr>Naming the Rest</vt:lpstr>
      <vt:lpstr>Kanban</vt:lpstr>
      <vt:lpstr>What Is Kanban?</vt:lpstr>
      <vt:lpstr>Kanban Principles and Practices</vt:lpstr>
      <vt:lpstr>The Kanban Board</vt:lpstr>
      <vt:lpstr>WIP Limits</vt:lpstr>
      <vt:lpstr>Pull System and Flow</vt:lpstr>
      <vt:lpstr>Lead Time and Cycle Time</vt:lpstr>
      <vt:lpstr>Why Track Them; When to Use Kanban</vt:lpstr>
      <vt:lpstr>Kanban vs Scrum (1 of 2)</vt:lpstr>
      <vt:lpstr>Kanban vs Scrum (2 of 2)</vt:lpstr>
      <vt:lpstr>Hybrid Approaches</vt:lpstr>
      <vt:lpstr>Hybrid Approaches</vt:lpstr>
      <vt:lpstr>Water-Scrum-Fall</vt:lpstr>
      <vt:lpstr>Scrumban and Regulated Industries</vt:lpstr>
      <vt:lpstr>Comparing and Choosing</vt:lpstr>
      <vt:lpstr>All Approaches Compared (1 of 3)</vt:lpstr>
      <vt:lpstr>All Approaches Compared (2 of 3)</vt:lpstr>
      <vt:lpstr>All Approaches Compared (3 of 3)</vt:lpstr>
      <vt:lpstr>Decision Guide (1 of 2)</vt:lpstr>
      <vt:lpstr>Decision Guide (2 of 2)</vt:lpstr>
      <vt:lpstr>Rules of Thumb</vt:lpstr>
      <vt:lpstr>PageTurn Books: Waterfall and V</vt:lpstr>
      <vt:lpstr>PageTurn Books: Scrum</vt:lpstr>
      <vt:lpstr>PageTurn Books: Kanban and Hybrid</vt:lpstr>
      <vt:lpstr>Practical Scenarios</vt:lpstr>
      <vt:lpstr>QE Position in Each Model (1 of 2)</vt:lpstr>
      <vt:lpstr>QE Position in Each Model (2 of 2)</vt:lpstr>
      <vt:lpstr>Misconceptions</vt:lpstr>
      <vt:lpstr>Common Misconceptions (1 of 2)</vt:lpstr>
      <vt:lpstr>Common Misconceptions (2 of 2)</vt:lpstr>
      <vt:lpstr>Key Takeaways (1 of 2)</vt:lpstr>
      <vt:lpstr>Key Takeaways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3</cp:revision>
  <dcterms:modified xsi:type="dcterms:W3CDTF">2026-10-23T17:25:19Z</dcterms:modified>
</cp:coreProperties>
</file>