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98" r:id="rId4"/>
    <p:sldId id="399" r:id="rId5"/>
    <p:sldId id="400" r:id="rId6"/>
    <p:sldId id="401" r:id="rId7"/>
    <p:sldId id="402" r:id="rId8"/>
    <p:sldId id="403" r:id="rId9"/>
    <p:sldId id="404" r:id="rId10"/>
    <p:sldId id="405" r:id="rId11"/>
    <p:sldId id="406" r:id="rId12"/>
    <p:sldId id="407" r:id="rId13"/>
    <p:sldId id="408" r:id="rId14"/>
    <p:sldId id="409" r:id="rId15"/>
    <p:sldId id="410" r:id="rId16"/>
    <p:sldId id="411" r:id="rId17"/>
    <p:sldId id="412" r:id="rId18"/>
    <p:sldId id="413" r:id="rId19"/>
    <p:sldId id="414" r:id="rId20"/>
    <p:sldId id="415" r:id="rId21"/>
    <p:sldId id="416" r:id="rId22"/>
    <p:sldId id="417" r:id="rId23"/>
    <p:sldId id="418" r:id="rId24"/>
    <p:sldId id="419" r:id="rId25"/>
    <p:sldId id="420" r:id="rId26"/>
    <p:sldId id="421" r:id="rId27"/>
    <p:sldId id="422" r:id="rId28"/>
    <p:sldId id="423" r:id="rId29"/>
    <p:sldId id="424" r:id="rId30"/>
    <p:sldId id="425" r:id="rId31"/>
    <p:sldId id="426" r:id="rId32"/>
    <p:sldId id="427" r:id="rId33"/>
    <p:sldId id="428" r:id="rId34"/>
    <p:sldId id="429" r:id="rId35"/>
    <p:sldId id="397" r:id="rId143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143" Type="http://schemas.openxmlformats.org/officeDocument/2006/relationships/slide" Target="slides/slide14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time (ms)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Sheet1!$A$2:$A$3</c:f>
              <c:strCache>
                <c:ptCount val="2"/>
                <c:pt idx="0">
                  <c:v>95 logins</c:v>
                </c:pt>
                <c:pt idx="1">
                  <c:v>5 logins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200</c:v>
                </c:pt>
                <c:pt idx="1">
                  <c:v>8000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A1A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400">
                <a:solidFill>
                  <a:srgbClr val="5A5A5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5A5A5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Journey mix</c:v>
                </c:pt>
              </c:strCache>
            </c:strRef>
          </c:tx>
          <c:dPt>
            <c:idx val="0"/>
            <c:spPr>
              <a:solidFill>
                <a:srgbClr val="1F4E79"/>
              </a:solidFill>
            </c:spPr>
          </c:dPt>
          <c:dPt>
            <c:idx val="1"/>
            <c:spPr>
              <a:solidFill>
                <a:srgbClr val="2E7D32"/>
              </a:solidFill>
            </c:spPr>
          </c:dPt>
          <c:dPt>
            <c:idx val="2"/>
            <c:spPr>
              <a:solidFill>
                <a:srgbClr val="C55A11"/>
              </a:solidFill>
            </c:spPr>
          </c:dPt>
          <c:dPt>
            <c:idx val="3"/>
            <c:spPr>
              <a:solidFill>
                <a:srgbClr val="808080"/>
              </a:solidFill>
            </c:spPr>
          </c:dPt>
          <c:cat>
            <c:strRef>
              <c:f>Sheet1!$A$2:$A$5</c:f>
              <c:strCache>
                <c:ptCount val="4"/>
                <c:pt idx="0">
                  <c:v>Login and browse 70%</c:v>
                </c:pt>
                <c:pt idx="1">
                  <c:v>Register 15%</c:v>
                </c:pt>
                <c:pt idx="2">
                  <c:v>Reset password 10%</c:v>
                </c:pt>
                <c:pt idx="3">
                  <c:v>Log out 5%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15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p95 response time (ms)</c:v>
                </c:pt>
              </c:strCache>
            </c:strRef>
          </c:tx>
          <c:spPr>
            <a:ln w="34925">
              <a:solidFill>
                <a:srgbClr val="C00000"/>
              </a:solidFill>
            </a:ln>
          </c:spPr>
          <c:marker>
            <c:spPr>
              <a:solidFill>
                <a:srgbClr val="C00000"/>
              </a:solidFill>
              <a:ln>
                <a:solidFill>
                  <a:srgbClr val="C00000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210</c:v>
                </c:pt>
                <c:pt idx="1">
                  <c:v>220</c:v>
                </c:pt>
                <c:pt idx="2">
                  <c:v>240</c:v>
                </c:pt>
                <c:pt idx="3">
                  <c:v>300</c:v>
                </c:pt>
                <c:pt idx="4">
                  <c:v>620</c:v>
                </c:pt>
                <c:pt idx="5">
                  <c:v>1500</c:v>
                </c:pt>
                <c:pt idx="6">
                  <c:v>3200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>
                <a:solidFill>
                  <a:srgbClr val="5A5A5A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A5A5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(requests/s)</c:v>
                </c:pt>
              </c:strCache>
            </c:strRef>
          </c:tx>
          <c:spPr>
            <a:ln w="34925">
              <a:solidFill>
                <a:srgbClr val="1F4E79"/>
              </a:solidFill>
            </a:ln>
          </c:spPr>
          <c:marker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</c:v>
                </c:pt>
                <c:pt idx="1">
                  <c:v>49</c:v>
                </c:pt>
                <c:pt idx="2">
                  <c:v>97</c:v>
                </c:pt>
                <c:pt idx="3">
                  <c:v>140</c:v>
                </c:pt>
                <c:pt idx="4">
                  <c:v>160</c:v>
                </c:pt>
                <c:pt idx="5">
                  <c:v>165</c:v>
                </c:pt>
                <c:pt idx="6">
                  <c:v>150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>
                <a:solidFill>
                  <a:srgbClr val="5A5A5A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A5A5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Sixth deck of the day; the demo's performance overview with a local mini load test follows it.</a:t>
            </a:r>
          </a:p>
          <a:p>
            <a:r>
              <a:t>Functional vs non-functional introduced the family; this deck is the core for performance.</a:t>
            </a:r>
          </a:p>
          <a:p>
            <a:r>
              <a:t>One analogy: a motorway at rush hour.</a:t>
            </a:r>
          </a:p>
          <a:p>
            <a:r>
              <a:t>The written lesson keeps the Python mini load test and its output, the plan template, the full workload arithmetic and the scenario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'Two weeks of flawless functional tests. Launch day: 2,000 people log in at 9:00. What can go wrong?'</a:t>
            </a:r>
          </a:p>
          <a:p>
            <a:r>
              <a:t>No load tool is installed today; the demo runs a safe local script.</a:t>
            </a:r>
          </a:p>
          <a:p>
            <a:r>
              <a:t>Tools (JMeter, k6, Gatling, Locust) are names for later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1: two views, one analogy, why it matters.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Performance testing is a non-functional type (previous decks).</a:t>
            </a:r>
          </a:p>
          <a:p>
            <a:r>
              <a:t>Correctness still matters under load: a fast wrong answer is a failure.</a:t>
            </a:r>
          </a:p>
          <a:p>
            <a:r>
              <a:t>Resource use links to cost: an inefficient system needs more servers.</a:t>
            </a:r>
          </a:p>
          <a:p>
            <a:r>
              <a:t>Ask: which view does Sunita (business owner) care about most? (Both: users leaving cost money.)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deck's one analogy; it returns in Parts 3 and 5 (the knee, the bottleneck).</a:t>
            </a:r>
          </a:p>
          <a:p>
            <a:r>
              <a:t>A spike test is a match ending and everyone leaving at once; a soak test is the road after months of heavy lorries.</a:t>
            </a:r>
          </a:p>
          <a:p>
            <a:r>
              <a:t>Ask: which car problem matches a database with too few connections? (The one-lane roadworks.)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SLA: a formal promise with consequences; SLI and SLO are explained in the reliability deck.</a:t>
            </a:r>
          </a:p>
          <a:p>
            <a:r>
              <a:t>A peak outage costs far more than fixing the same query during testing.</a:t>
            </a:r>
          </a:p>
          <a:p>
            <a:r>
              <a:t>Understanding the concepts makes a tester noticeably more valuable, even without tool expertise.</a:t>
            </a:r>
          </a:p>
          <a:p>
            <a:r>
              <a:t>Ask: which of these would you put in front of Rohan to win time for performance work?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the performance umbrella and the shape of each test.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Performance testing is the umbrella term; each type answers one question.</a:t>
            </a:r>
          </a:p>
          <a:p>
            <a:r>
              <a:t>Load and stress are the two in the deck title; the others are variations.</a:t>
            </a:r>
          </a:p>
          <a:p>
            <a:r>
              <a:t>Scalability gets its own part in the reliability and scalability deck.</a:t>
            </a:r>
          </a:p>
          <a:p>
            <a:r>
              <a:t>Ask: '10,000 users added over an hour until errors appear.' Which type? (Stress.)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Drawn from load-test-shapes.mermaid; the demo draws the same four graphs on the board.</a:t>
            </a:r>
          </a:p>
          <a:p>
            <a:r>
              <a:t>Pass/fail measurements come from the steady state, not the ramp.</a:t>
            </a:r>
          </a:p>
          <a:p>
            <a:r>
              <a:t>After stress and spike, check recovery: does it return to normal without a restart?</a:t>
            </a:r>
          </a:p>
          <a:p>
            <a:r>
              <a:t>Ask: which shape finds a memory leak? (Soak.)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stress test does not 'pass' by not breaking; it passes by breaking well and recovering.</a:t>
            </a:r>
          </a:p>
          <a:p>
            <a:r>
              <a:t>No half-created user accounts after the stress run: check the data, not only the graphs.</a:t>
            </a:r>
          </a:p>
          <a:p>
            <a:r>
              <a:t>Capacity test: the highest load that still meets targets (for example 85 RPS against a planned 44).</a:t>
            </a:r>
          </a:p>
          <a:p>
            <a:r>
              <a:t>The pass criteria numbers are examples; real ones come from agreed NFRs.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Spike example: 10 logins per second jumps tenfold for two minutes.</a:t>
            </a:r>
          </a:p>
          <a:p>
            <a:r>
              <a:t>Soak example: 60% of peak for eight hours, watching memory, connections and response time.</a:t>
            </a:r>
          </a:p>
          <a:p>
            <a:r>
              <a:t>Volume: a missing database index is invisible with 50 test users.</a:t>
            </a:r>
          </a:p>
          <a:p>
            <a:r>
              <a:t>Ask: why does a fresh test environment hide volume problems? (Too little data.)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3: users and requests, time, percentiles and limits.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think time every VU hammers the server: unrealistic load and misleading results.</a:t>
            </a:r>
          </a:p>
          <a:p>
            <a:r>
              <a:t>Pacing controls how often each VU starts a new journey.</a:t>
            </a:r>
          </a:p>
          <a:p>
            <a:r>
              <a:t>Always ask which number a target means: users, requests or transactions.</a:t>
            </a:r>
          </a:p>
          <a:p>
            <a:r>
              <a:t>Ask: a target says '1,000 users'. What else do you need to know? (Their actions and think time.)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Segment widths are illustrative, not measured.</a:t>
            </a:r>
          </a:p>
          <a:p>
            <a:r>
              <a:t>Some tools use 'latency' for the network part only: check the tool's definition.</a:t>
            </a:r>
          </a:p>
          <a:p>
            <a:r>
              <a:t>Front-end metrics (LCP, INP, CLS; Lighthouse) measure the browser side (names only).</a:t>
            </a:r>
          </a:p>
          <a:p>
            <a:r>
              <a:t>Ask: processing is 100 ms but the page takes 6 s. Where would you look? (Download size, front-end.)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 plan: 5 minutes ramp-up, 30 minutes steady state, 5 minutes ramp-down.</a:t>
            </a:r>
          </a:p>
          <a:p>
            <a:r>
              <a:t>Warm-up effects: caches fill, the runtime optimises, connection pools open.</a:t>
            </a:r>
          </a:p>
          <a:p>
            <a:r>
              <a:t>Exception: a spike test starts users suddenly on purpose.</a:t>
            </a:r>
          </a:p>
          <a:p>
            <a:r>
              <a:t>Ask: the first two minutes are slow, then fine. Defect? (Usually warm-up; note it and check it is not a cold-start problem users see.)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Percentile pN: the value below which N percent of results fall.</a:t>
            </a:r>
          </a:p>
          <a:p>
            <a:r>
              <a:t>Nearest rank: sort, then take position ceiling(N / 100 x count).</a:t>
            </a:r>
          </a:p>
          <a:p>
            <a:r>
              <a:t>p90 and p95 are common targets; p99 shows the worst everyday experience; never average percentiles.</a:t>
            </a:r>
          </a:p>
          <a:p>
            <a:r>
              <a:t>Example from the written lesson: ten logins with one at 2,720 ms: average 470 passes an 800 ms target, but one user in ten waited nearly 3 seconds.</a:t>
            </a:r>
          </a:p>
          <a:p>
            <a:r>
              <a:t>Ask: which number would you put in the requirement? (p95, with a load and a time.)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200 OK with an error message in the body is also an error: check content, not only status codes.</a:t>
            </a:r>
          </a:p>
          <a:p>
            <a:r>
              <a:t>Connection pools, queues and caches decide when saturation starts.</a:t>
            </a:r>
          </a:p>
          <a:p>
            <a:r>
              <a:t>Memory that climbs and never levels off suggests a leak.</a:t>
            </a:r>
          </a:p>
          <a:p>
            <a:r>
              <a:t>Ask: CPU is at 30% but responses are slow. What does that suggest? (Something is waiting: a pool, a lock, a slow external call.)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4: the nine-step process and a workload model with real arithmetic.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Like Tuesday's planning and execution cycle, not 'point a tool at the site and press go'.</a:t>
            </a:r>
          </a:p>
          <a:p>
            <a:r>
              <a:t>Without server-side monitoring a test shows that something is slow, not why.</a:t>
            </a:r>
          </a:p>
          <a:p>
            <a:r>
              <a:t>Report: a short summary for managers, detail for engineers.</a:t>
            </a:r>
          </a:p>
          <a:p>
            <a:r>
              <a:t>The plan template is in the written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five chips are what every performance requirement needs (previous deck: measurable NFRs).</a:t>
            </a:r>
          </a:p>
          <a:p>
            <a:r>
              <a:t>Rohan and Sunita agree the targets; Ananya makes them testable.</a:t>
            </a:r>
          </a:p>
          <a:p>
            <a:r>
              <a:t>SLOs and SLAs formalise targets (reliability deck).</a:t>
            </a:r>
          </a:p>
          <a:p>
            <a:r>
              <a:t>Ask: what is missing from 'the site must handle Black Friday'? (Every chip.)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numbers are teaching assumptions; real ones come from analytics or forecasts.</a:t>
            </a:r>
          </a:p>
          <a:p>
            <a:r>
              <a:t>Weighted requests: 0.70 x 10 + 0.15 x 8 + 0.10 x 3 + 0.05 x 4 = 8.7.</a:t>
            </a:r>
          </a:p>
          <a:p>
            <a:r>
              <a:t>Never design only for the expected peak: forecasts are wrong and traffic is uneven.</a:t>
            </a:r>
          </a:p>
          <a:p>
            <a:r>
              <a:t>The full worked example (steps A to G) is in the written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Average journey time 192 s includes think time (weighted over the mix).</a:t>
            </a:r>
          </a:p>
          <a:p>
            <a:r>
              <a:t>Closed model: a fixed number of VUs loop with think time. Open model: a fixed arrival rate regardless of how slow the system gets.</a:t>
            </a:r>
          </a:p>
          <a:p>
            <a:r>
              <a:t>Open models suit public sites, where users keep arriving even when it is slow.</a:t>
            </a:r>
          </a:p>
          <a:p>
            <a:r>
              <a:t>Ask: if each journey took twice as long, how many concurrent users? (1,920.)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5: read numbers like a professional.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written example p99 for submit login is nearly double p95: check at 150% load before release.</a:t>
            </a:r>
          </a:p>
          <a:p>
            <a:r>
              <a:t>Throughput achieved should match the target; otherwise the test did not apply the load it claims.</a:t>
            </a:r>
          </a:p>
          <a:p>
            <a:r>
              <a:t>Resource columns (CPU, memory, connections) belong next to these numbers.</a:t>
            </a:r>
          </a:p>
          <a:p>
            <a:r>
              <a:t>Ask: everything passes. What would you still report? (The thin margins and the next test to run.)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Flat region: resources are free, extra load barely changes time.</a:t>
            </a:r>
          </a:p>
          <a:p>
            <a:r>
              <a:t>Knee: a resource saturates and requests queue; time climbs steeply.</a:t>
            </a:r>
          </a:p>
          <a:p>
            <a:r>
              <a:t>Past saturation throughput can even fall as the system thrashes.</a:t>
            </a:r>
          </a:p>
          <a:p>
            <a:r>
              <a:t>Motorway: the knee is where the jam starts. Illustrative numbers.</a:t>
            </a:r>
          </a:p>
          <a:p>
            <a:r>
              <a:t>Ask: where would you set capacity for this system? (Below the knee, with headroom.)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tester often does not fix the bottleneck: find it, show the evidence, and retest after the fix.</a:t>
            </a:r>
          </a:p>
          <a:p>
            <a:r>
              <a:t>Evidence: graphs over time, resource data, which transaction is slow.</a:t>
            </a:r>
          </a:p>
          <a:p>
            <a:r>
              <a:t>Karan and Vikram use the evidence to choose a fix: an index, a bigger pool, a cache.</a:t>
            </a:r>
          </a:p>
          <a:p>
            <a:r>
              <a:t>Ask: the database CPU is low but all 20 connections are busy. Next step? (Look for slow queries holding connections.)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Missing index: a phone book in random order means reading every entry.</a:t>
            </a:r>
          </a:p>
          <a:p>
            <a:r>
              <a:t>N+1: listing 100 users with their countries as 101 queries instead of one.</a:t>
            </a:r>
          </a:p>
          <a:p>
            <a:r>
              <a:t>Front-end: Core Web Vitals (LCP, INP, CLS) and Lighthouse measure the browser side (names only).</a:t>
            </a:r>
          </a:p>
          <a:p>
            <a:r>
              <a:t>Monitoring tools (Prometheus, Grafana, APM) are names for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6: performance in the pipeline, pitfalls and safety.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design problem found a week before launch is costly; a budget breach found per build is cheap.</a:t>
            </a:r>
          </a:p>
          <a:p>
            <a:r>
              <a:t>Tools such as k6 express budgets as thresholds that fail the run (name only; Week 7 for pipelines).</a:t>
            </a:r>
          </a:p>
          <a:p>
            <a:r>
              <a:t>AI can draft scripts and suggest hypotheses, but every claim needs evidence from real measurements (Week 8).</a:t>
            </a:r>
          </a:p>
          <a:p>
            <a:r>
              <a:t>Ask: why not run the full load test on every build? (Time and a production-like environment are needed.)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test environment is smaller, say so and treat results as relative, not absolute.</a:t>
            </a:r>
          </a:p>
          <a:p>
            <a:r>
              <a:t>Book exclusive time on shared environments.</a:t>
            </a:r>
          </a:p>
          <a:p>
            <a:r>
              <a:t>Reset data between runs; use synthetic, anonymised data.</a:t>
            </a:r>
          </a:p>
          <a:p>
            <a:r>
              <a:t>Ask: all VUs log in as the same user. What goes wrong? (Caching looks too fast; row locking looks too slow.)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 a site without permission may be illegal; the demo script binds to 127.0.0.1 and refuses anything else.</a:t>
            </a:r>
          </a:p>
          <a:p>
            <a:r>
              <a:t>The Python mini load test and its output are in the written lesson.</a:t>
            </a:r>
          </a:p>
          <a:p>
            <a:r>
              <a:t>A wrong address in an AI-generated script is an easy and serious mistake.</a:t>
            </a:r>
          </a:p>
          <a:p>
            <a:r>
              <a:t>The tool matters less than the thinking: workload, data, percentiles and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Others: happy-path-only scripts; one account for every VU; ignoring warm-up; averaging percentiles; testing systems without permission; trusting an AI hypothesis without data.</a:t>
            </a:r>
          </a:p>
          <a:p>
            <a:r>
              <a:t>Ask: which mistake makes a 3-second wait invisible?</a:t>
            </a:r>
          </a:p>
          <a:p>
            <a:r>
              <a:t>Quick quiz: read a mistake aloud and ask the class for the fix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'Start with 10 users, add 10 every 5 minutes until errors at 130.' Which type? (Stress; 130 is the breaking point.)</a:t>
            </a:r>
          </a:p>
          <a:p>
            <a:r>
              <a:t>Bridge: last deck, reliability and scalability: what happens when parts fail and when demand grows.</a:t>
            </a:r>
          </a:p>
          <a:p>
            <a:r>
              <a:t>Give learners one minute to write the takeaway they found most useful;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has the Python mini load test and its output, the plan template, the full workload model and the scenario tables.</a:t>
            </a:r>
          </a:p>
          <a:p>
            <a:r>
              <a:t>Resources are for self-study after class; none are needed for today's exercise.</a:t>
            </a:r>
          </a:p>
          <a:p>
            <a:r>
              <a:t>The written lesson for this topic is the full reference; slides are the 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10/14/2025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10/14/2025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Performance and Stress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WEEK 3 · FRIDAY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Is it still correct, fast and consistent when the room is full?</a:t>
            </a:r>
          </a:p>
        </p:txBody>
      </p:sp>
      <p:sp>
        <p:nvSpPr>
          <p:cNvPr id="20" name="Oval 19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1" name="Oval 20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" y="3520440"/>
            <a:ext cx="1648721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341404" y="3630168"/>
            <a:ext cx="240105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661544" y="3520440"/>
            <a:ext cx="128056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Test types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022139" y="3630168"/>
            <a:ext cx="240105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42279" y="3520440"/>
            <a:ext cx="128056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Vocabulary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702874" y="3630168"/>
            <a:ext cx="240105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023014" y="3520440"/>
            <a:ext cx="137260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Percentiles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475650" y="3630168"/>
            <a:ext cx="240105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95790" y="3520440"/>
            <a:ext cx="1648721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Workload model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524546" y="3630168"/>
            <a:ext cx="240105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44686" y="3520440"/>
            <a:ext cx="1740761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Reading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Explain performance from the user's and the business's view.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Distinguish load, stress, spike, soak, volume and related tests.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Use the vocabulary: throughput, response time, percentiles, saturation.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Build a simple workload model with measurable targets.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Read results: find the knee and point to the bottleneck.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2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Performance Means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Fast, consistent and stable when it is busy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3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Views of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349240" cy="3291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The user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How long until I see it?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Does it react smoothly?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Is it the same at 9:00 and at 15:00?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6208" y="1737360"/>
            <a:ext cx="5349240" cy="32918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The business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Response time targets met?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How many users before quality drops?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CPU, memory, cost per user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Stable for days, not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5303520"/>
            <a:ext cx="10972800" cy="64008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Performance: speed, capacity, resource use and stability under a workload.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4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Analogy: The Motorway at Rush Hour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2571750" cy="1828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Cars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Requests and users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12998" y="1737360"/>
            <a:ext cx="257175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Lanes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Capacity: servers, threads, connections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3348" y="1737360"/>
            <a:ext cx="2571750" cy="1828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Roadworks: one lane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bottleneck limits everyone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13698" y="1737360"/>
            <a:ext cx="2571750" cy="1828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Traffic jam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Queueing: time rises sharply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93192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At 6 a.m. any road is fast: one user on a laptop proves little.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Add cars slowly and journey time hardly changes, until the jam starts.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Widening one stretch does not help if the roadworks stay.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5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Users leave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They rarely report slowness; they just 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Revenue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Slow sign-up or payment loses sales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Reputation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Slowdowns at launches become news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Contracts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SLAs promise response times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Cost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Inefficient code needs more servers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Early is cheap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slow query in test is a ticket, not an incident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6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Test 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question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7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520440" cy="5486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Smoke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33172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Do the scripts and environment work?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1737360"/>
            <a:ext cx="3520440" cy="5486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61688" y="233172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What does normal look like?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0727" y="1737360"/>
            <a:ext cx="3520440" cy="54864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7" y="233172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Good enough at expected load?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108960"/>
            <a:ext cx="3520440" cy="54864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Stress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70332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Where does it break, and how?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3108960"/>
            <a:ext cx="3520440" cy="5486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Spike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370332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Does it survive a sudden surge?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0727" y="3108960"/>
            <a:ext cx="3520440" cy="5486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Soak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0727" y="370332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Does it degrade over hours?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4480560"/>
            <a:ext cx="3520440" cy="5486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507492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Does it cope with lots of data?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4480560"/>
            <a:ext cx="3520440" cy="5486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Capacity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507492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Most load that still meets targets?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0727" y="4480560"/>
            <a:ext cx="3520440" cy="5486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Scalability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7" y="507492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Do more resources give more capacity?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8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Load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95528" y="4160520"/>
            <a:ext cx="237744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795528" y="2423160"/>
            <a:ext cx="0" cy="173736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61288" y="42062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users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95528" y="3200400"/>
            <a:ext cx="438912" cy="960120"/>
          </a:xfrm>
          <a:prstGeom prst="line">
            <a:avLst/>
          </a:prstGeom>
          <a:ln w="381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34440" y="3200400"/>
            <a:ext cx="1316736" cy="0"/>
          </a:xfrm>
          <a:prstGeom prst="line">
            <a:avLst/>
          </a:prstGeom>
          <a:ln w="381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551176" y="3200400"/>
            <a:ext cx="438912" cy="960120"/>
          </a:xfrm>
          <a:prstGeom prst="line">
            <a:avLst/>
          </a:prstGeom>
          <a:ln w="381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01568" y="173736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Stress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84448" y="4160520"/>
            <a:ext cx="237744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584448" y="2423160"/>
            <a:ext cx="0" cy="173736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950207" y="42062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3774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users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84448" y="3840480"/>
            <a:ext cx="548639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133087" y="3440429"/>
            <a:ext cx="0" cy="40005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133087" y="3440429"/>
            <a:ext cx="54864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681728" y="3040380"/>
            <a:ext cx="0" cy="40004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81728" y="3040380"/>
            <a:ext cx="54864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230368" y="2640330"/>
            <a:ext cx="0" cy="40005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30368" y="2640330"/>
            <a:ext cx="54864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90488" y="173736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Spike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73368" y="4160520"/>
            <a:ext cx="237744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373368" y="2423160"/>
            <a:ext cx="0" cy="173736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39128" y="42062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3774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users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73368" y="3920489"/>
            <a:ext cx="877824" cy="0"/>
          </a:xfrm>
          <a:prstGeom prst="line">
            <a:avLst/>
          </a:prstGeom>
          <a:ln w="38100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251192" y="2640330"/>
            <a:ext cx="109728" cy="1280159"/>
          </a:xfrm>
          <a:prstGeom prst="line">
            <a:avLst/>
          </a:prstGeom>
          <a:ln w="38100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360920" y="2640330"/>
            <a:ext cx="329184" cy="0"/>
          </a:xfrm>
          <a:prstGeom prst="line">
            <a:avLst/>
          </a:prstGeom>
          <a:ln w="38100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90104" y="2640330"/>
            <a:ext cx="109727" cy="1280159"/>
          </a:xfrm>
          <a:prstGeom prst="line">
            <a:avLst/>
          </a:prstGeom>
          <a:ln w="38100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99831" y="3920489"/>
            <a:ext cx="768097" cy="0"/>
          </a:xfrm>
          <a:prstGeom prst="line">
            <a:avLst/>
          </a:prstGeom>
          <a:ln w="38100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979408" y="173736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Soak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62288" y="4160520"/>
            <a:ext cx="237744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162288" y="2423160"/>
            <a:ext cx="0" cy="173736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528047" y="42062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23774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users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9162288" y="3360420"/>
            <a:ext cx="175564" cy="800100"/>
          </a:xfrm>
          <a:prstGeom prst="line">
            <a:avLst/>
          </a:prstGeom>
          <a:ln w="381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337852" y="3360420"/>
            <a:ext cx="1843431" cy="0"/>
          </a:xfrm>
          <a:prstGeom prst="line">
            <a:avLst/>
          </a:prstGeom>
          <a:ln w="381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181283" y="3360420"/>
            <a:ext cx="175565" cy="800100"/>
          </a:xfrm>
          <a:prstGeom prst="line">
            <a:avLst/>
          </a:prstGeom>
          <a:ln w="381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12648" y="470916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Load: ramp up, hold at expected load, ramp down.  Stress: steps past capacity.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Spike: a sudden 10x burst and back.  Soak: expected load held for hours.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9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and Stress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349240" cy="4114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Load test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Expected busy-day load, held steady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Example: login at 5 journeys/s for 30 minutes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Pass: p95 login at most 800 ms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Pass: errors below 1%, CPU below 70%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6208" y="1737360"/>
            <a:ext cx="5349240" cy="4114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C00000"/>
                </a:solidFill>
                <a:latin typeface="Arial"/>
              </a:rPr>
              <a:t>Stress test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Beyond expected limits, in steps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Example: 125, 150, 200, 300% of peak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Pass: fails gracefully, clear messages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Pass: no corrupt data; recovers 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10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Spike, Soak and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505200" cy="32918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C55A11"/>
                </a:solidFill>
                <a:latin typeface="Arial"/>
              </a:rPr>
              <a:t>Spike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Sudden surge: a sale opens, an email lands. No crash; errors within a limit; back to normal in minutes.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737360"/>
            <a:ext cx="3505200" cy="32918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4E79"/>
                </a:solidFill>
                <a:latin typeface="Arial"/>
              </a:rPr>
              <a:t>Soak (endurance)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Moderate load for hours. Finds leaks, exhausted connections, growing logs. Hour 8 within 10% of hour 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737360"/>
            <a:ext cx="3505200" cy="32918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5B2C83"/>
                </a:solidFill>
                <a:latin typeface="Arial"/>
              </a:rPr>
              <a:t>Volume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Lots of data, not users. Login with 2 million accounts as fast as with 1,000.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5349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Each one catches problems a short load test never sees.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11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Vocabulary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Terms that are easy to mix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12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Users Are Not Requests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108960" cy="621792"/>
          </a:xfrm>
          <a:prstGeom prst="roundRect">
            <a:avLst>
              <a:gd name="adj" fmla="val 8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Virtual user (VU)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58768" y="1737360"/>
            <a:ext cx="7726679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simulated user running a scripted journey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2450591"/>
            <a:ext cx="3108960" cy="621792"/>
          </a:xfrm>
          <a:prstGeom prst="roundRect">
            <a:avLst>
              <a:gd name="adj" fmla="val 8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Concurrent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58768" y="2450591"/>
            <a:ext cx="7726679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Users active at the same moment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163824"/>
            <a:ext cx="3108960" cy="621792"/>
          </a:xfrm>
          <a:prstGeom prst="roundRect">
            <a:avLst>
              <a:gd name="adj" fmla="val 8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Throughput (RPS)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58768" y="3163824"/>
            <a:ext cx="7726679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Requests handled per second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877056"/>
            <a:ext cx="3108960" cy="621792"/>
          </a:xfrm>
          <a:prstGeom prst="roundRect">
            <a:avLst>
              <a:gd name="adj" fmla="val 8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Transactions (TPS)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8768" y="3877056"/>
            <a:ext cx="7726679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Business actions per second; one login = several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4590288"/>
            <a:ext cx="3108960" cy="621792"/>
          </a:xfrm>
          <a:prstGeom prst="roundRect">
            <a:avLst>
              <a:gd name="adj" fmla="val 8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Think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58768" y="4590288"/>
            <a:ext cx="7726679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Pauses that model reading and typing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577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1,000 users reading a page may send fewer requests than 50 users clicking fast.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13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Time Goes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920240"/>
            <a:ext cx="1463040" cy="868680"/>
          </a:xfrm>
          <a:prstGeom prst="rect">
            <a:avLst/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Network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75688" y="1920240"/>
            <a:ext cx="2377440" cy="868680"/>
          </a:xfrm>
          <a:prstGeom prst="rect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Queueing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453128" y="1920240"/>
            <a:ext cx="3657600" cy="868680"/>
          </a:xfrm>
          <a:prstGeom prst="rect">
            <a:avLst/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110728" y="1920240"/>
            <a:ext cx="1463040" cy="868680"/>
          </a:xfrm>
          <a:prstGeom prst="rect">
            <a:avLst/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Network back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9573768" y="1920240"/>
            <a:ext cx="2011680" cy="868680"/>
          </a:xfrm>
          <a:prstGeom prst="rect">
            <a:avLst/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Download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" y="3017520"/>
            <a:ext cx="10972800" cy="0"/>
          </a:xfrm>
          <a:prstGeom prst="line">
            <a:avLst/>
          </a:prstGeom>
          <a:ln w="2540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2648" y="3108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Response time: what the user experiences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15087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2E7D32"/>
                </a:solidFill>
                <a:latin typeface="Arial"/>
              </a:rPr>
              <a:t>processing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84048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Latency: the delay before the first byte arrives.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Queueing grows fastest when a resource is nearly full.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 fast server can still give a slow page: front-end matters too.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14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Ramp-Up, Steady State, Warm-Up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86968" y="5120640"/>
            <a:ext cx="658368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886968" y="1828800"/>
            <a:ext cx="0" cy="329184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58968" y="5166359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virtual users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886968" y="2743199"/>
            <a:ext cx="1463040" cy="2377441"/>
          </a:xfrm>
          <a:prstGeom prst="line">
            <a:avLst/>
          </a:prstGeom>
          <a:ln w="444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350008" y="2743199"/>
            <a:ext cx="3474720" cy="0"/>
          </a:xfrm>
          <a:prstGeom prst="line">
            <a:avLst/>
          </a:prstGeom>
          <a:ln w="444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24728" y="2743199"/>
            <a:ext cx="1280160" cy="2377441"/>
          </a:xfrm>
          <a:prstGeom prst="line">
            <a:avLst/>
          </a:prstGeom>
          <a:ln w="444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32688" y="2148839"/>
            <a:ext cx="1371600" cy="4114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warm-up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32888" y="2148839"/>
            <a:ext cx="3108960" cy="4114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measure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544067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5A5A5A"/>
                </a:solidFill>
                <a:latin typeface="Arial"/>
              </a:rPr>
              <a:t>ramp-up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33288" y="5440679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5A5A5A"/>
                </a:solidFill>
                <a:latin typeface="Arial"/>
              </a:rPr>
              <a:t>ramp-down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783080"/>
            <a:ext cx="3721608" cy="40233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Why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Start gradually: all users at once is unrealistic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Discard warm-up: empty caches, cold pools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Judge pass or fail on the steady state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Ramp-down checks clean 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15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Averages Mislead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8" y="1691640"/>
          <a:ext cx="4206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120640" y="1783080"/>
            <a:ext cx="2377440" cy="64008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Average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78308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590 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2560320"/>
            <a:ext cx="2377440" cy="64008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p50 (median)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56032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200 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3337560"/>
            <a:ext cx="2377440" cy="64008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p95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333756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200 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4114800"/>
            <a:ext cx="2377440" cy="64008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p99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11480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8,000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498348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Nobody waited 590 ms: 95 were fast, 5 waited 8 seconds.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16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Saturation, Bottleneck, Headroom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372100" cy="1828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C00000"/>
                </a:solidFill>
                <a:latin typeface="Arial"/>
              </a:rPr>
              <a:t>Saturation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resource so busy that extra work waits: CPU at 100%, all connections in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3348" y="1737360"/>
            <a:ext cx="5372100" cy="1828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C00000"/>
                </a:solidFill>
                <a:latin typeface="Arial"/>
              </a:rPr>
              <a:t>Bottleneck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one component that limits the whole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794760"/>
            <a:ext cx="5372100" cy="1828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C55A11"/>
                </a:solidFill>
                <a:latin typeface="Arial"/>
              </a:rPr>
              <a:t>Error rate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Failed / total: 5xx, timeouts and wrong answers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3348" y="3794760"/>
            <a:ext cx="537210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Headroom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Spare capacity above peak for surges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Watch the four classics: CPU, memory, disk and network.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17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and Workload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From goals to a realistic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18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Performance Test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2468880" cy="868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1 Goals and NFRs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27248" y="2217420"/>
            <a:ext cx="27432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47288" y="1783080"/>
            <a:ext cx="2468880" cy="868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2 Scenarios and workload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61888" y="2217420"/>
            <a:ext cx="27432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281928" y="1783080"/>
            <a:ext cx="2468880" cy="868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3 Environment and 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96528" y="2217420"/>
            <a:ext cx="27432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16568" y="1783080"/>
            <a:ext cx="2468880" cy="868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4 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3063240"/>
            <a:ext cx="1901952" cy="86868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9 Report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560320" y="3493008"/>
            <a:ext cx="27432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3063240"/>
            <a:ext cx="1901952" cy="8686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8 Tune and retest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828032" y="3493008"/>
            <a:ext cx="27432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48072" y="3063240"/>
            <a:ext cx="1901952" cy="8686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7 Analyse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7095744" y="3493008"/>
            <a:ext cx="274319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15783" y="3063240"/>
            <a:ext cx="1901952" cy="868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6 Monitor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9363456" y="3493008"/>
            <a:ext cx="274320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83496" y="3063240"/>
            <a:ext cx="1901952" cy="868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5 Execute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53928" y="2651760"/>
            <a:ext cx="0" cy="36576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2648" y="429768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Run order: smoke, baseline, load, then stress, spike, soak.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Change one thing at a time when tuning, then measure again.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19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Measurable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Poor: 'Login should be fast.'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606040"/>
            <a:ext cx="10972800" cy="1005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Good: with 1,000 concurrent users and a realistic mix, p95 login at most 800 ms, errors below 1%, held for 30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931920"/>
            <a:ext cx="2084832" cy="54864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Scenario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3931920"/>
            <a:ext cx="2084832" cy="54864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56632" y="3931920"/>
            <a:ext cx="2084832" cy="54864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Measure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8624" y="3931920"/>
            <a:ext cx="2084832" cy="54864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0616" y="3931920"/>
            <a:ext cx="2084832" cy="548640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Duration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4846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Numbers come from analytics, logs and forecasts, agreed with the business.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20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Workload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8" y="1691640"/>
          <a:ext cx="47548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69280" y="178308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Peak hour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783080"/>
            <a:ext cx="3447288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300 journeys per minute = 5 per second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2807208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Requests per journey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807208"/>
            <a:ext cx="3447288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weighted average 8.7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3831336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Target throughput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831336"/>
            <a:ext cx="3447288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5 x 8.7 = about 44 requests per second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4855464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Add 50% headroom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4855464"/>
            <a:ext cx="3447288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test at about 65 requests per second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21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Throughput to Users: Little's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Users in the system = arrival rate x time each one stays     (L = lambda x 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301752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5 journeys per second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50208" y="3451860"/>
            <a:ext cx="45720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453128" y="301752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x 192 seconds per journey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90688" y="3451860"/>
            <a:ext cx="45720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93608" y="301752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= 960 concurrent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429768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960 users, mostly thinking, send only about 44 requests per second.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Use it as a sanity check on any plan that quotes users or requests.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22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table, the knee and the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23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Result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06240"/>
                <a:gridCol w="2011680"/>
                <a:gridCol w="2011680"/>
                <a:gridCol w="274320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Transaction (steady state)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p95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Open login page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310 ms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500 ms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Submit login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790 ms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800 ms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Pass, 10 ms margin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Register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1,450 ms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1,500 ms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Pass, watch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Error rate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0.4%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below 1%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457200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 10 ms margin is a warning, not comfort.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Read p99 and errors with p95, never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24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Knee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8" y="1691640"/>
          <a:ext cx="54864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90488" y="1691640"/>
          <a:ext cx="539496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330066"/>
                </a:solidFill>
                <a:latin typeface="Arial"/>
              </a:rPr>
              <a:t>virtual users: past about 150, time bends up while throughput flattens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25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Evidence to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950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754880"/>
                <a:gridCol w="621792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What you see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Likely cause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App CPU near 100%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Compute-heavy code or a poor algorithm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CPU low, time still climbing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Waiting: pool, lock or slow external call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All database connections used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Database bottleneck or slow queries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Memory climbing, swapping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Memory pressure or a leak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Network at its limit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Large payloads, too little bandwidth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If time grows but nothing looks busy, something is waiting.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26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Bottlenecks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Missing index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Every login reads the whole user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N+1 queries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One query per row instead of one join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7373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Small pools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Threads or connections run 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Memory leaks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Slow growth until a crash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Third-party calls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slow email or payment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794760"/>
            <a:ext cx="3505200" cy="1828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Heavy pages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Huge images and scripts in the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27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Continuous and Safe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Early checks, honest environments, permission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28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Shift-Left: Performance in 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2434590" cy="868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Each build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92958" y="221742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2743200"/>
            <a:ext cx="243459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Smoke performance: 5 users, 2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8718" y="1783080"/>
            <a:ext cx="2434590" cy="868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Nightly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39028" y="221742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58718" y="2743200"/>
            <a:ext cx="243459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Load test against a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4788" y="1783080"/>
            <a:ext cx="2434590" cy="8686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Before release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85098" y="221742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04788" y="2743200"/>
            <a:ext cx="243459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Full load, stress, spike, soak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50858" y="1783080"/>
            <a:ext cx="2434590" cy="86868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50858" y="2743200"/>
            <a:ext cx="243459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Monitoring and alerts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3657600"/>
            <a:ext cx="10972800" cy="128016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767328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BUDGET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Performance budget: login p95 at most 800 ms in the smoke test; home page at most 1.5 MB.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Breach the budget and the build fails.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5212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Shared pipeline machines are noisy: use margins or compare with a recent baseline.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29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5303520" cy="4114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019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55A11"/>
                </a:solidFill>
                <a:latin typeface="Arial"/>
              </a:rPr>
              <a:t>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468880"/>
            <a:ext cx="4846320" cy="324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Smaller or differently configured than production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Other teams deploying during the run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Instant fakes for real dependencies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load generator is the bottleneck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737360"/>
            <a:ext cx="5303520" cy="4114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19019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55A11"/>
                </a:solidFill>
                <a:latin typeface="Arial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468880"/>
            <a:ext cx="4846320" cy="324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100 rows hide volume problems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Every VU uses one account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Registration needs unique emails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Failed-login tests lock accounts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30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10972800" cy="100584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Only load-test systems you own or have written permission to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10896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 load test on someone else's site can look like an attack.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Today's demo runs only against a tiny server on the instructor's own machine.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Check the target address before any run, especially in generated scripts.</a:t>
            </a:r>
          </a:p>
          <a:p>
            <a:pPr algn="l" marL="274320" indent="-274320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Tools for later weeks: JMeter, k6, Gatling, Locust (names only).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31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85216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Do instead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Reporting the average only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Report p50, p95, p99 and error rate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No think time in scripts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Model real pauses and pacing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Unrealistic environment or data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Production-like, or state the difference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Testing only at the end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Smoke performance per build, budgets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No server-side monitoring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Watch CPU, memory, pools during runs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32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Performance is speed, capacity, resource use and stability under load.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Load checks expected load; stress, spike and soak find limits and leaks.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Users are not requests; Little's Law links them.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Averages mislead: use percentiles with the error rate.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Start from measurable goals and a realistic workload model.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Find the knee and the bottleneck; test only with permission.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33 / 34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Apache JMeter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https://jmeter.apache.org/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Grafana k6 documentation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https://grafana.com/docs/k6/latest/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web.dev: Core Web Vitals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https://web.dev/articles/vitals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7381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774757"/>
            <a:ext cx="10423245" cy="450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Locust documentation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https://docs.locust.io/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Performance and Stress Testing  ·  Week 3 · Friday   |   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Learners Point Template</Application>
  <PresentationFormat>Widescreen</PresentationFormat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</cp:coreProperties>
</file>