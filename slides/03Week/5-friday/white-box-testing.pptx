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3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90" r:id="rId8"/>
    <p:sldId id="391" r:id="rId9"/>
    <p:sldId id="392" r:id="rId10"/>
    <p:sldId id="393" r:id="rId11"/>
    <p:sldId id="394" r:id="rId12"/>
    <p:sldId id="395" r:id="rId13"/>
    <p:sldId id="396" r:id="rId14"/>
    <p:sldId id="397" r:id="rId15"/>
    <p:sldId id="398" r:id="rId16"/>
    <p:sldId id="399" r:id="rId17"/>
    <p:sldId id="400" r:id="rId18"/>
    <p:sldId id="401" r:id="rId19"/>
    <p:sldId id="402" r:id="rId20"/>
    <p:sldId id="403" r:id="rId21"/>
    <p:sldId id="404" r:id="rId22"/>
    <p:sldId id="405" r:id="rId23"/>
    <p:sldId id="406" r:id="rId24"/>
    <p:sldId id="407" r:id="rId25"/>
    <p:sldId id="408" r:id="rId26"/>
    <p:sldId id="409" r:id="rId27"/>
    <p:sldId id="410" r:id="rId28"/>
    <p:sldId id="411" r:id="rId29"/>
    <p:sldId id="412" r:id="rId30"/>
    <p:sldId id="413" r:id="rId31"/>
    <p:sldId id="414" r:id="rId32"/>
    <p:sldId id="415" r:id="rId33"/>
    <p:sldId id="416" r:id="rId34"/>
    <p:sldId id="417" r:id="rId35"/>
    <p:sldId id="418" r:id="rId36"/>
    <p:sldId id="419" r:id="rId37"/>
    <p:sldId id="420" r:id="rId38"/>
    <p:sldId id="421" r:id="rId39"/>
    <p:sldId id="389" r:id="rId132"/>
  </p:sldIdLst>
  <p:sldSz cx="12192000" cy="6858000"/>
  <p:notesSz cx="6858000" cy="9144000"/>
  <p:defaultTextStyle>
    <a:defPPr>
      <a:defRPr lang="en-I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notesMaster" Target="notesMasters/notesMaster1.xml"/><Relationship Id="rId132" Type="http://schemas.openxmlformats.org/officeDocument/2006/relationships/slide" Target="slides/slide131.xml"/><Relationship Id="rId133" Type="http://schemas.openxmlformats.org/officeDocument/2006/relationships/presProps" Target="presProps.xml"/><Relationship Id="rId134" Type="http://schemas.openxmlformats.org/officeDocument/2006/relationships/viewProps" Target="viewProps.xml"/><Relationship Id="rId135" Type="http://schemas.openxmlformats.org/officeDocument/2006/relationships/theme" Target="theme/theme1.xml"/><Relationship Id="rId13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Branch coverage of grade (%)</c:v>
                </c:pt>
              </c:strCache>
            </c:strRef>
          </c:tx>
          <c:spPr>
            <a:solidFill>
              <a:srgbClr val="2E7D32"/>
            </a:solidFill>
          </c:spPr>
          <c:cat>
            <c:strRef>
              <c:f>Sheet1!$A$2:$A$4</c:f>
              <c:strCache>
                <c:ptCount val="3"/>
                <c:pt idx="0">
                  <c:v>T1: 95</c:v>
                </c:pt>
                <c:pt idx="1">
                  <c:v>T1 + T2: 70</c:v>
                </c:pt>
                <c:pt idx="2">
                  <c:v>T1 + T2 + T3: 10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</c:v>
                </c:pt>
                <c:pt idx="1">
                  <c:v>75</c:v>
                </c:pt>
                <c:pt idx="2">
                  <c:v>100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1A1A1A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400">
                <a:solidFill>
                  <a:srgbClr val="5A5A5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>
                <a:solidFill>
                  <a:srgbClr val="5A5A5A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Combinations needed</c:v>
                </c:pt>
              </c:strCache>
            </c:strRef>
          </c:tx>
          <c:spPr>
            <a:solidFill>
              <a:srgbClr val="C55A11"/>
            </a:solidFill>
          </c:spPr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4</c:v>
                </c:pt>
                <c:pt idx="2">
                  <c:v>8</c:v>
                </c:pt>
                <c:pt idx="3">
                  <c:v>16</c:v>
                </c:pt>
                <c:pt idx="4">
                  <c:v>32</c:v>
                </c:pt>
                <c:pt idx="5">
                  <c:v>64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1A1A1A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400">
                <a:solidFill>
                  <a:srgbClr val="5A5A5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400" b="0">
                    <a:solidFill>
                      <a:srgbClr val="5A5A5A"/>
                    </a:solidFill>
                    <a:latin typeface="Arial"/>
                  </a:rPr>
                  <a:t>combinations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>
                <a:solidFill>
                  <a:srgbClr val="5A5A5A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Minimum tests</c:v>
                </c:pt>
              </c:strCache>
            </c:strRef>
          </c:tx>
          <c:spPr>
            <a:solidFill>
              <a:srgbClr val="330066"/>
            </a:solidFill>
          </c:spPr>
          <c:cat>
            <c:strRef>
              <c:f>Sheet1!$A$2:$A$6</c:f>
              <c:strCache>
                <c:ptCount val="5"/>
                <c:pt idx="0">
                  <c:v>Path (all 9)</c:v>
                </c:pt>
                <c:pt idx="1">
                  <c:v>Basis set V(G)</c:v>
                </c:pt>
                <c:pt idx="2">
                  <c:v>Condition</c:v>
                </c:pt>
                <c:pt idx="3">
                  <c:v>Branch</c:v>
                </c:pt>
                <c:pt idx="4">
                  <c:v>Statement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</c:v>
                </c:pt>
                <c:pt idx="1">
                  <c:v>6</c:v>
                </c:pt>
                <c:pt idx="2">
                  <c:v>5</c:v>
                </c:pt>
                <c:pt idx="3">
                  <c:v>5</c:v>
                </c:pt>
                <c:pt idx="4">
                  <c:v>4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1A1A1A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400">
                <a:solidFill>
                  <a:srgbClr val="5A5A5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>
                <a:solidFill>
                  <a:srgbClr val="5A5A5A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 deck of the day: Thursday was black-box; today starts by opening the box.</a:t>
            </a:r>
          </a:p>
          <a:p>
            <a:r>
              <a:t>Teaching order today: white-box, functional vs non-functional, exploratory, data-driven, regression, performance, reliability and scalability.</a:t>
            </a:r>
          </a:p>
          <a:p>
            <a:r>
              <a:t>One analogy runs through the deck: a house guest and a home inspector.</a:t>
            </a:r>
          </a:p>
          <a:p>
            <a:r>
              <a:t>The written lesson keeps the full Python files, the pytest and coverage.py walkthrough and the registration worked example; pytest itself is Week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Ask: 'Thursday you never looked at the code. What could hide from you?' (Dead code, untested branches.)</a:t>
            </a:r>
          </a:p>
          <a:p>
            <a:r>
              <a:t>Objectives 2 to 4 are pencil-and-paper skills; no tool is needed today.</a:t>
            </a:r>
          </a:p>
          <a:p>
            <a:r>
              <a:t>Coverage tools (coverage.py) are named today and used with pytest in Week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1: definition, analogy, how it compares, who and where.</a:t>
            </a:r>
          </a:p>
          <a:p>
            <a:r>
              <a:t>This part has 3 concept slides, about 6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ISTQB calls the family 'white-box test techniques'; the names on the slide all mean the same thing.</a:t>
            </a:r>
          </a:p>
          <a:p>
            <a:r>
              <a:t>It is about how tests are chosen: 'every if taken both ways' is a white-box goal.</a:t>
            </a:r>
          </a:p>
          <a:p>
            <a:r>
              <a:t>Reading the code and copying what it returns as the expected result is not testing; the oracle is the requirement (Tuesday).</a:t>
            </a:r>
          </a:p>
          <a:p>
            <a:r>
              <a:t>Who and where: mainly developers and SDETs, at unit level (primary), integration and through code review; system tests can still be measured for coverage.</a:t>
            </a:r>
          </a:p>
          <a:p>
            <a:r>
              <a:t>Ask: who in a team usually reads the code? (Developers, SDETs, reviewers.)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deck's one analogy.</a:t>
            </a:r>
          </a:p>
          <a:p>
            <a:r>
              <a:t>The guest is Thursday's techniques: behaviour against expectations.</a:t>
            </a:r>
          </a:p>
          <a:p>
            <a:r>
              <a:t>The inspector finds unused wiring (dead code) and circuits never switched on (untested branches).</a:t>
            </a:r>
          </a:p>
          <a:p>
            <a:r>
              <a:t>Neither finds a room that was never built: a missing requirement needs the guest's brief (black-box).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Thursday's black-box deck introduced this comparison; this is a one-slide recap.</a:t>
            </a:r>
          </a:p>
          <a:p>
            <a:r>
              <a:t>Grey-box example: register through the API, then query the database to confirm the password is stored hashed.</a:t>
            </a:r>
          </a:p>
          <a:p>
            <a:r>
              <a:t>The 'cannot find' row is the reason the two are used together (Part 6).</a:t>
            </a:r>
          </a:p>
          <a:p>
            <a:r>
              <a:t>Ask: you check an API response and then the database table. Which box? (Grey.)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2: name the parts of code, then draw them.</a:t>
            </a:r>
          </a:p>
          <a:p>
            <a:r>
              <a:t>This part has 4 concept slides, about 8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decision made of two conditions joined by 'and'.</a:t>
            </a:r>
          </a:p>
          <a:p>
            <a:r>
              <a:t>Tools also count the if line itself as a statement.</a:t>
            </a:r>
          </a:p>
          <a:p>
            <a:r>
              <a:t>Two paths here: decision True returns locked, decision False returns ok.</a:t>
            </a:r>
          </a:p>
          <a:p>
            <a:r>
              <a:t>Decision vs condition: the decision steers the flow (two outcomes); each condition is one atomic true/false piece. Branch coverage counts decisions, condition coverage counts pieces.</a:t>
            </a:r>
          </a:p>
          <a:p>
            <a:r>
              <a:t>Loops are the last part of the vocabulary; Part 5 tests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Recipe: number each statement or straight-line block; give every if, elif, while, for its own decision node; draw an arrow to whatever can run next.</a:t>
            </a:r>
          </a:p>
          <a:p>
            <a:r>
              <a:t>The False edge of node 1 skips the body and goes straight to the return.</a:t>
            </a:r>
          </a:p>
          <a:p>
            <a:r>
              <a:t>Nodes and edges are counted for cyclomatic complexity in Part 4.</a:t>
            </a:r>
          </a:p>
          <a:p>
            <a:r>
              <a:t>Draw it on the board with the learners before showing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Paths: 1-2-6, 1-3-4-6 and 1-3-5-6.</a:t>
            </a:r>
          </a:p>
          <a:p>
            <a:r>
              <a:t>Edges: 1-2, 1-3, 3-4, 3-5, 2-6, 4-6, 5-6.</a:t>
            </a:r>
          </a:p>
          <a:p>
            <a:r>
              <a:t>The else has no decision node of its own: it is the False edge of node 3.</a:t>
            </a:r>
          </a:p>
          <a:p>
            <a:r>
              <a:t>Ask: which node would a test with score 70 visit? (1, 3, 4, 6.)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 edges: 1-2, 2-3, 2-5, 3-4, 3-2, 4-2.</a:t>
            </a:r>
          </a:p>
          <a:p>
            <a:r>
              <a:t>Each trip round the loop is a new path, which is why path coverage is impractical for loops.</a:t>
            </a:r>
          </a:p>
          <a:p>
            <a:r>
              <a:t>Loop testing in Part 5 picks a few iteration counts instead.</a:t>
            </a:r>
          </a:p>
          <a:p>
            <a:r>
              <a:t>Ask: which input skips the loop body entirely? (An empty list.)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3: four criteria, each counting something different.</a:t>
            </a:r>
          </a:p>
          <a:p>
            <a:r>
              <a:t>This part has 5 concept slides, about 10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Also called line coverage.</a:t>
            </a:r>
          </a:p>
          <a:p>
            <a:r>
              <a:t>A tool also counts the def line, which runs on import.</a:t>
            </a:r>
          </a:p>
          <a:p>
            <a:r>
              <a:t>The weakest criterion: easy to reach, easy to be fooled by.</a:t>
            </a:r>
          </a:p>
          <a:p>
            <a:r>
              <a:t>Next slide fixes the gap with branch coverage.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CFG: has every edge leaving a decision node been traversed?</a:t>
            </a:r>
          </a:p>
          <a:p>
            <a:r>
              <a:t>Each if contributes two outcomes; a loop decision too (go round or leave).</a:t>
            </a:r>
          </a:p>
          <a:p>
            <a:r>
              <a:t>Always switch branch measurement on in a coverage tool (coverage.py: --cov-branch, Week 4).</a:t>
            </a:r>
          </a:p>
          <a:p>
            <a:r>
              <a:t>Ask: what is the branch coverage of apply_bonus(50, True)? (1 of 2 = 50%.)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Subsumes: reaching 100% of the stronger criterion guarantees 100% of the weaker one.</a:t>
            </a:r>
          </a:p>
          <a:p>
            <a:r>
              <a:t>Why branch implies statement: every statement sits on some outcome's edge.</a:t>
            </a:r>
          </a:p>
          <a:p>
            <a:r>
              <a:t>Path coverage subsumes branch coverage but explodes in size (Part 4).</a:t>
            </a:r>
          </a:p>
          <a:p>
            <a:r>
              <a:t>Multiple condition coverage gives branch coverage because some combination makes the decision True and some False.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Condition coverage = condition outcomes exercised / (2 x conditions) x 100.</a:t>
            </a:r>
          </a:p>
          <a:p>
            <a:r>
              <a:t>Short-circuit: Python stops at 'A and B' when A is False, so in (50, True) B is not even evaluated; real tools then record no outcome for B.</a:t>
            </a:r>
          </a:p>
          <a:p>
            <a:r>
              <a:t>That is why the classic table above is a teaching simplification.</a:t>
            </a:r>
          </a:p>
          <a:p>
            <a:r>
              <a:t>Ask: which single extra test reaches condition/decision coverage here? (150, True.)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Also called combinatorial condition coverage.</a:t>
            </a:r>
          </a:p>
          <a:p>
            <a:r>
              <a:t>Same 2^n growth as Thursday's decision tables (recap only).</a:t>
            </a:r>
          </a:p>
          <a:p>
            <a:r>
              <a:t>With short-circuiting some combinations cannot be observed separately.</a:t>
            </a:r>
          </a:p>
          <a:p>
            <a:r>
              <a:t>Practical rule: full combinations for short, high-risk decisions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4: counting routes and measuring how complex a function is.</a:t>
            </a:r>
          </a:p>
          <a:p>
            <a:r>
              <a:t>This part has 3 concept slides, about 6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Path coverage = distinct paths executed / total paths x 100.</a:t>
            </a:r>
          </a:p>
          <a:p>
            <a:r>
              <a:t>Two tests (True, True) and (False, False) already give 100% branch coverage here but only 2 of 4 paths.</a:t>
            </a:r>
          </a:p>
          <a:p>
            <a:r>
              <a:t>Paths multiply; that is why teams use branch coverage plus a basis set (next slide).</a:t>
            </a:r>
          </a:p>
          <a:p>
            <a:r>
              <a:t>Ask: how many paths for three independent ifs? (8.)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Proposed by Thomas McCabe; E edges, N nodes, P connected parts (1 for one function).</a:t>
            </a:r>
          </a:p>
          <a:p>
            <a:r>
              <a:t>Count each if, elif, while, for as one decision point.</a:t>
            </a:r>
          </a:p>
          <a:p>
            <a:r>
              <a:t>Some tools count each 'and'/'or' as an extra decision: say which convention you used.</a:t>
            </a:r>
          </a:p>
          <a:p>
            <a:r>
              <a:t>Ask: a function with three ifs and one loop? (V(G) = 5.)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bands are common rules of thumb from McCabe's work, not a standard.</a:t>
            </a:r>
          </a:p>
          <a:p>
            <a:r>
              <a:t>Complexity is one input to risk-based testing (Tuesday): likelihood of defects goes up with it.</a:t>
            </a:r>
          </a:p>
          <a:p>
            <a:r>
              <a:t>Quality gates in pipelines are Week 7.</a:t>
            </a:r>
          </a:p>
          <a:p>
            <a:r>
              <a:t>Ask: two functions, V(G) 4 and 23. Which gets the code review first?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5: find the minimum tests for each criterion on one function, then loops.</a:t>
            </a:r>
          </a:p>
          <a:p>
            <a:r>
              <a:t>This part has 5 concept slides, about 10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Rules: positive orders only; members 100+ get 15%; non-members 100+ get 10%; members under 100 get 5%; others 0%; coupon SAVE5 adds 5 points.</a:t>
            </a:r>
          </a:p>
          <a:p>
            <a:r>
              <a:t>Five decisions, so ten outcomes; V(G) = 5 + 1 = 6 (7 if 'and' is counted).</a:t>
            </a:r>
          </a:p>
          <a:p>
            <a:r>
              <a:t>The Python listing is in the written lesson; the ladder is the same logic.</a:t>
            </a:r>
          </a:p>
          <a:p>
            <a:r>
              <a:t>Ask: which outcome is easy to forget? (D4 False: a non-member under 100.)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Statement tests: (0, F, ''), (150, T, 'SAVE5'), (150, F, ''), (50, T, '').</a:t>
            </a:r>
          </a:p>
          <a:p>
            <a:r>
              <a:t>They cover 7 of 10 outcomes; (50, F, '') adds D4 False: 5 tests for branch.</a:t>
            </a:r>
          </a:p>
          <a:p>
            <a:r>
              <a:t>The same five tests also reach condition coverage on D2, because of short-circuiting.</a:t>
            </a:r>
          </a:p>
          <a:p>
            <a:r>
              <a:t>The step-by-step derivation is in the written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Copying the function's output as the expected result tests that the code equals itself.</a:t>
            </a:r>
          </a:p>
          <a:p>
            <a:r>
              <a:t>These five tests reach 100% branch coverage; a sixth test for the coupon on a non-member is added in the lesson.</a:t>
            </a:r>
          </a:p>
          <a:p>
            <a:r>
              <a:t>In Week 4 these become pytest tests; today they are a design table.</a:t>
            </a:r>
          </a:p>
          <a:p>
            <a:r>
              <a:t>Ask: what would the expected value for (150, True, 'save5') be? (15: the coupon is case-sensitive per the rule, so ask Rohan if unclear.)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loop counts are Thursday's BVA applied to iterations.</a:t>
            </a:r>
          </a:p>
          <a:p>
            <a:r>
              <a:t>Nested loops: test the innermost first with outer loops at their minimum, then work outwards (concept only).</a:t>
            </a:r>
          </a:p>
          <a:p>
            <a:r>
              <a:t>The written lesson has the full loop test table.</a:t>
            </a:r>
          </a:p>
          <a:p>
            <a:r>
              <a:t>Ask: which loop case finds 'the loop never runs on empty input'? (Zero iterations.)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are named for awareness; neither is practised this week.</a:t>
            </a:r>
          </a:p>
          <a:p>
            <a:r>
              <a:t>Mutation score = killed mutants / all mutants.</a:t>
            </a:r>
          </a:p>
          <a:p>
            <a:r>
              <a:t>A test with no assertions kills no mutants, even at 100% coverage (Part 6).</a:t>
            </a:r>
          </a:p>
          <a:p>
            <a:r>
              <a:t>Ask: which mutant would a BVA test at exactly 100 kill? (&gt;= changed to &gt;.)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6: what a coverage report says and what it cannot say.</a:t>
            </a:r>
          </a:p>
          <a:p>
            <a:r>
              <a:t>This part has 3 concept slides, about 6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shape of a coverage.py report with branch measurement on.</a:t>
            </a:r>
          </a:p>
          <a:p>
            <a:r>
              <a:t>Cover counts statements and branches together.</a:t>
            </a:r>
          </a:p>
          <a:p>
            <a:r>
              <a:t>Exclude test files from the total; they inflate the percentage.</a:t>
            </a:r>
          </a:p>
          <a:p>
            <a:r>
              <a:t>The commands (pytest --cov, coverage html) are in the written lesson and used in Week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Change 15% to 1,500% and the assertion-free test still passes: mutation testing would expose it.</a:t>
            </a:r>
          </a:p>
          <a:p>
            <a:r>
              <a:t>Missing requirements are invisible to coverage: only black-box tests find them.</a:t>
            </a:r>
          </a:p>
          <a:p>
            <a:r>
              <a:t>Boundary bugs (amount &gt; 100 instead of &gt;= 100) slip through branch coverage with 150 and 50.</a:t>
            </a:r>
          </a:p>
          <a:p>
            <a:r>
              <a:t>Targets: no single correct percentage; many teams start with a 70 to 80% branch floor and track the trend.</a:t>
            </a:r>
          </a:p>
          <a:p>
            <a:r>
              <a:t>Wednesday's absence-of-errors fallacy, in coverage 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Requirements decide what to test; coverage shows what you have not looked at yet.</a:t>
            </a:r>
          </a:p>
          <a:p>
            <a:r>
              <a:t>An uncovered line is a question: missing test, missing requirement, or dead code to delete?</a:t>
            </a:r>
          </a:p>
          <a:p>
            <a:r>
              <a:t>Reviews and static analysis (linters) find some defects without running anything: Wednesday and Tuesday decks.</a:t>
            </a:r>
          </a:p>
          <a:p>
            <a:r>
              <a:t>Ask: coverage shows a 'seasonal sale' block never runs. Who do you ask? (Rohan, the PO: is it still needed?)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Others: skipping black-box tests; one giant test with ten asserts; tests that depend on each other; testing private details instead of behaviour; counting test files in the total.</a:t>
            </a:r>
          </a:p>
          <a:p>
            <a:r>
              <a:t>Ask: which mistake makes a green build meaningless? (No assertions.)</a:t>
            </a:r>
          </a:p>
          <a:p>
            <a:r>
              <a:t>Quick quiz: read a mistake aloud and ask the class for the fix before revealing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check: 'One test gives 100% statement coverage of apply_bonus. What is its branch coverage?' (50%.)</a:t>
            </a:r>
          </a:p>
          <a:p>
            <a:r>
              <a:t>Bridge: next deck, functional vs non-functional testing: what the system does and how well.</a:t>
            </a:r>
          </a:p>
          <a:p>
            <a:r>
              <a:t>Give learners one minute to write the takeaway they found most useful; take two or three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written lesson has the full Python files, the coverage.py walkthrough, the registration example and three worked examples.</a:t>
            </a:r>
          </a:p>
          <a:p>
            <a:r>
              <a:t>Resources are for self-study after class; none are needed for today's exercise.</a:t>
            </a:r>
          </a:p>
          <a:p>
            <a:r>
              <a:t>The written lesson for this topic is the full reference; slides are the presentation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Line 2"/>
          <p:cNvSpPr>
            <a:spLocks noChangeShapeType="1"/>
          </p:cNvSpPr>
          <p:nvPr/>
        </p:nvSpPr>
        <p:spPr bwMode="auto">
          <a:xfrm>
            <a:off x="9753600" y="1066800"/>
            <a:ext cx="0" cy="1752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016000" y="457200"/>
            <a:ext cx="8519584" cy="213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132417" y="3049588"/>
            <a:ext cx="83312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fld id="{F304A9D6-1313-4D51-A62E-402D441D9A7B}" type="datetime1">
              <a:rPr lang="en-US" smtClean="0"/>
              <a:t>10/25/2026</a:t>
            </a:fld>
            <a:endParaRPr lang="en-US"/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sp>
        <p:nvSpPr>
          <p:cNvPr id="66568" name="Line 8"/>
          <p:cNvSpPr>
            <a:spLocks noChangeShapeType="1"/>
          </p:cNvSpPr>
          <p:nvPr/>
        </p:nvSpPr>
        <p:spPr bwMode="auto">
          <a:xfrm>
            <a:off x="1117600" y="2819400"/>
            <a:ext cx="8636000" cy="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grpSp>
        <p:nvGrpSpPr>
          <p:cNvPr id="66569" name="Group 9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570" name="Oval 10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1" name="Oval 11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2" name="Oval 12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3" name="Oval 13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4" name="Oval 14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5" name="Oval 15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6" name="Oval 16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7" name="Oval 17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8" name="Oval 18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9" name="Oval 19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0" name="Oval 20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1" name="Oval 21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2" name="Oval 22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3" name="Oval 23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4" name="Oval 24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5" name="Oval 25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6" name="Oval 26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7" name="Oval 27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8" name="Oval 28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9" name="Oval 29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0" name="Oval 30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1" name="Oval 31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2" name="Oval 32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3" name="Oval 33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4" name="Oval 34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5" name="Oval 35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6" name="Oval 36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7" name="Oval 37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8" name="Oval 38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9" name="Oval 39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0" name="Oval 40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grpSp>
        <p:nvGrpSpPr>
          <p:cNvPr id="66601" name="Group 41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602" name="Oval 42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3" name="Oval 43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4" name="Oval 44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5" name="Oval 45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6" name="Oval 46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7" name="Oval 47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8" name="Oval 48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9" name="Oval 49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0" name="Oval 50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1" name="Oval 51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2" name="Oval 52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3" name="Oval 53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4" name="Oval 54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5" name="Oval 55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6" name="Oval 56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7" name="Oval 57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8" name="Oval 58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9" name="Oval 59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0" name="Oval 60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1" name="Oval 61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2" name="Oval 62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3" name="Oval 63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4" name="Oval 64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5" name="Oval 65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6" name="Oval 66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7" name="Oval 67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8" name="Oval 68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9" name="Oval 69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0" name="Oval 70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1" name="Oval 71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2" name="Oval 72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955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256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44A8556-2F07-416B-A81B-5F1C3AFD01EF}" type="datetime1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7954" y="6261305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722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6729637-7636-4388-949A-FC8BFDAA4705}" type="datetime1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092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F5DED8-6456-47A2-A5CC-BE8BEC6BD892}" type="datetime1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174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595759-8665-4708-8376-28A90FA13BDD}" type="datetime1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97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3B0C243-4A55-4741-8265-C0A2FA769F7B}" type="datetime1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546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99A12F7-971D-41C1-A2B7-EBB58FF381A3}" type="datetime1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112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E3C3D28-2E0C-4F8B-A45D-9E87921943BF}" type="datetime1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995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020A2-9D30-48AD-A70D-69AD2B027FCA}" type="datetime1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103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01F6343-4644-43E3-AA07-6869EC7CEA0D}" type="datetime1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150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22239"/>
            <a:ext cx="27432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2239"/>
            <a:ext cx="80264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A0A126-F3CA-45B4-970B-597BE67A203E}" type="datetime1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465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16815F9B-CAFE-4C37-897A-C6403744783F}" type="datetime1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87975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Line 2"/>
          <p:cNvSpPr>
            <a:spLocks noChangeShapeType="1"/>
          </p:cNvSpPr>
          <p:nvPr/>
        </p:nvSpPr>
        <p:spPr bwMode="auto">
          <a:xfrm>
            <a:off x="10668000" y="0"/>
            <a:ext cx="0" cy="1524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22238"/>
            <a:ext cx="100584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554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719263"/>
            <a:ext cx="109728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554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fld id="{C569D4A1-8BB6-4430-9601-3FBC79908E8C}" type="datetime1">
              <a:rPr lang="en-US" smtClean="0"/>
              <a:t>10/25/2026</a:t>
            </a:fld>
            <a:endParaRPr lang="en-US"/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endParaRPr lang="en-US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grpSp>
        <p:nvGrpSpPr>
          <p:cNvPr id="65544" name="Group 8" descr="decorative graphic made up of dots"/>
          <p:cNvGrpSpPr>
            <a:grpSpLocks/>
          </p:cNvGrpSpPr>
          <p:nvPr/>
        </p:nvGrpSpPr>
        <p:grpSpPr bwMode="auto">
          <a:xfrm>
            <a:off x="10871201" y="152400"/>
            <a:ext cx="1056217" cy="1295400"/>
            <a:chOff x="5136" y="960"/>
            <a:chExt cx="528" cy="864"/>
          </a:xfrm>
        </p:grpSpPr>
        <p:sp>
          <p:nvSpPr>
            <p:cNvPr id="6554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sp>
        <p:nvSpPr>
          <p:cNvPr id="65576" name="Line 40"/>
          <p:cNvSpPr>
            <a:spLocks noChangeShapeType="1"/>
          </p:cNvSpPr>
          <p:nvPr/>
        </p:nvSpPr>
        <p:spPr bwMode="auto">
          <a:xfrm>
            <a:off x="609600" y="1524000"/>
            <a:ext cx="100584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2634220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9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29368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81113" indent="-2921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986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White-Box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2057400"/>
            <a:ext cx="877750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 i="0">
                <a:solidFill>
                  <a:srgbClr val="5A5A5A"/>
                </a:solidFill>
                <a:latin typeface="Arial"/>
              </a:rPr>
              <a:t>Testing from the inside out: choose and measure tests by the structure of the code</a:t>
            </a:r>
          </a:p>
        </p:txBody>
      </p:sp>
      <p:sp>
        <p:nvSpPr>
          <p:cNvPr id="18" name="Oval 17"/>
          <p:cNvSpPr/>
          <p:nvPr/>
        </p:nvSpPr>
        <p:spPr>
          <a:xfrm>
            <a:off x="609904" y="5596128"/>
            <a:ext cx="292608" cy="29260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67104" y="5596128"/>
            <a:ext cx="292608" cy="292608"/>
          </a:xfrm>
          <a:prstGeom prst="ellipse">
            <a:avLst/>
          </a:prstGeom>
          <a:solidFill>
            <a:srgbClr val="66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524304" y="5596128"/>
            <a:ext cx="292608" cy="292608"/>
          </a:xfrm>
          <a:prstGeom prst="ellipse">
            <a:avLst/>
          </a:prstGeom>
          <a:solidFill>
            <a:srgbClr val="CC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12648" y="3520440"/>
            <a:ext cx="1463040" cy="402336"/>
          </a:xfrm>
          <a:prstGeom prst="roundRect">
            <a:avLst>
              <a:gd name="adj" fmla="val 50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Definition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2167128" y="3630168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532888" y="3520440"/>
            <a:ext cx="1673352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Control flow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297679" y="3630168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663440" y="3520440"/>
            <a:ext cx="1252728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Coverage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6007607" y="3630168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73368" y="3520440"/>
            <a:ext cx="146304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Complexity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7927848" y="3630168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93608" y="3520440"/>
            <a:ext cx="1042416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Loops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427464" y="3630168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793224" y="3520440"/>
            <a:ext cx="1042416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Limits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WEEK 3 · FRIDAY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Oval 2"/>
          <p:cNvSpPr/>
          <p:nvPr/>
        </p:nvSpPr>
        <p:spPr>
          <a:xfrm>
            <a:off x="612648" y="164592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8448" y="170078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Define white-box testing and place it beside black-box and grey-box.</a:t>
            </a:r>
          </a:p>
        </p:txBody>
      </p:sp>
      <p:sp>
        <p:nvSpPr>
          <p:cNvPr id="5" name="Oval 4"/>
          <p:cNvSpPr/>
          <p:nvPr/>
        </p:nvSpPr>
        <p:spPr>
          <a:xfrm>
            <a:off x="612648" y="246888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52374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Draw a control flow graph for a small function.</a:t>
            </a:r>
          </a:p>
        </p:txBody>
      </p:sp>
      <p:sp>
        <p:nvSpPr>
          <p:cNvPr id="7" name="Oval 6"/>
          <p:cNvSpPr/>
          <p:nvPr/>
        </p:nvSpPr>
        <p:spPr>
          <a:xfrm>
            <a:off x="612648" y="329184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334670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Calculate statement, branch and condition coverage.</a:t>
            </a:r>
          </a:p>
        </p:txBody>
      </p:sp>
      <p:sp>
        <p:nvSpPr>
          <p:cNvPr id="9" name="Oval 8"/>
          <p:cNvSpPr/>
          <p:nvPr/>
        </p:nvSpPr>
        <p:spPr>
          <a:xfrm>
            <a:off x="612648" y="411480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4169663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Calculate cyclomatic complexity and design loop tests.</a:t>
            </a:r>
          </a:p>
        </p:txBody>
      </p:sp>
      <p:sp>
        <p:nvSpPr>
          <p:cNvPr id="11" name="Oval 10"/>
          <p:cNvSpPr/>
          <p:nvPr/>
        </p:nvSpPr>
        <p:spPr>
          <a:xfrm>
            <a:off x="612648" y="493776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499262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Explain why 100% coverage is not bug-free; combine with black-box.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White-Box Testing  ·  Week 3 · Friday   |   2 / 34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Opening the Box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white-box testing is, who does it, where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White-Box Testing  ·  Week 3 · Friday   |   3 / 34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White-Box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83080"/>
            <a:ext cx="2434590" cy="9144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1A1A1A"/>
                </a:solidFill>
                <a:latin typeface="Arial"/>
              </a:rPr>
              <a:t>Code structure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092958" y="2240280"/>
            <a:ext cx="32004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458718" y="1783080"/>
            <a:ext cx="2434590" cy="9144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1A1A1A"/>
                </a:solidFill>
                <a:latin typeface="Arial"/>
              </a:rPr>
              <a:t>Design tests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39028" y="2240280"/>
            <a:ext cx="32004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304788" y="1783080"/>
            <a:ext cx="2434590" cy="9144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1A1A1A"/>
                </a:solidFill>
                <a:latin typeface="Arial"/>
              </a:rPr>
              <a:t>Measure coverage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785098" y="2240280"/>
            <a:ext cx="32004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150858" y="1783080"/>
            <a:ext cx="2434590" cy="91440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1A1A1A"/>
                </a:solidFill>
                <a:latin typeface="Arial"/>
              </a:rPr>
              <a:t>Find the gaps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3108960"/>
            <a:ext cx="109728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900" b="0" i="0">
                <a:solidFill>
                  <a:srgbClr val="1A1A1A"/>
                </a:solidFill>
                <a:latin typeface="Arial"/>
              </a:rPr>
              <a:t>Tests are chosen and measured by the internal structure of the code.</a:t>
            </a:r>
          </a:p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900" b="0" i="0">
                <a:solidFill>
                  <a:srgbClr val="1A1A1A"/>
                </a:solidFill>
                <a:latin typeface="Arial"/>
              </a:rPr>
              <a:t>The tester sees the decisions, loops and paths execution can take.</a:t>
            </a:r>
          </a:p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900" b="0" i="0">
                <a:solidFill>
                  <a:srgbClr val="1A1A1A"/>
                </a:solidFill>
                <a:latin typeface="Arial"/>
              </a:rPr>
              <a:t>Also called glass-box, clear-box, structural or code-based testing.</a:t>
            </a:r>
          </a:p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900" b="0" i="0">
                <a:solidFill>
                  <a:srgbClr val="1A1A1A"/>
                </a:solidFill>
                <a:latin typeface="Arial"/>
              </a:rPr>
              <a:t>Expected results still come from the requirement, never from the code.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White-Box Testing  ·  Week 3 · Friday   |   4 / 34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Analogy: Guest and Home Inspector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5303520" cy="301752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1F4E79"/>
                </a:solidFill>
                <a:latin typeface="Arial"/>
              </a:rPr>
              <a:t>The house guest (black-box)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Turns on taps, flips switches, opens doors.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Happy if every room works as expected.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Never sees the wiring behind the walls.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81928" y="1737360"/>
            <a:ext cx="5303520" cy="301752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2E7D32"/>
                </a:solidFill>
                <a:latin typeface="Arial"/>
              </a:rPr>
              <a:t>The home inspector (white-box)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Opens panels: is every circuit wired and used?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Finds a wire that never carries current.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Finds a fault before a guest ever trips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5029200"/>
            <a:ext cx="10972800" cy="77724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You need both: the inspector cannot tell whether the house suits the family.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White-Box Testing  ·  Week 3 · Friday   |   5 / 34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Black, White and Grey (Recap)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395020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65836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Aspect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Black-box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White-box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Grey-box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Knowledge of code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None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Full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Partial (schema, API)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Test basis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Requirements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Code and design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Both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Coverage measured as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Requirements covered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Code covered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Mixed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Cannot find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Code never exercised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Missing requirements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Depends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Mainly done by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Testers, users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Developers, SDETs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SDETs, API testers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White-Box Testing  ·  Week 3 · Friday   |   6 / 34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Structure and Control Flow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Vocabulary and control flow graphs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White-Box Testing  ·  Week 3 · Friday   |   7 / 34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Naming the Parts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6400800" cy="14630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1847088"/>
            <a:ext cx="6035040" cy="1261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Consolas"/>
              </a:rPr>
              <a:t>def check_login(failed, password_ok):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Consolas"/>
              </a:rPr>
              <a:t>    if failed &gt;= 3 and not password_ok: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Consolas"/>
              </a:rPr>
              <a:t>        return "locked"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Consolas"/>
              </a:rPr>
              <a:t>    return "ok"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3429000"/>
            <a:ext cx="2377440" cy="457200"/>
          </a:xfrm>
          <a:prstGeom prst="roundRect">
            <a:avLst>
              <a:gd name="adj" fmla="val 8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330066"/>
                </a:solidFill>
                <a:latin typeface="Arial"/>
              </a:rPr>
              <a:t>Statement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27248" y="3429000"/>
            <a:ext cx="84582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One executable instruction: return "ok"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3959352"/>
            <a:ext cx="2377440" cy="457200"/>
          </a:xfrm>
          <a:prstGeom prst="roundRect">
            <a:avLst>
              <a:gd name="adj" fmla="val 8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330066"/>
                </a:solidFill>
                <a:latin typeface="Arial"/>
              </a:rPr>
              <a:t>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27248" y="3959352"/>
            <a:ext cx="84582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Where flow splits: the whole if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4489704"/>
            <a:ext cx="2377440" cy="457200"/>
          </a:xfrm>
          <a:prstGeom prst="roundRect">
            <a:avLst>
              <a:gd name="adj" fmla="val 8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330066"/>
                </a:solidFill>
                <a:latin typeface="Arial"/>
              </a:rPr>
              <a:t>Condition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27248" y="4489704"/>
            <a:ext cx="84582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One true/false piece: failed &gt;= 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" y="5020056"/>
            <a:ext cx="2377440" cy="457200"/>
          </a:xfrm>
          <a:prstGeom prst="roundRect">
            <a:avLst>
              <a:gd name="adj" fmla="val 8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330066"/>
                </a:solidFill>
                <a:latin typeface="Arial"/>
              </a:rPr>
              <a:t>Branch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27248" y="5020056"/>
            <a:ext cx="84582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One outcome of a decision: True or False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5550408"/>
            <a:ext cx="2377440" cy="457200"/>
          </a:xfrm>
          <a:prstGeom prst="roundRect">
            <a:avLst>
              <a:gd name="adj" fmla="val 8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330066"/>
                </a:solidFill>
                <a:latin typeface="Arial"/>
              </a:rPr>
              <a:t>Path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27248" y="5550408"/>
            <a:ext cx="84582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One full route from start to 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White-Box Testing  ·  Week 3 · Friday   |   8 / 34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 Flow Graph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4754880" cy="14630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1847088"/>
            <a:ext cx="4389120" cy="1261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onsolas"/>
              </a:rPr>
              <a:t>def apply_bonus(score, is_vip):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onsolas"/>
              </a:rPr>
              <a:t>    if is_vip: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onsolas"/>
              </a:rPr>
              <a:t>        score = score + 10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onsolas"/>
              </a:rPr>
              <a:t>    return score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3474720"/>
            <a:ext cx="47548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Node: a statement, a block or a decision</a:t>
            </a:r>
          </a:p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Edge: execution can move from one node to the next</a:t>
            </a:r>
          </a:p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Each decision has a True and a False edge</a:t>
            </a:r>
          </a:p>
        </p:txBody>
      </p:sp>
      <p:sp>
        <p:nvSpPr>
          <p:cNvPr id="7" name="Diamond 6"/>
          <p:cNvSpPr/>
          <p:nvPr/>
        </p:nvSpPr>
        <p:spPr>
          <a:xfrm>
            <a:off x="7315200" y="1668779"/>
            <a:ext cx="1828800" cy="868680"/>
          </a:xfrm>
          <a:prstGeom prst="diamond">
            <a:avLst/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1 if is_vip</a:t>
            </a:r>
          </a:p>
        </p:txBody>
      </p:sp>
      <p:sp>
        <p:nvSpPr>
          <p:cNvPr id="8" name="Oval 7"/>
          <p:cNvSpPr/>
          <p:nvPr/>
        </p:nvSpPr>
        <p:spPr>
          <a:xfrm>
            <a:off x="6423660" y="3314700"/>
            <a:ext cx="685800" cy="685800"/>
          </a:xfrm>
          <a:prstGeom prst="ellipse">
            <a:avLst/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40680" y="416052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5A5A5A"/>
                </a:solidFill>
                <a:latin typeface="Arial"/>
              </a:rPr>
              <a:t>score + 10</a:t>
            </a:r>
          </a:p>
        </p:txBody>
      </p:sp>
      <p:sp>
        <p:nvSpPr>
          <p:cNvPr id="10" name="Oval 9"/>
          <p:cNvSpPr/>
          <p:nvPr/>
        </p:nvSpPr>
        <p:spPr>
          <a:xfrm>
            <a:off x="7886700" y="4777740"/>
            <a:ext cx="685800" cy="685800"/>
          </a:xfrm>
          <a:prstGeom prst="ellipse">
            <a:avLst/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498348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A5A5A"/>
                </a:solidFill>
                <a:latin typeface="Arial"/>
              </a:rPr>
              <a:t>return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6949440" y="2377440"/>
            <a:ext cx="731520" cy="969264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0800" y="26060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2E7D32"/>
                </a:solidFill>
                <a:latin typeface="Arial"/>
              </a:rPr>
              <a:t>True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949440" y="3959352"/>
            <a:ext cx="1051560" cy="905256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144000" y="2103120"/>
            <a:ext cx="731520" cy="0"/>
          </a:xfrm>
          <a:prstGeom prst="line">
            <a:avLst/>
          </a:prstGeom>
          <a:ln w="222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875520" y="2103120"/>
            <a:ext cx="0" cy="3017520"/>
          </a:xfrm>
          <a:prstGeom prst="line">
            <a:avLst/>
          </a:prstGeom>
          <a:ln w="222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8595360" y="5120640"/>
            <a:ext cx="1280160" cy="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966960" y="34747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00000"/>
                </a:solidFill>
                <a:latin typeface="Arial"/>
              </a:rPr>
              <a:t>False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57607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330066"/>
                </a:solidFill>
                <a:latin typeface="Arial"/>
              </a:rPr>
              <a:t>3 nodes, 3 edges, 2 paths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White-Box Testing  ·  Week 3 · Friday   |   9 / 34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CFG: if / elif / else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4206240" cy="28346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1847088"/>
            <a:ext cx="3840479" cy="2633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onsolas"/>
              </a:rPr>
              <a:t>def grade(score):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onsolas"/>
              </a:rPr>
              <a:t>    if score &gt;= 90: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onsolas"/>
              </a:rPr>
              <a:t>        g = "A"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onsolas"/>
              </a:rPr>
              <a:t>    elif score &gt;= 50: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onsolas"/>
              </a:rPr>
              <a:t>        g = "Pass"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onsolas"/>
              </a:rPr>
              <a:t>    else: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onsolas"/>
              </a:rPr>
              <a:t>        g = "Fail"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onsolas"/>
              </a:rPr>
              <a:t>    return g</a:t>
            </a:r>
          </a:p>
        </p:txBody>
      </p:sp>
      <p:sp>
        <p:nvSpPr>
          <p:cNvPr id="6" name="Diamond 5"/>
          <p:cNvSpPr/>
          <p:nvPr/>
        </p:nvSpPr>
        <p:spPr>
          <a:xfrm>
            <a:off x="6400800" y="1623060"/>
            <a:ext cx="1645920" cy="777240"/>
          </a:xfrm>
          <a:prstGeom prst="diamond">
            <a:avLst/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1 &gt;= 90?</a:t>
            </a:r>
          </a:p>
        </p:txBody>
      </p:sp>
      <p:sp>
        <p:nvSpPr>
          <p:cNvPr id="7" name="Oval 6"/>
          <p:cNvSpPr/>
          <p:nvPr/>
        </p:nvSpPr>
        <p:spPr>
          <a:xfrm>
            <a:off x="10561320" y="1691640"/>
            <a:ext cx="640080" cy="640080"/>
          </a:xfrm>
          <a:prstGeom prst="ellipse">
            <a:avLst/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2</a:t>
            </a:r>
          </a:p>
        </p:txBody>
      </p:sp>
      <p:sp>
        <p:nvSpPr>
          <p:cNvPr id="8" name="Diamond 7"/>
          <p:cNvSpPr/>
          <p:nvPr/>
        </p:nvSpPr>
        <p:spPr>
          <a:xfrm>
            <a:off x="6400800" y="3040380"/>
            <a:ext cx="1645920" cy="777240"/>
          </a:xfrm>
          <a:prstGeom prst="diamond">
            <a:avLst/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3 &gt;= 50?</a:t>
            </a:r>
          </a:p>
        </p:txBody>
      </p:sp>
      <p:sp>
        <p:nvSpPr>
          <p:cNvPr id="9" name="Oval 8"/>
          <p:cNvSpPr/>
          <p:nvPr/>
        </p:nvSpPr>
        <p:spPr>
          <a:xfrm>
            <a:off x="9189720" y="3108960"/>
            <a:ext cx="640080" cy="640080"/>
          </a:xfrm>
          <a:prstGeom prst="ellipse">
            <a:avLst/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4</a:t>
            </a:r>
          </a:p>
        </p:txBody>
      </p:sp>
      <p:sp>
        <p:nvSpPr>
          <p:cNvPr id="10" name="Oval 9"/>
          <p:cNvSpPr/>
          <p:nvPr/>
        </p:nvSpPr>
        <p:spPr>
          <a:xfrm>
            <a:off x="6903720" y="4389120"/>
            <a:ext cx="640080" cy="640080"/>
          </a:xfrm>
          <a:prstGeom prst="ellipse">
            <a:avLst/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5</a:t>
            </a:r>
          </a:p>
        </p:txBody>
      </p:sp>
      <p:sp>
        <p:nvSpPr>
          <p:cNvPr id="11" name="Oval 10"/>
          <p:cNvSpPr/>
          <p:nvPr/>
        </p:nvSpPr>
        <p:spPr>
          <a:xfrm>
            <a:off x="8732520" y="5349240"/>
            <a:ext cx="640080" cy="640080"/>
          </a:xfrm>
          <a:prstGeom prst="ellipse">
            <a:avLst/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6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046720" y="2011680"/>
            <a:ext cx="2514600" cy="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075420" y="17373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2E7D32"/>
                </a:solidFill>
                <a:latin typeface="Arial"/>
              </a:rPr>
              <a:t>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223760" y="2404872"/>
            <a:ext cx="0" cy="630936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269480" y="256032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C00000"/>
                </a:solidFill>
                <a:latin typeface="Arial"/>
              </a:rPr>
              <a:t>F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046720" y="3429000"/>
            <a:ext cx="1143000" cy="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389620" y="31546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2E7D32"/>
                </a:solidFill>
                <a:latin typeface="Arial"/>
              </a:rPr>
              <a:t>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223760" y="3822191"/>
            <a:ext cx="0" cy="566929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269480" y="393192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C00000"/>
                </a:solidFill>
                <a:latin typeface="Arial"/>
              </a:rPr>
              <a:t>F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881360" y="2331720"/>
            <a:ext cx="0" cy="3337560"/>
          </a:xfrm>
          <a:prstGeom prst="line">
            <a:avLst/>
          </a:prstGeom>
          <a:ln w="222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9372600" y="5669280"/>
            <a:ext cx="1508760" cy="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9144000" y="3749039"/>
            <a:ext cx="365760" cy="1609345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498079" y="4956048"/>
            <a:ext cx="1280161" cy="576072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12648" y="4846320"/>
            <a:ext cx="4206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Arial"/>
              </a:rPr>
              <a:t>Labels: 2 A, 4 Pass, 5 Fail, 6 return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Arial"/>
              </a:rPr>
              <a:t>6 nodes, 7 edges, 3 paths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White-Box Testing  ·  Week 3 · Friday   |   10 / 34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CFG: a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4206240" cy="210312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1847088"/>
            <a:ext cx="3840479" cy="1901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onsolas"/>
              </a:rPr>
              <a:t>def sum_positive(numbers):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onsolas"/>
              </a:rPr>
              <a:t>    total = 0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onsolas"/>
              </a:rPr>
              <a:t>    for n in numbers: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onsolas"/>
              </a:rPr>
              <a:t>        if n &gt; 0: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onsolas"/>
              </a:rPr>
              <a:t>            total += n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onsolas"/>
              </a:rPr>
              <a:t>    return total</a:t>
            </a:r>
          </a:p>
        </p:txBody>
      </p:sp>
      <p:sp>
        <p:nvSpPr>
          <p:cNvPr id="6" name="Oval 5"/>
          <p:cNvSpPr/>
          <p:nvPr/>
        </p:nvSpPr>
        <p:spPr>
          <a:xfrm>
            <a:off x="6309360" y="1554480"/>
            <a:ext cx="548640" cy="548640"/>
          </a:xfrm>
          <a:prstGeom prst="ellipse">
            <a:avLst/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7" name="Diamond 6"/>
          <p:cNvSpPr/>
          <p:nvPr/>
        </p:nvSpPr>
        <p:spPr>
          <a:xfrm>
            <a:off x="5852160" y="2560320"/>
            <a:ext cx="1463040" cy="731520"/>
          </a:xfrm>
          <a:prstGeom prst="diamond">
            <a:avLst/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2 next n?</a:t>
            </a:r>
          </a:p>
        </p:txBody>
      </p:sp>
      <p:sp>
        <p:nvSpPr>
          <p:cNvPr id="8" name="Diamond 7"/>
          <p:cNvSpPr/>
          <p:nvPr/>
        </p:nvSpPr>
        <p:spPr>
          <a:xfrm>
            <a:off x="5852160" y="3794759"/>
            <a:ext cx="1463040" cy="731520"/>
          </a:xfrm>
          <a:prstGeom prst="diamond">
            <a:avLst/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3 n &gt; 0?</a:t>
            </a:r>
          </a:p>
        </p:txBody>
      </p:sp>
      <p:sp>
        <p:nvSpPr>
          <p:cNvPr id="9" name="Oval 8"/>
          <p:cNvSpPr/>
          <p:nvPr/>
        </p:nvSpPr>
        <p:spPr>
          <a:xfrm>
            <a:off x="6309360" y="5074920"/>
            <a:ext cx="548640" cy="548640"/>
          </a:xfrm>
          <a:prstGeom prst="ellipse">
            <a:avLst/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4</a:t>
            </a:r>
          </a:p>
        </p:txBody>
      </p:sp>
      <p:sp>
        <p:nvSpPr>
          <p:cNvPr id="10" name="Oval 9"/>
          <p:cNvSpPr/>
          <p:nvPr/>
        </p:nvSpPr>
        <p:spPr>
          <a:xfrm>
            <a:off x="9418319" y="1920240"/>
            <a:ext cx="548640" cy="548640"/>
          </a:xfrm>
          <a:prstGeom prst="ellipse">
            <a:avLst/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5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83680" y="2103120"/>
            <a:ext cx="0" cy="45720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583680" y="3291840"/>
            <a:ext cx="0" cy="50292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675120" y="336499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2E7D32"/>
                </a:solidFill>
                <a:latin typeface="Arial"/>
              </a:rPr>
              <a:t>yes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7315200" y="2286000"/>
            <a:ext cx="2103120" cy="64008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046720" y="22402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C00000"/>
                </a:solidFill>
                <a:latin typeface="Arial"/>
              </a:rPr>
              <a:t>no more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83680" y="4526280"/>
            <a:ext cx="0" cy="54864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675120" y="461772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2E7D32"/>
                </a:solidFill>
                <a:latin typeface="Arial"/>
              </a:rPr>
              <a:t>T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5303520" y="4160520"/>
            <a:ext cx="548640" cy="0"/>
          </a:xfrm>
          <a:prstGeom prst="line">
            <a:avLst/>
          </a:prstGeom>
          <a:ln w="22225">
            <a:solidFill>
              <a:srgbClr val="C55A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5303520" y="2926080"/>
            <a:ext cx="0" cy="1234440"/>
          </a:xfrm>
          <a:prstGeom prst="line">
            <a:avLst/>
          </a:prstGeom>
          <a:ln w="22225">
            <a:solidFill>
              <a:srgbClr val="C55A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303520" y="2926080"/>
            <a:ext cx="548640" cy="0"/>
          </a:xfrm>
          <a:prstGeom prst="line">
            <a:avLst/>
          </a:prstGeom>
          <a:ln w="22225">
            <a:solidFill>
              <a:srgbClr val="C55A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349240" y="34290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00000"/>
                </a:solidFill>
                <a:latin typeface="Arial"/>
              </a:rPr>
              <a:t>F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58000" y="5349240"/>
            <a:ext cx="1097279" cy="0"/>
          </a:xfrm>
          <a:prstGeom prst="line">
            <a:avLst/>
          </a:prstGeom>
          <a:ln w="22225">
            <a:solidFill>
              <a:srgbClr val="C55A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7955279" y="3154680"/>
            <a:ext cx="0" cy="2194560"/>
          </a:xfrm>
          <a:prstGeom prst="line">
            <a:avLst/>
          </a:prstGeom>
          <a:ln w="22225">
            <a:solidFill>
              <a:srgbClr val="C55A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7040880" y="3090672"/>
            <a:ext cx="914399" cy="64008"/>
          </a:xfrm>
          <a:prstGeom prst="line">
            <a:avLst/>
          </a:prstGeom>
          <a:ln w="22225">
            <a:solidFill>
              <a:srgbClr val="C55A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12648" y="4114800"/>
            <a:ext cx="42062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Arial"/>
              </a:rPr>
              <a:t>Back edges (orange) make the loop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Arial"/>
              </a:rPr>
              <a:t>0, 1, 2 ... 100 times round: paths grow without limit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27432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A5A5A"/>
                </a:solidFill>
                <a:latin typeface="Arial"/>
              </a:rPr>
              <a:t>1 total = 0 · 4 total += n · 5 return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White-Box Testing  ·  Week 3 · Friday   |   11 / 34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Coverage Criteria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Statement, branch, condition and beyond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White-Box Testing  ·  Week 3 · Friday   |   12 / 34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Statement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10972800" cy="82296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FFFFFF"/>
                </a:solidFill>
                <a:latin typeface="Arial"/>
              </a:rPr>
              <a:t>Statement coverage = statements executed / executable statements x 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283464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900" b="0" i="0">
                <a:solidFill>
                  <a:srgbClr val="1A1A1A"/>
                </a:solidFill>
                <a:latin typeface="Arial"/>
              </a:rPr>
              <a:t>Question: has every statement run at least once?</a:t>
            </a:r>
          </a:p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900" b="0" i="0">
                <a:solidFill>
                  <a:srgbClr val="1A1A1A"/>
                </a:solidFill>
                <a:latin typeface="Arial"/>
              </a:rPr>
              <a:t>apply_bonus(50, True) runs all 3 lines: 100% statement coverage.</a:t>
            </a:r>
          </a:p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900" b="0" i="0">
                <a:solidFill>
                  <a:srgbClr val="1A1A1A"/>
                </a:solidFill>
                <a:latin typeface="Arial"/>
              </a:rPr>
              <a:t>It says nothing about the decision outcome that was never taken.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4800600"/>
            <a:ext cx="10972800" cy="960120"/>
          </a:xfrm>
          <a:prstGeom prst="roundRect">
            <a:avLst>
              <a:gd name="adj" fmla="val 12000"/>
            </a:avLst>
          </a:prstGeom>
          <a:solidFill>
            <a:srgbClr val="F5F5C2"/>
          </a:solidFill>
          <a:ln w="15875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910328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5C8A8A"/>
                </a:solidFill>
                <a:latin typeface="Arial"/>
              </a:rPr>
              <a:t>EXAMPLE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Bug: a change also adds 10 to non-VIP scores. The single test above still passes.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White-Box Testing  ·  Week 3 · Friday   |   13 / 34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Branch (Decision)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10972800" cy="82296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FFFFFF"/>
                </a:solidFill>
                <a:latin typeface="Arial"/>
              </a:rPr>
              <a:t>Branch coverage = decision outcomes taken / all outcomes x 100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12648" y="2743200"/>
          <a:ext cx="585216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858000" y="2743200"/>
            <a:ext cx="4727448" cy="32004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grade has 2 decisions = 4 outcomes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95: decision 1 True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70: 1 False, 3 True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10: 1 False, 3 False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Three tests: 100%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White-Box Testing  ·  Week 3 · Friday   |   14 / 34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Subsumption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6035040" cy="4206240"/>
          </a:xfrm>
          <a:prstGeom prst="roundRect">
            <a:avLst>
              <a:gd name="adj" fmla="val 5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764792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5B2C83"/>
                </a:solidFill>
                <a:latin typeface="Arial"/>
              </a:rPr>
              <a:t>Path coverage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15568" y="2244852"/>
            <a:ext cx="5029200" cy="3099815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2728" y="2318004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4E79"/>
                </a:solidFill>
                <a:latin typeface="Arial"/>
              </a:rPr>
              <a:t>Multiple condition coverage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18488" y="2798064"/>
            <a:ext cx="4023359" cy="1993391"/>
          </a:xfrm>
          <a:prstGeom prst="roundRect">
            <a:avLst>
              <a:gd name="adj" fmla="val 5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5648" y="2871216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E7D32"/>
                </a:solidFill>
                <a:latin typeface="Arial"/>
              </a:rPr>
              <a:t>Branch coverage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21408" y="3351276"/>
            <a:ext cx="3017519" cy="88696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58568" y="3424428"/>
            <a:ext cx="274319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D9D9D9"/>
                </a:solidFill>
                <a:latin typeface="Arial"/>
              </a:rPr>
              <a:t>Statement coverage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1691640"/>
            <a:ext cx="4636008" cy="420624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Stronger includes weaker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100% branch guarantees 100% statement.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The reverse is not true: apply_bonus(50, True) is 100% statement, 50% branch.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Condition coverage alone does not imply branch coverage (next slide).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White-Box Testing  ·  Week 3 · Friday   |   15 / 34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Condition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5A5A5A"/>
                </a:solidFill>
                <a:latin typeface="Arial"/>
              </a:rPr>
              <a:t>Decision: if amount &gt;= 100 and is_member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2648" y="2240280"/>
          <a:ext cx="10972800" cy="17830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40"/>
                <a:gridCol w="3108960"/>
                <a:gridCol w="2743200"/>
                <a:gridCol w="2743200"/>
              </a:tblGrid>
              <a:tr h="59436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Test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A: amount &gt;= 100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B: is_member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Decision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(150, False)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True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False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False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(50, True)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False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True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False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12648" y="4206240"/>
            <a:ext cx="109728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Every condition was True once and False once: 100% condition coverage.</a:t>
            </a:r>
          </a:p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The decision was never True: branch coverage only 50%.</a:t>
            </a:r>
          </a:p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Condition/decision coverage asks for both: add (150, True).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White-Box Testing  ·  Week 3 · Friday   |   16 / 34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Multiple Condition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12648" y="1691640"/>
          <a:ext cx="603504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5760720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5A5A5A"/>
                </a:solidFill>
                <a:latin typeface="Arial"/>
              </a:rPr>
              <a:t>conditions in one decision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691640"/>
            <a:ext cx="4636008" cy="402336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Every True/False combination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2 conditions: TT, TF, FT, FF: four tests.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n conditions need 2^n combinations.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Six conditions: 64. Usually a sign the decision should be simplified.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White-Box Testing  ·  Week 3 · Friday   |   17 / 34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Paths and Complexity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Path coverage and cyclomatic complexity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White-Box Testing  ·  Week 3 · Friday   |   18 / 34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Path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4846320" cy="219456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1847088"/>
            <a:ext cx="4480559" cy="1993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onsolas"/>
              </a:rPr>
              <a:t>def price(amount, member, coupon):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onsolas"/>
              </a:rPr>
              <a:t>    discount = 0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onsolas"/>
              </a:rPr>
              <a:t>    if member: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onsolas"/>
              </a:rPr>
              <a:t>        discount += 5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onsolas"/>
              </a:rPr>
              <a:t>    if coupon: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onsolas"/>
              </a:rPr>
              <a:t>        discount += 5</a:t>
            </a:r>
          </a:p>
        </p:txBody>
      </p:sp>
      <p:sp>
        <p:nvSpPr>
          <p:cNvPr id="6" name="Diamond 5"/>
          <p:cNvSpPr/>
          <p:nvPr/>
        </p:nvSpPr>
        <p:spPr>
          <a:xfrm>
            <a:off x="7498079" y="1623060"/>
            <a:ext cx="1463040" cy="685800"/>
          </a:xfrm>
          <a:prstGeom prst="diamond">
            <a:avLst/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member?</a:t>
            </a:r>
          </a:p>
        </p:txBody>
      </p:sp>
      <p:sp>
        <p:nvSpPr>
          <p:cNvPr id="7" name="Diamond 6"/>
          <p:cNvSpPr/>
          <p:nvPr/>
        </p:nvSpPr>
        <p:spPr>
          <a:xfrm>
            <a:off x="6263640" y="2880360"/>
            <a:ext cx="1371600" cy="640080"/>
          </a:xfrm>
          <a:prstGeom prst="diamond">
            <a:avLst/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coupon?</a:t>
            </a:r>
          </a:p>
        </p:txBody>
      </p:sp>
      <p:sp>
        <p:nvSpPr>
          <p:cNvPr id="8" name="Diamond 7"/>
          <p:cNvSpPr/>
          <p:nvPr/>
        </p:nvSpPr>
        <p:spPr>
          <a:xfrm>
            <a:off x="8823960" y="2880360"/>
            <a:ext cx="1371600" cy="640080"/>
          </a:xfrm>
          <a:prstGeom prst="diamond">
            <a:avLst/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coupon?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7132320" y="2240280"/>
            <a:ext cx="731520" cy="64008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040880" y="233172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2E7D32"/>
                </a:solidFill>
                <a:latin typeface="Arial"/>
              </a:rPr>
              <a:t>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595360" y="2240280"/>
            <a:ext cx="731520" cy="64008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235440" y="233172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C00000"/>
                </a:solidFill>
                <a:latin typeface="Arial"/>
              </a:rPr>
              <a:t>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4160520"/>
            <a:ext cx="1097280" cy="5486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TT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19" y="4160520"/>
            <a:ext cx="1097280" cy="5486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TF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0" y="4160520"/>
            <a:ext cx="1097280" cy="5486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FT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12680" y="4160520"/>
            <a:ext cx="1097280" cy="5486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FF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6583680" y="3520440"/>
            <a:ext cx="91440" cy="59436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223760" y="3520440"/>
            <a:ext cx="685800" cy="59436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235440" y="3520440"/>
            <a:ext cx="0" cy="59436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784080" y="3520440"/>
            <a:ext cx="777240" cy="59436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12648" y="4206240"/>
            <a:ext cx="48463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A1A1A"/>
                </a:solidFill>
                <a:latin typeface="Arial"/>
              </a:rPr>
              <a:t>2 independent ifs: 2 x 2 = 4 paths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A1A1A"/>
                </a:solidFill>
                <a:latin typeface="Arial"/>
              </a:rPr>
              <a:t>10 ifs: 1,024 paths; a loop: unbounded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0" y="5120640"/>
            <a:ext cx="5550408" cy="68580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Strongest criterion, rarely practical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White-Box Testing  ·  Week 3 · Friday   |   19 / 34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Cyclomatic Complexity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5349240" cy="91440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V(G) = E - N + 2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36208" y="1737360"/>
            <a:ext cx="5349240" cy="91440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V(G) = decision points + 1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2648" y="2926080"/>
          <a:ext cx="10972800" cy="226771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017520"/>
                <a:gridCol w="2651760"/>
                <a:gridCol w="2651760"/>
                <a:gridCol w="265176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Function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Nodes / edges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E - N + 2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Decisions + 1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apply_bonus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3 / 3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1 + 1 = 2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grade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6 / 7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2 + 1 = 3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sum_positive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5 / 6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2 + 1 = 3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2648" y="5349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330066"/>
                </a:solidFill>
                <a:latin typeface="Arial"/>
              </a:rPr>
              <a:t>V(G) = number of independent paths = the minimum tests for a basis set.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White-Box Testing  ·  Week 3 · Friday   |   20 / 34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the Number Tells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83080"/>
            <a:ext cx="2651760" cy="73152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1A1A1A"/>
                </a:solidFill>
                <a:latin typeface="Arial"/>
              </a:rPr>
              <a:t>1-10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260604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Simple, easy to test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01568" y="1783080"/>
            <a:ext cx="2651760" cy="73152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1A1A1A"/>
                </a:solidFill>
                <a:latin typeface="Arial"/>
              </a:rPr>
              <a:t>11-20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01568" y="260604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Moderate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0488" y="1783080"/>
            <a:ext cx="2651760" cy="73152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1A1A1A"/>
                </a:solidFill>
                <a:latin typeface="Arial"/>
              </a:rPr>
              <a:t>21-50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0488" y="260604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Complex, high risk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79407" y="1783080"/>
            <a:ext cx="2651760" cy="731520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50+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79407" y="260604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Hard to test; refactor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3200400"/>
            <a:ext cx="10972800" cy="0"/>
          </a:xfrm>
          <a:prstGeom prst="line">
            <a:avLst/>
          </a:prstGeom>
          <a:ln w="2540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12648" y="32918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5A5A5A"/>
                </a:solidFill>
                <a:latin typeface="Arial"/>
              </a:rPr>
              <a:t>higher complexity: more tests needed, more defects likely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3840480"/>
            <a:ext cx="109728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Lower is better: small numbers mean easy to read and test.</a:t>
            </a:r>
          </a:p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Use it to rank risk: test and review the complex functions first.</a:t>
            </a:r>
          </a:p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A pipeline can warn when complexity crosses a threshold.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White-Box Testing  ·  Week 3 · Friday   |   21 / 34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Building Tests from Code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discount function, loops, and beyond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White-Box Testing  ·  Week 3 · Friday   |   22 / 34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Function: calculate_discount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Hexagon 3"/>
          <p:cNvSpPr/>
          <p:nvPr/>
        </p:nvSpPr>
        <p:spPr>
          <a:xfrm>
            <a:off x="612648" y="1737360"/>
            <a:ext cx="3291840" cy="685800"/>
          </a:xfrm>
          <a:prstGeom prst="hexagon">
            <a:avLst/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D1 amount &lt;= 0?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44568" y="1737360"/>
            <a:ext cx="1280160" cy="68580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error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904488" y="2075688"/>
            <a:ext cx="594360" cy="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904488" y="173736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2E7D32"/>
                </a:solidFill>
                <a:latin typeface="Arial"/>
              </a:rPr>
              <a:t>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58568" y="2423160"/>
            <a:ext cx="0" cy="22860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Hexagon 8"/>
          <p:cNvSpPr/>
          <p:nvPr/>
        </p:nvSpPr>
        <p:spPr>
          <a:xfrm>
            <a:off x="612648" y="2651760"/>
            <a:ext cx="3291840" cy="685800"/>
          </a:xfrm>
          <a:prstGeom prst="hexagon">
            <a:avLst/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D2 &gt;= 100 and member?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44568" y="2651760"/>
            <a:ext cx="1280160" cy="6858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15%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904488" y="2990088"/>
            <a:ext cx="594360" cy="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904488" y="265176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2E7D32"/>
                </a:solidFill>
                <a:latin typeface="Arial"/>
              </a:rPr>
              <a:t>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258568" y="3337560"/>
            <a:ext cx="0" cy="22860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Hexagon 13"/>
          <p:cNvSpPr/>
          <p:nvPr/>
        </p:nvSpPr>
        <p:spPr>
          <a:xfrm>
            <a:off x="612648" y="3566160"/>
            <a:ext cx="3291840" cy="685800"/>
          </a:xfrm>
          <a:prstGeom prst="hexagon">
            <a:avLst/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D3 &gt;= 100?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44568" y="3566160"/>
            <a:ext cx="1280160" cy="6858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10%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04488" y="3904487"/>
            <a:ext cx="594360" cy="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904488" y="356616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2E7D32"/>
                </a:solidFill>
                <a:latin typeface="Arial"/>
              </a:rPr>
              <a:t>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58568" y="4251960"/>
            <a:ext cx="0" cy="22860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Hexagon 18"/>
          <p:cNvSpPr/>
          <p:nvPr/>
        </p:nvSpPr>
        <p:spPr>
          <a:xfrm>
            <a:off x="612648" y="4480560"/>
            <a:ext cx="3291840" cy="685800"/>
          </a:xfrm>
          <a:prstGeom prst="hexagon">
            <a:avLst/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D4 member?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44568" y="4480560"/>
            <a:ext cx="1280160" cy="6858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5%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904488" y="4818888"/>
            <a:ext cx="594360" cy="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904488" y="448056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2E7D32"/>
                </a:solidFill>
                <a:latin typeface="Arial"/>
              </a:rPr>
              <a:t>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" y="5394960"/>
            <a:ext cx="3291840" cy="54864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else 0%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258568" y="5166360"/>
            <a:ext cx="0" cy="22860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Hexagon 24"/>
          <p:cNvSpPr/>
          <p:nvPr/>
        </p:nvSpPr>
        <p:spPr>
          <a:xfrm>
            <a:off x="6281928" y="3017520"/>
            <a:ext cx="2743200" cy="822960"/>
          </a:xfrm>
          <a:prstGeom prst="hexagon">
            <a:avLst/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D5 coupon SAVE5?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90888" y="3017520"/>
            <a:ext cx="2194560" cy="82296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add 5 points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025128" y="3429000"/>
            <a:ext cx="320040" cy="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281928" y="2103120"/>
            <a:ext cx="5303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A5A5A"/>
                </a:solidFill>
                <a:latin typeface="Arial"/>
              </a:rPr>
              <a:t>After the ladder, every valid order checks the coupon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White-Box Testing  ·  Week 3 · Friday   |   23 / 34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Minimum Tests per Criterion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12648" y="1691640"/>
          <a:ext cx="640080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0" y="1691640"/>
            <a:ext cx="4270248" cy="42062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What forced the count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Statement 4: error line plus three exclusive discount lines.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Branch 5: the hidden 'no discount' outcome.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Path 9: four tiers x coupon yes/no, plus the error.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White-Box Testing  ·  Week 3 · Friday   |   24 / 34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Results Come from the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373075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097280"/>
                <a:gridCol w="4572000"/>
                <a:gridCol w="5303520"/>
              </a:tblGrid>
              <a:tr h="621792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Test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Inputs (amount, member, coupon)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Expected (from the rules)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(0, False, "")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Error: amount must be positive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(150, True, "SAVE5")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20 (15 + 5)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(150, False, "")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(50, True, "")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(50, False, "")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54864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330066"/>
                </a:solidFill>
                <a:latin typeface="Arial"/>
              </a:rPr>
              <a:t>Coverage chooses the inputs; the requirement supplies the expected result.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White-Box Testing  ·  Week 3 · Friday   |   25 / 34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Loop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828800"/>
            <a:ext cx="1691640" cy="82296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274320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skip the loop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68879" y="1828800"/>
            <a:ext cx="1691640" cy="82296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79" y="274320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one pass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5112" y="1828800"/>
            <a:ext cx="1691640" cy="82296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1A1A1A"/>
                </a:solidFill>
                <a:latin typeface="Arial"/>
              </a:rPr>
              <a:t>2+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5112" y="274320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typical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828800"/>
            <a:ext cx="1691640" cy="82296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1A1A1A"/>
                </a:solidFill>
                <a:latin typeface="Arial"/>
              </a:rPr>
              <a:t>n - 1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81344" y="274320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just below max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37575" y="1828800"/>
            <a:ext cx="1691640" cy="82296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37575" y="274320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exactly max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93807" y="1828800"/>
            <a:ext cx="1691640" cy="82296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n + 1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93807" y="274320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beyond max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32004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5A5A5A"/>
                </a:solidFill>
                <a:latin typeface="Arial"/>
              </a:rPr>
              <a:t>iterations of the loop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" y="3794760"/>
            <a:ext cx="10972800" cy="1463040"/>
          </a:xfrm>
          <a:prstGeom prst="roundRect">
            <a:avLst>
              <a:gd name="adj" fmla="val 12000"/>
            </a:avLst>
          </a:prstGeom>
          <a:solidFill>
            <a:srgbClr val="F5F5C2"/>
          </a:solidFill>
          <a:ln w="15875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3904488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5C8A8A"/>
                </a:solidFill>
                <a:latin typeface="Arial"/>
              </a:rPr>
              <a:t>EXAMPLE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count_failed_logins(attempts, max=3) stops counting at 3.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[] gives 0; [False] gives 1; five failures still give 3: only this test proves the stop works.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5486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Off-by-one, never-running and never-ending loops hide here.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White-Box Testing  ·  Week 3 · Friday   |   26 / 34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Beyond Coverage: Data Flow and Mutation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5349240" cy="32004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  <a:latin typeface="Arial"/>
              </a:rPr>
              <a:t>Data-flow testing (name level)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Follows variables, not decisions.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Each definition (x = 5) and later use is a def-use pair.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Spots a variable used before it is set, or set and never used.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36208" y="1737360"/>
            <a:ext cx="5349240" cy="320040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Mutation testing (name level)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 tool makes small changes: &gt;= to &gt;, + to -.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Your tests run against each mutant.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 mutant that survives shows a weak test.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5212080"/>
            <a:ext cx="10972800" cy="68580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Coverage tells you what ran; mutation tells you whether a test would notice a bug.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White-Box Testing  ·  Week 3 · Friday   |   27 / 34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Coverage in Practice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 the report, know its limits, combine with black-box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White-Box Testing  ·  Week 3 · Friday   |   28 / 34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Reading a Coverage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83080"/>
            <a:ext cx="182880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96312" y="1783080"/>
            <a:ext cx="1417320" cy="54864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Stmts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68496" y="1783080"/>
            <a:ext cx="1417320" cy="54864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Miss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40680" y="1783080"/>
            <a:ext cx="1417320" cy="54864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Branch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12864" y="1783080"/>
            <a:ext cx="1417320" cy="54864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BrPart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85048" y="1783080"/>
            <a:ext cx="1417320" cy="54864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Cover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57232" y="1783080"/>
            <a:ext cx="1417320" cy="54864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Missing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" y="2386584"/>
            <a:ext cx="1828800" cy="54864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shop.py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96312" y="2386584"/>
            <a:ext cx="141732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13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68496" y="2386584"/>
            <a:ext cx="1417320" cy="548640"/>
          </a:xfrm>
          <a:prstGeom prst="roundRect">
            <a:avLst>
              <a:gd name="adj" fmla="val 5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40680" y="2386584"/>
            <a:ext cx="141732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10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12864" y="2386584"/>
            <a:ext cx="1417320" cy="548640"/>
          </a:xfrm>
          <a:prstGeom prst="roundRect">
            <a:avLst>
              <a:gd name="adj" fmla="val 5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85048" y="2386584"/>
            <a:ext cx="1417320" cy="548640"/>
          </a:xfrm>
          <a:prstGeom prst="roundRect">
            <a:avLst>
              <a:gd name="adj" fmla="val 5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55%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57232" y="2386584"/>
            <a:ext cx="1417320" cy="548640"/>
          </a:xfrm>
          <a:prstGeom prst="roundRect">
            <a:avLst>
              <a:gd name="adj" fmla="val 5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9, 11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" y="3291840"/>
            <a:ext cx="3505200" cy="141732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Miss and Missing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Lines never executed: a to-do list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6448" y="3291840"/>
            <a:ext cx="3505200" cy="141732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BrPart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Decisions with only one outcome seen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0248" y="3291840"/>
            <a:ext cx="3505200" cy="141732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Cover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 floor, not a quality 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49834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Start with Missing, then partial branches; ask which requirement those lines serve.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White-Box Testing  ·  Week 3 · Friday   |   29 / 34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100% Coverage Is Not Bug-Free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3505200" cy="210312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No assertions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 test calls every branch and checks nothing: 100% and zero verification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6448" y="1737360"/>
            <a:ext cx="3505200" cy="210312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Missing requirement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'SAVE5 not valid under 20' was never coded: nothing to cover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80248" y="1737360"/>
            <a:ext cx="3505200" cy="210312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Lucky data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 line ran with 150 but fails at exactly 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411480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900" b="0" i="0">
                <a:solidFill>
                  <a:srgbClr val="1A1A1A"/>
                </a:solidFill>
                <a:latin typeface="Arial"/>
              </a:rPr>
              <a:t>Coverage measures execution, not checking.</a:t>
            </a:r>
          </a:p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900" b="0" i="0">
                <a:solidFill>
                  <a:srgbClr val="1A1A1A"/>
                </a:solidFill>
                <a:latin typeface="Arial"/>
              </a:rPr>
              <a:t>Set targets by risk: stricter for payment and login code.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5257800"/>
            <a:ext cx="10972800" cy="64008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Coverage is a floor, not a goal: when a number becomes a target, it stops measuring.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White-Box Testing  ·  Week 3 · Friday   |   30 / 34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Black-Box and White-Box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83080"/>
            <a:ext cx="2434590" cy="9144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Tests from requirements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092958" y="2240280"/>
            <a:ext cx="32004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458718" y="1783080"/>
            <a:ext cx="2434590" cy="9144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Run with coverage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39028" y="2240280"/>
            <a:ext cx="32004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304788" y="1783080"/>
            <a:ext cx="2434590" cy="91440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Read the gaps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785098" y="2240280"/>
            <a:ext cx="32004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150858" y="1783080"/>
            <a:ext cx="2434590" cy="9144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Add tests or question code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213848" y="2743200"/>
            <a:ext cx="0" cy="320040"/>
          </a:xfrm>
          <a:prstGeom prst="line">
            <a:avLst/>
          </a:prstGeom>
          <a:ln w="25400">
            <a:solidFill>
              <a:srgbClr val="C55A11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099048" y="274320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0" i="0">
                <a:solidFill>
                  <a:srgbClr val="C55A11"/>
                </a:solidFill>
                <a:latin typeface="Arial"/>
              </a:rPr>
              <a:t>repeat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" y="3200400"/>
            <a:ext cx="5303520" cy="265176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336499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F4E79"/>
                </a:solidFill>
                <a:latin typeface="Arial"/>
              </a:rPr>
              <a:t>Black-box finds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931920"/>
            <a:ext cx="4846320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Boundary bugs (BVA at exactly 100)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Missing requirements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81928" y="3200400"/>
            <a:ext cx="5303520" cy="265176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336499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E7D32"/>
                </a:solidFill>
                <a:latin typeface="Arial"/>
              </a:rPr>
              <a:t>White-box finds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3931920"/>
            <a:ext cx="4846320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Unreachable or dead code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Branches nobody tried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White-Box Testing  ·  Week 3 · Friday   |   31 / 34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COMMON MISTAKES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4114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120640"/>
                <a:gridCol w="5852160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Mistake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Do instead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Coverage equals quality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Check assertions; use coverage as a floor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Expected result taken from the code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Take it from the requirement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Statement coverage only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Always measure branches too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Ignoring short-circuit and/or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Check which conditions really ran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Chasing a percentage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Target risk; read the Missing lines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White-Box Testing  ·  Week 3 · Friday   |   32 / 34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12648" y="160020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165506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White-box tests are chosen and measured by code structure.</a:t>
            </a:r>
          </a:p>
        </p:txBody>
      </p:sp>
      <p:sp>
        <p:nvSpPr>
          <p:cNvPr id="6" name="Oval 5"/>
          <p:cNvSpPr/>
          <p:nvPr/>
        </p:nvSpPr>
        <p:spPr>
          <a:xfrm>
            <a:off x="612648" y="233172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238658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A control flow graph maps every route through the code.</a:t>
            </a:r>
          </a:p>
        </p:txBody>
      </p:sp>
      <p:sp>
        <p:nvSpPr>
          <p:cNvPr id="8" name="Oval 7"/>
          <p:cNvSpPr/>
          <p:nvPr/>
        </p:nvSpPr>
        <p:spPr>
          <a:xfrm>
            <a:off x="612648" y="306324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311810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Branch coverage includes statement coverage, not the reverse.</a:t>
            </a:r>
          </a:p>
        </p:txBody>
      </p:sp>
      <p:sp>
        <p:nvSpPr>
          <p:cNvPr id="10" name="Oval 9"/>
          <p:cNvSpPr/>
          <p:nvPr/>
        </p:nvSpPr>
        <p:spPr>
          <a:xfrm>
            <a:off x="612648" y="379476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384962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V(G) = E - N + 2 = decisions + 1: the basis set size.</a:t>
            </a:r>
          </a:p>
        </p:txBody>
      </p:sp>
      <p:sp>
        <p:nvSpPr>
          <p:cNvPr id="12" name="Oval 11"/>
          <p:cNvSpPr/>
          <p:nvPr/>
        </p:nvSpPr>
        <p:spPr>
          <a:xfrm>
            <a:off x="612648" y="452628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458114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Loops: test 0, 1, many, max and just beyond.</a:t>
            </a:r>
          </a:p>
        </p:txBody>
      </p:sp>
      <p:sp>
        <p:nvSpPr>
          <p:cNvPr id="14" name="Oval 13"/>
          <p:cNvSpPr/>
          <p:nvPr/>
        </p:nvSpPr>
        <p:spPr>
          <a:xfrm>
            <a:off x="612648" y="525780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531266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100% coverage is a floor, not proof: combine with black-box.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White-Box Testing  ·  Week 3 · Friday   |   33 / 34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Additional Resources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8544" y="18196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Coverage.py documentation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https://coverage.readthedocs.io/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4347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544" y="24713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pytest documentation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https://docs.pytest.org/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08648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8544" y="3123057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ISTQB Glossary and syllabi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https://www.istqb.org/</a:t>
            </a:r>
          </a:p>
        </p:txBody>
      </p:sp>
      <p:sp>
        <p:nvSpPr>
          <p:cNvPr id="9" name="Oval 8"/>
          <p:cNvSpPr/>
          <p:nvPr/>
        </p:nvSpPr>
        <p:spPr>
          <a:xfrm>
            <a:off x="609904" y="373818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8544" y="3774757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pytest-cov plugin documentation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https://pytest-cov.readthedocs.io/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White-Box Testing  ·  Week 3 · Friday   |   34 / 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rners Point">
  <a:themeElements>
    <a:clrScheme name="1_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1_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1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earners Point" id="{5ABB7BE2-076F-42C1-9907-FD58862889C1}" vid="{2565D177-60C2-4381-BEC4-E0C09BB79CB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10567</Words>
  <Application>Microsoft Office PowerPoint</Application>
  <PresentationFormat>Widescreen</PresentationFormat>
  <Paragraphs>1350</Paragraphs>
  <Slides>131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131</vt:i4>
      </vt:variant>
    </vt:vector>
  </HeadingPairs>
  <TitlesOfParts>
    <vt:vector size="135" baseType="lpstr">
      <vt:lpstr>Arial</vt:lpstr>
      <vt:lpstr>Courier New</vt:lpstr>
      <vt:lpstr>Wingdings</vt:lpstr>
      <vt:lpstr>Learners Point</vt:lpstr>
      <vt:lpstr>White-Box Testing</vt:lpstr>
      <vt:lpstr>Learning Objectives (1 of 2)</vt:lpstr>
      <vt:lpstr>Learning Objectives (2 of 2)</vt:lpstr>
      <vt:lpstr>What Is White-Box Testing?</vt:lpstr>
      <vt:lpstr>Definition</vt:lpstr>
      <vt:lpstr>Many Names, One Idea</vt:lpstr>
      <vt:lpstr>Analogy: Mechanic and Driver</vt:lpstr>
      <vt:lpstr>It Is About How Tests Are Chosen</vt:lpstr>
      <vt:lpstr>Black, White and Grey (1 of 2)</vt:lpstr>
      <vt:lpstr>Black, White and Grey (2 of 2)</vt:lpstr>
      <vt:lpstr>Grey-Box Testing</vt:lpstr>
      <vt:lpstr>Who Does White-Box Testing?</vt:lpstr>
      <vt:lpstr>When: Test Levels</vt:lpstr>
      <vt:lpstr>Outside Test Execution</vt:lpstr>
      <vt:lpstr>Structure and Control Flow</vt:lpstr>
      <vt:lpstr>A Small Function to Name Parts Of</vt:lpstr>
      <vt:lpstr>Structure Vocabulary (1 of 2)</vt:lpstr>
      <vt:lpstr>Structure Vocabulary (2 of 2)</vt:lpstr>
      <vt:lpstr>Decision Versus Condition</vt:lpstr>
      <vt:lpstr>Control Flow Graph (CFG)</vt:lpstr>
      <vt:lpstr>How to Draw a CFG: the Recipe</vt:lpstr>
      <vt:lpstr>CFG Example A: a Single if</vt:lpstr>
      <vt:lpstr>CFG Example B: if / elif / else</vt:lpstr>
      <vt:lpstr>CFG Example C: a Loop</vt:lpstr>
      <vt:lpstr>Coverage Criteria</vt:lpstr>
      <vt:lpstr>Statement Coverage</vt:lpstr>
      <vt:lpstr>What Statement Coverage Does Not Tell You</vt:lpstr>
      <vt:lpstr>Branch (Decision) Coverage</vt:lpstr>
      <vt:lpstr>Branch Coverage Worked: grade</vt:lpstr>
      <vt:lpstr>Branch Coverage Worked: Result</vt:lpstr>
      <vt:lpstr>Subsumption</vt:lpstr>
      <vt:lpstr>Counter-Example: apply_bonus</vt:lpstr>
      <vt:lpstr>Why That Matters</vt:lpstr>
      <vt:lpstr>Real Tool: Statement vs Branch</vt:lpstr>
      <vt:lpstr>Always Turn On Branch Measurement</vt:lpstr>
      <vt:lpstr>Condition Coverage</vt:lpstr>
      <vt:lpstr>Condition Coverage Example</vt:lpstr>
      <vt:lpstr>Condition Without Branch</vt:lpstr>
      <vt:lpstr>Condition/Decision Coverage</vt:lpstr>
      <vt:lpstr>Condition/Decision Example</vt:lpstr>
      <vt:lpstr>Python Short-Circuit Evaluation</vt:lpstr>
      <vt:lpstr>Multiple Condition Coverage</vt:lpstr>
      <vt:lpstr>Growth of Combinations</vt:lpstr>
      <vt:lpstr>Paths and Complexity</vt:lpstr>
      <vt:lpstr>Path Coverage</vt:lpstr>
      <vt:lpstr>Counting Paths: Two Independent ifs</vt:lpstr>
      <vt:lpstr>Cyclomatic Complexity</vt:lpstr>
      <vt:lpstr>Counting Decision Points</vt:lpstr>
      <vt:lpstr>Cyclomatic Complexity Examples</vt:lpstr>
      <vt:lpstr>What Do the Numbers Mean?</vt:lpstr>
      <vt:lpstr>The Main Example: calculate_discount</vt:lpstr>
      <vt:lpstr>calculate_discount: Complexity</vt:lpstr>
      <vt:lpstr>Loops, Data Flow, Mutation</vt:lpstr>
      <vt:lpstr>Loop Testing</vt:lpstr>
      <vt:lpstr>Loop Test Cases (1 of 2)</vt:lpstr>
      <vt:lpstr>Loop Test Cases (2 of 2)</vt:lpstr>
      <vt:lpstr>Loop Example: count_failed_logins</vt:lpstr>
      <vt:lpstr>Loop Tests for count_failed_logins</vt:lpstr>
      <vt:lpstr>Loop Testing: Notes</vt:lpstr>
      <vt:lpstr>Data-Flow Testing (Name Level)</vt:lpstr>
      <vt:lpstr>Mutation Testing (Name Level)</vt:lpstr>
      <vt:lpstr>Building Tests From Code</vt:lpstr>
      <vt:lpstr>The Goal and Step 1</vt:lpstr>
      <vt:lpstr>Step 2: Statement Coverage Tests</vt:lpstr>
      <vt:lpstr>Why 4 Is the Minimum</vt:lpstr>
      <vt:lpstr>Step 3: Decision Outcomes</vt:lpstr>
      <vt:lpstr>Step 3: Branch Coverage</vt:lpstr>
      <vt:lpstr>Steps 4 and 5: Condition and Multiple</vt:lpstr>
      <vt:lpstr>Step 6: Summary of Minimums (1 of 2)</vt:lpstr>
      <vt:lpstr>Step 6: Summary of Minimums (2 of 2)</vt:lpstr>
      <vt:lpstr>Step 7: Expected Results</vt:lpstr>
      <vt:lpstr>Expected Results Come From Rules</vt:lpstr>
      <vt:lpstr>Unit Testing With pytest</vt:lpstr>
      <vt:lpstr>Unit Tests and pytest Conventions</vt:lpstr>
      <vt:lpstr>Arrange-Act-Assert</vt:lpstr>
      <vt:lpstr>Good Unit Test Habits</vt:lpstr>
      <vt:lpstr>Test Doubles (Name Level)</vt:lpstr>
      <vt:lpstr>Coverage-Driven Test File: test_shop.py</vt:lpstr>
      <vt:lpstr>coverage.py in Practice</vt:lpstr>
      <vt:lpstr>Install</vt:lpstr>
      <vt:lpstr>Step 1: a First, Weak Test Set</vt:lpstr>
      <vt:lpstr>How to Read the Report</vt:lpstr>
      <vt:lpstr>Step 2: Branch and Missing Lines</vt:lpstr>
      <vt:lpstr>New Columns</vt:lpstr>
      <vt:lpstr>Step 3: coverage run and report</vt:lpstr>
      <vt:lpstr>Step 4: the HTML Report</vt:lpstr>
      <vt:lpstr>Step 5: Gaps Closed</vt:lpstr>
      <vt:lpstr>Interpreting a Report: Checklist</vt:lpstr>
      <vt:lpstr>Limits of Coverage</vt:lpstr>
      <vt:lpstr>Coverage Measures Execution</vt:lpstr>
      <vt:lpstr>Example 1: Tests With No Assertions</vt:lpstr>
      <vt:lpstr>Result: 100% and Zero Verification</vt:lpstr>
      <vt:lpstr>More Ways Coverage Misleads</vt:lpstr>
      <vt:lpstr>Sensible Coverage Targets</vt:lpstr>
      <vt:lpstr>Two Principles</vt:lpstr>
      <vt:lpstr>Static Analysis and Review</vt:lpstr>
      <vt:lpstr>Static Analysis</vt:lpstr>
      <vt:lpstr>A Sloppy File</vt:lpstr>
      <vt:lpstr>What flake8 Found</vt:lpstr>
      <vt:lpstr>Code Review</vt:lpstr>
      <vt:lpstr>Project 1 Registration</vt:lpstr>
      <vt:lpstr>registration.py: validate_registration</vt:lpstr>
      <vt:lpstr>Step 1: Find the Decisions</vt:lpstr>
      <vt:lpstr>Decisions, Outcomes, Complexity</vt:lpstr>
      <vt:lpstr>Step 3: Statement Coverage</vt:lpstr>
      <vt:lpstr>Statement Tests Leave Partial Branches</vt:lpstr>
      <vt:lpstr>Branch Coverage: 3 Tests</vt:lpstr>
      <vt:lpstr>Condition Coverage on D1</vt:lpstr>
      <vt:lpstr>The Three Minimum Tests</vt:lpstr>
      <vt:lpstr>Coverage After Three Tests</vt:lpstr>
      <vt:lpstr>Design Note and Loop Function</vt:lpstr>
      <vt:lpstr>Loop Tests in the Sample Project</vt:lpstr>
      <vt:lpstr>Together and Trade-offs</vt:lpstr>
      <vt:lpstr>Questions Each Approach Answers</vt:lpstr>
      <vt:lpstr>Black-Box View of calculate_discount</vt:lpstr>
      <vt:lpstr>What Each Finds (1 of 2)</vt:lpstr>
      <vt:lpstr>What Each Finds (2 of 2)</vt:lpstr>
      <vt:lpstr>A Practical Combined Workflow</vt:lpstr>
      <vt:lpstr>Advantages and Disadvantages (1)</vt:lpstr>
      <vt:lpstr>Advantages and Disadvantages (2)</vt:lpstr>
      <vt:lpstr>Common Mistakes (1 of 3)</vt:lpstr>
      <vt:lpstr>Common Mistakes (2 of 3)</vt:lpstr>
      <vt:lpstr>Common Mistakes (3 of 3)</vt:lpstr>
      <vt:lpstr>Worked Examples</vt:lpstr>
      <vt:lpstr>Example 1: shipping_cost</vt:lpstr>
      <vt:lpstr>Example 2: an or Condition</vt:lpstr>
      <vt:lpstr>Example 2: Three Tests</vt:lpstr>
      <vt:lpstr>Example 3: Reading a Partial-Branch Report</vt:lpstr>
      <vt:lpstr>Key Takeaways (1 of 2)</vt:lpstr>
      <vt:lpstr>Key Takeaways (2 of 2)</vt:lpstr>
      <vt:lpstr>Additional 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Learners Point Template</dc:title>
  <dc:creator>Learners Point</dc:creator>
  <cp:lastModifiedBy>Jasdhir Singh</cp:lastModifiedBy>
  <cp:revision>2</cp:revision>
  <dcterms:modified xsi:type="dcterms:W3CDTF">2026-10-25T09:31:25Z</dcterms:modified>
</cp:coreProperties>
</file>