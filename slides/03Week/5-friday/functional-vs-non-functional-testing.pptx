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54" r:id="rId10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100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deck of the day, after white-box.</a:t>
            </a:r>
          </a:p>
          <a:p>
            <a:r>
              <a:t>This deck is the map for the rest of the day: performance, reliability and scalability get their own decks; regression too.</a:t>
            </a:r>
          </a:p>
          <a:p>
            <a:r>
              <a:t>One analogy: a new phone where every app opens but the battery dies by noon.</a:t>
            </a:r>
          </a:p>
          <a:p>
            <a:r>
              <a:t>The written lesson keeps the Python demonstration, the 20 test ideas and the AI section (AI is Week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'A login works but takes 30 seconds. Pass or fail?' Hold the answers until Part 1.</a:t>
            </a:r>
          </a:p>
          <a:p>
            <a:r>
              <a:t>Objective 4 is used in the afternoon exercise when learners write the risk plan.</a:t>
            </a:r>
          </a:p>
          <a:p>
            <a:r>
              <a:t>Tools are named only; none are installed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two questions, an analogy, and where this fits in the week.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function is something the system does: an action, a calculation, a rule, a response.</a:t>
            </a:r>
          </a:p>
          <a:p>
            <a:r>
              <a:t>A quality attribute describes how it does it: also called NFRs, quality characteristics or '-ilities'.</a:t>
            </a:r>
          </a:p>
          <a:p>
            <a:r>
              <a:t>'Non-functional' does not mean less important; many prefer 'quality attributes'.</a:t>
            </a:r>
          </a:p>
          <a:p>
            <a:r>
              <a:t>Ask: 'Passwords are stored hashed.' Which lens? (Security: non-functional, though it is checked like a rule.)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Battery and heat are performance and resource use; freezing is reliability; small text is usability and accessibility.</a:t>
            </a:r>
          </a:p>
          <a:p>
            <a:r>
              <a:t>Same for software: a login can accept the right password yet take 30 seconds, break on a phone, or leak passwords in logs.</a:t>
            </a:r>
          </a:p>
          <a:p>
            <a:r>
              <a:t>Ask: which phone problem would you notice first as a user?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the opening question: it fails, because the requirement (or the user) has a time limit.</a:t>
            </a:r>
          </a:p>
          <a:p>
            <a:r>
              <a:t>If no time limit is written down, that is a requirement gap to raise with Rohan and Farhan (Part 4).</a:t>
            </a:r>
          </a:p>
          <a:p>
            <a:r>
              <a:t>Abandonment, lost sign-ups and support calls are the business cost.</a:t>
            </a:r>
          </a:p>
          <a:p>
            <a:r>
              <a:t>Ask: what number would you write into the login story?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 answer why, levels answer where, techniques answer how.</a:t>
            </a:r>
          </a:p>
          <a:p>
            <a:r>
              <a:t>One test idea has all three: a functional test, at system level, designed with boundary values.</a:t>
            </a:r>
          </a:p>
          <a:p>
            <a:r>
              <a:t>Diagram from test-types-levels-techniques.mermaid, the demo's first whiteboard.</a:t>
            </a:r>
          </a:p>
          <a:p>
            <a:r>
              <a:t>Exploratory testing finds new risks that feed the regression suite (later decks).</a:t>
            </a:r>
          </a:p>
          <a:p>
            <a:r>
              <a:t>Ask: is exploratory testing a level, a type or a technique? (A way of testing with experience-based design, at any level.)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what functional testing covers and where it is done.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Functional testing verifies behaviour against the functional requirements (Tuesday).</a:t>
            </a:r>
          </a:p>
          <a:p>
            <a:r>
              <a:t>Data handling is easy to forget: calculations, stored values, what is displayed back.</a:t>
            </a:r>
          </a:p>
          <a:p>
            <a:r>
              <a:t>EP, BVA, decision tables, state transition, use cases and error guessing were Thursday.</a:t>
            </a:r>
          </a:p>
          <a:p>
            <a:r>
              <a:t>Ask: 'An apostrophe in a surname breaks the welcome banner.' Which area? (Data handling.)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Unit: smallest testable piece, in isolation; developers, while coding.</a:t>
            </a:r>
          </a:p>
          <a:p>
            <a:r>
              <a:t>Integration: pieces that pass alone can fail connected (formats, assumptions, timing).</a:t>
            </a:r>
          </a:p>
          <a:p>
            <a:r>
              <a:t>System: the complete build against requirements, usually by the test team.</a:t>
            </a:r>
          </a:p>
          <a:p>
            <a:r>
              <a:t>Alpha and beta testing are forms of acceptance (Wednesday recap).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functional example: send a register request; check status code, body and headers.</a:t>
            </a:r>
          </a:p>
          <a:p>
            <a:r>
              <a:t>Database example: after registering, the stored email is trimmed and lower-cased as specified.</a:t>
            </a:r>
          </a:p>
          <a:p>
            <a:r>
              <a:t>API testing is Week 7; UI automation Weeks 4 to 6.</a:t>
            </a:r>
          </a:p>
          <a:p>
            <a:r>
              <a:t>Ask: which layer gives the quickest feedback on a business rule? (API.)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among the most confused terms in testing.</a:t>
            </a:r>
          </a:p>
          <a:p>
            <a:r>
              <a:t>Smoke example: app loads, a valid user logs in, registration page opens.</a:t>
            </a:r>
          </a:p>
          <a:p>
            <a:r>
              <a:t>Sanity example: after a password-rule fix, recheck the password rules and login.</a:t>
            </a:r>
          </a:p>
          <a:p>
            <a:r>
              <a:t>The regression deck adds retesting and the order of all four after a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what each type checks; depth for performance and reliability comes later today.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NFRs describe qualities and constraints, not features.</a:t>
            </a:r>
          </a:p>
          <a:p>
            <a:r>
              <a:t>Grey chips are named only; the written lesson has a paragraph on each.</a:t>
            </a:r>
          </a:p>
          <a:p>
            <a:r>
              <a:t>Tools (JMeter, k6, OWASP ZAP, axe, BrowserStack) are names for later weeks.</a:t>
            </a:r>
          </a:p>
          <a:p>
            <a:r>
              <a:t>Ask: which of these would matter most for a payment page?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only here: each has its own deck this afternoon.</a:t>
            </a:r>
          </a:p>
          <a:p>
            <a:r>
              <a:t>Availability (99.9% allows about 8.8 hours of downtime a year) is in the reliability deck.</a:t>
            </a:r>
          </a:p>
          <a:p>
            <a:r>
              <a:t>Ask: performance or reliability? 'Memory grows every hour until the server restarts.' (Both: found by a soak test.)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protects data and functions from unauthorised access, misuse and attack.</a:t>
            </a:r>
          </a:p>
          <a:p>
            <a:r>
              <a:t>Registration and login are prime targets.</a:t>
            </a:r>
          </a:p>
          <a:p>
            <a:r>
              <a:t>Penetration testing is a specialist activity; testers check only systems they are authorised to test.</a:t>
            </a:r>
          </a:p>
          <a:p>
            <a:r>
              <a:t>Some security rules are tested like functional rules, but the goal is protection: a quality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Usability measures: task completion, time on task, errors, satisfaction (System Usability Scale).</a:t>
            </a:r>
          </a:p>
          <a:p>
            <a:r>
              <a:t>Quick manual accessibility check: reach every field with Tab, visible focus, labels that do not vanish, errors described in text.</a:t>
            </a:r>
          </a:p>
          <a:p>
            <a:r>
              <a:t>Accessibility testing is taught in depth in Week 7.</a:t>
            </a:r>
          </a:p>
          <a:p>
            <a:r>
              <a:t>Ask: why is placeholder text a poor label? (It disappears when typing.)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every browser-device combination is impossible; usage analytics pick the important ones.</a:t>
            </a:r>
          </a:p>
          <a:p>
            <a:r>
              <a:t>Internationalization (i18n) designs for many languages; localization (l10n) adapts to one region.</a:t>
            </a:r>
          </a:p>
          <a:p>
            <a:r>
              <a:t>Disaster recovery (RTO, RPO) and observability are in the reliability deck.</a:t>
            </a:r>
          </a:p>
          <a:p>
            <a:r>
              <a:t>Ask: 03/04 in two countries: same date? (No: March or April.)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ISO/IEC 25010 as a checklist, then making NFRs testable.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Tuesday's requirements deck taught ISO/IEC 25010; this is a one-slide recap.</a:t>
            </a:r>
          </a:p>
          <a:p>
            <a:r>
              <a:t>The 2023 revision renames and adds a few items (for example safety); the eight above are the classic model.</a:t>
            </a:r>
          </a:p>
          <a:p>
            <a:r>
              <a:t>Map the tour: performance and scalability to performance efficiency; usability and accessibility to usability; recovery to reliability.</a:t>
            </a:r>
          </a:p>
          <a:p>
            <a:r>
              <a:t>Sub-characteristics are listed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requirement is testable when two testers would independently reach the same pass or fail verdict.</a:t>
            </a:r>
          </a:p>
          <a:p>
            <a:r>
              <a:t>Each good version names the scenario, the measure, the threshold and the conditions.</a:t>
            </a:r>
          </a:p>
          <a:p>
            <a:r>
              <a:t>The numbers here are examples; real ones come from Rohan, Sunita and production data.</a:t>
            </a:r>
          </a:p>
          <a:p>
            <a:r>
              <a:t>Ask: rewrite 'search should be quick'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versions read the T as 'time-bound'; for NFRs 'testable' is more useful.</a:t>
            </a:r>
          </a:p>
          <a:p>
            <a:r>
              <a:t>Planguage (Tom Gilb) is a structured alternative: tag, scale, meter, goal (name level; written lesson).</a:t>
            </a:r>
          </a:p>
          <a:p>
            <a:r>
              <a:t>Given/When/Then works for NFRs too: 'Given 500 users are active, when a user logs in, then the dashboard appears within 2 seconds in 95% of cases.'</a:t>
            </a:r>
          </a:p>
          <a:p>
            <a:r>
              <a:t>Farhan (BA) and Rohan (PO) own the requirement; Ananya asks the questions that make it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side-by-side comparison and how the two interact.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Who: functional tests by developers, testers and business users; non-functional by specialists plus the whole team.</a:t>
            </a:r>
          </a:p>
          <a:p>
            <a:r>
              <a:t>Tools differ too: Selenium, Playwright, pytest versus JMeter, k6, ZAP, axe (names only).</a:t>
            </a:r>
          </a:p>
          <a:p>
            <a:r>
              <a:t>Measurability is the biggest practical difference: a percentile, a time, a count.</a:t>
            </a:r>
          </a:p>
          <a:p>
            <a:r>
              <a:t>The full comparison table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root cause and the symptom can sit on different sides of the line.</a:t>
            </a:r>
          </a:p>
          <a:p>
            <a:r>
              <a:t>This is why classification is less important than covering both lenses.</a:t>
            </a:r>
          </a:p>
          <a:p>
            <a:r>
              <a:t>Karan's index fix is functional work with a performance result.</a:t>
            </a:r>
          </a:p>
          <a:p>
            <a:r>
              <a:t>Ask: a page crashes only with 10,000 items in the cart. Functional or non-functional? (Discuss: both.)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session can record functional verdicts and non-functional observations.</a:t>
            </a:r>
          </a:p>
          <a:p>
            <a:r>
              <a:t>Classify a requirement by its point: 'the dashboard shall appear within 3 seconds' mentions login but is about time, so non-functional.</a:t>
            </a:r>
          </a:p>
          <a:p>
            <a:r>
              <a:t>Exploratory sessions later today often find non-functional problems this way.</a:t>
            </a:r>
          </a:p>
          <a:p>
            <a:r>
              <a:t>Ask: name one more non-functional question for registration. (Error messages readable at 200% zoom.)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which non-functional tests, how deep, and when.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Risk-based testing is Tuesday's topic (likelihood x impact); here it picks quality attributes.</a:t>
            </a:r>
          </a:p>
          <a:p>
            <a:r>
              <a:t>Steps: list attributes (ISO 25010 as a checklist), rate likelihood and impact, set depth per attribute.</a:t>
            </a:r>
          </a:p>
          <a:p>
            <a:r>
              <a:t>Placements are examples for a login and registration feature, not rules.</a:t>
            </a:r>
          </a:p>
          <a:p>
            <a:r>
              <a:t>Ask: where would accessibility go for a government service? (High impact: legal requirement.)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Shift-left is Monday's idea (recap): earlier is cheaper.</a:t>
            </a:r>
          </a:p>
          <a:p>
            <a:r>
              <a:t>In Agile, non-functional work left 'for later' piles up into a hardening sprint.</a:t>
            </a:r>
          </a:p>
          <a:p>
            <a:r>
              <a:t>Vikram (DevOps) wires the build-level checks into the pipeline.</a:t>
            </a:r>
          </a:p>
          <a:p>
            <a:r>
              <a:t>Ask: which check could run on the very first commit? (Static analysis, accessibility lint.)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gates were introduced on Wednesday; CI/CD pipelines are Week 7.</a:t>
            </a:r>
          </a:p>
          <a:p>
            <a:r>
              <a:t>Shared pipeline machines are noisy, so performance gates use generous margins or compare with a baseline.</a:t>
            </a:r>
          </a:p>
          <a:p>
            <a:r>
              <a:t>After release, monitoring with automatic rollback acts as the last gate.</a:t>
            </a:r>
          </a:p>
          <a:p>
            <a:r>
              <a:t>AI can flag anomalies in metrics and logs, but the thresholds come from agreed requirements (Week 8, one 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smoke, sanity and regression treated as the same; 'all tests pass, so it is good' (absence-of-errors fallacy); only specialists care about NFRs; AI will do NFR testing.</a:t>
            </a:r>
          </a:p>
          <a:p>
            <a:r>
              <a:t>Ask: which mistake leads to a 30-second login in production?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'The dashboard shall appear within 3 seconds of login.' Functional or non-functional? (Non-functional: the point is time.)</a:t>
            </a:r>
          </a:p>
          <a:p>
            <a:r>
              <a:t>Bridge: next deck, exploratory testing: how to find what nobody wrote down.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Python demonstration, the 10 functional and 10 non-functional test ideas, the accessibility checklist and the AI cautions.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Functional vs. Non-Functional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What the system does, and how well it does it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690963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What vs how well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377452" y="3630168"/>
            <a:ext cx="22152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72817" y="3520440"/>
            <a:ext cx="169096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Levels and types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437621" y="3630168"/>
            <a:ext cx="22152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32986" y="3520440"/>
            <a:ext cx="203063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Non-functional types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37459" y="3630168"/>
            <a:ext cx="22152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824" y="3520440"/>
            <a:ext cx="109654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ISO 25010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03207" y="3630168"/>
            <a:ext cx="22152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8572" y="3520440"/>
            <a:ext cx="16060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Measurable NFRs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278459" y="3630168"/>
            <a:ext cx="22152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73823" y="3520440"/>
            <a:ext cx="101162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functional from non-functional testing.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Place functional tests across levels and interfaces (GUI, API, database).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Name the main non-functional types and what each checks.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Rewrite a vague quality wish as a measurable requirement.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Choose and schedule non-functional tests by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does it do, and how well?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3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Does, How Well It Does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Functional: what does it do?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Features, business rules, data, interactions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Login with the right password opens the dashboard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Usually pass or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Non-functional: how well?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Speed, security, usability, reliability ...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95% of logins answer within 2 seconds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Usually measured against 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12064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Both look at the same feature through a different lens.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4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New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3017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Every feature works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Camera, maps, messages and music all open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does what the box promised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3017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But in daily use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battery dies by noon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It gets hot and freezes for seconds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Text is too small to 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0292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Nobody keeps that phone: functional success, non-functional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5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Works, but Takes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92024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8" y="1920240"/>
            <a:ext cx="7863840" cy="822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waiting ... 30 seconds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22408" y="192024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Every functional check passes; most users have already 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4747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From the user's view the feature is broken.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Many serious production failures are non-functional: outages, breaches, slow pages.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Non-functional requirements are the ones most often left vague or forgotten.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6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Types, Levels,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4747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TYPES: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77440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Functional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944368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Non-functional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511296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Change-related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91640"/>
            <a:ext cx="34747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LEVELS: 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77440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944368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3511296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4078224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Acceptance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691640"/>
            <a:ext cx="34747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TECHNIQUES: how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7" y="2377440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Black-box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2944368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White-box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3511296"/>
            <a:ext cx="347472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Experience-based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80060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Performance (today)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539496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Regression (today)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7" y="480060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Exploratory (today)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0008" y="4114800"/>
            <a:ext cx="0" cy="64008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13048" y="4114800"/>
            <a:ext cx="0" cy="123444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48088" y="4114800"/>
            <a:ext cx="0" cy="64008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07608" y="4983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Arial"/>
              </a:rPr>
              <a:t>mostly at system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7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Features, rules, data and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8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Areas of 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Features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Registration, login, password reset, logout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Business rules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account per email; lock after five failed logins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5760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Data handling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Saved record matches what was typed; spaces trimmed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5760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User interactions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Typing, selecting, submitting, cancelling, going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Thursday's black-box techniques are the core toolkit; white-box adds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9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Tests at Every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Unit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is_valid_email() returns True or 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871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Integration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5871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Registration saves the user and sends the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478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System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509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478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Whole app in a test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085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85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Rohan checks it meets the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8862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End-to-end: register, confirm email, log in, see the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46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Same purpose, different size of piece under test.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Levels come from Monday's V-Model; acceptance forms from Wednesday.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10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Test: GUI, API,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GUI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8728" y="1737360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Through the screens like a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Most realistic; slowest and most fragile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1288" y="3063239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7368" y="3063239"/>
            <a:ext cx="749808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Requests straight to the interface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Faster, more stable; checks rules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438912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4389120"/>
            <a:ext cx="694944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What was stored, changed or deleted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Unique email enforced; password hashed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One registration test can check all three layers.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11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Smoke, Sanity, Regression (Recap)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330066"/>
                </a:solidFill>
                <a:latin typeface="Arial"/>
              </a:rPr>
              <a:t>Smoke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Wide and shallow: is this build testable at 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Sanity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Narrow and deep: does this fix work, nearby too?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Regression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Wide and thorough: did the change break anything?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1148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Separate them by purpose, not by how many tests run.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Smoke and sanity: Tuesday. Regression: its own deck later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12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tour of the quality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13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Non-Functional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How well the system works: quality attributes, not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2860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Load and stress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6632" y="22860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8624" y="22860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Scalability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0616" y="22860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9718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718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Accessibility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29718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Compatibility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9718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Portability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0616" y="29718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Maintainability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6576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Localization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6576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36576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Disaster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36576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Observability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0616" y="365760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Installability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526280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36008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Functional: 'Let users reset a password.'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Non-functional: 'Reset emails arrive within 60 seconds in 99% of cases.'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14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Performance, Reliability,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2194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Performance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Speed and resource use under load: load, stress, spike, soak,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2194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Reliability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Works without failure for a stated time; recovers after a 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2194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Scalability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Handles growth when resources are added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2519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6168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Restart the login service during a login: a clear retry message, no half-created accounts,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logins work again within 2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15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Oval 3"/>
          <p:cNvSpPr/>
          <p:nvPr/>
        </p:nvSpPr>
        <p:spPr>
          <a:xfrm>
            <a:off x="365759" y="1737360"/>
            <a:ext cx="2926080" cy="1188720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Confidentiality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only the right people see data</a:t>
            </a:r>
          </a:p>
        </p:txBody>
      </p:sp>
      <p:sp>
        <p:nvSpPr>
          <p:cNvPr id="5" name="Oval 4"/>
          <p:cNvSpPr/>
          <p:nvPr/>
        </p:nvSpPr>
        <p:spPr>
          <a:xfrm>
            <a:off x="4636008" y="1737360"/>
            <a:ext cx="2926080" cy="1188720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Integrity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data is not changed wrongly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737360"/>
            <a:ext cx="2926080" cy="1188720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Availability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service stays 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291840"/>
            <a:ext cx="109728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Login: lock or slow down after repeated failures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Passwords stored with a salted, slow hash; never in logs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Error messages do not reveal which field was wrong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OWASP Top 10: the best-known list of web risks (name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16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Usability and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40233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5B2C83"/>
                </a:solidFill>
                <a:latin typeface="Arial"/>
              </a:rPr>
              <a:t>Usability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Easy to learn, efficient, few user errors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Measured: completion rate, time on task, satisfaction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Example: 4 of 5 first-time users register without help in under 2 minutes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Divya (UX) runs the 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40233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5B2C83"/>
                </a:solidFill>
                <a:latin typeface="Arial"/>
              </a:rPr>
              <a:t>Accessibility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Usable by people with disabilities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Keyboard only, screen reader, contrast, labels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Standard: WCAG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Automated scans catch only part: test by hand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17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Compatibility, Portability,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Compatibility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Browsers, devices, OS, screen sizes: pick by usage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Portability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Moves between environments: test server, cloud,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Localization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Language, date and number formats, currency, time zones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Laws and policies: consent and data deletion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Maintainability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Easy to change: reviews, static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Recovery and observability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Backups restore; logs, metrics and 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18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Model and Measurable NFRs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'fast' to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19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ISO/IEC 25010 (Recap)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Functional suitability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Performance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Compatibility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7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8803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Reliability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8803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8803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Maintainability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8803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Portability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Functional suitability is one of eight characteristics, not the whole of quality.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Use the list as a checklist so no quality area is forgotten.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20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Vague to Measurable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560320"/>
                <a:gridCol w="54864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Vague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Why it fails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Measurable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'It should be fast.'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 number, no load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95% of logins within 2 s at 500 users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'It must be secure.'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Which threat?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Lock 15 min after 5 failed logins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'Easy to use.'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90% register unaided in under 2 min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'Always available.'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Impossible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99.9% per month, excluding maintenance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'Works on all devices.'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Unbounded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Latest 2 versions of 4 browsers, 360-1920 px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21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It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68580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16916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7368" y="184708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Login response time, not 'speed'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514600"/>
            <a:ext cx="68580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Measurable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267004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number and a unit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337560"/>
            <a:ext cx="68580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333756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Achievable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349300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Possible with the budget and technology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" y="4160520"/>
            <a:ext cx="68580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41605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Relevant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43159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Tied to a user or business need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" y="4983480"/>
            <a:ext cx="68580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498348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513892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Conditions stated: load, data,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22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and Combining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lenses on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23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Functional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Non-functional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Does it work as specified?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Does it work well enough?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Stories, rules, use cases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NFRs, SLAs, standards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Usually pass or fail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Measured against thresholds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Every level, from the first 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Some early; many need a stable build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Failure impact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feature or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Often the whole system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24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They Depend on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Non-functional cause, functional symptom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 heavy load the login times out: the user sees an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Functional fix, non-functional problem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duplicate-email check without an index slows as users grow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840479"/>
            <a:ext cx="53721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Security is both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Correct password works (functional); guessing is resisted (non-functional)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840479"/>
            <a:ext cx="53721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Accessibility gates function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button the keyboard cannot reach is missing for some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25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Test, Two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7830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Register a new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01752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Functional lens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Account created with the right data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Welcome message shown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email refused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301752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Non-functional lens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long did it take?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Was the connection encrypted?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Usable by keyboard and on a phone?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91840" y="2697480"/>
            <a:ext cx="1737360" cy="2743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78040" y="2697480"/>
            <a:ext cx="1737360" cy="2743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26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Non-Functional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by risk, start early, gate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27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by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737360"/>
            <a:ext cx="420624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Low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1737360"/>
            <a:ext cx="420624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High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103120" cy="1691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Likely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286000"/>
            <a:ext cx="420624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Watch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Compatibility on older browsers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286000"/>
            <a:ext cx="4206240" cy="1691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Test deeply, every release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Login security; peak-load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2103120" cy="1691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Unlikely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4069080"/>
            <a:ext cx="420624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Light or later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Localization (one language now)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4069080"/>
            <a:ext cx="420624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Test before major releases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Accessibility of forms; data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Arial"/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28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Early: Shift-Left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Testable NFRs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33087" y="221742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87168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Security and capacity in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Every commit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7607" y="221742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61688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Static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Every build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2128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36207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Short performance and accessibility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Before release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56648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10727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Full load test, security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5248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2743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Monitoring and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062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Put NFRs in the Definition of Done, not 'for later'.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Full-scale load and security tests still need a stable build.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29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Gates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Commit</a:t>
            </a:r>
          </a:p>
        </p:txBody>
      </p:sp>
      <p:sp>
        <p:nvSpPr>
          <p:cNvPr id="5" name="Diamond 4"/>
          <p:cNvSpPr/>
          <p:nvPr/>
        </p:nvSpPr>
        <p:spPr>
          <a:xfrm>
            <a:off x="1115568" y="2697480"/>
            <a:ext cx="1371600" cy="82296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36118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new critical code issues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2148840"/>
            <a:ext cx="4114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93008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Build</a:t>
            </a:r>
          </a:p>
        </p:txBody>
      </p:sp>
      <p:sp>
        <p:nvSpPr>
          <p:cNvPr id="9" name="Diamond 8"/>
          <p:cNvSpPr/>
          <p:nvPr/>
        </p:nvSpPr>
        <p:spPr>
          <a:xfrm>
            <a:off x="3995928" y="2697480"/>
            <a:ext cx="1371600" cy="82296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6118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critical vulnerable libraries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6168" y="2148840"/>
            <a:ext cx="4114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73368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Test env</a:t>
            </a:r>
          </a:p>
        </p:txBody>
      </p:sp>
      <p:sp>
        <p:nvSpPr>
          <p:cNvPr id="13" name="Diamond 12"/>
          <p:cNvSpPr/>
          <p:nvPr/>
        </p:nvSpPr>
        <p:spPr>
          <a:xfrm>
            <a:off x="6876288" y="2697480"/>
            <a:ext cx="1371600" cy="82296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36118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Smoke passes; p95 login &lt; 2 s at 50 users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96528" y="2148840"/>
            <a:ext cx="411479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53728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Release</a:t>
            </a:r>
          </a:p>
        </p:txBody>
      </p:sp>
      <p:sp>
        <p:nvSpPr>
          <p:cNvPr id="17" name="Diamond 16"/>
          <p:cNvSpPr/>
          <p:nvPr/>
        </p:nvSpPr>
        <p:spPr>
          <a:xfrm>
            <a:off x="9756648" y="2697480"/>
            <a:ext cx="1371600" cy="82296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6118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Load targets met; no high security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84632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 gate is an automatic checkpoint with a threshold: fail it and the change stops.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30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Non-functional testing is optional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Choose its depth by risk; never skip the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Functional means only clicking buttons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Also test APIs, data and calculations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Leave NFRs to the end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Make them testable early; check them per build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'Fast on my laptop' means fast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Measure under realistic load and data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Automated accessibility scan is enough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Add keyboard and screen-reader checks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31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Functional asks what it does; non-functional asks how well.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Functional tests run at every level and through GUI, API and database.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Non-functional types cover speed, reliability, security, usability and more.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ISO/IEC 25010 is a checklist: functional suitability is one of eight.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Make NFRs measurable: scenario, measure, threshold, conditions.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Choose by risk, start early and gate the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32 / 33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ISO/IEC 25010 product quality model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https://www.iso.org/standard/78176.html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W3C WCAG overview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https://www.w3.org/WAI/standards-guidelines/wcag/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OWASP Top Ten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https://owasp.org/www-project-top-ten/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Functional vs Non-Functional  ·  Week 3 · Friday   |   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