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35" r:id="rId4"/>
    <p:sldId id="336" r:id="rId5"/>
    <p:sldId id="337" r:id="rId6"/>
    <p:sldId id="338" r:id="rId7"/>
    <p:sldId id="339" r:id="rId8"/>
    <p:sldId id="340" r:id="rId9"/>
    <p:sldId id="341" r:id="rId10"/>
    <p:sldId id="342" r:id="rId11"/>
    <p:sldId id="343" r:id="rId12"/>
    <p:sldId id="344" r:id="rId13"/>
    <p:sldId id="345" r:id="rId14"/>
    <p:sldId id="346" r:id="rId15"/>
    <p:sldId id="347" r:id="rId16"/>
    <p:sldId id="348" r:id="rId17"/>
    <p:sldId id="349" r:id="rId18"/>
    <p:sldId id="350" r:id="rId19"/>
    <p:sldId id="351" r:id="rId20"/>
    <p:sldId id="352" r:id="rId21"/>
    <p:sldId id="353" r:id="rId22"/>
    <p:sldId id="354" r:id="rId23"/>
    <p:sldId id="355" r:id="rId24"/>
    <p:sldId id="356" r:id="rId25"/>
    <p:sldId id="357" r:id="rId26"/>
    <p:sldId id="358" r:id="rId27"/>
    <p:sldId id="359" r:id="rId28"/>
    <p:sldId id="360" r:id="rId29"/>
    <p:sldId id="361" r:id="rId30"/>
    <p:sldId id="334" r:id="rId80"/>
  </p:sldIdLst>
  <p:sldSz cx="12192000" cy="6858000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80" Type="http://schemas.openxmlformats.org/officeDocument/2006/relationships/slide" Target="slides/slide7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Tests</c:v>
                </c:pt>
              </c:strCache>
            </c:strRef>
          </c:tx>
          <c:spPr>
            <a:solidFill>
              <a:srgbClr val="C55A11"/>
            </a:solidFill>
          </c:spPr>
          <c:cat>
            <c:strRef>
              <c:f>Sheet1!$A$2:$A$5</c:f>
              <c:strCache>
                <c:ptCount val="4"/>
                <c:pt idx="0">
                  <c:v>Browsers</c:v>
                </c:pt>
                <c:pt idx="1">
                  <c:v>x OS</c:v>
                </c:pt>
                <c:pt idx="2">
                  <c:v>x languages</c:v>
                </c:pt>
                <c:pt idx="3">
                  <c:v>x roles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12</c:v>
                </c:pt>
                <c:pt idx="2">
                  <c:v>60</c:v>
                </c:pt>
                <c:pt idx="3">
                  <c:v>180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1A1A1A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400">
                <a:solidFill>
                  <a:srgbClr val="5A5A5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5A5A5A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Fourth deck of the day: the concept of data-driven testing (DDT).</a:t>
            </a:r>
          </a:p>
          <a:p>
            <a:r>
              <a:t>Tool-specific DDT comes later: pytest parametrize (Week 4), Playwright with JSON (Week 5), API tests (Week 7).</a:t>
            </a:r>
          </a:p>
          <a:p>
            <a:r>
              <a:t>One analogy: mail merge.</a:t>
            </a:r>
          </a:p>
          <a:p>
            <a:r>
              <a:t>The written lesson keeps the full pytest walkthrough (parametrize, ids, CSV, JSON, fixtures, seeded data) and the 23-row registration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Ask: 'Thursday you designed 23 username and password cases. Would you write 23 test functions?'</a:t>
            </a:r>
          </a:p>
          <a:p>
            <a:r>
              <a:t>No code is written today; the pytest version is in the written lesson and Week 4.</a:t>
            </a:r>
          </a:p>
          <a:p>
            <a:r>
              <a:t>Objective 2 links Thursday's techniques to today's automation thinking.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1: why copy-paste suites hurt and what DDT changes.</a:t>
            </a:r>
          </a:p>
          <a:p>
            <a:r>
              <a:t>This part has 4 concept slides, about 8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Example: shipping cost by weight; weight must be above 0 and at most 30 kg.</a:t>
            </a:r>
          </a:p>
          <a:p>
            <a:r>
              <a:t>Each test opens the same function, passes one weight and checks one price.</a:t>
            </a:r>
          </a:p>
          <a:p>
            <a:r>
              <a:t>The written lesson shows the eight copy-paste pytest functions.</a:t>
            </a:r>
          </a:p>
          <a:p>
            <a:r>
              <a:t>Ask: what is the only thing that changes between these tests? (The values.)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row is a complete data set: inputs plus the expected result for that run.</a:t>
            </a:r>
          </a:p>
          <a:p>
            <a:r>
              <a:t>Change a rule once in the logic; add a case by adding a row.</a:t>
            </a:r>
          </a:p>
          <a:p>
            <a:r>
              <a:t>A row costs seconds, so boundary and negative cases actually get included.</a:t>
            </a:r>
          </a:p>
          <a:p>
            <a:r>
              <a:t>Ask: who could add a row without programming? (Farhan, Rohan, any tester.)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deck's one analogy.</a:t>
            </a:r>
          </a:p>
          <a:p>
            <a:r>
              <a:t>The template is the test logic; the address list is the data source.</a:t>
            </a:r>
          </a:p>
          <a:p>
            <a:r>
              <a:t>The second bullet previews Part 4: when a row fails, ask whether the code or the data is wrong.</a:t>
            </a:r>
          </a:p>
          <a:p>
            <a:r>
              <a:t>Ask: what would a missing column in the address list do? (Break every letter: check data files like code.)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 provider: any code or tool that hands rows to the test (in pytest, parametrize or a fixture; Week 4).</a:t>
            </a:r>
          </a:p>
          <a:p>
            <a:r>
              <a:t>A parameter is a named input slot; parameterization turns the test into a function of its data.</a:t>
            </a:r>
          </a:p>
          <a:p>
            <a:r>
              <a:t>Test IDs connect a row to the design document, the defect and the report.</a:t>
            </a:r>
          </a:p>
          <a:p>
            <a:r>
              <a:t>Ask: which column must never be copied from the code? (Expected result.)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2: from Thursday's design tables to a data set.</a:t>
            </a:r>
          </a:p>
          <a:p>
            <a:r>
              <a:t>This part has 5 concept slides, about 10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Thursday's decks: BVA, EP, decision tables and error guessing.</a:t>
            </a:r>
          </a:p>
          <a:p>
            <a:r>
              <a:t>Keeping a 'technique' or 'description' column explains why each row exists.</a:t>
            </a:r>
          </a:p>
          <a:p>
            <a:r>
              <a:t>Coverage is visible: missing boundaries show up as missing rows.</a:t>
            </a:r>
          </a:p>
          <a:p>
            <a:r>
              <a:t>Ask: which technique gives rows like 17, 18, 19? (BVA.)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BVA rows: 17, 18, 19 and 64, 65, 66; EP typical valid value: 40.</a:t>
            </a:r>
          </a:p>
          <a:p>
            <a:r>
              <a:t>Expected results: 17 and 66 rejected, the rest accepted.</a:t>
            </a:r>
          </a:p>
          <a:p>
            <a:r>
              <a:t>Same number line as Thursday's EP + BVA slide.</a:t>
            </a:r>
          </a:p>
          <a:p>
            <a:r>
              <a:t>Ask: what one row would you add from error guessing? (Empty, or a decimal such as 18.5.)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same message for wrong username and wrong password is a security choice (Thursday, Wednesday).</a:t>
            </a:r>
          </a:p>
          <a:p>
            <a:r>
              <a:t>In the data file 'valid' and 'invalid' become real values such as testuser_01 and wrong_pass.</a:t>
            </a:r>
          </a:p>
          <a:p>
            <a:r>
              <a:t>Rules with don't-cares still become one row each.</a:t>
            </a:r>
          </a:p>
          <a:p>
            <a:r>
              <a:t>Ask: a fifth rule appears for a locked account. What changes? (One new row and maybe one new column.)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Consistent value formats: true / false, not yes, Y and 1 mixed.</a:t>
            </a:r>
          </a:p>
          <a:p>
            <a:r>
              <a:t>Rows are independent: each passes alone and in any order.</a:t>
            </a:r>
          </a:p>
          <a:p>
            <a:r>
              <a:t>Treat data files as public: they live in Git.</a:t>
            </a:r>
          </a:p>
          <a:p>
            <a:r>
              <a:t>Ask: what is wrong with a row named 'case7'? (Nobody knows what it tests.)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Stacking value lists multiplies them; count first, then decide.</a:t>
            </a:r>
          </a:p>
          <a:p>
            <a:r>
              <a:t>Thursday's EP deck covered the cartesian explosion and the two-phase strategy (recap).</a:t>
            </a:r>
          </a:p>
          <a:p>
            <a:r>
              <a:t>Pairwise selection is named only here.</a:t>
            </a:r>
          </a:p>
          <a:p>
            <a:r>
              <a:t>Ask: which two of these four dimensions really interact for a login page?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3: choosing a source and its traps.</a:t>
            </a:r>
          </a:p>
          <a:p>
            <a:r>
              <a:t>This part has 4 concept slides, about 8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Inline lists suit fewer than about 15 rows and unit tests.</a:t>
            </a:r>
          </a:p>
          <a:p>
            <a:r>
              <a:t>YAML and Excel need extra libraries; they appear in later weeks.</a:t>
            </a:r>
          </a:p>
          <a:p>
            <a:r>
              <a:t>Database and API sources make tests depend on state and network: reset and isolate.</a:t>
            </a:r>
          </a:p>
          <a:p>
            <a:r>
              <a:t>Ask: Farhan wants to add cases himself. Which source? (CSV or a spreadsheet exported to CSV.)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boolean trap is the classic CSV bug: every 'false' row behaves as true.</a:t>
            </a:r>
          </a:p>
          <a:p>
            <a:r>
              <a:t>A small loader helper converts columns once, so tests stay clean.</a:t>
            </a:r>
          </a:p>
          <a:p>
            <a:r>
              <a:t>The pytest CSV and JSON examples are in the written lesson.</a:t>
            </a:r>
          </a:p>
          <a:p>
            <a:r>
              <a:t>Ask: a CSV row expects 8.00 but compares with '8.00'. What happens? (A false failure.)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Random inputs have no individual expected value, so assert a rule that must always hold.</a:t>
            </a:r>
          </a:p>
          <a:p>
            <a:r>
              <a:t>Random data is a supplement to designed rows, never a replacement.</a:t>
            </a:r>
          </a:p>
          <a:p>
            <a:r>
              <a:t>Environment-specific data (URLs, accounts) lives in one file per environment.</a:t>
            </a:r>
          </a:p>
          <a:p>
            <a:r>
              <a:t>Ask: why must the seed be fixed? (So a failing run can be repeated.)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questions are asked top to bottom; 'no' moves down.</a:t>
            </a:r>
          </a:p>
          <a:p>
            <a:r>
              <a:t>Many teams use two: inline for unit tests, CSV or JSON for shared scenarios.</a:t>
            </a:r>
          </a:p>
          <a:p>
            <a:r>
              <a:t>A silently edited shared spreadsheet changes behaviour with no code review: hidden coupling.</a:t>
            </a:r>
          </a:p>
          <a:p>
            <a:r>
              <a:t>Ask: test data for 50,000 product IDs? (A database or generated set; not inline.)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4: why each row must be its own test, and how to read a failure.</a:t>
            </a:r>
          </a:p>
          <a:p>
            <a:r>
              <a:t>This part has 3 concept slides, about 6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pytest this is parametrize with ids: every row runs even if another fails (Week 4).</a:t>
            </a:r>
          </a:p>
          <a:p>
            <a:r>
              <a:t>The ID in the report points straight to the row in the data file.</a:t>
            </a:r>
          </a:p>
          <a:p>
            <a:r>
              <a:t>Known defects can be marked expected-to-fail with the bug ID; unbuilt features skipped with a reason.</a:t>
            </a:r>
          </a:p>
          <a:p>
            <a:r>
              <a:t>Ask: the loop stopped at row 2. How many rows were actually tested? (Two.)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 first: '1 failed, 23 passed' shows the good rows were not affected.</a:t>
            </a:r>
          </a:p>
          <a:p>
            <a:r>
              <a:t>Example: a row expected 'password contains username' for user 'pat' with password 'Passw0rd9'. 'pat' is not inside it, so the data was wrong.</a:t>
            </a:r>
          </a:p>
          <a:p>
            <a:r>
              <a:t>Never 'fix' a failing row by copying what the code returned.</a:t>
            </a:r>
          </a:p>
          <a:p>
            <a:r>
              <a:t>Ask: who confirms the rule when the requirement is unclear? (Rohan or Farhan.)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Manual example: open registration, enter the values from row D3, click Register, check the expected message.</a:t>
            </a:r>
          </a:p>
          <a:p>
            <a:r>
              <a:t>Each Examples row of a Scenario Outline runs as its own test: parametrize in business language.</a:t>
            </a:r>
          </a:p>
          <a:p>
            <a:r>
              <a:t>Keyword-driven (action words in a table) and model-based testing vary the steps, not the values (names only).</a:t>
            </a:r>
          </a:p>
          <a:p>
            <a:r>
              <a:t>Ask: in Jira, how would a defect point to the failing data? (Cite the row ID, such as REG-014.)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5: when DDT helps, when it hurts, and the habits that keep data healthy.</a:t>
            </a:r>
          </a:p>
          <a:p>
            <a:r>
              <a:t>This part has 3 concept slides, about 6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 of thumb: use DDT when the same steps repeat with different values and there are at least a handful of cases.</a:t>
            </a:r>
          </a:p>
          <a:p>
            <a:r>
              <a:t>Do not use it to hide different steps inside one test: different steps belong in different tests.</a:t>
            </a:r>
          </a:p>
          <a:p>
            <a:r>
              <a:t>Over-engineering: a plain test can be better for two or three cases.</a:t>
            </a:r>
          </a:p>
          <a:p>
            <a:r>
              <a:t>Ask: which risk is worst? (A wrong expected value: the suite passes while the product is wrong.)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Clean up and reset: remove what a row creates, or use a unique value each time.</a:t>
            </a:r>
          </a:p>
          <a:p>
            <a:r>
              <a:t>Consistent naming: columns, file names and value formats.</a:t>
            </a:r>
          </a:p>
          <a:p>
            <a:r>
              <a:t>Small, focused rows: one row, one purpose.</a:t>
            </a:r>
          </a:p>
          <a:p>
            <a:r>
              <a:t>Ask: a production export is in Git as test data. What is wrong? (Real people's data leaked.)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command reruns every row: cheap regression.</a:t>
            </a:r>
          </a:p>
          <a:p>
            <a:r>
              <a:t>Tiers and selection are the next deck (regression testing).</a:t>
            </a:r>
          </a:p>
          <a:p>
            <a:r>
              <a:t>Tag rows by priority so a pipeline can pick the small set.</a:t>
            </a:r>
          </a:p>
          <a:p>
            <a:r>
              <a:t>Ask: which rows belong in the every-commit set? (Boundaries of high-risk rules and bug-fix rows.)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Others: huge data sets on every commit; ids out of step with rows; real personal data; too much in one test; unchecked data files with a misspelled header.</a:t>
            </a:r>
          </a:p>
          <a:p>
            <a:r>
              <a:t>Ask: which mistake gives a false pass rather than a false failure?</a:t>
            </a:r>
          </a:p>
          <a:p>
            <a:r>
              <a:t>Quick quiz: read a mistake aloud and ask the class for the fix before revealing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check: 'Four browsers, three roles, two languages.' How many runs if combined? (24.)</a:t>
            </a:r>
          </a:p>
          <a:p>
            <a:r>
              <a:t>Bridge: next deck, regression testing: which tests to rerun when something changes.</a:t>
            </a:r>
          </a:p>
          <a:p>
            <a:r>
              <a:t>Give learners one minute to write the takeaway they found most useful; take two or three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written lesson has the pytest walkthrough (parametrize, ids, CSV, JSON, fixtures, seeded data) and the 23-row registration example; pytest itself is Week 4.</a:t>
            </a:r>
          </a:p>
          <a:p>
            <a:r>
              <a:t>Resources are for self-study after class; none are needed for today's exercise.</a:t>
            </a:r>
          </a:p>
          <a:p>
            <a:r>
              <a:t>The written lesson for this topic is the full reference; slides are the presentation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2"/>
          <p:cNvSpPr>
            <a:spLocks noChangeShapeType="1"/>
          </p:cNvSpPr>
          <p:nvPr/>
        </p:nvSpPr>
        <p:spPr bwMode="auto">
          <a:xfrm>
            <a:off x="9753600" y="1066800"/>
            <a:ext cx="0" cy="1752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016000" y="457200"/>
            <a:ext cx="8519584" cy="213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F304A9D6-1313-4D51-A62E-402D441D9A7B}" type="datetime1">
              <a:rPr lang="en-US" smtClean="0"/>
              <a:t>10/14/2025</a:t>
            </a:fld>
            <a:endParaRPr lang="en-US"/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sp>
        <p:nvSpPr>
          <p:cNvPr id="66568" name="Line 8"/>
          <p:cNvSpPr>
            <a:spLocks noChangeShapeType="1"/>
          </p:cNvSpPr>
          <p:nvPr/>
        </p:nvSpPr>
        <p:spPr bwMode="auto">
          <a:xfrm>
            <a:off x="1117600" y="2819400"/>
            <a:ext cx="86360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grpSp>
        <p:nvGrpSpPr>
          <p:cNvPr id="66569" name="Group 9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570" name="Oval 10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1" name="Oval 11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2" name="Oval 12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3" name="Oval 13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4" name="Oval 14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5" name="Oval 15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6" name="Oval 16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7" name="Oval 17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8" name="Oval 18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9" name="Oval 19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0" name="Oval 20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1" name="Oval 21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2" name="Oval 22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3" name="Oval 23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4" name="Oval 24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5" name="Oval 25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6" name="Oval 26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7" name="Oval 27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8" name="Oval 28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9" name="Oval 29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0" name="Oval 30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1" name="Oval 31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2" name="Oval 32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3" name="Oval 33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4" name="Oval 34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5" name="Oval 35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6" name="Oval 36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7" name="Oval 37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8" name="Oval 38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9" name="Oval 39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0" name="Oval 40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grpSp>
        <p:nvGrpSpPr>
          <p:cNvPr id="66601" name="Group 41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602" name="Oval 42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3" name="Oval 43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4" name="Oval 44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5" name="Oval 45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6" name="Oval 46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7" name="Oval 47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8" name="Oval 48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9" name="Oval 49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0" name="Oval 50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1" name="Oval 51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2" name="Oval 52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3" name="Oval 53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4" name="Oval 54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5" name="Oval 55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6" name="Oval 56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7" name="Oval 57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8" name="Oval 58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9" name="Oval 59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0" name="Oval 60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1" name="Oval 61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2" name="Oval 62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3" name="Oval 63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4" name="Oval 64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5" name="Oval 65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6" name="Oval 66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7" name="Oval 67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8" name="Oval 68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9" name="Oval 69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0" name="Oval 70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1" name="Oval 71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2" name="Oval 72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955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56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4A8556-2F07-416B-A81B-5F1C3AFD01EF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954" y="6261305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22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6729637-7636-4388-949A-FC8BFDAA4705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92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F5DED8-6456-47A2-A5CC-BE8BEC6BD892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174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595759-8665-4708-8376-28A90FA13BDD}" type="datetime1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7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3B0C243-4A55-4741-8265-C0A2FA769F7B}" type="datetime1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546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99A12F7-971D-41C1-A2B7-EBB58FF381A3}" type="datetime1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12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E3C3D28-2E0C-4F8B-A45D-9E87921943BF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9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020A2-9D30-48AD-A70D-69AD2B027FCA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0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1F6343-4644-43E3-AA07-6869EC7CEA0D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150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A0A126-F3CA-45B4-970B-597BE67A203E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65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16815F9B-CAFE-4C37-897A-C6403744783F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87975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2"/>
          <p:cNvSpPr>
            <a:spLocks noChangeShapeType="1"/>
          </p:cNvSpPr>
          <p:nvPr/>
        </p:nvSpPr>
        <p:spPr bwMode="auto">
          <a:xfrm>
            <a:off x="10668000" y="0"/>
            <a:ext cx="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fld id="{C569D4A1-8BB6-4430-9601-3FBC79908E8C}" type="datetime1">
              <a:rPr lang="en-US" smtClean="0"/>
              <a:t>10/14/2025</a:t>
            </a:fld>
            <a:endParaRPr lang="en-US"/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grpSp>
        <p:nvGrpSpPr>
          <p:cNvPr id="65544" name="Group 8" descr="decorative graphic made up of dots"/>
          <p:cNvGrpSpPr>
            <a:grpSpLocks/>
          </p:cNvGrpSpPr>
          <p:nvPr/>
        </p:nvGrpSpPr>
        <p:grpSpPr bwMode="auto">
          <a:xfrm>
            <a:off x="10871201" y="152400"/>
            <a:ext cx="1056217" cy="1295400"/>
            <a:chOff x="5136" y="960"/>
            <a:chExt cx="528" cy="864"/>
          </a:xfrm>
        </p:grpSpPr>
        <p:sp>
          <p:nvSpPr>
            <p:cNvPr id="6554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sp>
        <p:nvSpPr>
          <p:cNvPr id="65576" name="Line 40"/>
          <p:cNvSpPr>
            <a:spLocks noChangeShapeType="1"/>
          </p:cNvSpPr>
          <p:nvPr/>
        </p:nvSpPr>
        <p:spPr bwMode="auto">
          <a:xfrm>
            <a:off x="609600" y="1524000"/>
            <a:ext cx="10058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2634220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Data-Driven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WEEK 3 · FRIDAY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2057400"/>
            <a:ext cx="877750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 i="0">
                <a:solidFill>
                  <a:srgbClr val="5A5A5A"/>
                </a:solidFill>
                <a:latin typeface="Arial"/>
              </a:rPr>
              <a:t>Write the steps once; keep the values in a table</a:t>
            </a:r>
          </a:p>
        </p:txBody>
      </p:sp>
      <p:sp>
        <p:nvSpPr>
          <p:cNvPr id="18" name="Oval 17"/>
          <p:cNvSpPr/>
          <p:nvPr/>
        </p:nvSpPr>
        <p:spPr>
          <a:xfrm>
            <a:off x="609904" y="5596128"/>
            <a:ext cx="292608" cy="29260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9" name="Oval 18"/>
          <p:cNvSpPr/>
          <p:nvPr/>
        </p:nvSpPr>
        <p:spPr>
          <a:xfrm>
            <a:off x="1067104" y="5596128"/>
            <a:ext cx="292608" cy="292608"/>
          </a:xfrm>
          <a:prstGeom prst="ellipse">
            <a:avLst/>
          </a:prstGeom>
          <a:solidFill>
            <a:srgbClr val="66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1524304" y="5596128"/>
            <a:ext cx="292608" cy="292608"/>
          </a:xfrm>
          <a:prstGeom prst="ellipse">
            <a:avLst/>
          </a:prstGeom>
          <a:solidFill>
            <a:srgbClr val="CC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" y="3520440"/>
            <a:ext cx="1306830" cy="402336"/>
          </a:xfrm>
          <a:prstGeom prst="roundRect">
            <a:avLst>
              <a:gd name="adj" fmla="val 50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The problem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995678" y="3630168"/>
            <a:ext cx="228599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300478" y="3520440"/>
            <a:ext cx="148209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Logic vs data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858768" y="3630168"/>
            <a:ext cx="228599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163568" y="3520440"/>
            <a:ext cx="156972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Designing data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5809488" y="3630168"/>
            <a:ext cx="228599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114288" y="3520440"/>
            <a:ext cx="139446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Data sources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7584948" y="3630168"/>
            <a:ext cx="228599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889748" y="3520440"/>
            <a:ext cx="174498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Reading failures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710928" y="3630168"/>
            <a:ext cx="228599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015728" y="3520440"/>
            <a:ext cx="156972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Best practices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Oval 2"/>
          <p:cNvSpPr/>
          <p:nvPr/>
        </p:nvSpPr>
        <p:spPr>
          <a:xfrm>
            <a:off x="612648" y="164592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170078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Explain the problem DDT solves and define it: logic once, data separate.</a:t>
            </a:r>
          </a:p>
        </p:txBody>
      </p:sp>
      <p:sp>
        <p:nvSpPr>
          <p:cNvPr id="5" name="Oval 4"/>
          <p:cNvSpPr/>
          <p:nvPr/>
        </p:nvSpPr>
        <p:spPr>
          <a:xfrm>
            <a:off x="612648" y="246888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52374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Turn a test design table into a data set with IDs and expected results.</a:t>
            </a:r>
          </a:p>
        </p:txBody>
      </p:sp>
      <p:sp>
        <p:nvSpPr>
          <p:cNvPr id="7" name="Oval 6"/>
          <p:cNvSpPr/>
          <p:nvPr/>
        </p:nvSpPr>
        <p:spPr>
          <a:xfrm>
            <a:off x="612648" y="329184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334670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Choose a data source: inline, CSV, JSON, database, generated.</a:t>
            </a:r>
          </a:p>
        </p:txBody>
      </p:sp>
      <p:sp>
        <p:nvSpPr>
          <p:cNvPr id="9" name="Oval 8"/>
          <p:cNvSpPr/>
          <p:nvPr/>
        </p:nvSpPr>
        <p:spPr>
          <a:xfrm>
            <a:off x="612648" y="41148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4169663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Read a data-driven failure and decide whether the code or the data is wrong.</a:t>
            </a:r>
          </a:p>
        </p:txBody>
      </p:sp>
      <p:sp>
        <p:nvSpPr>
          <p:cNvPr id="11" name="Oval 10"/>
          <p:cNvSpPr/>
          <p:nvPr/>
        </p:nvSpPr>
        <p:spPr>
          <a:xfrm>
            <a:off x="612648" y="493776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499262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Apply best practices and avoid the common risks.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Data-Driven Testing  ·  Week 3 · Friday   |   2 / 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 and the Idea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Same steps, many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Data-Driven Testing  ·  Week 3 · Friday   |   3 / 29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Copy-Paste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83080"/>
            <a:ext cx="1783080" cy="105156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test_1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same steps</a:t>
            </a:r>
          </a:p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C00000"/>
                </a:solidFill>
                <a:latin typeface="Arial"/>
              </a:rPr>
              <a:t>0.5 kg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32888" y="1783080"/>
            <a:ext cx="1783080" cy="105156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test_2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same steps</a:t>
            </a:r>
          </a:p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C00000"/>
                </a:solidFill>
                <a:latin typeface="Arial"/>
              </a:rPr>
              <a:t>1 kg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53128" y="1783080"/>
            <a:ext cx="1783080" cy="105156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test_3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same steps</a:t>
            </a:r>
          </a:p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C00000"/>
                </a:solidFill>
                <a:latin typeface="Arial"/>
              </a:rPr>
              <a:t>1.01 kg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3017520"/>
            <a:ext cx="1783080" cy="105156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test_4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same steps</a:t>
            </a:r>
          </a:p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C00000"/>
                </a:solidFill>
                <a:latin typeface="Arial"/>
              </a:rPr>
              <a:t>5 kg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32888" y="3017520"/>
            <a:ext cx="1783080" cy="105156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test_5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same steps</a:t>
            </a:r>
          </a:p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C00000"/>
                </a:solidFill>
                <a:latin typeface="Arial"/>
              </a:rPr>
              <a:t>5.01 kg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53128" y="3017520"/>
            <a:ext cx="1783080" cy="105156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test_6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same steps</a:t>
            </a:r>
          </a:p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C00000"/>
                </a:solidFill>
                <a:latin typeface="Arial"/>
              </a:rPr>
              <a:t>30 kg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583680" y="3017520"/>
            <a:ext cx="731520" cy="0"/>
          </a:xfrm>
          <a:prstGeom prst="line">
            <a:avLst/>
          </a:prstGeom>
          <a:ln w="381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498079" y="1783080"/>
            <a:ext cx="4087368" cy="228600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One rule changes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Edit six functions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Miss one: a false failure or a false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452628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Tests that differ only in their values are a maintenance trap.</a:t>
            </a:r>
          </a:p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Adding a case means copying code, so awkward cases get skipped.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Data-Driven Testing  ·  Week 3 · Friday   |   4 / 29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Logic Once, Data Separate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2103120"/>
            <a:ext cx="2926080" cy="201168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Test logic</a:t>
            </a:r>
          </a:p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steps and checks,</a:t>
            </a:r>
          </a:p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written once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0" y="1783080"/>
            <a:ext cx="100584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92624" y="1783080"/>
            <a:ext cx="1325880" cy="50292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test_id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73368" y="1783080"/>
            <a:ext cx="1325880" cy="50292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weight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54112" y="1783080"/>
            <a:ext cx="1325880" cy="50292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expected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0" y="2340864"/>
            <a:ext cx="1005840" cy="50292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row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92624" y="2340864"/>
            <a:ext cx="132588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SH-01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73368" y="2340864"/>
            <a:ext cx="132588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0.5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54112" y="2340864"/>
            <a:ext cx="1325880" cy="502920"/>
          </a:xfrm>
          <a:prstGeom prst="roundRect">
            <a:avLst>
              <a:gd name="adj" fmla="val 5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5.00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31920" y="2898648"/>
            <a:ext cx="1005840" cy="50292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row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92624" y="2898648"/>
            <a:ext cx="132588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SH-02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73368" y="2898648"/>
            <a:ext cx="132588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1.01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54112" y="2898648"/>
            <a:ext cx="1325880" cy="502920"/>
          </a:xfrm>
          <a:prstGeom prst="roundRect">
            <a:avLst>
              <a:gd name="adj" fmla="val 5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8.00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31920" y="3456432"/>
            <a:ext cx="1005840" cy="50292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row 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92624" y="3456432"/>
            <a:ext cx="132588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SH-03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73368" y="3456432"/>
            <a:ext cx="1325880" cy="502920"/>
          </a:xfrm>
          <a:prstGeom prst="roundRect">
            <a:avLst>
              <a:gd name="adj" fmla="val 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31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54112" y="3456432"/>
            <a:ext cx="1325880" cy="502920"/>
          </a:xfrm>
          <a:prstGeom prst="roundRect">
            <a:avLst>
              <a:gd name="adj" fmla="val 5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error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584448" y="3108960"/>
            <a:ext cx="301752" cy="0"/>
          </a:xfrm>
          <a:prstGeom prst="line">
            <a:avLst/>
          </a:prstGeom>
          <a:ln w="25400">
            <a:solidFill>
              <a:srgbClr val="1A1A1A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144000" y="2651760"/>
            <a:ext cx="457200" cy="0"/>
          </a:xfrm>
          <a:prstGeom prst="line">
            <a:avLst/>
          </a:prstGeom>
          <a:ln w="317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646920" y="1783080"/>
            <a:ext cx="1938528" cy="21945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3 results</a:t>
            </a:r>
          </a:p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one per row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" y="4572000"/>
            <a:ext cx="10972800" cy="91440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Data-driven testing: test steps written once, run against many rows of data and expected results.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Data-Driven Testing  ·  Week 3 · Friday   |   5 / 29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Analogy: Mail Merge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828800"/>
            <a:ext cx="3230880" cy="9144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One letter template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889247" y="2286000"/>
            <a:ext cx="548641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483608" y="1828800"/>
            <a:ext cx="3230880" cy="9144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An address list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60208" y="2286000"/>
            <a:ext cx="548639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354568" y="1828800"/>
            <a:ext cx="3230880" cy="91440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Hundreds of personal letters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3291840"/>
            <a:ext cx="3230880" cy="9144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One test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889247" y="3749039"/>
            <a:ext cx="548641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483608" y="3291840"/>
            <a:ext cx="3230880" cy="9144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A data table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60208" y="3749039"/>
            <a:ext cx="548639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354568" y="3291840"/>
            <a:ext cx="3230880" cy="91440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One result per row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46634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Fix a typo in the template once: every letter is fixed.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A wrong address is a data problem, not a template problem.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Data-Driven Testing  ·  Week 3 · Friday   |   6 / 29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Vocabulary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3291840" cy="640080"/>
          </a:xfrm>
          <a:prstGeom prst="roundRect">
            <a:avLst>
              <a:gd name="adj" fmla="val 8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Data row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41648" y="1737360"/>
            <a:ext cx="75438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One complete set of values for one run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2468879"/>
            <a:ext cx="3291840" cy="640080"/>
          </a:xfrm>
          <a:prstGeom prst="roundRect">
            <a:avLst>
              <a:gd name="adj" fmla="val 8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Data source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41648" y="2468879"/>
            <a:ext cx="75438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Where rows live: code, CSV, JSON, database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3200400"/>
            <a:ext cx="3291840" cy="640080"/>
          </a:xfrm>
          <a:prstGeom prst="roundRect">
            <a:avLst>
              <a:gd name="adj" fmla="val 8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Expected result column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41648" y="3200400"/>
            <a:ext cx="75438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The correct answer for that row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3931920"/>
            <a:ext cx="3291840" cy="640080"/>
          </a:xfrm>
          <a:prstGeom prst="roundRect">
            <a:avLst>
              <a:gd name="adj" fmla="val 8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Parameterization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41648" y="3931920"/>
            <a:ext cx="75438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Fixed values become named placeholders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4663440"/>
            <a:ext cx="3291840" cy="640080"/>
          </a:xfrm>
          <a:prstGeom prst="roundRect">
            <a:avLst>
              <a:gd name="adj" fmla="val 8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Test 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41648" y="4663440"/>
            <a:ext cx="75438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 unique label per row: SH-03, REG-014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Data-Driven Testing  ·  Week 3 · Friday   |   7 / 29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Designing the Data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Techniques choose the rows; DDT runs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Data-Driven Testing  ·  Week 3 · Friday   |   8 / 29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Techniques Choose, DDT Runs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828800"/>
            <a:ext cx="2434590" cy="91440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BVA, EP, decision tables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092958" y="228600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458718" y="1828800"/>
            <a:ext cx="2434590" cy="9144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Design table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39028" y="228600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304788" y="1828800"/>
            <a:ext cx="2434590" cy="9144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Data file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785098" y="228600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150858" y="1828800"/>
            <a:ext cx="2434590" cy="9144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One test, many runs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3200400"/>
            <a:ext cx="109728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Arial"/>
              </a:rPr>
              <a:t>A test design table is already a data set: inputs plus expected results.</a:t>
            </a:r>
          </a:p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Arial"/>
              </a:rPr>
              <a:t>Each row keeps the technique that produced it.</a:t>
            </a:r>
          </a:p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900" b="0" i="0">
                <a:solidFill>
                  <a:srgbClr val="1A1A1A"/>
                </a:solidFill>
                <a:latin typeface="Arial"/>
              </a:rPr>
              <a:t>Error-guessing ideas become extra rows.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Data-Driven Testing  ·  Week 3 · Friday   |   9 / 29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 Age Rule as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6459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5A5A5A"/>
                </a:solidFill>
                <a:latin typeface="Arial"/>
              </a:rPr>
              <a:t>Rule: age must be 18 to 65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3291840"/>
            <a:ext cx="10561320" cy="0"/>
          </a:xfrm>
          <a:prstGeom prst="line">
            <a:avLst/>
          </a:prstGeom>
          <a:ln w="25400">
            <a:solidFill>
              <a:srgbClr val="1A1A1A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926080" y="3136392"/>
            <a:ext cx="6309359" cy="310896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7" name="Oval 6"/>
          <p:cNvSpPr/>
          <p:nvPr/>
        </p:nvSpPr>
        <p:spPr>
          <a:xfrm>
            <a:off x="1819655" y="2395728"/>
            <a:ext cx="566928" cy="487558"/>
          </a:xfrm>
          <a:prstGeom prst="ellipse">
            <a:avLst/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17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03120" y="2883286"/>
            <a:ext cx="0" cy="234818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642616" y="2395728"/>
            <a:ext cx="566928" cy="487558"/>
          </a:xfrm>
          <a:prstGeom prst="ellipse">
            <a:avLst/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18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26080" y="2883286"/>
            <a:ext cx="0" cy="234818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465575" y="2395728"/>
            <a:ext cx="566928" cy="487558"/>
          </a:xfrm>
          <a:prstGeom prst="ellipse">
            <a:avLst/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19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749039" y="2883286"/>
            <a:ext cx="0" cy="234818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5815584" y="2395728"/>
            <a:ext cx="566928" cy="487558"/>
          </a:xfrm>
          <a:prstGeom prst="ellipse">
            <a:avLst/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40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99048" y="2883286"/>
            <a:ext cx="0" cy="234818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129015" y="2395728"/>
            <a:ext cx="566928" cy="487558"/>
          </a:xfrm>
          <a:prstGeom prst="ellipse">
            <a:avLst/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64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412480" y="2883286"/>
            <a:ext cx="0" cy="234818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8951976" y="2395728"/>
            <a:ext cx="566928" cy="487558"/>
          </a:xfrm>
          <a:prstGeom prst="ellipse">
            <a:avLst/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65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235440" y="2883286"/>
            <a:ext cx="0" cy="234818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9774936" y="2395728"/>
            <a:ext cx="566928" cy="487558"/>
          </a:xfrm>
          <a:prstGeom prst="ellipse">
            <a:avLst/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66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058400" y="2883286"/>
            <a:ext cx="0" cy="234818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926080" y="3547872"/>
            <a:ext cx="63093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2E7D32"/>
                </a:solidFill>
                <a:latin typeface="Arial"/>
              </a:rPr>
              <a:t>accepted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547872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C00000"/>
                </a:solidFill>
                <a:latin typeface="Arial"/>
              </a:rPr>
              <a:t>rejected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19" y="3547872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C00000"/>
                </a:solidFill>
                <a:latin typeface="Arial"/>
              </a:rPr>
              <a:t>rejected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" y="4480560"/>
            <a:ext cx="10972800" cy="91440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5875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4590288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5C8A8A"/>
                </a:solidFill>
                <a:latin typeface="Arial"/>
              </a:rPr>
              <a:t>EXAMPLE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Seven rows (AGE-01 to AGE-07): six BVA values plus one EP value; one assertion runs them all.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Data-Driven Testing  ·  Week 3 · Friday   |   10 / 29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Decision Table as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32918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11680"/>
                <a:gridCol w="2743200"/>
                <a:gridCol w="2743200"/>
                <a:gridCol w="3474720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Test ID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Username valid?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Password valid?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Expected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LOG-01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Login succeeds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LOG-02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Invalid credentials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LOG-03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Invalid credentials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LOG-04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Invalid credentials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5257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Each rule of the table becomes one row; the logic stays identical.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Data-Driven Testing  ·  Week 3 · Friday   |   11 / 29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Anatomy of a Good 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83080"/>
            <a:ext cx="1600200" cy="50292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test_id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331720"/>
            <a:ext cx="1600200" cy="68580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330066"/>
                </a:solidFill>
                <a:latin typeface="Arial"/>
              </a:rPr>
              <a:t>REG-014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58568" y="1783080"/>
            <a:ext cx="1965960" cy="50292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username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58568" y="2331720"/>
            <a:ext cx="1965960" cy="6858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testuser_01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0248" y="1783080"/>
            <a:ext cx="2788920" cy="50292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password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0248" y="2331720"/>
            <a:ext cx="2788920" cy="6858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Passw0rd123456789012x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04888" y="1783080"/>
            <a:ext cx="2240280" cy="50292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expected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04888" y="2331720"/>
            <a:ext cx="2240280" cy="6858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password_too_long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90888" y="1783080"/>
            <a:ext cx="2148840" cy="50292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description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90888" y="2331720"/>
            <a:ext cx="2148840" cy="6858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password 21 chars (max 20)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3429000"/>
            <a:ext cx="2571750" cy="155448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Unique ID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Cite it in a defect and a report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12998" y="3429000"/>
            <a:ext cx="2571750" cy="15544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Expected from the requirement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Never from the code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3348" y="3429000"/>
            <a:ext cx="2571750" cy="155448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Arial"/>
              </a:rPr>
              <a:t>One purpose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 failure is understood at once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13698" y="3429000"/>
            <a:ext cx="2571750" cy="15544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Description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Why the row exists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52578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Synthetic, privacy-safe values only: no real names, emails or cards.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Data-Driven Testing  ·  Week 3 · Friday   |   12 / 29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Count Before You Combine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12648" y="1691640"/>
          <a:ext cx="6400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0" y="1691640"/>
            <a:ext cx="4270248" cy="41148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Combinations multiply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4 x 3 x 5 x 3 = 180 tests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More data is not more coverage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Combine only what interacts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Others one at a time, or pairwise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Data-Driven Testing  ·  Week 3 · Friday   |   13 / 29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Where the rows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Data-Driven Testing  ·  Week 3 · Friday   |   14 / 29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2571750" cy="16002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Arial"/>
              </a:rPr>
              <a:t>Inline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Rows in the test file: small tables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12998" y="1737360"/>
            <a:ext cx="2571750" cy="16002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CSV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Flat tables; opens in a spreadsheet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3348" y="1737360"/>
            <a:ext cx="2571750" cy="16002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JSON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Typed and nested; API bodies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13698" y="1737360"/>
            <a:ext cx="2571750" cy="1600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Spreadsheet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Business teams maintain 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3566160"/>
            <a:ext cx="2571750" cy="16002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Database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Large or shared data; needs reset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2998" y="3566160"/>
            <a:ext cx="2571750" cy="16002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API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Live data; network dependency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3348" y="3566160"/>
            <a:ext cx="2571750" cy="160020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5B2C83"/>
                </a:solidFill>
                <a:latin typeface="Arial"/>
              </a:rPr>
              <a:t>Generated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Seeded random or fake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13698" y="3566160"/>
            <a:ext cx="2571750" cy="160020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5B2C83"/>
                </a:solidFill>
                <a:latin typeface="Arial"/>
              </a:rPr>
              <a:t>Per environment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Dev, test and staging differ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5349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Start simple: inline or CSV covers most needs.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Data-Driven Testing  ·  Week 3 · Friday   |   15 / 29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CSV Is Text, JSON Has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5349240" cy="13716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847088"/>
            <a:ext cx="49834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5A5A5A"/>
                </a:solidFill>
                <a:latin typeface="Arial"/>
              </a:rPr>
              <a:t>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2167128"/>
            <a:ext cx="4983479" cy="850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onsolas"/>
              </a:rPr>
              <a:t>test_id,weight,express,expected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onsolas"/>
              </a:rPr>
              <a:t>SH-03,1.01,false,8.00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6208" y="1737360"/>
            <a:ext cx="5349240" cy="13716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9088" y="1847088"/>
            <a:ext cx="49834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5A5A5A"/>
                </a:solidFill>
                <a:latin typeface="Arial"/>
              </a:rPr>
              <a:t>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2167128"/>
            <a:ext cx="4983479" cy="850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onsolas"/>
              </a:rPr>
              <a:t>{"test_id": "SH-03", "weight": 1.01,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onsolas"/>
              </a:rPr>
              <a:t> "express": false, "expected": 8.00}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3383280"/>
            <a:ext cx="5349240" cy="237744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Every CSV value is a string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"1.01" is not the number 1.01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Convert numbers explicitly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Any non-empty text counts as true, even "false"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3383280"/>
            <a:ext cx="5349240" cy="23774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JSON keeps types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Numbers stay numbers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true and false stay booleans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Harder for non-programmers to edit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Data-Driven Testing  ·  Week 3 · Friday   |   16 / 29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Generated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5349240" cy="274320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5B2C83"/>
                </a:solidFill>
                <a:latin typeface="Arial"/>
              </a:rPr>
              <a:t>Seeded random values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 fixed seed repeats the same values every run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 failure can be reproduced exactly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Check a property, not one answer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36208" y="1737360"/>
            <a:ext cx="5349240" cy="274320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5B2C83"/>
                </a:solidFill>
                <a:latin typeface="Arial"/>
              </a:rPr>
              <a:t>Fake realistic data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Names, emails, addresses that are not real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Unique values avoid clashes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Libraries such as Faker (name only)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4754880"/>
            <a:ext cx="10972800" cy="100584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5875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864608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5C8A8A"/>
                </a:solidFill>
                <a:latin typeface="Arial"/>
              </a:rPr>
              <a:t>EXAMPLE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Property: for any weight from 0.01 to 30 kg, the price is positive and never falls as weight rises.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Data-Driven Testing  ·  Week 3 · Friday   |   17 / 29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Choosing a Source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Diamond 3"/>
          <p:cNvSpPr/>
          <p:nvPr/>
        </p:nvSpPr>
        <p:spPr>
          <a:xfrm>
            <a:off x="612648" y="1737360"/>
            <a:ext cx="4937760" cy="868680"/>
          </a:xfrm>
          <a:prstGeom prst="diamond">
            <a:avLst/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Fewer than ~15 fixed rows?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596128" y="2167128"/>
            <a:ext cx="868680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41848" y="1828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2E7D32"/>
                </a:solidFill>
                <a:latin typeface="Arial"/>
              </a:rPr>
              <a:t>yes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10528" y="1828800"/>
            <a:ext cx="2560320" cy="6858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Inline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81528" y="2606039"/>
            <a:ext cx="0" cy="155449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iamond 8"/>
          <p:cNvSpPr/>
          <p:nvPr/>
        </p:nvSpPr>
        <p:spPr>
          <a:xfrm>
            <a:off x="612648" y="2761488"/>
            <a:ext cx="4937760" cy="868680"/>
          </a:xfrm>
          <a:prstGeom prst="diamond">
            <a:avLst/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Edited by non-programmers?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596128" y="3191256"/>
            <a:ext cx="868680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641848" y="285292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2E7D32"/>
                </a:solidFill>
                <a:latin typeface="Arial"/>
              </a:rPr>
              <a:t>yes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10528" y="2852928"/>
            <a:ext cx="2560320" cy="6858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CSV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81528" y="3630168"/>
            <a:ext cx="0" cy="155448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Diamond 13"/>
          <p:cNvSpPr/>
          <p:nvPr/>
        </p:nvSpPr>
        <p:spPr>
          <a:xfrm>
            <a:off x="612648" y="3785616"/>
            <a:ext cx="4937760" cy="868680"/>
          </a:xfrm>
          <a:prstGeom prst="diamond">
            <a:avLst/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Nested or typed values?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596128" y="4215384"/>
            <a:ext cx="868680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41848" y="387705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2E7D32"/>
                </a:solidFill>
                <a:latin typeface="Arial"/>
              </a:rPr>
              <a:t>yes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10528" y="3877056"/>
            <a:ext cx="2560320" cy="6858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JSON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081528" y="4654296"/>
            <a:ext cx="0" cy="155448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Diamond 18"/>
          <p:cNvSpPr/>
          <p:nvPr/>
        </p:nvSpPr>
        <p:spPr>
          <a:xfrm>
            <a:off x="612648" y="4809744"/>
            <a:ext cx="4937760" cy="868680"/>
          </a:xfrm>
          <a:prstGeom prst="diamond">
            <a:avLst/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Large, shared or live?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596128" y="5239512"/>
            <a:ext cx="868680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641848" y="4901183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2E7D32"/>
                </a:solidFill>
                <a:latin typeface="Arial"/>
              </a:rPr>
              <a:t>yes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10528" y="4901183"/>
            <a:ext cx="2560320" cy="6858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Database / API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18320" y="1737360"/>
            <a:ext cx="2167128" cy="393192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Then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Keep it in Git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Review it like code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Data-Driven Testing  ·  Week 3 · Friday   |   18 / 29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Running and Reading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One result per row, and what a failure means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Data-Driven Testing  ·  Week 3 · Friday   |   19 / 29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Loop Is Not Enough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5349240" cy="402336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C00000"/>
                </a:solidFill>
                <a:latin typeface="Arial"/>
              </a:rPr>
              <a:t>One test with a loop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One result for all rows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Stops at the first failure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Later rows never run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You read the trace to find the row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36208" y="1737360"/>
            <a:ext cx="5349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2E7D32"/>
                </a:solidFill>
                <a:latin typeface="Arial"/>
              </a:rPr>
              <a:t>One test per row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6208" y="2240280"/>
            <a:ext cx="5349240" cy="566928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SH-01 passed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6208" y="2926080"/>
            <a:ext cx="5349240" cy="566928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SH-02 passed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3611880"/>
            <a:ext cx="5349240" cy="566928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SH-03 FAILED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4297680"/>
            <a:ext cx="5349240" cy="566928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SH-04 passed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4983480"/>
            <a:ext cx="5349240" cy="566928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SH-05 passed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Data-Driven Testing  ·  Week 3 · Friday   |   20 / 29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Reading a Failing 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83080"/>
            <a:ext cx="3291840" cy="86868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Report: test[REG-024] FAILED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950208" y="2217420"/>
            <a:ext cx="45720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453128" y="1783080"/>
            <a:ext cx="3291840" cy="8686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Row data shown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90688" y="2217420"/>
            <a:ext cx="45720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293608" y="1783080"/>
            <a:ext cx="3291840" cy="86868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Expected vs actual</a:t>
            </a:r>
          </a:p>
        </p:txBody>
      </p:sp>
      <p:sp>
        <p:nvSpPr>
          <p:cNvPr id="9" name="Diamond 8"/>
          <p:cNvSpPr/>
          <p:nvPr/>
        </p:nvSpPr>
        <p:spPr>
          <a:xfrm>
            <a:off x="3566160" y="3063240"/>
            <a:ext cx="5120640" cy="1188720"/>
          </a:xfrm>
          <a:prstGeom prst="diamond">
            <a:avLst/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Code or data wrong? Ask the requirement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4663440"/>
            <a:ext cx="5029200" cy="91440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Code wrong: raise a defect, cite REG-024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56248" y="4663440"/>
            <a:ext cx="5029200" cy="9144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Data wrong: fix the row, review how it got in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3108960" y="4114800"/>
            <a:ext cx="1097280" cy="50292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46720" y="4114800"/>
            <a:ext cx="1005840" cy="50292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Data-Driven Testing  ·  Week 3 · Friday   |   21 / 29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You Will Meet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5372100" cy="18288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F4E79"/>
                </a:solidFill>
                <a:latin typeface="Arial"/>
              </a:rPr>
              <a:t>Manual test cases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One set of steps plus a data table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3348" y="1737360"/>
            <a:ext cx="5372100" cy="182880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5B2C83"/>
                </a:solidFill>
                <a:latin typeface="Arial"/>
              </a:rPr>
              <a:t>BDD scenarios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Scenario Outline with an Examples table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3794760"/>
            <a:ext cx="5372100" cy="18288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Test management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Datasets on a test case; defects cite the row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3348" y="3794760"/>
            <a:ext cx="5372100" cy="18288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2E7D32"/>
                </a:solidFill>
                <a:latin typeface="Arial"/>
              </a:rPr>
              <a:t>Automation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pytest (Week 4), Playwright (Week 5), API tests (Week 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Data-Driven Testing  ·  Week 3 · Friday   |   22 / 29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Benefits, Risks, Practice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it well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Data-Driven Testing  ·  Week 3 · Friday   |   23 / 29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and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5303520" cy="41148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90195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E7D32"/>
                </a:solidFill>
                <a:latin typeface="Arial"/>
              </a:rPr>
              <a:t>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468880"/>
            <a:ext cx="4846320" cy="3246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More cases for little effort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Logic in one place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Non-programmers can add rows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Coverage visible in the table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A defect becomes one new row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81928" y="1737360"/>
            <a:ext cx="5303520" cy="411480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0528" y="190195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C00000"/>
                </a:solidFill>
                <a:latin typeface="Arial"/>
              </a:rPr>
              <a:t>Risks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0528" y="2468880"/>
            <a:ext cx="4846320" cy="3246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A wrong expected value: false pass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Hard to debug without good IDs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Huge data slows the suite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Rows that depend on state or dates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A framework for three cases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Data-Driven Testing  ·  Week 3 · Friday   |   24 / 29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3505200" cy="18288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Unique IDs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In every row and every report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6448" y="1737360"/>
            <a:ext cx="3505200" cy="18288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Expected from requirements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Never copied from output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80248" y="1737360"/>
            <a:ext cx="3505200" cy="18288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Independent rows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Any order, alone, clean up after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3794760"/>
            <a:ext cx="3505200" cy="18288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Synthetic data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No real personal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6448" y="3794760"/>
            <a:ext cx="3505200" cy="18288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Version control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Data diffs reviewed like code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0248" y="3794760"/>
            <a:ext cx="3505200" cy="18288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Documented columns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Allowed values written down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Data-Driven Testing  ·  Week 3 · Friday   |   25 / 29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Data-Driven Tests and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828800"/>
            <a:ext cx="2434590" cy="91440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Defect found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092958" y="228600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458718" y="1828800"/>
            <a:ext cx="2434590" cy="9144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New row with its bug ID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39028" y="228600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304788" y="1828800"/>
            <a:ext cx="2434590" cy="9144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Runs on every change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785098" y="228600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150858" y="1828800"/>
            <a:ext cx="2434590" cy="91440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Defect can't silently return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" y="3200400"/>
            <a:ext cx="5303520" cy="256032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36499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F4E79"/>
                </a:solidFill>
                <a:latin typeface="Arial"/>
              </a:rPr>
              <a:t>Every commit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931920"/>
            <a:ext cx="4846320" cy="1691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Small, high-value set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Minutes, not hours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1928" y="3200400"/>
            <a:ext cx="5303520" cy="256032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336499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5B2C83"/>
                </a:solidFill>
                <a:latin typeface="Arial"/>
              </a:rPr>
              <a:t>Nightly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3931920"/>
            <a:ext cx="4846320" cy="1691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The full data set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All combinations kept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Data-Driven Testing  ·  Week 3 · Friday   |   26 / 29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COMMON MISTAKES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4114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486400"/>
                <a:gridCol w="5486400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Mistake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Do instead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Expected values copied from the code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Take them from the requirement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Hidden dependencies (an existing user, a date)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Create or reset the data the row needs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Vague row names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IDs plus descriptions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Forgetting CSV values are text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Convert types once, in a loader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Duplicate rows for one partition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Each row must earn its place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Data-Driven Testing  ·  Week 3 · Friday   |   27 / 29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12648" y="16002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165506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DDT writes the steps once and runs them against many rows.</a:t>
            </a:r>
          </a:p>
        </p:txBody>
      </p:sp>
      <p:sp>
        <p:nvSpPr>
          <p:cNvPr id="6" name="Oval 5"/>
          <p:cNvSpPr/>
          <p:nvPr/>
        </p:nvSpPr>
        <p:spPr>
          <a:xfrm>
            <a:off x="612648" y="233172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238658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Techniques choose the data; a design table is already a data set.</a:t>
            </a:r>
          </a:p>
        </p:txBody>
      </p:sp>
      <p:sp>
        <p:nvSpPr>
          <p:cNvPr id="8" name="Oval 7"/>
          <p:cNvSpPr/>
          <p:nvPr/>
        </p:nvSpPr>
        <p:spPr>
          <a:xfrm>
            <a:off x="612648" y="306324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311810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Every row has an ID, inputs and an expected result from the requirement.</a:t>
            </a:r>
          </a:p>
        </p:txBody>
      </p:sp>
      <p:sp>
        <p:nvSpPr>
          <p:cNvPr id="10" name="Oval 9"/>
          <p:cNvSpPr/>
          <p:nvPr/>
        </p:nvSpPr>
        <p:spPr>
          <a:xfrm>
            <a:off x="612648" y="379476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384962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Choose the simplest source; CSV is text, JSON keeps types.</a:t>
            </a:r>
          </a:p>
        </p:txBody>
      </p:sp>
      <p:sp>
        <p:nvSpPr>
          <p:cNvPr id="12" name="Oval 11"/>
          <p:cNvSpPr/>
          <p:nvPr/>
        </p:nvSpPr>
        <p:spPr>
          <a:xfrm>
            <a:off x="612648" y="452628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458114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One result per row; when it fails, ask: code or data?</a:t>
            </a:r>
          </a:p>
        </p:txBody>
      </p:sp>
      <p:sp>
        <p:nvSpPr>
          <p:cNvPr id="14" name="Oval 13"/>
          <p:cNvSpPr/>
          <p:nvPr/>
        </p:nvSpPr>
        <p:spPr>
          <a:xfrm>
            <a:off x="612648" y="52578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531266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Every defect becomes a row that guards against its return.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Data-Driven Testing  ·  Week 3 · Friday   |   28 / 29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Additional Resources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8544" y="1819656"/>
            <a:ext cx="10423245" cy="4505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pytest: How to parametrize fixtures and test functions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https://docs.pytest.org/en/stable/how-to/parametrize.html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4347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471356"/>
            <a:ext cx="10423245" cy="4505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Python csv module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https://docs.python.org/3/library/csv.html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0864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123057"/>
            <a:ext cx="10423245" cy="4505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Ministry of Testing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https://www.ministryoftesting.com/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Data-Driven Testing  ·  Week 3 · Friday   |   29 / 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rners Point">
  <a:themeElements>
    <a:clrScheme name="1_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1_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earners Point" id="{5ABB7BE2-076F-42C1-9907-FD58862889C1}" vid="{2565D177-60C2-4381-BEC4-E0C09BB79C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Learners Point Template</Application>
  <PresentationFormat>Widescreen</PresentationFormat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Learners Point Template</dc:title>
  <dc:creator>Learners Point</dc:creator>
</cp:coreProperties>
</file>