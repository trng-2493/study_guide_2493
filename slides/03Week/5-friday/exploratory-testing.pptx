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1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357" r:id="rId4"/>
    <p:sldId id="358" r:id="rId5"/>
    <p:sldId id="359" r:id="rId6"/>
    <p:sldId id="360" r:id="rId7"/>
    <p:sldId id="361" r:id="rId8"/>
    <p:sldId id="362" r:id="rId9"/>
    <p:sldId id="363" r:id="rId10"/>
    <p:sldId id="364" r:id="rId11"/>
    <p:sldId id="365" r:id="rId12"/>
    <p:sldId id="366" r:id="rId13"/>
    <p:sldId id="367" r:id="rId14"/>
    <p:sldId id="368" r:id="rId15"/>
    <p:sldId id="369" r:id="rId16"/>
    <p:sldId id="370" r:id="rId17"/>
    <p:sldId id="371" r:id="rId18"/>
    <p:sldId id="372" r:id="rId19"/>
    <p:sldId id="373" r:id="rId20"/>
    <p:sldId id="374" r:id="rId21"/>
    <p:sldId id="375" r:id="rId22"/>
    <p:sldId id="376" r:id="rId23"/>
    <p:sldId id="377" r:id="rId24"/>
    <p:sldId id="378" r:id="rId25"/>
    <p:sldId id="379" r:id="rId26"/>
    <p:sldId id="380" r:id="rId27"/>
    <p:sldId id="381" r:id="rId28"/>
    <p:sldId id="382" r:id="rId29"/>
    <p:sldId id="383" r:id="rId30"/>
    <p:sldId id="384" r:id="rId31"/>
    <p:sldId id="385" r:id="rId32"/>
    <p:sldId id="356" r:id="rId102"/>
  </p:sldIdLst>
  <p:sldSz cx="12192000" cy="6858000"/>
  <p:notesSz cx="6858000" cy="9144000"/>
  <p:defaultTextStyle>
    <a:defPPr>
      <a:defRPr lang="en-I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102" Type="http://schemas.openxmlformats.org/officeDocument/2006/relationships/slide" Target="slides/slide10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Third deck of the day; the morning demo runs a charter-based session right after it.</a:t>
            </a:r>
          </a:p>
          <a:p>
            <a:r>
              <a:t>Thursday's error guessing chose test ideas from experience; exploratory testing is a whole way of working that uses them.</a:t>
            </a:r>
          </a:p>
          <a:p>
            <a:r>
              <a:t>One analogy: exploring a city with a mission.</a:t>
            </a:r>
          </a:p>
          <a:p>
            <a:r>
              <a:t>The written lesson keeps the 60-minute registration session (notes, bugs, debrief), the shopping cart tour, 16 sample charters and the blank session sheet.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Ask: 'All scripted tests pass. Is registration bug-free?' (No: scripts only check what someone thought of.)</a:t>
            </a:r>
          </a:p>
          <a:p>
            <a:r>
              <a:t>Objectives 2 and 3 are practised in pairs in the demo.</a:t>
            </a:r>
          </a:p>
          <a:p>
            <a:r>
              <a:t>Automation only checks what you told it to check; exploration finds what to check next.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 1: definition, analogy, comparison and when to use it.</a:t>
            </a:r>
          </a:p>
          <a:p>
            <a:r>
              <a:t>This part has 4 concept slides, about 8 minutes.</a:t>
            </a:r>
          </a:p>
          <a:p>
            <a:r>
              <a:t>Before starting, recap the previous part in one sentence and ask one check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Scripted: design first, run later. Exploratory: try, observe, learn, design the next test at once.</a:t>
            </a:r>
          </a:p>
          <a:p>
            <a:r>
              <a:t>Cem Kaner coined the term in the 1980s; James and Jonathan Bach added session-based management (names only).</a:t>
            </a:r>
          </a:p>
          <a:p>
            <a:r>
              <a:t>It is a way of testing, not a technique; it can be done at any level.</a:t>
            </a:r>
          </a:p>
          <a:p>
            <a:r>
              <a:t>Ask: what makes a session explainable afterwards? (Charter and notes.)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deck's one analogy.</a:t>
            </a:r>
          </a:p>
          <a:p>
            <a:r>
              <a:t>The explorer follows interesting streets but keeps the mission and a notebook.</a:t>
            </a:r>
          </a:p>
          <a:p>
            <a:r>
              <a:t>The arrows show increasing purpose and record, not a ranking of value.</a:t>
            </a:r>
          </a:p>
          <a:p>
            <a:r>
              <a:t>Ask: what would 'opportunity time' be in the city? (A detour to an interesting market.)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Ad-hoc is informal, unplanned testing with no record; exploratory has a mission and notes.</a:t>
            </a:r>
          </a:p>
          <a:p>
            <a:r>
              <a:t>Even a tester following a script notices things beyond it.</a:t>
            </a:r>
          </a:p>
          <a:p>
            <a:r>
              <a:t>Coverage evidence: scripted counts executed cases; exploratory counts charters and sessions.</a:t>
            </a:r>
          </a:p>
          <a:p>
            <a:r>
              <a:t>Ask: which column fits an audit that needs signed evidence? (Scripted.)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Unknown unknowns: scripts cover what you knew to check; exploring finds what you did not.</a:t>
            </a:r>
          </a:p>
          <a:p>
            <a:r>
              <a:t>Repetitive checks belong to automation; re-exploring the same path is wasteful.</a:t>
            </a:r>
          </a:p>
          <a:p>
            <a:r>
              <a:t>Strict calculations (tax, interest) suit scripted or data-driven tests (next deck).</a:t>
            </a:r>
          </a:p>
          <a:p>
            <a:r>
              <a:t>A mature strategy mixes approaches by risk and evidence needs.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 2: the cycle inside a session and the charter that steers it.</a:t>
            </a:r>
          </a:p>
          <a:p>
            <a:r>
              <a:t>This part has 4 concept slides, about 8 minutes.</a:t>
            </a:r>
          </a:p>
          <a:p>
            <a:r>
              <a:t>Before starting, recap the previous part in one sentence and ask one check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Learn: the charter, requirements, what you have seen so far, users, risks.</a:t>
            </a:r>
          </a:p>
          <a:p>
            <a:r>
              <a:t>Design: a small experiment, such as registering an existing email in capital letters.</a:t>
            </a:r>
          </a:p>
          <a:p>
            <a:r>
              <a:t>Observe more than the expected result: message, layout, URL, timing, console.</a:t>
            </a:r>
          </a:p>
          <a:p>
            <a:r>
              <a:t>Decide: dig deeper, vary the input, log a bug, ask a question, or return to the charter.</a:t>
            </a:r>
          </a:p>
          <a:p>
            <a:r>
              <a:t>Scripted test 7 is the same whatever test 6 showed; here test 7 depends on test 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charter is the mission of one session: what to explore and what to look for, not the steps.</a:t>
            </a:r>
          </a:p>
          <a:p>
            <a:r>
              <a:t>Template from Elisabeth Hendrickson's book Explore It! (name only).</a:t>
            </a:r>
          </a:p>
          <a:p>
            <a:r>
              <a:t>Charters come from risks, new stories, bug clusters and questions from refinement.</a:t>
            </a:r>
          </a:p>
          <a:p>
            <a:r>
              <a:t>Ask: write a charter for the password reset email.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'Find bugs' has no target and no method: nobody can plan or review it.</a:t>
            </a:r>
          </a:p>
          <a:p>
            <a:r>
              <a:t>'Verify REQ-12' is confirmation: a scripted test, not exploration.</a:t>
            </a:r>
          </a:p>
          <a:p>
            <a:r>
              <a:t>Split a broad charter into several focused ones, each aimed at one feature or risk.</a:t>
            </a:r>
          </a:p>
          <a:p>
            <a:r>
              <a:t>The written lesson has six bad charters rewritten.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match the six charter cards used in the demo.</a:t>
            </a:r>
          </a:p>
          <a:p>
            <a:r>
              <a:t>Add charters from risk: where would a failure hurt most?</a:t>
            </a:r>
          </a:p>
          <a:p>
            <a:r>
              <a:t>Ananya agrees charters with Meera so sessions fit the sprint.</a:t>
            </a:r>
          </a:p>
          <a:p>
            <a:r>
              <a:t>The written lesson lists 16 sample charters.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 3: how exploration becomes plannable and accountable.</a:t>
            </a:r>
          </a:p>
          <a:p>
            <a:r>
              <a:t>This part has 5 concept slides, about 10 minutes.</a:t>
            </a:r>
          </a:p>
          <a:p>
            <a:r>
              <a:t>Before starting, recap the previous part in one sentence and ask one check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SBTM: session-based test management, developed by James and Jonathan Bach.</a:t>
            </a:r>
          </a:p>
          <a:p>
            <a:r>
              <a:t>It answers the manager's worry: without scripts, how do we know what was tested?</a:t>
            </a:r>
          </a:p>
          <a:p>
            <a:r>
              <a:t>Typical split from the written example: about 70% on charter, 20% opportunity, 10% setup.</a:t>
            </a:r>
          </a:p>
          <a:p>
            <a:r>
              <a:t>Ask: you find a payment bug while exploring login. What do you do? (Note it, report it, decide on a new charter.)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Drawn from exploratory-session-flow.mermaid in the demo folder.</a:t>
            </a:r>
          </a:p>
          <a:p>
            <a:r>
              <a:t>'No surprise' goes straight to the next idea; a surprise is noted first.</a:t>
            </a:r>
          </a:p>
          <a:p>
            <a:r>
              <a:t>Heuristics (Part 4) choose the next idea when you are stuck.</a:t>
            </a:r>
          </a:p>
          <a:p>
            <a:r>
              <a:t>The debrief turns one person's session into team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Add build and environment: browser, version, test environment.</a:t>
            </a:r>
          </a:p>
          <a:p>
            <a:r>
              <a:t>Bugs and questions are kept apart: not every oddity is a defect.</a:t>
            </a:r>
          </a:p>
          <a:p>
            <a:r>
              <a:t>A blank template is in the written lesson; printed copies are used in the demo.</a:t>
            </a:r>
          </a:p>
          <a:p>
            <a:r>
              <a:t>Ask: why record the time split honestly? (To plan sessions and spot drifting charters.)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short talk (10 to 15 minutes) with a lead or teammate after the session.</a:t>
            </a:r>
          </a:p>
          <a:p>
            <a:r>
              <a:t>It makes the session accountable and shares learning.</a:t>
            </a:r>
          </a:p>
          <a:p>
            <a:r>
              <a:t>'Feelings' is a real signal: 'I don't trust the duplicate handling' often precedes a cluster of bugs.</a:t>
            </a:r>
          </a:p>
          <a:p>
            <a:r>
              <a:t>Outlook becomes the next charters.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Rewarded for bugs per session, people split one problem into many reports.</a:t>
            </a:r>
          </a:p>
          <a:p>
            <a:r>
              <a:t>All charters done means the areas you thought of were explored, not that the product is proven.</a:t>
            </a:r>
          </a:p>
          <a:p>
            <a:r>
              <a:t>Report what was not covered as clearly as what was.</a:t>
            </a:r>
          </a:p>
          <a:p>
            <a:r>
              <a:t>Ask: a session found nothing. What do you ask in the debrief?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 4: heuristics generate ideas; oracles recognise problems.</a:t>
            </a:r>
          </a:p>
          <a:p>
            <a:r>
              <a:t>This part has 4 concept slides, about 8 minutes.</a:t>
            </a:r>
          </a:p>
          <a:p>
            <a:r>
              <a:t>Before starting, recap the previous part in one sentence and ask one check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heuristic is a fallible rule of thumb; a mnemonic is a memory aid.</a:t>
            </a:r>
          </a:p>
          <a:p>
            <a:r>
              <a:t>SFDIPOT comes from James Bach's Heuristic Test Strategy Model ('San Francisco Depot').</a:t>
            </a:r>
          </a:p>
          <a:p>
            <a:r>
              <a:t>Use it to plan a session or when ideas run dry: pick a letter you have not touched.</a:t>
            </a:r>
          </a:p>
          <a:p>
            <a:r>
              <a:t>The written lesson gives a login example for each letter.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Goldilocks is a quick cousin of BVA (Thursday).</a:t>
            </a:r>
          </a:p>
          <a:p>
            <a:r>
              <a:t>Zero-one-many: bugs hide at the transitions, such as zero, one and many failed logins.</a:t>
            </a:r>
          </a:p>
          <a:p>
            <a:r>
              <a:t>Interruptions overlap Thursday's error-guessing catalog (recap).</a:t>
            </a:r>
          </a:p>
          <a:p>
            <a:r>
              <a:t>Ask: apply CRUD to a user profile photo.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Tours were popularised by James Whittaker (name only).</a:t>
            </a:r>
          </a:p>
          <a:p>
            <a:r>
              <a:t>Supermodel tour: look only at the surface; antisocial tour: least expected inputs.</a:t>
            </a:r>
          </a:p>
          <a:p>
            <a:r>
              <a:t>A feature tour is a good first session on an unknown product.</a:t>
            </a:r>
          </a:p>
          <a:p>
            <a:r>
              <a:t>Ask: which tour finds a broken link in the footer? (Back-alley.)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 oracle is any way of deciding whether behaviour is right or wrong (Tuesday: test oracle).</a:t>
            </a:r>
          </a:p>
          <a:p>
            <a:r>
              <a:t>Example: a 'Log out' button that leaves the session open breaks Purpose.</a:t>
            </a:r>
          </a:p>
          <a:p>
            <a:r>
              <a:t>Example: registration trims spaces but login does not: Product consistency.</a:t>
            </a:r>
          </a:p>
          <a:p>
            <a:r>
              <a:t>A named oracle turns 'I don't like it' into an evidence-based report or a question for Rohan.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 5: what happens to everything a session finds.</a:t>
            </a:r>
          </a:p>
          <a:p>
            <a:r>
              <a:t>This part has 4 concept slides, about 8 minutes.</a:t>
            </a:r>
          </a:p>
          <a:p>
            <a:r>
              <a:t>Before starting, recap the previous part in one sentence and ask one check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Short, time-stamped lines: tried, saw, will try next.</a:t>
            </a:r>
          </a:p>
          <a:p>
            <a:r>
              <a:t>Tags keep bugs, questions, risks and ideas apart for the debrief.</a:t>
            </a:r>
          </a:p>
          <a:p>
            <a:r>
              <a:t>The full notes of a 60-minute session are in the written lesson.</a:t>
            </a:r>
          </a:p>
          <a:p>
            <a:r>
              <a:t>Only explore systems you are authorised to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Exploration finds new risks that feed the regression suite (the regression deck).</a:t>
            </a:r>
          </a:p>
          <a:p>
            <a:r>
              <a:t>Automation candidates: checks you would want to run on every build.</a:t>
            </a:r>
          </a:p>
          <a:p>
            <a:r>
              <a:t>Pesticide paradox is Wednesday's principle: each session takes a different path.</a:t>
            </a:r>
          </a:p>
          <a:p>
            <a:r>
              <a:t>Ask: the duplicate-account bug is fixed. Where does it go next? (Regression suite, with its bug ID.)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Meera (SM) protects session time in the sprint plan.</a:t>
            </a:r>
          </a:p>
          <a:p>
            <a:r>
              <a:t>Karan pairing with Ananya on a new story is a fast way to explore and fix together.</a:t>
            </a:r>
          </a:p>
          <a:p>
            <a:r>
              <a:t>AI can suggest charters and unusual data, but it cannot observe the product: you still run and judge (Week 8, one line).</a:t>
            </a:r>
          </a:p>
          <a:p>
            <a:r>
              <a:t>Ask: which story in a sprint deserves the first session? (The riskiest or the newest.)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Managers need to know what was tested, what was found and what risk remains.</a:t>
            </a:r>
          </a:p>
          <a:p>
            <a:r>
              <a:t>Areas not covered stop people assuming more coverage than exists.</a:t>
            </a:r>
          </a:p>
          <a:p>
            <a:r>
              <a:t>Sunita (business owner) cares most about the 'found' and 'not covered' boxes.</a:t>
            </a:r>
          </a:p>
          <a:p>
            <a:r>
              <a:t>This line feeds the daily status report from Tuesday.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Others: chasing every shiny object; long or interrupted sessions; never reproducing before reporting; keeping findings to yourself; metrics as a scoreboard; trusting AI without checking; exploring only the happy path; testing systems you are not authorised to test.</a:t>
            </a:r>
          </a:p>
          <a:p>
            <a:r>
              <a:t>Ask: which mistake makes the debrief impossible?</a:t>
            </a:r>
          </a:p>
          <a:p>
            <a:r>
              <a:t>Quick quiz: read a mistake aloud and ask the class for the fix before revealing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Quick check: 'Test the checkout.' Fix this charter. (Explore the shopping cart with odd quantities and navigation to discover problems with totals.)</a:t>
            </a:r>
          </a:p>
          <a:p>
            <a:r>
              <a:t>Bridge: next deck, data-driven testing: the opposite end, highly repeatable scripted checks.</a:t>
            </a:r>
          </a:p>
          <a:p>
            <a:r>
              <a:t>Give learners one minute to write the takeaway they found most useful; take two or three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written lesson has the full 60-minute session example, the shopping cart tour, 16 charters and the blank session sheet.</a:t>
            </a:r>
          </a:p>
          <a:p>
            <a:r>
              <a:t>Resources are for self-study after class; none are needed for today's exercise.</a:t>
            </a:r>
          </a:p>
          <a:p>
            <a:r>
              <a:t>The written lesson for this topic is the full reference; slides are the presentation layer.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Line 2"/>
          <p:cNvSpPr>
            <a:spLocks noChangeShapeType="1"/>
          </p:cNvSpPr>
          <p:nvPr/>
        </p:nvSpPr>
        <p:spPr bwMode="auto">
          <a:xfrm>
            <a:off x="9753600" y="1066800"/>
            <a:ext cx="0" cy="17526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800"/>
          </a:p>
        </p:txBody>
      </p:sp>
      <p:sp>
        <p:nvSpPr>
          <p:cNvPr id="66563" name="Rectangle 3"/>
          <p:cNvSpPr>
            <a:spLocks noGrp="1" noChangeArrowheads="1"/>
          </p:cNvSpPr>
          <p:nvPr>
            <p:ph type="ctrTitle"/>
          </p:nvPr>
        </p:nvSpPr>
        <p:spPr>
          <a:xfrm>
            <a:off x="1016000" y="457200"/>
            <a:ext cx="8519584" cy="2133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altLang="en-US" noProof="0"/>
              <a:t>Click to edit Master title style</a:t>
            </a:r>
          </a:p>
        </p:txBody>
      </p:sp>
      <p:sp>
        <p:nvSpPr>
          <p:cNvPr id="66564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132417" y="3049588"/>
            <a:ext cx="8331200" cy="2362200"/>
          </a:xfrm>
        </p:spPr>
        <p:txBody>
          <a:bodyPr/>
          <a:lstStyle>
            <a:lvl1pPr marL="0" indent="0" algn="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en-US" altLang="en-US" noProof="0"/>
              <a:t>Click to edit Master subtitle style</a:t>
            </a:r>
          </a:p>
        </p:txBody>
      </p:sp>
      <p:sp>
        <p:nvSpPr>
          <p:cNvPr id="66565" name="Rectangle 5"/>
          <p:cNvSpPr>
            <a:spLocks noGrp="1" noChangeArrowheads="1"/>
          </p:cNvSpPr>
          <p:nvPr>
            <p:ph type="dt" sz="half" idx="2"/>
          </p:nvPr>
        </p:nvSpPr>
        <p:spPr/>
        <p:txBody>
          <a:bodyPr/>
          <a:lstStyle>
            <a:lvl1pPr>
              <a:defRPr/>
            </a:lvl1pPr>
          </a:lstStyle>
          <a:p>
            <a:fld id="{F304A9D6-1313-4D51-A62E-402D441D9A7B}" type="datetime1">
              <a:rPr lang="en-US" smtClean="0"/>
              <a:t>10/14/2025</a:t>
            </a:fld>
            <a:endParaRPr lang="en-US"/>
          </a:p>
        </p:txBody>
      </p:sp>
      <p:sp>
        <p:nvSpPr>
          <p:cNvPr id="66566" name="Rectangle 6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6567" name="Rectangle 7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sp>
        <p:nvSpPr>
          <p:cNvPr id="66568" name="Line 8"/>
          <p:cNvSpPr>
            <a:spLocks noChangeShapeType="1"/>
          </p:cNvSpPr>
          <p:nvPr/>
        </p:nvSpPr>
        <p:spPr bwMode="auto">
          <a:xfrm>
            <a:off x="1117600" y="2819400"/>
            <a:ext cx="8636000" cy="0"/>
          </a:xfrm>
          <a:prstGeom prst="line">
            <a:avLst/>
          </a:prstGeom>
          <a:noFill/>
          <a:ln w="635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800"/>
          </a:p>
        </p:txBody>
      </p:sp>
      <p:grpSp>
        <p:nvGrpSpPr>
          <p:cNvPr id="66569" name="Group 9" descr="decorative graphic made up of dots"/>
          <p:cNvGrpSpPr>
            <a:grpSpLocks/>
          </p:cNvGrpSpPr>
          <p:nvPr/>
        </p:nvGrpSpPr>
        <p:grpSpPr bwMode="auto">
          <a:xfrm>
            <a:off x="9956801" y="1219200"/>
            <a:ext cx="1056217" cy="1295400"/>
            <a:chOff x="5136" y="960"/>
            <a:chExt cx="528" cy="864"/>
          </a:xfrm>
        </p:grpSpPr>
        <p:sp>
          <p:nvSpPr>
            <p:cNvPr id="66570" name="Oval 10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1" name="Oval 11"/>
            <p:cNvSpPr>
              <a:spLocks noChangeArrowheads="1"/>
            </p:cNvSpPr>
            <p:nvPr/>
          </p:nvSpPr>
          <p:spPr bwMode="auto">
            <a:xfrm>
              <a:off x="5248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2" name="Oval 12"/>
            <p:cNvSpPr>
              <a:spLocks noChangeArrowheads="1"/>
            </p:cNvSpPr>
            <p:nvPr/>
          </p:nvSpPr>
          <p:spPr bwMode="auto">
            <a:xfrm>
              <a:off x="5360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3" name="Oval 13"/>
            <p:cNvSpPr>
              <a:spLocks noChangeArrowheads="1"/>
            </p:cNvSpPr>
            <p:nvPr/>
          </p:nvSpPr>
          <p:spPr bwMode="auto">
            <a:xfrm>
              <a:off x="5136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4" name="Oval 14"/>
            <p:cNvSpPr>
              <a:spLocks noChangeArrowheads="1"/>
            </p:cNvSpPr>
            <p:nvPr/>
          </p:nvSpPr>
          <p:spPr bwMode="auto">
            <a:xfrm>
              <a:off x="5248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5" name="Oval 15"/>
            <p:cNvSpPr>
              <a:spLocks noChangeArrowheads="1"/>
            </p:cNvSpPr>
            <p:nvPr/>
          </p:nvSpPr>
          <p:spPr bwMode="auto">
            <a:xfrm>
              <a:off x="5360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6" name="Oval 16"/>
            <p:cNvSpPr>
              <a:spLocks noChangeArrowheads="1"/>
            </p:cNvSpPr>
            <p:nvPr/>
          </p:nvSpPr>
          <p:spPr bwMode="auto">
            <a:xfrm>
              <a:off x="5472" y="1072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7" name="Oval 17"/>
            <p:cNvSpPr>
              <a:spLocks noChangeArrowheads="1"/>
            </p:cNvSpPr>
            <p:nvPr/>
          </p:nvSpPr>
          <p:spPr bwMode="auto">
            <a:xfrm>
              <a:off x="5136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8" name="Oval 18"/>
            <p:cNvSpPr>
              <a:spLocks noChangeArrowheads="1"/>
            </p:cNvSpPr>
            <p:nvPr/>
          </p:nvSpPr>
          <p:spPr bwMode="auto">
            <a:xfrm>
              <a:off x="5248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9" name="Oval 19"/>
            <p:cNvSpPr>
              <a:spLocks noChangeArrowheads="1"/>
            </p:cNvSpPr>
            <p:nvPr/>
          </p:nvSpPr>
          <p:spPr bwMode="auto">
            <a:xfrm>
              <a:off x="5360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0" name="Oval 20"/>
            <p:cNvSpPr>
              <a:spLocks noChangeArrowheads="1"/>
            </p:cNvSpPr>
            <p:nvPr/>
          </p:nvSpPr>
          <p:spPr bwMode="auto">
            <a:xfrm>
              <a:off x="5472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1" name="Oval 21"/>
            <p:cNvSpPr>
              <a:spLocks noChangeArrowheads="1"/>
            </p:cNvSpPr>
            <p:nvPr/>
          </p:nvSpPr>
          <p:spPr bwMode="auto">
            <a:xfrm>
              <a:off x="5584" y="1184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2" name="Oval 22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3" name="Oval 23"/>
            <p:cNvSpPr>
              <a:spLocks noChangeArrowheads="1"/>
            </p:cNvSpPr>
            <p:nvPr/>
          </p:nvSpPr>
          <p:spPr bwMode="auto">
            <a:xfrm>
              <a:off x="5248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4" name="Oval 24"/>
            <p:cNvSpPr>
              <a:spLocks noChangeArrowheads="1"/>
            </p:cNvSpPr>
            <p:nvPr/>
          </p:nvSpPr>
          <p:spPr bwMode="auto">
            <a:xfrm>
              <a:off x="5360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5" name="Oval 25"/>
            <p:cNvSpPr>
              <a:spLocks noChangeArrowheads="1"/>
            </p:cNvSpPr>
            <p:nvPr/>
          </p:nvSpPr>
          <p:spPr bwMode="auto">
            <a:xfrm>
              <a:off x="5472" y="1296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6" name="Oval 26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7" name="Oval 27"/>
            <p:cNvSpPr>
              <a:spLocks noChangeArrowheads="1"/>
            </p:cNvSpPr>
            <p:nvPr/>
          </p:nvSpPr>
          <p:spPr bwMode="auto">
            <a:xfrm>
              <a:off x="5248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8" name="Oval 28"/>
            <p:cNvSpPr>
              <a:spLocks noChangeArrowheads="1"/>
            </p:cNvSpPr>
            <p:nvPr/>
          </p:nvSpPr>
          <p:spPr bwMode="auto">
            <a:xfrm>
              <a:off x="5360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9" name="Oval 29"/>
            <p:cNvSpPr>
              <a:spLocks noChangeArrowheads="1"/>
            </p:cNvSpPr>
            <p:nvPr/>
          </p:nvSpPr>
          <p:spPr bwMode="auto">
            <a:xfrm>
              <a:off x="5472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0" name="Oval 30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1" name="Oval 31"/>
            <p:cNvSpPr>
              <a:spLocks noChangeArrowheads="1"/>
            </p:cNvSpPr>
            <p:nvPr/>
          </p:nvSpPr>
          <p:spPr bwMode="auto">
            <a:xfrm>
              <a:off x="5136" y="1520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2" name="Oval 32"/>
            <p:cNvSpPr>
              <a:spLocks noChangeArrowheads="1"/>
            </p:cNvSpPr>
            <p:nvPr/>
          </p:nvSpPr>
          <p:spPr bwMode="auto">
            <a:xfrm>
              <a:off x="5248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3" name="Oval 33"/>
            <p:cNvSpPr>
              <a:spLocks noChangeArrowheads="1"/>
            </p:cNvSpPr>
            <p:nvPr/>
          </p:nvSpPr>
          <p:spPr bwMode="auto">
            <a:xfrm>
              <a:off x="5360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4" name="Oval 34"/>
            <p:cNvSpPr>
              <a:spLocks noChangeArrowheads="1"/>
            </p:cNvSpPr>
            <p:nvPr/>
          </p:nvSpPr>
          <p:spPr bwMode="auto">
            <a:xfrm>
              <a:off x="5472" y="1520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5" name="Oval 35"/>
            <p:cNvSpPr>
              <a:spLocks noChangeArrowheads="1"/>
            </p:cNvSpPr>
            <p:nvPr/>
          </p:nvSpPr>
          <p:spPr bwMode="auto">
            <a:xfrm>
              <a:off x="5136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6" name="Oval 36"/>
            <p:cNvSpPr>
              <a:spLocks noChangeArrowheads="1"/>
            </p:cNvSpPr>
            <p:nvPr/>
          </p:nvSpPr>
          <p:spPr bwMode="auto">
            <a:xfrm>
              <a:off x="5248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7" name="Oval 37"/>
            <p:cNvSpPr>
              <a:spLocks noChangeArrowheads="1"/>
            </p:cNvSpPr>
            <p:nvPr/>
          </p:nvSpPr>
          <p:spPr bwMode="auto">
            <a:xfrm>
              <a:off x="5360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8" name="Oval 38"/>
            <p:cNvSpPr>
              <a:spLocks noChangeArrowheads="1"/>
            </p:cNvSpPr>
            <p:nvPr/>
          </p:nvSpPr>
          <p:spPr bwMode="auto">
            <a:xfrm>
              <a:off x="5472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9" name="Oval 39"/>
            <p:cNvSpPr>
              <a:spLocks noChangeArrowheads="1"/>
            </p:cNvSpPr>
            <p:nvPr/>
          </p:nvSpPr>
          <p:spPr bwMode="auto">
            <a:xfrm>
              <a:off x="5248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0" name="Oval 40"/>
            <p:cNvSpPr>
              <a:spLocks noChangeArrowheads="1"/>
            </p:cNvSpPr>
            <p:nvPr/>
          </p:nvSpPr>
          <p:spPr bwMode="auto">
            <a:xfrm>
              <a:off x="5472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</p:grpSp>
      <p:grpSp>
        <p:nvGrpSpPr>
          <p:cNvPr id="66601" name="Group 41" descr="decorative graphic made up of dots"/>
          <p:cNvGrpSpPr>
            <a:grpSpLocks/>
          </p:cNvGrpSpPr>
          <p:nvPr/>
        </p:nvGrpSpPr>
        <p:grpSpPr bwMode="auto">
          <a:xfrm>
            <a:off x="9956801" y="1219200"/>
            <a:ext cx="1056217" cy="1295400"/>
            <a:chOff x="5136" y="960"/>
            <a:chExt cx="528" cy="864"/>
          </a:xfrm>
        </p:grpSpPr>
        <p:sp>
          <p:nvSpPr>
            <p:cNvPr id="66602" name="Oval 42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3" name="Oval 43"/>
            <p:cNvSpPr>
              <a:spLocks noChangeArrowheads="1"/>
            </p:cNvSpPr>
            <p:nvPr/>
          </p:nvSpPr>
          <p:spPr bwMode="auto">
            <a:xfrm>
              <a:off x="5248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4" name="Oval 44"/>
            <p:cNvSpPr>
              <a:spLocks noChangeArrowheads="1"/>
            </p:cNvSpPr>
            <p:nvPr/>
          </p:nvSpPr>
          <p:spPr bwMode="auto">
            <a:xfrm>
              <a:off x="5360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5" name="Oval 45"/>
            <p:cNvSpPr>
              <a:spLocks noChangeArrowheads="1"/>
            </p:cNvSpPr>
            <p:nvPr/>
          </p:nvSpPr>
          <p:spPr bwMode="auto">
            <a:xfrm>
              <a:off x="5136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6" name="Oval 46"/>
            <p:cNvSpPr>
              <a:spLocks noChangeArrowheads="1"/>
            </p:cNvSpPr>
            <p:nvPr/>
          </p:nvSpPr>
          <p:spPr bwMode="auto">
            <a:xfrm>
              <a:off x="5248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7" name="Oval 47"/>
            <p:cNvSpPr>
              <a:spLocks noChangeArrowheads="1"/>
            </p:cNvSpPr>
            <p:nvPr/>
          </p:nvSpPr>
          <p:spPr bwMode="auto">
            <a:xfrm>
              <a:off x="5360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8" name="Oval 48"/>
            <p:cNvSpPr>
              <a:spLocks noChangeArrowheads="1"/>
            </p:cNvSpPr>
            <p:nvPr/>
          </p:nvSpPr>
          <p:spPr bwMode="auto">
            <a:xfrm>
              <a:off x="5472" y="1072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9" name="Oval 49"/>
            <p:cNvSpPr>
              <a:spLocks noChangeArrowheads="1"/>
            </p:cNvSpPr>
            <p:nvPr/>
          </p:nvSpPr>
          <p:spPr bwMode="auto">
            <a:xfrm>
              <a:off x="5136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0" name="Oval 50"/>
            <p:cNvSpPr>
              <a:spLocks noChangeArrowheads="1"/>
            </p:cNvSpPr>
            <p:nvPr/>
          </p:nvSpPr>
          <p:spPr bwMode="auto">
            <a:xfrm>
              <a:off x="5248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1" name="Oval 51"/>
            <p:cNvSpPr>
              <a:spLocks noChangeArrowheads="1"/>
            </p:cNvSpPr>
            <p:nvPr/>
          </p:nvSpPr>
          <p:spPr bwMode="auto">
            <a:xfrm>
              <a:off x="5360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2" name="Oval 52"/>
            <p:cNvSpPr>
              <a:spLocks noChangeArrowheads="1"/>
            </p:cNvSpPr>
            <p:nvPr/>
          </p:nvSpPr>
          <p:spPr bwMode="auto">
            <a:xfrm>
              <a:off x="5472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3" name="Oval 53"/>
            <p:cNvSpPr>
              <a:spLocks noChangeArrowheads="1"/>
            </p:cNvSpPr>
            <p:nvPr/>
          </p:nvSpPr>
          <p:spPr bwMode="auto">
            <a:xfrm>
              <a:off x="5584" y="1184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4" name="Oval 54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5" name="Oval 55"/>
            <p:cNvSpPr>
              <a:spLocks noChangeArrowheads="1"/>
            </p:cNvSpPr>
            <p:nvPr/>
          </p:nvSpPr>
          <p:spPr bwMode="auto">
            <a:xfrm>
              <a:off x="5248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6" name="Oval 56"/>
            <p:cNvSpPr>
              <a:spLocks noChangeArrowheads="1"/>
            </p:cNvSpPr>
            <p:nvPr/>
          </p:nvSpPr>
          <p:spPr bwMode="auto">
            <a:xfrm>
              <a:off x="5360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7" name="Oval 57"/>
            <p:cNvSpPr>
              <a:spLocks noChangeArrowheads="1"/>
            </p:cNvSpPr>
            <p:nvPr/>
          </p:nvSpPr>
          <p:spPr bwMode="auto">
            <a:xfrm>
              <a:off x="5472" y="1296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8" name="Oval 58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9" name="Oval 59"/>
            <p:cNvSpPr>
              <a:spLocks noChangeArrowheads="1"/>
            </p:cNvSpPr>
            <p:nvPr/>
          </p:nvSpPr>
          <p:spPr bwMode="auto">
            <a:xfrm>
              <a:off x="5248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0" name="Oval 60"/>
            <p:cNvSpPr>
              <a:spLocks noChangeArrowheads="1"/>
            </p:cNvSpPr>
            <p:nvPr/>
          </p:nvSpPr>
          <p:spPr bwMode="auto">
            <a:xfrm>
              <a:off x="5360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1" name="Oval 61"/>
            <p:cNvSpPr>
              <a:spLocks noChangeArrowheads="1"/>
            </p:cNvSpPr>
            <p:nvPr/>
          </p:nvSpPr>
          <p:spPr bwMode="auto">
            <a:xfrm>
              <a:off x="5472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2" name="Oval 62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3" name="Oval 63"/>
            <p:cNvSpPr>
              <a:spLocks noChangeArrowheads="1"/>
            </p:cNvSpPr>
            <p:nvPr/>
          </p:nvSpPr>
          <p:spPr bwMode="auto">
            <a:xfrm>
              <a:off x="5136" y="1520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4" name="Oval 64"/>
            <p:cNvSpPr>
              <a:spLocks noChangeArrowheads="1"/>
            </p:cNvSpPr>
            <p:nvPr/>
          </p:nvSpPr>
          <p:spPr bwMode="auto">
            <a:xfrm>
              <a:off x="5248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5" name="Oval 65"/>
            <p:cNvSpPr>
              <a:spLocks noChangeArrowheads="1"/>
            </p:cNvSpPr>
            <p:nvPr/>
          </p:nvSpPr>
          <p:spPr bwMode="auto">
            <a:xfrm>
              <a:off x="5360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6" name="Oval 66"/>
            <p:cNvSpPr>
              <a:spLocks noChangeArrowheads="1"/>
            </p:cNvSpPr>
            <p:nvPr/>
          </p:nvSpPr>
          <p:spPr bwMode="auto">
            <a:xfrm>
              <a:off x="5472" y="1520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7" name="Oval 67"/>
            <p:cNvSpPr>
              <a:spLocks noChangeArrowheads="1"/>
            </p:cNvSpPr>
            <p:nvPr/>
          </p:nvSpPr>
          <p:spPr bwMode="auto">
            <a:xfrm>
              <a:off x="5136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8" name="Oval 68"/>
            <p:cNvSpPr>
              <a:spLocks noChangeArrowheads="1"/>
            </p:cNvSpPr>
            <p:nvPr/>
          </p:nvSpPr>
          <p:spPr bwMode="auto">
            <a:xfrm>
              <a:off x="5248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9" name="Oval 69"/>
            <p:cNvSpPr>
              <a:spLocks noChangeArrowheads="1"/>
            </p:cNvSpPr>
            <p:nvPr/>
          </p:nvSpPr>
          <p:spPr bwMode="auto">
            <a:xfrm>
              <a:off x="5360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30" name="Oval 70"/>
            <p:cNvSpPr>
              <a:spLocks noChangeArrowheads="1"/>
            </p:cNvSpPr>
            <p:nvPr/>
          </p:nvSpPr>
          <p:spPr bwMode="auto">
            <a:xfrm>
              <a:off x="5472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31" name="Oval 71"/>
            <p:cNvSpPr>
              <a:spLocks noChangeArrowheads="1"/>
            </p:cNvSpPr>
            <p:nvPr/>
          </p:nvSpPr>
          <p:spPr bwMode="auto">
            <a:xfrm>
              <a:off x="5248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32" name="Oval 72"/>
            <p:cNvSpPr>
              <a:spLocks noChangeArrowheads="1"/>
            </p:cNvSpPr>
            <p:nvPr/>
          </p:nvSpPr>
          <p:spPr bwMode="auto">
            <a:xfrm>
              <a:off x="5472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</p:grp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8955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52564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44A8556-2F07-416B-A81B-5F1C3AFD01EF}" type="datetime1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7954" y="6261305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37226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6729637-7636-4388-949A-FC8BFDAA4705}" type="datetime1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60925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719263"/>
            <a:ext cx="53848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719263"/>
            <a:ext cx="53848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0F5DED8-6456-47A2-A5CC-BE8BEC6BD892}" type="datetime1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91744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7595759-8665-4708-8376-28A90FA13BDD}" type="datetime1">
              <a:rPr lang="en-US" smtClean="0"/>
              <a:t>10/14/2025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2974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3B0C243-4A55-4741-8265-C0A2FA769F7B}" type="datetime1">
              <a:rPr lang="en-US" smtClean="0"/>
              <a:t>10/14/2025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85460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99A12F7-971D-41C1-A2B7-EBB58FF381A3}" type="datetime1">
              <a:rPr lang="en-US" smtClean="0"/>
              <a:t>10/14/2025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11122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E3C3D28-2E0C-4F8B-A45D-9E87921943BF}" type="datetime1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09956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020A2-9D30-48AD-A70D-69AD2B027FCA}" type="datetime1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11039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01F6343-4644-43E3-AA07-6869EC7CEA0D}" type="datetime1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21502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122239"/>
            <a:ext cx="2743200" cy="600868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22239"/>
            <a:ext cx="8026400" cy="600868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CA0A126-F3CA-45B4-970B-597BE67A203E}" type="datetime1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94651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22238"/>
            <a:ext cx="100584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719263"/>
            <a:ext cx="53848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719263"/>
            <a:ext cx="53848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248400"/>
            <a:ext cx="2844800" cy="457200"/>
          </a:xfrm>
        </p:spPr>
        <p:txBody>
          <a:bodyPr/>
          <a:lstStyle>
            <a:lvl1pPr>
              <a:defRPr/>
            </a:lvl1pPr>
          </a:lstStyle>
          <a:p>
            <a:fld id="{16815F9B-CAFE-4C37-897A-C6403744783F}" type="datetime1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248400"/>
            <a:ext cx="2844800" cy="457200"/>
          </a:xfrm>
        </p:spPr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787975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Line 2"/>
          <p:cNvSpPr>
            <a:spLocks noChangeShapeType="1"/>
          </p:cNvSpPr>
          <p:nvPr/>
        </p:nvSpPr>
        <p:spPr bwMode="auto">
          <a:xfrm>
            <a:off x="10668000" y="0"/>
            <a:ext cx="0" cy="15240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800"/>
          </a:p>
        </p:txBody>
      </p:sp>
      <p:sp>
        <p:nvSpPr>
          <p:cNvPr id="65539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122238"/>
            <a:ext cx="10058400" cy="129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65540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719263"/>
            <a:ext cx="10972800" cy="4411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65541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000"/>
            </a:lvl1pPr>
          </a:lstStyle>
          <a:p>
            <a:fld id="{C569D4A1-8BB6-4430-9601-3FBC79908E8C}" type="datetime1">
              <a:rPr lang="en-US" smtClean="0"/>
              <a:t>10/14/2025</a:t>
            </a:fld>
            <a:endParaRPr lang="en-US"/>
          </a:p>
        </p:txBody>
      </p:sp>
      <p:sp>
        <p:nvSpPr>
          <p:cNvPr id="65542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000"/>
            </a:lvl1pPr>
          </a:lstStyle>
          <a:p>
            <a:endParaRPr lang="en-US"/>
          </a:p>
        </p:txBody>
      </p:sp>
      <p:sp>
        <p:nvSpPr>
          <p:cNvPr id="65543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00"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grpSp>
        <p:nvGrpSpPr>
          <p:cNvPr id="65544" name="Group 8" descr="decorative graphic made up of dots"/>
          <p:cNvGrpSpPr>
            <a:grpSpLocks/>
          </p:cNvGrpSpPr>
          <p:nvPr/>
        </p:nvGrpSpPr>
        <p:grpSpPr bwMode="auto">
          <a:xfrm>
            <a:off x="10871201" y="152400"/>
            <a:ext cx="1056217" cy="1295400"/>
            <a:chOff x="5136" y="960"/>
            <a:chExt cx="528" cy="864"/>
          </a:xfrm>
        </p:grpSpPr>
        <p:sp>
          <p:nvSpPr>
            <p:cNvPr id="65545" name="Oval 9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46" name="Oval 10"/>
            <p:cNvSpPr>
              <a:spLocks noChangeArrowheads="1"/>
            </p:cNvSpPr>
            <p:nvPr/>
          </p:nvSpPr>
          <p:spPr bwMode="auto">
            <a:xfrm>
              <a:off x="5248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47" name="Oval 11"/>
            <p:cNvSpPr>
              <a:spLocks noChangeArrowheads="1"/>
            </p:cNvSpPr>
            <p:nvPr/>
          </p:nvSpPr>
          <p:spPr bwMode="auto">
            <a:xfrm>
              <a:off x="5360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48" name="Oval 12"/>
            <p:cNvSpPr>
              <a:spLocks noChangeArrowheads="1"/>
            </p:cNvSpPr>
            <p:nvPr/>
          </p:nvSpPr>
          <p:spPr bwMode="auto">
            <a:xfrm>
              <a:off x="5136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49" name="Oval 13"/>
            <p:cNvSpPr>
              <a:spLocks noChangeArrowheads="1"/>
            </p:cNvSpPr>
            <p:nvPr/>
          </p:nvSpPr>
          <p:spPr bwMode="auto">
            <a:xfrm>
              <a:off x="5248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0" name="Oval 14"/>
            <p:cNvSpPr>
              <a:spLocks noChangeArrowheads="1"/>
            </p:cNvSpPr>
            <p:nvPr/>
          </p:nvSpPr>
          <p:spPr bwMode="auto">
            <a:xfrm>
              <a:off x="5360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1" name="Oval 15"/>
            <p:cNvSpPr>
              <a:spLocks noChangeArrowheads="1"/>
            </p:cNvSpPr>
            <p:nvPr/>
          </p:nvSpPr>
          <p:spPr bwMode="auto">
            <a:xfrm>
              <a:off x="5472" y="1072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2" name="Oval 16"/>
            <p:cNvSpPr>
              <a:spLocks noChangeArrowheads="1"/>
            </p:cNvSpPr>
            <p:nvPr/>
          </p:nvSpPr>
          <p:spPr bwMode="auto">
            <a:xfrm>
              <a:off x="5136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3" name="Oval 17"/>
            <p:cNvSpPr>
              <a:spLocks noChangeArrowheads="1"/>
            </p:cNvSpPr>
            <p:nvPr/>
          </p:nvSpPr>
          <p:spPr bwMode="auto">
            <a:xfrm>
              <a:off x="5248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4" name="Oval 18"/>
            <p:cNvSpPr>
              <a:spLocks noChangeArrowheads="1"/>
            </p:cNvSpPr>
            <p:nvPr/>
          </p:nvSpPr>
          <p:spPr bwMode="auto">
            <a:xfrm>
              <a:off x="5360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5" name="Oval 19"/>
            <p:cNvSpPr>
              <a:spLocks noChangeArrowheads="1"/>
            </p:cNvSpPr>
            <p:nvPr/>
          </p:nvSpPr>
          <p:spPr bwMode="auto">
            <a:xfrm>
              <a:off x="5472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6" name="Oval 20"/>
            <p:cNvSpPr>
              <a:spLocks noChangeArrowheads="1"/>
            </p:cNvSpPr>
            <p:nvPr/>
          </p:nvSpPr>
          <p:spPr bwMode="auto">
            <a:xfrm>
              <a:off x="5584" y="1184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7" name="Oval 21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8" name="Oval 22"/>
            <p:cNvSpPr>
              <a:spLocks noChangeArrowheads="1"/>
            </p:cNvSpPr>
            <p:nvPr/>
          </p:nvSpPr>
          <p:spPr bwMode="auto">
            <a:xfrm>
              <a:off x="5248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9" name="Oval 23"/>
            <p:cNvSpPr>
              <a:spLocks noChangeArrowheads="1"/>
            </p:cNvSpPr>
            <p:nvPr/>
          </p:nvSpPr>
          <p:spPr bwMode="auto">
            <a:xfrm>
              <a:off x="5360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0" name="Oval 24"/>
            <p:cNvSpPr>
              <a:spLocks noChangeArrowheads="1"/>
            </p:cNvSpPr>
            <p:nvPr/>
          </p:nvSpPr>
          <p:spPr bwMode="auto">
            <a:xfrm>
              <a:off x="5472" y="1296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1" name="Oval 25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2" name="Oval 26"/>
            <p:cNvSpPr>
              <a:spLocks noChangeArrowheads="1"/>
            </p:cNvSpPr>
            <p:nvPr/>
          </p:nvSpPr>
          <p:spPr bwMode="auto">
            <a:xfrm>
              <a:off x="5248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3" name="Oval 27"/>
            <p:cNvSpPr>
              <a:spLocks noChangeArrowheads="1"/>
            </p:cNvSpPr>
            <p:nvPr/>
          </p:nvSpPr>
          <p:spPr bwMode="auto">
            <a:xfrm>
              <a:off x="5360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4" name="Oval 28"/>
            <p:cNvSpPr>
              <a:spLocks noChangeArrowheads="1"/>
            </p:cNvSpPr>
            <p:nvPr/>
          </p:nvSpPr>
          <p:spPr bwMode="auto">
            <a:xfrm>
              <a:off x="5472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5" name="Oval 29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6" name="Oval 30"/>
            <p:cNvSpPr>
              <a:spLocks noChangeArrowheads="1"/>
            </p:cNvSpPr>
            <p:nvPr/>
          </p:nvSpPr>
          <p:spPr bwMode="auto">
            <a:xfrm>
              <a:off x="5136" y="1520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7" name="Oval 31"/>
            <p:cNvSpPr>
              <a:spLocks noChangeArrowheads="1"/>
            </p:cNvSpPr>
            <p:nvPr/>
          </p:nvSpPr>
          <p:spPr bwMode="auto">
            <a:xfrm>
              <a:off x="5248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8" name="Oval 32"/>
            <p:cNvSpPr>
              <a:spLocks noChangeArrowheads="1"/>
            </p:cNvSpPr>
            <p:nvPr/>
          </p:nvSpPr>
          <p:spPr bwMode="auto">
            <a:xfrm>
              <a:off x="5360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9" name="Oval 33"/>
            <p:cNvSpPr>
              <a:spLocks noChangeArrowheads="1"/>
            </p:cNvSpPr>
            <p:nvPr/>
          </p:nvSpPr>
          <p:spPr bwMode="auto">
            <a:xfrm>
              <a:off x="5472" y="1520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0" name="Oval 34"/>
            <p:cNvSpPr>
              <a:spLocks noChangeArrowheads="1"/>
            </p:cNvSpPr>
            <p:nvPr/>
          </p:nvSpPr>
          <p:spPr bwMode="auto">
            <a:xfrm>
              <a:off x="5136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1" name="Oval 35"/>
            <p:cNvSpPr>
              <a:spLocks noChangeArrowheads="1"/>
            </p:cNvSpPr>
            <p:nvPr/>
          </p:nvSpPr>
          <p:spPr bwMode="auto">
            <a:xfrm>
              <a:off x="5248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2" name="Oval 36"/>
            <p:cNvSpPr>
              <a:spLocks noChangeArrowheads="1"/>
            </p:cNvSpPr>
            <p:nvPr/>
          </p:nvSpPr>
          <p:spPr bwMode="auto">
            <a:xfrm>
              <a:off x="5360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3" name="Oval 37"/>
            <p:cNvSpPr>
              <a:spLocks noChangeArrowheads="1"/>
            </p:cNvSpPr>
            <p:nvPr/>
          </p:nvSpPr>
          <p:spPr bwMode="auto">
            <a:xfrm>
              <a:off x="5472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4" name="Oval 38"/>
            <p:cNvSpPr>
              <a:spLocks noChangeArrowheads="1"/>
            </p:cNvSpPr>
            <p:nvPr/>
          </p:nvSpPr>
          <p:spPr bwMode="auto">
            <a:xfrm>
              <a:off x="5248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5" name="Oval 39"/>
            <p:cNvSpPr>
              <a:spLocks noChangeArrowheads="1"/>
            </p:cNvSpPr>
            <p:nvPr/>
          </p:nvSpPr>
          <p:spPr bwMode="auto">
            <a:xfrm>
              <a:off x="5472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</p:grpSp>
      <p:sp>
        <p:nvSpPr>
          <p:cNvPr id="65576" name="Line 40"/>
          <p:cNvSpPr>
            <a:spLocks noChangeShapeType="1"/>
          </p:cNvSpPr>
          <p:nvPr/>
        </p:nvSpPr>
        <p:spPr bwMode="auto">
          <a:xfrm>
            <a:off x="609600" y="1524000"/>
            <a:ext cx="100584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800"/>
          </a:p>
        </p:txBody>
      </p:sp>
    </p:spTree>
    <p:extLst>
      <p:ext uri="{BB962C8B-B14F-4D97-AF65-F5344CB8AC3E}">
        <p14:creationId xmlns:p14="http://schemas.microsoft.com/office/powerpoint/2010/main" val="26342200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900" b="1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anose="05000000000000000000" pitchFamily="2" charset="2"/>
        <a:buChar char="l"/>
        <a:defRPr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692150" indent="-347663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87425" indent="-293688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l"/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281113" indent="-2921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98613" indent="-315913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9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0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Exploratory Testing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WEEK 3 · FRIDAY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2057400"/>
            <a:ext cx="877750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 i="0">
                <a:solidFill>
                  <a:srgbClr val="5A5A5A"/>
                </a:solidFill>
                <a:latin typeface="Arial"/>
              </a:rPr>
              <a:t>Simultaneous learning, test design and execution: hunting for the surprises scripts cannot anticipate</a:t>
            </a:r>
          </a:p>
        </p:txBody>
      </p:sp>
      <p:sp>
        <p:nvSpPr>
          <p:cNvPr id="20" name="Oval 19"/>
          <p:cNvSpPr/>
          <p:nvPr/>
        </p:nvSpPr>
        <p:spPr>
          <a:xfrm>
            <a:off x="609904" y="5596128"/>
            <a:ext cx="292608" cy="29260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21" name="Oval 20"/>
          <p:cNvSpPr/>
          <p:nvPr/>
        </p:nvSpPr>
        <p:spPr>
          <a:xfrm>
            <a:off x="1067104" y="5596128"/>
            <a:ext cx="292608" cy="292608"/>
          </a:xfrm>
          <a:prstGeom prst="ellipse">
            <a:avLst/>
          </a:prstGeom>
          <a:solidFill>
            <a:srgbClr val="66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22" name="Oval 21"/>
          <p:cNvSpPr/>
          <p:nvPr/>
        </p:nvSpPr>
        <p:spPr>
          <a:xfrm>
            <a:off x="1524304" y="5596128"/>
            <a:ext cx="292608" cy="292608"/>
          </a:xfrm>
          <a:prstGeom prst="ellipse">
            <a:avLst/>
          </a:prstGeom>
          <a:solidFill>
            <a:srgbClr val="CC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2648" y="3520440"/>
            <a:ext cx="1463040" cy="402336"/>
          </a:xfrm>
          <a:prstGeom prst="roundRect">
            <a:avLst>
              <a:gd name="adj" fmla="val 50000"/>
            </a:avLst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Arial"/>
              </a:rPr>
              <a:t>Definition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2167128" y="3630168"/>
            <a:ext cx="274320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2532888" y="3520440"/>
            <a:ext cx="1252728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250" b="1" i="0">
                <a:solidFill>
                  <a:srgbClr val="330066"/>
                </a:solidFill>
                <a:latin typeface="Arial"/>
              </a:rPr>
              <a:t>Charters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3877056" y="3630168"/>
            <a:ext cx="274320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242816" y="3520440"/>
            <a:ext cx="1252728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250" b="1" i="0">
                <a:solidFill>
                  <a:srgbClr val="330066"/>
                </a:solidFill>
                <a:latin typeface="Arial"/>
              </a:rPr>
              <a:t>Sessions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5586984" y="3630168"/>
            <a:ext cx="274320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952744" y="3520440"/>
            <a:ext cx="1463040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250" b="1" i="0">
                <a:solidFill>
                  <a:srgbClr val="330066"/>
                </a:solidFill>
                <a:latin typeface="Arial"/>
              </a:rPr>
              <a:t>Heuristics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7507224" y="3630168"/>
            <a:ext cx="274320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872984" y="3520440"/>
            <a:ext cx="1147572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250" b="1" i="0">
                <a:solidFill>
                  <a:srgbClr val="330066"/>
                </a:solidFill>
                <a:latin typeface="Arial"/>
              </a:rPr>
              <a:t>Oracles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9111996" y="3630168"/>
            <a:ext cx="274320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477756" y="3520440"/>
            <a:ext cx="1252728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250" b="1" i="0">
                <a:solidFill>
                  <a:srgbClr val="330066"/>
                </a:solidFill>
                <a:latin typeface="Arial"/>
              </a:rPr>
              <a:t>Findings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Objectives</a:t>
            </a:r>
          </a:p>
        </p:txBody>
      </p:sp>
      <p:sp>
        <p:nvSpPr>
          <p:cNvPr id="3" name="Oval 2"/>
          <p:cNvSpPr/>
          <p:nvPr/>
        </p:nvSpPr>
        <p:spPr>
          <a:xfrm>
            <a:off x="612648" y="164592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98448" y="1700784"/>
            <a:ext cx="10287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1A1A1A"/>
                </a:solidFill>
                <a:latin typeface="Arial"/>
              </a:rPr>
              <a:t>Define exploratory testing and tell it apart from scripted and ad-hoc testing.</a:t>
            </a:r>
          </a:p>
        </p:txBody>
      </p:sp>
      <p:sp>
        <p:nvSpPr>
          <p:cNvPr id="5" name="Oval 4"/>
          <p:cNvSpPr/>
          <p:nvPr/>
        </p:nvSpPr>
        <p:spPr>
          <a:xfrm>
            <a:off x="612648" y="246888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98448" y="2523744"/>
            <a:ext cx="10287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1A1A1A"/>
                </a:solidFill>
                <a:latin typeface="Arial"/>
              </a:rPr>
              <a:t>Write a charter with Explore / With / To discover.</a:t>
            </a:r>
          </a:p>
        </p:txBody>
      </p:sp>
      <p:sp>
        <p:nvSpPr>
          <p:cNvPr id="7" name="Oval 6"/>
          <p:cNvSpPr/>
          <p:nvPr/>
        </p:nvSpPr>
        <p:spPr>
          <a:xfrm>
            <a:off x="612648" y="329184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8448" y="3346704"/>
            <a:ext cx="10287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1A1A1A"/>
                </a:solidFill>
                <a:latin typeface="Arial"/>
              </a:rPr>
              <a:t>Run a timeboxed session with notes, a session sheet and a debrief.</a:t>
            </a:r>
          </a:p>
        </p:txBody>
      </p:sp>
      <p:sp>
        <p:nvSpPr>
          <p:cNvPr id="9" name="Oval 8"/>
          <p:cNvSpPr/>
          <p:nvPr/>
        </p:nvSpPr>
        <p:spPr>
          <a:xfrm>
            <a:off x="612648" y="411480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8448" y="4169663"/>
            <a:ext cx="10287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1A1A1A"/>
                </a:solidFill>
                <a:latin typeface="Arial"/>
              </a:rPr>
              <a:t>Use heuristics and oracles to find ideas and recognise problems.</a:t>
            </a:r>
          </a:p>
        </p:txBody>
      </p:sp>
      <p:sp>
        <p:nvSpPr>
          <p:cNvPr id="11" name="Oval 10"/>
          <p:cNvSpPr/>
          <p:nvPr/>
        </p:nvSpPr>
        <p:spPr>
          <a:xfrm>
            <a:off x="612648" y="493776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8448" y="4992624"/>
            <a:ext cx="10287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1A1A1A"/>
                </a:solidFill>
                <a:latin typeface="Arial"/>
              </a:rPr>
              <a:t>Turn findings into bug reports, regression candidates and new charters.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Exploratory Testing  ·  Week 3 · Friday   |   2 / 31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It Is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Learning, designing and testing at the same 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Exploratory Testing  ·  Week 3 · Friday   |   3 / 31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Exploratory Testing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61288" y="1783080"/>
            <a:ext cx="2926080" cy="914400"/>
          </a:xfrm>
          <a:prstGeom prst="roundRect">
            <a:avLst>
              <a:gd name="adj" fmla="val 12000"/>
            </a:avLst>
          </a:prstGeom>
          <a:solidFill>
            <a:srgbClr val="EDE6F5"/>
          </a:solidFill>
          <a:ln w="15875">
            <a:solidFill>
              <a:srgbClr val="5B2C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1A1A1A"/>
                </a:solidFill>
                <a:latin typeface="Arial"/>
              </a:rPr>
              <a:t>Learn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133088" y="2240280"/>
            <a:ext cx="640080" cy="0"/>
          </a:xfrm>
          <a:prstGeom prst="line">
            <a:avLst/>
          </a:prstGeom>
          <a:ln w="28575">
            <a:solidFill>
              <a:srgbClr val="1A1A1A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4818888" y="1783080"/>
            <a:ext cx="2926080" cy="91440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1A1A1A"/>
                </a:solidFill>
                <a:latin typeface="Arial"/>
              </a:rPr>
              <a:t>Design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790688" y="2240280"/>
            <a:ext cx="640079" cy="0"/>
          </a:xfrm>
          <a:prstGeom prst="line">
            <a:avLst/>
          </a:prstGeom>
          <a:ln w="28575">
            <a:solidFill>
              <a:srgbClr val="1A1A1A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8476488" y="1783080"/>
            <a:ext cx="2926080" cy="91440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1A1A1A"/>
                </a:solidFill>
                <a:latin typeface="Arial"/>
              </a:rPr>
              <a:t>Execute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27889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330066"/>
                </a:solidFill>
                <a:latin typeface="Arial"/>
              </a:rPr>
              <a:t>at the same time: each result shapes the next test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3383280"/>
            <a:ext cx="1097280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spcAft>
                <a:spcPts val="1000"/>
              </a:spcAft>
              <a:buFont typeface="Arial"/>
              <a:buChar char="•"/>
            </a:pPr>
            <a:r>
              <a:rPr sz="1900" b="0" i="0">
                <a:solidFill>
                  <a:srgbClr val="1A1A1A"/>
                </a:solidFill>
                <a:latin typeface="Arial"/>
              </a:rPr>
              <a:t>Structured and purposeful: a mission, a timebox, notes.</a:t>
            </a:r>
          </a:p>
          <a:p>
            <a:pPr algn="l" marL="274320" indent="-274320">
              <a:spcAft>
                <a:spcPts val="1000"/>
              </a:spcAft>
              <a:buFont typeface="Arial"/>
              <a:buChar char="•"/>
            </a:pPr>
            <a:r>
              <a:rPr sz="1900" b="0" i="0">
                <a:solidFill>
                  <a:srgbClr val="1A1A1A"/>
                </a:solidFill>
                <a:latin typeface="Arial"/>
              </a:rPr>
              <a:t>Not random clicking, and not a replacement for scripted tests.</a:t>
            </a:r>
          </a:p>
          <a:p>
            <a:pPr algn="l" marL="274320" indent="-274320">
              <a:spcAft>
                <a:spcPts val="1000"/>
              </a:spcAft>
              <a:buFont typeface="Arial"/>
              <a:buChar char="•"/>
            </a:pPr>
            <a:r>
              <a:rPr sz="1900" b="0" i="0">
                <a:solidFill>
                  <a:srgbClr val="1A1A1A"/>
                </a:solidFill>
                <a:latin typeface="Arial"/>
              </a:rPr>
              <a:t>Uses the techniques you know: partitions, boundaries, error guessing.</a:t>
            </a:r>
          </a:p>
          <a:p>
            <a:pPr algn="l" marL="274320" indent="-274320">
              <a:spcAft>
                <a:spcPts val="1000"/>
              </a:spcAft>
              <a:buFont typeface="Arial"/>
              <a:buChar char="•"/>
            </a:pPr>
            <a:r>
              <a:rPr sz="1900" b="0" i="0">
                <a:solidFill>
                  <a:srgbClr val="1A1A1A"/>
                </a:solidFill>
                <a:latin typeface="Arial"/>
              </a:rPr>
              <a:t>Quality depends on the tester: a strength and a risk.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Exploratory Testing  ·  Week 3 · Friday   |   4 / 31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Analogy: Exploring a City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737360"/>
            <a:ext cx="3505200" cy="228600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900" b="1" i="0">
                <a:solidFill>
                  <a:srgbClr val="330066"/>
                </a:solidFill>
                <a:latin typeface="Arial"/>
              </a:rPr>
              <a:t>Wandering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No map, no purpose: afterwards you cannot say where you went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6448" y="1737360"/>
            <a:ext cx="3505200" cy="228600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900" b="1" i="0">
                <a:solidFill>
                  <a:srgbClr val="1F4E79"/>
                </a:solidFill>
                <a:latin typeface="Arial"/>
              </a:rPr>
              <a:t>Fixed guided tour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Every stop decided in advance; it never changes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80248" y="1737360"/>
            <a:ext cx="3505200" cy="228600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900" b="1" i="0">
                <a:solidFill>
                  <a:srgbClr val="2E7D32"/>
                </a:solidFill>
                <a:latin typeface="Arial"/>
              </a:rPr>
              <a:t>Exploring with a mission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'Find the best food near the old town, note anything unsafe'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" y="4389120"/>
            <a:ext cx="3291840" cy="73152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Random clicking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950208" y="4754880"/>
            <a:ext cx="457200" cy="0"/>
          </a:xfrm>
          <a:prstGeom prst="line">
            <a:avLst/>
          </a:prstGeom>
          <a:ln w="2857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453128" y="4389120"/>
            <a:ext cx="3291840" cy="73152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Scripted testing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90688" y="4754880"/>
            <a:ext cx="457200" cy="0"/>
          </a:xfrm>
          <a:prstGeom prst="line">
            <a:avLst/>
          </a:prstGeom>
          <a:ln w="2857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8293608" y="4389120"/>
            <a:ext cx="3291840" cy="73152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Exploratory testing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Exploratory Testing  ·  Week 3 · Friday   |   5 / 31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Scripted, Exploratory, Ad-hoc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1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648" y="1600200"/>
          <a:ext cx="10972800" cy="3950208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377440"/>
                <a:gridCol w="2834640"/>
                <a:gridCol w="3108960"/>
                <a:gridCol w="2651760"/>
              </a:tblGrid>
              <a:tr h="658368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Aspect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Scripted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Exploratory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Ad-hoc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30066"/>
                          </a:solidFill>
                          <a:latin typeface="Arial"/>
                        </a:rPr>
                        <a:t>Planning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rial"/>
                        </a:rPr>
                        <a:t>Detailed, in advance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rial"/>
                        </a:rPr>
                        <a:t>Charter and timebox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rial"/>
                        </a:rPr>
                        <a:t>None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30066"/>
                          </a:solidFill>
                          <a:latin typeface="Arial"/>
                        </a:rPr>
                        <a:t>Record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rial"/>
                        </a:rPr>
                        <a:t>Test cases and results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rial"/>
                        </a:rPr>
                        <a:t>Notes, bugs, questions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rial"/>
                        </a:rPr>
                        <a:t>Usually none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30066"/>
                          </a:solidFill>
                          <a:latin typeface="Arial"/>
                        </a:rPr>
                        <a:t>Repeatability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rial"/>
                        </a:rPr>
                        <a:t>High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rial"/>
                        </a:rPr>
                        <a:t>Moderate (charter, notes)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rial"/>
                        </a:rPr>
                        <a:t>Low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30066"/>
                          </a:solidFill>
                          <a:latin typeface="Arial"/>
                        </a:rPr>
                        <a:t>Skill needed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rial"/>
                        </a:rPr>
                        <a:t>Mostly in design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rial"/>
                        </a:rPr>
                        <a:t>High, in real time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rial"/>
                        </a:rPr>
                        <a:t>Varies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30066"/>
                          </a:solidFill>
                          <a:latin typeface="Arial"/>
                        </a:rPr>
                        <a:t>Best for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rial"/>
                        </a:rPr>
                        <a:t>Compliance, regression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rial"/>
                        </a:rPr>
                        <a:t>New and unclear features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rial"/>
                        </a:rPr>
                        <a:t>Quick look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12648" y="56692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330066"/>
                </a:solidFill>
                <a:latin typeface="Arial"/>
              </a:rPr>
              <a:t>Real work mixes them: partners, not opposites.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Exploratory Testing  ·  Week 3 · Friday   |   6 / 31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When to Explore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737360"/>
            <a:ext cx="5303520" cy="411480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901952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2E7D32"/>
                </a:solidFill>
                <a:latin typeface="Arial"/>
              </a:rPr>
              <a:t>Shines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2468880"/>
            <a:ext cx="4846320" cy="3246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spcAft>
                <a:spcPts val="8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New features nobody knows yet</a:t>
            </a:r>
          </a:p>
          <a:p>
            <a:pPr algn="l" marL="274320" indent="-274320">
              <a:spcAft>
                <a:spcPts val="8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Thin or missing specifications</a:t>
            </a:r>
          </a:p>
          <a:p>
            <a:pPr algn="l" marL="274320" indent="-274320">
              <a:spcAft>
                <a:spcPts val="8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Tight deadlines</a:t>
            </a:r>
          </a:p>
          <a:p>
            <a:pPr algn="l" marL="274320" indent="-274320">
              <a:spcAft>
                <a:spcPts val="8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After the automated suite is green</a:t>
            </a:r>
          </a:p>
          <a:p>
            <a:pPr algn="l" marL="274320" indent="-274320">
              <a:spcAft>
                <a:spcPts val="8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Investigating a vague or intermittent bug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81928" y="1737360"/>
            <a:ext cx="5303520" cy="411480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10528" y="1901952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C55A11"/>
                </a:solidFill>
                <a:latin typeface="Arial"/>
              </a:rPr>
              <a:t>Not the best choice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10528" y="2468880"/>
            <a:ext cx="4846320" cy="3246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spcAft>
                <a:spcPts val="8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Formal audit or compliance evidence</a:t>
            </a:r>
          </a:p>
          <a:p>
            <a:pPr algn="l" marL="274320" indent="-274320">
              <a:spcAft>
                <a:spcPts val="8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Long, repetitive regression checks</a:t>
            </a:r>
          </a:p>
          <a:p>
            <a:pPr algn="l" marL="274320" indent="-274320">
              <a:spcAft>
                <a:spcPts val="8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Exact calculations at every step</a:t>
            </a:r>
          </a:p>
          <a:p>
            <a:pPr algn="l" marL="274320" indent="-274320">
              <a:spcAft>
                <a:spcPts val="8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No skills and no support (use pairing)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Exploratory Testing  ·  Week 3 · Friday   |   7 / 31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Cycle and Charters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One loop, one mission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Exploratory Testing  ·  Week 3 · Friday   |   8 / 31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Exploratory Cycle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956048" y="1627632"/>
            <a:ext cx="2286000" cy="768096"/>
          </a:xfrm>
          <a:prstGeom prst="roundRect">
            <a:avLst>
              <a:gd name="adj" fmla="val 12000"/>
            </a:avLst>
          </a:prstGeom>
          <a:solidFill>
            <a:srgbClr val="EDE6F5"/>
          </a:solidFill>
          <a:ln w="15875">
            <a:solidFill>
              <a:srgbClr val="5B2C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1 Learn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83879" y="2633472"/>
            <a:ext cx="2286000" cy="768096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2 Design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95160" y="4462272"/>
            <a:ext cx="2286000" cy="768096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3 Execute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26080" y="4462272"/>
            <a:ext cx="2286000" cy="768096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4 Observe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737360" y="2633472"/>
            <a:ext cx="2286000" cy="768096"/>
          </a:xfrm>
          <a:prstGeom prst="roundRect">
            <a:avLst>
              <a:gd name="adj" fmla="val 12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330066"/>
                </a:solidFill>
                <a:latin typeface="Arial"/>
              </a:rPr>
              <a:t>5 Decide next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269480" y="2148840"/>
            <a:ext cx="1371600" cy="548640"/>
          </a:xfrm>
          <a:prstGeom prst="line">
            <a:avLst/>
          </a:prstGeom>
          <a:ln w="2857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8778240" y="3429000"/>
            <a:ext cx="548640" cy="1005840"/>
          </a:xfrm>
          <a:prstGeom prst="line">
            <a:avLst/>
          </a:prstGeom>
          <a:ln w="2857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5257800" y="4846320"/>
            <a:ext cx="1691640" cy="0"/>
          </a:xfrm>
          <a:prstGeom prst="line">
            <a:avLst/>
          </a:prstGeom>
          <a:ln w="2857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 flipV="1">
            <a:off x="3108960" y="3429000"/>
            <a:ext cx="548640" cy="1005840"/>
          </a:xfrm>
          <a:prstGeom prst="line">
            <a:avLst/>
          </a:prstGeom>
          <a:ln w="2857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3566160" y="2148840"/>
            <a:ext cx="1371600" cy="548640"/>
          </a:xfrm>
          <a:prstGeom prst="line">
            <a:avLst/>
          </a:prstGeom>
          <a:ln w="2857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480560" y="3291840"/>
            <a:ext cx="32918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 i="1">
                <a:solidFill>
                  <a:srgbClr val="5A5A5A"/>
                </a:solidFill>
                <a:latin typeface="Arial"/>
              </a:rPr>
              <a:t>seconds per loop, hundreds per session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Exploratory Testing  ·  Week 3 · Friday   |   9 / 31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Charter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783080"/>
            <a:ext cx="2560320" cy="749808"/>
          </a:xfrm>
          <a:prstGeom prst="roundRect">
            <a:avLst>
              <a:gd name="adj" fmla="val 12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FFFFFF"/>
                </a:solidFill>
                <a:latin typeface="Arial"/>
              </a:rPr>
              <a:t>Explore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55848" y="1783080"/>
            <a:ext cx="8229600" cy="749808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36576" bIns="36576"/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1A1A1A"/>
                </a:solidFill>
                <a:latin typeface="Arial"/>
              </a:rPr>
              <a:t>the target: a feature, page or risk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" y="2697480"/>
            <a:ext cx="2560320" cy="749808"/>
          </a:xfrm>
          <a:prstGeom prst="roundRect">
            <a:avLst>
              <a:gd name="adj" fmla="val 12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FFFFFF"/>
                </a:solidFill>
                <a:latin typeface="Arial"/>
              </a:rPr>
              <a:t>With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55848" y="2697480"/>
            <a:ext cx="8229600" cy="749808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36576" bIns="36576"/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1A1A1A"/>
                </a:solidFill>
                <a:latin typeface="Arial"/>
              </a:rPr>
              <a:t>resources: data, tools, techniques, heuristics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" y="3611880"/>
            <a:ext cx="2560320" cy="749808"/>
          </a:xfrm>
          <a:prstGeom prst="roundRect">
            <a:avLst>
              <a:gd name="adj" fmla="val 12000"/>
            </a:avLst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FFFFFF"/>
                </a:solidFill>
                <a:latin typeface="Arial"/>
              </a:rPr>
              <a:t>To discover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55848" y="3611880"/>
            <a:ext cx="8229600" cy="749808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36576" bIns="36576"/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1A1A1A"/>
                </a:solidFill>
                <a:latin typeface="Arial"/>
              </a:rPr>
              <a:t>the information you want: risks, problems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" y="4709160"/>
            <a:ext cx="10972800" cy="1234440"/>
          </a:xfrm>
          <a:prstGeom prst="roundRect">
            <a:avLst>
              <a:gd name="adj" fmla="val 12000"/>
            </a:avLst>
          </a:prstGeom>
          <a:solidFill>
            <a:srgbClr val="F5F5C2"/>
          </a:solidFill>
          <a:ln w="15875">
            <a:solidFill>
              <a:srgbClr val="F5F5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4818888"/>
            <a:ext cx="1051560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5C8A8A"/>
                </a:solidFill>
                <a:latin typeface="Arial"/>
              </a:rPr>
              <a:t>EXAMPLE</a:t>
            </a:r>
          </a:p>
          <a:p>
            <a:pPr algn="l">
              <a:spcAft>
                <a:spcPts val="3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Explore the login page with wrong, empty and unusual credentials</a:t>
            </a:r>
          </a:p>
          <a:p>
            <a:pPr algn="l">
              <a:spcAft>
                <a:spcPts val="3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to discover how failures are handled and whether messages reveal too much.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Exploratory Testing  ·  Week 3 · Friday   |   10 / 31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Sizing a Charter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737360"/>
            <a:ext cx="3505200" cy="1920240"/>
          </a:xfrm>
          <a:prstGeom prst="roundRect">
            <a:avLst>
              <a:gd name="adj" fmla="val 12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900" b="1" i="0">
                <a:solidFill>
                  <a:srgbClr val="C00000"/>
                </a:solidFill>
                <a:latin typeface="Arial"/>
              </a:rPr>
              <a:t>Too broad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'Test the application.' No start, no end.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6448" y="1737360"/>
            <a:ext cx="3505200" cy="1920240"/>
          </a:xfrm>
          <a:prstGeom prst="roundRect">
            <a:avLst>
              <a:gd name="adj" fmla="val 12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900" b="1" i="0">
                <a:solidFill>
                  <a:srgbClr val="C00000"/>
                </a:solidFill>
                <a:latin typeface="Arial"/>
              </a:rPr>
              <a:t>Too narrow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'Enter abc, check an error.' A script in disguise.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80248" y="1737360"/>
            <a:ext cx="3505200" cy="192024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900" b="1" i="0">
                <a:solidFill>
                  <a:srgbClr val="2E7D32"/>
                </a:solidFill>
                <a:latin typeface="Arial"/>
              </a:rPr>
              <a:t>Just right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One session of 60 to 90 minutes, clear focus, room to discover.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3977639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330066"/>
                </a:solidFill>
                <a:latin typeface="Arial"/>
              </a:rPr>
              <a:t>Four-question check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" y="4526280"/>
            <a:ext cx="2640330" cy="731520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330066"/>
                </a:solidFill>
                <a:latin typeface="Arial"/>
              </a:rPr>
              <a:t>Can I finish it in one session?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90138" y="4526280"/>
            <a:ext cx="2640330" cy="731520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330066"/>
                </a:solidFill>
                <a:latin typeface="Arial"/>
              </a:rPr>
              <a:t>Do I know where to start?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67628" y="4526280"/>
            <a:ext cx="2640330" cy="731520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330066"/>
                </a:solidFill>
                <a:latin typeface="Arial"/>
              </a:rPr>
              <a:t>Is there room to follow curiosity?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45118" y="4526280"/>
            <a:ext cx="2640330" cy="731520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330066"/>
                </a:solidFill>
                <a:latin typeface="Arial"/>
              </a:rPr>
              <a:t>Does it say what to look for?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Exploratory Testing  ·  Week 3 · Friday   |   11 / 31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Charters for Login and Registration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737360"/>
            <a:ext cx="5372100" cy="178308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1F4E79"/>
                </a:solidFill>
                <a:latin typeface="Arial"/>
              </a:rPr>
              <a:t>Registration fields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with boundary, invalid and unusual values to discover validation gaps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3348" y="1737360"/>
            <a:ext cx="5372100" cy="178308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1F4E79"/>
                </a:solidFill>
                <a:latin typeface="Arial"/>
              </a:rPr>
              <a:t>Duplicate accounts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with case, spaces and repeated clicks to discover data-integrity risks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" y="3749039"/>
            <a:ext cx="5372100" cy="178308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1F4E79"/>
                </a:solidFill>
                <a:latin typeface="Arial"/>
              </a:rPr>
              <a:t>Login failures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with wrong, empty and odd credentials to discover leaks and lockout behaviour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3348" y="3749039"/>
            <a:ext cx="5372100" cy="178308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1F4E79"/>
                </a:solidFill>
                <a:latin typeface="Arial"/>
              </a:rPr>
              <a:t>Small screens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with a phone viewport and the keyboard to discover layout and access problems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55778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5A5A5A"/>
                </a:solidFill>
                <a:latin typeface="Arial"/>
              </a:rPr>
              <a:t>Each card reads 'Explore &lt;title&gt; ...': one session each.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Exploratory Testing  ·  Week 3 · Friday   |   12 / 31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Session-Based Test Management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Sessions, sheets, debriefs,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Exploratory Testing  ·  Week 3 · Friday   |   13 / 31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Session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783080"/>
            <a:ext cx="1280160" cy="82296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Setup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92807" y="1783080"/>
            <a:ext cx="6400800" cy="822960"/>
          </a:xfrm>
          <a:prstGeom prst="roundRect">
            <a:avLst>
              <a:gd name="adj" fmla="val 12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FFFFFF"/>
                </a:solidFill>
                <a:latin typeface="Arial"/>
              </a:rPr>
              <a:t>On-charter testing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93608" y="1783080"/>
            <a:ext cx="2011680" cy="82296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Opportunity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305288" y="1783080"/>
            <a:ext cx="1280160" cy="82296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Notes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26974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 i="0">
                <a:solidFill>
                  <a:srgbClr val="5A5A5A"/>
                </a:solidFill>
                <a:latin typeface="Arial"/>
              </a:rPr>
              <a:t>one uninterrupted, timeboxed block on one charter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3291840"/>
            <a:ext cx="1097280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spcAft>
                <a:spcPts val="1000"/>
              </a:spcAft>
              <a:buFont typeface="Arial"/>
              <a:buChar char="•"/>
            </a:pPr>
            <a:r>
              <a:rPr sz="1900" b="0" i="0">
                <a:solidFill>
                  <a:srgbClr val="1A1A1A"/>
                </a:solidFill>
                <a:latin typeface="Arial"/>
              </a:rPr>
              <a:t>Short about 60 minutes, normal about 90, long about 120.</a:t>
            </a:r>
          </a:p>
          <a:p>
            <a:pPr algn="l" marL="274320" indent="-274320">
              <a:spcAft>
                <a:spcPts val="1000"/>
              </a:spcAft>
              <a:buFont typeface="Arial"/>
              <a:buChar char="•"/>
            </a:pPr>
            <a:r>
              <a:rPr sz="1900" b="0" i="0">
                <a:solidFill>
                  <a:srgbClr val="1A1A1A"/>
                </a:solidFill>
                <a:latin typeface="Arial"/>
              </a:rPr>
              <a:t>Opportunity time: something valuable outside the charter.</a:t>
            </a:r>
          </a:p>
          <a:p>
            <a:pPr algn="l" marL="274320" indent="-274320">
              <a:spcAft>
                <a:spcPts val="1000"/>
              </a:spcAft>
              <a:buFont typeface="Arial"/>
              <a:buChar char="•"/>
            </a:pPr>
            <a:r>
              <a:rPr sz="1900" b="0" i="0">
                <a:solidFill>
                  <a:srgbClr val="1A1A1A"/>
                </a:solidFill>
                <a:latin typeface="Arial"/>
              </a:rPr>
              <a:t>Too much opportunity time? Write a new charter instead.</a:t>
            </a:r>
          </a:p>
          <a:p>
            <a:pPr algn="l" marL="274320" indent="-274320">
              <a:spcAft>
                <a:spcPts val="1000"/>
              </a:spcAft>
              <a:buFont typeface="Arial"/>
              <a:buChar char="•"/>
            </a:pPr>
            <a:r>
              <a:rPr sz="1900" b="0" i="0">
                <a:solidFill>
                  <a:srgbClr val="1A1A1A"/>
                </a:solidFill>
                <a:latin typeface="Arial"/>
              </a:rPr>
              <a:t>No email, no chat: interruptions break the mental model.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Exploratory Testing  ·  Week 3 · Friday   |   14 / 31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Inside a Session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783080"/>
            <a:ext cx="2400300" cy="77724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Pick a charter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058668" y="2171700"/>
            <a:ext cx="365760" cy="0"/>
          </a:xfrm>
          <a:prstGeom prst="line">
            <a:avLst/>
          </a:prstGeom>
          <a:ln w="2857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3470148" y="1783080"/>
            <a:ext cx="2400300" cy="77724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Timebox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16168" y="2171700"/>
            <a:ext cx="365760" cy="0"/>
          </a:xfrm>
          <a:prstGeom prst="line">
            <a:avLst/>
          </a:prstGeom>
          <a:ln w="2857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6327648" y="1783080"/>
            <a:ext cx="2400300" cy="77724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Try an idea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773668" y="2171700"/>
            <a:ext cx="365760" cy="0"/>
          </a:xfrm>
          <a:prstGeom prst="line">
            <a:avLst/>
          </a:prstGeom>
          <a:ln w="2857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9185148" y="1783080"/>
            <a:ext cx="2400300" cy="77724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Surprise?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85148" y="3108960"/>
            <a:ext cx="2400300" cy="777240"/>
          </a:xfrm>
          <a:prstGeom prst="roundRect">
            <a:avLst>
              <a:gd name="adj" fmla="val 12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Note it: bug, question, risk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27648" y="3108960"/>
            <a:ext cx="2400300" cy="77724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Next idea by heuristic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70148" y="3108960"/>
            <a:ext cx="2400300" cy="77724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Time left?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" y="3108960"/>
            <a:ext cx="2400300" cy="77724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Close the sheet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0385298" y="2560320"/>
            <a:ext cx="0" cy="502920"/>
          </a:xfrm>
          <a:prstGeom prst="line">
            <a:avLst/>
          </a:prstGeom>
          <a:ln w="2540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431018" y="26060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E7D32"/>
                </a:solidFill>
                <a:latin typeface="Arial"/>
              </a:rPr>
              <a:t>yes</a:t>
            </a:r>
          </a:p>
        </p:txBody>
      </p:sp>
      <p:cxnSp>
        <p:nvCxnSpPr>
          <p:cNvPr id="17" name="Connector 16"/>
          <p:cNvCxnSpPr/>
          <p:nvPr/>
        </p:nvCxnSpPr>
        <p:spPr>
          <a:xfrm flipH="1">
            <a:off x="8773668" y="3493008"/>
            <a:ext cx="365760" cy="0"/>
          </a:xfrm>
          <a:prstGeom prst="line">
            <a:avLst/>
          </a:prstGeom>
          <a:ln w="2540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5916168" y="3493008"/>
            <a:ext cx="365760" cy="0"/>
          </a:xfrm>
          <a:prstGeom prst="line">
            <a:avLst/>
          </a:prstGeom>
          <a:ln w="2540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3058668" y="3493008"/>
            <a:ext cx="365760" cy="0"/>
          </a:xfrm>
          <a:prstGeom prst="line">
            <a:avLst/>
          </a:prstGeom>
          <a:ln w="2540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4670298" y="2834640"/>
            <a:ext cx="0" cy="274320"/>
          </a:xfrm>
          <a:prstGeom prst="line">
            <a:avLst/>
          </a:prstGeom>
          <a:ln w="25400">
            <a:solidFill>
              <a:srgbClr val="2E7D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670298" y="2834640"/>
            <a:ext cx="1977390" cy="0"/>
          </a:xfrm>
          <a:prstGeom prst="line">
            <a:avLst/>
          </a:prstGeom>
          <a:ln w="25400">
            <a:solidFill>
              <a:srgbClr val="2E7D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6647688" y="2606040"/>
            <a:ext cx="0" cy="228600"/>
          </a:xfrm>
          <a:prstGeom prst="line">
            <a:avLst/>
          </a:prstGeom>
          <a:ln w="25400">
            <a:solidFill>
              <a:srgbClr val="2E7D3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4761738" y="2578608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E7D32"/>
                </a:solidFill>
                <a:latin typeface="Arial"/>
              </a:rPr>
              <a:t>yes: loop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2648" y="4892040"/>
            <a:ext cx="5257800" cy="731520"/>
          </a:xfrm>
          <a:prstGeom prst="roundRect">
            <a:avLst>
              <a:gd name="adj" fmla="val 12000"/>
            </a:avLst>
          </a:prstGeom>
          <a:solidFill>
            <a:srgbClr val="EDE6F5"/>
          </a:solidFill>
          <a:ln w="15875">
            <a:solidFill>
              <a:srgbClr val="5B2C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Debrief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916168" y="5257800"/>
            <a:ext cx="365760" cy="0"/>
          </a:xfrm>
          <a:prstGeom prst="line">
            <a:avLst/>
          </a:prstGeom>
          <a:ln w="2857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6327648" y="4892040"/>
            <a:ext cx="5257800" cy="73152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Follow-ups: bugs, charters, regression candidates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812798" y="3886200"/>
            <a:ext cx="0" cy="960120"/>
          </a:xfrm>
          <a:prstGeom prst="line">
            <a:avLst/>
          </a:prstGeom>
          <a:ln w="2540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Exploratory Testing  ·  Week 3 · Friday   |   15 / 31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Session Sheet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737360"/>
            <a:ext cx="2571750" cy="155448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1F4E79"/>
                </a:solidFill>
                <a:latin typeface="Arial"/>
              </a:rPr>
              <a:t>Charter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The mission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12998" y="1737360"/>
            <a:ext cx="2571750" cy="155448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330066"/>
                </a:solidFill>
                <a:latin typeface="Arial"/>
              </a:rPr>
              <a:t>Tester, date, duration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Who, when, how long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3348" y="1737360"/>
            <a:ext cx="2571750" cy="155448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330066"/>
                </a:solidFill>
                <a:latin typeface="Arial"/>
              </a:rPr>
              <a:t>Time split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On-charter, opportunity, setup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013698" y="1737360"/>
            <a:ext cx="2571750" cy="155448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2E7D32"/>
                </a:solidFill>
                <a:latin typeface="Arial"/>
              </a:rPr>
              <a:t>Test notes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Time-stamped: tried, saw, next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" y="3520439"/>
            <a:ext cx="2571750" cy="1554480"/>
          </a:xfrm>
          <a:prstGeom prst="roundRect">
            <a:avLst>
              <a:gd name="adj" fmla="val 12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C00000"/>
                </a:solidFill>
                <a:latin typeface="Arial"/>
              </a:rPr>
              <a:t>Bugs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With short reproduction steps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12998" y="3520439"/>
            <a:ext cx="2571750" cy="155448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C55A11"/>
                </a:solidFill>
                <a:latin typeface="Arial"/>
              </a:rPr>
              <a:t>Issues and questions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Unclear rules, blocked work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3348" y="3520439"/>
            <a:ext cx="2571750" cy="155448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2E7D32"/>
                </a:solidFill>
                <a:latin typeface="Arial"/>
              </a:rPr>
              <a:t>Ideas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Follow-up charters, automation candidates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13698" y="3520439"/>
            <a:ext cx="2571750" cy="1554480"/>
          </a:xfrm>
          <a:prstGeom prst="roundRect">
            <a:avLst>
              <a:gd name="adj" fmla="val 12000"/>
            </a:avLst>
          </a:prstGeom>
          <a:solidFill>
            <a:srgbClr val="EDE6F5"/>
          </a:solidFill>
          <a:ln w="15875">
            <a:solidFill>
              <a:srgbClr val="5B2C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5B2C83"/>
                </a:solidFill>
                <a:latin typeface="Arial"/>
              </a:rPr>
              <a:t>Debrief notes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Outcomes of the review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525780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330066"/>
                </a:solidFill>
                <a:latin typeface="Arial"/>
              </a:rPr>
              <a:t>Tag each note: BUG, Q, IDEA, RISK.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Exploratory Testing  ·  Week 3 · Friday   |   16 / 31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Debrief: PROOF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3</a:t>
            </a:r>
          </a:p>
        </p:txBody>
      </p:sp>
      <p:sp>
        <p:nvSpPr>
          <p:cNvPr id="4" name="Oval 3"/>
          <p:cNvSpPr/>
          <p:nvPr/>
        </p:nvSpPr>
        <p:spPr>
          <a:xfrm>
            <a:off x="612648" y="1691640"/>
            <a:ext cx="685800" cy="685800"/>
          </a:xfrm>
          <a:prstGeom prst="ellipse">
            <a:avLst/>
          </a:prstGeom>
          <a:solidFill>
            <a:srgbClr val="5B2C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FFFFFF"/>
                </a:solidFill>
                <a:latin typeface="Arial"/>
              </a:rPr>
              <a:t>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481328" y="1691640"/>
            <a:ext cx="2377440" cy="685800"/>
          </a:xfrm>
          <a:prstGeom prst="roundRect">
            <a:avLst>
              <a:gd name="adj" fmla="val 12000"/>
            </a:avLst>
          </a:prstGeom>
          <a:solidFill>
            <a:srgbClr val="EDE6F5"/>
          </a:solidFill>
          <a:ln w="15875">
            <a:solidFill>
              <a:srgbClr val="5B2C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Past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87368" y="1847088"/>
            <a:ext cx="749807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A1A1A"/>
                </a:solidFill>
                <a:latin typeface="Arial"/>
              </a:rPr>
              <a:t>What happened in the session</a:t>
            </a:r>
          </a:p>
        </p:txBody>
      </p:sp>
      <p:sp>
        <p:nvSpPr>
          <p:cNvPr id="7" name="Oval 6"/>
          <p:cNvSpPr/>
          <p:nvPr/>
        </p:nvSpPr>
        <p:spPr>
          <a:xfrm>
            <a:off x="612648" y="2514600"/>
            <a:ext cx="685800" cy="685800"/>
          </a:xfrm>
          <a:prstGeom prst="ellipse">
            <a:avLst/>
          </a:prstGeom>
          <a:solidFill>
            <a:srgbClr val="5B2C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FFFFFF"/>
                </a:solidFill>
                <a:latin typeface="Arial"/>
              </a:rPr>
              <a:t>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81328" y="2514600"/>
            <a:ext cx="2377440" cy="685800"/>
          </a:xfrm>
          <a:prstGeom prst="roundRect">
            <a:avLst>
              <a:gd name="adj" fmla="val 12000"/>
            </a:avLst>
          </a:prstGeom>
          <a:solidFill>
            <a:srgbClr val="EDE6F5"/>
          </a:solidFill>
          <a:ln w="15875">
            <a:solidFill>
              <a:srgbClr val="5B2C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Results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87368" y="2670048"/>
            <a:ext cx="749807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A1A1A"/>
                </a:solidFill>
                <a:latin typeface="Arial"/>
              </a:rPr>
              <a:t>What was found</a:t>
            </a:r>
          </a:p>
        </p:txBody>
      </p:sp>
      <p:sp>
        <p:nvSpPr>
          <p:cNvPr id="10" name="Oval 9"/>
          <p:cNvSpPr/>
          <p:nvPr/>
        </p:nvSpPr>
        <p:spPr>
          <a:xfrm>
            <a:off x="612648" y="3337560"/>
            <a:ext cx="685800" cy="685800"/>
          </a:xfrm>
          <a:prstGeom prst="ellipse">
            <a:avLst/>
          </a:prstGeom>
          <a:solidFill>
            <a:srgbClr val="5B2C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FFFFFF"/>
                </a:solidFill>
                <a:latin typeface="Arial"/>
              </a:rPr>
              <a:t>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81328" y="3337560"/>
            <a:ext cx="2377440" cy="685800"/>
          </a:xfrm>
          <a:prstGeom prst="roundRect">
            <a:avLst>
              <a:gd name="adj" fmla="val 12000"/>
            </a:avLst>
          </a:prstGeom>
          <a:solidFill>
            <a:srgbClr val="EDE6F5"/>
          </a:solidFill>
          <a:ln w="15875">
            <a:solidFill>
              <a:srgbClr val="5B2C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Obstacles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87368" y="3493008"/>
            <a:ext cx="749807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A1A1A"/>
                </a:solidFill>
                <a:latin typeface="Arial"/>
              </a:rPr>
              <a:t>What got in the way</a:t>
            </a:r>
          </a:p>
        </p:txBody>
      </p:sp>
      <p:sp>
        <p:nvSpPr>
          <p:cNvPr id="13" name="Oval 12"/>
          <p:cNvSpPr/>
          <p:nvPr/>
        </p:nvSpPr>
        <p:spPr>
          <a:xfrm>
            <a:off x="612648" y="4160520"/>
            <a:ext cx="685800" cy="685800"/>
          </a:xfrm>
          <a:prstGeom prst="ellipse">
            <a:avLst/>
          </a:prstGeom>
          <a:solidFill>
            <a:srgbClr val="5B2C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FFFFFF"/>
                </a:solidFill>
                <a:latin typeface="Arial"/>
              </a:rPr>
              <a:t>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481328" y="4160520"/>
            <a:ext cx="2377440" cy="685800"/>
          </a:xfrm>
          <a:prstGeom prst="roundRect">
            <a:avLst>
              <a:gd name="adj" fmla="val 12000"/>
            </a:avLst>
          </a:prstGeom>
          <a:solidFill>
            <a:srgbClr val="EDE6F5"/>
          </a:solidFill>
          <a:ln w="15875">
            <a:solidFill>
              <a:srgbClr val="5B2C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Outlook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87368" y="4315968"/>
            <a:ext cx="749807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A1A1A"/>
                </a:solidFill>
                <a:latin typeface="Arial"/>
              </a:rPr>
              <a:t>What still needs doing</a:t>
            </a:r>
          </a:p>
        </p:txBody>
      </p:sp>
      <p:sp>
        <p:nvSpPr>
          <p:cNvPr id="16" name="Oval 15"/>
          <p:cNvSpPr/>
          <p:nvPr/>
        </p:nvSpPr>
        <p:spPr>
          <a:xfrm>
            <a:off x="612648" y="4983480"/>
            <a:ext cx="685800" cy="685800"/>
          </a:xfrm>
          <a:prstGeom prst="ellipse">
            <a:avLst/>
          </a:prstGeom>
          <a:solidFill>
            <a:srgbClr val="5B2C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FFFFFF"/>
                </a:solidFill>
                <a:latin typeface="Arial"/>
              </a:rPr>
              <a:t>F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481328" y="4983480"/>
            <a:ext cx="2377440" cy="685800"/>
          </a:xfrm>
          <a:prstGeom prst="roundRect">
            <a:avLst>
              <a:gd name="adj" fmla="val 12000"/>
            </a:avLst>
          </a:prstGeom>
          <a:solidFill>
            <a:srgbClr val="EDE6F5"/>
          </a:solidFill>
          <a:ln w="15875">
            <a:solidFill>
              <a:srgbClr val="5B2C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Feelings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87368" y="5138928"/>
            <a:ext cx="749807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A1A1A"/>
                </a:solidFill>
                <a:latin typeface="Arial"/>
              </a:rPr>
              <a:t>How the tester feels about the area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Exploratory Testing  ·  Week 3 · Friday   |   17 / 31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Metrics and Their Limits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737360"/>
            <a:ext cx="5303520" cy="365760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901952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1F4E79"/>
                </a:solidFill>
                <a:latin typeface="Arial"/>
              </a:rPr>
              <a:t>What teams count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2468880"/>
            <a:ext cx="4846320" cy="2788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spcAft>
                <a:spcPts val="8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Sessions per feature or week</a:t>
            </a:r>
          </a:p>
          <a:p>
            <a:pPr algn="l" marL="274320" indent="-274320">
              <a:spcAft>
                <a:spcPts val="8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Bugs per session, by severity</a:t>
            </a:r>
          </a:p>
          <a:p>
            <a:pPr algn="l" marL="274320" indent="-274320">
              <a:spcAft>
                <a:spcPts val="8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Charters done vs remaining</a:t>
            </a:r>
          </a:p>
          <a:p>
            <a:pPr algn="l" marL="274320" indent="-274320">
              <a:spcAft>
                <a:spcPts val="8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On-charter vs opportunity time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81928" y="1737360"/>
            <a:ext cx="5303520" cy="365760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10528" y="1901952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C55A11"/>
                </a:solidFill>
                <a:latin typeface="Arial"/>
              </a:rPr>
              <a:t>Honest limits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10528" y="2468880"/>
            <a:ext cx="4846320" cy="2788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spcAft>
                <a:spcPts val="8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A session is not a standard unit</a:t>
            </a:r>
          </a:p>
          <a:p>
            <a:pPr algn="l" marL="274320" indent="-274320">
              <a:spcAft>
                <a:spcPts val="8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Zero bugs: healthy area or shallow session?</a:t>
            </a:r>
          </a:p>
          <a:p>
            <a:pPr algn="l" marL="274320" indent="-274320">
              <a:spcAft>
                <a:spcPts val="8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Charter coverage is not product coverage</a:t>
            </a:r>
          </a:p>
          <a:p>
            <a:pPr algn="l" marL="274320" indent="-274320">
              <a:spcAft>
                <a:spcPts val="8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Rewarded counts get gamed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55778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330066"/>
                </a:solidFill>
                <a:latin typeface="Arial"/>
              </a:rPr>
              <a:t>Use metrics to start conversations, not to rank testers.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Exploratory Testing  ·  Week 3 · Friday   |   18 / 31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Heuristics and Oracles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Ideas when you are stuck; signs that something is wrong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Exploratory Testing  ·  Week 3 · Friday   |   19 / 31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SFDIPOT: Where to Look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737360"/>
            <a:ext cx="2651760" cy="685800"/>
          </a:xfrm>
          <a:prstGeom prst="roundRect">
            <a:avLst>
              <a:gd name="adj" fmla="val 12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FFFFFF"/>
                </a:solidFill>
                <a:latin typeface="Arial"/>
              </a:rPr>
              <a:t>S  Structure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" y="2468880"/>
            <a:ext cx="2651760" cy="100584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Pages, components, database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01568" y="1737360"/>
            <a:ext cx="2651760" cy="685800"/>
          </a:xfrm>
          <a:prstGeom prst="roundRect">
            <a:avLst>
              <a:gd name="adj" fmla="val 12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FFFFFF"/>
                </a:solidFill>
                <a:latin typeface="Arial"/>
              </a:rPr>
              <a:t>F  Function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01568" y="2468880"/>
            <a:ext cx="2651760" cy="100584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Register, log in, validate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0488" y="1737360"/>
            <a:ext cx="2651760" cy="685800"/>
          </a:xfrm>
          <a:prstGeom prst="roundRect">
            <a:avLst>
              <a:gd name="adj" fmla="val 12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FFFFFF"/>
                </a:solidFill>
                <a:latin typeface="Arial"/>
              </a:rPr>
              <a:t>D  Data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0488" y="2468880"/>
            <a:ext cx="2651760" cy="100584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Apostrophes, plus signs, long text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79407" y="1737360"/>
            <a:ext cx="2651760" cy="685800"/>
          </a:xfrm>
          <a:prstGeom prst="roundRect">
            <a:avLst>
              <a:gd name="adj" fmla="val 12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FFFFFF"/>
                </a:solidFill>
                <a:latin typeface="Arial"/>
              </a:rPr>
              <a:t>I  Interfaces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79407" y="2468880"/>
            <a:ext cx="2651760" cy="100584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Forms, messages, email link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" y="3749039"/>
            <a:ext cx="2651760" cy="685800"/>
          </a:xfrm>
          <a:prstGeom prst="roundRect">
            <a:avLst>
              <a:gd name="adj" fmla="val 12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FFFFFF"/>
                </a:solidFill>
                <a:latin typeface="Arial"/>
              </a:rPr>
              <a:t>P  Platform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" y="4480559"/>
            <a:ext cx="2651760" cy="100584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Browsers, phones, network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01568" y="3749039"/>
            <a:ext cx="2651760" cy="685800"/>
          </a:xfrm>
          <a:prstGeom prst="roundRect">
            <a:avLst>
              <a:gd name="adj" fmla="val 12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FFFFFF"/>
                </a:solidFill>
                <a:latin typeface="Arial"/>
              </a:rPr>
              <a:t>O  Operations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01568" y="4480559"/>
            <a:ext cx="2651760" cy="100584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Real users, unusual use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0488" y="3749039"/>
            <a:ext cx="2651760" cy="685800"/>
          </a:xfrm>
          <a:prstGeom prst="roundRect">
            <a:avLst>
              <a:gd name="adj" fmla="val 12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FFFFFF"/>
                </a:solidFill>
                <a:latin typeface="Arial"/>
              </a:rPr>
              <a:t>T  Time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4480559"/>
            <a:ext cx="2651760" cy="100584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Expiry, double clicks, timeouts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Exploratory Testing  ·  Week 3 · Friday   |   20 / 31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Quick Idea Generators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737360"/>
            <a:ext cx="3505200" cy="182880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2E7D32"/>
                </a:solidFill>
                <a:latin typeface="Arial"/>
              </a:rPr>
              <a:t>CRUD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Create, read, update, delete: can a deleted email register again?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6448" y="1737360"/>
            <a:ext cx="3505200" cy="182880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2E7D32"/>
                </a:solidFill>
                <a:latin typeface="Arial"/>
              </a:rPr>
              <a:t>Goldilocks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Too small, too big, just right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80248" y="1737360"/>
            <a:ext cx="3505200" cy="182880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2E7D32"/>
                </a:solidFill>
                <a:latin typeface="Arial"/>
              </a:rPr>
              <a:t>Zero, one, many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No items, one item, many items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" y="3794760"/>
            <a:ext cx="3505200" cy="182880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2E7D32"/>
                </a:solidFill>
                <a:latin typeface="Arial"/>
              </a:rPr>
              <a:t>Some, none, all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Some fields filled, none, all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6448" y="3794760"/>
            <a:ext cx="3505200" cy="182880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2E7D32"/>
                </a:solidFill>
                <a:latin typeface="Arial"/>
              </a:rPr>
              <a:t>Follow the money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Where value or critical data flows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80248" y="3794760"/>
            <a:ext cx="3505200" cy="182880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2E7D32"/>
                </a:solidFill>
                <a:latin typeface="Arial"/>
              </a:rPr>
              <a:t>Interrupt it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Back, refresh, two tabs, network off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Exploratory Testing  ·  Week 3 · Friday   |   21 / 31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Tours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737360"/>
            <a:ext cx="3505200" cy="1691640"/>
          </a:xfrm>
          <a:prstGeom prst="roundRect">
            <a:avLst>
              <a:gd name="adj" fmla="val 12000"/>
            </a:avLst>
          </a:prstGeom>
          <a:solidFill>
            <a:srgbClr val="EDE6F5"/>
          </a:solidFill>
          <a:ln w="15875">
            <a:solidFill>
              <a:srgbClr val="5B2C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5B2C83"/>
                </a:solidFill>
                <a:latin typeface="Arial"/>
              </a:rPr>
              <a:t>Feature tour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Visit every control once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6448" y="1737360"/>
            <a:ext cx="3505200" cy="1691640"/>
          </a:xfrm>
          <a:prstGeom prst="roundRect">
            <a:avLst>
              <a:gd name="adj" fmla="val 12000"/>
            </a:avLst>
          </a:prstGeom>
          <a:solidFill>
            <a:srgbClr val="EDE6F5"/>
          </a:solidFill>
          <a:ln w="15875">
            <a:solidFill>
              <a:srgbClr val="5B2C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5B2C83"/>
                </a:solidFill>
                <a:latin typeface="Arial"/>
              </a:rPr>
              <a:t>Money tour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The paths that bring the value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80248" y="1737360"/>
            <a:ext cx="3505200" cy="1691640"/>
          </a:xfrm>
          <a:prstGeom prst="roundRect">
            <a:avLst>
              <a:gd name="adj" fmla="val 12000"/>
            </a:avLst>
          </a:prstGeom>
          <a:solidFill>
            <a:srgbClr val="EDE6F5"/>
          </a:solidFill>
          <a:ln w="15875">
            <a:solidFill>
              <a:srgbClr val="5B2C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5B2C83"/>
                </a:solidFill>
                <a:latin typeface="Arial"/>
              </a:rPr>
              <a:t>Landmark tour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Key features in different orders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" y="3657600"/>
            <a:ext cx="3505200" cy="1691640"/>
          </a:xfrm>
          <a:prstGeom prst="roundRect">
            <a:avLst>
              <a:gd name="adj" fmla="val 12000"/>
            </a:avLst>
          </a:prstGeom>
          <a:solidFill>
            <a:srgbClr val="EDE6F5"/>
          </a:solidFill>
          <a:ln w="15875">
            <a:solidFill>
              <a:srgbClr val="5B2C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5B2C83"/>
                </a:solidFill>
                <a:latin typeface="Arial"/>
              </a:rPr>
              <a:t>Back-alley tour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Rarely used corners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6448" y="3657600"/>
            <a:ext cx="3505200" cy="1691640"/>
          </a:xfrm>
          <a:prstGeom prst="roundRect">
            <a:avLst>
              <a:gd name="adj" fmla="val 12000"/>
            </a:avLst>
          </a:prstGeom>
          <a:solidFill>
            <a:srgbClr val="EDE6F5"/>
          </a:solidFill>
          <a:ln w="15875">
            <a:solidFill>
              <a:srgbClr val="5B2C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5B2C83"/>
                </a:solidFill>
                <a:latin typeface="Arial"/>
              </a:rPr>
              <a:t>All-nighter tour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Keep it running for a long time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80248" y="3657600"/>
            <a:ext cx="3505200" cy="1691640"/>
          </a:xfrm>
          <a:prstGeom prst="roundRect">
            <a:avLst>
              <a:gd name="adj" fmla="val 12000"/>
            </a:avLst>
          </a:prstGeom>
          <a:solidFill>
            <a:srgbClr val="EDE6F5"/>
          </a:solidFill>
          <a:ln w="15875">
            <a:solidFill>
              <a:srgbClr val="5B2C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5B2C83"/>
                </a:solidFill>
                <a:latin typeface="Arial"/>
              </a:rPr>
              <a:t>Saboteur tour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Make its operations fail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54864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330066"/>
                </a:solidFill>
                <a:latin typeface="Arial"/>
              </a:rPr>
              <a:t>A theme gives a session a shape, like a sightseeing tour.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Exploratory Testing  ·  Week 3 · Friday   |   22 / 31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HICCUPPS: Is This a Problem?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737360"/>
            <a:ext cx="2651760" cy="640080"/>
          </a:xfrm>
          <a:prstGeom prst="roundRect">
            <a:avLst>
              <a:gd name="adj" fmla="val 12000"/>
            </a:avLst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FFFFFF"/>
                </a:solidFill>
                <a:latin typeface="Arial"/>
              </a:rPr>
              <a:t>H  History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" y="2423160"/>
            <a:ext cx="2651760" cy="73152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Same as before?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01568" y="1737360"/>
            <a:ext cx="2651760" cy="640080"/>
          </a:xfrm>
          <a:prstGeom prst="roundRect">
            <a:avLst>
              <a:gd name="adj" fmla="val 12000"/>
            </a:avLst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FFFFFF"/>
                </a:solidFill>
                <a:latin typeface="Arial"/>
              </a:rPr>
              <a:t>I  Image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01568" y="2423160"/>
            <a:ext cx="2651760" cy="73152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Fits the brand?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0488" y="1737360"/>
            <a:ext cx="2651760" cy="640080"/>
          </a:xfrm>
          <a:prstGeom prst="roundRect">
            <a:avLst>
              <a:gd name="adj" fmla="val 12000"/>
            </a:avLst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FFFFFF"/>
                </a:solidFill>
                <a:latin typeface="Arial"/>
              </a:rPr>
              <a:t>C  Comparable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0488" y="2423160"/>
            <a:ext cx="2651760" cy="73152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Like similar products?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79407" y="1737360"/>
            <a:ext cx="2651760" cy="640080"/>
          </a:xfrm>
          <a:prstGeom prst="roundRect">
            <a:avLst>
              <a:gd name="adj" fmla="val 12000"/>
            </a:avLst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FFFFFF"/>
                </a:solidFill>
                <a:latin typeface="Arial"/>
              </a:rPr>
              <a:t>C  Claims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79407" y="2423160"/>
            <a:ext cx="2651760" cy="73152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Matches docs and help?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" y="3337560"/>
            <a:ext cx="2651760" cy="640080"/>
          </a:xfrm>
          <a:prstGeom prst="roundRect">
            <a:avLst>
              <a:gd name="adj" fmla="val 12000"/>
            </a:avLst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FFFFFF"/>
                </a:solidFill>
                <a:latin typeface="Arial"/>
              </a:rPr>
              <a:t>U  User expectations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" y="4023360"/>
            <a:ext cx="2651760" cy="73152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What users expect?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01568" y="3337560"/>
            <a:ext cx="2651760" cy="640080"/>
          </a:xfrm>
          <a:prstGeom prst="roundRect">
            <a:avLst>
              <a:gd name="adj" fmla="val 12000"/>
            </a:avLst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FFFFFF"/>
                </a:solidFill>
                <a:latin typeface="Arial"/>
              </a:rPr>
              <a:t>P  Product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01568" y="4023360"/>
            <a:ext cx="2651760" cy="73152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Consistent with itself?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0488" y="3337560"/>
            <a:ext cx="2651760" cy="640080"/>
          </a:xfrm>
          <a:prstGeom prst="roundRect">
            <a:avLst>
              <a:gd name="adj" fmla="val 12000"/>
            </a:avLst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FFFFFF"/>
                </a:solidFill>
                <a:latin typeface="Arial"/>
              </a:rPr>
              <a:t>P  Purpose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4023360"/>
            <a:ext cx="2651760" cy="73152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Does what it is for?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79407" y="3337560"/>
            <a:ext cx="2651760" cy="640080"/>
          </a:xfrm>
          <a:prstGeom prst="roundRect">
            <a:avLst>
              <a:gd name="adj" fmla="val 12000"/>
            </a:avLst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FFFFFF"/>
                </a:solidFill>
                <a:latin typeface="Arial"/>
              </a:rPr>
              <a:t>S  Statutes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79407" y="4023360"/>
            <a:ext cx="2651760" cy="73152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Laws and standards?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" y="51206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330066"/>
                </a:solidFill>
                <a:latin typeface="Arial"/>
              </a:rPr>
              <a:t>If you can name what it is inconsistent with, you can argue it is a problem.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Exploratory Testing  ·  Week 3 · Friday   |   23 / 31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From Findings to Value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Notes, follow-ups and reporting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Exploratory Testing  ·  Week 3 · Friday   |   24 / 31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Notes and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737360"/>
            <a:ext cx="6675120" cy="274320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1847088"/>
            <a:ext cx="6309359" cy="2542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1A1A1A"/>
                </a:solidFill>
                <a:latin typeface="Consolas"/>
              </a:rPr>
              <a:t>10:12  Happy path registers; welcome shown</a:t>
            </a:r>
          </a:p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1A1A1A"/>
                </a:solidFill>
                <a:latin typeface="Consolas"/>
              </a:rPr>
              <a:t>10:25  8 letters only: rejected, as specified</a:t>
            </a:r>
          </a:p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1A1A1A"/>
                </a:solidFill>
                <a:latin typeface="Consolas"/>
              </a:rPr>
              <a:t>10:31  BUG: 21 characters accepted (max 20)</a:t>
            </a:r>
          </a:p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1A1A1A"/>
                </a:solidFill>
                <a:latin typeface="Consolas"/>
              </a:rPr>
              <a:t>10:44  Q: should names of only spaces be valid?</a:t>
            </a:r>
          </a:p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1A1A1A"/>
                </a:solidFill>
                <a:latin typeface="Consolas"/>
              </a:rPr>
              <a:t>10:52  RISK: same email in capitals = 2 accounts</a:t>
            </a:r>
          </a:p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1A1A1A"/>
                </a:solidFill>
                <a:latin typeface="Consolas"/>
              </a:rPr>
              <a:t>10:56  IDEA: retry under a slow network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89520" y="1737360"/>
            <a:ext cx="3995928" cy="274320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2E7D32"/>
                </a:solidFill>
                <a:latin typeface="Arial"/>
              </a:rPr>
              <a:t>Evidence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Screenshots and recordings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Exact data used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Browser console and network tab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Mind map of areas covered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4754880"/>
            <a:ext cx="109728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spcAft>
                <a:spcPts val="1000"/>
              </a:spcAft>
              <a:buFont typeface="Arial"/>
              <a:buChar char="•"/>
            </a:pPr>
            <a:r>
              <a:rPr sz="1800" b="0" i="0">
                <a:solidFill>
                  <a:srgbClr val="1A1A1A"/>
                </a:solidFill>
                <a:latin typeface="Arial"/>
              </a:rPr>
              <a:t>Write as you go: memory fades within minutes.</a:t>
            </a:r>
          </a:p>
          <a:p>
            <a:pPr algn="l" marL="274320" indent="-274320">
              <a:spcAft>
                <a:spcPts val="1000"/>
              </a:spcAft>
              <a:buFont typeface="Arial"/>
              <a:buChar char="•"/>
            </a:pPr>
            <a:r>
              <a:rPr sz="1800" b="0" i="0">
                <a:solidFill>
                  <a:srgbClr val="1A1A1A"/>
                </a:solidFill>
                <a:latin typeface="Arial"/>
              </a:rPr>
              <a:t>Reproduce before reporting: the shortest reliable steps.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Exploratory Testing  ·  Week 3 · Friday   |   25 / 31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Turning Findings into Value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2651760"/>
            <a:ext cx="2377440" cy="1280160"/>
          </a:xfrm>
          <a:prstGeom prst="roundRect">
            <a:avLst>
              <a:gd name="adj" fmla="val 12000"/>
            </a:avLst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FFFFFF"/>
                </a:solidFill>
                <a:latin typeface="Arial"/>
              </a:rPr>
              <a:t>Session findings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931920" y="1691640"/>
            <a:ext cx="7653527" cy="896112"/>
          </a:xfrm>
          <a:prstGeom prst="roundRect">
            <a:avLst>
              <a:gd name="adj" fmla="val 12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Bug reports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Tuesday's practice; reproduce, isolate</a:t>
            </a:r>
          </a:p>
        </p:txBody>
      </p:sp>
      <p:cxnSp>
        <p:nvCxnSpPr>
          <p:cNvPr id="6" name="Connector 5"/>
          <p:cNvCxnSpPr/>
          <p:nvPr/>
        </p:nvCxnSpPr>
        <p:spPr>
          <a:xfrm flipV="1">
            <a:off x="3035808" y="2139696"/>
            <a:ext cx="850392" cy="1152144"/>
          </a:xfrm>
          <a:prstGeom prst="line">
            <a:avLst/>
          </a:prstGeom>
          <a:ln w="2222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3931920" y="2770632"/>
            <a:ext cx="7653527" cy="896112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Questions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To Rohan or Farhan; may become requirements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3035808" y="3218688"/>
            <a:ext cx="850392" cy="73152"/>
          </a:xfrm>
          <a:prstGeom prst="line">
            <a:avLst/>
          </a:prstGeom>
          <a:ln w="2222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931920" y="3849624"/>
            <a:ext cx="7653527" cy="896112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Regression candidates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Fixed bugs that must never return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035808" y="3291840"/>
            <a:ext cx="850392" cy="1005840"/>
          </a:xfrm>
          <a:prstGeom prst="line">
            <a:avLst/>
          </a:prstGeom>
          <a:ln w="2222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931920" y="4928616"/>
            <a:ext cx="7653527" cy="896112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New charters and test ideas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Fresh paths against the pesticide paradox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035808" y="3291840"/>
            <a:ext cx="850392" cy="2084832"/>
          </a:xfrm>
          <a:prstGeom prst="line">
            <a:avLst/>
          </a:prstGeom>
          <a:ln w="2222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Exploratory Testing  ·  Week 3 · Friday   |   26 / 31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 the Sprint and Beside the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783080"/>
            <a:ext cx="2434590" cy="86868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Story built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092958" y="2217420"/>
            <a:ext cx="320040" cy="0"/>
          </a:xfrm>
          <a:prstGeom prst="line">
            <a:avLst/>
          </a:prstGeom>
          <a:ln w="2857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3458718" y="1783080"/>
            <a:ext cx="2434590" cy="86868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Automated checks green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39028" y="2217420"/>
            <a:ext cx="320040" cy="0"/>
          </a:xfrm>
          <a:prstGeom prst="line">
            <a:avLst/>
          </a:prstGeom>
          <a:ln w="2857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6304788" y="1783080"/>
            <a:ext cx="2434590" cy="86868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Short exploratory session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785098" y="2217420"/>
            <a:ext cx="320040" cy="0"/>
          </a:xfrm>
          <a:prstGeom prst="line">
            <a:avLst/>
          </a:prstGeom>
          <a:ln w="2857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9150858" y="1783080"/>
            <a:ext cx="2434590" cy="868680"/>
          </a:xfrm>
          <a:prstGeom prst="roundRect">
            <a:avLst>
              <a:gd name="adj" fmla="val 12000"/>
            </a:avLst>
          </a:prstGeom>
          <a:solidFill>
            <a:srgbClr val="EDE6F5"/>
          </a:solidFill>
          <a:ln w="15875">
            <a:solidFill>
              <a:srgbClr val="5B2C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Done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3017520"/>
            <a:ext cx="10972800" cy="2834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spcAft>
                <a:spcPts val="1000"/>
              </a:spcAft>
              <a:buFont typeface="Arial"/>
              <a:buChar char="•"/>
            </a:pPr>
            <a:r>
              <a:rPr sz="1800" b="0" i="0">
                <a:solidFill>
                  <a:srgbClr val="1A1A1A"/>
                </a:solidFill>
                <a:latin typeface="Arial"/>
              </a:rPr>
              <a:t>End of a story: find what the acceptance criteria missed.</a:t>
            </a:r>
          </a:p>
          <a:p>
            <a:pPr algn="l" marL="274320" indent="-274320">
              <a:spcAft>
                <a:spcPts val="1000"/>
              </a:spcAft>
              <a:buFont typeface="Arial"/>
              <a:buChar char="•"/>
            </a:pPr>
            <a:r>
              <a:rPr sz="1800" b="0" i="0">
                <a:solidFill>
                  <a:srgbClr val="1A1A1A"/>
                </a:solidFill>
                <a:latin typeface="Arial"/>
              </a:rPr>
              <a:t>Sprint level: broader charters across stories.</a:t>
            </a:r>
          </a:p>
          <a:p>
            <a:pPr algn="l" marL="274320" indent="-274320">
              <a:spcAft>
                <a:spcPts val="1000"/>
              </a:spcAft>
              <a:buFont typeface="Arial"/>
              <a:buChar char="•"/>
            </a:pPr>
            <a:r>
              <a:rPr sz="1800" b="0" i="0">
                <a:solidFill>
                  <a:srgbClr val="1A1A1A"/>
                </a:solidFill>
                <a:latin typeface="Arial"/>
              </a:rPr>
              <a:t>Pipelines automate checks; exploration sits beside them, not inside.</a:t>
            </a:r>
          </a:p>
          <a:p>
            <a:pPr algn="l" marL="274320" indent="-274320">
              <a:spcAft>
                <a:spcPts val="1000"/>
              </a:spcAft>
              <a:buFont typeface="Arial"/>
              <a:buChar char="•"/>
            </a:pPr>
            <a:r>
              <a:rPr sz="1800" b="0" i="0">
                <a:solidFill>
                  <a:srgbClr val="1A1A1A"/>
                </a:solidFill>
                <a:latin typeface="Arial"/>
              </a:rPr>
              <a:t>Pairs, mobs and bug bashes (Thursday) are exploratory sessions in company.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Exploratory Testing  ·  Week 3 · Friday   |   27 / 31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Reporting the Story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783080"/>
            <a:ext cx="10972800" cy="1325880"/>
          </a:xfrm>
          <a:prstGeom prst="roundRect">
            <a:avLst>
              <a:gd name="adj" fmla="val 12000"/>
            </a:avLst>
          </a:prstGeom>
          <a:solidFill>
            <a:srgbClr val="F5F5C2"/>
          </a:solidFill>
          <a:ln w="15875">
            <a:solidFill>
              <a:srgbClr val="F5F5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892807"/>
            <a:ext cx="105156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5C8A8A"/>
                </a:solidFill>
                <a:latin typeface="Arial"/>
              </a:rPr>
              <a:t>SAMPLE STATUS LINE</a:t>
            </a:r>
          </a:p>
          <a:p>
            <a:pPr algn="l">
              <a:spcAft>
                <a:spcPts val="3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Registration: 3 of 4 planned sessions done; 9 bugs (2 high, both duplicate accounts);</a:t>
            </a:r>
          </a:p>
          <a:p>
            <a:pPr algn="l">
              <a:spcAft>
                <a:spcPts val="3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3 open questions on password rules; not yet explored: phone layout, slow network.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" y="3429000"/>
            <a:ext cx="3505200" cy="146304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2E7D32"/>
                </a:solidFill>
                <a:latin typeface="Arial"/>
              </a:rPr>
              <a:t>Covered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Charters, sessions, areas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6448" y="3429000"/>
            <a:ext cx="3505200" cy="1463040"/>
          </a:xfrm>
          <a:prstGeom prst="roundRect">
            <a:avLst>
              <a:gd name="adj" fmla="val 12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C00000"/>
                </a:solidFill>
                <a:latin typeface="Arial"/>
              </a:rPr>
              <a:t>Found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Bugs, risks, questions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80248" y="3429000"/>
            <a:ext cx="3505200" cy="146304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C55A11"/>
                </a:solidFill>
                <a:latin typeface="Arial"/>
              </a:rPr>
              <a:t>Not covered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What remains and why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525780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330066"/>
                </a:solidFill>
                <a:latin typeface="Arial"/>
              </a:rPr>
              <a:t>Tell a story of testing, not a bug count.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Exploratory Testing  ·  Week 3 · Friday   |   28 / 31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Mistakes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COMMON MISTAKES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648" y="1600200"/>
          <a:ext cx="10972800" cy="41148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5120640"/>
                <a:gridCol w="5852160"/>
              </a:tblGrid>
              <a:tr h="685800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</a:rPr>
                        <a:t>Mistake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</a:rPr>
                        <a:t>Do instead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330066"/>
                          </a:solidFill>
                          <a:latin typeface="Arial"/>
                        </a:rPr>
                        <a:t>Random clicking with no charter or notes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Charter, timebox, time-stamped notes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330066"/>
                          </a:solidFill>
                          <a:latin typeface="Arial"/>
                        </a:rPr>
                        <a:t>Charter too broad or too narrow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One session, clear focus, room to discover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330066"/>
                          </a:solidFill>
                          <a:latin typeface="Arial"/>
                        </a:rPr>
                        <a:t>Every oddity reported as a bug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Check an oracle; raise a question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330066"/>
                          </a:solidFill>
                          <a:latin typeface="Arial"/>
                        </a:rPr>
                        <a:t>Hiding what was not tested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Report gaps as clearly as findings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330066"/>
                          </a:solidFill>
                          <a:latin typeface="Arial"/>
                        </a:rPr>
                        <a:t>Exploring instead of scripted tests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Use both; automate the repeatable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Exploratory Testing  ·  Week 3 · Friday   |   29 / 31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SUMMARY</a:t>
            </a:r>
          </a:p>
        </p:txBody>
      </p:sp>
      <p:sp>
        <p:nvSpPr>
          <p:cNvPr id="4" name="Oval 3"/>
          <p:cNvSpPr/>
          <p:nvPr/>
        </p:nvSpPr>
        <p:spPr>
          <a:xfrm>
            <a:off x="612648" y="160020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8448" y="1655064"/>
            <a:ext cx="10287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Exploratory testing is learning, design and execution at once.</a:t>
            </a:r>
          </a:p>
        </p:txBody>
      </p:sp>
      <p:sp>
        <p:nvSpPr>
          <p:cNvPr id="6" name="Oval 5"/>
          <p:cNvSpPr/>
          <p:nvPr/>
        </p:nvSpPr>
        <p:spPr>
          <a:xfrm>
            <a:off x="612648" y="233172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8448" y="2386584"/>
            <a:ext cx="10287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A charter sets the mission: Explore / With / To discover.</a:t>
            </a:r>
          </a:p>
        </p:txBody>
      </p:sp>
      <p:sp>
        <p:nvSpPr>
          <p:cNvPr id="8" name="Oval 7"/>
          <p:cNvSpPr/>
          <p:nvPr/>
        </p:nvSpPr>
        <p:spPr>
          <a:xfrm>
            <a:off x="612648" y="306324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8448" y="3118104"/>
            <a:ext cx="10287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Sessions are timeboxed, noted on a sheet and debriefed (PROOF).</a:t>
            </a:r>
          </a:p>
        </p:txBody>
      </p:sp>
      <p:sp>
        <p:nvSpPr>
          <p:cNvPr id="10" name="Oval 9"/>
          <p:cNvSpPr/>
          <p:nvPr/>
        </p:nvSpPr>
        <p:spPr>
          <a:xfrm>
            <a:off x="612648" y="379476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98448" y="3849624"/>
            <a:ext cx="10287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Heuristics give ideas; HICCUPPS oracles recognise problems.</a:t>
            </a:r>
          </a:p>
        </p:txBody>
      </p:sp>
      <p:sp>
        <p:nvSpPr>
          <p:cNvPr id="12" name="Oval 11"/>
          <p:cNvSpPr/>
          <p:nvPr/>
        </p:nvSpPr>
        <p:spPr>
          <a:xfrm>
            <a:off x="612648" y="452628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8448" y="4581144"/>
            <a:ext cx="10287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Findings become bugs, questions, regression candidates, new charters.</a:t>
            </a:r>
          </a:p>
        </p:txBody>
      </p:sp>
      <p:sp>
        <p:nvSpPr>
          <p:cNvPr id="14" name="Oval 13"/>
          <p:cNvSpPr/>
          <p:nvPr/>
        </p:nvSpPr>
        <p:spPr>
          <a:xfrm>
            <a:off x="612648" y="525780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98448" y="5312664"/>
            <a:ext cx="10287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It complements scripted and automated testing.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Exploratory Testing  ·  Week 3 · Friday   |   30 / 31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Additional Resources</a:t>
            </a:r>
          </a:p>
        </p:txBody>
      </p:sp>
      <p:sp>
        <p:nvSpPr>
          <p:cNvPr id="3" name="Oval 2"/>
          <p:cNvSpPr/>
          <p:nvPr/>
        </p:nvSpPr>
        <p:spPr>
          <a:xfrm>
            <a:off x="609904" y="178308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8544" y="1819656"/>
            <a:ext cx="10423245" cy="4505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 i="0">
                <a:solidFill>
                  <a:srgbClr val="330066"/>
                </a:solidFill>
                <a:latin typeface="Arial"/>
              </a:rPr>
              <a:t>Satisfice (James Bach's site)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330066"/>
                </a:solidFill>
                <a:latin typeface="Courier New"/>
              </a:rPr>
              <a:t>https://www.satisfice.com</a:t>
            </a:r>
          </a:p>
        </p:txBody>
      </p:sp>
      <p:sp>
        <p:nvSpPr>
          <p:cNvPr id="5" name="Oval 4"/>
          <p:cNvSpPr/>
          <p:nvPr/>
        </p:nvSpPr>
        <p:spPr>
          <a:xfrm>
            <a:off x="609904" y="243478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8544" y="2471356"/>
            <a:ext cx="10423245" cy="4505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 i="0">
                <a:solidFill>
                  <a:srgbClr val="330066"/>
                </a:solidFill>
                <a:latin typeface="Arial"/>
              </a:rPr>
              <a:t>Ministry of Testing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330066"/>
                </a:solidFill>
                <a:latin typeface="Courier New"/>
              </a:rPr>
              <a:t>https://www.ministryoftesting.com</a:t>
            </a:r>
          </a:p>
        </p:txBody>
      </p:sp>
      <p:sp>
        <p:nvSpPr>
          <p:cNvPr id="7" name="Oval 6"/>
          <p:cNvSpPr/>
          <p:nvPr/>
        </p:nvSpPr>
        <p:spPr>
          <a:xfrm>
            <a:off x="609904" y="3086481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8544" y="3123057"/>
            <a:ext cx="10423245" cy="4505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 i="0">
                <a:solidFill>
                  <a:srgbClr val="330066"/>
                </a:solidFill>
                <a:latin typeface="Arial"/>
              </a:rPr>
              <a:t>ISTQB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330066"/>
                </a:solidFill>
                <a:latin typeface="Courier New"/>
              </a:rPr>
              <a:t>https://www.istqb.org</a:t>
            </a:r>
          </a:p>
        </p:txBody>
      </p:sp>
      <p:sp>
        <p:nvSpPr>
          <p:cNvPr id="9" name="Oval 8"/>
          <p:cNvSpPr/>
          <p:nvPr/>
        </p:nvSpPr>
        <p:spPr>
          <a:xfrm>
            <a:off x="609904" y="3738181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8544" y="3774757"/>
            <a:ext cx="10423245" cy="4505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 i="0">
                <a:solidFill>
                  <a:srgbClr val="330066"/>
                </a:solidFill>
                <a:latin typeface="Arial"/>
              </a:rPr>
              <a:t>Practice site: Sauce Demo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330066"/>
                </a:solidFill>
                <a:latin typeface="Courier New"/>
              </a:rPr>
              <a:t>https://www.saucedemo.com</a:t>
            </a:r>
          </a:p>
        </p:txBody>
      </p:sp>
      <p:sp>
        <p:nvSpPr>
          <p:cNvPr id="11" name="Oval 10"/>
          <p:cNvSpPr/>
          <p:nvPr/>
        </p:nvSpPr>
        <p:spPr>
          <a:xfrm>
            <a:off x="609904" y="4389882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58544" y="4426458"/>
            <a:ext cx="10423245" cy="4505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 i="0">
                <a:solidFill>
                  <a:srgbClr val="330066"/>
                </a:solidFill>
                <a:latin typeface="Arial"/>
              </a:rPr>
              <a:t>Practice site: The Internet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330066"/>
                </a:solidFill>
                <a:latin typeface="Courier New"/>
              </a:rPr>
              <a:t>https://the-internet.herokuapp.com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Exploratory Testing  ·  Week 3 · Friday   |   31 / 31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earners Point">
  <a:themeElements>
    <a:clrScheme name="1_Network 10">
      <a:dk1>
        <a:srgbClr val="000000"/>
      </a:dk1>
      <a:lt1>
        <a:srgbClr val="FFFFFF"/>
      </a:lt1>
      <a:dk2>
        <a:srgbClr val="330066"/>
      </a:dk2>
      <a:lt2>
        <a:srgbClr val="808080"/>
      </a:lt2>
      <a:accent1>
        <a:srgbClr val="CCCC00"/>
      </a:accent1>
      <a:accent2>
        <a:srgbClr val="669999"/>
      </a:accent2>
      <a:accent3>
        <a:srgbClr val="FFFFFF"/>
      </a:accent3>
      <a:accent4>
        <a:srgbClr val="000000"/>
      </a:accent4>
      <a:accent5>
        <a:srgbClr val="E2E2AA"/>
      </a:accent5>
      <a:accent6>
        <a:srgbClr val="5C8A8A"/>
      </a:accent6>
      <a:hlink>
        <a:srgbClr val="7E9CE8"/>
      </a:hlink>
      <a:folHlink>
        <a:srgbClr val="D8D8EC"/>
      </a:folHlink>
    </a:clrScheme>
    <a:fontScheme name="1_Network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I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I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1_Network 1">
        <a:dk1>
          <a:srgbClr val="4F747B"/>
        </a:dk1>
        <a:lt1>
          <a:srgbClr val="FFFFFF"/>
        </a:lt1>
        <a:dk2>
          <a:srgbClr val="000000"/>
        </a:dk2>
        <a:lt2>
          <a:srgbClr val="C0C0C0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ADADA"/>
        </a:accent4>
        <a:accent5>
          <a:srgbClr val="C2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2">
        <a:dk1>
          <a:srgbClr val="3C0000"/>
        </a:dk1>
        <a:lt1>
          <a:srgbClr val="FFFFFF"/>
        </a:lt1>
        <a:dk2>
          <a:srgbClr val="4D0B0B"/>
        </a:dk2>
        <a:lt2>
          <a:srgbClr val="FFFFFF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ADADA"/>
        </a:accent4>
        <a:accent5>
          <a:srgbClr val="B8B8AD"/>
        </a:accent5>
        <a:accent6>
          <a:srgbClr val="B92D00"/>
        </a:accent6>
        <a:hlink>
          <a:srgbClr val="CC9900"/>
        </a:hlink>
        <a:folHlink>
          <a:srgbClr val="CC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3">
        <a:dk1>
          <a:srgbClr val="666699"/>
        </a:dk1>
        <a:lt1>
          <a:srgbClr val="FFFFFF"/>
        </a:lt1>
        <a:dk2>
          <a:srgbClr val="15192B"/>
        </a:dk2>
        <a:lt2>
          <a:srgbClr val="CCCCFF"/>
        </a:lt2>
        <a:accent1>
          <a:srgbClr val="4F893D"/>
        </a:accent1>
        <a:accent2>
          <a:srgbClr val="666699"/>
        </a:accent2>
        <a:accent3>
          <a:srgbClr val="AAABAC"/>
        </a:accent3>
        <a:accent4>
          <a:srgbClr val="DADADA"/>
        </a:accent4>
        <a:accent5>
          <a:srgbClr val="B2C4AF"/>
        </a:accent5>
        <a:accent6>
          <a:srgbClr val="5C5C8A"/>
        </a:accent6>
        <a:hlink>
          <a:srgbClr val="CC9900"/>
        </a:hlink>
        <a:folHlink>
          <a:srgbClr val="4837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4">
        <a:dk1>
          <a:srgbClr val="666699"/>
        </a:dk1>
        <a:lt1>
          <a:srgbClr val="FFFFFF"/>
        </a:lt1>
        <a:dk2>
          <a:srgbClr val="86001A"/>
        </a:dk2>
        <a:lt2>
          <a:srgbClr val="CCCC66"/>
        </a:lt2>
        <a:accent1>
          <a:srgbClr val="FF3300"/>
        </a:accent1>
        <a:accent2>
          <a:srgbClr val="FF6600"/>
        </a:accent2>
        <a:accent3>
          <a:srgbClr val="C3AAAB"/>
        </a:accent3>
        <a:accent4>
          <a:srgbClr val="DADADA"/>
        </a:accent4>
        <a:accent5>
          <a:srgbClr val="FFADAA"/>
        </a:accent5>
        <a:accent6>
          <a:srgbClr val="E75C00"/>
        </a:accent6>
        <a:hlink>
          <a:srgbClr val="CC9900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5">
        <a:dk1>
          <a:srgbClr val="666699"/>
        </a:dk1>
        <a:lt1>
          <a:srgbClr val="FFFFFF"/>
        </a:lt1>
        <a:dk2>
          <a:srgbClr val="000054"/>
        </a:dk2>
        <a:lt2>
          <a:srgbClr val="FFFFFF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DA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6">
        <a:dk1>
          <a:srgbClr val="808080"/>
        </a:dk1>
        <a:lt1>
          <a:srgbClr val="FFFFFF"/>
        </a:lt1>
        <a:dk2>
          <a:srgbClr val="30054B"/>
        </a:dk2>
        <a:lt2>
          <a:srgbClr val="FFFFFF"/>
        </a:lt2>
        <a:accent1>
          <a:srgbClr val="797B9B"/>
        </a:accent1>
        <a:accent2>
          <a:srgbClr val="6B4FB1"/>
        </a:accent2>
        <a:accent3>
          <a:srgbClr val="ADAAB1"/>
        </a:accent3>
        <a:accent4>
          <a:srgbClr val="DADADA"/>
        </a:accent4>
        <a:accent5>
          <a:srgbClr val="BEBFCB"/>
        </a:accent5>
        <a:accent6>
          <a:srgbClr val="6047A0"/>
        </a:accent6>
        <a:hlink>
          <a:srgbClr val="7AACCE"/>
        </a:hlink>
        <a:folHlink>
          <a:srgbClr val="D8D8E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7">
        <a:dk1>
          <a:srgbClr val="808080"/>
        </a:dk1>
        <a:lt1>
          <a:srgbClr val="FFFFCC"/>
        </a:lt1>
        <a:dk2>
          <a:srgbClr val="29527B"/>
        </a:dk2>
        <a:lt2>
          <a:srgbClr val="FFFFFF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ADAAE"/>
        </a:accent4>
        <a:accent5>
          <a:srgbClr val="E2E2AA"/>
        </a:accent5>
        <a:accent6>
          <a:srgbClr val="5C8A8A"/>
        </a:accent6>
        <a:hlink>
          <a:srgbClr val="D8D8E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8">
        <a:dk1>
          <a:srgbClr val="666699"/>
        </a:dk1>
        <a:lt1>
          <a:srgbClr val="FFFFFF"/>
        </a:lt1>
        <a:dk2>
          <a:srgbClr val="476949"/>
        </a:dk2>
        <a:lt2>
          <a:srgbClr val="FFFFFF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45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9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Network 10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Learners Point" id="{5ABB7BE2-076F-42C1-9907-FD58862889C1}" vid="{2565D177-60C2-4381-BEC4-E0C09BB79CB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Learners Point Template</Application>
  <PresentationFormat>Widescreen</PresentationFormat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Learners Point Template</dc:title>
  <dc:creator>Learners Point</dc:creator>
</cp:coreProperties>
</file>