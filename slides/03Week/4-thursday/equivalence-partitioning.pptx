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56" r:id="rId99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99" Type="http://schemas.openxmlformats.org/officeDocument/2006/relationships/slide" Target="slides/slide98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Age coverage %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Sheet1!$A$2:$A$5</c:f>
              <c:strCache>
                <c:ptCount val="4"/>
                <c:pt idx="0">
                  <c:v>35, 15, 70</c:v>
                </c:pt>
                <c:pt idx="1">
                  <c:v>+ abc</c:v>
                </c:pt>
                <c:pt idx="2">
                  <c:v>+ empty</c:v>
                </c:pt>
                <c:pt idx="3">
                  <c:v>+ 25.5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66.7</c:v>
                </c:pt>
                <c:pt idx="2">
                  <c:v>83.3</c:v>
                </c:pt>
                <c:pt idx="3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3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deck of the day, straight after Boundary Value Analysis.</a:t>
            </a:r>
          </a:p>
          <a:p>
            <a:r>
              <a:t>BVA tested the edges; EP covers the middle and every other kind of input, then the two are combined.</a:t>
            </a:r>
          </a:p>
          <a:p>
            <a:r>
              <a:t>One analogy runs through the deck: sorting fruit into baskets.</a:t>
            </a:r>
          </a:p>
          <a:p>
            <a:r>
              <a:t>The written lesson keeps the full registration example (33 partitions, 28 tests), all test-case tables and the Python ticket-price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'BVA gave us 17, 18, 60, 61 for age. What about abc, an empty field, or 25.5?' That gap is today's deck.</a:t>
            </a:r>
          </a:p>
          <a:p>
            <a:r>
              <a:t>Objective 4 is the one testers most often get wrong in practice.</a:t>
            </a:r>
          </a:p>
          <a:p>
            <a:r>
              <a:t>EP is one of the three techniques most pairs choose in the afternoon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idea, the analogy and the vocabulary.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 is a black-box technique: partitions come from the requirement, not the code.</a:t>
            </a:r>
          </a:p>
          <a:p>
            <a:r>
              <a:t>Also called equivalence class partitioning; a partition is an equivalence class.</a:t>
            </a:r>
          </a:p>
          <a:p>
            <a:r>
              <a:t>This is the practical answer to 'exhaustive testing is impossible' (Wednesday's principles).</a:t>
            </a:r>
          </a:p>
          <a:p>
            <a:r>
              <a:t>Ask: how many partitions would a 'yes or no' newsletter checkbox have? (Two.)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Each basket is a class; the piece you pull out is the representative.</a:t>
            </a:r>
          </a:p>
          <a:p>
            <a:r>
              <a:t>If the sorting is wrong (a lemon in the orange basket), one sample misleads: that is the equivalence assumption failing.</a:t>
            </a:r>
          </a:p>
          <a:p>
            <a:r>
              <a:t>Ask: what is the 'not fruit' basket for an age field? (Text, symbols, empty.)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 and invalid describe acceptability under the requirement, not 'good' or 'bad' data.</a:t>
            </a:r>
          </a:p>
          <a:p>
            <a:r>
              <a:t>Testing a negative age is a valuable test, not a wasted one.</a:t>
            </a:r>
          </a:p>
          <a:p>
            <a:r>
              <a:t>Write the expected result before you run the test, never after.</a:t>
            </a:r>
          </a:p>
          <a:p>
            <a:r>
              <a:t>Positive and negative testing (Wednesday) map to valid and invalid 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EP's representative is a typical interior value: 35, not 18 or 60. Those belong to BVA.</a:t>
            </a:r>
          </a:p>
          <a:p>
            <a:r>
              <a:t>Exhaustive numeric testing of 0 to 120 alone is 121 tests, plus endless text.</a:t>
            </a:r>
          </a:p>
          <a:p>
            <a:r>
              <a:t>Empty is its own partition: blank required fields cause crashes and 'null' in databases.</a:t>
            </a:r>
          </a:p>
          <a:p>
            <a:r>
              <a:t>Ask: is '018' a valid age? Ask Farhan if the spec is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assumption behind EP and the six-step procedure.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assumption is reasonable because developers write one rule per partition.</a:t>
            </a:r>
          </a:p>
          <a:p>
            <a:r>
              <a:t>Your job is to draw partitions where the rules change, so the assumption is as true as possible.</a:t>
            </a:r>
          </a:p>
          <a:p>
            <a:r>
              <a:t>The next slide lists the five ways it fails.</a:t>
            </a:r>
          </a:p>
          <a:p>
            <a:r>
              <a:t>Ask: what would make the assumption false for the age field?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Wrongly drawn partitions are the most common cause, usually from misreading the requirement.</a:t>
            </a:r>
          </a:p>
          <a:p>
            <a:r>
              <a:t>Hidden special cases are invisible to black-box testing; error guessing helps.</a:t>
            </a:r>
          </a:p>
          <a:p>
            <a:r>
              <a:t>Each red card points to another technique taught today.</a:t>
            </a:r>
          </a:p>
          <a:p>
            <a:r>
              <a:t>The message is not 'EP is unreliable' but 'EP needs partners'.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Inputs for registration: username, email, age, password, country, terms checkbox.</a:t>
            </a:r>
          </a:p>
          <a:p>
            <a:r>
              <a:t>Step 4: pick a value that is easy to read, such as 35; avoid boundaries unless deliberately combining with BVA.</a:t>
            </a:r>
          </a:p>
          <a:p>
            <a:r>
              <a:t>Step 5: in single-field tests keep the other fields at known good values.</a:t>
            </a:r>
          </a:p>
          <a:p>
            <a:r>
              <a:t>Step 6 is written before execution: running first and recording what happens is recording, not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heuristics so learners do not miss whole classes.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Sets: Guest, Member and Admin see different screens, so each is its own partition.</a:t>
            </a:r>
          </a:p>
          <a:p>
            <a:r>
              <a:t>A country dropdown that only stores the name can share one partition.</a:t>
            </a:r>
          </a:p>
          <a:p>
            <a:r>
              <a:t>Invalid set values arrive through edited requests or the API, not through the dropdown.</a:t>
            </a:r>
          </a:p>
          <a:p>
            <a:r>
              <a:t>Specific value ('type DELETE to confirm'): one valid, one invalid; test case too (delete, Delete).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format becomes a family of partitions, one per distinct way of breaking the rule.</a:t>
            </a:r>
          </a:p>
          <a:p>
            <a:r>
              <a:t>Each invalid input should break only one thing so you know which check worked.</a:t>
            </a:r>
          </a:p>
          <a:p>
            <a:r>
              <a:t>Length edges (7, 8, 20, 21) come from BVA; EP picks one typical length per class.</a:t>
            </a:r>
          </a:p>
          <a:p>
            <a:r>
              <a:t>Ask: what are the invalid partitions for a date typed as DD/MM/YYYY?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executable renamed to .jpg is the classic 'wrong content, permitted extension' partition.</a:t>
            </a:r>
          </a:p>
          <a:p>
            <a:r>
              <a:t>Only-spaces looks empty to a person but not to a careless system.</a:t>
            </a:r>
          </a:p>
          <a:p>
            <a:r>
              <a:t>Optional fields: empty is valid; still test it.</a:t>
            </a:r>
          </a:p>
          <a:p>
            <a:r>
              <a:t>Wednesday's negative-test categories are a good menu for invalid 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Files and character classes are in the written lesson's full reference table.</a:t>
            </a:r>
          </a:p>
          <a:p>
            <a:r>
              <a:t>Learners can use this table directly in the pair exercise.</a:t>
            </a:r>
          </a:p>
          <a:p>
            <a:r>
              <a:t>Remind: valid partitions can be several (one per different behaviour).</a:t>
            </a:r>
          </a:p>
          <a:p>
            <a:r>
              <a:t>Ask: which row applies to a postcode field? (Format, and maybe length.)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each example teaches one partitioning lesson; full tables are in the written lesson.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Requirement: whole-number score 0 to 100 shown as a letter; anything else 'Invalid score'.</a:t>
            </a:r>
          </a:p>
          <a:p>
            <a:r>
              <a:t>One big 'valid 0 to 100' class would hide five behaviours: too coarse.</a:t>
            </a:r>
          </a:p>
          <a:p>
            <a:r>
              <a:t>The cut-offs 59/60, 69/70 and so on are BVA's job; EP picks the middle of each band.</a:t>
            </a:r>
          </a:p>
          <a:p>
            <a:r>
              <a:t>Ask: what about the decimal 89.5? (Another invalid partition, if whole numbers only.)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Requirement: weight in kg to two decimals; price bands as shown; over 20 kg cannot ship.</a:t>
            </a:r>
          </a:p>
          <a:p>
            <a:r>
              <a:t>Representatives: 0.5, 3, 12, 25; invalid: 0, -2, abc, empty.</a:t>
            </a:r>
          </a:p>
          <a:p>
            <a:r>
              <a:t>Distinguish 'invalid input' from 'valid input with a business refusal': they have different messages.</a:t>
            </a:r>
          </a:p>
          <a:p>
            <a:r>
              <a:t>The tier edges (1, 5, 20) are BVA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Length and character classes are separate rules: partition each, then violate exactly one per test.</a:t>
            </a:r>
          </a:p>
          <a:p>
            <a:r>
              <a:t>Eight tests cover nine partitions: the valid test covers 'valid length' and 'all classes' together.</a:t>
            </a:r>
          </a:p>
          <a:p>
            <a:r>
              <a:t>Isolating the rule is what makes the test meaningful.</a:t>
            </a:r>
          </a:p>
          <a:p>
            <a:r>
              <a:t>This idea returns in Part 5 as 'one invalid input per test'.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dropdown does not stop bad values arriving through the API, an edited request or a cached page.</a:t>
            </a:r>
          </a:p>
          <a:p>
            <a:r>
              <a:t>Test invalid partitions at the layer where they can occur.</a:t>
            </a:r>
          </a:p>
          <a:p>
            <a:r>
              <a:t>If Rohan adds a fourth role later, the partition list grows by one.</a:t>
            </a:r>
          </a:p>
          <a:p>
            <a:r>
              <a:t>Ask: how many partitions for a 'payment method' list of card, wallet and cash on delivery?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Rules: one '@', something before it, a domain with a dot after it, no spaces, at most 254 characters, required.</a:t>
            </a:r>
          </a:p>
          <a:p>
            <a:r>
              <a:t>Treating 'bad email' as one class is a classic gap.</a:t>
            </a:r>
          </a:p>
          <a:p>
            <a:r>
              <a:t>Example invalids: test.user.example.com, test@@example.com, @example.com, test@, test@example.</a:t>
            </a:r>
          </a:p>
          <a:p>
            <a:r>
              <a:t>Use example.com-style test data; never real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how EP scales to a whole form.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cartesian product: all combinations.</a:t>
            </a:r>
          </a:p>
          <a:p>
            <a:r>
              <a:t>Nobody would run 14,112 tests for one form.</a:t>
            </a:r>
          </a:p>
          <a:p>
            <a:r>
              <a:t>The two-phase strategy on the next slides needs 28 tests for the same form, with every partition exercised.</a:t>
            </a:r>
          </a:p>
          <a:p>
            <a:r>
              <a:t>Ask: why can valid partitions share a test but invalid ones cannot?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validation pattern: check age, stop on error; check email, stop on error.</a:t>
            </a:r>
          </a:p>
          <a:p>
            <a:r>
              <a:t>With both inputs invalid, the email check could be missing entirely and the test would still 'pass'.</a:t>
            </a:r>
          </a:p>
          <a:p>
            <a:r>
              <a:t>Good: TC-A Age = abc with a valid email; TC-B Age = 35 with Email = nope.</a:t>
            </a:r>
          </a:p>
          <a:p>
            <a:r>
              <a:t>Ask Neha or Karan whether validation stops at the first error; it changes how you read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Phase 1 tests = the largest number of valid partitions in any one field (email has 2).</a:t>
            </a:r>
          </a:p>
          <a:p>
            <a:r>
              <a:t>Valid inputs do not mask each other because nothing is rejected.</a:t>
            </a:r>
          </a:p>
          <a:p>
            <a:r>
              <a:t>Same strategy on the six-field registration form: 2 + 26 = 28 tests instead of 14,112.</a:t>
            </a:r>
          </a:p>
          <a:p>
            <a:r>
              <a:t>Combinations that matter to the business go to a decision table (later today).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measure EP coverage, use EP beyond inputs, combine it with BVA.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 has six partitions; adding one test per missing partition raises coverage step by step.</a:t>
            </a:r>
          </a:p>
          <a:p>
            <a:r>
              <a:t>Registration example: only the two valid tests cover 7 of 33 partitions, 21.2%.</a:t>
            </a:r>
          </a:p>
          <a:p>
            <a:r>
              <a:t>Coverage is a tool for spotting untouched partitions, not a goal in itself.</a:t>
            </a:r>
          </a:p>
          <a:p>
            <a:r>
              <a:t>Ask: what does 100% EP coverage not tell you? (Whether the partitions were right.)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partitions make sure every result the system can produce is seen at least once.</a:t>
            </a:r>
          </a:p>
          <a:p>
            <a:r>
              <a:t>Time partitions have edges too (exactly 15 minutes): boundary tests.</a:t>
            </a:r>
          </a:p>
          <a:p>
            <a:r>
              <a:t>State partitions get full treatment in state transition testing, the last deck today.</a:t>
            </a:r>
          </a:p>
          <a:p>
            <a:r>
              <a:t>Configuration: one representative per family, chosen by risk and usage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demos/4-thursday/diagrams/bva-ep-number-line.mermaid; the demo board uses the same picture.</a:t>
            </a:r>
          </a:p>
          <a:p>
            <a:r>
              <a:t>Partition first, then add boundaries for ordered data.</a:t>
            </a:r>
          </a:p>
          <a:p>
            <a:r>
              <a:t>17 and 61 replace 15 and 70; add 35 as a typical interior value, plus abc, empty and 25.5.</a:t>
            </a:r>
          </a:p>
          <a:p>
            <a:r>
              <a:t>This is the combination most pairs use in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them together almost always; BVA refines EP for numbers, dates, lengths and counts.</a:t>
            </a:r>
          </a:p>
          <a:p>
            <a:r>
              <a:t>EP covers sets and booleans where BVA does not apply.</a:t>
            </a:r>
          </a:p>
          <a:p>
            <a:r>
              <a:t>Number of tests: EP one per partition; BVA two or three per boundary.</a:t>
            </a:r>
          </a:p>
          <a:p>
            <a:r>
              <a:t>Ask: which one would you use alone for a 'country' dropdown? (EP.)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partitioning only by what the screen allows (API and edited requests can send anything); partitions too coarse or too fine.</a:t>
            </a:r>
          </a:p>
          <a:p>
            <a:r>
              <a:t>Test for 'too coarse or too fine': would the system behave differently? If yes separate, if no merge.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'Quantity 1 to 10, whole numbers.' Partitions? (Below 1, 1-10, above 10, decimal, text, empty.)</a:t>
            </a:r>
          </a:p>
          <a:p>
            <a:r>
              <a:t>Bridge: next deck, error guessing, finds what the systematic techniques miss.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registration example (33 partitions, 28 tests), every test-case table and the Python ticket-price demo with pytest (Week 4).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Equivalence 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Divide the inputs into groups that behave alike, then test one value from each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36044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Partitions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58115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98225" y="3520440"/>
            <a:ext cx="175156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The assumption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34819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4929" y="3520440"/>
            <a:ext cx="126265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Procedure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22615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2725" y="3520440"/>
            <a:ext cx="1360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Heuristics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08193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8303" y="3520440"/>
            <a:ext cx="194712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Combining fields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080461" y="3630168"/>
            <a:ext cx="25508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20571" y="3520440"/>
            <a:ext cx="116487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EP + BVA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EP and why one representative per partition is enough.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Identify valid and invalid partitions using heuristics.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Apply the six-step procedure to build an EP test table.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Combine fields without an explosion of tests, and avoid masking.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Measure EP coverage and combine EP with BVA.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Idea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Divide, then test one from each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Divide, Then Pick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011680"/>
            <a:ext cx="2560320" cy="23774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All possible inputs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far too many to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691640"/>
            <a:ext cx="3291840" cy="621792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Valid: 18 to 60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172968" y="2002536"/>
            <a:ext cx="804671" cy="1197864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60920" y="2002536"/>
            <a:ext cx="82295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0" y="1691640"/>
            <a:ext cx="914400" cy="621792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468880"/>
            <a:ext cx="3291840" cy="62179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Too young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72968" y="2779776"/>
            <a:ext cx="804671" cy="420624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60920" y="2779776"/>
            <a:ext cx="82295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0" y="2468880"/>
            <a:ext cx="914400" cy="621792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46120"/>
            <a:ext cx="3291840" cy="62179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Too 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72968" y="3200400"/>
            <a:ext cx="804671" cy="356615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3557015"/>
            <a:ext cx="82295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0" y="3246120"/>
            <a:ext cx="914400" cy="621792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023360"/>
            <a:ext cx="3291840" cy="621792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Not a number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72968" y="3200400"/>
            <a:ext cx="804671" cy="1133856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4334256"/>
            <a:ext cx="82295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0" y="4023360"/>
            <a:ext cx="914400" cy="621792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94560"/>
            <a:ext cx="225856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one representative per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9377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If one value in a group finds a defect, the others should too; if it passes, they should pass.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Sorting Fruit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560320" cy="1828800"/>
          </a:xfrm>
          <a:prstGeom prst="roundRect">
            <a:avLst>
              <a:gd name="adj" fmla="val 3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Apples</a:t>
            </a:r>
          </a:p>
        </p:txBody>
      </p:sp>
      <p:sp>
        <p:nvSpPr>
          <p:cNvPr id="5" name="Oval 4"/>
          <p:cNvSpPr/>
          <p:nvPr/>
        </p:nvSpPr>
        <p:spPr>
          <a:xfrm>
            <a:off x="1481328" y="3840480"/>
            <a:ext cx="82296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2807" y="3611880"/>
            <a:ext cx="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19856" y="1783080"/>
            <a:ext cx="2560320" cy="1828800"/>
          </a:xfrm>
          <a:prstGeom prst="roundRect">
            <a:avLst>
              <a:gd name="adj" fmla="val 3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Oranges</a:t>
            </a:r>
          </a:p>
        </p:txBody>
      </p:sp>
      <p:sp>
        <p:nvSpPr>
          <p:cNvPr id="8" name="Oval 7"/>
          <p:cNvSpPr/>
          <p:nvPr/>
        </p:nvSpPr>
        <p:spPr>
          <a:xfrm>
            <a:off x="4288536" y="3840480"/>
            <a:ext cx="82296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0016" y="3611880"/>
            <a:ext cx="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27064" y="1783080"/>
            <a:ext cx="2560320" cy="1828800"/>
          </a:xfrm>
          <a:prstGeom prst="roundRect">
            <a:avLst>
              <a:gd name="adj" fmla="val 3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Bananas</a:t>
            </a:r>
          </a:p>
        </p:txBody>
      </p:sp>
      <p:sp>
        <p:nvSpPr>
          <p:cNvPr id="11" name="Oval 10"/>
          <p:cNvSpPr/>
          <p:nvPr/>
        </p:nvSpPr>
        <p:spPr>
          <a:xfrm>
            <a:off x="7095744" y="3840480"/>
            <a:ext cx="82296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07223" y="3611880"/>
            <a:ext cx="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34272" y="1783080"/>
            <a:ext cx="2560320" cy="1828800"/>
          </a:xfrm>
          <a:prstGeom prst="roundRect">
            <a:avLst>
              <a:gd name="adj" fmla="val 3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Not fruit at all</a:t>
            </a:r>
          </a:p>
        </p:txBody>
      </p:sp>
      <p:sp>
        <p:nvSpPr>
          <p:cNvPr id="14" name="Oval 13"/>
          <p:cNvSpPr/>
          <p:nvPr/>
        </p:nvSpPr>
        <p:spPr>
          <a:xfrm>
            <a:off x="9902951" y="3840480"/>
            <a:ext cx="822960" cy="6858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14432" y="3611880"/>
            <a:ext cx="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4846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Sort 10,000 pieces into baskets, then inspect one from each basket.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rock-and-toy basket is an invalid class: you still check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754880"/>
                <a:gridCol w="356616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Age 18 to 60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Partition (class)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Inputs the system should treat the same way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Whole numbers 18 to 60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Valid partition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Accepted and processed normally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18 to 60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Invalid partition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Rejected or handled with a message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Below 18, above 60, text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Representative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The one value tested for the class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 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Each partition is 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'Age in the valid range'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18 to 60: Six Partitions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65176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91840" y="2496312"/>
            <a:ext cx="576072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911095" y="17556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32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888736" y="17556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2432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66376" y="17556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70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49840" y="22432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2907791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P2 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1"/>
            <a:ext cx="23774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P1 too young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907791"/>
            <a:ext cx="2103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P3 too 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84048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P4 text: 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84048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P5 empty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384048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P6 decimal: 25.5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7548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Every possible input belongs to exactly one partition.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One valid and five invalid partitions: six tests instead of hundreds.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 and Procedure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EP works, when it fails, how to apply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Equivalence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All values in a partition are processed the same way, so one representative is as good as any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92608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When it holds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EP is powerful: few tests, every kind of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292608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When it does not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EP can miss defects: complement it with other techniques.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Not a law of nature: an assumption about how the software is likely to be 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the Assumption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Partitions drawn wrongly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Rule changes at 13, but 12 and 13 share a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Hidden special case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value such as the username 'admin'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Boundary mistakes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middle value never shows off-by-one: BVA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Fields interact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Fine alone, wrong together: decision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History matters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Email already registered: state transition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The lesson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EP is strong; keep its assumption in 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63830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 Inputs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96668" y="2240280"/>
            <a:ext cx="1371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88920"/>
            <a:ext cx="16383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field and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9548" y="1783080"/>
            <a:ext cx="163830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 Rules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3568" y="2240280"/>
            <a:ext cx="1371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79548" y="2788920"/>
            <a:ext cx="16383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Ranges, formats,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6448" y="1783080"/>
            <a:ext cx="163830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 Partitions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0468" y="2240280"/>
            <a:ext cx="1371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46448" y="2788920"/>
            <a:ext cx="16383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Valid and invalid, no overlaps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3348" y="1783080"/>
            <a:ext cx="163830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4 Pick a value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97368" y="2240280"/>
            <a:ext cx="1371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3348" y="2788920"/>
            <a:ext cx="16383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Typical, easy to verify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0248" y="1783080"/>
            <a:ext cx="163830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 Test cases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64268" y="2240280"/>
            <a:ext cx="13716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80248" y="2788920"/>
            <a:ext cx="16383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Other fields at good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7148" y="1783080"/>
            <a:ext cx="163830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6 Expected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7148" y="2788920"/>
            <a:ext cx="16383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From the requirement, 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406908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17880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TWO CHECKS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 partitions: no overlaps (every value in exactly one) and no gaps (every value in some partition).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If a rule is vague, ask Farhan before drawing the partitions.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Partitioning Heuristics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Rules of thumb for any kind of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Ranges, Sets and Booleans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Range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valid partition inside.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Two invalid: below, above.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Plus text, decimal, empty if numeric.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Set or list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partition per member that behaves differently.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Or one shared class if all alike.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Invalid: not in the set, nothing chosen.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Boolean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Exactly two: true and false.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Terms box: checked valid, unchecked invalid.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Newsletter: both valid, different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An open-ended range ('at least 18') has only one invalid numeric partition.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Formats, Lengths and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Format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valid class per real variant.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invalid class per way to break it.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Plus empty.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Length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Too short, valid, too long, empty.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numeric range on the character 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Character classes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Upper, lower, digits, special, spaces.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Accents, emoji, other scripts.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partition per required class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Phone '10 digits only': valid 10 digits; invalid 9, 11, letters, symbols, empty.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Files, Empty and Everything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Files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Allowed types; not allowed types.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Size: within, above, zero bytes.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Wrong content, right extension.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55A11"/>
                </a:solidFill>
                <a:latin typeface="Arial"/>
              </a:rPr>
              <a:t>Empty and spaces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'empty' and 'only spaces'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 every field.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Required or optional changes validity.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Multiple fields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Partition each field first,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then decide how to combine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(Part 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Ask of every field: what are all the ways this could be wrong?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3840480"/>
                <a:gridCol w="45720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Input type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Valid partitions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Invalid partitions to consider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Numeric range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Inside the range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Below, above, text, decimal,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Set or list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Each member (or one shared)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Not in set, nothing selected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Boolean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Depends on the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Depends on the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Each real variant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Each way to break it,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Length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Valid length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Too short, too long,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short fields, five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Valid Partitions: Grades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48840"/>
            <a:ext cx="178308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 0-59</a:t>
            </a:r>
          </a:p>
        </p:txBody>
      </p:sp>
      <p:sp>
        <p:nvSpPr>
          <p:cNvPr id="5" name="Oval 4"/>
          <p:cNvSpPr/>
          <p:nvPr/>
        </p:nvSpPr>
        <p:spPr>
          <a:xfrm>
            <a:off x="1965960" y="1600200"/>
            <a:ext cx="77724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48840"/>
            <a:ext cx="178308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 60-69</a:t>
            </a:r>
          </a:p>
        </p:txBody>
      </p:sp>
      <p:sp>
        <p:nvSpPr>
          <p:cNvPr id="7" name="Oval 6"/>
          <p:cNvSpPr/>
          <p:nvPr/>
        </p:nvSpPr>
        <p:spPr>
          <a:xfrm>
            <a:off x="3840480" y="1600200"/>
            <a:ext cx="77724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2148840"/>
            <a:ext cx="178308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 70-79</a:t>
            </a:r>
          </a:p>
        </p:txBody>
      </p:sp>
      <p:sp>
        <p:nvSpPr>
          <p:cNvPr id="9" name="Oval 8"/>
          <p:cNvSpPr/>
          <p:nvPr/>
        </p:nvSpPr>
        <p:spPr>
          <a:xfrm>
            <a:off x="5714999" y="1600200"/>
            <a:ext cx="77724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148840"/>
            <a:ext cx="178308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 80-89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600200"/>
            <a:ext cx="77724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2148840"/>
            <a:ext cx="178308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 90-100</a:t>
            </a:r>
          </a:p>
        </p:txBody>
      </p:sp>
      <p:sp>
        <p:nvSpPr>
          <p:cNvPr id="13" name="Oval 12"/>
          <p:cNvSpPr/>
          <p:nvPr/>
        </p:nvSpPr>
        <p:spPr>
          <a:xfrm>
            <a:off x="9464040" y="1600200"/>
            <a:ext cx="77724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2148840"/>
            <a:ext cx="777240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&lt;0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2148840"/>
            <a:ext cx="749808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&gt;100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200400"/>
            <a:ext cx="264033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-10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138" y="3200400"/>
            <a:ext cx="264033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7628" y="3200400"/>
            <a:ext cx="264033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5118" y="3200400"/>
            <a:ext cx="264033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23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grade is a different output: each band is a valid partition.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Five valid + four invalid partitions = nine tests.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 Input, Refused by a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0 &lt; w &lt;= 1 kg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56032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$5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9856" y="169164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1 &lt; w &lt;= 5 kg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256032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$9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9164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5 &lt; w &lt;= 20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256032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$15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169164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w &gt; 20 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4272" y="256032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'Too heavy'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47472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0 or negative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47472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347472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297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25 kg is a good number the business refuses: its own partition.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Malformed input gets 'Enter a valid weight'; heavy parcels get a different message.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Password: Test One Rule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Length partitions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Too short (under 8)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Valid (8 to 20)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Too long (over 20)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286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Character-class partitions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 four classes present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Missing uppercase / lowercase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Missing digit / special character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297680"/>
            <a:ext cx="5303520" cy="10972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Too-short test: Ab1!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short, but every class 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4297680"/>
            <a:ext cx="5303520" cy="10972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Not: abc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rejected for two reasons: which check worked?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Dropdowns: When Each Option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5176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Guest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read-only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1691640"/>
            <a:ext cx="265176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Member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full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691640"/>
            <a:ext cx="265176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Admin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dashboard + admin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16568" y="1691640"/>
            <a:ext cx="246888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Invalid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Nothing selected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'SuperUser' sent by an edited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7947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Different behaviour: one partition per option (three valid tests).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Same behaviour (a country stored as text): one shared partition is enough.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Ask: does the choice change what happens next?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Email: A Family of Partitions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417820" cy="566928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name@example.com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7628" y="1737360"/>
            <a:ext cx="5417820" cy="566928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first.last+tag@mail.example.co.uk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60604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missing @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60604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@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6632" y="260604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nothing before @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260604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nothing after @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616" y="260604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dot in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31012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contains a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331012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over 254 characters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331012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20624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Two valid and eight invalid partitions: ten tests.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invalid example breaks exactly one rule.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Duplicate email (already registered) depends on state, not format.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Avoid the explosion, avoid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Explosion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Age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6 partitions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0088" y="182880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Email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7 partitions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8888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7528" y="182880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Password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8 partitions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103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Arial"/>
              </a:rPr>
              <a:t>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28800"/>
            <a:ext cx="3401568" cy="10972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336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4290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Every combination of every partition destroys the benefit of EP.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Six-field registration form: 14,112 combinations.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657600" cy="21031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test, two bad inputs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Age = abc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Email = nope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194560"/>
            <a:ext cx="274320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Validation stops at the first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691640"/>
            <a:ext cx="2990088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Only the age error shows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880360"/>
            <a:ext cx="2990088" cy="9144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Email check never proven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0" y="2743200"/>
            <a:ext cx="5029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635240" y="2148840"/>
            <a:ext cx="914400" cy="4114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606040"/>
            <a:ext cx="0" cy="2743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Masking: one error hides another, so the test looks passed but proves little.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Fix: one invalid input per test, every other field valid.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Phases: 19 Tests Instead of 336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Phase 1: valid, 'each choice'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Cover every valid partition at least once.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Valid values can share a test.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Here: 2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Phase 2: invalid, one at a time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invalid partition per test.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Everything else at valid values.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Here: 5 + 5 + 7 = 17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66344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19 tests, every partition covered, no masking.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Coverage, and EP Meets BVA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Measuring, extending and combining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EP coverage = partitions covered by a test / partitions identified x 100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" y="2560320"/>
          <a:ext cx="64008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2560320"/>
            <a:ext cx="4270248" cy="3291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Two cautions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100% means every partition you identified was sampled.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Wrong or missing partitions make the number misleading.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Input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Outputs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discount tier 0%, 5%, 10% triggered by some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9164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Time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Session active (5 min idle) or expired (20 min idle)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0332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State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Account active, locked, unverified, deleted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703320"/>
            <a:ext cx="5372100" cy="1783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Configuration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Browser families, screen sizes, text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Ask 'what can come out, and when?' as well as 'what can go in?'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 Meets BVA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69748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0" y="2542032"/>
            <a:ext cx="502920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453895" y="180136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642616" y="1801368"/>
            <a:ext cx="566928" cy="487558"/>
          </a:xfrm>
          <a:prstGeom prst="ellipse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4136" y="1801368"/>
            <a:ext cx="566928" cy="487558"/>
          </a:xfrm>
          <a:prstGeom prst="ellipse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05656" y="1801368"/>
            <a:ext cx="566928" cy="487558"/>
          </a:xfrm>
          <a:prstGeom prst="ellipse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88736" y="180136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71815" y="1801368"/>
            <a:ext cx="566928" cy="487558"/>
          </a:xfrm>
          <a:prstGeom prst="ellipse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403336" y="1801368"/>
            <a:ext cx="566928" cy="487558"/>
          </a:xfrm>
          <a:prstGeom prst="ellipse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34856" y="1801368"/>
            <a:ext cx="566928" cy="487558"/>
          </a:xfrm>
          <a:prstGeom prst="ellipse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2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323576" y="180136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75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607040" y="228892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0" y="29535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valid partition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green / red = EP representatives   ·   orange = BVA edges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4069080"/>
            <a:ext cx="3505200" cy="1325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Exhaustive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121+ numeric tests, endless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6448" y="4069080"/>
            <a:ext cx="3505200" cy="13258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EP only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6 tests: misses off-by-one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0248" y="4069080"/>
            <a:ext cx="350520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EP + BVA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9 or 10 tests: edges and every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Edge values double as representatives: 17 stands for 'below 18'.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 and BVA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389120"/>
                <a:gridCol w="438912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Equivalence partitioning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Boundary value analysis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Which inputs behave alike?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Where does behaviour change?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Selects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One value per partition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Values at and next to each edge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Typical value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Middle, such as 35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Edges, such as 17, 18, 60, 61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Every kind of class, incl. invalid types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Off-by-one and operator errors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Weakness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Blind to edge mistakes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Ordered data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31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Overlapping partitions (18-30, 30-60)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Precise limits: every value in exactly 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Forgetting empty, text or decimals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Run the heuristics; ask 'all ways it is wrong'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Several invalid inputs in one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One invalid input per test (no masking)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Using an edge as the EP value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Interior for EP, edges for BVA, labelled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Expected results after running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Write them from the requirement first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32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EP groups inputs that behave alike and tests one value from each.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Valid and invalid partitions; no overlaps, no gaps, always add empty.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equivalence assumption can fail: complement EP with other techniques.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Several fields: each valid choice once, invalid inputs one at a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EP coverage = partitions covered / partitions identified.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EP + BVA: about 9 tests for age 18 to 60, against 121+ exhaustive.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33 / 34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Foundation Level overview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https://www.istqb.org/certifications/certified-tester-foundation-level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Equivalence Partitioning and BVA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https://www.guru99.com/equivalence-partitioning-boundary-value-analysis.html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https://www.ministryoftesting.com/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38988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426458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pytest: parametrization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https://docs.pytest.org/en/stable/how-to/parametrize.html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7929</Words>
  <Application>Microsoft Office PowerPoint</Application>
  <PresentationFormat>Widescreen</PresentationFormat>
  <Paragraphs>1353</Paragraphs>
  <Slides>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2" baseType="lpstr">
      <vt:lpstr>Arial</vt:lpstr>
      <vt:lpstr>Courier New</vt:lpstr>
      <vt:lpstr>Wingdings</vt:lpstr>
      <vt:lpstr>Learners Point</vt:lpstr>
      <vt:lpstr>Equivalence Partitioning</vt:lpstr>
      <vt:lpstr>Learning Objectives (1 of 2)</vt:lpstr>
      <vt:lpstr>Learning Objectives (2 of 2)</vt:lpstr>
      <vt:lpstr>The Core Idea</vt:lpstr>
      <vt:lpstr>Equivalence Partitioning in Two Parts</vt:lpstr>
      <vt:lpstr>Two Analogies</vt:lpstr>
      <vt:lpstr>Key Definitions (1 of 2)</vt:lpstr>
      <vt:lpstr>Key Definitions (2 of 2)</vt:lpstr>
      <vt:lpstr>Valid and Invalid: The Requirement</vt:lpstr>
      <vt:lpstr>The Equivalence Assumption</vt:lpstr>
      <vt:lpstr>The Assumption</vt:lpstr>
      <vt:lpstr>When the Assumption Fails (1 of 2)</vt:lpstr>
      <vt:lpstr>When the Assumption Fails (2 of 2)</vt:lpstr>
      <vt:lpstr>The Six-Step Procedure</vt:lpstr>
      <vt:lpstr>Steps 1 to 3</vt:lpstr>
      <vt:lpstr>Steps 4 to 6</vt:lpstr>
      <vt:lpstr>The Number Line: Age 18 to 60</vt:lpstr>
      <vt:lpstr>Non-Number Cases for Age</vt:lpstr>
      <vt:lpstr>Partitioning Rules</vt:lpstr>
      <vt:lpstr>Rule 1: Ranges</vt:lpstr>
      <vt:lpstr>Rule 2: Sets and Enumerations</vt:lpstr>
      <vt:lpstr>Rules 3-4: Booleans, Specific Values</vt:lpstr>
      <vt:lpstr>Rule 5: Formats</vt:lpstr>
      <vt:lpstr>Rules 6-7: Lengths, Character Classes</vt:lpstr>
      <vt:lpstr>Rules 8-10: Files, Fields, Empty</vt:lpstr>
      <vt:lpstr>Quick Reference</vt:lpstr>
      <vt:lpstr>Worked Examples</vt:lpstr>
      <vt:lpstr>Example 1: Age Field</vt:lpstr>
      <vt:lpstr>Age: Partitions</vt:lpstr>
      <vt:lpstr>Age: Test Cases</vt:lpstr>
      <vt:lpstr>Age: What We Did Not Do</vt:lpstr>
      <vt:lpstr>Example 2: Grade Mapping</vt:lpstr>
      <vt:lpstr>Grade: Test Cases (1 of 2)</vt:lpstr>
      <vt:lpstr>Grade: Test Cases (2 of 2)</vt:lpstr>
      <vt:lpstr>Example 3: Shipping Cost by Weight</vt:lpstr>
      <vt:lpstr>Shipping: Test Cases</vt:lpstr>
      <vt:lpstr>Example 4: Password Rules</vt:lpstr>
      <vt:lpstr>Password: Length Partitions</vt:lpstr>
      <vt:lpstr>Password: Class Partitions</vt:lpstr>
      <vt:lpstr>Password: Test Cases (1 of 2)</vt:lpstr>
      <vt:lpstr>Password: Test Cases (2 of 2)</vt:lpstr>
      <vt:lpstr>Why TC-PW-02 Uses Ab1!</vt:lpstr>
      <vt:lpstr>Example 5: Dropdown, User Type</vt:lpstr>
      <vt:lpstr>User Type: Partitions</vt:lpstr>
      <vt:lpstr>User Type: Test Cases</vt:lpstr>
      <vt:lpstr>Example 6: Email Format</vt:lpstr>
      <vt:lpstr>Email: Partitions (1 of 2)</vt:lpstr>
      <vt:lpstr>Email: Partitions (2 of 2)</vt:lpstr>
      <vt:lpstr>Email: Test Cases (1 of 2)</vt:lpstr>
      <vt:lpstr>Email: Test Cases (2 of 2)</vt:lpstr>
      <vt:lpstr>Combining Fields</vt:lpstr>
      <vt:lpstr>The Explosion</vt:lpstr>
      <vt:lpstr>Two-Phase Strategy</vt:lpstr>
      <vt:lpstr>Masking</vt:lpstr>
      <vt:lpstr>Masking in Pseudocode</vt:lpstr>
      <vt:lpstr>Bad vs Good</vt:lpstr>
      <vt:lpstr>Valid Partitions, Skipped Combos</vt:lpstr>
      <vt:lpstr>EP Coverage</vt:lpstr>
      <vt:lpstr>The Formula</vt:lpstr>
      <vt:lpstr>Worked Numbers</vt:lpstr>
      <vt:lpstr>Two Cautions</vt:lpstr>
      <vt:lpstr>EP Beyond Inputs</vt:lpstr>
      <vt:lpstr>Beyond Input Fields</vt:lpstr>
      <vt:lpstr>Combining EP and BVA</vt:lpstr>
      <vt:lpstr>The Relationship</vt:lpstr>
      <vt:lpstr>Three Approaches Compared</vt:lpstr>
      <vt:lpstr>Combined Test Set (EP + BVA)</vt:lpstr>
      <vt:lpstr>Boundaries Double as Representatives</vt:lpstr>
      <vt:lpstr>EP vs BVA (1 of 2)</vt:lpstr>
      <vt:lpstr>EP vs BVA (2 of 2)</vt:lpstr>
      <vt:lpstr>A Python Demo</vt:lpstr>
      <vt:lpstr>The Requirement</vt:lpstr>
      <vt:lpstr>Ticket Price: Partitions</vt:lpstr>
      <vt:lpstr>Code Under Test: ticket_price.py</vt:lpstr>
      <vt:lpstr>EP Table as Data: ticket_ep.py</vt:lpstr>
      <vt:lpstr>The Test Loop</vt:lpstr>
      <vt:lpstr>Running ticket_ep.py</vt:lpstr>
      <vt:lpstr>The Same Tests with pytest</vt:lpstr>
      <vt:lpstr>Where EP Alone Falls Short</vt:lpstr>
      <vt:lpstr>A Boundary Test Catches It</vt:lpstr>
      <vt:lpstr>Project 1 Registration</vt:lpstr>
      <vt:lpstr>Registration Rules</vt:lpstr>
      <vt:lpstr>Partitions per Field (1 of 3)</vt:lpstr>
      <vt:lpstr>Partitions per Field (2 of 3)</vt:lpstr>
      <vt:lpstr>Partitions per Field (3 of 3)</vt:lpstr>
      <vt:lpstr>Base Data and Strategy</vt:lpstr>
      <vt:lpstr>Registration Test Cases (1 of 4)</vt:lpstr>
      <vt:lpstr>Registration Test Cases (2 of 4)</vt:lpstr>
      <vt:lpstr>Registration Test Cases (3 of 4)</vt:lpstr>
      <vt:lpstr>Registration Test Cases (4 of 4)</vt:lpstr>
      <vt:lpstr>14,112 Versus 28</vt:lpstr>
      <vt:lpstr>Limitations and Mistakes</vt:lpstr>
      <vt:lpstr>Limitations of EP (1 of 2)</vt:lpstr>
      <vt:lpstr>Limitations of EP (2 of 2)</vt:lpstr>
      <vt:lpstr>Common Mistakes (1 of 2)</vt:lpstr>
      <vt:lpstr>Common Mistakes (2 of 2)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2026-10-24T17:30:26Z</dcterms:modified>
</cp:coreProperties>
</file>