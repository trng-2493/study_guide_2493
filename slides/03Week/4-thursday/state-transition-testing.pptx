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2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78" r:id="rId8"/>
    <p:sldId id="379" r:id="rId9"/>
    <p:sldId id="380" r:id="rId10"/>
    <p:sldId id="381" r:id="rId11"/>
    <p:sldId id="382" r:id="rId12"/>
    <p:sldId id="383" r:id="rId13"/>
    <p:sldId id="384" r:id="rId14"/>
    <p:sldId id="385" r:id="rId15"/>
    <p:sldId id="386" r:id="rId16"/>
    <p:sldId id="387" r:id="rId17"/>
    <p:sldId id="388" r:id="rId18"/>
    <p:sldId id="389" r:id="rId19"/>
    <p:sldId id="390" r:id="rId20"/>
    <p:sldId id="391" r:id="rId21"/>
    <p:sldId id="392" r:id="rId22"/>
    <p:sldId id="393" r:id="rId23"/>
    <p:sldId id="394" r:id="rId24"/>
    <p:sldId id="395" r:id="rId25"/>
    <p:sldId id="396" r:id="rId26"/>
    <p:sldId id="397" r:id="rId27"/>
    <p:sldId id="398" r:id="rId28"/>
    <p:sldId id="399" r:id="rId29"/>
    <p:sldId id="400" r:id="rId30"/>
    <p:sldId id="401" r:id="rId31"/>
    <p:sldId id="402" r:id="rId32"/>
    <p:sldId id="403" r:id="rId33"/>
    <p:sldId id="404" r:id="rId34"/>
    <p:sldId id="405" r:id="rId35"/>
    <p:sldId id="406" r:id="rId36"/>
    <p:sldId id="407" r:id="rId37"/>
    <p:sldId id="408" r:id="rId38"/>
    <p:sldId id="409" r:id="rId39"/>
    <p:sldId id="377" r:id="rId122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122" Type="http://schemas.openxmlformats.org/officeDocument/2006/relationships/slide" Target="slides/slide121.xml"/><Relationship Id="rId123" Type="http://schemas.openxmlformats.org/officeDocument/2006/relationships/presProps" Target="presProps.xml"/><Relationship Id="rId124" Type="http://schemas.openxmlformats.org/officeDocument/2006/relationships/viewProps" Target="viewProps.xml"/><Relationship Id="rId125" Type="http://schemas.openxmlformats.org/officeDocument/2006/relationships/theme" Target="theme/theme1.xml"/><Relationship Id="rId1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deck of the day; the demo and the pair exercise follow.</a:t>
            </a:r>
          </a:p>
          <a:p>
            <a:r>
              <a:t>One model runs through the deck: login with a failed-attempt counter and lock; a short order lifecycle is the second example.</a:t>
            </a:r>
          </a:p>
          <a:p>
            <a:r>
              <a:t>The traffic light and turnstile are tiny models, not analogies.</a:t>
            </a:r>
          </a:p>
          <a:p>
            <a:r>
              <a:t>The written lesson keeps the ATM and bug-workflow examples, the full invalid-test list (IT1 to IT12), the 1-switch paths and the Python state-machine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'You type a wrong password and see an error. You type the same wrong password again. Same result?' Not on the third try.</a:t>
            </a:r>
          </a:p>
          <a:p>
            <a:r>
              <a:t>Objective 3 is the heart: the table shows the cells the diagram hides.</a:t>
            </a:r>
          </a:p>
          <a:p>
            <a:r>
              <a:t>Objective 5 is what most teams skip: invalid transitions.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when to use the technique and the words it uses.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 rule: if the same input can give different results depending on what happened before, consider state transition testing.</a:t>
            </a:r>
          </a:p>
          <a:p>
            <a:r>
              <a:t>A traffic light has no sensor for the previous colour, yet always knows what comes next: its state remembers.</a:t>
            </a:r>
          </a:p>
          <a:p>
            <a:r>
              <a:t>The trigger words in the last line should switch on your 'state detector'.</a:t>
            </a:r>
          </a:p>
          <a:p>
            <a:r>
              <a:t>Ask: name a feature in a shopping cart that depends on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None of these is found by testing one input at a time.</a:t>
            </a:r>
          </a:p>
          <a:p>
            <a:r>
              <a:t>Most are invalid transitions: events the system should refuse in that state.</a:t>
            </a:r>
          </a:p>
          <a:p>
            <a:r>
              <a:t>The bug workflow is itself a state machine (Tuesday's defect lifecycle); the written lesson tests it as Example 5.</a:t>
            </a:r>
          </a:p>
          <a:p>
            <a:r>
              <a:t>Ask: which of these would cost real money? (Cancel after shipping; expired session payment.)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state summarises the relevant history: 'Failed 2' means two failures so far.</a:t>
            </a:r>
          </a:p>
          <a:p>
            <a:r>
              <a:t>Events include clicks, messages, payments confirmed, and timers expiring.</a:t>
            </a:r>
          </a:p>
          <a:p>
            <a:r>
              <a:t>A transition is the movement caused by an event: (Failed 2) + login_fail = (Locked).</a:t>
            </a:r>
          </a:p>
          <a:p>
            <a:r>
              <a:t>Ask: what is the event when a session times out? (Time passing: a timer event.)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Guard and action are both optional in the notation.</a:t>
            </a:r>
          </a:p>
          <a:p>
            <a:r>
              <a:t>Expected output in a test usually comes from the action.</a:t>
            </a:r>
          </a:p>
          <a:p>
            <a:r>
              <a:t>One event can have two transitions with opposite guards: within 30 days, or not.</a:t>
            </a:r>
          </a:p>
          <a:p>
            <a:r>
              <a:t>The initial state is drawn as a filled dot with an arrow; final states may have no way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why we need both a diagram and a table.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Starts LOCKED (the dot). Coin unlocks; push lets a person through and locks again.</a:t>
            </a:r>
          </a:p>
          <a:p>
            <a:r>
              <a:t>Push on a locked turnstile does nothing: a self-transition to verify (no message, no state change).</a:t>
            </a:r>
          </a:p>
          <a:p>
            <a:r>
              <a:t>Reading checklist: find the initial state, count states, list events, count arrows.</a:t>
            </a:r>
          </a:p>
          <a:p>
            <a:r>
              <a:t>Ask: how many transitions does this diagram have? (4.)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Turnstile: 2 states x 2 events = 4 cells, all valid.</a:t>
            </a:r>
          </a:p>
          <a:p>
            <a:r>
              <a:t>Traffic light: 3 states x 1 event (timer) = 3 cells.</a:t>
            </a:r>
          </a:p>
          <a:p>
            <a:r>
              <a:t>Real systems have many more cells than arrows: most cells are invalid transitions.</a:t>
            </a:r>
          </a:p>
          <a:p>
            <a:r>
              <a:t>Ask: for 5 states and 4 events, how many cells? (20.)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invalid transition test proves two things: the system refuses, and the state did not change.</a:t>
            </a:r>
          </a:p>
          <a:p>
            <a:r>
              <a:t>Checking only the message misses a counter that silently changed.</a:t>
            </a:r>
          </a:p>
          <a:p>
            <a:r>
              <a:t>At UI level an invalid event is often a hidden or disabled button; at API level, send it anyway.</a:t>
            </a:r>
          </a:p>
          <a:p>
            <a:r>
              <a:t>API testing is Week 7; here we only note that it reaches cells the UI hides.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the running example, built step by step.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R1 to R6 in the written lesson (assumed requirements for a sample login feature).</a:t>
            </a:r>
          </a:p>
          <a:p>
            <a:r>
              <a:t>Underline the states (not logged in, logged in, locked) and the events (correct, wrong, unlock, logout).</a:t>
            </a:r>
          </a:p>
          <a:p>
            <a:r>
              <a:t>The counter adds 'failed once' and 'failed twice' as states.</a:t>
            </a:r>
          </a:p>
          <a:p>
            <a:r>
              <a:t>R6 is the one most often broken in real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Failed 1 and Failed 2 make 'the third failure' visible in the diagram.</a:t>
            </a:r>
          </a:p>
          <a:p>
            <a:r>
              <a:t>A counter of 99 would need a guard instead: login_fail [count = 99] / lock.</a:t>
            </a:r>
          </a:p>
          <a:p>
            <a:r>
              <a:t>Actions: show error with attempts left, show 'account locked', create session, reset counter.</a:t>
            </a:r>
          </a:p>
          <a:p>
            <a:r>
              <a:t>Farhan (BA) answers the questions that come out of step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valid transitions, T1 to T8.</a:t>
            </a:r>
          </a:p>
          <a:p>
            <a:r>
              <a:t>T1, T3, T5 form the failure chain; T2, T4, T6 are successful logins from each non-locked state.</a:t>
            </a:r>
          </a:p>
          <a:p>
            <a:r>
              <a:t>T7 unlock (for example after a password reset) returns to Logged Out; T8 logout does the same from Logged In.</a:t>
            </a:r>
          </a:p>
          <a:p>
            <a:r>
              <a:t>The demo's diagram (demos/4-thursday/diagrams/login-state-diagram.mermaid) is the same model with different event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 cells name the next state; red cells are invalid transitions.</a:t>
            </a:r>
          </a:p>
          <a:p>
            <a:r>
              <a:t>Locked + login_ok: R6 says refuse it even with the correct password.</a:t>
            </a:r>
          </a:p>
          <a:p>
            <a:r>
              <a:t>Logged In + login_fail: already logged in; what should the page do? A question for Farhan.</a:t>
            </a:r>
          </a:p>
          <a:p>
            <a:r>
              <a:t>The written lesson lists the expected output for every one of the 12 invalid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four levels of state coverage and how to count them.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Coverage % = items exercised / items in the model x 100, for each level.</a:t>
            </a:r>
          </a:p>
          <a:p>
            <a:r>
              <a:t>All states: the lightest; login_fail three times visits 4 of 5 states (80%).</a:t>
            </a:r>
          </a:p>
          <a:p>
            <a:r>
              <a:t>0-switch: every valid transition once; most projects aim here, plus the important invalid ones.</a:t>
            </a:r>
          </a:p>
          <a:p>
            <a:r>
              <a:t>1-switch: every sequence of two transitions; finds defects in the links between transitions.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 the totals from the model before testing, so coverage has a denominator.</a:t>
            </a:r>
          </a:p>
          <a:p>
            <a:r>
              <a:t>1-switch count: for each state multiply transitions in by transitions out, then add.</a:t>
            </a:r>
          </a:p>
          <a:p>
            <a:r>
              <a:t>Login: Logged Out 2 x 2, Failed 1 1 x 2, Failed 2 1 x 2, Locked 1 x 1, Logged In 3 x 1 = 4 + 2 + 2 + 1 + 3 = 12.</a:t>
            </a:r>
          </a:p>
          <a:p>
            <a:r>
              <a:t>Risk-based depth is Tuesday's test-planning idea applied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0-switch coverage alone does not prove the reset: you must follow a success with new failures.</a:t>
            </a:r>
          </a:p>
          <a:p>
            <a:r>
              <a:t>This is TC-L5 'reset proof' in the written lesson.</a:t>
            </a:r>
          </a:p>
          <a:p>
            <a:r>
              <a:t>Long paths that reach full 1-switch coverage are better automated than run by hand.</a:t>
            </a:r>
          </a:p>
          <a:p>
            <a:r>
              <a:t>Ask: which pair of transitions does this sequence test? (Login success followed by a failure.)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paths, test case format, invalid transitions and guards.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'Enter a wrong password; expected: account locks' is meaningless without knowing how many attempts came before.</a:t>
            </a:r>
          </a:p>
          <a:p>
            <a:r>
              <a:t>Leftover state from earlier tests makes results flaky: reset test accounts first.</a:t>
            </a:r>
          </a:p>
          <a:p>
            <a:r>
              <a:t>To find a small set of paths: pick a long path covering many unmarked transitions, repeat until all are covered.</a:t>
            </a:r>
          </a:p>
          <a:p>
            <a:r>
              <a:t>Combine paths only for a reason, such as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Paths could be joined into three, but short separate paths are easier to diagnose.</a:t>
            </a:r>
          </a:p>
          <a:p>
            <a:r>
              <a:t>Path A also visits four of the five states.</a:t>
            </a:r>
          </a:p>
          <a:p>
            <a:r>
              <a:t>Every path starts at Logged Out, the initial state.</a:t>
            </a:r>
          </a:p>
          <a:p>
            <a:r>
              <a:t>Ask: which single path adds Logged In to path A's states? (Any of B, C, 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TC-L1 (path A) in the written lesson; TC-L2 to TC-L4 follow the same format.</a:t>
            </a:r>
          </a:p>
          <a:p>
            <a:r>
              <a:t>The messages are the actions on each transition.</a:t>
            </a:r>
          </a:p>
          <a:p>
            <a:r>
              <a:t>Verifying state may need grey-box access; ask Karan or Vikram for a test hook.</a:t>
            </a:r>
          </a:p>
          <a:p>
            <a:r>
              <a:t>Ask: what would you check after step 3 besides the message? (Login with the correct password is refused.)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tests, one invalid event each.</a:t>
            </a:r>
          </a:p>
          <a:p>
            <a:r>
              <a:t>The written lesson lists all twelve (IT1 to IT12) with expected outputs.</a:t>
            </a:r>
          </a:p>
          <a:p>
            <a:r>
              <a:t>The Python demo in the written lesson plants exactly the star defect; one invalid-transition test catches it.</a:t>
            </a:r>
          </a:p>
          <a:p>
            <a:r>
              <a:t>Total plan for login: 5 of 5 states, 8 of 8 valid, 12 of 12 invalid, plus the reset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models hide numeric boundaries in guards and counters: BVA applies directly.</a:t>
            </a:r>
          </a:p>
          <a:p>
            <a:r>
              <a:t>Ask Rohan whether day 30 counts from delivery time or delivery date.</a:t>
            </a:r>
          </a:p>
          <a:p>
            <a:r>
              <a:t>Time is an event as well: timeouts, expiry and lockout durations.</a:t>
            </a:r>
          </a:p>
          <a:p>
            <a:r>
              <a:t>Error guessing adds: two tabs failing alternately; Back after logout; double-click Pay.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6: finding requirement gaps, a second model, limits and the day's summary.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Filling every cell forces questions the requirement never answered.</a:t>
            </a:r>
          </a:p>
          <a:p>
            <a:r>
              <a:t>Security note: do not reveal that the password was correct on a locked account.</a:t>
            </a:r>
          </a:p>
          <a:p>
            <a:r>
              <a:t>Time is the event most often missing from models.</a:t>
            </a:r>
          </a:p>
          <a:p>
            <a:r>
              <a:t>The written lesson has a table of typical gap questions per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paths reach 100% valid transition coverage; two already visit all seven states.</a:t>
            </a:r>
          </a:p>
          <a:p>
            <a:r>
              <a:t>Invalid tests: SHIPPED + cancel (refused, no refund), CART + pay, DELIVERED + ship.</a:t>
            </a:r>
          </a:p>
          <a:p>
            <a:r>
              <a:t>The return guard gives boundary tests on days 29, 30, 31.</a:t>
            </a:r>
          </a:p>
          <a:p>
            <a:r>
              <a:t>The ATM and bug-workflow models are in the written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counter of 99 attempts as 99 states makes an unreadable diagram: use a guard.</a:t>
            </a:r>
          </a:p>
          <a:p>
            <a:r>
              <a:t>Split models by feature: login lock, session, order lifecycle.</a:t>
            </a:r>
          </a:p>
          <a:p>
            <a:r>
              <a:t>Hierarchical states: an Order state containing payment sub-states.</a:t>
            </a:r>
          </a:p>
          <a:p>
            <a:r>
              <a:t>The diagram is a model of the requirement; it can be wrong or out of date, so review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recaps the technique chooser from the black-box deck; nothing new is taught here.</a:t>
            </a:r>
          </a:p>
          <a:p>
            <a:r>
              <a:t>The afternoon demo applies these layers to one login feature and shows which technique found each planted defect.</a:t>
            </a:r>
          </a:p>
          <a:p>
            <a:r>
              <a:t>In the pair exercise, each pair chooses three techniques and cross-reviews another pair's design.</a:t>
            </a:r>
          </a:p>
          <a:p>
            <a:r>
              <a:t>Ask: if you had time for only two techniques on login, which two and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skipping guard conditions (test both sides at the boundary); ignoring self-transitions; treating the diagram as the requirement; a separate state for every counter value.</a:t>
            </a:r>
          </a:p>
          <a:p>
            <a:r>
              <a:t>Ask: which mistake hides 'locked account accepts the correct password'?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'A coupon can be used once.' States? (Unused, Used.) Invalid transition? (Used + apply.)</a:t>
            </a:r>
          </a:p>
          <a:p>
            <a:r>
              <a:t>Bridge: the demo and the pair exercise apply today's techniques to one feature.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the ATM and bug-workflow models, the full invalid-test list, the 1-switch paths and the Python state-machine demo with pytest (Week 4).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10/25/2026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10/25/2026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State Transition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When what happens depends on what has already happened</a:t>
            </a:r>
          </a:p>
        </p:txBody>
      </p:sp>
      <p:sp>
        <p:nvSpPr>
          <p:cNvPr id="20" name="Oval 19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2648" y="3520440"/>
            <a:ext cx="1698032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History matters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388750" y="3630168"/>
            <a:ext cx="234211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01032" y="3520440"/>
            <a:ext cx="1249127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Vocabulary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028229" y="3630168"/>
            <a:ext cx="234211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40511" y="3520440"/>
            <a:ext cx="205715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Diagrams and tables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475737" y="3630168"/>
            <a:ext cx="234211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88019" y="3520440"/>
            <a:ext cx="106956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Coverage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935655" y="3630168"/>
            <a:ext cx="234211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47936" y="3520440"/>
            <a:ext cx="1249127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Test paths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575134" y="3630168"/>
            <a:ext cx="234211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87415" y="3520440"/>
            <a:ext cx="1698032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Gaps and limits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WEEK 3 · THURSDAY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Recognise behaviour that depends on history: same input, different result.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Define state, event, transition, action and guard.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Draw a state diagram and build a state table with invalid transitions.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Calculate state, transition and 1-switch coverage.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Design event-sequence tests and use state tables to find gaps.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System That Remembers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History and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Input, Different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2377440"/>
                <a:gridCol w="640080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System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Same input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Result depends on state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Login page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 wrong password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1st: error. 3rd: account locked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Shopping order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Cancel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Placed: cancelled. Shipped: refused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Turnstile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Push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Locked: stays locked. Unlocked: you pass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Traffic light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Timer expires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Red: turns green. Green: turns yellow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2578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Listen for: only after, until, once, the third time, already, locked, expired, status.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4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Defects That Hide in State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Locked, yet logs in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Correct password accepted on a locked account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Cancel after shipping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An order cancelled once it has left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Skipped steps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bug moved from New straight to Closed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Back after logout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dashboard is still shown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Counter not reset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Old failures count after a successful 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Timeouts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An expired session still accepts a payment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5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State, Event,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2194560"/>
            <a:ext cx="2743200" cy="914400"/>
          </a:xfrm>
          <a:prstGeom prst="roundRect">
            <a:avLst>
              <a:gd name="adj" fmla="val 45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Failed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2194560"/>
            <a:ext cx="2743200" cy="914400"/>
          </a:xfrm>
          <a:prstGeom prst="roundRect">
            <a:avLst>
              <a:gd name="adj" fmla="val 4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Locked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06240" y="2651760"/>
            <a:ext cx="3749039" cy="0"/>
          </a:xfrm>
          <a:prstGeom prst="line">
            <a:avLst/>
          </a:prstGeom>
          <a:ln w="381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846320" y="210312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login_fail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36576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State: a stable condition, waiting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65760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Event: something that happens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6576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Transition: state + event = next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4983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States are nouns or adjectives (Locked, Paid); events are verbs (pay, ship, login_fail).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6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Action, Guard, Initial and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10972800" cy="7772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event [guard] /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697480"/>
            <a:ext cx="10972800" cy="86868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807208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return_request [within 30 days of delivery] / issue refund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840480"/>
            <a:ext cx="2571750" cy="16459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Action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What the system does: message, email, charge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2998" y="3840480"/>
            <a:ext cx="2571750" cy="16459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Guard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true/false condition; if false, no transition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3348" y="3840480"/>
            <a:ext cx="2571750" cy="16459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Initial state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One per model: every test starts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13698" y="3840480"/>
            <a:ext cx="2571750" cy="16459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Final state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dead end by design: Cancelled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7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Diagrams and Tables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views of the same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8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State Diagram: The Turnstile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3063240"/>
            <a:ext cx="237744" cy="237744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26464" y="3182112"/>
            <a:ext cx="859536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86000" y="2788920"/>
            <a:ext cx="2560320" cy="822960"/>
          </a:xfrm>
          <a:prstGeom prst="roundRect">
            <a:avLst>
              <a:gd name="adj" fmla="val 4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LOCKED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788920"/>
            <a:ext cx="2560320" cy="822960"/>
          </a:xfrm>
          <a:prstGeom prst="roundRect">
            <a:avLst>
              <a:gd name="adj" fmla="val 4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UNLOCKED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46320" y="2971800"/>
            <a:ext cx="274320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20640" y="26060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coin / unlock arm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4846320" y="3429000"/>
            <a:ext cx="274320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0" y="34747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push / person passes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017520" y="2148840"/>
            <a:ext cx="0" cy="64008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17520" y="2148840"/>
            <a:ext cx="109728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14800" y="2148840"/>
            <a:ext cx="0" cy="64008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51760" y="1783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push / nothing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321040" y="2148840"/>
            <a:ext cx="0" cy="64008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21040" y="2148840"/>
            <a:ext cx="109728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2148840"/>
            <a:ext cx="0" cy="64008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863840" y="17830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coin / coin returned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2062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Boxes are states, arrows are transitions labelled with the event.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The loops are self-transitions: still transitions, still need tests.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9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 State Table Too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219456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62072" y="1828800"/>
            <a:ext cx="2011680" cy="68580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coin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28616" y="1828800"/>
            <a:ext cx="2011680" cy="68580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push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569464"/>
            <a:ext cx="2194560" cy="685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LOCKED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2072" y="2569464"/>
            <a:ext cx="2011680" cy="68580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UNLOCKED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28616" y="2569464"/>
            <a:ext cx="2011680" cy="68580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LOCKED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310128"/>
            <a:ext cx="2194560" cy="685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UNLOCKED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3310128"/>
            <a:ext cx="2011680" cy="68580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UNLOCKED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28616" y="3310128"/>
            <a:ext cx="2011680" cy="68580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343400"/>
            <a:ext cx="58521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Rows: states. Columns: events.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Every cell asks: what happens here?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Here all four cells are defined.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691640"/>
            <a:ext cx="4636008" cy="39319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Diagram vs table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diagram shows the arrows that exist.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It hides the ones that are missing.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table lists every state-event pair, so gaps and invalid transitions become visible.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10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Valid, Invalid and Self-Transitions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25603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Valid transition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requirement allows the event here.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Positive tests exercise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25603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C00000"/>
                </a:solidFill>
                <a:latin typeface="Arial"/>
              </a:rPr>
              <a:t>Invalid transition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Not allowed in this state.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Test: refused or ignored, state unchanged.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25603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330066"/>
                </a:solidFill>
                <a:latin typeface="Arial"/>
              </a:rPr>
              <a:t>Self-transition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Returns to the same state.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'Nothing happens' is behaviour to verify.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61772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Invalid cells hide 'cancel after shipping' and 'locked account logs in'.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Mark them 'invalid' (or null) in the table and test the risky 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11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the Login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 requirements to a diagram and a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12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700784"/>
            <a:ext cx="102870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The login page is shown to a user who is not logged in.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59152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414016"/>
            <a:ext cx="102870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Correct username and password log the user in.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72384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27248"/>
            <a:ext cx="102870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A wrong password shows an error and adds one to the failed-attempt counter.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85615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0479"/>
            <a:ext cx="102870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The third consecutive failure locks the account.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498848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53712"/>
            <a:ext cx="102870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A successful login resets the counter; an unlock returns to logged out.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120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266944"/>
            <a:ext cx="102870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A locked account cannot log in, even with the correct password.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13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Words to 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1 Underline states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33472" y="224028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2788920"/>
            <a:ext cx="19751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Logged Out, Failed 1, Failed 2, Locked, Logged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62072" y="178308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2 Underline events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82896" y="224028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62072" y="2788920"/>
            <a:ext cx="19751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login_fail, login_ok, unlock, logout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1496" y="178308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3 List transitions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0" y="224028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11496" y="2788920"/>
            <a:ext cx="19751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From, event, to: T1 to T8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78308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4 Guards and actions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81744" y="224028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60920" y="2788920"/>
            <a:ext cx="19751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Messages, counter, session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10344" y="178308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5 Fill the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0344" y="2788920"/>
            <a:ext cx="19751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5 states x 4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2062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Model the counter as separate states while it is small (3 attempts).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Every transition traces to a requirement; every empty cell becomes a question.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14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Login State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246120"/>
            <a:ext cx="2011680" cy="685800"/>
          </a:xfrm>
          <a:prstGeom prst="roundRect">
            <a:avLst>
              <a:gd name="adj" fmla="val 45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Logged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691640"/>
            <a:ext cx="2011680" cy="685800"/>
          </a:xfrm>
          <a:prstGeom prst="roundRect">
            <a:avLst>
              <a:gd name="adj" fmla="val 45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Failed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91640"/>
            <a:ext cx="2011680" cy="685800"/>
          </a:xfrm>
          <a:prstGeom prst="roundRect">
            <a:avLst>
              <a:gd name="adj" fmla="val 45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Failed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91640"/>
            <a:ext cx="2011680" cy="685800"/>
          </a:xfrm>
          <a:prstGeom prst="roundRect">
            <a:avLst>
              <a:gd name="adj" fmla="val 4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Locked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892040"/>
            <a:ext cx="2011680" cy="685800"/>
          </a:xfrm>
          <a:prstGeom prst="roundRect">
            <a:avLst>
              <a:gd name="adj" fmla="val 4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Logged In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97480"/>
            <a:ext cx="237744" cy="237744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33271" y="2935224"/>
            <a:ext cx="155449" cy="310896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377440" y="2103120"/>
            <a:ext cx="914400" cy="114300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83080" y="23317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T1 login_fail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03520" y="2029968"/>
            <a:ext cx="82296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983480" y="24231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T3 login_fail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38160" y="2029968"/>
            <a:ext cx="82296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18120" y="24231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T5 login_fail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966960" y="2377440"/>
            <a:ext cx="0" cy="1207008"/>
          </a:xfrm>
          <a:prstGeom prst="line">
            <a:avLst/>
          </a:prstGeom>
          <a:ln w="222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651760" y="3584448"/>
            <a:ext cx="731520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03920" y="363931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T7 unlock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45920" y="3931920"/>
            <a:ext cx="4480560" cy="1298448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377440" y="47548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T2 login_ok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97680" y="2377440"/>
            <a:ext cx="2194560" cy="251460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09160" y="2697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T4 login_ok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0" y="2377440"/>
            <a:ext cx="0" cy="251460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23760" y="2697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T6 login_ok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138160" y="5230368"/>
            <a:ext cx="640080" cy="0"/>
          </a:xfrm>
          <a:prstGeom prst="line">
            <a:avLst/>
          </a:prstGeom>
          <a:ln w="222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778240" y="5230368"/>
            <a:ext cx="0" cy="667512"/>
          </a:xfrm>
          <a:prstGeom prst="line">
            <a:avLst/>
          </a:prstGeom>
          <a:ln w="222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68680" y="5897880"/>
            <a:ext cx="7909560" cy="0"/>
          </a:xfrm>
          <a:prstGeom prst="line">
            <a:avLst/>
          </a:prstGeom>
          <a:ln w="222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68680" y="3931920"/>
            <a:ext cx="0" cy="196596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474720" y="56052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T8 logout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15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Login State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2011680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79192" y="1645920"/>
            <a:ext cx="1691640" cy="603504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login_fail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1691640" cy="603504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login_ok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1691640" cy="603504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unlock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18704" y="1645920"/>
            <a:ext cx="1691640" cy="603504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logout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2304288"/>
            <a:ext cx="2011680" cy="603504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Logged 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9192" y="2304288"/>
            <a:ext cx="1691640" cy="603504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Failed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2304288"/>
            <a:ext cx="1691640" cy="603504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Logged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04288"/>
            <a:ext cx="1691640" cy="603504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invalid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18704" y="2304288"/>
            <a:ext cx="1691640" cy="603504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invalid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2962656"/>
            <a:ext cx="2011680" cy="603504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Failed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79192" y="2962656"/>
            <a:ext cx="1691640" cy="603504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Failed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962656"/>
            <a:ext cx="1691640" cy="603504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Logged 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962656"/>
            <a:ext cx="1691640" cy="603504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invalid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18704" y="2962656"/>
            <a:ext cx="1691640" cy="603504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invalid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3621024"/>
            <a:ext cx="2011680" cy="603504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Failed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79192" y="3621024"/>
            <a:ext cx="1691640" cy="603504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Locked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3621024"/>
            <a:ext cx="1691640" cy="603504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Logged 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621024"/>
            <a:ext cx="1691640" cy="603504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invalid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18704" y="3621024"/>
            <a:ext cx="1691640" cy="603504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invalid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4279392"/>
            <a:ext cx="2011680" cy="603504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Locked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79192" y="4279392"/>
            <a:ext cx="1691640" cy="603504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invalid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25696" y="4279392"/>
            <a:ext cx="1691640" cy="603504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invalid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279392"/>
            <a:ext cx="1691640" cy="603504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Logged 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18704" y="4279392"/>
            <a:ext cx="1691640" cy="603504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invalid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" y="4937759"/>
            <a:ext cx="2011680" cy="603504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Logged 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79192" y="4937759"/>
            <a:ext cx="1691640" cy="603504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invalid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25696" y="4937759"/>
            <a:ext cx="1691640" cy="603504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invalid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937759"/>
            <a:ext cx="1691640" cy="603504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invalid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18704" y="4937759"/>
            <a:ext cx="1691640" cy="603504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Logged Out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1645920"/>
            <a:ext cx="2075688" cy="39319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20 cells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8 valid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12 invalid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Locked + login_ok is the star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16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 Levels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 lightest to heaviest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17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4572000"/>
            <a:ext cx="2606040" cy="12801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All states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Every state visited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5848" y="3703320"/>
            <a:ext cx="2606040" cy="2148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Valid transitions (0-switch)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Every arrow once: the usual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8" y="2834640"/>
            <a:ext cx="2606040" cy="30175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Invalid transitions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Every invalid cell tried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2248" y="1965960"/>
            <a:ext cx="2606040" cy="38862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1-switch (N-switch)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Every pair of consecutive transitions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64592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Each step up finds defects the step below cannot.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18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Counting the Login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571750" cy="15544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330066"/>
                </a:solidFill>
                <a:latin typeface="Arial"/>
              </a:rPr>
              <a:t>5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states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2998" y="1691640"/>
            <a:ext cx="2571750" cy="15544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2E7D32"/>
                </a:solidFill>
                <a:latin typeface="Arial"/>
              </a:rPr>
              <a:t>8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valid transitions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3348" y="1691640"/>
            <a:ext cx="2571750" cy="15544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C00000"/>
                </a:solidFill>
                <a:latin typeface="Arial"/>
              </a:rPr>
              <a:t>12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invalid cells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13698" y="1691640"/>
            <a:ext cx="2571750" cy="15544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5B2C83"/>
                </a:solidFill>
                <a:latin typeface="Arial"/>
              </a:rPr>
              <a:t>12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1-switch pairs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" y="3520440"/>
          <a:ext cx="10972800" cy="24140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0"/>
                <a:gridCol w="640080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Suggested level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Low (a help-panel toggle)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All states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Normal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Valid transitions + important invalid ones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High (payments, security)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All valid, all invalid, 1-switch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19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1-Switch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645920" cy="7315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fail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58568" y="2194560"/>
            <a:ext cx="210311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68879" y="1828800"/>
            <a:ext cx="1645920" cy="7315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fail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2194560"/>
            <a:ext cx="21031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25112" y="1828800"/>
            <a:ext cx="1645920" cy="731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ok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71031" y="2194560"/>
            <a:ext cx="210313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81344" y="1828800"/>
            <a:ext cx="1645920" cy="731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logout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27264" y="2194560"/>
            <a:ext cx="210311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37575" y="1828800"/>
            <a:ext cx="1645920" cy="7315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fail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83496" y="2194560"/>
            <a:ext cx="210311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893807" y="1828800"/>
            <a:ext cx="1645920" cy="7315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2926080"/>
            <a:ext cx="5303520" cy="21031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Requirement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 successful login resets the counter.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After this sequence: Failed 2, not Locked.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2926080"/>
            <a:ext cx="5303520" cy="21031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C00000"/>
                </a:solidFill>
                <a:latin typeface="Arial"/>
              </a:rPr>
              <a:t>Defect it catches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Counter not reset by login.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account locks too early.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349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Every arrow can pass alone; the defect is in the link between two.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20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Designing Tests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Event sequences from the initial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21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Tests Are Event 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72100" cy="1691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Start at the initial state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Or state exactly how to reach the start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3348" y="1691640"/>
            <a:ext cx="5372100" cy="1691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Check after every step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Output and new state, not output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611880"/>
            <a:ext cx="5372100" cy="16916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Chain the rows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One row's end state is the next row's 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348" y="3611880"/>
            <a:ext cx="5372100" cy="16916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Keep paths short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Easy to read and to debug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Columns: step, start state, event, expected output, expected end 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22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Paths for 100% Valid Transitions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80160"/>
                <a:gridCol w="5486400"/>
                <a:gridCol w="420624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Path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Event sequence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Covers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330066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Arial"/>
                        </a:rPr>
                        <a:t>fail, fail, fail, unlock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Arial"/>
                        </a:rPr>
                        <a:t>T1, T3, T5, T7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330066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Arial"/>
                        </a:rPr>
                        <a:t>ok, logout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Arial"/>
                        </a:rPr>
                        <a:t>T2, T8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330066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Arial"/>
                        </a:rPr>
                        <a:t>fail, ok, logout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Arial"/>
                        </a:rPr>
                        <a:t>T1, T4, T8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330066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Arial"/>
                        </a:rPr>
                        <a:t>fail, fail, ok, logout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Arial"/>
                        </a:rPr>
                        <a:t>T1, T3, T6, T8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Union: T1 to T8, 8 of 8 = 100% valid transition coverage.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23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Case: Lock, Then Unlock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4206240"/>
                <a:gridCol w="3291840"/>
                <a:gridCol w="256032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From state + event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Expected output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End state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Logged Out + wrong password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'2 attempts remaining'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Failed 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Failed 1 + wrong password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'1 attempt remaining'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Failed 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Failed 2 + wrong password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'Account locked'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Locked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Locked + unlock (reset)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'Account unlocked'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Logged Out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440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Check the end state at every step: an admin view, an API call or a test hook.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24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Invalid Transition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2434590" cy="10058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Reach the state by its shortest path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92958" y="228600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58718" y="1783080"/>
            <a:ext cx="2434590" cy="10058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Fire the event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39028" y="228600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04788" y="1783080"/>
            <a:ext cx="2434590" cy="1005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Check: refused, clear message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85098" y="228600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50858" y="1783080"/>
            <a:ext cx="2434590" cy="1005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Check: state unchanged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200400"/>
            <a:ext cx="5303520" cy="21945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00000"/>
                </a:solidFill>
                <a:latin typeface="Arial"/>
              </a:rPr>
              <a:t>Star test: Locked + correct password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Expected: 'Account locked'; no session.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Finds the classic 'locked account logs in' defect.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3200400"/>
            <a:ext cx="5303520" cy="21945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55A11"/>
                </a:solidFill>
                <a:latin typeface="Arial"/>
              </a:rPr>
              <a:t>Also high value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Logged Out + logout: no error page.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Failed 1 + unlock: no effect.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Locked + 4th wrong attempt: still locked.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25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Guards Are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10972800" cy="7315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return_request [within 30 days of delivery] / refund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3657600"/>
            <a:ext cx="10744200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188720" y="3502152"/>
            <a:ext cx="5029200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4777740" y="2761488"/>
            <a:ext cx="685800" cy="58978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29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20640" y="3351276"/>
            <a:ext cx="0" cy="13258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875020" y="2761488"/>
            <a:ext cx="685800" cy="58978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30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17920" y="3351276"/>
            <a:ext cx="0" cy="13258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972300" y="2761488"/>
            <a:ext cx="685800" cy="589788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31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0" y="3351276"/>
            <a:ext cx="0" cy="13258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88720" y="39136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Arial"/>
              </a:rPr>
              <a:t>refund allowed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13632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Arial"/>
              </a:rPr>
              <a:t>refused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45720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Test each guard on both sides of its edge: days 29, 30, 31.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Counters are guards too: 2, 3 and 4 failed attempts.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26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Gaps, Limits and the Whole Day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state tables reveal, and where they stop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27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Tables Find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72100" cy="16916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Undefined cell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Logged In + login_fail: what should the page do?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3348" y="1691640"/>
            <a:ext cx="5372100" cy="16916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Unclear message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Locked + correct password: say only 'locked'?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611880"/>
            <a:ext cx="5372100" cy="16916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Missing event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Time: when does a lock expire?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348" y="3611880"/>
            <a:ext cx="5372100" cy="16916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Dead end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 state with no way out that is not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Each cell you cannot answer is a question for Farhan or Rohan.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28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Model: An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1691640" cy="685800"/>
          </a:xfrm>
          <a:prstGeom prst="roundRect">
            <a:avLst>
              <a:gd name="adj" fmla="val 45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CART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04288" y="2121408"/>
            <a:ext cx="182880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87168" y="1783080"/>
            <a:ext cx="1691640" cy="685800"/>
          </a:xfrm>
          <a:prstGeom prst="roundRect">
            <a:avLst>
              <a:gd name="adj" fmla="val 45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PLACED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78808" y="2121408"/>
            <a:ext cx="182880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61688" y="1783080"/>
            <a:ext cx="1691640" cy="685800"/>
          </a:xfrm>
          <a:prstGeom prst="roundRect">
            <a:avLst>
              <a:gd name="adj" fmla="val 45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PAID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53327" y="2121408"/>
            <a:ext cx="182880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36207" y="1783080"/>
            <a:ext cx="1691640" cy="685800"/>
          </a:xfrm>
          <a:prstGeom prst="roundRect">
            <a:avLst>
              <a:gd name="adj" fmla="val 45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SHIPPED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27848" y="2121408"/>
            <a:ext cx="182879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10727" y="1783080"/>
            <a:ext cx="1691640" cy="685800"/>
          </a:xfrm>
          <a:prstGeom prst="roundRect">
            <a:avLst>
              <a:gd name="adj" fmla="val 45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DELIVERED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802367" y="2121408"/>
            <a:ext cx="182881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85248" y="1783080"/>
            <a:ext cx="1691640" cy="685800"/>
          </a:xfrm>
          <a:prstGeom prst="roundRect">
            <a:avLst>
              <a:gd name="adj" fmla="val 4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RETURNED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14813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14813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pay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14813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9208" y="14813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deliver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14813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return [30 d]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749039"/>
            <a:ext cx="2194560" cy="685800"/>
          </a:xfrm>
          <a:prstGeom prst="roundRect">
            <a:avLst>
              <a:gd name="adj" fmla="val 4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CANCELLED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10127" y="2468880"/>
            <a:ext cx="713233" cy="1280159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120640" y="2468880"/>
            <a:ext cx="64008" cy="1280159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28800" y="3017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cancel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5715000" y="2468880"/>
            <a:ext cx="1344168" cy="1463040"/>
          </a:xfrm>
          <a:prstGeom prst="line">
            <a:avLst/>
          </a:prstGeom>
          <a:ln w="22225">
            <a:solidFill>
              <a:srgbClr val="C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949440" y="3291840"/>
            <a:ext cx="4636008" cy="685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SHIPPED + cancel: not allowed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7548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7 states, 7 valid transitions, 35 invalid cells.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prohibited cell is a business rule, exactly where defects live.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29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Limits: State Explosion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920240" cy="10972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600" b="0" i="0">
                <a:solidFill>
                  <a:srgbClr val="1A1A1A"/>
                </a:solidFill>
                <a:latin typeface="Arial"/>
              </a:rPr>
              <a:t>3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counter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2888" y="2103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Arial"/>
              </a:rPr>
              <a:t>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81528" y="1828800"/>
            <a:ext cx="1920240" cy="10972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600" b="0" i="0">
                <a:solidFill>
                  <a:srgbClr val="1A1A1A"/>
                </a:solidFill>
                <a:latin typeface="Arial"/>
              </a:rPr>
              <a:t>4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user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1768" y="2103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Arial"/>
              </a:rPr>
              <a:t>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50408" y="1828800"/>
            <a:ext cx="1920240" cy="10972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600" b="0" i="0">
                <a:solidFill>
                  <a:srgbClr val="1A1A1A"/>
                </a:solidFill>
                <a:latin typeface="Arial"/>
              </a:rPr>
              <a:t>2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device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0648" y="2103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Arial"/>
              </a:rPr>
              <a:t>=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828800"/>
            <a:ext cx="3584448" cy="109728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24 states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38328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Real systems can have thousands of states.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Model only what matters for the risk, one feature at a time.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Larger models nest states inside states (UML); beyond this week.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30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Whole Day on One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017520" cy="658368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Use-case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67328" y="1691640"/>
            <a:ext cx="78181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login journey: main, alternative, exception 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478024"/>
            <a:ext cx="3017520" cy="65836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BVA and 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67328" y="2478024"/>
            <a:ext cx="78181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field lengths, email formats, attempt limit 2, 3,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264408"/>
            <a:ext cx="3017520" cy="658368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Error guessing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67328" y="3264408"/>
            <a:ext cx="78181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trailing spaces, double submit, Back after logout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050791"/>
            <a:ext cx="3017520" cy="658368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Decision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67328" y="4050791"/>
            <a:ext cx="78181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username known, password right, account locked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4837176"/>
            <a:ext cx="3017520" cy="658368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State transition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67328" y="4837176"/>
            <a:ext cx="78181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Logged Out, Failed 1, Failed 2, Locked, Logged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715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Different techniques, different defects: layer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31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85216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Testing only the arrows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Test the risky invalid cells too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Not controlling the start state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Start at the initial state or build the state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Checking only the output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Verify the state after every step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One giant path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Short paths; long ones only for automation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Forgetting time as an event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Model timeouts, expiry and durations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32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Use state transition testing when results depend on history.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States, events, transitions, actions, guards: event [guard] / action.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The diagram shows what exists; the table shows every cell, invalid ones too.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Coverage: all states, valid transitions, invalid transitions, 1-switch.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Tests are short event sequences; check output and state after each step.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State tables find gaps; guards are boundaries; layer the techniques.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33 / 34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Glossary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https://glossary.istqb.org/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Guru99: State Transition Testing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https://www.guru99.com/state-transition-testing.html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Ministry of Testing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https://www.ministryoftesting.com/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7381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7747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pytest documentation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https://docs.pytest.org/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10669</Words>
  <Application>Microsoft Office PowerPoint</Application>
  <PresentationFormat>Widescreen</PresentationFormat>
  <Paragraphs>1578</Paragraphs>
  <Slides>121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121</vt:i4>
      </vt:variant>
    </vt:vector>
  </HeadingPairs>
  <TitlesOfParts>
    <vt:vector size="125" baseType="lpstr">
      <vt:lpstr>Arial</vt:lpstr>
      <vt:lpstr>Courier New</vt:lpstr>
      <vt:lpstr>Wingdings</vt:lpstr>
      <vt:lpstr>Learners Point</vt:lpstr>
      <vt:lpstr>State Transition Testing</vt:lpstr>
      <vt:lpstr>Learning Objectives (1 of 2)</vt:lpstr>
      <vt:lpstr>Learning Objectives (2 of 2)</vt:lpstr>
      <vt:lpstr>Defects That Hide in State Handling</vt:lpstr>
      <vt:lpstr>A System That Remembers</vt:lpstr>
      <vt:lpstr>Traffic Light and Turnstile</vt:lpstr>
      <vt:lpstr>The Golden Rule</vt:lpstr>
      <vt:lpstr>Same Input, Different Result (1 of 2)</vt:lpstr>
      <vt:lpstr>Same Input, Different Result (2 of 2)</vt:lpstr>
      <vt:lpstr>Trigger Words</vt:lpstr>
      <vt:lpstr>The Vocabulary</vt:lpstr>
      <vt:lpstr>State, Event, Transition</vt:lpstr>
      <vt:lpstr>Action, Guard, Initial and Final State</vt:lpstr>
      <vt:lpstr>Valid, Invalid, Self-Transition</vt:lpstr>
      <vt:lpstr>Compact Notation</vt:lpstr>
      <vt:lpstr>Diagrams and Tables</vt:lpstr>
      <vt:lpstr>A State Transition Diagram</vt:lpstr>
      <vt:lpstr>Example B: The Traffic Light</vt:lpstr>
      <vt:lpstr>Why a State Table</vt:lpstr>
      <vt:lpstr>Turnstile as a Table</vt:lpstr>
      <vt:lpstr>Traffic Light as a Table</vt:lpstr>
      <vt:lpstr>Reading a Diagram: Checklist</vt:lpstr>
      <vt:lpstr>Building a Diagram</vt:lpstr>
      <vt:lpstr>Requirements (Project 1 Login, Assumed)</vt:lpstr>
      <vt:lpstr>Steps 1 to 3</vt:lpstr>
      <vt:lpstr>Step 4: List the Transitions</vt:lpstr>
      <vt:lpstr>Steps 5 to 8</vt:lpstr>
      <vt:lpstr>Valid and Invalid Transitions, Again</vt:lpstr>
      <vt:lpstr>Coverage Levels</vt:lpstr>
      <vt:lpstr>The Login Model in Numbers</vt:lpstr>
      <vt:lpstr>The Eight Valid Transitions</vt:lpstr>
      <vt:lpstr>Level 1: All States Coverage</vt:lpstr>
      <vt:lpstr>Level 2: Valid Transitions (0-Switch)</vt:lpstr>
      <vt:lpstr>Level 3: Invalid Transitions</vt:lpstr>
      <vt:lpstr>Level 4: N-Switch Coverage</vt:lpstr>
      <vt:lpstr>Counting 1-Switch Sequences</vt:lpstr>
      <vt:lpstr>1-Switch Count for Login</vt:lpstr>
      <vt:lpstr>What 1-Switch Reveals</vt:lpstr>
      <vt:lpstr>How Deep Should You Go?</vt:lpstr>
      <vt:lpstr>Designing Test Cases</vt:lpstr>
      <vt:lpstr>Rules for Building Paths</vt:lpstr>
      <vt:lpstr>Finding the Minimum Paths</vt:lpstr>
      <vt:lpstr>The Test Case Table Format</vt:lpstr>
      <vt:lpstr>Example 1: Project 1 Login</vt:lpstr>
      <vt:lpstr>The Model</vt:lpstr>
      <vt:lpstr>Login State Table (5 x 4 = 20 Cells)</vt:lpstr>
      <vt:lpstr>Paths for 100% 0-Switch</vt:lpstr>
      <vt:lpstr>Union of Paths A to D</vt:lpstr>
      <vt:lpstr>TC-L1 (Path A): Lock and Unlock</vt:lpstr>
      <vt:lpstr>TC-L2 (Path B): Login and Logout</vt:lpstr>
      <vt:lpstr>TC-L3 (Path C): Fail, Success, Logout</vt:lpstr>
      <vt:lpstr>TC-L4 (Path D): Two Fails, Success</vt:lpstr>
      <vt:lpstr>Reset Check (1-Switch), Requirement R5</vt:lpstr>
      <vt:lpstr>TC-L5: Reset Proof</vt:lpstr>
      <vt:lpstr>Full 1-Switch with Two Long Paths</vt:lpstr>
      <vt:lpstr>Long Paths: Use Selectively</vt:lpstr>
      <vt:lpstr>Invalid Transition Tests</vt:lpstr>
      <vt:lpstr>Invalid Tests IT1-IT12 (1 of 2)</vt:lpstr>
      <vt:lpstr>Invalid Tests IT1-IT12 (2 of 2)</vt:lpstr>
      <vt:lpstr>The Star Test and the Total Plan</vt:lpstr>
      <vt:lpstr>Example 2: ATM PIN Entry</vt:lpstr>
      <vt:lpstr>Requirements (Simplified)</vt:lpstr>
      <vt:lpstr>The Diagram, Described</vt:lpstr>
      <vt:lpstr>ATM: 12 Valid Transitions (1 of 2)</vt:lpstr>
      <vt:lpstr>ATM: 12 Valid Transitions (2 of 2)</vt:lpstr>
      <vt:lpstr>ATM State Table (6 x 6 = 36 Cells)</vt:lpstr>
      <vt:lpstr>Counting the ATM Cells</vt:lpstr>
      <vt:lpstr>ATM: Seven Paths for 0-Switch</vt:lpstr>
      <vt:lpstr>Why Seven Paths, and 1-Switch</vt:lpstr>
      <vt:lpstr>Key Invalid Tests, Counter Boundary</vt:lpstr>
      <vt:lpstr>Example 3: Order Lifecycle</vt:lpstr>
      <vt:lpstr>Requirements (Simplified)</vt:lpstr>
      <vt:lpstr>Order: 7 Valid Transitions</vt:lpstr>
      <vt:lpstr>Order State Table (7 x 6 = 42 Cells)</vt:lpstr>
      <vt:lpstr>The Prohibited Cell</vt:lpstr>
      <vt:lpstr>Order: Three Paths for 0-Switch</vt:lpstr>
      <vt:lpstr>Order Coverage Counts</vt:lpstr>
      <vt:lpstr>Order: Selected Invalid Tests</vt:lpstr>
      <vt:lpstr>Guard Tests Are Boundary Tests</vt:lpstr>
      <vt:lpstr>Examples 4 and 5</vt:lpstr>
      <vt:lpstr>Example 4: Turnstile and Traffic Light</vt:lpstr>
      <vt:lpstr>Turnstile: Paths for 100%</vt:lpstr>
      <vt:lpstr>Turnstile Outputs</vt:lpstr>
      <vt:lpstr>Example 5: The Bug Workflow</vt:lpstr>
      <vt:lpstr>Bug Workflow State Table (7 x 7 = 49)</vt:lpstr>
      <vt:lpstr>Bug Workflow Counts</vt:lpstr>
      <vt:lpstr>Bug Workflow: Invalid Tests</vt:lpstr>
      <vt:lpstr>BI1 and Guards in Real Tools</vt:lpstr>
      <vt:lpstr>Gaps and Other Techniques</vt:lpstr>
      <vt:lpstr>Finding Requirement Gaps</vt:lpstr>
      <vt:lpstr>Typical Gap Questions (1 of 2)</vt:lpstr>
      <vt:lpstr>Typical Gap Questions (2 of 2)</vt:lpstr>
      <vt:lpstr>State vs Table vs Use Case (1 of 2)</vt:lpstr>
      <vt:lpstr>State vs Table vs Use Case (2 of 2)</vt:lpstr>
      <vt:lpstr>They Are Complementary</vt:lpstr>
      <vt:lpstr>Combining with BVA</vt:lpstr>
      <vt:lpstr>Combining with Error Guessing</vt:lpstr>
      <vt:lpstr>UI Level vs API Level</vt:lpstr>
      <vt:lpstr>Python Demo</vt:lpstr>
      <vt:lpstr>The Demo</vt:lpstr>
      <vt:lpstr>States, Events and Our Own Exception</vt:lpstr>
      <vt:lpstr>The Transition Table as a Dictionary</vt:lpstr>
      <vt:lpstr>The fire Method</vt:lpstr>
      <vt:lpstr>The Planted Defect</vt:lpstr>
      <vt:lpstr>The Requirement as Oracle</vt:lpstr>
      <vt:lpstr>Reaching Each State</vt:lpstr>
      <vt:lpstr>The Parametrized Tests</vt:lpstr>
      <vt:lpstr>Run 1: With the Defect</vt:lpstr>
      <vt:lpstr>Reading the Failure</vt:lpstr>
      <vt:lpstr>The Fix and Run 2</vt:lpstr>
      <vt:lpstr>Mistakes and Limits</vt:lpstr>
      <vt:lpstr>Common Mistakes (1 of 3)</vt:lpstr>
      <vt:lpstr>Common Mistakes (2 of 3)</vt:lpstr>
      <vt:lpstr>Common Mistakes (3 of 3)</vt:lpstr>
      <vt:lpstr>Limitations</vt:lpstr>
      <vt:lpstr>One-Page Decision Guide (1 of 2)</vt:lpstr>
      <vt:lpstr>One-Page Decision Guide (2 of 2)</vt:lpstr>
      <vt:lpstr>Combining Techniques on Login</vt:lpstr>
      <vt:lpstr>Six Questions for Any Feature</vt:lpstr>
      <vt:lpstr>Key Takeaways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3</cp:revision>
  <dcterms:modified xsi:type="dcterms:W3CDTF">2026-10-25T09:07:08Z</dcterms:modified>
</cp:coreProperties>
</file>