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393" r:id="rId24"/>
    <p:sldId id="394" r:id="rId25"/>
    <p:sldId id="395" r:id="rId26"/>
    <p:sldId id="396" r:id="rId27"/>
    <p:sldId id="397" r:id="rId28"/>
    <p:sldId id="398" r:id="rId29"/>
    <p:sldId id="399" r:id="rId30"/>
    <p:sldId id="400" r:id="rId31"/>
    <p:sldId id="401" r:id="rId32"/>
    <p:sldId id="402" r:id="rId33"/>
    <p:sldId id="403" r:id="rId34"/>
    <p:sldId id="376" r:id="rId120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120" Type="http://schemas.openxmlformats.org/officeDocument/2006/relationships/slide" Target="slides/slide119.xml"/><Relationship Id="rId121" Type="http://schemas.openxmlformats.org/officeDocument/2006/relationships/presProps" Target="presProps.xml"/><Relationship Id="rId122" Type="http://schemas.openxmlformats.org/officeDocument/2006/relationships/viewProps" Target="viewProps.xml"/><Relationship Id="rId123" Type="http://schemas.openxmlformats.org/officeDocument/2006/relationships/theme" Target="theme/theme1.xml"/><Relationship Id="rId1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deck of the day; black-box testing (the map) came first.</a:t>
            </a:r>
          </a:p>
          <a:p>
            <a:r>
              <a:t>Use-case testing gives the skeleton of a test suite; BVA, EP and the others add the muscle later today.</a:t>
            </a:r>
          </a:p>
          <a:p>
            <a:r>
              <a:t>One analogy runs through the deck: a journey with detours and roadblocks.</a:t>
            </a:r>
          </a:p>
          <a:p>
            <a:r>
              <a:t>The written lesson keeps the ATM and Register worked examples in full and the Python login-flow demo (pytest is Week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'When you tested a login page before, did you test only a correct login?' Most did.</a:t>
            </a:r>
          </a:p>
          <a:p>
            <a:r>
              <a:t>Objective 3 is the core habit: every flow gets a test.</a:t>
            </a:r>
          </a:p>
          <a:p>
            <a:r>
              <a:t>Objective 5 links to Tuesday's requirement reviews and Wednesday's acceptance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1 introduces the idea and the deck's analogy.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one analogy.</a:t>
            </a:r>
          </a:p>
          <a:p>
            <a:r>
              <a:t>Goal = destination; main route = main success scenario; detour = alternative flow; roadblock = exception flow.</a:t>
            </a:r>
          </a:p>
          <a:p>
            <a:r>
              <a:t>Preconditions are how you start (fuel, address); postconditions are where you end up, good or bad.</a:t>
            </a:r>
          </a:p>
          <a:p>
            <a:r>
              <a:t>Every ending must leave the traveller safe and informed: that is the tester's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Actor: anyone or anything outside the system that interacts with it, including an email service or a scheduled job.</a:t>
            </a:r>
          </a:p>
          <a:p>
            <a:r>
              <a:t>Goal: the valuable outcome the actor wants.</a:t>
            </a:r>
          </a:p>
          <a:p>
            <a:r>
              <a:t>Use cases come from UML; the written lesson has the history.</a:t>
            </a:r>
          </a:p>
          <a:p>
            <a:r>
              <a:t>Farhan (BA) or Rohan (PO) usually writes them; Ananya reviews them for testability.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use case produces many test cases: one per scenario at least.</a:t>
            </a:r>
          </a:p>
          <a:p>
            <a:r>
              <a:t>Only inputs, outputs and visible state are used; no code.</a:t>
            </a:r>
          </a:p>
          <a:p>
            <a:r>
              <a:t>Most defects live in the exception flows, not the main flow.</a:t>
            </a:r>
          </a:p>
          <a:p>
            <a:r>
              <a:t>Ask: how many test cases would a use case with 1 main, 2 alternative and 4 exception flows need at minimum? (7.)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what to look for when you read a use case.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Preconditions: what must be true before (user registered, verified, not locked).</a:t>
            </a:r>
          </a:p>
          <a:p>
            <a:r>
              <a:t>Postconditions: success guarantee and failure guarantee (no session after a failed login).</a:t>
            </a:r>
          </a:p>
          <a:p>
            <a:r>
              <a:t>Business rules: 'locked after 3 consecutive failures', 'password 8 to 20 characters'.</a:t>
            </a:r>
          </a:p>
          <a:p>
            <a:r>
              <a:t>A reusable template is in the written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Alternative flow: another way to reach the goal (still success).</a:t>
            </a:r>
          </a:p>
          <a:p>
            <a:r>
              <a:t>Exception flow: something goes wrong; the system must respond safely.</a:t>
            </a:r>
          </a:p>
          <a:p>
            <a:r>
              <a:t>Exceptions that loop back (E1 then success) need a test that completes the loop.</a:t>
            </a:r>
          </a:p>
          <a:p>
            <a:r>
              <a:t>The login use case in the written lesson has 4 alternative and 8 exception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user story says why someone wants something; a use case spells out the interaction; a test case proves one path.</a:t>
            </a:r>
          </a:p>
          <a:p>
            <a:r>
              <a:t>In Agile teams the use case is often lighter: acceptance criteria list the main flow and key exceptions.</a:t>
            </a:r>
          </a:p>
          <a:p>
            <a:r>
              <a:t>Ask: which artifact would you show Sunita (business owner) to confirm the journey? (The use case.)</a:t>
            </a:r>
          </a:p>
          <a:p>
            <a:r>
              <a:t>Common mistake: treating the three as interchangeable.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Drawn natively; the original diagram image is replaced so it is readable from the back of the room.</a:t>
            </a:r>
          </a:p>
          <a:p>
            <a:r>
              <a:t>Include: Register always includes Verify email. Extend: Reset password optionally extends Log in.</a:t>
            </a:r>
          </a:p>
          <a:p>
            <a:r>
              <a:t>The diagram is a checklist: six ovals on the diagram but four in your plan means a gap.</a:t>
            </a:r>
          </a:p>
          <a:p>
            <a:r>
              <a:t>Ask: which actor can view the dashboard? (Registered user only.)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Checkout always includes Pay; Pay is tested once in depth, then reached from each checkout path.</a:t>
            </a:r>
          </a:p>
          <a:p>
            <a:r>
              <a:t>For extend, the condition is the test: link clicked, or not clicked.</a:t>
            </a:r>
          </a:p>
          <a:p>
            <a:r>
              <a:t>Do not repeat the included behaviour in every base test; that is redundancy.</a:t>
            </a:r>
          </a:p>
          <a:p>
            <a:r>
              <a:t>Ask: is 'Log out' an include, an extend, or neither? (Neither: a separate use case.)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3: the method learners use in the exercise.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read slowly; highlight actors, preconditions, steps, branches, postconditions and rules.</a:t>
            </a:r>
          </a:p>
          <a:p>
            <a:r>
              <a:t>Step 3: an exception that returns to a step needs a test that completes the loop.</a:t>
            </a:r>
          </a:p>
          <a:p>
            <a:r>
              <a:t>Step 4: also test what happens when a precondition is false (an unverified user tries to log in).</a:t>
            </a:r>
          </a:p>
          <a:p>
            <a:r>
              <a:t>Step 5 is where BVA and EP come in later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minimum set; risk may add combined scenarios such as A1 then E3.</a:t>
            </a:r>
          </a:p>
          <a:p>
            <a:r>
              <a:t>'What is not done' matters: no session created, no counter change, no email sent.</a:t>
            </a:r>
          </a:p>
          <a:p>
            <a:r>
              <a:t>Each test names its scenario, for example TC-LOG-05 traces to SC5.</a:t>
            </a:r>
          </a:p>
          <a:p>
            <a:r>
              <a:t>Ask: which row produces the most tests on a login use case? (Exception flows.)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oracle decides whether a result is correct (black-box deck).</a:t>
            </a:r>
          </a:p>
          <a:p>
            <a:r>
              <a:t>A common defect: the error message appears, but a session was created anyway.</a:t>
            </a:r>
          </a:p>
          <a:p>
            <a:r>
              <a:t>State checks may need a second screen, an admin view or a database query (grey-box).</a:t>
            </a:r>
          </a:p>
          <a:p>
            <a:r>
              <a:t>Ask: after a failed login, how would you check that no session exists?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4: from flows to a scenario matrix with data and expected results.</a:t>
            </a:r>
          </a:p>
          <a:p>
            <a:r>
              <a:t>This part has 3 concept slides, about 6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scenario is one complete path from the trigger to an ending.</a:t>
            </a:r>
          </a:p>
          <a:p>
            <a:r>
              <a:t>Input checks first, then credentials, then account state, then the session choice.</a:t>
            </a:r>
          </a:p>
          <a:p>
            <a:r>
              <a:t>A flow diagram like this helps to enumerate scenarios without missing an exit.</a:t>
            </a:r>
          </a:p>
          <a:p>
            <a:r>
              <a:t>E8 (system unavailable) is in the written lesson; it needs a test environment that can simulate an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pattern: SC1 is the basic flow, SC2 'basic plus alternative 1', then the exceptions.</a:t>
            </a:r>
          </a:p>
          <a:p>
            <a:r>
              <a:t>Some teams add combined scenarios such as 'A1 then E3'; use judgement because combinations grow quickly.</a:t>
            </a:r>
          </a:p>
          <a:p>
            <a:r>
              <a:t>The matrix is the bridge between the use case and the test cases.</a:t>
            </a:r>
          </a:p>
          <a:p>
            <a:r>
              <a:t>Ask: which scenario proves the counter resets after a successful login?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Dedicated users per state (new, locked, unverified) make tests repeatable.</a:t>
            </a:r>
          </a:p>
          <a:p>
            <a:r>
              <a:t>Record the data you used so a failure can be reproduced; reset state between runs.</a:t>
            </a:r>
          </a:p>
          <a:p>
            <a:r>
              <a:t>Never use real people's information as test data.</a:t>
            </a:r>
          </a:p>
          <a:p>
            <a:r>
              <a:t>Vikram (DevOps) can often provide a reset script for test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5: measuring use-case coverage, its limits, and how use cases connect.</a:t>
            </a:r>
          </a:p>
          <a:p>
            <a:r>
              <a:t>This part has 5 concept slides, about 10 minutes.</a:t>
            </a:r>
          </a:p>
          <a:p>
            <a:r>
              <a:t>Before starting, recap the previous part in one sentence and ask one check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the flows first: main, plus each alternative, plus each exception.</a:t>
            </a:r>
          </a:p>
          <a:p>
            <a:r>
              <a:t>100% flow coverage means each flow was tried once, not that the feature is defect-free.</a:t>
            </a:r>
          </a:p>
          <a:p>
            <a:r>
              <a:t>Report the uncovered flows by name, not just the percentage.</a:t>
            </a:r>
          </a:p>
          <a:p>
            <a:r>
              <a:t>Ask: which grey flow would you add first, and why? (Risk decides; E4 unknown email is a security message check.)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valid password in the main flow does not check 7, 8, 20 or 21 characters: that is BVA.</a:t>
            </a:r>
          </a:p>
          <a:p>
            <a:r>
              <a:t>Unwritten behaviour is invisible to use-case testing: missing flow, missing test.</a:t>
            </a:r>
          </a:p>
          <a:p>
            <a:r>
              <a:t>Non-functional qualities (speed, usability, security depth) need their own tests (Friday).</a:t>
            </a:r>
          </a:p>
          <a:p>
            <a:r>
              <a:t>This slide is the preview of the rest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business process is a chain of use cases that delivers value.</a:t>
            </a:r>
          </a:p>
          <a:p>
            <a:r>
              <a:t>Cross-use-case checks find defects no single use case shows.</a:t>
            </a:r>
          </a:p>
          <a:p>
            <a:r>
              <a:t>Sunita (business owner) can walk the same chain in UAT.</a:t>
            </a:r>
          </a:p>
          <a:p>
            <a:r>
              <a:t>Ask: what is the riskiest hand-off in this chain? (Verify email to Log 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Given/When/Then was introduced with acceptance criteria in Monday's Scrum deck; this is the mapping only.</a:t>
            </a:r>
          </a:p>
          <a:p>
            <a:r>
              <a:t>BDD tools that run these scenarios come later in the programme.</a:t>
            </a:r>
          </a:p>
          <a:p>
            <a:r>
              <a:t>Exception example: Given I am on the login page, When I enter an email without '@', Then 'Enter a valid email address' appears.</a:t>
            </a:r>
          </a:p>
          <a:p>
            <a:r>
              <a:t>Ask: where do business rules go in Given/When/Then? (Usually in the Given or as data.)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types and the tester's review process were Tuesday's requirements deck; this is a use-case checklist.</a:t>
            </a:r>
          </a:p>
          <a:p>
            <a:r>
              <a:t>The question every reviewer asks: 'How would I verify this step?'</a:t>
            </a:r>
          </a:p>
          <a:p>
            <a:r>
              <a:t>Finding a missing exception flow before code exists is the cheapest defect you will ever find.</a:t>
            </a:r>
          </a:p>
          <a:p>
            <a:r>
              <a:t>This is exactly what pairs do in this afternoon's cross-review.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Others: vague expected results; assuming the use case is complete; ignoring secondary actors such as the email service; real personal data; not completing loops.</a:t>
            </a:r>
          </a:p>
          <a:p>
            <a:r>
              <a:t>Ask: which mistake hides a 'session created after failed login' defect?</a:t>
            </a:r>
          </a:p>
          <a:p>
            <a:r>
              <a:t>Quick quiz: read a mistake aloud and ask the class for the fix before revealing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check: 'A use case has 1 main, 3 alternative and 5 exception flows; tests cover 6. Coverage?' (6 / 9 = 66.7%.)</a:t>
            </a:r>
          </a:p>
          <a:p>
            <a:r>
              <a:t>Bridge: next deck, Boundary Value Analysis, adds the muscle at the edges.</a:t>
            </a:r>
          </a:p>
          <a:p>
            <a:r>
              <a:t>Give learners one minute to write the takeaway they found most useful;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written lesson has the use case template, the ATM and Register worked examples, and the Python login-flow demo (pytest is Week 4).</a:t>
            </a:r>
          </a:p>
          <a:p>
            <a:r>
              <a:t>Resources are for self-study after class; none are needed for today's exercise.</a:t>
            </a:r>
          </a:p>
          <a:p>
            <a:r>
              <a:t>The written lesson for this topic is the full reference; slides are the 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10/25/2026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10/25/2026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Use-Case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Test the whole journey, not just the screen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520440"/>
            <a:ext cx="1333983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036461" y="3630168"/>
            <a:ext cx="26949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95784" y="3520440"/>
            <a:ext cx="1127373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Anatomy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612987" y="3630168"/>
            <a:ext cx="26949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72310" y="3520440"/>
            <a:ext cx="123067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Diagrams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292818" y="3630168"/>
            <a:ext cx="26949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52141" y="3520440"/>
            <a:ext cx="1850509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Deriving tests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592480" y="3630168"/>
            <a:ext cx="26949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51802" y="3520440"/>
            <a:ext cx="195381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Scenario matrix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995447" y="3630168"/>
            <a:ext cx="269491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54769" y="3520440"/>
            <a:ext cx="1230678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Arial"/>
              </a:rPr>
              <a:t>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WEEK 3 · THURSDAY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Oval 2"/>
          <p:cNvSpPr/>
          <p:nvPr/>
        </p:nvSpPr>
        <p:spPr>
          <a:xfrm>
            <a:off x="612648" y="16459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70078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Define a use case and use-case testing.</a:t>
            </a:r>
          </a:p>
        </p:txBody>
      </p:sp>
      <p:sp>
        <p:nvSpPr>
          <p:cNvPr id="5" name="Oval 4"/>
          <p:cNvSpPr/>
          <p:nvPr/>
        </p:nvSpPr>
        <p:spPr>
          <a:xfrm>
            <a:off x="612648" y="24688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52374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Describe the parts of a use case and read a use case diagram.</a:t>
            </a:r>
          </a:p>
        </p:txBody>
      </p:sp>
      <p:sp>
        <p:nvSpPr>
          <p:cNvPr id="7" name="Oval 6"/>
          <p:cNvSpPr/>
          <p:nvPr/>
        </p:nvSpPr>
        <p:spPr>
          <a:xfrm>
            <a:off x="612648" y="32918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34670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Derive tests for the main, alternative and exception flows.</a:t>
            </a:r>
          </a:p>
        </p:txBody>
      </p:sp>
      <p:sp>
        <p:nvSpPr>
          <p:cNvPr id="9" name="Oval 8"/>
          <p:cNvSpPr/>
          <p:nvPr/>
        </p:nvSpPr>
        <p:spPr>
          <a:xfrm>
            <a:off x="612648" y="4114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4169663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Build a scenario matrix and calculate use-case coverage.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" y="4937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992624"/>
            <a:ext cx="10287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Review a use case for testability and chain use cases end to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Journeys, Not Screens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a use case is, and how we test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3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Analogy: A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4320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Start: car, fuel, address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9448" y="27432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Arrive at the friend's house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15768" y="3200400"/>
            <a:ext cx="6583680" cy="0"/>
          </a:xfrm>
          <a:prstGeom prst="line">
            <a:avLst/>
          </a:prstGeom>
          <a:ln w="508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17520" y="32918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32"/>
                </a:solidFill>
                <a:latin typeface="Arial"/>
              </a:rPr>
              <a:t>Main route: the main success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0020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Detour for coffee: still arrive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291840" y="2011680"/>
            <a:ext cx="640080" cy="109728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75120" y="2011680"/>
            <a:ext cx="822959" cy="1097280"/>
          </a:xfrm>
          <a:prstGeom prst="line">
            <a:avLst/>
          </a:prstGeom>
          <a:ln w="1905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4206240"/>
            <a:ext cx="2743200" cy="73152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Bridge closed: a sign and a way round?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3291840"/>
            <a:ext cx="640080" cy="128016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4206240"/>
            <a:ext cx="4087368" cy="73152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Or: safely home with a clear reason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4572000"/>
            <a:ext cx="822959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5349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A tester drives the detours and simulates the roadblocks, not just the best route.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4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Use Case?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011680"/>
            <a:ext cx="2194560" cy="23774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Actor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person, another system, or a timer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91640"/>
            <a:ext cx="7927848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783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A5A5A"/>
                </a:solidFill>
                <a:latin typeface="Arial"/>
              </a:rPr>
              <a:t>System under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3108960" cy="640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Actor does something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429000"/>
            <a:ext cx="3108960" cy="6400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System responds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720" y="3017520"/>
            <a:ext cx="0" cy="41148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977639" y="3749039"/>
            <a:ext cx="22860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977639" y="2697480"/>
            <a:ext cx="0" cy="1051559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77639" y="2697480"/>
            <a:ext cx="228601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46720" y="251460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Goal reached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'create an account'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108960"/>
            <a:ext cx="7315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807208" y="2697480"/>
            <a:ext cx="1353312" cy="50292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8" y="50292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Written from the outside, as a back-and-forth, so it fits black-box testing.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Named verb + object: 'Log in to account', 'Register new user'.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5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240280"/>
            <a:ext cx="2560320" cy="12801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One use 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916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Main success scenario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172968" y="1965960"/>
            <a:ext cx="896112" cy="9144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0" y="1691640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Test case 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06640" y="1965960"/>
            <a:ext cx="77723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114800" y="23774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Alternative flow A1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172968" y="2651760"/>
            <a:ext cx="896112" cy="2286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2377440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Test case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2651760"/>
            <a:ext cx="77723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306324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Exception flow E1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72968" y="2880360"/>
            <a:ext cx="896112" cy="45720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063240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Test case 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3337560"/>
            <a:ext cx="77723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0" y="3749039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Exception flow E2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72968" y="2880360"/>
            <a:ext cx="896112" cy="1142999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3749039"/>
            <a:ext cx="3355848" cy="54864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Test case 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406640" y="4023359"/>
            <a:ext cx="777239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4663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A black-box technique: tests are derived from use cases.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Each test follows one scenario: one path from trigger to an ending.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6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Use 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Parts, flows and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7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Parts a Tester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ID and name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Traceability: UC-02 Log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40126" y="1691640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5B2C83"/>
                </a:solidFill>
                <a:latin typeface="Arial"/>
              </a:rPr>
              <a:t>Actors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Who you play; which systems can 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7604" y="1691640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Goal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success 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5083" y="1691640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Preconditions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setup before the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2561" y="1691640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Trigger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Where the test 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867912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Main flow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happy path, step by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0126" y="3867912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Arial"/>
              </a:rPr>
              <a:t>Alternative flows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Other ways to succeed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7604" y="3867912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0000"/>
                </a:solidFill>
                <a:latin typeface="Arial"/>
              </a:rPr>
              <a:t>Exception flows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Ways it fails, and what then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5083" y="3867912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55A11"/>
                </a:solidFill>
                <a:latin typeface="Arial"/>
              </a:rPr>
              <a:t>Postconditions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expected state: your oracle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22561" y="3867912"/>
            <a:ext cx="2062886" cy="2011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4E79"/>
                </a:solidFill>
                <a:latin typeface="Arial"/>
              </a:rPr>
              <a:t>Business rules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Limits and rules to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8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Main, Alternative and Exception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 Open login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58568" y="3218688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79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 Enter details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3218688"/>
            <a:ext cx="21031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25112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3 Submit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71031" y="3218688"/>
            <a:ext cx="210313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81344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 Check fields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27264" y="3218688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37575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Check password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83496" y="3218688"/>
            <a:ext cx="210311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93807" y="2834640"/>
            <a:ext cx="1645920" cy="7772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6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60020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A1 'Remember me' ticked: longer session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26080" y="2286000"/>
            <a:ext cx="365759" cy="54864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1600200"/>
            <a:ext cx="384048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Resume at step 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60720" y="1938528"/>
            <a:ext cx="457200" cy="0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0" y="4206240"/>
            <a:ext cx="2743200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E1 empty field: back to step 2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858000" y="3611880"/>
            <a:ext cx="146304" cy="59436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3920" y="4206240"/>
            <a:ext cx="3081528" cy="68580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E5 third failure: locked, ends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0536" y="3611880"/>
            <a:ext cx="1106424" cy="59436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2648" y="52578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Branches name their step ('E1 at step 4') and say where they go: back to a step, or the use case ends.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9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Case, User Story, Test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86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3017520"/>
                <a:gridCol w="3017520"/>
                <a:gridCol w="2926080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Use case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User story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Test case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Whole interaction, errors too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 small piece of value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Prove one path works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Size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Many steps, many flows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One sentence + criteria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Steps, data, expected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Written by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Farhan (BA), Rohan (PO)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Rohan (PO) with the team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Ananya (QE)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Relation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Spells out the how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Says who and why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One use case: many tests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257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User stories and acceptance criteria were Monday's Scrum deck; here they are a recap.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10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 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1600200"/>
            <a:ext cx="64008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645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A5A5A"/>
                </a:solidFill>
                <a:latin typeface="Arial"/>
              </a:rPr>
              <a:t>Registration and login</a:t>
            </a:r>
          </a:p>
        </p:txBody>
      </p:sp>
      <p:sp>
        <p:nvSpPr>
          <p:cNvPr id="6" name="Oval 5"/>
          <p:cNvSpPr/>
          <p:nvPr/>
        </p:nvSpPr>
        <p:spPr>
          <a:xfrm>
            <a:off x="2788920" y="201168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Register new user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201168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Verify email</a:t>
            </a:r>
          </a:p>
        </p:txBody>
      </p:sp>
      <p:sp>
        <p:nvSpPr>
          <p:cNvPr id="8" name="Oval 7"/>
          <p:cNvSpPr/>
          <p:nvPr/>
        </p:nvSpPr>
        <p:spPr>
          <a:xfrm>
            <a:off x="2788920" y="297180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 in</a:t>
            </a:r>
          </a:p>
        </p:txBody>
      </p:sp>
      <p:sp>
        <p:nvSpPr>
          <p:cNvPr id="9" name="Oval 8"/>
          <p:cNvSpPr/>
          <p:nvPr/>
        </p:nvSpPr>
        <p:spPr>
          <a:xfrm>
            <a:off x="6583680" y="297180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Reset password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393192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View dashboard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0" y="4892040"/>
            <a:ext cx="2240280" cy="731520"/>
          </a:xfrm>
          <a:prstGeom prst="ellipse">
            <a:avLst/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Log 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224028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Visitor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4206240"/>
            <a:ext cx="2212848" cy="91440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Registered user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304288" y="2377440"/>
            <a:ext cx="484632" cy="3200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04288" y="2697480"/>
            <a:ext cx="484632" cy="6400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823960" y="4297680"/>
            <a:ext cx="548640" cy="3657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823960" y="4663440"/>
            <a:ext cx="548640" cy="59436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0" y="2377440"/>
            <a:ext cx="1554480" cy="0"/>
          </a:xfrm>
          <a:prstGeom prst="line">
            <a:avLst/>
          </a:prstGeom>
          <a:ln w="2540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2064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&lt;&lt;include&gt;&gt;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029200" y="3337560"/>
            <a:ext cx="1554480" cy="0"/>
          </a:xfrm>
          <a:prstGeom prst="line">
            <a:avLst/>
          </a:prstGeom>
          <a:ln w="25400">
            <a:solidFill>
              <a:srgbClr val="1A1A1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12064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Arial"/>
              </a:rPr>
              <a:t>&lt;&lt;extend&gt;&gt;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023360"/>
            <a:ext cx="35661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Ovals: use cases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Box: system boundary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Lines: who takes part</a:t>
            </a:r>
          </a:p>
          <a:p>
            <a:pPr algn="l" marL="274320" indent="-274320"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Dashed: include / extend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11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Include and Extend: What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3200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4E79"/>
                </a:solidFill>
                <a:latin typeface="Arial"/>
              </a:rPr>
              <a:t>&lt;&lt;include&gt;&gt;: always used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Shared behaviour, such as Verify email.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it once, thoroughly.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Then confirm each base use case reaches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3200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&lt;&lt;extend&gt;&gt;: only under a condition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Optional, such as Reset password from Log in.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Test the base with and without it.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Check the condition that triggers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212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Each oval on the diagram is a use case to cover in the test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12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Deriving Test 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flows to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13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1989734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1 Read and highlight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48102" y="2286000"/>
            <a:ext cx="164592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2648" y="2880360"/>
            <a:ext cx="198973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Actors, steps,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8414" y="1783080"/>
            <a:ext cx="1989734" cy="10058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2 List and label flows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93868" y="2286000"/>
            <a:ext cx="164592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58414" y="2880360"/>
            <a:ext cx="198973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Main, A1, A2, E1, E2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4180" y="1783080"/>
            <a:ext cx="1989734" cy="100584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3 One test per flow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9635" y="2286000"/>
            <a:ext cx="164592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04180" y="2880360"/>
            <a:ext cx="198973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Plus loops that resume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9947" y="1783080"/>
            <a:ext cx="1989734" cy="10058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4 Pre/post 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85401" y="2286000"/>
            <a:ext cx="164592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49947" y="2880360"/>
            <a:ext cx="198973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Precondition false; state 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95713" y="1783080"/>
            <a:ext cx="1989734" cy="10058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5 Data and expected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5713" y="2880360"/>
            <a:ext cx="198973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Exact values and messages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425196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6168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Login use case: 1 main + 4 alternative + 8 exception flows gives at least 13 tests before any data technique.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14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Test per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2793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73152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Source in the use case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</a:rPr>
                        <a:t>Test you write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Main success scenario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Every step with valid data; check the success postcondition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Each alternative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Take the branch, reach success, check the end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Each exception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Trigger the problem; check message, state and what is not done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Precondition false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Run with the precondition broken; expect a safe refusal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330066"/>
                          </a:solidFill>
                          <a:latin typeface="Arial"/>
                        </a:rPr>
                        <a:t>Business rule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A1A1A"/>
                          </a:solidFill>
                          <a:latin typeface="Arial"/>
                        </a:rPr>
                        <a:t>Exercise the rule, for example the third failed attempt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15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Postcondition Is Your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Arial"/>
              </a:rPr>
              <a:t>Success guarantee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User is authenticated.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A session exists.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Failed-attempt counter is 0.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Dashboard is displayed.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1928" y="1691640"/>
            <a:ext cx="5303520" cy="310896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C00000"/>
                </a:solidFill>
                <a:latin typeface="Arial"/>
              </a:rPr>
              <a:t>Failure guarantee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session is created.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User stays on the login page.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No details about which field was wrong.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Counter updated as the rule says.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120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330066"/>
                </a:solidFill>
                <a:latin typeface="Arial"/>
              </a:rPr>
              <a:t>Check the state, not only the message on the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16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Scenarios and the Matrix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Tracing every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17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Login: Where the Paths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278892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Submit</a:t>
            </a:r>
          </a:p>
        </p:txBody>
      </p:sp>
      <p:sp>
        <p:nvSpPr>
          <p:cNvPr id="5" name="Diamond 4"/>
          <p:cNvSpPr/>
          <p:nvPr/>
        </p:nvSpPr>
        <p:spPr>
          <a:xfrm>
            <a:off x="2926080" y="1645920"/>
            <a:ext cx="35661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Fields empty or email invalid?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755648"/>
            <a:ext cx="4636008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E1, E2: field message, back to entry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92240" y="2084832"/>
            <a:ext cx="41148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09160" y="2514600"/>
            <a:ext cx="0" cy="155448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amond 8"/>
          <p:cNvSpPr/>
          <p:nvPr/>
        </p:nvSpPr>
        <p:spPr>
          <a:xfrm>
            <a:off x="2926080" y="2670048"/>
            <a:ext cx="35661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Account found, password correct?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79776"/>
            <a:ext cx="4636008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E3, E4: generic error; E5 lock on 3rd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3108960"/>
            <a:ext cx="41148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3538728"/>
            <a:ext cx="0" cy="155448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2926080" y="3694176"/>
            <a:ext cx="35661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Account locked or unverified?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803904"/>
            <a:ext cx="4636008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E6, E7: locked or verify message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92240" y="4133087"/>
            <a:ext cx="41148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4562856"/>
            <a:ext cx="0" cy="155448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926080" y="4718304"/>
            <a:ext cx="3566160" cy="868680"/>
          </a:xfrm>
          <a:prstGeom prst="diamond">
            <a:avLst/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A1A1A"/>
                </a:solidFill>
                <a:latin typeface="Arial"/>
              </a:rPr>
              <a:t>'Remember me' ticked?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828032"/>
            <a:ext cx="4636008" cy="658368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A1: long session; else normal session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92240" y="5157216"/>
            <a:ext cx="411480" cy="0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441448" y="2075688"/>
            <a:ext cx="484632" cy="1124712"/>
          </a:xfrm>
          <a:prstGeom prst="line">
            <a:avLst/>
          </a:prstGeom>
          <a:ln w="158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2648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Every decision diamond needs a test for each of its exits.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18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Scenario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828800"/>
                <a:gridCol w="3657600"/>
                <a:gridCol w="41148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Flows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Key 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Expected ending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SC1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Main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Verified, unlocked user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Dashboard, normal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SC2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Main + A1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'Remember me' ticked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Dashboard, 30-day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SC3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Email left empty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'Email and password are required'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SC4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E3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Wrong password, 1st attempt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Generic error; counter = 1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330066"/>
                          </a:solidFill>
                          <a:latin typeface="Arial"/>
                        </a:rPr>
                        <a:t>SC5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E3 + E5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Wrong password, 3rd attempt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Arial"/>
                        </a:rPr>
                        <a:t>Account locked; no session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669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The full login matrix has 14 scenarios covering 13 flows (written lesson).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19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Questions per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1 Setup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Which user, in what state?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12998" y="169164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F4E79"/>
                </a:solidFill>
                <a:latin typeface="Arial"/>
              </a:rPr>
              <a:t>2 Data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Exactly what will I enter?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3348" y="169164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3 Expected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Message and state, from the use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3698" y="1691640"/>
            <a:ext cx="2571750" cy="14630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4 Verify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How will I check the state?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474720"/>
            <a:ext cx="10972800" cy="141732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84448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SC5: user test.user@example.com is verified, unlocked, with 2 failed attempts.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Enter the wrong password once more. Expect: 'Your account is locked'; no session; account status Locked.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2120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30066"/>
                </a:solidFill>
                <a:latin typeface="Arial"/>
              </a:rPr>
              <a:t>Create a dedicated test user for each state; use fictional data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20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and Beyond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much is enough, 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21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Use-Case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10972800" cy="6858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1A1A1A"/>
                </a:solidFill>
                <a:latin typeface="Arial"/>
              </a:rPr>
              <a:t>Use-case coverage = flows covered by tests / total flows x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3847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430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7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4179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7627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3457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5117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094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9677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137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928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96778" y="2743200"/>
            <a:ext cx="788669" cy="5943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green = covered by a test   ·   grey = not yet 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41148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5F5C2"/>
          </a:solidFill>
          <a:ln w="15875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2245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5C8A8A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1 main + 4 alternative + 7 exception = 12 flows. Tests cover 8, so coverage = 8 / 12 = 66.7%.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22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Skeleton First, Muscle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291840" cy="3840480"/>
          </a:xfrm>
          <a:prstGeom prst="roundRect">
            <a:avLst>
              <a:gd name="adj" fmla="val 12000"/>
            </a:avLst>
          </a:prstGeom>
          <a:solidFill>
            <a:srgbClr val="EDE6F5"/>
          </a:solidFill>
          <a:ln w="15875">
            <a:solidFill>
              <a:srgbClr val="5B2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1A1A1A"/>
                </a:solidFill>
                <a:latin typeface="Arial"/>
              </a:rPr>
              <a:t>Use-case tests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skeleton:</a:t>
            </a:r>
          </a:p>
          <a:p>
            <a:pPr algn="ctr">
              <a:spcAft>
                <a:spcPts val="2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every flow once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91640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Boundary defects: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7, 8, 20, 21 characters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49640" y="2020824"/>
            <a:ext cx="36576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61120" y="1691640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478024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Many input values: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Other valid email shapes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807208"/>
            <a:ext cx="36576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2478024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64408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Hunches: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Trailing space, double-click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3593592"/>
            <a:ext cx="36576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3264408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Error guessing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050791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Combinations: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Locked and wrong password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4379976"/>
            <a:ext cx="36576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61120" y="4050791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Decision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837176"/>
            <a:ext cx="4206240" cy="658368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A1A1A"/>
                </a:solidFill>
                <a:latin typeface="Arial"/>
              </a:rPr>
              <a:t>History: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Counter, session expiry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49640" y="5166360"/>
            <a:ext cx="365760" cy="0"/>
          </a:xfrm>
          <a:prstGeom prst="line">
            <a:avLst/>
          </a:prstGeom>
          <a:ln w="1905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61120" y="4837176"/>
            <a:ext cx="2624328" cy="65836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State 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5A5A"/>
                </a:solidFill>
                <a:latin typeface="Arial"/>
              </a:rPr>
              <a:t>Use-case testing misses these; the rest of today's techniques add the muscle.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23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Chain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28800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Register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28600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1828800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Verify email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28032" y="228600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8072" y="1828800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Log 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95744" y="2286000"/>
            <a:ext cx="274319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15783" y="1828800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63456" y="2286000"/>
            <a:ext cx="274320" cy="0"/>
          </a:xfrm>
          <a:prstGeom prst="line">
            <a:avLst/>
          </a:prstGeom>
          <a:ln w="28575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83496" y="1828800"/>
            <a:ext cx="1901952" cy="91440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Log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0040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End-to-end (E2E) testing runs a chain of use cases with realistic data.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It checks the hand-offs: a Pending account must not log in before verification.</a:t>
            </a:r>
          </a:p>
          <a:p>
            <a:pPr algn="l" marL="274320" indent="-274320">
              <a:spcAft>
                <a:spcPts val="600"/>
              </a:spcAft>
              <a:buFont typeface="Arial"/>
              <a:buChar char="•"/>
            </a:pPr>
            <a:r>
              <a:rPr sz="1800" b="0" i="0">
                <a:solidFill>
                  <a:srgbClr val="1A1A1A"/>
                </a:solidFill>
                <a:latin typeface="Arial"/>
              </a:rPr>
              <a:t>Use cases speak business language, so they make good acceptance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Arial"/>
              </a:rPr>
              <a:t>Acceptance testing forms were Wednesday's V&amp;V deck; this is the link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24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to Given/When/Then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8308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Precondition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01568" y="2167128"/>
            <a:ext cx="6217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069080" y="1783080"/>
            <a:ext cx="1463040" cy="7772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Given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783080"/>
            <a:ext cx="5916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user is verified, unlocked and logged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834639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Trigger and steps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01568" y="3218687"/>
            <a:ext cx="6217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69080" y="2834639"/>
            <a:ext cx="1463040" cy="7772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When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834639"/>
            <a:ext cx="5916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she enters the correct password and clicks Log 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88620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1A1A1A"/>
                </a:solidFill>
                <a:latin typeface="Arial"/>
              </a:rPr>
              <a:t>Postcondition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01568" y="4270248"/>
            <a:ext cx="621792" cy="0"/>
          </a:xfrm>
          <a:prstGeom prst="line">
            <a:avLst/>
          </a:prstGeom>
          <a:ln w="25400">
            <a:solidFill>
              <a:srgbClr val="1A1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886200"/>
            <a:ext cx="1463040" cy="777240"/>
          </a:xfrm>
          <a:prstGeom prst="roundRect">
            <a:avLst>
              <a:gd name="adj" fmla="val 12000"/>
            </a:avLst>
          </a:prstGeom>
          <a:solidFill>
            <a:srgbClr val="5B2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Then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886200"/>
            <a:ext cx="591616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the dashboard is shown and a session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074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One scenario (path) becomes one Given/When/Then scenario.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25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 Use Case for Testability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Clear goal and actor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goal, a named primary actor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4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Both guarantees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Success and failure postconditions stated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80248" y="169164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E7D32"/>
                </a:solidFill>
                <a:latin typeface="Arial"/>
              </a:rPr>
              <a:t>Observable steps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One action per step, visible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Every failure handled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Invalid input, timeout, duplicate, outage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64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55A11"/>
                </a:solidFill>
                <a:latin typeface="Arial"/>
              </a:rPr>
              <a:t>Every branch returns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'Back to step 3' or 'use case ends'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0248" y="3611880"/>
            <a:ext cx="3505200" cy="1691640"/>
          </a:xfrm>
          <a:prstGeom prst="roundRect">
            <a:avLst>
              <a:gd name="adj" fmla="val 12000"/>
            </a:avLst>
          </a:prstGeom>
          <a:solidFill>
            <a:srgbClr val="F8D7D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C00000"/>
                </a:solidFill>
                <a:latin typeface="Arial"/>
              </a:rPr>
              <a:t>No vague words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'Fast', 'appropriate', 'user-friendly'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330066"/>
                </a:solidFill>
                <a:latin typeface="Arial"/>
              </a:rPr>
              <a:t>Report gaps to Farhan as questions, not accusations.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26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4114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37760"/>
                <a:gridCol w="603504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Mistake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</a:rPr>
                        <a:t>Do instead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Testing the happy path only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One test per alternative and exception flow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Checking the message, not the state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Verify the postcondition: session, counter, record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Skipping preconditions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Set up dedicated users; test a false precondition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Mixing flows in one test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One flow per test, then combine on purpose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7F5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330066"/>
                          </a:solidFill>
                          <a:latin typeface="Arial"/>
                        </a:rPr>
                        <a:t>Treating 100% flows as proof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</a:rPr>
                        <a:t>Add BVA, EP and the other techniques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D9D9"/>
                      </a:solidFill>
                    </a:lnL>
                    <a:lnR w="6350">
                      <a:solidFill>
                        <a:srgbClr val="D9D9D9"/>
                      </a:solidFill>
                    </a:lnR>
                    <a:lnT w="6350">
                      <a:solidFill>
                        <a:srgbClr val="D9D9D9"/>
                      </a:solidFill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27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8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12648" y="16002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6550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use case: an actor and a system interacting to reach a goal.</a:t>
            </a:r>
          </a:p>
        </p:txBody>
      </p:sp>
      <p:sp>
        <p:nvSpPr>
          <p:cNvPr id="6" name="Oval 5"/>
          <p:cNvSpPr/>
          <p:nvPr/>
        </p:nvSpPr>
        <p:spPr>
          <a:xfrm>
            <a:off x="612648" y="233172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8658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Use-case testing derives one test per flow: main, alternative, exception.</a:t>
            </a:r>
          </a:p>
        </p:txBody>
      </p:sp>
      <p:sp>
        <p:nvSpPr>
          <p:cNvPr id="8" name="Oval 7"/>
          <p:cNvSpPr/>
          <p:nvPr/>
        </p:nvSpPr>
        <p:spPr>
          <a:xfrm>
            <a:off x="612648" y="306324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11810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Postconditions are the oracle: check state, not only messages.</a:t>
            </a:r>
          </a:p>
        </p:txBody>
      </p:sp>
      <p:sp>
        <p:nvSpPr>
          <p:cNvPr id="10" name="Oval 9"/>
          <p:cNvSpPr/>
          <p:nvPr/>
        </p:nvSpPr>
        <p:spPr>
          <a:xfrm>
            <a:off x="612648" y="379476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84962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A scenario matrix traces each path to data and an expected ending.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" y="452628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58114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Coverage = flows covered / total flows; it misses values and history.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" y="5257800"/>
            <a:ext cx="457200" cy="457200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5312664"/>
            <a:ext cx="10287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Review use cases for missing flows; chain them end to 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28 / 29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ISTQB Glossary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https://glossary.istqb.org/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Atlassian: user stories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https://www.atlassian.com/agile/project-management/user-stories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Visual Paradigm: UML use case diagrams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https://www.visual-paradigm.com/guide/uml-unified-modeling-language/what-is-use-case-diagram/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7381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747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Cucumber: Gherkin reference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https://cucumber.io/docs/gherkin/reference/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3898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544" y="4426458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pytest documentation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https://docs.pytest.org/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3825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Arial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8966</Words>
  <Application>Microsoft Office PowerPoint</Application>
  <PresentationFormat>Widescreen</PresentationFormat>
  <Paragraphs>1348</Paragraphs>
  <Slides>119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3" baseType="lpstr">
      <vt:lpstr>Arial</vt:lpstr>
      <vt:lpstr>Courier New</vt:lpstr>
      <vt:lpstr>Wingdings</vt:lpstr>
      <vt:lpstr>Learners Point</vt:lpstr>
      <vt:lpstr>Use-Case Testing</vt:lpstr>
      <vt:lpstr>Learning Objectives (1 of 2)</vt:lpstr>
      <vt:lpstr>Learning Objectives (2 of 2)</vt:lpstr>
      <vt:lpstr>The Concept</vt:lpstr>
      <vt:lpstr>The Journey Analogy</vt:lpstr>
      <vt:lpstr>A Tester Is a Trip Inspector</vt:lpstr>
      <vt:lpstr>What Is a Use Case?</vt:lpstr>
      <vt:lpstr>Where the Idea Comes From</vt:lpstr>
      <vt:lpstr>What Is Use-Case Testing?</vt:lpstr>
      <vt:lpstr>Anatomy of a Use Case</vt:lpstr>
      <vt:lpstr>Anatomy of a Use Case (1 of 3)</vt:lpstr>
      <vt:lpstr>Anatomy of a Use Case (2 of 3)</vt:lpstr>
      <vt:lpstr>Anatomy of a Use Case (3 of 3)</vt:lpstr>
      <vt:lpstr>A Reusable Template</vt:lpstr>
      <vt:lpstr>The Numbering Convention</vt:lpstr>
      <vt:lpstr>Use Case, Story, Test Case</vt:lpstr>
      <vt:lpstr>Use Case vs Story vs Test Case (1 of 2)</vt:lpstr>
      <vt:lpstr>Use Case vs Story vs Test Case (2 of 2)</vt:lpstr>
      <vt:lpstr>How They Connect</vt:lpstr>
      <vt:lpstr>Use Case Diagrams</vt:lpstr>
      <vt:lpstr>Diagram Elements</vt:lpstr>
      <vt:lpstr>Reading the Project 1 Diagram</vt:lpstr>
      <vt:lpstr>How Diagrams Help Testers</vt:lpstr>
      <vt:lpstr>Deriving Test Cases</vt:lpstr>
      <vt:lpstr>The Method</vt:lpstr>
      <vt:lpstr>One Test per Source</vt:lpstr>
      <vt:lpstr>The Postcondition Is Your Oracle</vt:lpstr>
      <vt:lpstr>Scenarios and the Matrix</vt:lpstr>
      <vt:lpstr>Scenario Enumeration</vt:lpstr>
      <vt:lpstr>Login Decision Points</vt:lpstr>
      <vt:lpstr>The Scenario Matrix</vt:lpstr>
      <vt:lpstr>Naming Pattern</vt:lpstr>
      <vt:lpstr>Test Data and Expected Results</vt:lpstr>
      <vt:lpstr>Four Questions</vt:lpstr>
      <vt:lpstr>Example: SC5, Third Wrong Password</vt:lpstr>
      <vt:lpstr>Test Data Tips</vt:lpstr>
      <vt:lpstr>Coverage</vt:lpstr>
      <vt:lpstr>Use-Case Coverage</vt:lpstr>
      <vt:lpstr>Coverage Example</vt:lpstr>
      <vt:lpstr>What It Does Not Cover (1 of 2)</vt:lpstr>
      <vt:lpstr>What It Does Not Cover (2 of 2)</vt:lpstr>
      <vt:lpstr>Skeleton and Muscle</vt:lpstr>
      <vt:lpstr>Worked Example 1: Login</vt:lpstr>
      <vt:lpstr>UC-02: Log in to Account</vt:lpstr>
      <vt:lpstr>Login Business Rules</vt:lpstr>
      <vt:lpstr>Login Main Success Scenario</vt:lpstr>
      <vt:lpstr>Login Alternative Flows</vt:lpstr>
      <vt:lpstr>Login Exception Flows (1 of 2)</vt:lpstr>
      <vt:lpstr>Login Exception Flows (2 of 2)</vt:lpstr>
      <vt:lpstr>Login Postconditions and Flow Count</vt:lpstr>
      <vt:lpstr>Login Scenario Matrix (1 of 2)</vt:lpstr>
      <vt:lpstr>Login Scenario Matrix (2 of 2)</vt:lpstr>
      <vt:lpstr>Login Test Cases (1 of 4)</vt:lpstr>
      <vt:lpstr>Login Test Cases (2 of 4)</vt:lpstr>
      <vt:lpstr>Login Test Cases (3 of 4)</vt:lpstr>
      <vt:lpstr>Login Test Cases (4 of 4)</vt:lpstr>
      <vt:lpstr>Login Coverage Check</vt:lpstr>
      <vt:lpstr>Given/When/Then: SC1 and SC11</vt:lpstr>
      <vt:lpstr>Worked Example 2: ATM</vt:lpstr>
      <vt:lpstr>ATM Use Case</vt:lpstr>
      <vt:lpstr>ATM Business Rules</vt:lpstr>
      <vt:lpstr>ATM Main Success Scenario</vt:lpstr>
      <vt:lpstr>ATM Alternative Flows</vt:lpstr>
      <vt:lpstr>ATM Exception Flows (1 of 2)</vt:lpstr>
      <vt:lpstr>ATM Exception Flows (2 of 2)</vt:lpstr>
      <vt:lpstr>ATM Postconditions and Flow Count</vt:lpstr>
      <vt:lpstr>ATM Scenario Matrix (1 of 2)</vt:lpstr>
      <vt:lpstr>ATM Scenario Matrix (2 of 2)</vt:lpstr>
      <vt:lpstr>Recovery Scenarios Hide Defects</vt:lpstr>
      <vt:lpstr>ATM Test Cases (1 of 3)</vt:lpstr>
      <vt:lpstr>ATM Test Cases (2 of 3)</vt:lpstr>
      <vt:lpstr>ATM Test Cases (3 of 3)</vt:lpstr>
      <vt:lpstr>ATM Coverage Check</vt:lpstr>
      <vt:lpstr>Worked Example 3: Register</vt:lpstr>
      <vt:lpstr>Register Use Case</vt:lpstr>
      <vt:lpstr>Register Main Success Scenario</vt:lpstr>
      <vt:lpstr>Register Alternative Flows</vt:lpstr>
      <vt:lpstr>Register Exceptions (1 of 2)</vt:lpstr>
      <vt:lpstr>Register Exceptions (2 of 2)</vt:lpstr>
      <vt:lpstr>Register Postconditions</vt:lpstr>
      <vt:lpstr>Register Scenario Matrix (1 of 2)</vt:lpstr>
      <vt:lpstr>Register Scenario Matrix (2 of 2)</vt:lpstr>
      <vt:lpstr>Register Test Cases (1 of 4)</vt:lpstr>
      <vt:lpstr>Register Test Cases (2 of 4)</vt:lpstr>
      <vt:lpstr>Register Test Cases (3 of 4)</vt:lpstr>
      <vt:lpstr>Register Test Cases (4 of 4)</vt:lpstr>
      <vt:lpstr>Use Cases Chain</vt:lpstr>
      <vt:lpstr>End-to-End, UAT, Given/When/Then</vt:lpstr>
      <vt:lpstr>End-to-End Testing</vt:lpstr>
      <vt:lpstr>A Project 1 E2E Scenario</vt:lpstr>
      <vt:lpstr>Link to User Acceptance Testing</vt:lpstr>
      <vt:lpstr>Given/When/Then (Gherkin)</vt:lpstr>
      <vt:lpstr>Notation Mapping</vt:lpstr>
      <vt:lpstr>Invalid Email Scenario</vt:lpstr>
      <vt:lpstr>Reviewing for Testability</vt:lpstr>
      <vt:lpstr>Review Checklist (1 of 2)</vt:lpstr>
      <vt:lpstr>Review Checklist (2 of 2)</vt:lpstr>
      <vt:lpstr>Report Gaps as Questions</vt:lpstr>
      <vt:lpstr>Use-Case Testing in Agile</vt:lpstr>
      <vt:lpstr>Same Thinking, Lighter Artifacts</vt:lpstr>
      <vt:lpstr>Acceptance Criteria Example</vt:lpstr>
      <vt:lpstr>Tools and Common Mistakes</vt:lpstr>
      <vt:lpstr>Documentation Tips</vt:lpstr>
      <vt:lpstr>More Tips</vt:lpstr>
      <vt:lpstr>Common Mistakes (1 of 3)</vt:lpstr>
      <vt:lpstr>Common Mistakes (2 of 3)</vt:lpstr>
      <vt:lpstr>Common Mistakes (3 of 3)</vt:lpstr>
      <vt:lpstr>Python Demo</vt:lpstr>
      <vt:lpstr>The Model Idea</vt:lpstr>
      <vt:lpstr>login_flow.py: Setup</vt:lpstr>
      <vt:lpstr>login_flow.py: login()</vt:lpstr>
      <vt:lpstr>login_flow.py: Two Tests</vt:lpstr>
      <vt:lpstr>login_flow.py: Runner</vt:lpstr>
      <vt:lpstr>Run It</vt:lpstr>
      <vt:lpstr>Expected Output</vt:lpstr>
      <vt:lpstr>How the Tests Are Built</vt:lpstr>
      <vt:lpstr>Try the Variation</vt:lpstr>
      <vt:lpstr>Key Takeaways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4</cp:revision>
  <dcterms:modified xsi:type="dcterms:W3CDTF">2026-10-25T09:26:41Z</dcterms:modified>
</cp:coreProperties>
</file>