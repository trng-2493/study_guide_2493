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2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59" r:id="rId8"/>
    <p:sldId id="360" r:id="rId9"/>
    <p:sldId id="361" r:id="rId10"/>
    <p:sldId id="362" r:id="rId11"/>
    <p:sldId id="363" r:id="rId12"/>
    <p:sldId id="364" r:id="rId13"/>
    <p:sldId id="365" r:id="rId14"/>
    <p:sldId id="366" r:id="rId15"/>
    <p:sldId id="367" r:id="rId16"/>
    <p:sldId id="368" r:id="rId17"/>
    <p:sldId id="369" r:id="rId18"/>
    <p:sldId id="370" r:id="rId19"/>
    <p:sldId id="371" r:id="rId20"/>
    <p:sldId id="372" r:id="rId21"/>
    <p:sldId id="373" r:id="rId22"/>
    <p:sldId id="374" r:id="rId23"/>
    <p:sldId id="375" r:id="rId24"/>
    <p:sldId id="376" r:id="rId25"/>
    <p:sldId id="377" r:id="rId26"/>
    <p:sldId id="378" r:id="rId27"/>
    <p:sldId id="379" r:id="rId28"/>
    <p:sldId id="380" r:id="rId29"/>
    <p:sldId id="381" r:id="rId30"/>
    <p:sldId id="382" r:id="rId31"/>
    <p:sldId id="383" r:id="rId32"/>
    <p:sldId id="384" r:id="rId33"/>
    <p:sldId id="385" r:id="rId34"/>
    <p:sldId id="386" r:id="rId35"/>
    <p:sldId id="387" r:id="rId36"/>
    <p:sldId id="358" r:id="rId103"/>
  </p:sldIdLst>
  <p:sldSz cx="12192000" cy="6858000"/>
  <p:notesSz cx="6858000" cy="9144000"/>
  <p:defaultTextStyle>
    <a:defPPr>
      <a:defRPr lang="en-I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103" Type="http://schemas.openxmlformats.org/officeDocument/2006/relationships/slide" Target="slides/slide102.xml"/><Relationship Id="rId104" Type="http://schemas.openxmlformats.org/officeDocument/2006/relationships/presProps" Target="presProps.xml"/><Relationship Id="rId105" Type="http://schemas.openxmlformats.org/officeDocument/2006/relationships/viewProps" Target="viewProps.xml"/><Relationship Id="rId106" Type="http://schemas.openxmlformats.org/officeDocument/2006/relationships/theme" Target="theme/theme1.xml"/><Relationship Id="rId107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Past defects</c:v>
                </c:pt>
              </c:strCache>
            </c:strRef>
          </c:tx>
          <c:spPr>
            <a:solidFill>
              <a:srgbClr val="C00000"/>
            </a:solidFill>
          </c:spPr>
          <c:cat>
            <c:strRef>
              <c:f>Sheet1!$A$2:$A$6</c:f>
              <c:strCache>
                <c:ptCount val="5"/>
                <c:pt idx="0">
                  <c:v>Registration</c:v>
                </c:pt>
                <c:pt idx="1">
                  <c:v>Login</c:v>
                </c:pt>
                <c:pt idx="2">
                  <c:v>Checkout</c:v>
                </c:pt>
                <c:pt idx="3">
                  <c:v>Upload</c:v>
                </c:pt>
                <c:pt idx="4">
                  <c:v>Search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3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1A1A1A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400">
                <a:solidFill>
                  <a:srgbClr val="5A5A5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>
                <a:solidFill>
                  <a:srgbClr val="5A5A5A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Fifth deck of the day, after BVA and EP; decision tables and state transition follow.</a:t>
            </a:r>
          </a:p>
          <a:p>
            <a:r>
              <a:t>Error guessing is the experience-based family; exploratory testing is Friday.</a:t>
            </a:r>
          </a:p>
          <a:p>
            <a:r>
              <a:t>One analogy runs through the deck: a car mechanic.</a:t>
            </a:r>
          </a:p>
          <a:p>
            <a:r>
              <a:t>The written lesson keeps the 40-idea registration and login list, the defect history tables, the Python name-parser demo and the AI brainstorming section (AI is Week 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Ask: 'Which bug have you seen in more than one app?' Typical answers: double charge, Back after logout, an apostrophe in a name.</a:t>
            </a:r>
          </a:p>
          <a:p>
            <a:r>
              <a:t>Those answers are error guessing; this deck makes it a method.</a:t>
            </a:r>
          </a:p>
          <a:p>
            <a:r>
              <a:t>Objective 3 is used directly in the afternoon exercise.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1: definition, analogy and why it finds defects.</a:t>
            </a:r>
          </a:p>
          <a:p>
            <a:r>
              <a:t>This part has 4 concept slides, about 8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Knowledge, intuition and past experience are the inputs.</a:t>
            </a:r>
          </a:p>
          <a:p>
            <a:r>
              <a:t>Expected results still come from the requirement; experience only chooses the inputs.</a:t>
            </a:r>
          </a:p>
          <a:p>
            <a:r>
              <a:t>A guess without an expected result is a poke, not a test.</a:t>
            </a:r>
          </a:p>
          <a:p>
            <a:r>
              <a:t>Ask: name one input you would always try on a login page. (Empty fields, trailing space.)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deck's one analogy.</a:t>
            </a:r>
          </a:p>
          <a:p>
            <a:r>
              <a:t>The mechanic does not test every part in order; he tests the parts that usually fail.</a:t>
            </a:r>
          </a:p>
          <a:p>
            <a:r>
              <a:t>Hunches based on patterns are pattern recognition, not magic.</a:t>
            </a:r>
          </a:p>
          <a:p>
            <a:r>
              <a:t>A new mechanic borrows the workshop's fault book: so does a new tester (Part 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Trailing spaces, double-click, Back after logout rarely come out of EP or BVA.</a:t>
            </a:r>
          </a:p>
          <a:p>
            <a:r>
              <a:t>Error guessing alone has no coverage measure, so it cannot replace the others.</a:t>
            </a:r>
          </a:p>
          <a:p>
            <a:r>
              <a:t>This matches the 'layer the techniques' picture from the black-box deck.</a:t>
            </a:r>
          </a:p>
          <a:p>
            <a:r>
              <a:t>Ask: which technique would find the double-charge defect? (Error guessing; also state transition.)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Defect clustering and the pesticide paradox are Wednesday's principles, recapped here.</a:t>
            </a:r>
          </a:p>
          <a:p>
            <a:r>
              <a:t>Copy-paste duplicates bugs: one bug found is evidence of similar ones.</a:t>
            </a:r>
          </a:p>
          <a:p>
            <a:r>
              <a:t>Silent areas are where developers made undocumented assumptions.</a:t>
            </a:r>
          </a:p>
          <a:p>
            <a:r>
              <a:t>Ask: which reason explains why a team's second form has the same bug as its first?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2: where ideas come from and how to run a session.</a:t>
            </a:r>
          </a:p>
          <a:p>
            <a:r>
              <a:t>This part has 4 concept slides, about 8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written lesson pairs each source with an example guess.</a:t>
            </a:r>
          </a:p>
          <a:p>
            <a:r>
              <a:t>Developers know which code was rushed; ask them.</a:t>
            </a:r>
          </a:p>
          <a:p>
            <a:r>
              <a:t>Support tickets show what users actually do, not what the spec expected.</a:t>
            </a:r>
          </a:p>
          <a:p>
            <a:r>
              <a:t>Within a few weeks a new tester has their own stories to add.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Understand: read the requirement; note what is new, complex or recently changed.</a:t>
            </a:r>
          </a:p>
          <a:p>
            <a:r>
              <a:t>Fault list: short items such as 'empty string in a required field'; a defect taxonomy groups them.</a:t>
            </a:r>
          </a:p>
          <a:p>
            <a:r>
              <a:t>Fault attack: take each item and design a test that tries to cause that failure; deliberate, not hacking.</a:t>
            </a:r>
          </a:p>
          <a:p>
            <a:r>
              <a:t>Update the list: add new defect types; lower the priority of items that never find anything.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row is a guess, an input and a checkable expected result from the requirement.</a:t>
            </a:r>
          </a:p>
          <a:p>
            <a:r>
              <a:t>Where the requirement is silent (is email case-sensitive?), ask Rohan before calling it a defect.</a:t>
            </a:r>
          </a:p>
          <a:p>
            <a:r>
              <a:t>Watch side effects: a half-created account, a log entry, an email sent.</a:t>
            </a:r>
          </a:p>
          <a:p>
            <a:r>
              <a:t>The written lesson has 40 such ideas for registration and login.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Fixed time makes the effort plannable and comparable.</a:t>
            </a:r>
          </a:p>
          <a:p>
            <a:r>
              <a:t>Notes let someone else repeat the test and let you count what each session found.</a:t>
            </a:r>
          </a:p>
          <a:p>
            <a:r>
              <a:t>Defect report anatomy and Jira bug fields were Tuesday's decks; here only 'log it'.</a:t>
            </a:r>
          </a:p>
          <a:p>
            <a:r>
              <a:t>Meera (SM) can schedule a short session per story during the sprint.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3: the catalog of ideas; pick the categories that fit the feature.</a:t>
            </a:r>
          </a:p>
          <a:p>
            <a:r>
              <a:t>This part has 5 concept slides, about 10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categories were taught in Wednesday's positive and negative testing deck; do not re-teach them.</a:t>
            </a:r>
          </a:p>
          <a:p>
            <a:r>
              <a:t>Error guessing chooses which categories matter most for this feature, based on history.</a:t>
            </a:r>
          </a:p>
          <a:p>
            <a:r>
              <a:t>Security testing is a specialist area; the safe role is the same as on Wednesday.</a:t>
            </a:r>
          </a:p>
          <a:p>
            <a:r>
              <a:t>Ask: which two categories have caused defects in your past projects?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Unicode gives a number to every character in every script, including emoji; handling it wrongly corrupts data.</a:t>
            </a:r>
          </a:p>
          <a:p>
            <a:r>
              <a:t>Auto-capitalising names breaks surnames with apostrophes or internal capitals.</a:t>
            </a:r>
          </a:p>
          <a:p>
            <a:r>
              <a:t>Trailing space in an email is the classic: saved with the space, then login fails.</a:t>
            </a:r>
          </a:p>
          <a:p>
            <a:r>
              <a:t>The full catalog tables are in the written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Locale means the user's language and regional settings: date, number and currency formats, text direction.</a:t>
            </a:r>
          </a:p>
          <a:p>
            <a:r>
              <a:t>Leading zeros matter for postcodes and IDs.</a:t>
            </a:r>
          </a:p>
          <a:p>
            <a:r>
              <a:t>Date edges overlap with BVA; error guessing adds the calendar surprises.</a:t>
            </a:r>
          </a:p>
          <a:p>
            <a:r>
              <a:t>Money: check rounding at every step, not only the final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race condition: the result depends on which of two operations happens first, and the system was built for one order.</a:t>
            </a:r>
          </a:p>
          <a:p>
            <a:r>
              <a:t>These rarely appear in requirements, which is why they are classic error-guessing targets.</a:t>
            </a:r>
          </a:p>
          <a:p>
            <a:r>
              <a:t>Several are also state problems: state transition testing models them later today.</a:t>
            </a:r>
          </a:p>
          <a:p>
            <a:r>
              <a:t>Vikram (DevOps) can help throttle the network in a test environment.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Upload size limits are BVA boundaries; error guessing adds the disguises and the corruption.</a:t>
            </a:r>
          </a:p>
          <a:p>
            <a:r>
              <a:t>Check what the user sees and what was stored.</a:t>
            </a:r>
          </a:p>
          <a:p>
            <a:r>
              <a:t>A renamed program must be rejected by content checks, not only by the extension.</a:t>
            </a:r>
          </a:p>
          <a:p>
            <a:r>
              <a:t>Ask: what would you try first on a profile-photo upload?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4: domain checklists and defect-based reasoning.</a:t>
            </a:r>
          </a:p>
          <a:p>
            <a:r>
              <a:t>This part has 4 concept slides, about 8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Copy this into the team checklist and extend it every release.</a:t>
            </a:r>
          </a:p>
          <a:p>
            <a:r>
              <a:t>Also: password visible in the URL or page source; error messages that reveal which field was wrong.</a:t>
            </a:r>
          </a:p>
          <a:p>
            <a:r>
              <a:t>The afternoon exercise uses a list like this for its error-guessing round.</a:t>
            </a:r>
          </a:p>
          <a:p>
            <a:r>
              <a:t>Ask: which item would you put first, and why?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written lesson adds checklists for uploads, date pickers and APIs (names only for APIs; Week 7 covers them).</a:t>
            </a:r>
          </a:p>
          <a:p>
            <a:r>
              <a:t>Paging: 10 per page with 11 results is both BVA and error guessing.</a:t>
            </a:r>
          </a:p>
          <a:p>
            <a:r>
              <a:t>Payment defects are high impact: give them priority in the timebox.</a:t>
            </a:r>
          </a:p>
          <a:p>
            <a:r>
              <a:t>Ask: which checkout item could cost real money if missed?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questions per bug: where else could the same cause exist, what neighbouring variants exist, was the fix complete.</a:t>
            </a:r>
          </a:p>
          <a:p>
            <a:r>
              <a:t>Re-running tests after a fix is regression testing, Friday's topic.</a:t>
            </a:r>
          </a:p>
          <a:p>
            <a:r>
              <a:t>The written lesson walks ten past defects through these questions.</a:t>
            </a:r>
          </a:p>
          <a:p>
            <a:r>
              <a:t>Ask: a double-click created two orders last release. Where else would you double-click?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Example history of ten past defects (written lesson); count by module and by root cause.</a:t>
            </a:r>
          </a:p>
          <a:p>
            <a:r>
              <a:t>Root cause analysis (5 Whys, fishbone) was Tuesday's defect deck; here we only read the counts.</a:t>
            </a:r>
          </a:p>
          <a:p>
            <a:r>
              <a:t>A living test library grows from this: each new defect adds a checklist item.</a:t>
            </a:r>
          </a:p>
          <a:p>
            <a:r>
              <a:t>Ask: which module would you test first in the next release?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5: how error guessing relates to similar ideas, and how to make it dependable.</a:t>
            </a:r>
          </a:p>
          <a:p>
            <a:r>
              <a:t>This part has 4 concept slides, about 8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Error guessing is how you choose; negative is what kind of test; exploratory is how you work.</a:t>
            </a:r>
          </a:p>
          <a:p>
            <a:r>
              <a:t>An EP invalid partition is a systematic negative test; a hunch about apostrophes is a guessed one.</a:t>
            </a:r>
          </a:p>
          <a:p>
            <a:r>
              <a:t>Exploratory sessions often use error guessing as one idea among many.</a:t>
            </a:r>
          </a:p>
          <a:p>
            <a:r>
              <a:t>Ask: is 'double-click Pay' negative testing? (It is unexpected usage, so yes, and it was guessed.)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testers guess differently, so you cannot claim '85% coverage'.</a:t>
            </a:r>
          </a:p>
          <a:p>
            <a:r>
              <a:t>Confirmation bias: the 'I have seen this before' trap (Wednesday's mindset deck).</a:t>
            </a:r>
          </a:p>
          <a:p>
            <a:r>
              <a:t>The next slide answers each weakness.</a:t>
            </a:r>
          </a:p>
          <a:p>
            <a:r>
              <a:t>Ask: which weakness does pairing reduce most? (Bias.)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Measuring effectiveness tells you which checklist items earn their place.</a:t>
            </a:r>
          </a:p>
          <a:p>
            <a:r>
              <a:t>AI assistants can brainstorm ideas, but never the expected results; that is Week 8.</a:t>
            </a:r>
          </a:p>
          <a:p>
            <a:r>
              <a:t>Keep security-style ideas at the 'treated as data' level and within authorisation.</a:t>
            </a:r>
          </a:p>
          <a:p>
            <a:r>
              <a:t>These habits turn private intuition into team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bug bash invites testers, developers, Rohan, Divya and support to test the same build.</a:t>
            </a:r>
          </a:p>
          <a:p>
            <a:r>
              <a:t>Agree how duplicates are handled before the bash starts.</a:t>
            </a:r>
          </a:p>
          <a:p>
            <a:r>
              <a:t>Pair testing is also a quick way for new testers to borrow experience.</a:t>
            </a:r>
          </a:p>
          <a:p>
            <a:r>
              <a:t>Ask: which roles would you invite to a bug bash on a checkout page?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Others: chasing unlikely faults; ignoring side effects; reporting deliberate design as a defect without asking; going beyond authorisation; trusting AI-suggested expected results; forgetting to retest after a fix.</a:t>
            </a:r>
          </a:p>
          <a:p>
            <a:r>
              <a:t>Ask: which mistake makes a session impossible to repeat?</a:t>
            </a:r>
          </a:p>
          <a:p>
            <a:r>
              <a:t>Quick quiz: read a mistake aloud and ask the class for the fix before revealing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check: 'A bug: the cart accepted quantity -1. Give three related guesses.' (0, decimal, very large; other numeric fields.)</a:t>
            </a:r>
          </a:p>
          <a:p>
            <a:r>
              <a:t>Bridge: next deck, decision tables, for rules where combinations of conditions decide the outcome.</a:t>
            </a:r>
          </a:p>
          <a:p>
            <a:r>
              <a:t>Give learners one minute to write the takeaway they found most useful; take two or three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written lesson has the full idea catalog, the 40-idea registration and login list, the defect history example, the Python name-parser demo and the AI brainstorming guidance.</a:t>
            </a:r>
          </a:p>
          <a:p>
            <a:r>
              <a:t>Resources are for self-study after class; none are needed for today's exercise.</a:t>
            </a:r>
          </a:p>
          <a:p>
            <a:r>
              <a:t>The written lesson for this topic is the full reference; slides are the presentation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Line 2"/>
          <p:cNvSpPr>
            <a:spLocks noChangeShapeType="1"/>
          </p:cNvSpPr>
          <p:nvPr/>
        </p:nvSpPr>
        <p:spPr bwMode="auto">
          <a:xfrm>
            <a:off x="9753600" y="1066800"/>
            <a:ext cx="0" cy="1752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016000" y="457200"/>
            <a:ext cx="8519584" cy="213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132417" y="3049588"/>
            <a:ext cx="83312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fld id="{F304A9D6-1313-4D51-A62E-402D441D9A7B}" type="datetime1">
              <a:rPr lang="en-US" smtClean="0"/>
              <a:t>10/25/2026</a:t>
            </a:fld>
            <a:endParaRPr lang="en-US"/>
          </a:p>
        </p:txBody>
      </p:sp>
      <p:sp>
        <p:nvSpPr>
          <p:cNvPr id="66566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6567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sp>
        <p:nvSpPr>
          <p:cNvPr id="66568" name="Line 8"/>
          <p:cNvSpPr>
            <a:spLocks noChangeShapeType="1"/>
          </p:cNvSpPr>
          <p:nvPr/>
        </p:nvSpPr>
        <p:spPr bwMode="auto">
          <a:xfrm>
            <a:off x="1117600" y="2819400"/>
            <a:ext cx="8636000" cy="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grpSp>
        <p:nvGrpSpPr>
          <p:cNvPr id="66569" name="Group 9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570" name="Oval 10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1" name="Oval 11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2" name="Oval 12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3" name="Oval 13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4" name="Oval 14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5" name="Oval 15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6" name="Oval 16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7" name="Oval 17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8" name="Oval 18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9" name="Oval 19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0" name="Oval 20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1" name="Oval 21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2" name="Oval 22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3" name="Oval 23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4" name="Oval 24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5" name="Oval 25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6" name="Oval 26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7" name="Oval 27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8" name="Oval 28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9" name="Oval 29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0" name="Oval 30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1" name="Oval 31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2" name="Oval 32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3" name="Oval 33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4" name="Oval 34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5" name="Oval 35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6" name="Oval 36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7" name="Oval 37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8" name="Oval 38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9" name="Oval 39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0" name="Oval 40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grpSp>
        <p:nvGrpSpPr>
          <p:cNvPr id="66601" name="Group 41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602" name="Oval 42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3" name="Oval 43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4" name="Oval 44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5" name="Oval 45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6" name="Oval 46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7" name="Oval 47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8" name="Oval 48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9" name="Oval 49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0" name="Oval 50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1" name="Oval 51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2" name="Oval 52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3" name="Oval 53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4" name="Oval 54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5" name="Oval 55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6" name="Oval 56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7" name="Oval 57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8" name="Oval 58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9" name="Oval 59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0" name="Oval 60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1" name="Oval 61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2" name="Oval 62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3" name="Oval 63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4" name="Oval 64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5" name="Oval 65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6" name="Oval 66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7" name="Oval 67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8" name="Oval 68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9" name="Oval 69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0" name="Oval 70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1" name="Oval 71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2" name="Oval 72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8955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256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44A8556-2F07-416B-A81B-5F1C3AFD01EF}" type="datetime1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7954" y="6261305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722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6729637-7636-4388-949A-FC8BFDAA4705}" type="datetime1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092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F5DED8-6456-47A2-A5CC-BE8BEC6BD892}" type="datetime1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174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595759-8665-4708-8376-28A90FA13BDD}" type="datetime1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97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3B0C243-4A55-4741-8265-C0A2FA769F7B}" type="datetime1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546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99A12F7-971D-41C1-A2B7-EBB58FF381A3}" type="datetime1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112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E3C3D28-2E0C-4F8B-A45D-9E87921943BF}" type="datetime1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995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020A2-9D30-48AD-A70D-69AD2B027FCA}" type="datetime1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103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01F6343-4644-43E3-AA07-6869EC7CEA0D}" type="datetime1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150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22239"/>
            <a:ext cx="27432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22239"/>
            <a:ext cx="80264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A0A126-F3CA-45B4-970B-597BE67A203E}" type="datetime1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465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16815F9B-CAFE-4C37-897A-C6403744783F}" type="datetime1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87975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Line 2"/>
          <p:cNvSpPr>
            <a:spLocks noChangeShapeType="1"/>
          </p:cNvSpPr>
          <p:nvPr/>
        </p:nvSpPr>
        <p:spPr bwMode="auto">
          <a:xfrm>
            <a:off x="10668000" y="0"/>
            <a:ext cx="0" cy="1524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22238"/>
            <a:ext cx="100584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554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719263"/>
            <a:ext cx="109728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554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/>
            </a:lvl1pPr>
          </a:lstStyle>
          <a:p>
            <a:fld id="{C569D4A1-8BB6-4430-9601-3FBC79908E8C}" type="datetime1">
              <a:rPr lang="en-US" smtClean="0"/>
              <a:t>10/25/2026</a:t>
            </a:fld>
            <a:endParaRPr lang="en-US"/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endParaRPr lang="en-US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grpSp>
        <p:nvGrpSpPr>
          <p:cNvPr id="65544" name="Group 8" descr="decorative graphic made up of dots"/>
          <p:cNvGrpSpPr>
            <a:grpSpLocks/>
          </p:cNvGrpSpPr>
          <p:nvPr/>
        </p:nvGrpSpPr>
        <p:grpSpPr bwMode="auto">
          <a:xfrm>
            <a:off x="10871201" y="152400"/>
            <a:ext cx="1056217" cy="1295400"/>
            <a:chOff x="5136" y="960"/>
            <a:chExt cx="528" cy="864"/>
          </a:xfrm>
        </p:grpSpPr>
        <p:sp>
          <p:nvSpPr>
            <p:cNvPr id="65545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6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7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8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9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0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1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2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3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4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5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6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7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8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9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0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1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2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3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4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5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6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7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8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9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0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1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2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3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4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5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sp>
        <p:nvSpPr>
          <p:cNvPr id="65576" name="Line 40"/>
          <p:cNvSpPr>
            <a:spLocks noChangeShapeType="1"/>
          </p:cNvSpPr>
          <p:nvPr/>
        </p:nvSpPr>
        <p:spPr bwMode="auto">
          <a:xfrm>
            <a:off x="609600" y="1524000"/>
            <a:ext cx="100584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2634220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9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87425" indent="-29368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281113" indent="-2921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986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Error Guessing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2057400"/>
            <a:ext cx="877750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 i="0">
                <a:solidFill>
                  <a:srgbClr val="5A5A5A"/>
                </a:solidFill>
                <a:latin typeface="Arial"/>
              </a:rPr>
              <a:t>Anticipate defects from experience, then design tests to expose them</a:t>
            </a:r>
          </a:p>
        </p:txBody>
      </p:sp>
      <p:sp>
        <p:nvSpPr>
          <p:cNvPr id="20" name="Oval 19"/>
          <p:cNvSpPr/>
          <p:nvPr/>
        </p:nvSpPr>
        <p:spPr>
          <a:xfrm>
            <a:off x="609904" y="5596128"/>
            <a:ext cx="292608" cy="29260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67104" y="5596128"/>
            <a:ext cx="292608" cy="292608"/>
          </a:xfrm>
          <a:prstGeom prst="ellipse">
            <a:avLst/>
          </a:prstGeom>
          <a:solidFill>
            <a:srgbClr val="66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524304" y="5596128"/>
            <a:ext cx="292608" cy="292608"/>
          </a:xfrm>
          <a:prstGeom prst="ellipse">
            <a:avLst/>
          </a:prstGeom>
          <a:solidFill>
            <a:srgbClr val="CC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12648" y="3520440"/>
            <a:ext cx="1463040" cy="402336"/>
          </a:xfrm>
          <a:prstGeom prst="roundRect">
            <a:avLst>
              <a:gd name="adj" fmla="val 50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Definition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2167128" y="3630168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532888" y="3520440"/>
            <a:ext cx="1673352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Why it works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4297679" y="3630168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663440" y="3520440"/>
            <a:ext cx="1147572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Sources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5902451" y="3630168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68212" y="3520440"/>
            <a:ext cx="1147572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Process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7507223" y="3630168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872983" y="3520440"/>
            <a:ext cx="1147572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Catalog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9111996" y="3630168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477756" y="3520440"/>
            <a:ext cx="146304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Systematic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WEEK 3 · THURSDAY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Oval 2"/>
          <p:cNvSpPr/>
          <p:nvPr/>
        </p:nvSpPr>
        <p:spPr>
          <a:xfrm>
            <a:off x="612648" y="164592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8448" y="170078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Define error guessing and explain why it works.</a:t>
            </a:r>
          </a:p>
        </p:txBody>
      </p:sp>
      <p:sp>
        <p:nvSpPr>
          <p:cNvPr id="5" name="Oval 4"/>
          <p:cNvSpPr/>
          <p:nvPr/>
        </p:nvSpPr>
        <p:spPr>
          <a:xfrm>
            <a:off x="612648" y="246888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252374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Build a fault list from sources of experience.</a:t>
            </a:r>
          </a:p>
        </p:txBody>
      </p:sp>
      <p:sp>
        <p:nvSpPr>
          <p:cNvPr id="7" name="Oval 6"/>
          <p:cNvSpPr/>
          <p:nvPr/>
        </p:nvSpPr>
        <p:spPr>
          <a:xfrm>
            <a:off x="612648" y="329184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334670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Run a timeboxed fault attack and document the results.</a:t>
            </a:r>
          </a:p>
        </p:txBody>
      </p:sp>
      <p:sp>
        <p:nvSpPr>
          <p:cNvPr id="9" name="Oval 8"/>
          <p:cNvSpPr/>
          <p:nvPr/>
        </p:nvSpPr>
        <p:spPr>
          <a:xfrm>
            <a:off x="612648" y="411480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4169663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Use the idea catalog and domain checklists for a feature.</a:t>
            </a:r>
          </a:p>
        </p:txBody>
      </p:sp>
      <p:sp>
        <p:nvSpPr>
          <p:cNvPr id="11" name="Oval 10"/>
          <p:cNvSpPr/>
          <p:nvPr/>
        </p:nvSpPr>
        <p:spPr>
          <a:xfrm>
            <a:off x="612648" y="493776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499262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Compare it with negative and exploratory testing; make it systematic.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 / 31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and Why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Experience, turned into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3 / 31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Error Guessing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83080"/>
            <a:ext cx="2434590" cy="100584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Experience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092958" y="2286000"/>
            <a:ext cx="32004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458718" y="1783080"/>
            <a:ext cx="2434590" cy="100584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Likely mistakes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39028" y="2286000"/>
            <a:ext cx="32004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304788" y="1783080"/>
            <a:ext cx="2434590" cy="10058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Targeted tests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785098" y="2286000"/>
            <a:ext cx="32004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150858" y="1783080"/>
            <a:ext cx="2434590" cy="100584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Defects found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320040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An experience-based technique: anticipate the defects, then design tests to expose them.</a:t>
            </a:r>
          </a:p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Not random clicking: informed guesses, written down and checked against expected results.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" y="4892040"/>
            <a:ext cx="10972800" cy="73152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FFFFFF"/>
                </a:solidFill>
                <a:latin typeface="Arial"/>
              </a:rPr>
              <a:t>The tester asks: where has software like this broken before?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4 / 31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Analogy: The Mechanic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828800"/>
            <a:ext cx="2434590" cy="100584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1A1A1A"/>
                </a:solidFill>
                <a:latin typeface="Arial"/>
              </a:rPr>
              <a:t>Strange noise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092958" y="2331720"/>
            <a:ext cx="32004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458718" y="1828800"/>
            <a:ext cx="2434590" cy="100584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1A1A1A"/>
                </a:solidFill>
                <a:latin typeface="Arial"/>
              </a:rPr>
              <a:t>Most likely fault first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39028" y="2331720"/>
            <a:ext cx="32004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304788" y="1828800"/>
            <a:ext cx="2434590" cy="100584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1A1A1A"/>
                </a:solidFill>
                <a:latin typeface="Arial"/>
              </a:rPr>
              <a:t>Then the next likely one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785098" y="2331720"/>
            <a:ext cx="32004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150858" y="1828800"/>
            <a:ext cx="2434590" cy="10058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1A1A1A"/>
                </a:solidFill>
                <a:latin typeface="Arial"/>
              </a:rPr>
              <a:t>Fixed quickly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329184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Experience narrows a huge search space to a short list.</a:t>
            </a:r>
          </a:p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The tester: 'Apostrophes in surnames broke the last three apps. Try that first.'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5 / 31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Complements, Never Replaces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2057400" cy="77724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Use-case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40" y="1737360"/>
            <a:ext cx="2057400" cy="77724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BVA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56632" y="1737360"/>
            <a:ext cx="2057400" cy="77724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EP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78624" y="1737360"/>
            <a:ext cx="2057400" cy="77724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Decision table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00616" y="1737360"/>
            <a:ext cx="2057400" cy="77724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State transition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606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F4E79"/>
                </a:solidFill>
                <a:latin typeface="Arial"/>
              </a:rPr>
              <a:t>systematic techniques: the road map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3291840"/>
            <a:ext cx="10972800" cy="86868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1A1A1A"/>
                </a:solidFill>
                <a:latin typeface="Arial"/>
              </a:rPr>
              <a:t>Error guessing: local knowledge ('that bridge floods every spring')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452628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Do the systematic work first, then add the probes nobody wrote down.</a:t>
            </a:r>
          </a:p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It reaches the silent areas of the specification.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6 / 31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3505200" cy="178308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Defects cluster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Buggy areas stay buggy (Wednesday)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6448" y="1691640"/>
            <a:ext cx="3505200" cy="178308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Mistakes repeat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Forgot empty input once, forgets it again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80248" y="1691640"/>
            <a:ext cx="3505200" cy="178308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Human error is predictable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Nothing, too much, one click, a perfect network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3703320"/>
            <a:ext cx="3505200" cy="178308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Specs are silent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Nobody wrote down the 5,000-character name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6448" y="3703320"/>
            <a:ext cx="3505200" cy="178308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Pesticide paradox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New guesses refresh a stale test 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7 / 31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Sources and Process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From experience to a fault list to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8 / 31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Sources of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2571750" cy="160020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5B2C83"/>
                </a:solidFill>
                <a:latin typeface="Arial"/>
              </a:rPr>
              <a:t>Past defects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'The email field failed on spaces'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12998" y="1691640"/>
            <a:ext cx="2571750" cy="160020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5B2C83"/>
                </a:solidFill>
                <a:latin typeface="Arial"/>
              </a:rPr>
              <a:t>Bug database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Patterns across releases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3348" y="1691640"/>
            <a:ext cx="2571750" cy="160020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5B2C83"/>
                </a:solidFill>
                <a:latin typeface="Arial"/>
              </a:rPr>
              <a:t>Production incidents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What broke for real users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13698" y="1691640"/>
            <a:ext cx="2571750" cy="160020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5B2C83"/>
                </a:solidFill>
                <a:latin typeface="Arial"/>
              </a:rPr>
              <a:t>Support tickets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What users complain about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3520440"/>
            <a:ext cx="2571750" cy="160020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5B2C83"/>
                </a:solidFill>
                <a:latin typeface="Arial"/>
              </a:rPr>
              <a:t>Developers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Where Karan and Neha feel uneasy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2998" y="3520440"/>
            <a:ext cx="2571750" cy="160020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5B2C83"/>
                </a:solidFill>
                <a:latin typeface="Arial"/>
              </a:rPr>
              <a:t>Domain knowledge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Money must not round wrongly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3348" y="3520440"/>
            <a:ext cx="2571750" cy="160020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5B2C83"/>
                </a:solidFill>
                <a:latin typeface="Arial"/>
              </a:rPr>
              <a:t>Checklists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Team lists and defect taxonomies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13698" y="3520440"/>
            <a:ext cx="2571750" cy="160020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5B2C83"/>
                </a:solidFill>
                <a:latin typeface="Arial"/>
              </a:rPr>
              <a:t>Your own notes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What failed in your last session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5257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New to the team? Borrow: read the bug list, talk to developers, read tickets, use checklists.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9 / 31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2468880" cy="82296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1 Understand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127248" y="2103120"/>
            <a:ext cx="27432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447288" y="1691640"/>
            <a:ext cx="2468880" cy="82296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2 Gather sources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61888" y="2103120"/>
            <a:ext cx="27432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281928" y="1691640"/>
            <a:ext cx="2468880" cy="82296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3 Build a fault list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796528" y="2103120"/>
            <a:ext cx="27432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116568" y="1691640"/>
            <a:ext cx="2468880" cy="82296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4 Fault attack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" y="2971800"/>
            <a:ext cx="2468880" cy="82296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8 Update the list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3127248" y="3383280"/>
            <a:ext cx="27432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47288" y="2971800"/>
            <a:ext cx="2468880" cy="82296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7 Document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5961888" y="3383280"/>
            <a:ext cx="27432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281928" y="2971800"/>
            <a:ext cx="2468880" cy="82296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6 Execute and observe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8796528" y="3383280"/>
            <a:ext cx="27432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116568" y="2971800"/>
            <a:ext cx="2468880" cy="82296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5 Timebox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305288" y="2514600"/>
            <a:ext cx="0" cy="45720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892807" y="2514600"/>
            <a:ext cx="0" cy="457200"/>
          </a:xfrm>
          <a:prstGeom prst="line">
            <a:avLst/>
          </a:prstGeom>
          <a:ln w="25400">
            <a:solidFill>
              <a:srgbClr val="C55A11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12648" y="420624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A feedback loop: results and new defects feed the fault list.</a:t>
            </a:r>
          </a:p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Read the second row right to left; the dashed arrow closes the loop.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10 / 31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Fault List to Fault Attack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4114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108960"/>
                <a:gridCol w="4206240"/>
                <a:gridCol w="3657600"/>
              </a:tblGrid>
              <a:tr h="68580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Fault on the list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Attack (test)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Expected result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Spaces not trimmed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Register with a trailing space in the email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Saved trimmed; login works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Double submit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Double-click Register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Exactly one account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Session kept after logout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Log out, press Back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Login page, not the dashboard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Case-sensitive email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Log in with the email in capitals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Same account found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No length limit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Paste 5,000 characters into a name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Clear message; no crash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11 / 31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Timebox and Document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83080"/>
            <a:ext cx="1216152" cy="82296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5 min pick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1783080"/>
            <a:ext cx="8540496" cy="82296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35 min test: one fault-list item at a 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69296" y="1783080"/>
            <a:ext cx="1216152" cy="82296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5 min notes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697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5A5A5A"/>
                </a:solidFill>
                <a:latin typeface="Arial"/>
              </a:rPr>
              <a:t>A 45-minute session, set before you start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3291840"/>
            <a:ext cx="3505200" cy="146304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F4E79"/>
                </a:solidFill>
                <a:latin typeface="Arial"/>
              </a:rPr>
              <a:t>Record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Exact input, expected, actual, verdict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6448" y="3291840"/>
            <a:ext cx="3505200" cy="146304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Log defects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In Jira (sample project DEMO)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0248" y="3291840"/>
            <a:ext cx="3505200" cy="14630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Share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Private hunches become team knowledge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51206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330066"/>
                </a:solidFill>
                <a:latin typeface="Arial"/>
              </a:rPr>
              <a:t>Without a timebox, hours go to unlikely scenarios.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12 / 31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Idea Catalog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head start for any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13 / 31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Start from Wednesday's Menu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1251585" cy="50292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Wrong type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01392" y="1737360"/>
            <a:ext cx="1251585" cy="50292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Empty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90137" y="1737360"/>
            <a:ext cx="1251585" cy="50292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Too long/short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78882" y="1737360"/>
            <a:ext cx="1251585" cy="50292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Special chars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7627" y="1737360"/>
            <a:ext cx="1251585" cy="50292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Wrong format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56373" y="1737360"/>
            <a:ext cx="1251585" cy="50292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Out of range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45117" y="1737360"/>
            <a:ext cx="1251585" cy="50292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Duplicates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33862" y="1737360"/>
            <a:ext cx="1251585" cy="50292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Missing field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" y="2377440"/>
            <a:ext cx="1251585" cy="50292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Wrong order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01392" y="2377440"/>
            <a:ext cx="1251585" cy="50292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Expired session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90137" y="2377440"/>
            <a:ext cx="1251585" cy="50292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No permission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78882" y="2377440"/>
            <a:ext cx="1251585" cy="50292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Network loss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7627" y="2377440"/>
            <a:ext cx="1251585" cy="50292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Double submit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56373" y="2377440"/>
            <a:ext cx="1251585" cy="50292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Back/refresh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45117" y="2377440"/>
            <a:ext cx="1251585" cy="50292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File uploads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333862" y="2377440"/>
            <a:ext cx="1251585" cy="50292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Code-like text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99048" y="3017520"/>
            <a:ext cx="0" cy="411480"/>
          </a:xfrm>
          <a:prstGeom prst="line">
            <a:avLst/>
          </a:prstGeom>
          <a:ln w="317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12648" y="3474720"/>
            <a:ext cx="10972800" cy="82296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1A1A1A"/>
                </a:solidFill>
                <a:latin typeface="Arial"/>
              </a:rPr>
              <a:t>Error guessing adds what experience says breaks: the next four slides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" y="457200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Wednesday's sixteen negative-test categories are a ready-made fault list.</a:t>
            </a:r>
          </a:p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Code-like text: authorised environment only; treated as data; report and stop.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14 / 31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Text and Characters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3505200" cy="178308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Spaces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Leading, trailing, double spaces inside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6448" y="1691640"/>
            <a:ext cx="3505200" cy="178308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Apostrophes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 surname with an apostrophe breaks careless queries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80248" y="1691640"/>
            <a:ext cx="3505200" cy="178308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Emoji and accents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Counted as two characters; stored wrongly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3703320"/>
            <a:ext cx="3505200" cy="178308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Copy and paste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Smart quotes, hidden characters from documents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6448" y="3703320"/>
            <a:ext cx="3505200" cy="178308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Letter case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Same email in capitals: a second account?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0248" y="3703320"/>
            <a:ext cx="3505200" cy="178308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Very long text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5,000 characters: crash, cut-off, slow page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15 / 31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Numbers, Money and Dates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3505200" cy="178308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Negative and zero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Quantity -1 creates a refund; 0 divides by zero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6448" y="1691640"/>
            <a:ext cx="3505200" cy="178308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Odd formats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Leading zeros 007; 1e5; a comma as decimal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80248" y="1691640"/>
            <a:ext cx="3505200" cy="178308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Rounding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Totals off by 0.01 after discounts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3703320"/>
            <a:ext cx="3505200" cy="178308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Leap days, month ends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29 Feb, 31 Apr, 31 Dec to 1 Jan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6448" y="3703320"/>
            <a:ext cx="3505200" cy="178308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Clock changes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The missing or repeated daylight-saving hour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0248" y="3703320"/>
            <a:ext cx="3505200" cy="178308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Locale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03/04: March or April? Right-to-left 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16 / 31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Actions, Timing and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3505200" cy="178308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Double submit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Two clicks on Pay: one charge?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6448" y="1691640"/>
            <a:ext cx="3505200" cy="178308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Back and refresh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Back after logout; refresh after payment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80248" y="1691640"/>
            <a:ext cx="3505200" cy="178308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Two tabs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Log out in one tab, submit in the other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3703320"/>
            <a:ext cx="3505200" cy="178308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Session expiry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Fill a long form, wait, then submit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6448" y="3703320"/>
            <a:ext cx="3505200" cy="178308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Network loss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Offline just after Submit: data lost silently?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0248" y="3703320"/>
            <a:ext cx="3505200" cy="178308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Two users at once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Both book the last seat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17 / 31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Files and Uploads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3505200" cy="178308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Empty file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0 bytes: crash or a 'success' with nothing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6448" y="1691640"/>
            <a:ext cx="3505200" cy="178308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At the limit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Exactly the size limit, and one byte over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80248" y="1691640"/>
            <a:ext cx="3505200" cy="178308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Disguised type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 program renamed to .jpg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3703320"/>
            <a:ext cx="3505200" cy="178308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Name tricks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Double extension, no extension, .JPG, spaces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6448" y="3703320"/>
            <a:ext cx="3505200" cy="178308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Same file twice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Overwritten? Duplicated? Renamed?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0248" y="3703320"/>
            <a:ext cx="3505200" cy="178308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Corrupt content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 broken image with a valid 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18 / 31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Checklists and Defect History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Reuse what the team already knows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19 / 31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Login and Registration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5303520" cy="402336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85623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C55A11"/>
                </a:solidFill>
                <a:latin typeface="Arial"/>
              </a:rPr>
              <a:t>Inputs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423160"/>
            <a:ext cx="4846320" cy="3154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Empty, whitespace-only, both empty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Leading or trailing spaces in email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Same email in different case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Very long values; apostrophe in a name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81928" y="1691640"/>
            <a:ext cx="5303520" cy="402336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10528" y="185623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C00000"/>
                </a:solidFill>
                <a:latin typeface="Arial"/>
              </a:rPr>
              <a:t>Behaviour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0528" y="2423160"/>
            <a:ext cx="4846320" cy="3154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Many failed logins: lock or delay?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Double-click Register or Log in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Back after login and after logout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Session expiry mid-form; two tabs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20 / 31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Search and Checkout Checklists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5303520" cy="402336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85623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C55A11"/>
                </a:solidFill>
                <a:latin typeface="Arial"/>
              </a:rPr>
              <a:t>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423160"/>
            <a:ext cx="4846320" cy="3154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Empty search; only spaces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Wildcard-like characters: *, %, ?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Zero, one and thousands of results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Case and accents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81928" y="1691640"/>
            <a:ext cx="5303520" cy="402336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10528" y="185623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C55A11"/>
                </a:solidFill>
                <a:latin typeface="Arial"/>
              </a:rPr>
              <a:t>Shopping cart and payment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0528" y="2423160"/>
            <a:ext cx="4846320" cy="3154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Quantity 0, negative, decimal, huge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Discount code expired, reused, spaced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Double-click Pay; Back after paying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Price with many decimals; rounding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21 / 31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One Defect to Many Tests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2194560"/>
            <a:ext cx="3017520" cy="164592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Past defect</a:t>
            </a:r>
          </a:p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Account created with a trailing space in the email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1691640"/>
            <a:ext cx="2834640" cy="822960"/>
          </a:xfrm>
          <a:prstGeom prst="roundRect">
            <a:avLst>
              <a:gd name="adj" fmla="val 12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Where else?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3630168" y="2103120"/>
            <a:ext cx="530352" cy="91440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406640" y="1691640"/>
            <a:ext cx="4178808" cy="82296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Name fields, password, search box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040880" y="2103120"/>
            <a:ext cx="320040" cy="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206240" y="2743200"/>
            <a:ext cx="2834640" cy="822960"/>
          </a:xfrm>
          <a:prstGeom prst="roundRect">
            <a:avLst>
              <a:gd name="adj" fmla="val 12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Nearby variants?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30168" y="3017520"/>
            <a:ext cx="530352" cy="13716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406640" y="2743200"/>
            <a:ext cx="4178808" cy="82296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Leading spaces, tabs, double spaces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40880" y="3154680"/>
            <a:ext cx="320040" cy="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206240" y="3794760"/>
            <a:ext cx="2834640" cy="822960"/>
          </a:xfrm>
          <a:prstGeom prst="roundRect">
            <a:avLst>
              <a:gd name="adj" fmla="val 12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Was the fix complete?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30168" y="3017520"/>
            <a:ext cx="530352" cy="118872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406640" y="3794760"/>
            <a:ext cx="4178808" cy="82296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Login, reset password, profile edit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040880" y="4206240"/>
            <a:ext cx="320040" cy="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12648" y="50292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330066"/>
                </a:solidFill>
                <a:latin typeface="Arial"/>
              </a:rPr>
              <a:t>Defect-based testing: each past bug seeds a family of new tests.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22 / 31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 the Defect History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12648" y="1691640"/>
          <a:ext cx="603504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949440" y="1691640"/>
            <a:ext cx="4636008" cy="384048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What it tells you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Registration has the most: give it extra attention (clustering).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Most share one cause: input not cleaned before saving.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So: test every input for spaces, case and length.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23 / 31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Weighing the Technique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Compared, judged and made systematic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24 / 31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Guessing, Negative, Exploratory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38862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94560"/>
                <a:gridCol w="2926080"/>
                <a:gridCol w="2926080"/>
                <a:gridCol w="2926080"/>
              </a:tblGrid>
              <a:tr h="77724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Aspect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Error guessing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Negative testing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Exploratory testing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What it is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A way to choose tests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A kind of test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A style of testing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Driven by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Anticipated faults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Invalid or unexpected input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Learning while testing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Can be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Positive or negative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Systematic or guessed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Guided by a charter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Taught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Today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Wednesday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Friday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5257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A5A5A"/>
                </a:solidFill>
                <a:latin typeface="Arial"/>
              </a:rPr>
              <a:t>A valid leap day chosen from experience is error guessing and a positive test.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25 / 31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Strengths and Weaknesses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5303520" cy="402336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85623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E7D32"/>
                </a:solidFill>
                <a:latin typeface="Arial"/>
              </a:rPr>
              <a:t>Strengths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423160"/>
            <a:ext cx="4846320" cy="3154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Fast and cheap: no models or tools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Finds unusual defects others miss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Works when specs are poor or late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Turns past pain into prevention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81928" y="1691640"/>
            <a:ext cx="5303520" cy="402336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10528" y="185623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C00000"/>
                </a:solidFill>
                <a:latin typeface="Arial"/>
              </a:rPr>
              <a:t>Weaknesses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0528" y="2423160"/>
            <a:ext cx="4846320" cy="3154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Depends on skill and experience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Hard to repeat; no coverage measure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Bias: you guess what you already know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Hard to plan; can waste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26 / 31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Making It Systematic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3505200" cy="178308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Checklists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Repeatable, shareable, reviewable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6448" y="1691640"/>
            <a:ext cx="3505200" cy="178308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Fault attacks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One list item at a 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80248" y="1691640"/>
            <a:ext cx="3505200" cy="178308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Defect-based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Tests seeded by past bugs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3703320"/>
            <a:ext cx="3505200" cy="178308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Timebox and notes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Plannable and comparable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6448" y="3703320"/>
            <a:ext cx="3505200" cy="178308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Pair up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Two minds guess more than 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0248" y="3703320"/>
            <a:ext cx="3505200" cy="178308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Measure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Defects found per hour of guessing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27 / 31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Pairs and Bug Bashes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3474720" cy="329184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5B2C83"/>
                </a:solidFill>
                <a:latin typeface="Arial"/>
              </a:rPr>
              <a:t>Pair testing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Driver operates; navigator suggests and notes.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Swap regularly.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Ananya with Karan, or a beginner with an expert.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61688" y="1691640"/>
            <a:ext cx="3474720" cy="329184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5B2C83"/>
                </a:solidFill>
                <a:latin typeface="Arial"/>
              </a:rPr>
              <a:t>Mob testing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Three or more around one screen.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The driver rotates.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Good for sharing domain knowledge.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0727" y="1691640"/>
            <a:ext cx="3474720" cy="329184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5B2C83"/>
                </a:solidFill>
                <a:latin typeface="Arial"/>
              </a:rPr>
              <a:t>Bug bash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60 to 90 minutes, before a release.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Assign areas; share a starter list.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One place to report.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5257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This afternoon's exercise is pair work: driver and navigator, swap every 30 minutes.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28 / 31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Mistakes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COMMON MISTAKES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4114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120640"/>
                <a:gridCol w="5852160"/>
              </a:tblGrid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Mistake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Do instead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Random clicking with no list or notes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Fault list, timebox, written results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Using it instead of systematic techniques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Systematic first, guessing on top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Guesses without expected results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Take expected results from the requirement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Only guessing what you already know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Borrow from colleagues and defect history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Never updating the checklist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Add new defect types after every session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29 / 31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12648" y="160020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165506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Error guessing anticipates defects from experience and targets them.</a:t>
            </a:r>
          </a:p>
        </p:txBody>
      </p:sp>
      <p:sp>
        <p:nvSpPr>
          <p:cNvPr id="6" name="Oval 5"/>
          <p:cNvSpPr/>
          <p:nvPr/>
        </p:nvSpPr>
        <p:spPr>
          <a:xfrm>
            <a:off x="612648" y="233172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238658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It works because defects cluster, mistakes repeat and specs are silent.</a:t>
            </a:r>
          </a:p>
        </p:txBody>
      </p:sp>
      <p:sp>
        <p:nvSpPr>
          <p:cNvPr id="8" name="Oval 7"/>
          <p:cNvSpPr/>
          <p:nvPr/>
        </p:nvSpPr>
        <p:spPr>
          <a:xfrm>
            <a:off x="612648" y="306324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311810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Sources feed a fault list; a timeboxed fault attack turns it into tests.</a:t>
            </a:r>
          </a:p>
        </p:txBody>
      </p:sp>
      <p:sp>
        <p:nvSpPr>
          <p:cNvPr id="10" name="Oval 9"/>
          <p:cNvSpPr/>
          <p:nvPr/>
        </p:nvSpPr>
        <p:spPr>
          <a:xfrm>
            <a:off x="612648" y="379476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384962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Catalogs and checklists give a head start; pick what fits the feature.</a:t>
            </a:r>
          </a:p>
        </p:txBody>
      </p:sp>
      <p:sp>
        <p:nvSpPr>
          <p:cNvPr id="12" name="Oval 11"/>
          <p:cNvSpPr/>
          <p:nvPr/>
        </p:nvSpPr>
        <p:spPr>
          <a:xfrm>
            <a:off x="612648" y="452628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458114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It complements systematic techniques; it does not replace them.</a:t>
            </a:r>
          </a:p>
        </p:txBody>
      </p:sp>
      <p:sp>
        <p:nvSpPr>
          <p:cNvPr id="14" name="Oval 13"/>
          <p:cNvSpPr/>
          <p:nvPr/>
        </p:nvSpPr>
        <p:spPr>
          <a:xfrm>
            <a:off x="612648" y="525780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531266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Make it systematic: checklists, defect history, notes, pairs.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30 / 31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Additional Resources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8544" y="18196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ISTQB Glossary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https://glossary.istqb.org/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4347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544" y="24713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Guru99: Error Guessing Technique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https://www.guru99.com/error-guessing.html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08648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8544" y="3123057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Ministry of Testing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https://www.ministryoftesting.com/</a:t>
            </a:r>
          </a:p>
        </p:txBody>
      </p:sp>
      <p:sp>
        <p:nvSpPr>
          <p:cNvPr id="9" name="Oval 8"/>
          <p:cNvSpPr/>
          <p:nvPr/>
        </p:nvSpPr>
        <p:spPr>
          <a:xfrm>
            <a:off x="609904" y="373818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8544" y="3774757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OWASP Web Security Testing Guide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https://owasp.org/www-project-web-security-testing-guide/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31 / 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rners Point">
  <a:themeElements>
    <a:clrScheme name="1_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1_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1_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earners Point" id="{5ABB7BE2-076F-42C1-9907-FD58862889C1}" vid="{2565D177-60C2-4381-BEC4-E0C09BB79CB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8881</Words>
  <Application>Microsoft Office PowerPoint</Application>
  <PresentationFormat>Widescreen</PresentationFormat>
  <Paragraphs>1328</Paragraphs>
  <Slides>102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102</vt:i4>
      </vt:variant>
    </vt:vector>
  </HeadingPairs>
  <TitlesOfParts>
    <vt:vector size="106" baseType="lpstr">
      <vt:lpstr>Arial</vt:lpstr>
      <vt:lpstr>Courier New</vt:lpstr>
      <vt:lpstr>Wingdings</vt:lpstr>
      <vt:lpstr>Learners Point</vt:lpstr>
      <vt:lpstr>Error Guessing</vt:lpstr>
      <vt:lpstr>Learning Objectives (1 of 2)</vt:lpstr>
      <vt:lpstr>Learning Objectives (2 of 2)</vt:lpstr>
      <vt:lpstr>What Is Error Guessing?</vt:lpstr>
      <vt:lpstr>Definition</vt:lpstr>
      <vt:lpstr>Complements, Never Replaces</vt:lpstr>
      <vt:lpstr>The Mechanic and the Detective</vt:lpstr>
      <vt:lpstr>Why It Works</vt:lpstr>
      <vt:lpstr>Reasons 1 to 3</vt:lpstr>
      <vt:lpstr>Reasons 4 and 5</vt:lpstr>
      <vt:lpstr>Sources of Experience</vt:lpstr>
      <vt:lpstr>Sources of Experience (1 of 3)</vt:lpstr>
      <vt:lpstr>Sources of Experience (2 of 3)</vt:lpstr>
      <vt:lpstr>Sources of Experience (3 of 3)</vt:lpstr>
      <vt:lpstr>If You Are New</vt:lpstr>
      <vt:lpstr>The Process</vt:lpstr>
      <vt:lpstr>Steps 1 to 4</vt:lpstr>
      <vt:lpstr>Steps 5 to 8</vt:lpstr>
      <vt:lpstr>The Feedback Loop</vt:lpstr>
      <vt:lpstr>The Catalog of Ideas</vt:lpstr>
      <vt:lpstr>Safety Note</vt:lpstr>
      <vt:lpstr>6.1 Empty, Null, Blank, Spaces (1 of 2)</vt:lpstr>
      <vt:lpstr>6.1 Empty, Null, Blank, Spaces (2 of 2)</vt:lpstr>
      <vt:lpstr>6.2 Length</vt:lpstr>
      <vt:lpstr>6.3 Special Chars and Emoji (1 of 2)</vt:lpstr>
      <vt:lpstr>6.3 Special Chars and Emoji (2 of 2)</vt:lpstr>
      <vt:lpstr>Unicode</vt:lpstr>
      <vt:lpstr>6.4 Quotes and Apostrophes</vt:lpstr>
      <vt:lpstr>6.5 Code-Like Text as Data</vt:lpstr>
      <vt:lpstr>The Testing Question</vt:lpstr>
      <vt:lpstr>6.6 Numbers (1 of 2)</vt:lpstr>
      <vt:lpstr>6.6 Numbers (2 of 2)</vt:lpstr>
      <vt:lpstr>6.7 Copy, Paste, Case</vt:lpstr>
      <vt:lpstr>6.8 Actions, Timing, State (1 of 2)</vt:lpstr>
      <vt:lpstr>6.8 Actions, Timing, State (2 of 2)</vt:lpstr>
      <vt:lpstr>Race Condition</vt:lpstr>
      <vt:lpstr>6.9 Dates and Times (1 of 2)</vt:lpstr>
      <vt:lpstr>6.9 Dates and Times (2 of 2)</vt:lpstr>
      <vt:lpstr>6.10 Files and Uploads (1 of 2)</vt:lpstr>
      <vt:lpstr>6.10 Files and Uploads (2 of 2)</vt:lpstr>
      <vt:lpstr>6.11 Calculations and Money</vt:lpstr>
      <vt:lpstr>6.12 Locale and Format</vt:lpstr>
      <vt:lpstr>Locale</vt:lpstr>
      <vt:lpstr>6.13 Network and Permissions (1 of 2)</vt:lpstr>
      <vt:lpstr>6.13 Network and Permissions (2 of 2)</vt:lpstr>
      <vt:lpstr>Choose by Feature</vt:lpstr>
      <vt:lpstr>Domain Checklists</vt:lpstr>
      <vt:lpstr>Login and Registration (1 of 2)</vt:lpstr>
      <vt:lpstr>Login and Registration (2 of 2)</vt:lpstr>
      <vt:lpstr>Search</vt:lpstr>
      <vt:lpstr>Payment and Checkout</vt:lpstr>
      <vt:lpstr>File Upload and Date Pickers</vt:lpstr>
      <vt:lpstr>APIs (at Name Level)</vt:lpstr>
      <vt:lpstr>Compare the Techniques</vt:lpstr>
      <vt:lpstr>Guessing, Negative, Exploratory</vt:lpstr>
      <vt:lpstr>How They Relate</vt:lpstr>
      <vt:lpstr>Strengths</vt:lpstr>
      <vt:lpstr>Weaknesses</vt:lpstr>
      <vt:lpstr>Making It More Systematic (1 of 2)</vt:lpstr>
      <vt:lpstr>Making It More Systematic (2 of 2)</vt:lpstr>
      <vt:lpstr>Example 1: Project 1 Checklist</vt:lpstr>
      <vt:lpstr>The Context</vt:lpstr>
      <vt:lpstr>Fault List by Category</vt:lpstr>
      <vt:lpstr>Project 1 Test Ideas (1 of 7)</vt:lpstr>
      <vt:lpstr>Project 1 Test Ideas (2 of 7)</vt:lpstr>
      <vt:lpstr>Project 1 Test Ideas (3 of 7)</vt:lpstr>
      <vt:lpstr>Project 1 Test Ideas (4 of 7)</vt:lpstr>
      <vt:lpstr>Project 1 Test Ideas (5 of 7)</vt:lpstr>
      <vt:lpstr>Project 1 Test Ideas (6 of 7)</vt:lpstr>
      <vt:lpstr>Project 1 Test Ideas (7 of 7)</vt:lpstr>
      <vt:lpstr>Prioritize</vt:lpstr>
      <vt:lpstr>Example 2: Defect History</vt:lpstr>
      <vt:lpstr>Past Defects (1 of 2)</vt:lpstr>
      <vt:lpstr>Past Defects (2 of 2)</vt:lpstr>
      <vt:lpstr>Three Questions per Bug</vt:lpstr>
      <vt:lpstr>From Defect to New Tests (1 of 4)</vt:lpstr>
      <vt:lpstr>From Defect to New Tests (2 of 4)</vt:lpstr>
      <vt:lpstr>From Defect to New Tests (3 of 4)</vt:lpstr>
      <vt:lpstr>From Defect to New Tests (4 of 4)</vt:lpstr>
      <vt:lpstr>A Living Test Library</vt:lpstr>
      <vt:lpstr>Example 3: Python Demo</vt:lpstr>
      <vt:lpstr>The Demo</vt:lpstr>
      <vt:lpstr>The Buggy Version</vt:lpstr>
      <vt:lpstr>The Fixed Version</vt:lpstr>
      <vt:lpstr>The Guessed Cases</vt:lpstr>
      <vt:lpstr>The Runner</vt:lpstr>
      <vt:lpstr>Output: Buggy vs Fixed</vt:lpstr>
      <vt:lpstr>Faults Found in the Buggy Version</vt:lpstr>
      <vt:lpstr>How the Fix Works</vt:lpstr>
      <vt:lpstr>What the Output Teaches</vt:lpstr>
      <vt:lpstr>AI, Pairs and Bug Bashes</vt:lpstr>
      <vt:lpstr>AI Assistants for Brainstorming</vt:lpstr>
      <vt:lpstr>AI Cautions (1 of 2)</vt:lpstr>
      <vt:lpstr>AI Cautions (2 of 2)</vt:lpstr>
      <vt:lpstr>Pair, Mob, Bug Bash</vt:lpstr>
      <vt:lpstr>Bug Bash Tips</vt:lpstr>
      <vt:lpstr>Common Mistakes</vt:lpstr>
      <vt:lpstr>Common Mistakes (1 of 3)</vt:lpstr>
      <vt:lpstr>Common Mistakes (2 of 3)</vt:lpstr>
      <vt:lpstr>Common Mistakes (3 of 3)</vt:lpstr>
      <vt:lpstr>Key Takeaways</vt:lpstr>
      <vt:lpstr>Additional 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Learners Point Template</dc:title>
  <dc:creator>Learners Point</dc:creator>
  <cp:lastModifiedBy>Jasdhir Singh</cp:lastModifiedBy>
  <cp:revision>2</cp:revision>
  <dcterms:modified xsi:type="dcterms:W3CDTF">2026-10-25T09:28:06Z</dcterms:modified>
</cp:coreProperties>
</file>