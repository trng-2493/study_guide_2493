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3" r:id="rId19"/>
    <p:sldId id="364" r:id="rId20"/>
    <p:sldId id="365" r:id="rId21"/>
    <p:sldId id="366" r:id="rId22"/>
    <p:sldId id="367" r:id="rId23"/>
    <p:sldId id="368" r:id="rId24"/>
    <p:sldId id="369" r:id="rId25"/>
    <p:sldId id="370" r:id="rId26"/>
    <p:sldId id="371" r:id="rId27"/>
    <p:sldId id="372" r:id="rId28"/>
    <p:sldId id="373" r:id="rId29"/>
    <p:sldId id="374" r:id="rId30"/>
    <p:sldId id="375" r:id="rId31"/>
    <p:sldId id="376" r:id="rId32"/>
    <p:sldId id="377" r:id="rId33"/>
    <p:sldId id="378" r:id="rId34"/>
    <p:sldId id="379" r:id="rId35"/>
    <p:sldId id="380" r:id="rId36"/>
    <p:sldId id="351" r:id="rId95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95" Type="http://schemas.openxmlformats.org/officeDocument/2006/relationships/slide" Target="slides/slide94.xml"/><Relationship Id="rId96" Type="http://schemas.openxmlformats.org/officeDocument/2006/relationships/presProps" Target="presProps.xml"/><Relationship Id="rId97" Type="http://schemas.openxmlformats.org/officeDocument/2006/relationships/viewProps" Target="viewProps.xml"/><Relationship Id="rId98" Type="http://schemas.openxmlformats.org/officeDocument/2006/relationships/theme" Target="theme/theme1.xml"/><Relationship Id="rId9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 deck of the day, after black-box testing and use-case testing.</a:t>
            </a:r>
          </a:p>
          <a:p>
            <a:r>
              <a:t>Equivalence partitioning is the next deck; here we only need one valid range and its invalid neighbours.</a:t>
            </a:r>
          </a:p>
          <a:p>
            <a:r>
              <a:t>One analogy runs through the deck: a speed limit.</a:t>
            </a:r>
          </a:p>
          <a:p>
            <a:r>
              <a:t>The written lesson keeps the registration BVA table, the quantity-tier and leap-year tables and the Python boundary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'An age field accepts 18 to 60. If you could run only three tests, which values?' Keep the answers on the board.</a:t>
            </a:r>
          </a:p>
          <a:p>
            <a:r>
              <a:t>By the end of the deck learners should prefer 17, 18 and 60 or 61 over 25, 40 and 50.</a:t>
            </a:r>
          </a:p>
          <a:p>
            <a:r>
              <a:t>Objective 4 is where most real defects are found: in the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the idea, the analogy and why defects live at the edges.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Requirement used all deck: 'Age accepts whole numbers from 18 to 60 inclusive.'</a:t>
            </a:r>
          </a:p>
          <a:p>
            <a:r>
              <a:t>Inclusive means 18 and 60 are both valid.</a:t>
            </a:r>
          </a:p>
          <a:p>
            <a:r>
              <a:t>Each boundary has a valid side and an invalid side; that is the heart of BVA.</a:t>
            </a:r>
          </a:p>
          <a:p>
            <a:r>
              <a:t>Ask: where is the boundary for 'orders over 50.00 ship free'?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analogy.</a:t>
            </a:r>
          </a:p>
          <a:p>
            <a:r>
              <a:t>Limit 50 km/h: 49 and 50 allowed, 51 not.</a:t>
            </a:r>
          </a:p>
          <a:p>
            <a:r>
              <a:t>The value in the middle (20) tells you almost nothing about the limit.</a:t>
            </a:r>
          </a:p>
          <a:p>
            <a:r>
              <a:t>Ask: which single speed best tests that the camera is set correctly? (50.)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Off-by-one is by far the most common boundary defect.</a:t>
            </a:r>
          </a:p>
          <a:p>
            <a:r>
              <a:t>&lt;, &lt;=, &gt; and &gt;= are relational operators; both versions look sensible in a code review.</a:t>
            </a:r>
          </a:p>
          <a:p>
            <a:r>
              <a:t>Fence-post: a 30 m fence with a post every 10 m needs 4 posts, not 3.</a:t>
            </a:r>
          </a:p>
          <a:p>
            <a:r>
              <a:t>Copied limits: the browser may stop at 20 characters while the server accepts 21 from another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runs this as a small Python demo: one test in each buggy suite fails, and it is the boundary test.</a:t>
            </a:r>
          </a:p>
          <a:p>
            <a:r>
              <a:t>Same story with a grade function where A is coded as score &gt; 90: only score 90 fails.</a:t>
            </a:r>
          </a:p>
          <a:p>
            <a:r>
              <a:t>The failure message names the input, so the defect is easy to locate.</a:t>
            </a:r>
          </a:p>
          <a:p>
            <a:r>
              <a:t>Ask: which value would catch 'age &lt;= 61'? (61.)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the definition and the two common variants.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range has two boundaries; each has a valid and an invalid side.</a:t>
            </a:r>
          </a:p>
          <a:p>
            <a:r>
              <a:t>For 18 to 60 the four natural values are 17, 18, 60, 61.</a:t>
            </a:r>
          </a:p>
          <a:p>
            <a:r>
              <a:t>BVA does not apply to unordered sets (countries) or booleans; EP handles those.</a:t>
            </a:r>
          </a:p>
          <a:p>
            <a:r>
              <a:t>The ISTQB glossary defines it the same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 is the first value too low: with age &gt;= 17 it wrongly passes.</a:t>
            </a:r>
          </a:p>
          <a:p>
            <a:r>
              <a:t>18 is the lowest legal age: with age &gt; 18 a legal customer is wrongly rejected.</a:t>
            </a:r>
          </a:p>
          <a:p>
            <a:r>
              <a:t>60 and 61 do the same at the top.</a:t>
            </a:r>
          </a:p>
          <a:p>
            <a:r>
              <a:t>In an exam, use the variant the question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industry practice; costs two extra tests per range.</a:t>
            </a:r>
          </a:p>
          <a:p>
            <a:r>
              <a:t>Example of a rare defect: code that treats exactly 19 as a special case after a copy-paste.</a:t>
            </a:r>
          </a:p>
          <a:p>
            <a:r>
              <a:t>In the pair exercise, state which variant you use so your reviewer knows what to expect.</a:t>
            </a:r>
          </a:p>
          <a:p>
            <a:r>
              <a:t>Ask: how many tests does 3-value BVA give for two independent ranges? (12.)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certification exam names the variant; answer with exactly that set.</a:t>
            </a:r>
          </a:p>
          <a:p>
            <a:r>
              <a:t>On real projects 3-value is the safer default for medium and high risk fields.</a:t>
            </a:r>
          </a:p>
          <a:p>
            <a:r>
              <a:t>Write the variant in the test design so reviewers can check completeness.</a:t>
            </a:r>
          </a:p>
          <a:p>
            <a:r>
              <a:t>Ask: which variant would you use for a payment amount? (3-value; money is high risk.)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the step and the six formulas, then data types.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Farhan (BA) about precision if the spec does not say how many decimal places are allowed.</a:t>
            </a:r>
          </a:p>
          <a:p>
            <a:r>
              <a:t>Values with more decimals than allowed (100.004) may be rounded, truncated or rejected: a hidden boundary of precision.</a:t>
            </a:r>
          </a:p>
          <a:p>
            <a:r>
              <a:t>For dates, agree what 'today' is and which time zone applies.</a:t>
            </a:r>
          </a:p>
          <a:p>
            <a:r>
              <a:t>Ask: what is the step for a price shown in whole rupees?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2-value BVA uses only min - step, min, max, max + step.</a:t>
            </a:r>
          </a:p>
          <a:p>
            <a:r>
              <a:t>Count characters with a tool: a string one character off makes the test meaningless.</a:t>
            </a:r>
          </a:p>
          <a:p>
            <a:r>
              <a:t>If the form stops typing at 16, the 17-character test checks the limit itself; also test the server through the API later.</a:t>
            </a:r>
          </a:p>
          <a:p>
            <a:r>
              <a:t>Keep complexity rules satisfied so a length test is not rejected for a missing digit.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step depends on precision: one decimal place makes the neighbour of 100.0 equal to 100.1.</a:t>
            </a:r>
          </a:p>
          <a:p>
            <a:r>
              <a:t>Lengths: the number analysed is the length, not the content.</a:t>
            </a:r>
          </a:p>
          <a:p>
            <a:r>
              <a:t>'Up to 30 days ahead' must say whether day 30 is included; ask.</a:t>
            </a:r>
          </a:p>
          <a:p>
            <a:r>
              <a:t>Karan and Neha can confirm which numeric type the code uses for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Leap year rule: divisible by 4, except by 100, unless also by 400.</a:t>
            </a:r>
          </a:p>
          <a:p>
            <a:r>
              <a:t>'30 days ahead' from 30 January lands on 29 February in 2024 and 1 March in 2025.</a:t>
            </a:r>
          </a:p>
          <a:p>
            <a:r>
              <a:t>Age from a birth date: '18 or older' changes on the birthday itself; test the day before, the day, the day after.</a:t>
            </a:r>
          </a:p>
          <a:p>
            <a:r>
              <a:t>The full leap-year tables are in the written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boundaries come from the wording of requirements and from how systems are built.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Also: 'within' (usually inclusive, confirm), 'before' and 'after' (is the stated day included?).</a:t>
            </a:r>
          </a:p>
          <a:p>
            <a:r>
              <a:t>'Only if' and 'until' often hide a boundary in time or count.</a:t>
            </a:r>
          </a:p>
          <a:p>
            <a:r>
              <a:t>Underline these words when you read a requirement.</a:t>
            </a:r>
          </a:p>
          <a:p>
            <a:r>
              <a:t>The full keyword table is in the written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Developers and testers who read the requirement differently write code and tests that disagree.</a:t>
            </a:r>
          </a:p>
          <a:p>
            <a:r>
              <a:t>Boundary tests expose the disagreement; asking first is cheaper.</a:t>
            </a:r>
          </a:p>
          <a:p>
            <a:r>
              <a:t>The question log habit is from Tuesday's requirements deck.</a:t>
            </a:r>
          </a:p>
          <a:p>
            <a:r>
              <a:t>Ask: what two readings does 'orders up to 5 kg' allow?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Implicit boundaries are not written down but exist because of how the system is built.</a:t>
            </a:r>
          </a:p>
          <a:p>
            <a:r>
              <a:t>Add 1 to the maximum of a 32-bit integer and the number wraps or errors.</a:t>
            </a:r>
          </a:p>
          <a:p>
            <a:r>
              <a:t>Ask Karan or Neha for column sizes and limits; they are often in the design.</a:t>
            </a:r>
          </a:p>
          <a:p>
            <a:r>
              <a:t>A one-sided rule ('18 or older') still has implicit upper limits: try 150, 999 and a very large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A: 0 and 1 matter too: no photos at all, and the singular '1 photo' message.</a:t>
            </a:r>
          </a:p>
          <a:p>
            <a:r>
              <a:t>B: 11 is the largest child age, 12 the first adult age.</a:t>
            </a:r>
          </a:p>
          <a:p>
            <a:r>
              <a:t>C: 'over' means strictly greater, so 50.01 is the first free value.</a:t>
            </a:r>
          </a:p>
          <a:p>
            <a:r>
              <a:t>Change C to '50.00 or more' and ask what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boundaries that are not on a form field, and what BVA cannot do.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 backwards from the output threshold to the inputs you need.</a:t>
            </a:r>
          </a:p>
          <a:p>
            <a:r>
              <a:t>Example basket: two items of 24.99 and 25.00 make 49.99.</a:t>
            </a:r>
          </a:p>
          <a:p>
            <a:r>
              <a:t>Discounts and taxes can move the total across the boundary; test both before and after discount if the rule is unclear.</a:t>
            </a:r>
          </a:p>
          <a:p>
            <a:r>
              <a:t>Ask Rohan whether the threshold applies before or after discounts.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item: singular and plural bugs such as '1 items'.</a:t>
            </a:r>
          </a:p>
          <a:p>
            <a:r>
              <a:t>MB may mean 1,000,000 or 1,048,576 bytes; ask.</a:t>
            </a:r>
          </a:p>
          <a:p>
            <a:r>
              <a:t>The lock threshold is also a state change; state transition testing (last deck) models it fully.</a:t>
            </a:r>
          </a:p>
          <a:p>
            <a:r>
              <a:t>Indexes: the first item and one past the last are the classic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Worst-case is the exhaustive-testing trap again.</a:t>
            </a:r>
          </a:p>
          <a:p>
            <a:r>
              <a:t>Important combinations of rules belong to decision tables (later today), not to BVA.</a:t>
            </a:r>
          </a:p>
          <a:p>
            <a:r>
              <a:t>'Typical value' is also called the nominal value.</a:t>
            </a:r>
          </a:p>
          <a:p>
            <a:r>
              <a:t>Ask: 3 fields with normal 2-value BVA: how many tests? (About 12.)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3-value rows BVA-AGE-03 (19) and -04 (59) are in the written lesson.</a:t>
            </a:r>
          </a:p>
          <a:p>
            <a:r>
              <a:t>Test case anatomy was Tuesday's test-planning deck; this adds the 'boundary' column.</a:t>
            </a:r>
          </a:p>
          <a:p>
            <a:r>
              <a:t>Keep every other field valid so the only reason for rejection is the boundary.</a:t>
            </a:r>
          </a:p>
          <a:p>
            <a:r>
              <a:t>If the requirement is ambiguous, the row is Blocked until Rohan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middle value is assumed to behave like its neighbours; EP adds that typical test.</a:t>
            </a:r>
          </a:p>
          <a:p>
            <a:r>
              <a:t>Conditions can hide each other: an 8-character password without a digit is rejected for the wrong reason.</a:t>
            </a:r>
          </a:p>
          <a:p>
            <a:r>
              <a:t>Step size must be right: weeks instead of days misses a date edge.</a:t>
            </a:r>
          </a:p>
          <a:p>
            <a:r>
              <a:t>Ask: which limitation does the next deck, EP, address?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miscounting test strings; wrong step for decimals or dates; skipping output boundaries; ignoring implicit limits; combining all boundaries at once.</a:t>
            </a:r>
          </a:p>
          <a:p>
            <a:r>
              <a:t>Ask: which mistake explains a 'too short' test that passed for the wrong reason?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'Quantity 1 to 99, whole numbers.' 3-value BVA? (0, 1, 2, 98, 99, 100.)</a:t>
            </a:r>
          </a:p>
          <a:p>
            <a:r>
              <a:t>Bridge: next deck, Equivalence Partitioning, covers the middle and the non-numeric cases.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the registration BVA table, quantity tiers, leap-year tables, worked examples and the Python boundary demo.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10/24/2026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10/24/2026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Boundary Value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WEEK 3 · THURSDAY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Test the edges of ranges, where defects like to hide</a:t>
            </a:r>
          </a:p>
        </p:txBody>
      </p:sp>
      <p:sp>
        <p:nvSpPr>
          <p:cNvPr id="18" name="Oval 17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2648" y="3520440"/>
            <a:ext cx="1249127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Boundaries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939845" y="3630168"/>
            <a:ext cx="234211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52127" y="3520440"/>
            <a:ext cx="1698032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Why edges break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028229" y="3630168"/>
            <a:ext cx="234211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40511" y="3520440"/>
            <a:ext cx="1608251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2- and 3-value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26832" y="3630168"/>
            <a:ext cx="234211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9114" y="3520440"/>
            <a:ext cx="106956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Formulas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486750" y="3630168"/>
            <a:ext cx="234211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99031" y="3520440"/>
            <a:ext cx="196737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Finding boundaries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844477" y="3630168"/>
            <a:ext cx="234211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56758" y="3520440"/>
            <a:ext cx="1428689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Beyond forms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Explain what a boundary is and why defects cluster at the edges.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Apply 2-value and 3-value BVA to the same requirement.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Calculate boundary values for integers, decimals, lengths and dates.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Find explicit and implicit boundaries from a requirement's wording.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Apply BVA to outputs, counts and several fields, knowing its limits.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Boundary?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Where the software changes its 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3108960"/>
            <a:ext cx="10744200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429000" y="2953512"/>
            <a:ext cx="5486400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2368296" y="2212848"/>
            <a:ext cx="566928" cy="487558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270040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145536" y="2212848"/>
            <a:ext cx="566928" cy="48755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29000" y="270040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631936" y="2212848"/>
            <a:ext cx="566928" cy="48755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60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15400" y="270040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409176" y="2212848"/>
            <a:ext cx="566928" cy="487558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61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92640" y="270040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29000" y="3364991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Arial"/>
              </a:rPr>
              <a:t>accepted: 18 to 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64991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Arial"/>
              </a:rPr>
              <a:t>rejected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364991"/>
            <a:ext cx="22402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Arial"/>
              </a:rPr>
              <a:t>rejected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1600200"/>
            <a:ext cx="1463040" cy="50292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edge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063240" y="2103120"/>
            <a:ext cx="411480" cy="137160"/>
          </a:xfrm>
          <a:prstGeom prst="line">
            <a:avLst/>
          </a:prstGeom>
          <a:ln w="25400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549640" y="1600200"/>
            <a:ext cx="1463040" cy="50292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edge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81160" y="2103120"/>
            <a:ext cx="45720" cy="137160"/>
          </a:xfrm>
          <a:prstGeom prst="line">
            <a:avLst/>
          </a:prstGeom>
          <a:ln w="25400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" y="42062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The edge between two behaviours: accept on one side, reject on the other.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Where a rule changes: a minimum, maximum, threshold or cut-off.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4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A Speed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3108960"/>
            <a:ext cx="10744200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188720" y="2953512"/>
            <a:ext cx="5349240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2825495" y="2212848"/>
            <a:ext cx="566928" cy="487558"/>
          </a:xfrm>
          <a:prstGeom prst="ellipse">
            <a:avLst/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20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59" y="270040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477256" y="2212848"/>
            <a:ext cx="566928" cy="48755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49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720" y="270040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254496" y="2212848"/>
            <a:ext cx="566928" cy="48755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50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37960" y="270040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031736" y="2212848"/>
            <a:ext cx="566928" cy="487558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51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0" y="270040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88720" y="3364991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Arial"/>
              </a:rPr>
              <a:t>allowed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364991"/>
            <a:ext cx="4617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Arial"/>
              </a:rPr>
              <a:t>fined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2062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Nobody argues about 20 km/h. The interesting moments are 49, 50 and 51.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Cameras set to '&gt; 50' and '&gt;= 50' disagree only at 50.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5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Defects Cluster at the Edges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17373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Off-by-one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loop or range one unit too many or too few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17373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Operator confusion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'18 or older' coded as &gt; 18, not &gt;=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17373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Fence-post errors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1st to 30th inclusive is 30 days, not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657600"/>
            <a:ext cx="3505200" cy="1737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Ambiguous wording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'Over 18', 'up to 60', 'between 1 and 10'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657600"/>
            <a:ext cx="3505200" cy="17373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Zero vs one-based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Programs count from 0, people from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657600"/>
            <a:ext cx="3505200" cy="17373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Limit copied around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Browser, server and database each check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Defect clustering (Wednesday's principles) at its most predictable.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6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Character, One Defect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5303520" cy="685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Spec: 18 to 60 valid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45920"/>
            <a:ext cx="5303520" cy="685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Code: 18 &lt; age &lt;= 60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2606040"/>
          <a:ext cx="10972800" cy="2971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365760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Spec says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Code does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Test result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Accept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Accept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E7D32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Accept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Accept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E7D32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Reject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Reject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E7D32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Accept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Reject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E7D32"/>
                          </a:solidFill>
                          <a:latin typeface="Arial"/>
                        </a:rPr>
                        <a:t>FAIL: defect found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" y="5623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Typical values make the code look perfect; only the boundary test fails.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7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2-Value and 3-Value BVA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flavours, both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8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Boundary Value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Design tests from the values at the edges of ranges and the values right next to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880360"/>
            <a:ext cx="3505200" cy="15544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Boundary values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minimum and maximum of a range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6448" y="2880360"/>
            <a:ext cx="3505200" cy="15544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Neighbours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closest values on the other side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0248" y="2880360"/>
            <a:ext cx="3505200" cy="15544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Inputs or outputs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Any ordered range: numbers, lengths, dates, 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7548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black-box technique for ordered data.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Equivalence partitioning (next deck) names the groups; BVA tests where they meet.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9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2-Value BVA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2743200"/>
            <a:ext cx="10744200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429000" y="2587752"/>
            <a:ext cx="5486400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2368296" y="1847088"/>
            <a:ext cx="566928" cy="487558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233464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145536" y="1847088"/>
            <a:ext cx="566928" cy="48755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29000" y="233464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631936" y="1847088"/>
            <a:ext cx="566928" cy="48755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60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15400" y="233464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409176" y="1847088"/>
            <a:ext cx="566928" cy="487558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61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92640" y="233464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29000" y="299923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Arial"/>
              </a:rPr>
              <a:t>valid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8404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Each boundary gives two values: the boundary and its closest neighbour outside.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18 to 60 gives four tests: 17, 18, 60, 61.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5349240"/>
            <a:ext cx="10972800" cy="5943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ISTQB convention: the minimum set that still catches the classic off-by-one.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10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3-Value BVA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2743200"/>
            <a:ext cx="10744200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429000" y="2587752"/>
            <a:ext cx="5486400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2368296" y="1847088"/>
            <a:ext cx="566928" cy="487558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233464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145536" y="1847088"/>
            <a:ext cx="566928" cy="48755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29000" y="233464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922776" y="1847088"/>
            <a:ext cx="566928" cy="48755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6240" y="233464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854696" y="1847088"/>
            <a:ext cx="566928" cy="48755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59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38160" y="233464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631936" y="1847088"/>
            <a:ext cx="566928" cy="48755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60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15400" y="233464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409176" y="1847088"/>
            <a:ext cx="566928" cy="487558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61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92640" y="233464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429000" y="299923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Arial"/>
              </a:rPr>
              <a:t>valid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8404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Each boundary gives three values: just below, on, just above.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18 to 60 gives six tests: 17, 18, 19, 59, 60, 61.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349240"/>
            <a:ext cx="10972800" cy="5943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19 and 59 catch rarer slips, such as a boundary coded as '== 18' or shifted by 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11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Variant?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3840480"/>
                <a:gridCol w="438912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2-value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3-value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Values per boundary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2: on, and outside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3: below, on, above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For 18 to 60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17, 18, 60, 61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17, 18, 19, 59, 60, 61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Catches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Classic off-by-one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Also shifted or special-cased edges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Use when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Time is tight; low risk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Default on real projects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440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Both are correct; say which one you used.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12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Calculating Boundaries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Formulas, not guesses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13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Find the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13716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Whole numbers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step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13716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Money, two decimals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step 0.01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13716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One decimal place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step 0.1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291840"/>
            <a:ext cx="3505200" cy="13716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Text length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step 1 character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291840"/>
            <a:ext cx="3505200" cy="13716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Dates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step 1 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291840"/>
            <a:ext cx="3505200" cy="13716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Times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step 1 second (or minute)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48006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The step is the smallest difference between two valid values.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 wrong step gives wrong neighbours: 101 is not next to 100.00.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14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Six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661160" cy="9144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min - step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19528" y="2286000"/>
            <a:ext cx="109728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2834640"/>
            <a:ext cx="1661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invalid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74976" y="1828800"/>
            <a:ext cx="166116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min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81856" y="2286000"/>
            <a:ext cx="109728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74976" y="2834640"/>
            <a:ext cx="1661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valid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7304" y="1828800"/>
            <a:ext cx="166116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min + step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44183" y="2286000"/>
            <a:ext cx="10972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37304" y="2834640"/>
            <a:ext cx="1661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valid (3-value)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1" y="1828800"/>
            <a:ext cx="166116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max - step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06512" y="2286000"/>
            <a:ext cx="109727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99631" y="2834640"/>
            <a:ext cx="1661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valid (3-value)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960" y="1828800"/>
            <a:ext cx="166116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max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68840" y="2286000"/>
            <a:ext cx="109728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61960" y="2834640"/>
            <a:ext cx="1661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valid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4288" y="1828800"/>
            <a:ext cx="1661160" cy="9144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max +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4288" y="2834640"/>
            <a:ext cx="1661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invalid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402336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13308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Password length 8 to 16, step 1:  7, 8, 9, 15, 16, 17  (plus the empty password, length 0).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257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Build each test string to exactly that length, and keep every other rule satisfied.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15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Decimals, Lengths and 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2743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Decimal: discount 0.00 to 100.00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Step 0.01: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-0.01, 0.00, 0.01,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99.99, 100.00, 100.01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2743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Length: username 3 to 20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Step 1 character: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2, 3, 4, 19, 20, 21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plus empty (0)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2743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Date: book up to 30 days ahead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Step 1 day (today = D):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D - 1, D, D + 1,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D + 29, D + 30, D + 31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7548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Money and percentages: floating-point maths can turn 0.1 + 0.2 into 0.30000000000000004.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Boundary tests on prices expose it; developers should use exact decimal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16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Dates Hide Extra Edges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72100" cy="1737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Leap years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29 Feb 2024 valid; 29 Feb 2025 invalid; 2100 not a leap year; 2000 was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3348" y="1691640"/>
            <a:ext cx="5372100" cy="1737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Month ends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30 Apr, 31 Apr; 31 Dec to 1 Jan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657600"/>
            <a:ext cx="5372100" cy="1737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Midnight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23:59:59, 00:00:00, 00:00:01 for 'before midnight'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348" y="3657600"/>
            <a:ext cx="5372100" cy="1737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Time zones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Whose midnight: the user's, or the server's?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Test the same date rule in a leap and a non-leap year.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17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Boundaries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words, then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18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Keywords in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3474720"/>
                <a:gridCol w="329184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Words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Usually means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Boundary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at least, minimum, from X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value &gt;= X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X included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at most, maximum, up to X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value &lt;= X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X included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under, less than, below X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value &lt; X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X excluded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over, more than, above X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value &gt; X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X excluded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between X and 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Unclear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Ask: inclusive?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One word changes the side: 'over 50.00' excludes 50.00; '50.00 or more' includes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19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Ambiguous?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657600" cy="10058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'Choose between 1 and 10'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463040"/>
            <a:ext cx="6464808" cy="685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Reading A: 1 to 10 inclusive (1 and 10 valid)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286000"/>
            <a:ext cx="6464808" cy="685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Reading B: 2 to 9 (strictly between)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4270248" y="1801368"/>
            <a:ext cx="804672" cy="301752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70248" y="2286000"/>
            <a:ext cx="804672" cy="338328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2648" y="3429000"/>
            <a:ext cx="2503170" cy="8229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Log the question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61537" y="3840480"/>
            <a:ext cx="228601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35858" y="3429000"/>
            <a:ext cx="2503170" cy="82296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Rohan (PO) decides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4747" y="3840480"/>
            <a:ext cx="22860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59068" y="3429000"/>
            <a:ext cx="2503170" cy="822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Update the requirement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07958" y="3840480"/>
            <a:ext cx="22859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82278" y="3429000"/>
            <a:ext cx="2503170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Write the expected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7548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An ambiguous boundary is already a defect, in the requirement.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Until it is answered, mark the test 'Blocked pending clarification'.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20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Explicit and Implicit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40233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5623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Explicit: written in the spec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423160"/>
            <a:ext cx="4846320" cy="3154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'Age 18 to 60'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'Password 8 to 16 characters'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'Up to 5 photos'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'Free shipping over 50.00'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691640"/>
            <a:ext cx="5303520" cy="4023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185623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55A11"/>
                </a:solidFill>
                <a:latin typeface="Arial"/>
              </a:rPr>
              <a:t>Implicit: built into the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423160"/>
            <a:ext cx="4846320" cy="3154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Number type limits, such as 2,147,483,647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Database column of 50 characters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Upload size, timeouts, page sizes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Calendar: month ends, leap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21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Spot the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22860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A: 'Up to 5 photos'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0 (none), 1, 4, 5, 6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6 must be refused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22860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B: 'Under 12 travels at child fare'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10, 11, 12 (or 11, 12, 13)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'Under' excludes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22860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C: 'Free shipping over 50.00'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49.99, 50.00, 50.01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50.00 is not 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3434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Cover the answers, ask the class, then reveal.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Each answer depends on one word: up to, under, over.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22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Beyond a Single Field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Outputs, counts, several fields,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23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Boundaries in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2743200"/>
            <a:ext cx="10744200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0" y="2587752"/>
            <a:ext cx="4571999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2674619" y="1847088"/>
            <a:ext cx="868680" cy="747064"/>
          </a:xfrm>
          <a:prstGeom prst="ellipse">
            <a:avLst/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45.00</a:t>
            </a:r>
          </a:p>
        </p:txBody>
      </p:sp>
      <p:sp>
        <p:nvSpPr>
          <p:cNvPr id="7" name="Oval 6"/>
          <p:cNvSpPr/>
          <p:nvPr/>
        </p:nvSpPr>
        <p:spPr>
          <a:xfrm>
            <a:off x="5052060" y="1847088"/>
            <a:ext cx="868680" cy="747064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49.99</a:t>
            </a:r>
          </a:p>
        </p:txBody>
      </p:sp>
      <p:sp>
        <p:nvSpPr>
          <p:cNvPr id="8" name="Oval 7"/>
          <p:cNvSpPr/>
          <p:nvPr/>
        </p:nvSpPr>
        <p:spPr>
          <a:xfrm>
            <a:off x="6149340" y="1847088"/>
            <a:ext cx="868680" cy="747064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50.00</a:t>
            </a:r>
          </a:p>
        </p:txBody>
      </p:sp>
      <p:sp>
        <p:nvSpPr>
          <p:cNvPr id="9" name="Oval 8"/>
          <p:cNvSpPr/>
          <p:nvPr/>
        </p:nvSpPr>
        <p:spPr>
          <a:xfrm>
            <a:off x="7246620" y="1847088"/>
            <a:ext cx="868680" cy="747064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50.01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999232"/>
            <a:ext cx="45719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Arial"/>
              </a:rPr>
              <a:t>free shipping (50.00 or more)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99232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Arial"/>
              </a:rPr>
              <a:t>shipping charged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8862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boundary is on a computed result: the basket total.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Choose items so the total lands below, on and above it.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Grades too: scores 59 and 60, 69 and 70 are output edges.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24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Counts, Sizes and Attempts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72100" cy="16916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List sizes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Cart of max 20 items: 0, 1, 19, 20,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3348" y="1691640"/>
            <a:ext cx="5372100" cy="16916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Pagination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10 per page: 9, 10, 11 results; and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611880"/>
            <a:ext cx="5372100" cy="16916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File size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Limit 5 MB: just under, exactly, just over; and 0 bytes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348" y="3611880"/>
            <a:ext cx="5372100" cy="16916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Login attempts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Lock on the 3rd failure: 2, 3, 4 attempts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Anything you can count has edges: empty, one, maximum, maximum + 1.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25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Several Fields: One Boundary at a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2377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Normal BVA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Vary one field's boundaries.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Keep every other field at a typical value.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About 4 tests per field (2-value).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91640"/>
            <a:ext cx="5303520" cy="23774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C00000"/>
                </a:solidFill>
                <a:latin typeface="Arial"/>
              </a:rPr>
              <a:t>Worst-case BVA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Combine boundaries of all fields.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5 values per field: 5 to the power of n.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Only for a few high-risk fields.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4343400"/>
            <a:ext cx="2084832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2 fields: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4343400"/>
            <a:ext cx="2084832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3 fields: 125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56632" y="4343400"/>
            <a:ext cx="2084832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4 fields: 625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8624" y="4343400"/>
            <a:ext cx="2084832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6 fields: 15,625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0616" y="4343400"/>
            <a:ext cx="2084832" cy="566928"/>
          </a:xfrm>
          <a:prstGeom prst="roundRect">
            <a:avLst>
              <a:gd name="adj" fmla="val 50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10 fields: 9,765,625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5212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One unusual input per test means a failure points to one field.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26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Boundary Test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566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1188720"/>
                <a:gridCol w="2743200"/>
                <a:gridCol w="521208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TC ID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Boundary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Expected result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BVA-AGE-01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Just below minimum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Rejected: 'Age must be between 18 and 60'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BVA-AGE-02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Minimum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Accepted; form continues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BVA-AGE-05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Maximum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Accepted; form continues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BVA-AGE-06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Just above maximum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Rejected: same message; nothing saved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4892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Write the exact message, and what must not happen.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Name the boundary in each row so reviewers can check completeness.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27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Ordered ranges only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Not for countries, payment types or checkboxes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Ignores combinations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'Under 21 and ordering alcohol' needs a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Needs a correct spec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If the spec says 18 but meant 21, BVA tests the wrong edge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Middle assumed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Add one typical value from 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Hidden boundaries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Type sizes, byte limits, rounding, timeouts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03320"/>
            <a:ext cx="3505200" cy="1783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UI is not the server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maxlength in the browser; test the API too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577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BVA is rarely used alone: EP, decision tables and states fill the gaps.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28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85216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Testing only the middle of a range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Always test both edges and their neighbours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Testing only the valid side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Include min - step and max + step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Guessing 'between' or 'up to'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Ask, and record the answer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Breaking another rule in the same test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Keep every other rule satisfied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Trusting the screen's limit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Test the server rule too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29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Defects cluster at edges: off-by-one, wrong operator, fence-post, ambiguity.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2-value: 17, 18, 60, 61. 3-value adds 19 and 59.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Formulas: min - step, min, min + step, max - step, max, max + step.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Read the keywords; ask when wording is ambiguous; look for implicit limits.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Boundaries are everywhere: lengths, dates, counts, files, outputs.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One boundary per test, other rules satisfied, exact expected results.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30 / 31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CTFL syllabus and glossary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https://www.istqb.org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Guru99: Equivalence Partitioning and BVA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https://www.guru99.com/equivalence-partitioning-boundary-value-analysis.html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Ministry of Testing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https://www.ministryoftesting.com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31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8176</Words>
  <Application>Microsoft Office PowerPoint</Application>
  <PresentationFormat>Widescreen</PresentationFormat>
  <Paragraphs>1177</Paragraphs>
  <Slides>94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98" baseType="lpstr">
      <vt:lpstr>Arial</vt:lpstr>
      <vt:lpstr>Courier New</vt:lpstr>
      <vt:lpstr>Wingdings</vt:lpstr>
      <vt:lpstr>Learners Point</vt:lpstr>
      <vt:lpstr>Boundary Value Analysis</vt:lpstr>
      <vt:lpstr>Learning Objectives (1 of 2)</vt:lpstr>
      <vt:lpstr>Learning Objectives (2 of 2)</vt:lpstr>
      <vt:lpstr>What Is a Boundary?</vt:lpstr>
      <vt:lpstr>A Boundary Defined</vt:lpstr>
      <vt:lpstr>Everyday Boundaries</vt:lpstr>
      <vt:lpstr>Why Defects Cluster</vt:lpstr>
      <vt:lpstr>Defect Clustering at the Edges</vt:lpstr>
      <vt:lpstr>Reasons 1 to 3</vt:lpstr>
      <vt:lpstr>Reasons 4 to 6</vt:lpstr>
      <vt:lpstr>The Definition</vt:lpstr>
      <vt:lpstr>Boundary Value Analysis</vt:lpstr>
      <vt:lpstr>The Number Line: Age 18 to 60</vt:lpstr>
      <vt:lpstr>Two Boundaries, Four Natural Values</vt:lpstr>
      <vt:lpstr>2-Value and 3-Value BVA</vt:lpstr>
      <vt:lpstr>2-Value BVA (ISTQB Convention)</vt:lpstr>
      <vt:lpstr>3-Value BVA (Industry Practice)</vt:lpstr>
      <vt:lpstr>Side by Side</vt:lpstr>
      <vt:lpstr>Which to Use?</vt:lpstr>
      <vt:lpstr>Calculating Boundaries</vt:lpstr>
      <vt:lpstr>The Step</vt:lpstr>
      <vt:lpstr>Boundary Formulas</vt:lpstr>
      <vt:lpstr>Integers, Decimals, Lengths, Dates</vt:lpstr>
      <vt:lpstr>Finding Boundaries</vt:lpstr>
      <vt:lpstr>Keywords in Requirements (1 of 2)</vt:lpstr>
      <vt:lpstr>Keywords in Requirements (2 of 2)</vt:lpstr>
      <vt:lpstr>The Golden Rule</vt:lpstr>
      <vt:lpstr>Explicit and Implicit Boundaries</vt:lpstr>
      <vt:lpstr>Implicit Boundary Examples</vt:lpstr>
      <vt:lpstr>Worked Examples</vt:lpstr>
      <vt:lpstr>Example 1: Age 18 to 60</vt:lpstr>
      <vt:lpstr>Age: Boundary Test Cases</vt:lpstr>
      <vt:lpstr>What Each Age Test Catches</vt:lpstr>
      <vt:lpstr>Example 2: Password Length 8 to 16</vt:lpstr>
      <vt:lpstr>Password: Boundary Tests (1 of 2)</vt:lpstr>
      <vt:lpstr>Password: Boundary Tests (2 of 2)</vt:lpstr>
      <vt:lpstr>Practical Notes</vt:lpstr>
      <vt:lpstr>Example 3: Quantity with Price Tiers</vt:lpstr>
      <vt:lpstr>Quantity: Boundary Tests (1 of 2)</vt:lpstr>
      <vt:lpstr>Quantity: Boundary Tests (2 of 2)</vt:lpstr>
      <vt:lpstr>Quantity: Totals and Discovery</vt:lpstr>
      <vt:lpstr>Example 4: A Decimal Field</vt:lpstr>
      <vt:lpstr>Decimal: Boundary Tests</vt:lpstr>
      <vt:lpstr>Three Things About Decimals</vt:lpstr>
      <vt:lpstr>Dates, Times, One-Sided</vt:lpstr>
      <vt:lpstr>Example 5: Dates and Times</vt:lpstr>
      <vt:lpstr>Booking Window: Tests</vt:lpstr>
      <vt:lpstr>5b: Midnight</vt:lpstr>
      <vt:lpstr>5c: Leap Years</vt:lpstr>
      <vt:lpstr>Leap-Year Boundary Tests (1 of 2)</vt:lpstr>
      <vt:lpstr>Leap-Year Boundary Tests (2 of 2)</vt:lpstr>
      <vt:lpstr>Leap Years and Age from Birth Date</vt:lpstr>
      <vt:lpstr>Example 6: One-Sided Ranges</vt:lpstr>
      <vt:lpstr>Non-Number Boundaries</vt:lpstr>
      <vt:lpstr>Example 7: Non-Form Boundaries</vt:lpstr>
      <vt:lpstr>Login Attempts and Timeouts</vt:lpstr>
      <vt:lpstr>Lock Threshold: Tests</vt:lpstr>
      <vt:lpstr>Boundaries in Outputs</vt:lpstr>
      <vt:lpstr>Grade Cut-offs as Output Edges</vt:lpstr>
      <vt:lpstr>Inputs for the Grade Edges</vt:lpstr>
      <vt:lpstr>Several Fields</vt:lpstr>
      <vt:lpstr>Single Field Versus Several</vt:lpstr>
      <vt:lpstr>Worst-Case Combos (5 Values per Field)</vt:lpstr>
      <vt:lpstr>Test Case Table Format</vt:lpstr>
      <vt:lpstr>Tips for Good Expected Results</vt:lpstr>
      <vt:lpstr>Python Demo</vt:lpstr>
      <vt:lpstr>What the Demo Contains</vt:lpstr>
      <vt:lpstr>The Buggy Age Function and the Fix</vt:lpstr>
      <vt:lpstr>The Buggy Grade Function</vt:lpstr>
      <vt:lpstr>Generating Boundary Values</vt:lpstr>
      <vt:lpstr>The Test Runner</vt:lpstr>
      <vt:lpstr>Output: The Buggy Age Function</vt:lpstr>
      <vt:lpstr>Output: The Buggy Grade Function</vt:lpstr>
      <vt:lpstr>What the Output Teaches</vt:lpstr>
      <vt:lpstr>Decimals: Use Decimal</vt:lpstr>
      <vt:lpstr>Project 1 Registration</vt:lpstr>
      <vt:lpstr>Registration Rules (Assumed)</vt:lpstr>
      <vt:lpstr>Preparation Tips</vt:lpstr>
      <vt:lpstr>Registration BVA Tests (1 of 4)</vt:lpstr>
      <vt:lpstr>Registration BVA Tests (2 of 4)</vt:lpstr>
      <vt:lpstr>Registration BVA Tests (3 of 4)</vt:lpstr>
      <vt:lpstr>Registration BVA Tests (4 of 4)</vt:lpstr>
      <vt:lpstr>Notes on the Table</vt:lpstr>
      <vt:lpstr>BVA with Other Techniques</vt:lpstr>
      <vt:lpstr>BVA Is Rarely Used Alone</vt:lpstr>
      <vt:lpstr>Limitations (1 of 2)</vt:lpstr>
      <vt:lpstr>Limitations (2 of 2)</vt:lpstr>
      <vt:lpstr>Common Mistakes (1 of 4)</vt:lpstr>
      <vt:lpstr>Common Mistakes (2 of 4)</vt:lpstr>
      <vt:lpstr>Common Mistakes (3 of 4)</vt:lpstr>
      <vt:lpstr>Common Mistakes (4 of 4)</vt:lpstr>
      <vt:lpstr>Spot the Boundaries</vt:lpstr>
      <vt:lpstr>Key Takeaways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4</cp:revision>
  <dcterms:modified xsi:type="dcterms:W3CDTF">2026-10-24T17:45:34Z</dcterms:modified>
</cp:coreProperties>
</file>