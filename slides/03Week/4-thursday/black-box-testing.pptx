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39" r:id="rId8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3" Type="http://schemas.openxmlformats.org/officeDocument/2006/relationships/slide" Target="slides/slide82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deck of the day: the map for the six technique decks that follow.</a:t>
            </a:r>
          </a:p>
          <a:p>
            <a:r>
              <a:t>Teaching order today: black-box, use-case, BVA, EP, error guessing, decision tables, state transition; then the demo and pair exercise.</a:t>
            </a:r>
          </a:p>
          <a:p>
            <a:r>
              <a:t>One analogy runs through this deck: a vending machine.</a:t>
            </a:r>
          </a:p>
          <a:p>
            <a:r>
              <a:t>The written lesson keeps the Python black-box demo (pytest is Week 4), the Agile and AI sections and the full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'You have a login page and no code. How do you decide what to test?' Collect answers on the board.</a:t>
            </a:r>
          </a:p>
          <a:p>
            <a:r>
              <a:t>By the end of the day every answer should have a technique name next to it.</a:t>
            </a:r>
          </a:p>
          <a:p>
            <a:r>
              <a:t>Objective 4 is the map; the next six decks each teach one technique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sets up the model every technique today relies on.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Black-box testing examines behaviour from the outside, using only inputs and outputs.</a:t>
            </a:r>
          </a:p>
          <a:p>
            <a:r>
              <a:t>Also called specification-based or behavioural testing.</a:t>
            </a:r>
          </a:p>
          <a:p>
            <a:r>
              <a:t>'Black' because the box is opaque; white-box (glass-box) testing looks at the code and is Friday's topic.</a:t>
            </a:r>
          </a:p>
          <a:p>
            <a:r>
              <a:t>Ask: name one input and one output of a shopping cart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Inputs include anything the system receives: typed text, a click, a file, an API request, even a timer expiring.</a:t>
            </a:r>
          </a:p>
          <a:p>
            <a:r>
              <a:t>Outputs include anything it produces: a message, a stored record, an email, a returned value.</a:t>
            </a:r>
          </a:p>
          <a:p>
            <a:r>
              <a:t>The specification is the test oracle (Tuesday's requirements deck): it decides what 'correct' means.</a:t>
            </a:r>
          </a:p>
          <a:p>
            <a:r>
              <a:t>When the spec is silent, ask Farhan (BA) or Rohan (PO); do not take the expected result from what the software happens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You compare what you did (inputs) and what happened (outputs) with what the sign promised (spec).</a:t>
            </a:r>
          </a:p>
          <a:p>
            <a:r>
              <a:t>Notice the tries: a valid case, invalid amounts, an impossible button, an unexpected coin. Today's techniques make those choices systematic.</a:t>
            </a:r>
          </a:p>
          <a:p>
            <a:r>
              <a:t>Ask: which try is a boundary? Which is error guessing? (Too little money; the foreign coin.)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basis and test oracle were defined in Tuesday's requirements deck; this is a recap.</a:t>
            </a:r>
          </a:p>
          <a:p>
            <a:r>
              <a:t>An oracle can also be an existing system, a domain expert, or a calculation checked by hand.</a:t>
            </a:r>
          </a:p>
          <a:p>
            <a:r>
              <a:t>Without an oracle you cannot decide pass or fail.</a:t>
            </a:r>
          </a:p>
          <a:p>
            <a:r>
              <a:t>Ask: what is the oracle when the requirement says nothing about an empty email?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an honest view, so learners know why the other technique families exist.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early links to shift-left (Monday's SDLC deck): test design happens during refinement.</a:t>
            </a:r>
          </a:p>
          <a:p>
            <a:r>
              <a:t>Independence was Wednesday's testing-mindset deck; one line here.</a:t>
            </a:r>
          </a:p>
          <a:p>
            <a:r>
              <a:t>Tracing to requirements supports validation: are we building the right product?</a:t>
            </a:r>
          </a:p>
          <a:p>
            <a:r>
              <a:t>Ask: which benefit matters most when Karan rewrites the login module next sprint?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of unspecified code: a developer adds a special rule for one value; only a test for that value reveals it.</a:t>
            </a:r>
          </a:p>
          <a:p>
            <a:r>
              <a:t>'When have we tested enough?' is hard from the outside, so we use specification-based coverage (Part 5).</a:t>
            </a:r>
          </a:p>
          <a:p>
            <a:r>
              <a:t>Finding the cause after a failure is debugging, usually Karan's or Neha's work, helped by a good defect report.</a:t>
            </a:r>
          </a:p>
          <a:p>
            <a:r>
              <a:t>Ask: which limitation do today's techniques address directly? (Redundancy.)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level: you can test a function from its specification alone; developers often combine this with white-box tests.</a:t>
            </a:r>
          </a:p>
          <a:p>
            <a:r>
              <a:t>Integration: check that components exchange the right data, judged by outputs.</a:t>
            </a:r>
          </a:p>
          <a:p>
            <a:r>
              <a:t>System and acceptance: black-box dominates; users and Sunita (business owner) judge behaviour, not code.</a:t>
            </a:r>
          </a:p>
          <a:p>
            <a:r>
              <a:t>Keep this to a recap; levels and types were Monday and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the path every technique follows, shown on one age field.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'Exhaustive testing is impossible' is Wednesday's principle 2; this is where it becomes practical.</a:t>
            </a:r>
          </a:p>
          <a:p>
            <a:r>
              <a:t>A test design technique is a procedure for deriving test conditions, cases and data.</a:t>
            </a:r>
          </a:p>
          <a:p>
            <a:r>
              <a:t>Repeatable: two testers using the same technique on the same spec produce similar tests.</a:t>
            </a:r>
          </a:p>
          <a:p>
            <a:r>
              <a:t>Justifiable: you can explain to Rohan why each test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basis: requirements, user stories, acceptance criteria, design documents.</a:t>
            </a:r>
          </a:p>
          <a:p>
            <a:r>
              <a:t>Test condition: an item or event that could be verified by one or more test cases.</a:t>
            </a:r>
          </a:p>
          <a:p>
            <a:r>
              <a:t>Expected results come from the oracle (the spec), never from what the software happens to do.</a:t>
            </a:r>
          </a:p>
          <a:p>
            <a:r>
              <a:t>Good habit: add a 'technique' column so reviewers can judge the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read: whole numbers, 18 to 60, inclusive, a specific message.</a:t>
            </a:r>
          </a:p>
          <a:p>
            <a:r>
              <a:t>Values: 35 typical; 18 and 60 the inclusive edges; 17 and 61 the nearest invalid; abc, 25.5 and empty the other kinds of wrong.</a:t>
            </a:r>
          </a:p>
          <a:p>
            <a:r>
              <a:t>Step 6 review: is every sentence of the spec covered? any duplicates? questions logged?</a:t>
            </a:r>
          </a:p>
          <a:p>
            <a:r>
              <a:t>The written lesson runs these eight tests against a small Python function; one changed '&lt;=' is caught by the 18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 review and the question log were Tuesday's requirements deck; this is the same habit applied to test design.</a:t>
            </a:r>
          </a:p>
          <a:p>
            <a:r>
              <a:t>Do not guess: a guessed expected result can turn a defect into 'expected behaviour'.</a:t>
            </a:r>
          </a:p>
          <a:p>
            <a:r>
              <a:t>Record assumptions in the test case if an answer is pending; mark the test Blocked until clarified.</a:t>
            </a:r>
          </a:p>
          <a:p>
            <a:r>
              <a:t>Ask the class for one more silent case for a shopping cart quantity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 is the map of the day; each technique gets its own deck later.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Black-box today: use-case, BVA, EP, decision tables, state transition.</a:t>
            </a:r>
          </a:p>
          <a:p>
            <a:r>
              <a:t>White-box is Friday's deck; today it is a pointer only.</a:t>
            </a:r>
          </a:p>
          <a:p>
            <a:r>
              <a:t>Experience-based: error guessing today; exploratory testing on Friday.</a:t>
            </a:r>
          </a:p>
          <a:p>
            <a:r>
              <a:t>Each family finds defects the others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day's roadmap; the demo and the pair exercise follow the last deck.</a:t>
            </a:r>
          </a:p>
          <a:p>
            <a:r>
              <a:t>Use-case comes first because it gives the skeleton; the value techniques add the detail.</a:t>
            </a:r>
          </a:p>
          <a:p>
            <a:r>
              <a:t>Error guessing is the experience-based one (orange card).</a:t>
            </a:r>
          </a:p>
          <a:p>
            <a:r>
              <a:t>Ask: which technique would you reach for first on a password field? (BVA and EP.)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Drawn from demos/4-thursday/diagrams/technique-chooser.mermaid; the demo board uses the same picture.</a:t>
            </a:r>
          </a:p>
          <a:p>
            <a:r>
              <a:t>One requirement can match several branches: a password rule is a range (length) and categories (character classes).</a:t>
            </a:r>
          </a:p>
          <a:p>
            <a:r>
              <a:t>If in doubt, start with EP and BVA: they are the most broadly useful.</a:t>
            </a:r>
          </a:p>
          <a:p>
            <a:r>
              <a:t>Risk decides how many techniques a feature deserves (risk-based testing was Tuesday).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features are rarely simple, so testers layer techniques.</a:t>
            </a:r>
          </a:p>
          <a:p>
            <a:r>
              <a:t>Each layer finds a different kind of defect: missing flows, wrong rules, off-by-one values, typical slips.</a:t>
            </a:r>
          </a:p>
          <a:p>
            <a:r>
              <a:t>The demo this afternoon applies all layers to one login feature.</a:t>
            </a:r>
          </a:p>
          <a:p>
            <a:r>
              <a:t>Ask: which layer would catch 'Back after logout shows the dashboard'? (Error guessing; also state.)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well-chosen tests from five techniques touch every requirement; ten random tests would not.</a:t>
            </a:r>
          </a:p>
          <a:p>
            <a:r>
              <a:t>Example probes: double-click Register, trailing space in the email, Back after logout.</a:t>
            </a:r>
          </a:p>
          <a:p>
            <a:r>
              <a:t>The written lesson lists the ten combined tests with expected results.</a:t>
            </a:r>
          </a:p>
          <a:p>
            <a:r>
              <a:t>Ask: which requirement needs two techniques,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measuring black-box coverage, and where white-box and grey-box fit.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traceability matrix (RTM) was Tuesday's requirements deck; here it measures black-box coverage.</a:t>
            </a:r>
          </a:p>
          <a:p>
            <a:r>
              <a:t>Empty row: a requirement with no test. Empty column: a test linked to nothing; unnecessary, or an undocumented requirement.</a:t>
            </a:r>
          </a:p>
          <a:p>
            <a:r>
              <a:t>Impact analysis: when REG-03 changes, the matrix shows which tests to update.</a:t>
            </a:r>
          </a:p>
          <a:p>
            <a:r>
              <a:t>Add a test for LOG-03 and coverage becomes 6 / 6 =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technique deck today shows its own coverage formula.</a:t>
            </a:r>
          </a:p>
          <a:p>
            <a:r>
              <a:t>Order of the chips follows the day: use-case, BVA, EP, decision tables, state transition.</a:t>
            </a:r>
          </a:p>
          <a:p>
            <a:r>
              <a:t>Error guessing has no coverage measure; that is one of its weaknesses (error guessing deck).</a:t>
            </a:r>
          </a:p>
          <a:p>
            <a:r>
              <a:t>Ask: why is 'all partitions covered' still not proof that there are no defects?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Black-box asks: did we build the right thing? White-box asks: did we exercise everything we built?</a:t>
            </a:r>
          </a:p>
          <a:p>
            <a:r>
              <a:t>Grey-box designs tests from outside but uses partial knowledge such as the database structure or API design.</a:t>
            </a:r>
          </a:p>
          <a:p>
            <a:r>
              <a:t>Common in web and API testing: register through the screen, then check the stored record with SQL (Week 2).</a:t>
            </a:r>
          </a:p>
          <a:p>
            <a:r>
              <a:t>White-box is taught on Friday; today it is a comparison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no traceability (cannot show what was verified); vague expected results ('works fine').</a:t>
            </a:r>
          </a:p>
          <a:p>
            <a:r>
              <a:t>Ask: which mistake turns a defect into 'expected behaviour'? (The first one.)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'Max 5 photos per post' - which technique first? (BVA: 4, 5, 6, plus 0.)</a:t>
            </a:r>
          </a:p>
          <a:p>
            <a:r>
              <a:t>Bridge: next deck, use-case testing, the skeleton of the test suite.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Python black-box demo, the Agile and AI sections, the full ten-test worked example and the test case structure.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Black-Box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Testing what the software does, not how it is built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726281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Black-box model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18298" y="3630168"/>
            <a:ext cx="238107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35775" y="3520440"/>
            <a:ext cx="209137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Benefits and limits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06524" y="3630168"/>
            <a:ext cx="238107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24001" y="3520440"/>
            <a:ext cx="1452457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Spec to test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55828" y="3630168"/>
            <a:ext cx="238107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73305" y="3520440"/>
            <a:ext cx="154373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Technique map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96406" y="3630168"/>
            <a:ext cx="238107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13884" y="3520440"/>
            <a:ext cx="108735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Choosing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180612" y="3630168"/>
            <a:ext cx="238107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98089" y="3520440"/>
            <a:ext cx="108735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THURSDAY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black-box testing with the input, system, output model.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Describe its benefits, its limits and where it applies.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Trace the path from test basis to expected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Name the technique families and the six techniques taught today.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Choose and combine techniques, and measure requirements coverage.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from the Outside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Behaviour, not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Black-Box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Inputs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78308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System under 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28600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783080"/>
            <a:ext cx="3383279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46120"/>
            <a:ext cx="3505200" cy="1600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Specification-based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Tests come from requirements, stories and acceptance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6448" y="3246120"/>
            <a:ext cx="350520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Behavioural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Checks what a user can observe the system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0248" y="3246120"/>
            <a:ext cx="350520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Code not needed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tester never opens the box or relies on its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1663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The tester's question: given this input, does the output match the specification?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Black-Box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01752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Inputs (you control)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Typed text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click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file or request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Time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691640"/>
            <a:ext cx="3291840" cy="237744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System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contents hidden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3608" y="1691640"/>
            <a:ext cx="329184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Outputs (you observe)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message or page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changed record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 email sent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returned value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2880360"/>
            <a:ext cx="45720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2880360"/>
            <a:ext cx="731521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" y="4434840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Specification: what should happen</a:t>
            </a:r>
          </a:p>
        </p:txBody>
      </p:sp>
      <p:sp>
        <p:nvSpPr>
          <p:cNvPr id="10" name="Diamond 9"/>
          <p:cNvSpPr/>
          <p:nvPr/>
        </p:nvSpPr>
        <p:spPr>
          <a:xfrm>
            <a:off x="5852160" y="4297680"/>
            <a:ext cx="2377440" cy="10972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Match?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4251960"/>
            <a:ext cx="2990088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Yes: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4892040"/>
            <a:ext cx="2990088" cy="5486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No: failure, report 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50408" y="4846320"/>
            <a:ext cx="30175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040880" y="4069080"/>
            <a:ext cx="2898648" cy="246888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229600" y="4526280"/>
            <a:ext cx="365760" cy="1828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4983480"/>
            <a:ext cx="365760" cy="1828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A Vending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474720" cy="40233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The sign on the front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"Insert the right amount,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press B3,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receive a snack."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This is the specification.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91640"/>
            <a:ext cx="3566160" cy="4023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What you try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Exact amount + B3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Too little money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Too much money (change?)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button that does not exist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foreign coin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02168" y="1691640"/>
            <a:ext cx="3383280" cy="4023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What you never do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Open the machine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Read its software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Count its gears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Inputs and outputs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0599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206240"/>
                <a:gridCol w="457200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Login page example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Anything given to the system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Email, password, a click on Log 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Anything the system produces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Dashboard, error message, a session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Specification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Written description of required behaviour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'Locks after 3 failed attempts'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Behaviour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What the system visibly does in response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Shows 'Account locked'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 oracle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Trusted source of the expected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The requirement, or Farhan (BA)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use it, and where it falls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User perspective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Users care whether it works, not how the code looks.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No coding needed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Analysts and domain experts can design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Survives rewrites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Internals change, behaviour stays: the tests still apply.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931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Starts early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Tests can be designed as soon as requirements exist.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931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Independent view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Not biased by knowing how the code was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931920"/>
            <a:ext cx="3505200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Traces to requirements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Each test links to something that was promised.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Unspecified code is untested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hidden branch the spec never mentions may never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69164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Redundancy without technique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Ten tests may hit the same behaviour and miss others.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70332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Only as good as the spec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Vague or wrong requirements give vague or wrong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70332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Cause is not shown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failure says something is wrong, not where in the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577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Techniques fix the redundancy; white-box (Friday) and experience fill the gaps.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Black-Box Testing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Acceptance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182880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3767328" y="182880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4334256" y="182880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4901183" y="182880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892807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Mainly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606039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2697479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3767328" y="2697479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4334256" y="2697479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4901183" y="2697479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761487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Mainly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4747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Integration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0" y="356616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3767328" y="356616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4334256" y="356616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4901183" y="3566160"/>
            <a:ext cx="475488" cy="502920"/>
          </a:xfrm>
          <a:prstGeom prst="ellipse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630168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Often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3434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Component</a:t>
            </a:r>
          </a:p>
        </p:txBody>
      </p:sp>
      <p:sp>
        <p:nvSpPr>
          <p:cNvPr id="23" name="Oval 22"/>
          <p:cNvSpPr/>
          <p:nvPr/>
        </p:nvSpPr>
        <p:spPr>
          <a:xfrm>
            <a:off x="3200400" y="443484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3767328" y="4434840"/>
            <a:ext cx="475488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4334256" y="4434840"/>
            <a:ext cx="475488" cy="502920"/>
          </a:xfrm>
          <a:prstGeom prst="ellipse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4901183" y="4434840"/>
            <a:ext cx="475488" cy="502920"/>
          </a:xfrm>
          <a:prstGeom prst="ellipse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498848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Some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737360"/>
            <a:ext cx="4544568" cy="3291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Test types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Functional: what the system does. Black-box fits naturally.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Some non-functional checks too: response time, clarity of messages.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Black-box is how you design; functional is what you test.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Levels from Monday's V-Model; functional vs non-functional is Friday.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Specification to Test 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small, justified set of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Need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291840" cy="21945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Every possible input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password field alone has more values than you could ever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331720"/>
            <a:ext cx="2743200" cy="10972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Test design technique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783080"/>
            <a:ext cx="3264408" cy="2194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small set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test has a reason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880360"/>
            <a:ext cx="50292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69480" y="2880360"/>
            <a:ext cx="100584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" y="438912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Fewer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138" y="438912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Better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7628" y="438912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Repeatable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5118" y="438912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Justifiable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Choosing at random is unreliable; choosing with a technique is systematic.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Test Basis to Expected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 basis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33472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'Password must be 8 to 20 characters.'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2072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 condition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82896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62072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Length accepted at the lower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 case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11496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Register with an 8-character password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81744" y="221742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Abcdef1!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0344" y="1783080"/>
            <a:ext cx="1975104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Expected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0344" y="2743200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Account created; confirmation shown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20624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1596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READ IT LEFT TO RIGHT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basis says what; the condition says what could be tested; the case, data and expected result make it runnable.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Test case fields were Tuesday's anatomy; record which technique produced each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Deriving Tests: An Age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'Age accepts whole numbers from 18 to 60 inclusive; anything else shows "Invalid age".'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33756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9000" y="3182112"/>
            <a:ext cx="5486400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2368296" y="244144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9290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145536" y="244144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29290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888736" y="244144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35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29290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631936" y="244144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29290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409176" y="244144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92640" y="29290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29000" y="359359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accepted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93591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593591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rejected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34340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abc (not a number)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434340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25.5 (not whole)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9288" y="434340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120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Read, ask, list conditions, pick data, write expected results, review, run.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Eight tests, each with a reason; BVA and EP name these choices.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Before You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4023360" cy="3383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spec is silent on: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Empty input?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Decimals such as 25.5?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Letters or symbols?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Leading zeros, 018?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65176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Question 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691640"/>
            <a:ext cx="3172968" cy="1371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Farhan (BA) or Rohan (PO)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611880"/>
            <a:ext cx="3172968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Answer becomes the expected result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3200400"/>
            <a:ext cx="3657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452360" y="2377440"/>
            <a:ext cx="914400" cy="64008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94392" y="3108960"/>
            <a:ext cx="0" cy="45720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Spotting a gap is a result of test design, found before any code runs.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Technique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Families, techniques and how to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Families of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F4E79"/>
                </a:solidFill>
                <a:latin typeface="Arial"/>
              </a:rPr>
              <a:t>Black-box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Based on the specification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Inputs, outputs, rules, journeys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4526280"/>
            <a:ext cx="3474720" cy="5943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Today: five techniques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691640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330066"/>
                </a:solidFill>
                <a:latin typeface="Arial"/>
              </a:rPr>
              <a:t>White-box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Based on the code's structure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Statements, branches, paths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4526280"/>
            <a:ext cx="3474720" cy="594360"/>
          </a:xfrm>
          <a:prstGeom prst="roundRect">
            <a:avLst>
              <a:gd name="adj" fmla="val 12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Friday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0727" y="1691640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E7D32"/>
                </a:solidFill>
                <a:latin typeface="Arial"/>
              </a:rPr>
              <a:t>Experience-based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Based on the tester's knowledge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Likely mistakes, past defects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7" y="4526280"/>
            <a:ext cx="3474720" cy="5943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Today: error guessing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Not rivals: good testers use all three on the same feature.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Techniques, in Today's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2057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1 Use-case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Whole user journeys, main and alternate flows</a:t>
            </a:r>
          </a:p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Register, then log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2057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2 Boundary values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Values at and next to the edges of ranges</a:t>
            </a:r>
          </a:p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Age 17, 18, 60, 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2057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3 Equivalence partitions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value from each group treated alike</a:t>
            </a:r>
          </a:p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Age 15, 35, 70, abc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977639"/>
            <a:ext cx="3505200" cy="2057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4 Error guessing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Probes from experience of likely mistakes</a:t>
            </a:r>
          </a:p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Double-click Pay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977639"/>
            <a:ext cx="3505200" cy="2057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5 Decision tables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Combinations of conditions and outcomes</a:t>
            </a:r>
          </a:p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Member x order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977639"/>
            <a:ext cx="3505200" cy="2057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6 State transition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Behaviour that depends on history</a:t>
            </a:r>
          </a:p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Locked after 3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Technique for Which Rule?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92608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Read one rule</a:t>
            </a:r>
          </a:p>
        </p:txBody>
      </p:sp>
      <p:sp>
        <p:nvSpPr>
          <p:cNvPr id="5" name="Diamond 4"/>
          <p:cNvSpPr/>
          <p:nvPr/>
        </p:nvSpPr>
        <p:spPr>
          <a:xfrm>
            <a:off x="704088" y="2606040"/>
            <a:ext cx="2743200" cy="137160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What kind of rule?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75688" y="2331720"/>
            <a:ext cx="0" cy="2743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47288" y="3291840"/>
            <a:ext cx="57607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23360" y="1947672"/>
            <a:ext cx="0" cy="374904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23360" y="1947672"/>
            <a:ext cx="27432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645920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Range, length or limit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53527" y="1947672"/>
            <a:ext cx="320041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01000" y="1645920"/>
            <a:ext cx="3584448" cy="60350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EP, then BVA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2697480"/>
            <a:ext cx="27432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2395728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Category or list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53527" y="2697480"/>
            <a:ext cx="320041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01000" y="2395728"/>
            <a:ext cx="3584448" cy="60350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EP: one per category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3447288"/>
            <a:ext cx="27432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3400" y="3145536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Combination of conditions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53527" y="3447288"/>
            <a:ext cx="320041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3145536"/>
            <a:ext cx="3584448" cy="60350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Decision table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23360" y="4197096"/>
            <a:ext cx="27432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43400" y="3895344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Depends on history or status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53527" y="4197096"/>
            <a:ext cx="320041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01000" y="3895344"/>
            <a:ext cx="3584448" cy="60350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State transition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23360" y="4946904"/>
            <a:ext cx="27432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43400" y="4645152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user goal, start to finish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53527" y="4946904"/>
            <a:ext cx="320041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01000" y="4645152"/>
            <a:ext cx="3584448" cy="60350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Use-case scenarios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23360" y="5696712"/>
            <a:ext cx="27432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343400" y="5394959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Spec silent, typical slip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53527" y="5696712"/>
            <a:ext cx="320041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01000" y="5394959"/>
            <a:ext cx="3584448" cy="603504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Error guessing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the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Use-case: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The user journeys: the big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2679192"/>
            <a:ext cx="10149840" cy="841248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State transition, decision table: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The rules and statuses behind the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35608" y="3666744"/>
            <a:ext cx="9326880" cy="84124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EP and BVA: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The fields and values inside each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47088" y="4654296"/>
            <a:ext cx="8503920" cy="84124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Error guessing: 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Extra probes from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Broad coverage first, then the details where risk is high.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Feature, Five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37760"/>
                <a:gridCol w="2560320"/>
                <a:gridCol w="347472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Requirement (registration and login)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Register, then log 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Use-case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complete user journey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Password 8 to 20 characters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BVA + EP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range of lengths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Email valid, unused, or neither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Categories of input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Outcome depends on email and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Decision table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Two conditions combine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Lock after 3 failed attempts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State transition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Depends on history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Then error guessing adds the probes nobody wrote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and Other Boxes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Showing what has been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691640"/>
            <a:ext cx="566928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32504" y="1691640"/>
            <a:ext cx="566928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1691640"/>
            <a:ext cx="566928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76088" y="1691640"/>
            <a:ext cx="566928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79" y="1691640"/>
            <a:ext cx="566928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9671" y="1691640"/>
            <a:ext cx="566928" cy="475488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221992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REG-01 register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22199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2504" y="222199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296" y="222199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76088" y="222199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79" y="222199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9671" y="222199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2752344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REG-02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2" y="2752344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32504" y="2752344"/>
            <a:ext cx="566928" cy="47548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4296" y="2752344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6088" y="2752344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79" y="2752344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9671" y="2752344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3282696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REG-03 password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3282696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32504" y="3282696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54296" y="3282696"/>
            <a:ext cx="566928" cy="47548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76088" y="3282696"/>
            <a:ext cx="566928" cy="47548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79" y="3282696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9671" y="3282696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3813048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LOG-01 login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10712" y="3813048"/>
            <a:ext cx="566928" cy="47548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32504" y="3813048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54296" y="3813048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76088" y="3813048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97879" y="3813048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9671" y="3813048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" y="4343400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LOG-02 generic 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10712" y="4343400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2504" y="4343400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54296" y="4343400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76088" y="4343400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97879" y="4343400"/>
            <a:ext cx="566928" cy="475488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19671" y="4343400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" y="4873752"/>
            <a:ext cx="2743200" cy="47548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LOG-03 lock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10712" y="487375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32504" y="487375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54296" y="487375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76088" y="487375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97879" y="487375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19671" y="4873752"/>
            <a:ext cx="566928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1691640"/>
            <a:ext cx="4270248" cy="12801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Coverage =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requirements with a test / all requirements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3154680"/>
            <a:ext cx="4270248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Here: 5 / 6 = 83%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LOG-03 has an empty row: a gap.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T6 has an empty column: an orphan.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Is Not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100% requirements coverage means every requirement was touched, not tested deeply.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788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Each technique brings a finer measure: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3832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Flows covered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33832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Boundaries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56632" y="33832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Partitions 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33832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Rules exercised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0616" y="33832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Transitions exercised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3434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test per requirement is a start, not an end.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Use risk to decide where to go deeper.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Black-Box, White-Box, Grey-Box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3017520"/>
                <a:gridCol w="3108960"/>
                <a:gridCol w="301752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Black-box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White-box (Friday)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Grey-box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Based 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Specification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Code structure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Spec, plus some internals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Tester needs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Domain knowledge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Programming skills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Some of both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Finds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Missing or wrong behaviour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Untested branches, dead code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Data saved wrongly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Misses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Code the spec never mentions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Missing requirements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Less of each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Valid login shows dashboard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Every branch of login() runs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Register, then check the record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Expected results copied from the software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Take them from the spec or another oracle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Testing only valid inputs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Add invalid partitions and error paths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Guessing when the spec is unclear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Ask, log the question, record assumptions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Relying on one technique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Layer techniques by kind of rule and risk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Treating 100% coverage as 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Go deeper where the risk is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Black-box testing checks behaviour through inputs and outputs, against the spec.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Strengths: user view, early start; limits: unspecified code, spec quality.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Techniques give a small, justified set because exhaustive testing is impossible.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Basis, condition, case, data, expected result: the oracle defines correct.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Six techniques today; choose by the kind of rule and layer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Requirements coverage shows what was touched, not how deeply.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29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Foundation Level syllabus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Black Box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https://www.guru99.com/black-box-testing.html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38988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426458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https://docs.pytest.org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5863</Words>
  <Application>Microsoft Office PowerPoint</Application>
  <PresentationFormat>Widescreen</PresentationFormat>
  <Paragraphs>865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Arial</vt:lpstr>
      <vt:lpstr>Courier New</vt:lpstr>
      <vt:lpstr>Wingdings</vt:lpstr>
      <vt:lpstr>Learners Point</vt:lpstr>
      <vt:lpstr>Black-Box Testing</vt:lpstr>
      <vt:lpstr>Learning Objectives (1 of 2)</vt:lpstr>
      <vt:lpstr>Learning Objectives (2 of 2)</vt:lpstr>
      <vt:lpstr>What Is Black-Box Testing?</vt:lpstr>
      <vt:lpstr>Black-Box Testing Defined</vt:lpstr>
      <vt:lpstr>Key Terms</vt:lpstr>
      <vt:lpstr>The Vending Machine Analogy</vt:lpstr>
      <vt:lpstr>The Black-Box Model</vt:lpstr>
      <vt:lpstr>The Tester's Question</vt:lpstr>
      <vt:lpstr>Benefits and Limitations</vt:lpstr>
      <vt:lpstr>Benefits of Black-Box Testing</vt:lpstr>
      <vt:lpstr>More Benefits</vt:lpstr>
      <vt:lpstr>Limitations (1 of 2)</vt:lpstr>
      <vt:lpstr>Limitations (2 of 2)</vt:lpstr>
      <vt:lpstr>Where It Applies</vt:lpstr>
      <vt:lpstr>Test Levels</vt:lpstr>
      <vt:lpstr>Black-Box at Each Test Level</vt:lpstr>
      <vt:lpstr>Test Types</vt:lpstr>
      <vt:lpstr>Test Design Techniques</vt:lpstr>
      <vt:lpstr>Why We Need Techniques</vt:lpstr>
      <vt:lpstr>What Techniques Give You</vt:lpstr>
      <vt:lpstr>From Idea to Executable Test</vt:lpstr>
      <vt:lpstr>The Flow with a Project 1 Example</vt:lpstr>
      <vt:lpstr>The Test Oracle</vt:lpstr>
      <vt:lpstr>Families and Techniques</vt:lpstr>
      <vt:lpstr>The Three Families</vt:lpstr>
      <vt:lpstr>Families Are Not Rivals</vt:lpstr>
      <vt:lpstr>Today's Six Techniques (1 of 2)</vt:lpstr>
      <vt:lpstr>Today's Six Techniques (2 of 2)</vt:lpstr>
      <vt:lpstr>EP and BVA in a Sentence</vt:lpstr>
      <vt:lpstr>Decision, State, Use-Case, Guessing</vt:lpstr>
      <vt:lpstr>Choosing and Combining</vt:lpstr>
      <vt:lpstr>How to Choose a Technique</vt:lpstr>
      <vt:lpstr>Other Influences on the Choice</vt:lpstr>
      <vt:lpstr>The Layered Approach</vt:lpstr>
      <vt:lpstr>Painting a Wall</vt:lpstr>
      <vt:lpstr>Worked Example: Requirements</vt:lpstr>
      <vt:lpstr>Worked Example: Choosing Techniques</vt:lpstr>
      <vt:lpstr>Worked Example: Combined Tests (1 of 2)</vt:lpstr>
      <vt:lpstr>Worked Example: Combined Tests (2 of 2)</vt:lpstr>
      <vt:lpstr>Ten Tests, Five Techniques</vt:lpstr>
      <vt:lpstr>From Spec to Test Cases</vt:lpstr>
      <vt:lpstr>The Specification</vt:lpstr>
      <vt:lpstr>Steps 1 to 3</vt:lpstr>
      <vt:lpstr>Step 4: Test Data per Condition</vt:lpstr>
      <vt:lpstr>Steps 5 to 7</vt:lpstr>
      <vt:lpstr>Traceability and Coverage</vt:lpstr>
      <vt:lpstr>Requirements Traceability</vt:lpstr>
      <vt:lpstr>Traceability Matrix</vt:lpstr>
      <vt:lpstr>Requirements Coverage</vt:lpstr>
      <vt:lpstr>Two Warnings</vt:lpstr>
      <vt:lpstr>Documenting Test Cases</vt:lpstr>
      <vt:lpstr>Test Case Structure (1 of 2)</vt:lpstr>
      <vt:lpstr>Test Case Structure (2 of 2)</vt:lpstr>
      <vt:lpstr>Good Practice</vt:lpstr>
      <vt:lpstr>White-Box and Grey-Box</vt:lpstr>
      <vt:lpstr>Black-Box vs White-Box (1 of 2)</vt:lpstr>
      <vt:lpstr>Black-Box vs White-Box (2 of 2)</vt:lpstr>
      <vt:lpstr>They Complement Each Other</vt:lpstr>
      <vt:lpstr>Grey-Box Testing</vt:lpstr>
      <vt:lpstr>Agile and AI</vt:lpstr>
      <vt:lpstr>In Agile Teams</vt:lpstr>
      <vt:lpstr>With AI Tools</vt:lpstr>
      <vt:lpstr>AI Is an Assistant, Not an Oracle</vt:lpstr>
      <vt:lpstr>Python Demo</vt:lpstr>
      <vt:lpstr>The Specification Is All You Get</vt:lpstr>
      <vt:lpstr>The Code Under Test</vt:lpstr>
      <vt:lpstr>Black-Box Tests from the Spec</vt:lpstr>
      <vt:lpstr>What Each Test Checks</vt:lpstr>
      <vt:lpstr>Each Test Traces to the Spec</vt:lpstr>
      <vt:lpstr>Running the Tests</vt:lpstr>
      <vt:lpstr>A Test Catches a Defect</vt:lpstr>
      <vt:lpstr>Found Without Reading the Code</vt:lpstr>
      <vt:lpstr>Example 2: Registration Test Ideas</vt:lpstr>
      <vt:lpstr>No Code Needed</vt:lpstr>
      <vt:lpstr>Common Mistakes</vt:lpstr>
      <vt:lpstr>Common Mistakes (1 of 3)</vt:lpstr>
      <vt:lpstr>Common Mistakes (2 of 3)</vt:lpstr>
      <vt:lpstr>Common Mistakes (3 of 3)</vt:lpstr>
      <vt:lpstr>Day 4 Roadmap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3</cp:revision>
  <dcterms:modified xsi:type="dcterms:W3CDTF">2026-10-24T17:07:24Z</dcterms:modified>
</cp:coreProperties>
</file>