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60" r:id="rId104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notesMaster" Target="notesMasters/notesMaster1.xml"/><Relationship Id="rId104" Type="http://schemas.openxmlformats.org/officeDocument/2006/relationships/slide" Target="slides/slide103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Rules</c:v>
                </c:pt>
              </c:strCache>
            </c:strRef>
          </c:tx>
          <c:spPr>
            <a:solidFill>
              <a:srgbClr val="330066"/>
            </a:solidFill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solidFill>
                      <a:srgbClr val="5A5A5A"/>
                    </a:solidFill>
                    <a:latin typeface="Arial"/>
                  </a:rPr>
                  <a:t>Rules in the full table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Sixth deck of the day: use-case, BVA, EP and error guessing came first; state transition follows.</a:t>
            </a:r>
          </a:p>
          <a:p>
            <a:r>
              <a:t>Decision tables and state tables are drawn as diagrams (shapes), not slide tables, so they stay readable.</a:t>
            </a:r>
          </a:p>
          <a:p>
            <a:r>
              <a:t>No analogy in this deck: the truth table is the bridge.</a:t>
            </a:r>
          </a:p>
          <a:p>
            <a:r>
              <a:t>The written lesson keeps the loan (extended-entry) and registration worked examples, the comparison with flow charts and the Python table-driven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'Members get free delivery, and so do orders over 50. What about a member with a small order?' Let the class argue.</a:t>
            </a:r>
          </a:p>
          <a:p>
            <a:r>
              <a:t>The disagreement is the point: combinations are where requirements are unclear.</a:t>
            </a:r>
          </a:p>
          <a:p>
            <a:r>
              <a:t>Objective 5 finds defects before any code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the problem, then the parts of a decision table.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decision table is a black-box technique for business rules where combinations of conditions decide the outcome.</a:t>
            </a:r>
          </a:p>
          <a:p>
            <a:r>
              <a:t>Typical uses: discounts, eligibility, pricing, permissions, validation order.</a:t>
            </a:r>
          </a:p>
          <a:p>
            <a:r>
              <a:t>Each field can be perfectly partitioned and the combination still be wrong.</a:t>
            </a:r>
          </a:p>
          <a:p>
            <a:r>
              <a:t>Ask: name a rule in a shopping cart that depends on two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Learners met AND and OR in Python conditions in Week 1.</a:t>
            </a:r>
          </a:p>
          <a:p>
            <a:r>
              <a:t>The truth table lists every combination; the decision table does the same for business conditions.</a:t>
            </a:r>
          </a:p>
          <a:p>
            <a:r>
              <a:t>Cause-effect graphs draw the same logic as a graph; the written lesson mentions them; we do not draw them.</a:t>
            </a:r>
          </a:p>
          <a:p>
            <a:r>
              <a:t>Ask: how many columns does a truth table with three inputs have? (8.)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Requirement: orders over $50 ship free; members always ship free; everyone else pays $5.</a:t>
            </a:r>
          </a:p>
          <a:p>
            <a:r>
              <a:t>Four combinations of two yes/no conditions: 2 to the power of 2.</a:t>
            </a:r>
          </a:p>
          <a:p>
            <a:r>
              <a:t>Each column is a rule and a test case waiting to be written.</a:t>
            </a:r>
          </a:p>
          <a:p>
            <a:r>
              <a:t>Ask: which rule would a tester most likely forget? (R3: a member with a small order.)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 ('don't care') means the value has no influence for that rule.</a:t>
            </a:r>
          </a:p>
          <a:p>
            <a:r>
              <a:t>For actions that carry a value, write the value itself, such as 10%.</a:t>
            </a:r>
          </a:p>
          <a:p>
            <a:r>
              <a:t>Some teams write Y/N instead of T/F; be consistent.</a:t>
            </a:r>
          </a:p>
          <a:p>
            <a:r>
              <a:t>Ask: in the delivery table, could any entry be a dash? (Yes: if over $50, membership does not matter.)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Extended entry is more compact than rewriting every value as a yes/no condition.</a:t>
            </a:r>
          </a:p>
          <a:p>
            <a:r>
              <a:t>Any extended table can be converted to limited entry, but that creates impossible combinations (Poor and Fair both true).</a:t>
            </a:r>
          </a:p>
          <a:p>
            <a:r>
              <a:t>The loan eligibility example in the written lesson is an extended-entry table of 27 combinations collapsed to 11 rules.</a:t>
            </a:r>
          </a:p>
          <a:p>
            <a:r>
              <a:t>Use whichever form the business reads more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steps, the arithmetic and the fill pattern.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list every input that influences the outcome and every distinct result.</a:t>
            </a:r>
          </a:p>
          <a:p>
            <a:r>
              <a:t>Step 5: a combination that cannot happen gets a written reason.</a:t>
            </a:r>
          </a:p>
          <a:p>
            <a:r>
              <a:t>Step 6 is optional but usual; merge only rules with identical actions.</a:t>
            </a:r>
          </a:p>
          <a:p>
            <a:r>
              <a:t>The demo this afternoon follows the same steps on a login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arithmetic first and again at the end: a wrong count means duplicates or gaps.</a:t>
            </a:r>
          </a:p>
          <a:p>
            <a:r>
              <a:t>Extended entry: multiply the number of values of each condition.</a:t>
            </a:r>
          </a:p>
          <a:p>
            <a:r>
              <a:t>Growth is why collapsing, splitting and risk matter (Part 5).</a:t>
            </a:r>
          </a:p>
          <a:p>
            <a:r>
              <a:t>Ask: four conditions, how many rules? (16.)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condition has 2 to the power (n - 1) T's then the same number of F's.</a:t>
            </a:r>
          </a:p>
          <a:p>
            <a:r>
              <a:t>The last row always alternates T, F.</a:t>
            </a:r>
          </a:p>
          <a:p>
            <a:r>
              <a:t>This is the same pattern drawn on the board in the demo.</a:t>
            </a:r>
          </a:p>
          <a:p>
            <a:r>
              <a:t>Ask: what does the fourth row look like for n = 4? (Alternating, 16 columns.)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Marking a rule impossible because it is awkward to set up is a common mistake.</a:t>
            </a:r>
          </a:p>
          <a:p>
            <a:r>
              <a:t>Infeasible rules are excluded from coverage, with the reason recorded.</a:t>
            </a:r>
          </a:p>
          <a:p>
            <a:r>
              <a:t>Gaps found here are cheap to fix: nothing has been coded yet.</a:t>
            </a:r>
          </a:p>
          <a:p>
            <a:r>
              <a:t>Ask: in the delivery table, is any rule infeasible? (No.)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one worked collapse, step by step; demo uses a variant of the same rule.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collapse example keeps all eight combinations feasible to show merging clearly.</a:t>
            </a:r>
          </a:p>
          <a:p>
            <a:r>
              <a:t>The demo version marks unknown-user-and-locked as infeasible (decision-table-to-tests.mermaid).</a:t>
            </a:r>
          </a:p>
          <a:p>
            <a:r>
              <a:t>The written lesson's worked example 1 also marks three rules infeasible and collapses to three.</a:t>
            </a:r>
          </a:p>
          <a:p>
            <a:r>
              <a:t>Ask: which condition do you expect to dominate? (L.)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the conditions with the halving pattern first, then decide each action from the requirement.</a:t>
            </a:r>
          </a:p>
          <a:p>
            <a:r>
              <a:t>Every rule with L = T shows the locked message: R1, R3, R5, R7.</a:t>
            </a:r>
          </a:p>
          <a:p>
            <a:r>
              <a:t>Only R2 (all valid, not locked) logs in.</a:t>
            </a:r>
          </a:p>
          <a:p>
            <a:r>
              <a:t>Ask the class to predict which columns can merge before showing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dash means the condition does not influence the outcome for that rule.</a:t>
            </a:r>
          </a:p>
          <a:p>
            <a:r>
              <a:t>Merging look-alike rules with different actions is the classic collapse mistake.</a:t>
            </a:r>
          </a:p>
          <a:p>
            <a:r>
              <a:t>Confirm the business rule before merging; do not merge on a hunch.</a:t>
            </a:r>
          </a:p>
          <a:p>
            <a:r>
              <a:t>R4, R6 and R8 all show invalid credentials but differ in two conditions, so we keep them separate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Collapsed rule R1 is 'locked, whatever was typed'.</a:t>
            </a:r>
          </a:p>
          <a:p>
            <a:r>
              <a:t>Each collapsed rule still needs at least one test.</a:t>
            </a:r>
          </a:p>
          <a:p>
            <a:r>
              <a:t>Further merging is possible only if the business confirms identical treatment.</a:t>
            </a:r>
          </a:p>
          <a:p>
            <a:r>
              <a:t>Next slide: check that nothing was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Completeness: the sum over rules (plus infeasible rules set aside) must equal the full count.</a:t>
            </a:r>
          </a:p>
          <a:p>
            <a:r>
              <a:t>Consistency: R1 requires L = T; every other rule requires L = F, so they cannot overlap.</a:t>
            </a:r>
          </a:p>
          <a:p>
            <a:r>
              <a:t>Overlapping rules with different actions are contradictions: resolve them with the business.</a:t>
            </a:r>
          </a:p>
          <a:p>
            <a:r>
              <a:t>Do these two checks every time you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turning rules into tests and measuring coverage.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'Password valid' is itself a partition with many representatives: choose them with EP.</a:t>
            </a:r>
          </a:p>
          <a:p>
            <a:r>
              <a:t>Running R1 with the correct password checks that the locked message takes priority.</a:t>
            </a:r>
          </a:p>
          <a:p>
            <a:r>
              <a:t>Write the rule ID in the test case for traceability.</a:t>
            </a:r>
          </a:p>
          <a:p>
            <a:r>
              <a:t>Ask: what data makes U = F true? (A username that matches no account.)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neutral test accounts, for example locked.user and test.user, prepared by Vikram's reset script.</a:t>
            </a:r>
          </a:p>
          <a:p>
            <a:r>
              <a:t>DT-LOG-03 and -04 must show identical messages, so attackers cannot learn which usernames exist.</a:t>
            </a:r>
          </a:p>
          <a:p>
            <a:r>
              <a:t>R4 (unknown username with a 'valid' password) is feasible here only because the example treats P as 'well-formed'.</a:t>
            </a:r>
          </a:p>
          <a:p>
            <a:r>
              <a:t>Ask: which test would catch a locked account accepting the correct password?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rule is exercised when a test's data satisfies its conditions and you verify its actions.</a:t>
            </a:r>
          </a:p>
          <a:p>
            <a:r>
              <a:t>For high risk, aim for every feasible rule of the full table.</a:t>
            </a:r>
          </a:p>
          <a:p>
            <a:r>
              <a:t>Infeasible rules are excluded from the denominator, with reasons recorded.</a:t>
            </a:r>
          </a:p>
          <a:p>
            <a:r>
              <a:t>Ask: five collapsed rules, all tested; full-table coverage? (Depends on which original combinations the tests used.)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discount table has 8 rules collapsed to 6; it is in the written lesson.</a:t>
            </a:r>
          </a:p>
          <a:p>
            <a:r>
              <a:t>The Python demo in the written lesson plants a defect: the coupon is applied without checking the order total. Rows with a coupon and a small order fail.</a:t>
            </a:r>
          </a:p>
          <a:p>
            <a:r>
              <a:t>That pattern (every failing row shares 'coupon and not over $100') points straight at the cause.</a:t>
            </a:r>
          </a:p>
          <a:p>
            <a:r>
              <a:t>Ask Rohan whether 'over $100' is before or after the member discount.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extracting tables from sentences, finding gaps, and taming large tables.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slowly and mark these words before building a table.</a:t>
            </a:r>
          </a:p>
          <a:p>
            <a:r>
              <a:t>'Otherwise' is a rule too, and must be tested.</a:t>
            </a:r>
          </a:p>
          <a:p>
            <a:r>
              <a:t>'Unless' often applies to more than the nearest clause: ask.</a:t>
            </a:r>
          </a:p>
          <a:p>
            <a:r>
              <a:t>The full logic-word table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Highlighted words: or, unless, otherwise.</a:t>
            </a:r>
          </a:p>
          <a:p>
            <a:r>
              <a:t>R1 has two dashes (4 combinations), R2 one dash (2), R3 and R4 none.</a:t>
            </a:r>
          </a:p>
          <a:p>
            <a:r>
              <a:t>Writing the table forces questions the prose never answered.</a:t>
            </a:r>
          </a:p>
          <a:p>
            <a:r>
              <a:t>Another question: is 'over $100' before or after tax?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gap is a combination for which the requirement says nothing.</a:t>
            </a:r>
          </a:p>
          <a:p>
            <a:r>
              <a:t>Both developers and testers will guess, and they will guess differently.</a:t>
            </a:r>
          </a:p>
          <a:p>
            <a:r>
              <a:t>Review the table with stakeholders: explain notation in one minute, then read each rule aloud in plain language.</a:t>
            </a:r>
          </a:p>
          <a:p>
            <a:r>
              <a:t>Sunita (business owner) is the person who decides how discounts combine.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registration example in the written lesson collapses 16 rules to 5 because only the first error is shown.</a:t>
            </a:r>
          </a:p>
          <a:p>
            <a:r>
              <a:t>Layering: test 'password is strong' separately with EP and BVA, then treat it as one condition.</a:t>
            </a:r>
          </a:p>
          <a:p>
            <a:r>
              <a:t>Risk-based prioritisation was Tuesday's test-planning deck.</a:t>
            </a:r>
          </a:p>
          <a:p>
            <a:r>
              <a:t>Pairwise (all-pairs) testing picks a small subset covering every pair of values; it is only named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charts show sequences of steps and decisions; decision tables show combinations; state models show history.</a:t>
            </a:r>
          </a:p>
          <a:p>
            <a:r>
              <a:t>Real features often need two: the login lock is a state model; the login message is a decision table.</a:t>
            </a:r>
          </a:p>
          <a:p>
            <a:r>
              <a:t>The comparison table with flow charts is in the written lesson.</a:t>
            </a:r>
          </a:p>
          <a:p>
            <a:r>
              <a:t>Bridge to the last deck: state transition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hiding contradictions; vague conditions ('good credit' must be defined); forgetting to choose data with EP/BVA; skipping the stakeholder review; one table for unrelated conditions; using tables for history (use states).</a:t>
            </a:r>
          </a:p>
          <a:p>
            <a:r>
              <a:t>Ask: which mistake would hide the R1 gap in the coupon example?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'Free gift if the order is over $200 and the customer is new.' How many rules? Which is the gap? (4; probably none, but ask about exactly $200.)</a:t>
            </a:r>
          </a:p>
          <a:p>
            <a:r>
              <a:t>Bridge: last deck, state transition testing, for behaviour that depends on history.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loan (extended-entry) and registration worked examples, the comparison with flow charts and state tables, and the Python table-driven demo.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Decision Table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When combinations of conditions decide the outcome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556003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Combinations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253678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93788" y="3520440"/>
            <a:ext cx="106709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Anatomy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45911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86021" y="3520440"/>
            <a:ext cx="116487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Building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335926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76036" y="3520440"/>
            <a:ext cx="1360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Collapsing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121503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61613" y="3520440"/>
            <a:ext cx="175156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Rules to tests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98208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38318" y="3520440"/>
            <a:ext cx="194712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Requirement 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THURSDAY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why combinations of conditions need their own technique.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Describe conditions, actions, rules and entries in a decision table.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Build a full table, mark infeasible rules and collapse it.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Turn each rule into a test and state coverage against a named table.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Extract a table from requirement wording and find its gaps.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and What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Combinations and the anatomy of a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Field at a Time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Order over $50?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97180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Customer is a member?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3317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21608" y="2194560"/>
            <a:ext cx="987552" cy="5029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721608" y="2880360"/>
            <a:ext cx="987552" cy="5029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0" y="1828800"/>
            <a:ext cx="3355848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Free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3355848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Charge $5 delivery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178040" y="2194560"/>
            <a:ext cx="1005839" cy="45720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78040" y="2926080"/>
            <a:ext cx="1005839" cy="45720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EP and BVA choose good values for each field.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They do not ask: have I tried the combinations that change the outcome?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Truth Table to Decision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4630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0552" y="1828800"/>
            <a:ext cx="7315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16936" y="1828800"/>
            <a:ext cx="7315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828800"/>
            <a:ext cx="7315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1828800"/>
            <a:ext cx="7315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432304"/>
            <a:ext cx="146304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0552" y="2432304"/>
            <a:ext cx="7315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6" y="2432304"/>
            <a:ext cx="7315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432304"/>
            <a:ext cx="7315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2432304"/>
            <a:ext cx="7315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035808"/>
            <a:ext cx="146304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0552" y="3035808"/>
            <a:ext cx="7315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16936" y="3035808"/>
            <a:ext cx="7315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035808"/>
            <a:ext cx="7315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9704" y="3035808"/>
            <a:ext cx="7315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3639312"/>
            <a:ext cx="146304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 AND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0552" y="3639312"/>
            <a:ext cx="7315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16936" y="3639312"/>
            <a:ext cx="7315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3639312"/>
            <a:ext cx="7315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9704" y="3639312"/>
            <a:ext cx="7315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2743200"/>
            <a:ext cx="45720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43600" y="1691640"/>
            <a:ext cx="5641848" cy="3017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A truth table gone to work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Real conditions: 'customer is a member'.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Actions instead of a bare result: grant a discount, show an error.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Each column becomes a rule, and each rule a test.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074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Also called a cause-effect table: conditions are causes, actions are effects.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Anatomy: The Delivery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291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59352" y="1645920"/>
            <a:ext cx="9601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4336" y="1645920"/>
            <a:ext cx="9601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45920"/>
            <a:ext cx="9601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4304" y="1645920"/>
            <a:ext cx="9601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9424"/>
            <a:ext cx="7351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560320"/>
            <a:ext cx="329184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Order over $50?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9352" y="2560320"/>
            <a:ext cx="9601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4336" y="2560320"/>
            <a:ext cx="9601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560320"/>
            <a:ext cx="9601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4304" y="2560320"/>
            <a:ext cx="9601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163824"/>
            <a:ext cx="329184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Customer is a member?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59352" y="3163824"/>
            <a:ext cx="9601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3163824"/>
            <a:ext cx="9601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163824"/>
            <a:ext cx="96012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4" y="3163824"/>
            <a:ext cx="9601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767328"/>
            <a:ext cx="7351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4078224"/>
            <a:ext cx="329184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Free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9352" y="4078224"/>
            <a:ext cx="960120" cy="548640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4336" y="4078224"/>
            <a:ext cx="960120" cy="548640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078224"/>
            <a:ext cx="960120" cy="548640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04304" y="4078224"/>
            <a:ext cx="9601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4681728"/>
            <a:ext cx="329184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Charge $5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59352" y="4681728"/>
            <a:ext cx="9601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74336" y="4681728"/>
            <a:ext cx="9601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4681728"/>
            <a:ext cx="9601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4304" y="4681728"/>
            <a:ext cx="960120" cy="548640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645920"/>
            <a:ext cx="3538728" cy="3931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Reading 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Top half: conditions.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Bottom half: actions.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Each column is a rule: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'R4: not over $50 and not a member, so charge $5.'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0599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5120640"/>
                <a:gridCol w="329184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Notation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An input or circumstance the system checks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row in the top half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What the system does or shows as a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row in the bottom half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One combination of conditions with its actions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column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Condition entry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True, false, or does not matter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T, F, - (dash)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Action entry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Happens or not, or a value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X, blank, or '10%'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Limited Entry and Extended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Limited entry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condition is T or F (or -).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Simplest and most common.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Extended entry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condition takes more values: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credit Poor / Fair / Good.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3931920"/>
            <a:ext cx="1645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82712" y="3931920"/>
            <a:ext cx="114300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3931920"/>
            <a:ext cx="114300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3931920"/>
            <a:ext cx="114300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4489703"/>
            <a:ext cx="164592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Credit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4489703"/>
            <a:ext cx="114300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4489703"/>
            <a:ext cx="1143000" cy="50292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78440" y="4489703"/>
            <a:ext cx="1143000" cy="50292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Good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5047488"/>
            <a:ext cx="164592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5047488"/>
            <a:ext cx="1143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5047488"/>
            <a:ext cx="1143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440" y="5047488"/>
            <a:ext cx="1143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02336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Rules = product of the value counts: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3 x 3 x 3 = 27 for three 3-valued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repeatable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1 Conditions and actions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33472" y="214884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62072" y="169164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2 Count rules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82896" y="214884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11496" y="169164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3 Fill combinations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214884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60920" y="169164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4 Actions per rule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81744" y="214884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10344" y="169164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 Mark infeasible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017520"/>
            <a:ext cx="25374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6 Merge with dashes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95827" y="3474720"/>
            <a:ext cx="18288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24427" y="3017520"/>
            <a:ext cx="253746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7 Completeness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7607" y="3474720"/>
            <a:ext cx="18288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36207" y="3017520"/>
            <a:ext cx="253746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8 Consistency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19388" y="3474720"/>
            <a:ext cx="18287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47988" y="3017520"/>
            <a:ext cx="253746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9 Rules to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3434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Steps 7 and 8 check: each combination once, no contradictions.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If you cannot decide an action, you have found a requirement gap: ask.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Grow as 2 to the Power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67665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691640"/>
            <a:ext cx="3904487" cy="3931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n yes/no conditions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 to the power n rules.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10 conditions: 1,024.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20 conditions: over a million.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Count first, then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66928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Number of yes/no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 by Halving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74320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82880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82880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82880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4" y="182880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7768" y="182880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7032" y="182880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26296" y="182880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182880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2450592"/>
            <a:ext cx="2743200" cy="56692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 (blocks of 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450592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450592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450592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2450592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2450592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57032" y="2450592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2450592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2450592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072384"/>
            <a:ext cx="2743200" cy="56692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B (blocks of 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0712" y="3072384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3072384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9240" y="3072384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3072384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3072384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7032" y="3072384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6296" y="3072384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5560" y="3072384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3694176"/>
            <a:ext cx="2743200" cy="56692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 (blocks of 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0712" y="3694176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9976" y="3694176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3694176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18504" y="3694176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87768" y="3694176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57032" y="3694176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26296" y="3694176"/>
            <a:ext cx="914400" cy="56692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5560" y="3694176"/>
            <a:ext cx="914400" cy="56692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420624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First row: half T, half F. Each next row halves the block size.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Never fill by feel: you will skip or repeat a combination.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Infeasible Rules and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2743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330066"/>
                </a:solidFill>
                <a:latin typeface="Arial"/>
              </a:rPr>
              <a:t>Infeasible: cannot happen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Unknown username, yet 'account locked'.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Mark it and write the reason.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Only when design truly prevents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2743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Unknown action: a gap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requirement says nothing for this rule.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 not guess the expected result.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Ask Farhan or Rohan; log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800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A rare but possible combination is often exactly where the defects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Collapsing a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Eight rules to five, on a login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Login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'If the account is locked, show the locked message whatever was typed. Otherwise, valid username and password log in; anything else shows an invalid-credentials message.'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200400"/>
            <a:ext cx="350520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30066"/>
                </a:solidFill>
                <a:latin typeface="Arial"/>
              </a:rPr>
              <a:t>U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Username valid?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6448" y="3200400"/>
            <a:ext cx="350520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30066"/>
                </a:solidFill>
                <a:latin typeface="Arial"/>
              </a:rPr>
              <a:t>P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Password valid?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3200400"/>
            <a:ext cx="350520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330066"/>
                </a:solidFill>
                <a:latin typeface="Arial"/>
              </a:rPr>
              <a:t>L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Account locked?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5720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Three conditions: 2 x 2 x 2 = 8 rules.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Three actions: log in, invalid-credentials message, locked message.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Table: 8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85031" y="1600200"/>
            <a:ext cx="896112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6007" y="1600200"/>
            <a:ext cx="896112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6983" y="1600200"/>
            <a:ext cx="896112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600200"/>
            <a:ext cx="896112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8936" y="1600200"/>
            <a:ext cx="896112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9912" y="1600200"/>
            <a:ext cx="896112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0888" y="1600200"/>
            <a:ext cx="896112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41863" y="1600200"/>
            <a:ext cx="896112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30552"/>
            <a:ext cx="10625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2441448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 username valid?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85031" y="2441448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6007" y="2441448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86983" y="2441448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59" y="2441448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2441448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39912" y="2441448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0888" y="2441448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41863" y="2441448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2971800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 password valid?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85031" y="29718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6007" y="29718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6983" y="29718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59" y="29718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88936" y="29718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39912" y="29718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90888" y="29718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41863" y="29718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3502152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 account locked?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85031" y="35021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6007" y="35021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86983" y="35021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59" y="35021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88936" y="35021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39912" y="35021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90888" y="35021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41863" y="35021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" y="4032504"/>
            <a:ext cx="10625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Actions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" y="4343400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Log 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85031" y="43434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36007" y="43434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86983" y="43434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59" y="43434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88936" y="43434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39912" y="43434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90888" y="43434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41863" y="4343400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" y="4873752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Invalid credentials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85031" y="48737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36007" y="48737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86983" y="48737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37959" y="48737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88936" y="48737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39912" y="48737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90888" y="48737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41863" y="4873752"/>
            <a:ext cx="896112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2648" y="5404104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Locked message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85031" y="5404104"/>
            <a:ext cx="896112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36007" y="5404104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586983" y="5404104"/>
            <a:ext cx="896112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37959" y="5404104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88936" y="5404104"/>
            <a:ext cx="896112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39912" y="5404104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90888" y="5404104"/>
            <a:ext cx="896112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41863" y="5404104"/>
            <a:ext cx="896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When Actions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R1 + R3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3048" y="19659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differ only in 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0" y="2148840"/>
            <a:ext cx="6400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06640" y="1783080"/>
            <a:ext cx="4178808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(T, -, 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4320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R5 + R7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3048" y="292608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differ only in 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0" y="3108960"/>
            <a:ext cx="6400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2743200"/>
            <a:ext cx="4178808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(F, -, 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0332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(T,-,T) + (F,-,T)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8862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differ only in 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0" y="4069080"/>
            <a:ext cx="6400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3703320"/>
            <a:ext cx="4178808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(-, -, 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800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Merge only rules with identical actions that differ in one condition.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Locked: four rules become one rule with two dashes.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Collapsed Table: 5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85031" y="1600200"/>
            <a:ext cx="914400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4296" y="1600200"/>
            <a:ext cx="914400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59" y="1600200"/>
            <a:ext cx="914400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92823" y="1600200"/>
            <a:ext cx="914400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2088" y="1600200"/>
            <a:ext cx="914400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30552"/>
            <a:ext cx="786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441448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 username valid?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5031" y="2441448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2441448"/>
            <a:ext cx="914400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59" y="2441448"/>
            <a:ext cx="914400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92823" y="2441448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2441448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2971800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 password valid?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5031" y="29718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54296" y="29718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29718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3" y="29718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2088" y="29718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3502152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 account locked?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85031" y="35021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54296" y="35021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59" y="35021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92823" y="35021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62088" y="35021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032504"/>
            <a:ext cx="786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4343400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Log 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85031" y="43434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4296" y="43434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59" y="43434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92823" y="43434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62088" y="4343400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" y="4873752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Invalid credentials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85031" y="48737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54296" y="48737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23559" y="48737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92823" y="48737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62088" y="4873752"/>
            <a:ext cx="914400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" y="5404104"/>
            <a:ext cx="301752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Locked message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85031" y="5404104"/>
            <a:ext cx="914400" cy="475488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54296" y="5404104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3559" y="5404104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92823" y="5404104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62088" y="5404104"/>
            <a:ext cx="9144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1600200"/>
            <a:ext cx="2898648" cy="4023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Same behaviour,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fewer rules: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8 became 5.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R1 now covers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 original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combinations.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Completeness and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5248656" cy="822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R1: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16168" y="1828800"/>
            <a:ext cx="1271016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R2: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2048" y="1828800"/>
            <a:ext cx="1271016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R3: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67928" y="1828800"/>
            <a:ext cx="1271016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R4: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3807" y="1828800"/>
            <a:ext cx="1271016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R5: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43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 rule with d dashes covers 2 to the power d combinations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29184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Complete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4 + 1 + 1 + 1 + 1 = 8 = 2 x 2 x 2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combination appears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329184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Consistent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combination fits two rules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with different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to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 cases and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Rule, One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383279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Pick data that makes each condition T or 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3317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783080"/>
            <a:ext cx="3383279" cy="10972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Take the expected result from the actions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33172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783080"/>
            <a:ext cx="3383279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Trace the test to its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91840"/>
            <a:ext cx="10972800" cy="13716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0156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FOR DASHES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Dash tip: pick the value most likely to expose a defect, or vary it across runs.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For R1 (locked, whatever was typed) run it once with the correct password and once with a wrong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983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Decision tables decide which combinations; EP and BVA decide which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for the Collapsed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0599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097280"/>
                <a:gridCol w="4206240"/>
                <a:gridCol w="393192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Setup and data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Expected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DT-LOG-01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Locked account; correct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Locked message; no login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DT-LOG-02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Active account; correct details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Dashboard; session created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DT-LOG-03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Active account; wrong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Invalid-credentials message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DT-LOG-04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Unknown username; any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The same message as DT-LOG-03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DT-LOG-05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Unknown username; wrong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The same message; no login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Table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Coverage = rules exercised / feasible rules in the table x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9748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3 tests run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3 of 5 collapsed rules: 60%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3 of 8 full-table rules: 37.5%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269748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Both are correct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They answer different questions.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Always name the table: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'60% of the 5-rule collapsed table'.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394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100% of a collapsed table is not 100% of the full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Boundaries to the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'Members get 10% off. A valid coupon adds 5%, only on orders over $100.'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65760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0" y="3502152"/>
            <a:ext cx="5669279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1920240" y="2761488"/>
            <a:ext cx="914400" cy="786384"/>
          </a:xfrm>
          <a:prstGeom prst="ellipse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60</a:t>
            </a:r>
          </a:p>
        </p:txBody>
      </p:sp>
      <p:sp>
        <p:nvSpPr>
          <p:cNvPr id="8" name="Oval 7"/>
          <p:cNvSpPr/>
          <p:nvPr/>
        </p:nvSpPr>
        <p:spPr>
          <a:xfrm>
            <a:off x="5029200" y="2761488"/>
            <a:ext cx="914400" cy="786384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100.00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2761488"/>
            <a:ext cx="914400" cy="786384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100.01</a:t>
            </a:r>
          </a:p>
        </p:txBody>
      </p:sp>
      <p:sp>
        <p:nvSpPr>
          <p:cNvPr id="10" name="Oval 9"/>
          <p:cNvSpPr/>
          <p:nvPr/>
        </p:nvSpPr>
        <p:spPr>
          <a:xfrm>
            <a:off x="9235440" y="2761488"/>
            <a:ext cx="914400" cy="786384"/>
          </a:xfrm>
          <a:prstGeom prst="ellipse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913632"/>
            <a:ext cx="5669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over $100: coupon 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5720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Rule tests use 60 and 150; BVA adds 100.00 and 100.01.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Each rule's conditions hide boundaries: test both sides.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Requirement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Reading between the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0599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59536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In a table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if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Introduces a condition (a cause)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and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Both conditions true in the same rule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Either is enough: separate rules, same action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unless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 condition that overrides: usually a NOT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otherwise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The default rule for everything else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Also: 'only if' (required), 'at least / up to' (a boundary to send to BVA).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Translate a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'Shipping is free for orders over $100 or for members, unless the item is oversized. Otherwise shipping costs $5.'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0604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260604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60604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60604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18504" y="260604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163824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O over $100?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3163824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3163824"/>
            <a:ext cx="914400" cy="50292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3163824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3163824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721608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M member?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3721608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3721608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-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3721608"/>
            <a:ext cx="914400" cy="50292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3721608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279392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Z oversized?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0712" y="4279392"/>
            <a:ext cx="914400" cy="50292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4279392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279392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8504" y="4279392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837176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Free shipping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4837176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4837176"/>
            <a:ext cx="914400" cy="502920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4837176"/>
            <a:ext cx="914400" cy="502920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8504" y="4837176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3949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Charge $5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0712" y="5394960"/>
            <a:ext cx="914400" cy="502920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5394960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49240" y="5394960"/>
            <a:ext cx="914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8504" y="5394960"/>
            <a:ext cx="914400" cy="502920"/>
          </a:xfrm>
          <a:prstGeom prst="roundRect">
            <a:avLst>
              <a:gd name="adj" fmla="val 5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2606040"/>
            <a:ext cx="4087368" cy="3017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Check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 + 2 + 1 + 1 = 8: complete.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Question: does 'unless oversized' apply to members too?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We assumed yes: ask.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the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'Customers with a coupon get 5% off. Members get 10% off.'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743200"/>
            <a:ext cx="21945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2072" y="274320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22776" y="274320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74320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44184" y="274320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346704"/>
            <a:ext cx="219456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Coupon?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3346704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2776" y="3346704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346704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4184" y="3346704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950208"/>
            <a:ext cx="219456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Member?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3950208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22776" y="3950208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950208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4184" y="3950208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553712"/>
            <a:ext cx="219456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Discount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62072" y="4553712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22776" y="4553712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4553712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44184" y="4553712"/>
            <a:ext cx="1005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743200"/>
            <a:ext cx="4727448" cy="2743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55A11"/>
                </a:solidFill>
                <a:latin typeface="Arial"/>
              </a:rPr>
              <a:t>R1 is undefined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 they stack to 15%?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the better one win?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Ask Rohan; log the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 Table Gets Too Big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1 Collapse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Always the first move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2 Remove infeasible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With written reasons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3 Split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Discount table and shipping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61188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4 Layer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'Password strong' as one condition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61188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5 Prioritise by risk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Highest impact rules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61188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6 Pairwise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Named only; later in the 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Table or State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3017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Facts true right now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Member? Coupon? Order over $100?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of checks does not matter.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Use a decision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30175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5B2C83"/>
                </a:solidFill>
                <a:latin typeface="Arial"/>
              </a:rPr>
              <a:t>What has already happened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Third failed attempt locks the account.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same input gives different results.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Use a state model (next deck).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029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Ask: does the answer depend on history? If yes, model states.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30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303520"/>
                <a:gridCol w="56692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Counting or filling rules by feel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2 to the power n, then the halving pattern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Merging rules with different actions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Merge only identical actions, one condition apart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Calling a rule impossible because it is awkward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Only when design prevents it; write why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Ignoring the 'otherwise' rule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Test the default rule too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Quoting coverage without the table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Name the table: collapsed or full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31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Decision tables test business rules where combinations decide the outcome.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Conditions on top, actions below; each column is a rule and a test.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2 to the power n rules; fill by halving; mark infeasible rules with reasons.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Merge only identical actions; check completeness and consistency.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Coverage = rules exercised / feasible rules: name the table.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Translating if, and, or, unless, otherwise finds gaps before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32 / 33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Decision Table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https://www.guru99.com/decision-table-testing.html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8382</Words>
  <Application>Microsoft Office PowerPoint</Application>
  <PresentationFormat>Widescreen</PresentationFormat>
  <Paragraphs>1501</Paragraphs>
  <Slides>103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7" baseType="lpstr">
      <vt:lpstr>Arial</vt:lpstr>
      <vt:lpstr>Courier New</vt:lpstr>
      <vt:lpstr>Wingdings</vt:lpstr>
      <vt:lpstr>Learners Point</vt:lpstr>
      <vt:lpstr>Decision Table Testing</vt:lpstr>
      <vt:lpstr>Learning Objectives (1 of 2)</vt:lpstr>
      <vt:lpstr>Learning Objectives (2 of 2)</vt:lpstr>
      <vt:lpstr>The Problem</vt:lpstr>
      <vt:lpstr>EP and BVA Look at One Input at a Time</vt:lpstr>
      <vt:lpstr>When to Reach for a Decision Table</vt:lpstr>
      <vt:lpstr>Anatomy of a Decision Table</vt:lpstr>
      <vt:lpstr>A Truth Table: A AND B</vt:lpstr>
      <vt:lpstr>From Truth Table to Decision Table</vt:lpstr>
      <vt:lpstr>Definition</vt:lpstr>
      <vt:lpstr>The Delivery Table</vt:lpstr>
      <vt:lpstr>Vocabulary (1 of 2)</vt:lpstr>
      <vt:lpstr>Vocabulary (2 of 2)</vt:lpstr>
      <vt:lpstr>Limited-Entry vs Extended-Entry</vt:lpstr>
      <vt:lpstr>Converting Between Them</vt:lpstr>
      <vt:lpstr>Building a Table</vt:lpstr>
      <vt:lpstr>Steps 1-2: Conditions, Actions, Count</vt:lpstr>
      <vt:lpstr>Rules Grow as 2^n</vt:lpstr>
      <vt:lpstr>Step 3: Fill Combinations Systematically</vt:lpstr>
      <vt:lpstr>Fill Pattern for n = 3</vt:lpstr>
      <vt:lpstr>Steps 4-5: Actions, Infeasible Rules</vt:lpstr>
      <vt:lpstr>Step 6: Merge with Don't-Cares</vt:lpstr>
      <vt:lpstr>Steps 7-8: Completeness, Consistency</vt:lpstr>
      <vt:lpstr>Collapsing a Table</vt:lpstr>
      <vt:lpstr>The Requirement</vt:lpstr>
      <vt:lpstr>Full Table (8 Rules)</vt:lpstr>
      <vt:lpstr>Applying Step 6</vt:lpstr>
      <vt:lpstr>Collapsed Table (5 Rules)</vt:lpstr>
      <vt:lpstr>Completeness Check</vt:lpstr>
      <vt:lpstr>Rules to Test Cases</vt:lpstr>
      <vt:lpstr>Converting a Rule into a Test Case</vt:lpstr>
      <vt:lpstr>Tests for the Collapsed Login Table</vt:lpstr>
      <vt:lpstr>Tip for Dashes</vt:lpstr>
      <vt:lpstr>Decision Table Coverage</vt:lpstr>
      <vt:lpstr>Coverage Example</vt:lpstr>
      <vt:lpstr>Worked Example 1: Login</vt:lpstr>
      <vt:lpstr>Requirement (Assumed)</vt:lpstr>
      <vt:lpstr>Full Table with Feasibility</vt:lpstr>
      <vt:lpstr>Why R5, R6 and R7 Are Impossible</vt:lpstr>
      <vt:lpstr>Collapse the Feasible Rules</vt:lpstr>
      <vt:lpstr>Collapsed Table (3 Rules)</vt:lpstr>
      <vt:lpstr>Checks and Test Design</vt:lpstr>
      <vt:lpstr>Login Test Cases</vt:lpstr>
      <vt:lpstr>Reaching 100% of the Feasible Full Table</vt:lpstr>
      <vt:lpstr>Worked Example 2: Discount</vt:lpstr>
      <vt:lpstr>Requirement</vt:lpstr>
      <vt:lpstr>Full Table (8 Rules)</vt:lpstr>
      <vt:lpstr>What to Merge</vt:lpstr>
      <vt:lpstr>Collapsed Table (6 Rules)</vt:lpstr>
      <vt:lpstr>Completeness and Test Data</vt:lpstr>
      <vt:lpstr>Discount Test Cases</vt:lpstr>
      <vt:lpstr>Connecting to BVA</vt:lpstr>
      <vt:lpstr>Worked Example 3: Loan</vt:lpstr>
      <vt:lpstr>Loan Eligibility Requirement</vt:lpstr>
      <vt:lpstr>Transposed Layout</vt:lpstr>
      <vt:lpstr>Collapsed Loan Table (1 of 2)</vt:lpstr>
      <vt:lpstr>Collapsed Loan Table (2 of 2)</vt:lpstr>
      <vt:lpstr>Checking the Loan Table</vt:lpstr>
      <vt:lpstr>Loan Test Cases (1 of 2)</vt:lpstr>
      <vt:lpstr>Loan Test Cases (2 of 2)</vt:lpstr>
      <vt:lpstr>Boundaries and a Gap</vt:lpstr>
      <vt:lpstr>Worked Example 4: Registration</vt:lpstr>
      <vt:lpstr>Requirement (To Be Confirmed)</vt:lpstr>
      <vt:lpstr>Full Registration Table (1 of 2)</vt:lpstr>
      <vt:lpstr>Full Registration Table (2 of 2)</vt:lpstr>
      <vt:lpstr>Reading the Pattern</vt:lpstr>
      <vt:lpstr>Collapsed Registration Table (5 Rules)</vt:lpstr>
      <vt:lpstr>Check and Tests</vt:lpstr>
      <vt:lpstr>Registration Test Cases (1 of 2)</vt:lpstr>
      <vt:lpstr>Registration Test Cases (2 of 2)</vt:lpstr>
      <vt:lpstr>Decisions and Data</vt:lpstr>
      <vt:lpstr>Requirement Text</vt:lpstr>
      <vt:lpstr>Cause-Effect Graphs</vt:lpstr>
      <vt:lpstr>Step A: Highlight the Logic Words</vt:lpstr>
      <vt:lpstr>Logic Words (1 of 2)</vt:lpstr>
      <vt:lpstr>Logic Words (2 of 2)</vt:lpstr>
      <vt:lpstr>Step B: Translate a Sentence</vt:lpstr>
      <vt:lpstr>The Shipping Sentence as a Table</vt:lpstr>
      <vt:lpstr>Completeness and Ambiguities</vt:lpstr>
      <vt:lpstr>Step D: Find the Gaps</vt:lpstr>
      <vt:lpstr>Reviewing a Table with Stakeholders</vt:lpstr>
      <vt:lpstr>Compared and Tamed</vt:lpstr>
      <vt:lpstr>Decision Table vs Flow vs State Table</vt:lpstr>
      <vt:lpstr>Facts Now or History?</vt:lpstr>
      <vt:lpstr>Strengths and Limitations</vt:lpstr>
      <vt:lpstr>When a Table Gets Too Big</vt:lpstr>
      <vt:lpstr>Python Demo</vt:lpstr>
      <vt:lpstr>The Demo</vt:lpstr>
      <vt:lpstr>The Function with a Deliberate Defect</vt:lpstr>
      <vt:lpstr>The Table-Driven Test List</vt:lpstr>
      <vt:lpstr>The Runner</vt:lpstr>
      <vt:lpstr>Output: Three Rows Fail</vt:lpstr>
      <vt:lpstr>Reading the Result like a Tester</vt:lpstr>
      <vt:lpstr>The Fix</vt:lpstr>
      <vt:lpstr>Output After the Fix</vt:lpstr>
      <vt:lpstr>Two Observations</vt:lpstr>
      <vt:lpstr>Mistakes and Summary</vt:lpstr>
      <vt:lpstr>Common Mistakes (1 of 3)</vt:lpstr>
      <vt:lpstr>Common Mistakes (2 of 3)</vt:lpstr>
      <vt:lpstr>Common Mistakes (3 of 3)</vt:lpstr>
      <vt:lpstr>How Much Each Example Reduced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2026-10-24T17:46:16Z</dcterms:modified>
</cp:coreProperties>
</file>