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61" r:id="rId32"/>
    <p:sldId id="336" r:id="rId81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notesMaster" Target="notesMasters/notesMaster1.xml"/><Relationship Id="rId81" Type="http://schemas.openxmlformats.org/officeDocument/2006/relationships/slide" Target="slides/slide80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Fourth deck of the day: what exactly we find when V&amp;V succeeds.</a:t>
            </a:r>
          </a:p>
          <a:p>
            <a:r>
              <a:t>Tuesday used 'defect' and 'bug' interchangeably and owns the lifecycle, severity/priority, defect metrics and 5 Whys; here they are one-line recaps.</a:t>
            </a:r>
          </a:p>
          <a:p>
            <a:r>
              <a:t>One analogy runs through the deck: a wrong road sign.</a:t>
            </a:r>
          </a:p>
          <a:p>
            <a:r>
              <a:t>The afternoon demo asks learners to classify findings as error, defect or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it matters: 'I observed a failure; the likely defect is in the discount calculation' is taken seriously.</a:t>
            </a:r>
          </a:p>
          <a:p>
            <a:r>
              <a:t>Bug reports describe the failure, not guesses about code you have not seen.</a:t>
            </a:r>
          </a:p>
          <a:p>
            <a:r>
              <a:t>Defects hide until specific inputs trigger them, so one happy example is not enough: this drives Thursday's test design.</a:t>
            </a:r>
          </a:p>
          <a:p>
            <a:r>
              <a:t>The vocabulary appears on the ISTQB Foundation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 is the heart of the deck; everything else hangs on the chain.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analogy.</a:t>
            </a:r>
          </a:p>
          <a:p>
            <a:r>
              <a:t>The road authority later finds the sign (defect) and eventually the misread map (error).</a:t>
            </a:r>
          </a:p>
          <a:p>
            <a:r>
              <a:t>A driver who never takes that road is unaffected: the defect exists, there is no failure.</a:t>
            </a:r>
          </a:p>
          <a:p>
            <a:r>
              <a:t>Ask: in this story, who is the developer and who is the tester?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Drawn from demos/3-wednesday/diagrams/error-defect-failure-chain.mermaid; the demo whiteboard uses the same picture.</a:t>
            </a:r>
          </a:p>
          <a:p>
            <a:r>
              <a:t>An error may not become a defect (a reviewer catches it); a defect may not become a failure (the code never runs with the triggering input).</a:t>
            </a:r>
          </a:p>
          <a:p>
            <a:r>
              <a:t>A failure needs execution: a defect in a document or code is just text until someone follows it or a computer runs it.</a:t>
            </a:r>
          </a:p>
          <a:p>
            <a:r>
              <a:t>Root cause sits one step before the error: keep asking 'why?' and you reach unclear requirements or time 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Definitions paraphrase the ISTQB glossary.</a:t>
            </a:r>
          </a:p>
          <a:p>
            <a:r>
              <a:t>Defects can live in any work product, not only code: requirements, designs, test cases, configuration, data.</a:t>
            </a:r>
          </a:p>
          <a:p>
            <a:r>
              <a:t>Testers find defects directly in reviews and static analysis, and observe failures in dynamic testing.</a:t>
            </a:r>
          </a:p>
          <a:p>
            <a:r>
              <a:t>Ask: a requirement says 'fast' with no number. Error, defect or failure? (A defect in the requirement, caused by an error.)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 tidies up the vocabulary used every day in teams.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Remember: error = mistake (human); defect = fault = bug (work product); failure is the visible misbehaviour.</a:t>
            </a:r>
          </a:p>
          <a:p>
            <a:r>
              <a:t>Incident: an event needing investigation, typically a reported failure.</a:t>
            </a:r>
          </a:p>
          <a:p>
            <a:r>
              <a:t>A Jira 'issue' is not necessarily a defect: be careful in reports and metrics.</a:t>
            </a:r>
          </a:p>
          <a:p>
            <a:r>
              <a:t>Many teams file everything as 'Bug' and never say 'failure'. Do not correct teammates in meetings; be precise in your own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you first see odd behaviour you do not know whether it is a defect, a misread requirement, a bad environment or a mistake in your own test.</a:t>
            </a:r>
          </a:p>
          <a:p>
            <a:r>
              <a:t>Calling it an anomaly keeps you honest.</a:t>
            </a:r>
          </a:p>
          <a:p>
            <a:r>
              <a:t>Misunderstandings go to Rohan (PO) or Farhan (BA) for clarification.</a:t>
            </a:r>
          </a:p>
          <a:p>
            <a:r>
              <a:t>Part 4 lists failures that have no code defect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summary: the failure is what the tester reports, the defect is what the developer fixes, the error is what the team learns from.</a:t>
            </a:r>
          </a:p>
          <a:p>
            <a:r>
              <a:t>In lifecycle terms: New = a failure reported; Rejected = no defect (false positive, misuse, environment); Fixed = defect removed; Reopened = failure still occurs.</a:t>
            </a:r>
          </a:p>
          <a:p>
            <a:r>
              <a:t>Severity belongs mostly to the failure (how much damage); priority is a decision about the fix.</a:t>
            </a:r>
          </a:p>
          <a:p>
            <a:r>
              <a:t>A tester may state a suspicion about the cause, clearly marked as a suspicion.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 is a short worked example; keep it to about six minutes.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error is in the developer's head; you cannot find it in the code, because a misunderstanding is not a line of code.</a:t>
            </a:r>
          </a:p>
          <a:p>
            <a:r>
              <a:t>The defect is a direct consequence: 'over 100' became 'greater than 100'.</a:t>
            </a:r>
          </a:p>
          <a:p>
            <a:r>
              <a:t>Ask the class to predict which order totals will show a failure before showing the next slide.</a:t>
            </a:r>
          </a:p>
          <a:p>
            <a:r>
              <a:t>The runnable version is in the written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tester who tried only 50 and 250 would conclude the function is fine: a false negative.</a:t>
            </a:r>
          </a:p>
          <a:p>
            <a:r>
              <a:t>For four of five inputs the function was right even though the code is wrong.</a:t>
            </a:r>
          </a:p>
          <a:p>
            <a:r>
              <a:t>That is why testers care about boundaries; Thursday's boundary value analysis finds this systematically.</a:t>
            </a:r>
          </a:p>
          <a:p>
            <a:r>
              <a:t>Fix: one character, 'if order_total &gt;= 100:'.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customer's complaint is an incident report about a failure.</a:t>
            </a:r>
          </a:p>
          <a:p>
            <a:r>
              <a:t>The developer investigates, finds the '&gt;' defect; the root-cause discussion identifies the misread requirement.</a:t>
            </a:r>
          </a:p>
          <a:p>
            <a:r>
              <a:t>5 Whys and fishbone diagrams are Tuesday's root cause analysis; this is a recap in one example.</a:t>
            </a:r>
          </a:p>
          <a:p>
            <a:r>
              <a:t>Blameless culture: if people are blamed they hide mistakes, and hidden mistakes cost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not every defect fails, and not every failure is a defect.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Defects in documents nobody follows have no effect either: a wrong figure in an unread design document.</a:t>
            </a:r>
          </a:p>
          <a:p>
            <a:r>
              <a:t>Fault masking: a wrong sign in one place and another downstream give the right result together.</a:t>
            </a:r>
          </a:p>
          <a:p>
            <a:r>
              <a:t>Code changes, so a never-executed path may later run and fail with no obvious link to the change that exposed it.</a:t>
            </a:r>
          </a:p>
          <a:p>
            <a:r>
              <a:t>Ask: why would a tester still report a defect that cannot fail today?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 of these are defects elsewhere (a configuration or operations defect), just not in the code.</a:t>
            </a:r>
          </a:p>
          <a:p>
            <a:r>
              <a:t>Rare but real: a cosmic ray flips a bit in memory; relevant in space and avionics.</a:t>
            </a:r>
          </a:p>
          <a:p>
            <a:r>
              <a:t>Unsupported browsers depend on the supported-platform requirement.</a:t>
            </a:r>
          </a:p>
          <a:p>
            <a:r>
              <a:t>Next slide: what to check before you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question takes seconds; together they prevent most false alarms.</a:t>
            </a:r>
          </a:p>
          <a:p>
            <a:r>
              <a:t>If the setup is shared, tell Vikram (DevOps) about environment problems rather than filing product bugs.</a:t>
            </a:r>
          </a:p>
          <a:p>
            <a:r>
              <a:t>A filed bug for the sandbox outage would be rejected as a false positive.</a:t>
            </a:r>
          </a:p>
          <a:p>
            <a:r>
              <a:t>When in doubt, describe it as an anomaly and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False positives waste time and erode trust in the tests.</a:t>
            </a:r>
          </a:p>
          <a:p>
            <a:r>
              <a:t>False negatives let defects escape to users and create false confidence.</a:t>
            </a:r>
          </a:p>
          <a:p>
            <a:r>
              <a:t>This is the opposite of the everyday intuition that 'positive' is good.</a:t>
            </a:r>
          </a:p>
          <a:p>
            <a:r>
              <a:t>Positive and negative test cases (valid vs invalid input) are a separate idea, taught later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 widens the view from one bug to the system that produces bugs.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misunderstanding of the discount rule produced four defects in four places.</a:t>
            </a:r>
          </a:p>
          <a:p>
            <a:r>
              <a:t>The single '&gt;' in a shared function fails for every customer at exactly $100, through web, app and phone orders.</a:t>
            </a:r>
          </a:p>
          <a:p>
            <a:r>
              <a:t>Another example: a team reads 'inclusive date range' as exclusive: booking search, invoice night count and cancellation policy all go wrong.</a:t>
            </a:r>
          </a:p>
          <a:p>
            <a:r>
              <a:t>Search for siblings: similar code, similar validators, other copies of the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defect count is the number of tickets, 500 customers hitting one flaw looks like 500 defects.</a:t>
            </a:r>
          </a:p>
          <a:p>
            <a:r>
              <a:t>Duplicate linking is part of triage (Tuesday).</a:t>
            </a:r>
          </a:p>
          <a:p>
            <a:r>
              <a:t>Defect density and DRE are taught in the defect-lifecycle deck; never use them to rank individuals.</a:t>
            </a:r>
          </a:p>
          <a:p>
            <a:r>
              <a:t>Ask: three testers report the same crash on three browsers. How many defects?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Examples: 'the system should be fast' (requirements); one time zone assumed (design); '&gt;' for '&gt;=' (code); a column too short for real names (data).</a:t>
            </a:r>
          </a:p>
          <a:p>
            <a:r>
              <a:t>People and process: a release built from an unreviewed branch; the BA told the developer one thing and the designer another; 'every user has a phone number'.</a:t>
            </a:r>
          </a:p>
          <a:p>
            <a:r>
              <a:t>Root cause analysis techniques (5 Whys, fishbone) are Tuesday's; recap only here.</a:t>
            </a:r>
          </a:p>
          <a:p>
            <a:r>
              <a:t>Improve the system the person works in; do not blame the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Defects are injected (introduced) in some phase and detected in the same or a later phase.</a:t>
            </a:r>
          </a:p>
          <a:p>
            <a:r>
              <a:t>Requirements defects: found by reviews and questions; coding defects: peer review, static analysis, unit tests.</a:t>
            </a:r>
          </a:p>
          <a:p>
            <a:r>
              <a:t>Cost is described qualitatively: charts quoting exact multipliers vary widely.</a:t>
            </a:r>
          </a:p>
          <a:p>
            <a:r>
              <a:t>Prevention (QA-style) reduces how many are injected; detection (QC-style) catches those that get 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'defects only exist in code' (also requirements, designs, tests, data); 'calling it an error decides who is to blame' (the terms describe what happened, not who is at fault).</a:t>
            </a:r>
          </a:p>
          <a:p>
            <a:r>
              <a:t>Ask: which mistake creates the most rejected bug reports?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'A customer gets no discount at exactly $100. Name the error, the defect and the failure.'</a:t>
            </a:r>
          </a:p>
          <a:p>
            <a:r>
              <a:t>Bridge: next deck, the seven testing principles, starting with 'testing shows the presence of defects, not their absence'.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the runnable Python examples, the full origin table, the injection-detection table and the login worked example with its bug report.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10/24/2026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10/24/2026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Defect vs Error vs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A cause-and-effect chain: the human mistake, the flaw it leaves, and the visible misbehavior.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2648" y="3520440"/>
            <a:ext cx="895418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Error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586611" y="3630168"/>
            <a:ext cx="235636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900793" y="3520440"/>
            <a:ext cx="895418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Defect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874757" y="3630168"/>
            <a:ext cx="235636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188938" y="3520440"/>
            <a:ext cx="98574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Failure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253229" y="3630168"/>
            <a:ext cx="235636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67411" y="3520440"/>
            <a:ext cx="1527709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Related terms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173666" y="3630168"/>
            <a:ext cx="235636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87848" y="3520440"/>
            <a:ext cx="161803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Hidden defects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184429" y="3630168"/>
            <a:ext cx="235636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98611" y="3520440"/>
            <a:ext cx="1437381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False alarms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014538" y="3630168"/>
            <a:ext cx="235636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328720" y="3520440"/>
            <a:ext cx="1256727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Root cause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WEEK 3 · WEDNESDAY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Define error, defect and failure, and explain the chain between them.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Place related terms (fault, bug, incident, anomaly, issue) around the chain.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Explain why defects may never fail and failures may have no code defect.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Distinguish false positives from false negatives.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Trace one error to many defects and failures, and back to its root cause.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Chain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human mistake, the flaw it leaves, the visible misbehaviour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The Wrong Road 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3383279" cy="10972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A worker misreads the map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41648" y="233172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07407" y="1783080"/>
            <a:ext cx="3383279" cy="10972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The sign points left; the airport is right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36408" y="2331720"/>
            <a:ext cx="32003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02167" y="1783080"/>
            <a:ext cx="3383279" cy="109728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A driver follows it and gets lost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017520"/>
            <a:ext cx="3383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C55A11"/>
                </a:solidFill>
                <a:latin typeface="Arial"/>
              </a:rPr>
              <a:t>ERROR: in a person's 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7" y="3017520"/>
            <a:ext cx="3383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C00000"/>
                </a:solidFill>
                <a:latin typeface="Arial"/>
              </a:rPr>
              <a:t>DEFECT: in the work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2167" y="3017520"/>
            <a:ext cx="3383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C00000"/>
                </a:solidFill>
                <a:latin typeface="Arial"/>
              </a:rPr>
              <a:t>FAILURE: visible when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749039"/>
            <a:ext cx="109728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The sign is wrong all day, but only fails when someone heads for the airport.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The driver, like a tester, sees being lost, not the sign or the misread map.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Several misread junctions: one error, many defects. One sign misleads hundreds: one defect, many failures.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4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Error, Defect,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2651760" cy="109728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Error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human mistake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04488" y="1828800"/>
            <a:ext cx="2651760" cy="10972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Defect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flaw in a work 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96328" y="1828800"/>
            <a:ext cx="2651760" cy="109728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Failure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observable wrong behaviour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64408" y="2377440"/>
            <a:ext cx="640080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127248" y="1508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produces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56248" y="2377440"/>
            <a:ext cx="640080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8192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when executed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04488" y="3657600"/>
            <a:ext cx="2651760" cy="8229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Hidden defect: no failure yet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30368" y="2926080"/>
            <a:ext cx="0" cy="731520"/>
          </a:xfrm>
          <a:prstGeom prst="line">
            <a:avLst/>
          </a:prstGeom>
          <a:ln w="25400">
            <a:solidFill>
              <a:srgbClr val="8080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21808" y="31089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trigger never occurs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96328" y="3657600"/>
            <a:ext cx="2651760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Bug report by the tester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22208" y="2926080"/>
            <a:ext cx="0" cy="73152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96328" y="4937760"/>
            <a:ext cx="2651760" cy="822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Developer investigates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22208" y="4480560"/>
            <a:ext cx="0" cy="45720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099048" y="5349240"/>
            <a:ext cx="109728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099048" y="4480560"/>
            <a:ext cx="0" cy="86868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367528" y="5440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4E79"/>
                </a:solidFill>
                <a:latin typeface="Arial"/>
              </a:rPr>
              <a:t>finds the defect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4937760"/>
            <a:ext cx="2651760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Process change (prevention)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938528" y="2926080"/>
            <a:ext cx="0" cy="2011680"/>
          </a:xfrm>
          <a:prstGeom prst="line">
            <a:avLst/>
          </a:prstGeom>
          <a:ln w="25400">
            <a:solidFill>
              <a:srgbClr val="2E7D3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029968" y="3749039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E7D32"/>
                </a:solidFill>
                <a:latin typeface="Arial"/>
              </a:rPr>
              <a:t>ask why it happened (QA)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13848" y="1828800"/>
            <a:ext cx="1371600" cy="3931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5288" y="1920240"/>
            <a:ext cx="11887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Arrows mean </a:t>
            </a:r>
            <a:r>
              <a:rPr sz="1400" b="1" i="0">
                <a:solidFill>
                  <a:srgbClr val="5A5A5A"/>
                </a:solidFill>
                <a:latin typeface="Arial"/>
              </a:rPr>
              <a:t>can lead to</a:t>
            </a:r>
            <a:r>
              <a:rPr sz="1400" b="0" i="0">
                <a:solidFill>
                  <a:srgbClr val="5A5A5A"/>
                </a:solidFill>
                <a:latin typeface="Arial"/>
              </a:rPr>
              <a:t>, not always leads to.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5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3840480"/>
                <a:gridCol w="2560320"/>
                <a:gridCol w="219456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Lives in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Who sees it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Error (mistake)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A human action that produces an incorrect result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A person's head or actions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Usually nobody, until analysis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Defect (fault, bug)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A flaw that makes a work product miss its requirement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Document, code, data, configuration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Reviewers, tools, developers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Failure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The system does not do what is required, observably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The running system's behaviour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Testers, users, monitoring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457200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8172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Misunderstanding, forgetting, mistyping and wrong assumptions are all errors; '&gt;' instead of '&gt;=' is a defect.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6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Words Around the Chain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Synonyms, neutral words and who handles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7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Vocabulary Around the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Anomaly / incident: 'something looks off' (neutral, before we know the cause)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697480"/>
            <a:ext cx="3383279" cy="86868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Error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41648" y="313182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407407" y="2697480"/>
            <a:ext cx="3383279" cy="8686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Defect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36408" y="3131820"/>
            <a:ext cx="32003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02167" y="2697480"/>
            <a:ext cx="3383279" cy="86868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657600"/>
            <a:ext cx="3383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= mistake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7" y="3657600"/>
            <a:ext cx="3383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= fault = bug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7" y="3657600"/>
            <a:ext cx="3383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formally distinct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34340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Issue: a broad everyday word; in Jira any work item (story, task, bug, epic)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303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Formal writing: 'defect' is the ISTQB term; 'bug' is everyday slang for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8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Say 'Anomaly' Until You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3383279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Anomaly observed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41648" y="230886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07407" y="1783080"/>
            <a:ext cx="3383279" cy="10515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Check test, data, environment and requirement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36408" y="2308860"/>
            <a:ext cx="32003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02167" y="1783080"/>
            <a:ext cx="3383279" cy="105156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Decide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291840"/>
            <a:ext cx="3505200" cy="14630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00000"/>
                </a:solidFill>
                <a:latin typeface="Arial"/>
              </a:rPr>
              <a:t>Defect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Report the failure; developers find the defect.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6448" y="3291840"/>
            <a:ext cx="3505200" cy="14630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False alarm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Fix your test, data or environment.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0248" y="3291840"/>
            <a:ext cx="3505200" cy="14630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5B2C83"/>
                </a:solidFill>
                <a:latin typeface="Arial"/>
              </a:rPr>
              <a:t>Misunderstanding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Clarify the requirement with the 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074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You observed something; the investigation decides what it 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9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Handles Which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Failure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50208" y="2217420"/>
            <a:ext cx="45720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53128" y="178308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Defect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90688" y="2217420"/>
            <a:ext cx="45720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93608" y="178308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2880360"/>
            <a:ext cx="3291840" cy="14630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tester observes and reports it: steps, expected, actual, environment.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2880360"/>
            <a:ext cx="3291840" cy="14630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developer diagnoses and fixes it: the exact line, setting or sentence.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93608" y="2880360"/>
            <a:ext cx="3291840" cy="14630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team learns from it: root cause, process change.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6634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bug report describes the failure; it does not claim 'the developer used .lower()'.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Recap: lifecycle states and severity vs priority were Tuesday's defect-lifecycle deck.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10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Character, One Failure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discount rule followed through the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11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Requirement and the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Requirement: "Orders of $100 or more receive a 10% discount."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651760"/>
            <a:ext cx="10972800" cy="17373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788920"/>
            <a:ext cx="106070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Courier New"/>
              </a:rPr>
              <a:t>def apply_discount(order_total):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Courier New"/>
              </a:rPr>
              <a:t>    if order_total &gt; 100:          # defect: should be &gt;=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Courier New"/>
              </a:rPr>
              <a:t>        return round(order_total * 0.90, 2)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Courier New"/>
              </a:rPr>
              <a:t>    return order_total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4663440"/>
            <a:ext cx="5303520" cy="11887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The error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Working quickly, the developer read 'or more' as 'over $100'.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4663440"/>
            <a:ext cx="5303520" cy="11887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The defect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operator '&gt;' in the code: an off-by-one flaw at exactly 100.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12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It With Five Totals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3474720"/>
                <a:gridCol w="2377440"/>
                <a:gridCol w="27432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Order total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Expected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50 (no discount)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Correct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99.99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99.99 (no discount)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99.99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Correct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C00000"/>
                          </a:solidFill>
                          <a:latin typeface="Arial"/>
                        </a:rPr>
                        <a:t>90.00 (10% off)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C0000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C00000"/>
                          </a:solidFill>
                          <a:latin typeface="Arial"/>
                        </a:rPr>
                        <a:t>FAILURE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100.01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90.01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90.01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Correct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225.00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225.00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Correct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257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330066"/>
                </a:solidFill>
                <a:latin typeface="Arial"/>
              </a:rPr>
              <a:t>The defect ran every time but failed for one input only: the boundary.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13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Error to Incident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2434590" cy="82296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Error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92958" y="219456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2697480"/>
            <a:ext cx="243459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Reads '$100 or more' as 'over $100'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8718" y="1783080"/>
            <a:ext cx="2434590" cy="8229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Defect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39028" y="219456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58718" y="2697480"/>
            <a:ext cx="243459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Code has 'order_total &gt; 100'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4788" y="1783080"/>
            <a:ext cx="2434590" cy="82296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Failure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85098" y="219456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04788" y="2697480"/>
            <a:ext cx="243459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customer with exactly $100 gets no discount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50858" y="1783080"/>
            <a:ext cx="2434590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Incident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0858" y="2697480"/>
            <a:ext cx="243459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Customer emails support; a ticket is created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4023360"/>
            <a:ext cx="10972800" cy="141732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133088"/>
            <a:ext cx="105156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ROOT CAUSE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Root cause, one step earlier: the ticket said 'over $100' while the requirements document said 'or more'.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team adds a check of tickets against requirements after any change: a process fix, not blame.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14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Defects and False Alarms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Both directions happen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15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Defects That Never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2571750" cy="17373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Dead code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line after 'return' that can never run.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2998" y="1645920"/>
            <a:ext cx="2571750" cy="17373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Rare paths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Fails only on 29 February, or when the disk is full.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3348" y="1645920"/>
            <a:ext cx="2571750" cy="17373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Unused features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Behind a switch that is off, or never called.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13698" y="1645920"/>
            <a:ext cx="2571750" cy="17373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Masked defects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Two flaws cancel out; fix one and the other appears.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657600"/>
            <a:ext cx="10972800" cy="9601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79476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elif region == "MARS":          # nobody can select this region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Courier New"/>
              </a:rPr>
              <a:t>    return amount * 0.80 + "5"   # defect: number +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484632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Still a defect: if a release adds MARS to the list, the failure suddenly appears.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defect that cannot currently fail is usually low priority.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16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Failures Without Code Defects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8848" y="310896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Failure observed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69164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Environment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Test server in another time zone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8848" y="169164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Test data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No record for the test 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5048" y="169164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Misuse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10,000 characters in a 50-character field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52628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Unsupported browser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ten-year-old 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452628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Third-party outage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Payment provider is 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85048" y="452628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Operations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Expired certificate, full disk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12848" y="2880360"/>
            <a:ext cx="3886200" cy="22860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212848" y="4023360"/>
            <a:ext cx="3886200" cy="50292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9048" y="2880360"/>
            <a:ext cx="0" cy="22860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099048" y="4023360"/>
            <a:ext cx="0" cy="50292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099048" y="2880360"/>
            <a:ext cx="3886200" cy="22860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6099048" y="4023360"/>
            <a:ext cx="3886200" cy="50292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17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Before You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938528" cy="10058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Environment correct?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96896" y="2331720"/>
            <a:ext cx="22860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71216" y="1828800"/>
            <a:ext cx="1938528" cy="10058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Data correct?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55464" y="2331720"/>
            <a:ext cx="22860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29784" y="1828800"/>
            <a:ext cx="1938528" cy="10058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Used as intended?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14032" y="2331720"/>
            <a:ext cx="22859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88352" y="1828800"/>
            <a:ext cx="1938528" cy="10058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Platform supported?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72600" y="2331720"/>
            <a:ext cx="22859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46920" y="1828800"/>
            <a:ext cx="1938528" cy="10058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Report the failure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3291840"/>
            <a:ext cx="10972800" cy="137160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401568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checkout test fails because the payment provider's sandbox is offline for maintenance.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Nothing in the code is wrong: check, retry later, and do not file a code defect.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4937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A report caused by your own test setup wastes time and slowly damages your credibility.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18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False Positives and False Negatives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360" y="1691640"/>
            <a:ext cx="4274820" cy="4114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A defect exists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46620" y="1691640"/>
            <a:ext cx="4274820" cy="4114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No defect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2103120" cy="150876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Test reports a failure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240280"/>
            <a:ext cx="4274820" cy="15087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Arial"/>
              </a:rPr>
              <a:t>True positive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test found a real problem.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46620" y="2240280"/>
            <a:ext cx="4274820" cy="15087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55A11"/>
                </a:solidFill>
                <a:latin typeface="Arial"/>
              </a:rPr>
              <a:t>False positive (false alarm)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Environment down, or wrong expected result in the 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40480"/>
            <a:ext cx="2103120" cy="150876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Test passes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3840480"/>
            <a:ext cx="4274820" cy="15087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00000"/>
                </a:solidFill>
                <a:latin typeface="Arial"/>
              </a:rPr>
              <a:t>False negative (missed defect)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Only 250 was tried; the boundary at 100 escaped.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6620" y="3840480"/>
            <a:ext cx="4274820" cy="15087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Arial"/>
              </a:rPr>
              <a:t>True negative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Nothing to find, nothing found.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532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In testing, 'positive' means the test flagged a problem. Not the same as a positive test case (next-but-one deck).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19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Error, Many Defects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Branching chains, origins and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20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Error, Many Defects, Many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3108960"/>
            <a:ext cx="2377440" cy="109728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Error: rule read as 'over $100'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169164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Defect: Cart page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990088" y="2075688"/>
            <a:ext cx="941832" cy="1581912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931920" y="274320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Defect: Order email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990088" y="3127248"/>
            <a:ext cx="941832" cy="530352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931920" y="379476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Defect: Invoice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0088" y="3657600"/>
            <a:ext cx="941832" cy="521208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931920" y="484632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Defect: Mobile app logic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90088" y="3657600"/>
            <a:ext cx="941832" cy="1572768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863840" y="219456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Failures: Website customers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09360" y="2075688"/>
            <a:ext cx="1554480" cy="50292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863840" y="324612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Failures: App customers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09360" y="2075688"/>
            <a:ext cx="1554480" cy="155448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63840" y="4297679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Failures: Phone orders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09360" y="2075688"/>
            <a:ext cx="1554480" cy="2606039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863840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Arial"/>
              </a:rPr>
              <a:t>one shared function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Fixing a defect? Ask: where else did we make the same assumption?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21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 Them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3383279" cy="100584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500 failure reports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41648" y="233172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07407" y="1828800"/>
            <a:ext cx="3383279" cy="10058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1 defect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36408" y="2331720"/>
            <a:ext cx="32003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02167" y="1828800"/>
            <a:ext cx="3383279" cy="100584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2004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Do not count failures as defects: duplicates distort the numbers.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Link duplicate reports to one defect and close them (Tuesday's workflow).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One report can also reveal several defects: split them.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Defect metrics (density, DRE) count defects, not reports: Tuesday's defect deck.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22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Errors Come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In the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574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5848" y="20574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8072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28072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557016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Tooling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1600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In people and 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20574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Process gaps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5128" y="20574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Communication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28072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Assumptions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5128" y="28072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Time pressure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3557016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Skills gaps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57200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681728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ROOT CAUSE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Root cause: the earliest fundamental reason behind the error.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Fix the defect and the cause behind it, or the same error returns somewhere else.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23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Injected Here, Found There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377440"/>
            <a:ext cx="1600200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Requirements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58568" y="276606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87168" y="2377440"/>
            <a:ext cx="1600200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Design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766060"/>
            <a:ext cx="182881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61688" y="2377440"/>
            <a:ext cx="1600200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Coding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07607" y="2766060"/>
            <a:ext cx="182881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36207" y="2377440"/>
            <a:ext cx="160020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System test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82128" y="276606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10727" y="2377440"/>
            <a:ext cx="160020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Acceptance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56648" y="276606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85248" y="2377440"/>
            <a:ext cx="1600200" cy="7772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Production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412748" y="1920240"/>
            <a:ext cx="0" cy="4572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12748" y="1920240"/>
            <a:ext cx="9372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785348" y="1920240"/>
            <a:ext cx="0" cy="45720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12748" y="1554480"/>
            <a:ext cx="9372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Arial"/>
              </a:rPr>
              <a:t>Requirement defect found in production: costly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12748" y="3154680"/>
            <a:ext cx="0" cy="36576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12748" y="3520440"/>
            <a:ext cx="548640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07107" y="33375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Arial"/>
              </a:rPr>
              <a:t>found in a requirement review: contained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411480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Phase containment: find each defect in the phase where it was injected.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The longer a defect lives, the more work is built on top of it.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Recap: shift-left and the cost of late defects were Monday's SDLC deck.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24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85216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Using defect and failure as the same word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Failure is observed; the defect causes it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'Code has a defect, so it will fail'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Only when executed under the trigger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'Every failure is a code defect'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Check environment, data, usage, platform first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Naming the cause in the bug report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Describe the failure; mark suspicions as such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Counting reports as defects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Link duplicates; count defects separately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25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Error → defect → failure: a mistake leaves a flaw that fails when triggered.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Mistake = error; fault = bug = defect; failure is formally distinct.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Some defects never fail; some failures have no code defect.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False positives are false alarms; false negatives are missed defects.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One error can create many defects, and one defect many failures.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Testers report failures, developers fix defects, teams learn from errors.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26 / 27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Glossary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https://glossary.istqb.org/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Guru99: Difference Between Bug, Defect, Error, Fault and Failure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https://www.guru99.com/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Atlassian: Bug tracking guides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https://www.atlassian.com/software/jira/guides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6875</Words>
  <Application>Microsoft Office PowerPoint</Application>
  <PresentationFormat>Widescreen</PresentationFormat>
  <Paragraphs>786</Paragraphs>
  <Slides>80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4" baseType="lpstr">
      <vt:lpstr>Arial</vt:lpstr>
      <vt:lpstr>Courier New</vt:lpstr>
      <vt:lpstr>Wingdings</vt:lpstr>
      <vt:lpstr>Learners Point</vt:lpstr>
      <vt:lpstr>Defect vs Error vs Failure</vt:lpstr>
      <vt:lpstr>Learning Objectives (1 of 2)</vt:lpstr>
      <vt:lpstr>Learning Objectives (2 of 2)</vt:lpstr>
      <vt:lpstr>Why This Matters for a Quality Engineer</vt:lpstr>
      <vt:lpstr>The Core Chain</vt:lpstr>
      <vt:lpstr>Analogy: The Wrong Road Sign</vt:lpstr>
      <vt:lpstr>Road Sign: What to Notice</vt:lpstr>
      <vt:lpstr>The Core Chain: Definitions</vt:lpstr>
      <vt:lpstr>The Chain Visualized</vt:lpstr>
      <vt:lpstr>Three Details in the Chain</vt:lpstr>
      <vt:lpstr>Related Terms</vt:lpstr>
      <vt:lpstr>Related Terms (1 of 2)</vt:lpstr>
      <vt:lpstr>Related Terms (2 of 2)</vt:lpstr>
      <vt:lpstr>How to Remember the Terms</vt:lpstr>
      <vt:lpstr>Why "Anomaly" Is Useful</vt:lpstr>
      <vt:lpstr>Extended Story: A Discount Code</vt:lpstr>
      <vt:lpstr>The Requirement and the Error</vt:lpstr>
      <vt:lpstr>The Defect: apply_discount</vt:lpstr>
      <vt:lpstr>Does a Failure Happen?</vt:lpstr>
      <vt:lpstr>Checking Each Row Against the Requirement</vt:lpstr>
      <vt:lpstr>What the Table Tells Us</vt:lpstr>
      <vt:lpstr>The Customer's View and the Fix</vt:lpstr>
      <vt:lpstr>Recap of the Whole Chain</vt:lpstr>
      <vt:lpstr>Defects Without Failures, Failures Without Defects</vt:lpstr>
      <vt:lpstr>Defects That Never Cause Failures (1 of 2)</vt:lpstr>
      <vt:lpstr>Dead Code Example</vt:lpstr>
      <vt:lpstr>Defects That Never Cause Failures (2 of 2)</vt:lpstr>
      <vt:lpstr>Example A: A Defect That Stays Hidden</vt:lpstr>
      <vt:lpstr>Example A: The Point</vt:lpstr>
      <vt:lpstr>Failures Not Caused by Code Defects (1 of 2)</vt:lpstr>
      <vt:lpstr>Failures Not Caused by Code Defects (2 of 2)</vt:lpstr>
      <vt:lpstr>Check Before You Report</vt:lpstr>
      <vt:lpstr>False Positives and False Negatives</vt:lpstr>
      <vt:lpstr>Remembering the Two Terms</vt:lpstr>
      <vt:lpstr>One Error, Many Defects</vt:lpstr>
      <vt:lpstr>One Error, Many Defects</vt:lpstr>
      <vt:lpstr>One Defect, Many Failures</vt:lpstr>
      <vt:lpstr>Two Practical Consequences</vt:lpstr>
      <vt:lpstr>Many Defects: Password Length Rule</vt:lpstr>
      <vt:lpstr>Example C: Inclusive Date Range</vt:lpstr>
      <vt:lpstr>Where Errors Come From</vt:lpstr>
      <vt:lpstr>Root Cause</vt:lpstr>
      <vt:lpstr>Origins of Errors (1 of 2)</vt:lpstr>
      <vt:lpstr>Origins of Errors (2 of 2)</vt:lpstr>
      <vt:lpstr>The 5 Whys Technique</vt:lpstr>
      <vt:lpstr>What 5 Whys Revealed</vt:lpstr>
      <vt:lpstr>Injection and Detection Across the SDLC</vt:lpstr>
      <vt:lpstr>Defect Injection and Detection</vt:lpstr>
      <vt:lpstr>Injection, Detection and Cost by Phase (1 of 2)</vt:lpstr>
      <vt:lpstr>Injection, Detection and Cost by Phase (2 of 2)</vt:lpstr>
      <vt:lpstr>Cost Is Described Qualitatively</vt:lpstr>
      <vt:lpstr>Shift-Left and Phase Containment</vt:lpstr>
      <vt:lpstr>Bug Report and Lifecycle</vt:lpstr>
      <vt:lpstr>The Bug Report Describes the Failure</vt:lpstr>
      <vt:lpstr>Lifecycle States in Terms of the Chain (1 of 2)</vt:lpstr>
      <vt:lpstr>Lifecycle States in Terms of the Chain (2 of 2)</vt:lpstr>
      <vt:lpstr>One-Line Summary</vt:lpstr>
      <vt:lpstr>Severity vs Priority: Recap</vt:lpstr>
      <vt:lpstr>Severity and Priority Examples</vt:lpstr>
      <vt:lpstr>Metrics and Prevention</vt:lpstr>
      <vt:lpstr>Defect Density and DRE</vt:lpstr>
      <vt:lpstr>Worked Example</vt:lpstr>
      <vt:lpstr>A Quick Calculator</vt:lpstr>
      <vt:lpstr>Cautions on the Metrics</vt:lpstr>
      <vt:lpstr>Prevention vs Detection</vt:lpstr>
      <vt:lpstr>Prevention and Detection Together</vt:lpstr>
      <vt:lpstr>Project 1: The Login Feature</vt:lpstr>
      <vt:lpstr>Requirement and Error</vt:lpstr>
      <vt:lpstr>The Defect: Case-Insensitive Login</vt:lpstr>
      <vt:lpstr>The Failure Needs the Right Test</vt:lpstr>
      <vt:lpstr>Sample Bug Report (Excerpt)</vt:lpstr>
      <vt:lpstr>What the Report Contains and Omits</vt:lpstr>
      <vt:lpstr>What Happens Next</vt:lpstr>
      <vt:lpstr>Common Misconceptions</vt:lpstr>
      <vt:lpstr>Common Misconceptions (1 of 3)</vt:lpstr>
      <vt:lpstr>Common Misconceptions (2 of 3)</vt:lpstr>
      <vt:lpstr>Common Misconceptions (3 of 3)</vt:lpstr>
      <vt:lpstr>Summary (1 of 2)</vt:lpstr>
      <vt:lpstr>Summary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4</cp:revision>
  <dcterms:modified xsi:type="dcterms:W3CDTF">2026-10-24T11:36:32Z</dcterms:modified>
</cp:coreProperties>
</file>