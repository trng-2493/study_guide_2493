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4" r:id="rId22"/>
    <p:sldId id="375" r:id="rId23"/>
    <p:sldId id="376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5" r:id="rId33"/>
    <p:sldId id="359" r:id="rId103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notesMaster" Target="notesMasters/notesMaster1.xml"/><Relationship Id="rId103" Type="http://schemas.openxmlformats.org/officeDocument/2006/relationships/slide" Target="slides/slide102.xml"/><Relationship Id="rId104" Type="http://schemas.openxmlformats.org/officeDocument/2006/relationships/presProps" Target="presProps.xml"/><Relationship Id="rId105" Type="http://schemas.openxmlformats.org/officeDocument/2006/relationships/viewProps" Target="viewProps.xml"/><Relationship Id="rId106" Type="http://schemas.openxmlformats.org/officeDocument/2006/relationships/theme" Target="theme/theme1.xml"/><Relationship Id="rId10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Sixth deck of the day and the bridge to the exercise: learners write positive and negative cases for registration and login.</a:t>
            </a:r>
          </a:p>
          <a:p>
            <a:r>
              <a:t>Test case anatomy was Tuesday's test-planning deck; defect reports were Tuesday's defect deck; here they are recaps.</a:t>
            </a:r>
          </a:p>
          <a:p>
            <a:r>
              <a:t>One analogy runs through the deck: a door and its key.</a:t>
            </a:r>
          </a:p>
          <a:p>
            <a:r>
              <a:t>The full worked suites (41 registration and 31 login cases) and the Python and pytest demonstrations are in the written lesson; pytest is taught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3 to 5 are exactly what the afternoon exercise asks for.</a:t>
            </a:r>
          </a:p>
          <a:p>
            <a:r>
              <a:t>Ask: 'How many ways are there to log in correctly? How many to get it wrong?' Keep both numbers on the board.</a:t>
            </a:r>
          </a:p>
          <a:p>
            <a:r>
              <a:t>Thursday's techniques (EP, BVA, error guessing) will make today's choices systematic.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fixes the vocabulary; the most common confusion is between test type and test result.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 input follows every rule the product sets for it; invalid input breaks at least one.</a:t>
            </a:r>
          </a:p>
          <a:p>
            <a:r>
              <a:t>Validation here means the checks a product performs on input (not the V&amp;V meaning).</a:t>
            </a:r>
          </a:p>
          <a:p>
            <a:r>
              <a:t>Precondition, expected result and actual result are as in Tuesday's test case anatomy.</a:t>
            </a:r>
          </a:p>
          <a:p>
            <a:r>
              <a:t>Ask for one positive and one negative example for a shopping 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Notice how many more negative scenarios there are than positive ones: one right way, many wrong ways.</a:t>
            </a:r>
          </a:p>
          <a:p>
            <a:r>
              <a:t>That is why skilled testers spend a large share of their time on negative situations.</a:t>
            </a:r>
          </a:p>
          <a:p>
            <a:r>
              <a:t>Kick = robustness under stress; turning twice = unusual usage; storm =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test does not pass because the system accepted bad input, nor merely because nothing exploded.</a:t>
            </a:r>
          </a:p>
          <a:p>
            <a:r>
              <a:t>It passes when the system rejects or handles the situation in a controlled, helpful and safe way.</a:t>
            </a:r>
          </a:p>
          <a:p>
            <a:r>
              <a:t>'Login succeeded' looks positive, but on a wrong-password test it is a failure.</a:t>
            </a:r>
          </a:p>
          <a:p>
            <a:r>
              <a:t>Different again: false positives and negatives from the previous deck are about whether a test result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from demos/3-wednesday/diagrams/positive-negative-testing-flow.mermaid; the demo uses the same picture.</a:t>
            </a:r>
          </a:p>
          <a:p>
            <a:r>
              <a:t>Example positive: an 8-character valid password. Example negative: a duplicate email in different letter case.</a:t>
            </a:r>
          </a:p>
          <a:p>
            <a:r>
              <a:t>'No problem seen' links to Principle 1: presence, not absence.</a:t>
            </a:r>
          </a:p>
          <a:p>
            <a:r>
              <a:t>The classification step ties together the whole day's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what each kind of test protects, and where to look for them.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testing builds robustness: the ability to keep working under unexpected or hostile conditions.</a:t>
            </a:r>
          </a:p>
          <a:p>
            <a:r>
              <a:t>Real users are unpredictable and the internet is not always friendly.</a:t>
            </a:r>
          </a:p>
          <a:p>
            <a:r>
              <a:t>Good message: 'Enter a valid email address, for example name@example.com.' Bad: 'Error 500', a stack trace, or nothing.</a:t>
            </a:r>
          </a:p>
          <a:p>
            <a:r>
              <a:t>A lost connection that leaves a half-saved record is a data-integrity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Happy path: the most common, simplest route that ends successfully (main success scenario).</a:t>
            </a:r>
          </a:p>
          <a:p>
            <a:r>
              <a:t>Alternate paths: other valid routes to success. Exception paths: routes where something goes wrong.</a:t>
            </a:r>
          </a:p>
          <a:p>
            <a:r>
              <a:t>Picture the happy path as one line through the middle, with many tests branching off both sides.</a:t>
            </a:r>
          </a:p>
          <a:p>
            <a:r>
              <a:t>Use-case testing on Thursday formalises these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beginner mistake: treating an alternate path as negative because it feels unusual.</a:t>
            </a:r>
          </a:p>
          <a:p>
            <a:r>
              <a:t>If the input and conditions are valid and the expected outcome is success, it is positive, however unusual.</a:t>
            </a:r>
          </a:p>
          <a:p>
            <a:r>
              <a:t>An apostrophe in a surname is valid in a name field and breaks poorly built systems: a classic alternate path.</a:t>
            </a:r>
          </a:p>
          <a:p>
            <a:r>
              <a:t>Where the requirement is silent, ask Rohan (PO) rather than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sixteen categories in two groups; learners keep the menu for the exercise.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values near limits come from boundary value analysis on Thursday.</a:t>
            </a:r>
          </a:p>
          <a:p>
            <a:r>
              <a:t>Whitespace looks empty, but a careless system may treat it as a real value.</a:t>
            </a:r>
          </a:p>
          <a:p>
            <a:r>
              <a:t>Some special characters are valid in some fields and invalid in others: read the requirement.</a:t>
            </a:r>
          </a:p>
          <a:p>
            <a:r>
              <a:t>Code-like text gets its own slide: what a tester may and may not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one empty field at a time: with three empty and one message shown, you cannot tell whether the other two are validated.</a:t>
            </a:r>
          </a:p>
          <a:p>
            <a:r>
              <a:t>Authentication proves who you are; authorisation is what you may do.</a:t>
            </a:r>
          </a:p>
          <a:p>
            <a:r>
              <a:t>Network loss: expect a clear message, no half-saved data and a safe retry.</a:t>
            </a:r>
          </a:p>
          <a:p>
            <a:r>
              <a:t>Sessions: logged out in another tab, then submitting in the first, is the same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families are SQL injection (database instructions through an input) and cross-site scripting (page code that runs in another user's browser); no technique details are needed this week.</a:t>
            </a:r>
          </a:p>
          <a:p>
            <a:r>
              <a:t>Example: a username like x';DROP-- should be rejected by the character rule with the normal message, nothing more.</a:t>
            </a:r>
          </a:p>
          <a:p>
            <a:r>
              <a:t>This links to ethics and authorisation in the testing mindset deck.</a:t>
            </a:r>
          </a:p>
          <a:p>
            <a:r>
              <a:t>Security testing is a specialist area; today's goal is safe recognition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invalid values together cannot be traced: which rule rejected the form, and which were never checked?</a:t>
            </a:r>
          </a:p>
          <a:p>
            <a:r>
              <a:t>The baseline in the written lesson: a valid example email, a username with an underscore, password Passw0rd!, terms ticked.</a:t>
            </a:r>
          </a:p>
          <a:p>
            <a:r>
              <a:t>This habit makes failures easy to diagnose and reports easy to write.</a:t>
            </a:r>
          </a:p>
          <a:p>
            <a:r>
              <a:t>Exception: deliberate 'all fields blank' tests check the overall error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'it did not work' is never an expected result.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Clear: 'Password must be at least 8 characters.' Weak: 'Invalid input'. Unacceptable: 'NullReferenceException at line 214'.</a:t>
            </a:r>
          </a:p>
          <a:p>
            <a:r>
              <a:t>Passwords are commonly cleared after a failure; other valid entries should remain.</a:t>
            </a:r>
          </a:p>
          <a:p>
            <a:r>
              <a:t>Logging may need developer support or an admin screen to verify.</a:t>
            </a:r>
          </a:p>
          <a:p>
            <a:r>
              <a:t>Not every check applies to every test; consider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test: register with an existing email.</a:t>
            </a:r>
          </a:p>
          <a:p>
            <a:r>
              <a:t>The strong version can be checked objectively by anyone on the team.</a:t>
            </a:r>
          </a:p>
          <a:p>
            <a:r>
              <a:t>Aim: an expected result two different testers would judge the same way.</a:t>
            </a:r>
          </a:p>
          <a:p>
            <a:r>
              <a:t>Include the exact message text when the requirement gives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1 and 2 must be identical: that is a classic negative test pair (wrong password vs unknown user).</a:t>
            </a:r>
          </a:p>
          <a:p>
            <a:r>
              <a:t>Validation messages (row 4) should be specific; authentication messages (rows 1 and 2) should be generic.</a:t>
            </a:r>
          </a:p>
          <a:p>
            <a:r>
              <a:t>Divya (UX) and Ananya often agree message wording together with Rohan.</a:t>
            </a:r>
          </a:p>
          <a:p>
            <a:r>
              <a:t>Ask: why is a specific message good for 'too short' but bad for 'wrong password'?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 is the method learners use in the exercise.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Registration inputs: email, username, password, confirm password, terms checkbox, Register button.</a:t>
            </a:r>
          </a:p>
          <a:p>
            <a:r>
              <a:t>States: logged in or out, account exists or not, locked or active, session valid or expired, network up or down.</a:t>
            </a:r>
          </a:p>
          <a:p>
            <a:r>
              <a:t>Step 4 is the core habit: the positive proves the rule allows what it should; negatives prove it blocks what it should.</a:t>
            </a:r>
          </a:p>
          <a:p>
            <a:r>
              <a:t>Traceability and the RTM were Tuesday's requirements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 gave roughly ten tests, each with a clear reason.</a:t>
            </a:r>
          </a:p>
          <a:p>
            <a:r>
              <a:t>Positives: 5 (typical), 1 and 10 (valid edges). Negatives: 0, 11, -3 (outside), 2.5, abc, empty, spaces.</a:t>
            </a:r>
          </a:p>
          <a:p>
            <a:r>
              <a:t>Edges are where defects hide: remember the discount boundary at exactly 100.</a:t>
            </a:r>
          </a:p>
          <a:p>
            <a:r>
              <a:t>Ask the class to do the same for 'username 4 to 20 characters'.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case fields (ID, title, requirement, priority, type, preconditions, data, steps, expected, actual, status) are Tuesday's anatomy.</a:t>
            </a:r>
          </a:p>
          <a:p>
            <a:r>
              <a:t>Some teams prefer one running number per feature; either works if everyone follows the same convention.</a:t>
            </a:r>
          </a:p>
          <a:p>
            <a:r>
              <a:t>Money, personal data and security features deserve many more negative tests than an 'About us' page.</a:t>
            </a:r>
          </a:p>
          <a:p>
            <a:r>
              <a:t>Sanity check: for each rule, at least one positive and at least one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case changes one thing, has exact data and a verifiable expected result.</a:t>
            </a:r>
          </a:p>
          <a:p>
            <a:r>
              <a:t>REG-06 (password rules) has positives for minimum and maximum length and a negative for each sub-rule.</a:t>
            </a:r>
          </a:p>
          <a:p>
            <a:r>
              <a:t>Login cases mix states with inputs: locked after 5 failures, session expiry, Back after logout.</a:t>
            </a:r>
          </a:p>
          <a:p>
            <a:r>
              <a:t>When a negative test fails, report it with Tuesday's template: e.g. 'Registration accepts username containing #'.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unrealistic data (keyboard mashing); treating every unusual input as negative; ignoring state and environment; guessing instead of asking; forgetting to clean up created accounts and locked users.</a:t>
            </a:r>
          </a:p>
          <a:p>
            <a:r>
              <a:t>Ask: which mistake would make a defect report hardest to reproduce?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test enters a wrong password and the user is refused. Positive or negative? Pass or fail?'</a:t>
            </a:r>
          </a:p>
          <a:p>
            <a:r>
              <a:t>Bridge: last deck of the day, manual vs automated: which of these cases should a program run?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category tables, the form checklist, both worked suites and the Python and pytest demonstrations (pytest is Week 4).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Positive and Negative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Does it work when everything is right, and does it fail safely when something is wrong?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2648" y="3520440"/>
            <a:ext cx="121920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Positive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20840" y="3630168"/>
            <a:ext cx="266978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276811" y="3520440"/>
            <a:ext cx="121920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Negative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585004" y="3630168"/>
            <a:ext cx="266978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40975" y="3520440"/>
            <a:ext cx="1014516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Paths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44484" y="3630168"/>
            <a:ext cx="266978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00455" y="3520440"/>
            <a:ext cx="142388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Categories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13331" y="3630168"/>
            <a:ext cx="266978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302" y="3520440"/>
            <a:ext cx="2037932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Expected results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96227" y="3630168"/>
            <a:ext cx="266978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52198" y="3520440"/>
            <a:ext cx="183324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Deriving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positive and negative testing and explain why both are needed.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happy, alternate and exception paths.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Apply negative-test categories to any form or feature.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Write precise expected results for negative cases.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Derive positive and negative test cases from a requirement.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Positive and Negative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questions, and what 'pass'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E7D32"/>
                </a:solidFill>
                <a:latin typeface="Arial"/>
              </a:rPr>
              <a:t>Positive testing: can it work?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Valid input, used the expected way.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Also: happy path, valid path, sunny day.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When the user does everything right, is the promised result delivered?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C55A11"/>
                </a:solidFill>
                <a:latin typeface="Arial"/>
              </a:rPr>
              <a:t>Negative testing: can it fail safely?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Invalid, unexpected or hostile input and conditions.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Also: error path, invalid path, rainy day.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Does the product stay safe, stable, and say what happened?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0292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Graceful handling: no crash, no lost data, a clear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Door and Its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108960" cy="40233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35608" y="2103120"/>
            <a:ext cx="1463040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2487168" y="3474720"/>
            <a:ext cx="274320" cy="27432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2578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737360"/>
            <a:ext cx="3017520" cy="4023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Positive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Correct key opens it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Correct key locks it 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37360"/>
            <a:ext cx="4178808" cy="40233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55A11"/>
                </a:solidFill>
                <a:latin typeface="Arial"/>
              </a:rPr>
              <a:t>Negative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Wrong key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Nearly-right key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key at all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Someone kicks it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Key turned twice quickly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storm outside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Negative Is Not the Same as Failing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79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Test passes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55180" y="1691640"/>
            <a:ext cx="4366260" cy="41148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Test fails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79" y="224028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Positive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2240280"/>
            <a:ext cx="4366260" cy="1508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Valid login opens the dashboard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feature 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5180" y="2240280"/>
            <a:ext cx="4366260" cy="15087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Valid login shows an error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defect in the main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79" y="3840480"/>
            <a:ext cx="1920240" cy="150876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Negative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3840480"/>
            <a:ext cx="4366260" cy="15087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Wrong password is refused clearly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product failed safely.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5180" y="3840480"/>
            <a:ext cx="4366260" cy="15087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Wrong password logs the user in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serious defect.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532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Positive or negative describes the input and scenario; pass or fail describes the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Input to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Pick a feature input</a:t>
            </a:r>
          </a:p>
        </p:txBody>
      </p:sp>
      <p:sp>
        <p:nvSpPr>
          <p:cNvPr id="5" name="Diamond 4"/>
          <p:cNvSpPr/>
          <p:nvPr/>
        </p:nvSpPr>
        <p:spPr>
          <a:xfrm>
            <a:off x="3749039" y="1554480"/>
            <a:ext cx="2926080" cy="10058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Valid and expected use?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55848" y="2057400"/>
            <a:ext cx="39319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98079" y="1508760"/>
            <a:ext cx="4087368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Positive: expect it to work and be saved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331720"/>
            <a:ext cx="4087368" cy="685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Negative: expect safe rejection, clear message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675120" y="1847088"/>
            <a:ext cx="822959" cy="118872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20840" y="1463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yes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2148840"/>
            <a:ext cx="822959" cy="521208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20840" y="2514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no</a:t>
            </a:r>
          </a:p>
        </p:txBody>
      </p:sp>
      <p:sp>
        <p:nvSpPr>
          <p:cNvPr id="13" name="Diamond 12"/>
          <p:cNvSpPr/>
          <p:nvPr/>
        </p:nvSpPr>
        <p:spPr>
          <a:xfrm>
            <a:off x="3749039" y="3246120"/>
            <a:ext cx="2926080" cy="100584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Actual = expected?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7192" y="3017520"/>
            <a:ext cx="0" cy="1371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212080" y="3154680"/>
            <a:ext cx="432511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12080" y="3154680"/>
            <a:ext cx="0" cy="914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8" y="457200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Yes: no problem seen (not proof there is none)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8" y="4572000"/>
            <a:ext cx="5120640" cy="8686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No: failure observed; record steps and data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172968" y="4251960"/>
            <a:ext cx="1399032" cy="3200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852160" y="4251960"/>
            <a:ext cx="3172968" cy="3200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Then classify it: error, defect or failure; QA or QC; verification or validation.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Both Matter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Confidence, robustness and the paths through a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Each Protects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474720" cy="4114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Positive builds confidence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features users want do work.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If the happy path fails, the product is useless.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Usually run first and automated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61688" y="1645920"/>
            <a:ext cx="3497580" cy="193852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Security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Unexpected input must be treated as data, never as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7867" y="1645920"/>
            <a:ext cx="3497580" cy="193852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Error messages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Say what happened and what to do; leak nothing private.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3813048"/>
            <a:ext cx="3497580" cy="193852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Data integrity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double-click on Pay must not create two orders.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7867" y="3813048"/>
            <a:ext cx="3497580" cy="1938528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Reputation and cost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crash in front of a user costs trust; in testing, it costs little.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Happy, Alternate and Exception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30632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Start: registration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90888" y="30632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Account created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07208" y="3474720"/>
            <a:ext cx="6583680" cy="0"/>
          </a:xfrm>
          <a:prstGeom prst="line">
            <a:avLst/>
          </a:prstGeom>
          <a:ln w="508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397763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E7D32"/>
                </a:solidFill>
                <a:latin typeface="Arial"/>
              </a:rPr>
              <a:t>Happy path: every field correct, terms ticked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916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Email with a plus 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2468880"/>
            <a:ext cx="438912" cy="96012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16916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Longest allowed username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67528" y="2468880"/>
            <a:ext cx="438912" cy="96012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6916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Fix an error, then succeed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67728" y="2468880"/>
            <a:ext cx="438912" cy="96012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169164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Keyboard 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67928" y="2468880"/>
            <a:ext cx="438912" cy="96012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17520" y="457200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Email already registered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39" y="3520440"/>
            <a:ext cx="475489" cy="1051560"/>
          </a:xfrm>
          <a:prstGeom prst="line">
            <a:avLst/>
          </a:prstGeom>
          <a:ln w="158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17720" y="457200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Password too weak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520440"/>
            <a:ext cx="475488" cy="1051560"/>
          </a:xfrm>
          <a:prstGeom prst="line">
            <a:avLst/>
          </a:prstGeom>
          <a:ln w="158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457200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Network drops on submit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3520440"/>
            <a:ext cx="475488" cy="1051560"/>
          </a:xfrm>
          <a:prstGeom prst="line">
            <a:avLst/>
          </a:prstGeom>
          <a:ln w="158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18120" y="4572000"/>
            <a:ext cx="1508760" cy="7772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Terms unticked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92440" y="3520440"/>
            <a:ext cx="475488" cy="1051560"/>
          </a:xfrm>
          <a:prstGeom prst="line">
            <a:avLst/>
          </a:prstGeom>
          <a:ln w="158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1783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E7D32"/>
                </a:solidFill>
                <a:latin typeface="Arial"/>
              </a:rPr>
              <a:t>Alternate paths (positive)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663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55A11"/>
                </a:solidFill>
                <a:latin typeface="Arial"/>
              </a:rPr>
              <a:t>Exception paths (negative)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Alternate Is Not Negative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852160"/>
                <a:gridCol w="2377440"/>
                <a:gridCol w="27432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Valid by the rules?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Username of exactly the maximum length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Positive (alternate)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Email with a plus sign: name+qa@example.com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Positive (alternate)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Spaces around the email, rule says 'trimmed'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Positive (alternate)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Email already registered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Negative (exception)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Terms and Conditions left unticked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Negative (exception)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577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Unusual is not the same as invalid: check the requirement.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Negative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mental menu for any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Wrong data type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Letters in Age; 2.5 for a whole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Empty or whitespace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Blank username; three spaces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Too long or too short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7-character password; 300-character 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Special characters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#, emoji, accents: check the rule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Code-like text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Text that looks like database or page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Wrong format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name@ ; 31/02/2025; phone with letters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Out of range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Age -5; quantity 0; discount 150%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369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Duplicates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Existing email, also in different letter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Walk down the menu for every field: 'does this category apply here?'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and Usage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Missing required field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Leave one empty at a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Wrong order of steps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Open step 3 of checkout directly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Expired session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Save after 30 idle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45920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Unauthorised access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Change the ID in the address to see another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Network interruption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Offline just after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Double submit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Two clicks on Pay: one charge?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Back and refresh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Back after logout; refresh after payment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3698" y="3749039"/>
            <a:ext cx="2571750" cy="1874519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File uploads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renamed .exe; an oversized or empty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No field-level test finds these: list the states and the user's journey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Code-Like Input: Your Safe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3383279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Authorised test environment only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41648" y="2217420"/>
            <a:ext cx="32004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07407" y="1737360"/>
            <a:ext cx="3383279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Enter harmless code-like 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36408" y="2217420"/>
            <a:ext cx="32003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02167" y="1737360"/>
            <a:ext cx="3383279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Confirm it is treated as plain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6324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If you see this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database error or stack trace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Text behaving like code on the page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Unexpected access to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3063240"/>
            <a:ext cx="5303520" cy="21945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Then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Report it immediately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Follow the security process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Stop: do not explore or exploit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Testing for security without permission is not acceptable.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One Thing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Baseline valid set: email, username, password, confirm password, terms ticked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4023360" cy="640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Password too short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8888" y="28803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→  only the password changes; everything else stays at the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520440"/>
            <a:ext cx="4023360" cy="640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Email without '@'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8888" y="36576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→  only the email changes; everything else stays at the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4297680"/>
            <a:ext cx="4023360" cy="6400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Terms unticked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44348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→  only the checkbox changes; everything else stays at the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257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If the test fails, you know exactly which rule caused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 for Negative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good failure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Good Failure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Clear message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Says what was wrong and how to fix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4592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No crash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blank page, no error 500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4592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No data loss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Valid entries stay (except passwords)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45920"/>
            <a:ext cx="257175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No leak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paths, database names or 'that email exists'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84248" y="3474720"/>
            <a:ext cx="25908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At the field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Message beside the faulty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3648" y="3474720"/>
            <a:ext cx="25908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State unchanged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 partial account, no session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3047" y="3474720"/>
            <a:ext cx="2590800" cy="16002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Logged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Recorded where required, without 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349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Seven checks to consider for every negative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vs Strong Expected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291840" cy="29260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Weak</a:t>
            </a:r>
          </a:p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"Error appears."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8" y="1645920"/>
            <a:ext cx="7406640" cy="29260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Strong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Registration is rejected.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'This email is already registered' appears beside Email.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new account is created; other values remain, passwords cleared.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technical error is shown.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846320"/>
            <a:ext cx="10972800" cy="109728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95604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TEMPLATE SENTENCE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"The system rejects the [action], shows [message] next to [field], keeps [data], does not [create/log in], and shows no technical details."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Messages: Leaky vs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4206240"/>
                <a:gridCol w="42062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Leaky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Safe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C00000"/>
                          </a:solidFill>
                          <a:latin typeface="Arial"/>
                        </a:rPr>
                        <a:t>'Password is wrong for this email'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'Email or password is incorrect'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Unknown email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C00000"/>
                          </a:solidFill>
                          <a:latin typeface="Arial"/>
                        </a:rPr>
                        <a:t>'No account with this email'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The same message as above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Server problem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C00000"/>
                          </a:solidFill>
                          <a:latin typeface="Arial"/>
                        </a:rPr>
                        <a:t>A stack trace on screen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'Something went wrong. Try again.'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Password too short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C00000"/>
                          </a:solidFill>
                          <a:latin typeface="Arial"/>
                        </a:rPr>
                        <a:t>'Invalid input'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'Password must be at least 8 characters'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4406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Different messages for 'wrong password' and 'unknown email' tell an attacker which accounts 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Deriving 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a requirement to positive and negative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Rules,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 List inputs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24003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Fields, buttons, uploads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 List rules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33087" y="240030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87168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Required, length, format, unique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3 List states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07607" y="2400300"/>
            <a:ext cx="182881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61688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Logged in, locked, expired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 Per rule: 1 positive + negatives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2128" y="24003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36207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for each way to break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Add scenarios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56648" y="24003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10727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Happy, alternate, network, 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5248" y="182880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6 Review and prioritise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5248" y="306324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Remove duplicates, 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2062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Underline every rule in the requirement: each one needs both sides.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Every requirement should be covered by at least one case (traceability).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Requirement, Ten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A1A1A"/>
                </a:solidFill>
                <a:latin typeface="Arial"/>
              </a:rPr>
              <a:t>REQ-12: The Quantity field accepts whole numbers from 1 to 10.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291840"/>
            <a:ext cx="10332720" cy="0"/>
          </a:xfrm>
          <a:prstGeom prst="line">
            <a:avLst/>
          </a:prstGeom>
          <a:ln w="25400">
            <a:solidFill>
              <a:srgbClr val="1A1A1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80114" y="3127248"/>
            <a:ext cx="6113417" cy="329184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1170432" y="2423160"/>
            <a:ext cx="585216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-3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208237" y="2423160"/>
            <a:ext cx="585216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00845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887506" y="2423160"/>
            <a:ext cx="585216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80114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604580" y="2423160"/>
            <a:ext cx="585216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7188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000923" y="2423160"/>
            <a:ext cx="585216" cy="5029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93531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680192" y="2423160"/>
            <a:ext cx="585216" cy="502920"/>
          </a:xfrm>
          <a:prstGeom prst="ellips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0" y="2926080"/>
            <a:ext cx="0" cy="18288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80114" y="3566160"/>
            <a:ext cx="611341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valid range: positives 1, 5, 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420624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Negatives off the line too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2.5 (not whole)   ·   abc (not a number)   ·   empty   ·   spaces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Thursday: equivalence partitioning and boundary value analysis choose these values systematically.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and Prioritising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120640" cy="14630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30066"/>
                </a:solidFill>
                <a:latin typeface="Arial"/>
              </a:rPr>
              <a:t>REG-P-03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330066"/>
                </a:solidFill>
                <a:latin typeface="Arial"/>
              </a:rPr>
              <a:t>feature · type ·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291840"/>
            <a:ext cx="5120640" cy="14630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30066"/>
                </a:solidFill>
                <a:latin typeface="Arial"/>
              </a:rPr>
              <a:t>LOG-N-12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330066"/>
                </a:solidFill>
                <a:latin typeface="Arial"/>
              </a:rPr>
              <a:t>Login, Negative, case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645920"/>
          <a:ext cx="5550408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920240"/>
                <a:gridCol w="2167128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P1 / High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Core or serious 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Valid login; duplicate account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P2 / Medium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Important, not blocking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Field-level messages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30066"/>
                          </a:solidFill>
                          <a:latin typeface="Arial"/>
                        </a:rPr>
                        <a:t>P3 / 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Low impact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Rare combinations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5074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Ratio of positive to negative? No magic number: it depends on risk. Forms usually need more negatives.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Registration and Login: Sample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7307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3840480"/>
                <a:gridCol w="539496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Data (rest at baseline)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REG-P-01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All valid data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One account; success message; go to login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REG-N-07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Email already registered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Rejected beside Email; no second account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REG-N-14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Password of 7 characters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Rejected; 'at least 8 characters' beside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LOG-N-01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Correct email, wrong password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'Email or password is incorrect'; no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LOG-N-02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Unknown email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The identical message to LOG-N-01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The written lesson has the full suites: registration 10 positive + 31 negative, login 7 + 24.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only the happy path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At least one negative per rule; use the menu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'Error is shown' as expected result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Message, location, state, what must not happen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Changing several inputs at once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Change one thing at a 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Calling a failing test 'negative'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Negative is the input; fail is the outcome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Exploiting a security finding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Report it and stop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Positive: can it work? Negative: can it fail safely? You need both.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Positive and negative describe the input, not whether the test passed.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Features have happy, alternate (positive) and exception (negative) paths.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 the sixteen categories as a menu for every field and journey.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strong negative expected result names message, place and state.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For each rule: one positive and at least one negative, one change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28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Guru99: Positive Testing vs Negative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https://www.guru99.com/positive-testing-vs-negative-testing.html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OWASP: Input Validation Cheat Sheet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https://cheatsheetseries.owasp.org/cheatsheets/Input_Validation_Cheat_Sheet.html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Ministry of Testing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https://www.ministryoftesting.com/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10091</Words>
  <Application>Microsoft Office PowerPoint</Application>
  <PresentationFormat>Widescreen</PresentationFormat>
  <Paragraphs>1346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6" baseType="lpstr">
      <vt:lpstr>Arial</vt:lpstr>
      <vt:lpstr>Courier New</vt:lpstr>
      <vt:lpstr>Wingdings</vt:lpstr>
      <vt:lpstr>Learners Point</vt:lpstr>
      <vt:lpstr>Positive and Negative Testing</vt:lpstr>
      <vt:lpstr>Learning Objectives (1 of 2)</vt:lpstr>
      <vt:lpstr>Learning Objectives (2 of 2)</vt:lpstr>
      <vt:lpstr>Definitions</vt:lpstr>
      <vt:lpstr>Positive vs Negative Testing</vt:lpstr>
      <vt:lpstr>Negative Tests Pass When Handled Gracefully</vt:lpstr>
      <vt:lpstr>Vocabulary (1 of 2)</vt:lpstr>
      <vt:lpstr>Vocabulary (2 of 2)</vt:lpstr>
      <vt:lpstr>The Door Analogy</vt:lpstr>
      <vt:lpstr>More Negatives Than Positives</vt:lpstr>
      <vt:lpstr>Why Both Matter</vt:lpstr>
      <vt:lpstr>What Each Protects</vt:lpstr>
      <vt:lpstr>Four Reasons Negative Testing Matters</vt:lpstr>
      <vt:lpstr>Short Way to Remember</vt:lpstr>
      <vt:lpstr>Paths Through a Feature</vt:lpstr>
      <vt:lpstr>Three Kinds of Path</vt:lpstr>
      <vt:lpstr>Paths and Testing Types</vt:lpstr>
      <vt:lpstr>Alternate Is Not Negative</vt:lpstr>
      <vt:lpstr>Categories of Negative Tests</vt:lpstr>
      <vt:lpstr>Why Categories</vt:lpstr>
      <vt:lpstr>Negative Categories 1 to 4</vt:lpstr>
      <vt:lpstr>Negative Categories 5 to 7</vt:lpstr>
      <vt:lpstr>Negative Categories 8 to 11</vt:lpstr>
      <vt:lpstr>Negative Categories 12 to 15</vt:lpstr>
      <vt:lpstr>Negative Category 16</vt:lpstr>
      <vt:lpstr>Quick Summary of Categories (1 of 3)</vt:lpstr>
      <vt:lpstr>Quick Summary of Categories (2 of 3)</vt:lpstr>
      <vt:lpstr>Quick Summary of Categories (3 of 3)</vt:lpstr>
      <vt:lpstr>Use the Menu</vt:lpstr>
      <vt:lpstr>Expected Results for Negative Cases</vt:lpstr>
      <vt:lpstr>Expected-Result Thinking</vt:lpstr>
      <vt:lpstr>Good Failure (1 of 2)</vt:lpstr>
      <vt:lpstr>Good Failure (2 of 2)</vt:lpstr>
      <vt:lpstr>Template Sentence</vt:lpstr>
      <vt:lpstr>Weak vs Strong Expected Result</vt:lpstr>
      <vt:lpstr>Objective Checks</vt:lpstr>
      <vt:lpstr>Deriving Test Cases</vt:lpstr>
      <vt:lpstr>The Method: Inputs, Rules, States</vt:lpstr>
      <vt:lpstr>The Method: Writing and Reviewing</vt:lpstr>
      <vt:lpstr>Mini-Example: REQ-12 Quantity</vt:lpstr>
      <vt:lpstr>Writing Good Test Cases</vt:lpstr>
      <vt:lpstr>Standard Test Case Fields (1 of 2)</vt:lpstr>
      <vt:lpstr>Standard Test Case Fields (2 of 2)</vt:lpstr>
      <vt:lpstr>Test Case IDs</vt:lpstr>
      <vt:lpstr>Priorities</vt:lpstr>
      <vt:lpstr>Ratio Guidance</vt:lpstr>
      <vt:lpstr>Rules for Good Test Cases</vt:lpstr>
      <vt:lpstr>Logging Failures</vt:lpstr>
      <vt:lpstr>A Good Defect Report for a Failed Negative Test</vt:lpstr>
      <vt:lpstr>Example Report</vt:lpstr>
      <vt:lpstr>Error, Defect, Failure Again</vt:lpstr>
      <vt:lpstr>The Overall Picture</vt:lpstr>
      <vt:lpstr>Worked Example: Registration</vt:lpstr>
      <vt:lpstr>Registration Requirements (1 of 2)</vt:lpstr>
      <vt:lpstr>Registration Requirements (2 of 2)</vt:lpstr>
      <vt:lpstr>Baseline Test Data</vt:lpstr>
      <vt:lpstr>Registration Test Cases (1 of 7)</vt:lpstr>
      <vt:lpstr>Registration Test Cases (2 of 7)</vt:lpstr>
      <vt:lpstr>Registration Test Cases (3 of 7)</vt:lpstr>
      <vt:lpstr>Registration Test Cases (4 of 7)</vt:lpstr>
      <vt:lpstr>Registration Test Cases (5 of 7)</vt:lpstr>
      <vt:lpstr>Registration Test Cases (6 of 7)</vt:lpstr>
      <vt:lpstr>Registration Test Cases (7 of 7)</vt:lpstr>
      <vt:lpstr>Registration: 10 Positive, 31 Negative</vt:lpstr>
      <vt:lpstr>Worked Example: Login</vt:lpstr>
      <vt:lpstr>Login Requirements (1 of 2)</vt:lpstr>
      <vt:lpstr>Login Requirements (2 of 2)</vt:lpstr>
      <vt:lpstr>Login Baseline</vt:lpstr>
      <vt:lpstr>Login Test Cases (1 of 6)</vt:lpstr>
      <vt:lpstr>Login Test Cases (2 of 6)</vt:lpstr>
      <vt:lpstr>Login Test Cases (3 of 6)</vt:lpstr>
      <vt:lpstr>Login Test Cases (4 of 6)</vt:lpstr>
      <vt:lpstr>Login Test Cases (5 of 6)</vt:lpstr>
      <vt:lpstr>Login Test Cases (6 of 6)</vt:lpstr>
      <vt:lpstr>Login: 7 Positive, 24 Negative</vt:lpstr>
      <vt:lpstr>Python Demonstration</vt:lpstr>
      <vt:lpstr>Setup</vt:lpstr>
      <vt:lpstr>The Function Under Test</vt:lpstr>
      <vt:lpstr>Positive Test Helper</vt:lpstr>
      <vt:lpstr>Negative Test Helper</vt:lpstr>
      <vt:lpstr>Reading the Negative Helper</vt:lpstr>
      <vt:lpstr>The Test List</vt:lpstr>
      <vt:lpstr>Output</vt:lpstr>
      <vt:lpstr>Reading the Test List</vt:lpstr>
      <vt:lpstr>Pytest Style</vt:lpstr>
      <vt:lpstr>Pytest: Positive and Negative</vt:lpstr>
      <vt:lpstr>Pytest: Parametrized Negative Test</vt:lpstr>
      <vt:lpstr>Pytest Output</vt:lpstr>
      <vt:lpstr>Reading the Pytest Tests</vt:lpstr>
      <vt:lpstr>Common Mistakes</vt:lpstr>
      <vt:lpstr>Common Mistakes 1 to 4</vt:lpstr>
      <vt:lpstr>Common Mistakes 5 to 8</vt:lpstr>
      <vt:lpstr>Common Mistakes 9 and 10</vt:lpstr>
      <vt:lpstr>Checklist and What Comes Next</vt:lpstr>
      <vt:lpstr>Form Checklist (1 of 3)</vt:lpstr>
      <vt:lpstr>Form Checklist (2 of 3)</vt:lpstr>
      <vt:lpstr>Form Checklist (3 of 3)</vt:lpstr>
      <vt:lpstr>Relationship to Thursday's Techniques</vt:lpstr>
      <vt:lpstr>Foundation for Tomorrow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2026-10-24T17:28:36Z</dcterms:modified>
</cp:coreProperties>
</file>