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52" r:id="rId91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notesMaster" Target="notesMasters/notesMaster1.xml"/><Relationship Id="rId91" Type="http://schemas.openxmlformats.org/officeDocument/2006/relationships/slide" Target="slides/slide90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found (100 in total)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Sheet1!$A$2:$A$9</c:f>
              <c:strCache>
                <c:ptCount val="8"/>
                <c:pt idx="0">
                  <c:v>Checkout</c:v>
                </c:pt>
                <c:pt idx="1">
                  <c:v>Registration</c:v>
                </c:pt>
                <c:pt idx="2">
                  <c:v>Payments</c:v>
                </c:pt>
                <c:pt idx="3">
                  <c:v>Search</c:v>
                </c:pt>
                <c:pt idx="4">
                  <c:v>Profile</c:v>
                </c:pt>
                <c:pt idx="5">
                  <c:v>Login</c:v>
                </c:pt>
                <c:pt idx="6">
                  <c:v>Help</c:v>
                </c:pt>
                <c:pt idx="7">
                  <c:v>Notifications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22</c:v>
                </c:pt>
                <c:pt idx="2">
                  <c:v>18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Fifth deck of the day: why testing works the way it does, and how to decide what to test, how much and when to stop.</a:t>
            </a:r>
          </a:p>
          <a:p>
            <a:r>
              <a:t>The seven principles come from the ISTQB Foundation Level syllabus: consolidated professional experience.</a:t>
            </a:r>
          </a:p>
          <a:p>
            <a:r>
              <a:t>One analogy in this deck: the black swan (Principle 1).</a:t>
            </a:r>
          </a:p>
          <a:p>
            <a:r>
              <a:t>Risk-based testing and exit criteria were taught on Tuesday and Monday; here the principles explain why they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ISTQB: International Software Testing Qualifications Board, a non-profit that defines a common vocabulary and the Certified Tester scheme.</a:t>
            </a:r>
          </a:p>
          <a:p>
            <a:r>
              <a:t>Different authors publish different lists; the ISTQB seven is the most widely used in training and certification.</a:t>
            </a:r>
          </a:p>
          <a:p>
            <a:r>
              <a:t>Ask: which of the seven do you think is most often forgotten at work? Revisit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the limits of testing; the overview slide sets up the whole deck.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Colours group the parts: blue = what testing can show (Part 1), green = when and where (Part 2), orange and purple = keeping testing effective (Part 3).</a:t>
            </a:r>
          </a:p>
          <a:p>
            <a:r>
              <a:t>Each principle gets a statement, a reason and a short example; long stories are in the written lesson.</a:t>
            </a:r>
          </a:p>
          <a:p>
            <a:r>
              <a:t>Ask learners to guess which principle a sentence like 'our suite is always green' violates (5).</a:t>
            </a:r>
          </a:p>
          <a:p>
            <a:r>
              <a:t>Part 4 combines them into decisions: what first, how much,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analogy: one failing test proves a defect exists; a thousand passing tests only increase confidence.</a:t>
            </a:r>
          </a:p>
          <a:p>
            <a:r>
              <a:t>The 600 tests were real work and gave real confidence; the mistake was the claim 'no bugs'.</a:t>
            </a:r>
          </a:p>
          <a:p>
            <a:r>
              <a:t>Correct claim: 'We ran 600 tests, fixed what they revealed, and the remaining risk is low in the areas we tested.'</a:t>
            </a:r>
          </a:p>
          <a:p>
            <a:r>
              <a:t>The second reason is Principle 2: you cannot test everything, so untested situations can hide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Coverage: how much of the requirements, features or code your tests exercise.</a:t>
            </a:r>
          </a:p>
          <a:p>
            <a:r>
              <a:t>Perhaps nobody tried a 300-character email, a plus sign, or two people registering the same email at the same instant.</a:t>
            </a:r>
          </a:p>
          <a:p>
            <a:r>
              <a:t>'Ready' is a business decision based on risk, coverage and exit criteria, not just a green result.</a:t>
            </a:r>
          </a:p>
          <a:p>
            <a:r>
              <a:t>Give stakeholders information to decide; do not claim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Combinations grow by multiplication, which grows very fast.</a:t>
            </a:r>
          </a:p>
          <a:p>
            <a:r>
              <a:t>10,800 × 30 seconds = 324,000 seconds, about 3.75 days of non-stop testing, for one small form, for one round.</a:t>
            </a:r>
          </a:p>
          <a:p>
            <a:r>
              <a:t>Automation runs tests faster but does not change the arithmetic: you still choose which tests.</a:t>
            </a:r>
          </a:p>
          <a:p>
            <a:r>
              <a:t>A travel company once tried to plan complete testing of flight search; even round-the-clock automation came out in centuries.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learners practise in today's exercise.</a:t>
            </a:r>
          </a:p>
          <a:p>
            <a:r>
              <a:t>Equivalence partitioning and boundary value analysis tomorrow are the practical answer to this principle.</a:t>
            </a:r>
          </a:p>
          <a:p>
            <a:r>
              <a:t>Test first where failure would hurt most and is most likely (Tuesday's risk-based testing).</a:t>
            </a:r>
          </a:p>
          <a:p>
            <a:r>
              <a:t>Transparency about gaps is part of the professional mindset from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start early, and look where defects gather.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defect costs a sentence in a requirement, a redrawn diagram in design, code plus retest in coding, and much more in production.</a:t>
            </a:r>
          </a:p>
          <a:p>
            <a:r>
              <a:t>Tuesday's requirements analysis was early testing.</a:t>
            </a:r>
          </a:p>
          <a:p>
            <a:r>
              <a:t>Common misunderstanding: early testing means running tests on unfinished code. It often means thinking and reviewing before any code runs.</a:t>
            </a:r>
          </a:p>
          <a:p>
            <a:r>
              <a:t>Early does not mean only early: you still test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sentence was rewritten in two minutes; without the question, three developers might have coded three behaviours.</a:t>
            </a:r>
          </a:p>
          <a:p>
            <a:r>
              <a:t>Login questions to ask before testing: exact password rules? is email case-sensitive? what after five failed attempts? message for an existing email?</a:t>
            </a:r>
          </a:p>
          <a:p>
            <a:r>
              <a:t>'The login page loads in under 3 seconds' is testable; 'fast' is not.</a:t>
            </a:r>
          </a:p>
          <a:p>
            <a:r>
              <a:t>Rohan (PO) and Farhan (BA) are the people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clusters form: complexity (payments, tax, permissions), frequent change, many dependencies, hurried or newcomer code, legacy code.</a:t>
            </a:r>
          </a:p>
          <a:p>
            <a:r>
              <a:t>Pareto: roughly 80 percent of effects from 20 percent of causes; your project might be 70/30 or 90/10.</a:t>
            </a:r>
          </a:p>
          <a:p>
            <a:r>
              <a:t>Cumulative share: Checkout 41%, + Registration 63%, + Payments 81%.</a:t>
            </a:r>
          </a:p>
          <a:p>
            <a:r>
              <a:t>A team that notices this puts extra testing and review on those three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the shopping cart tops the list three releases in a row; a design review shows patched logic; refactoring drops its defects sharply.</a:t>
            </a:r>
          </a:p>
          <a:p>
            <a:r>
              <a:t>Registration is busier than login (more fields, rules, checks): expect more defects there.</a:t>
            </a:r>
          </a:p>
          <a:p>
            <a:r>
              <a:t>If the email field accepts an address with no '@', look harder at the other validations by the same approach.</a:t>
            </a:r>
          </a:p>
          <a:p>
            <a:r>
              <a:t>Clusters shift over time: last release's hotspot may be quiet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tests wear out, context decides, and bug-free is not enough.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Farmers who spray the same pesticide every year find the surviving insects resist it; tests behave the same way.</a:t>
            </a:r>
          </a:p>
          <a:p>
            <a:r>
              <a:t>Software changes too: new features and paths appear, but an old suite checks only old things.</a:t>
            </a:r>
          </a:p>
          <a:p>
            <a:r>
              <a:t>In the story: password rules were tightened and failing checks were deleted; tests ran only at desktop size; several only checked that the page loaded.</a:t>
            </a:r>
          </a:p>
          <a:p>
            <a:r>
              <a:t>Old tests are not useless: re-running them is regression testing (Friday). The paradox is relying on them alone to find new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two weeks after you write registration tests, a Confirm password field and a special-character rule are added. Unrevised tests keep passing.</a:t>
            </a:r>
          </a:p>
          <a:p>
            <a:r>
              <a:t>Exploratory testing is taught on Friday; today only the idea.</a:t>
            </a:r>
          </a:p>
          <a:p>
            <a:r>
              <a:t>A falling defect-discovery rate may mean stability or stale tests; check freshness before trusting it.</a:t>
            </a:r>
          </a:p>
          <a:p>
            <a:r>
              <a:t>Ask: what is one sign that a suite has gone stale?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Context: risk, users, regulation, development model, technology, time, budget and skills.</a:t>
            </a:r>
          </a:p>
          <a:p>
            <a:r>
              <a:t>Aviation process on a recipe site wastes money; recipe-site process on aviation is reckless.</a:t>
            </a:r>
          </a:p>
          <a:p>
            <a:r>
              <a:t>Context dependent does not mean 'anything goes': depth is chosen deliberately, and the principles still apply.</a:t>
            </a:r>
          </a:p>
          <a:p>
            <a:r>
              <a:t>Ask: the same login on a hospital portal, a bank and a hobby forum. What changes?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Fallacy: a mistaken belief. Finding and fixing many defects does not guarantee success.</a:t>
            </a:r>
          </a:p>
          <a:p>
            <a:r>
              <a:t>Story: a travel app tested to near-zero defects; users wanted price comparison at a glance, the app forced a ten-step wizard.</a:t>
            </a:r>
          </a:p>
          <a:p>
            <a:r>
              <a:t>In practice: involve users early (demos, UAT), test usability, challenge requirements, report 'confusing' as useful feedback.</a:t>
            </a:r>
          </a:p>
          <a:p>
            <a:r>
              <a:t>Quality is the degree to which the product meets stated and implied needs, not zero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 turns the principles into everyday decisions.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exhaustive testing is impossible (P2), order testing so that what is left untested matters least.</a:t>
            </a:r>
          </a:p>
          <a:p>
            <a:r>
              <a:t>Risk = likelihood of failure × impact of failure; Tuesday's 3×3 matrix is the formal tool.</a:t>
            </a:r>
          </a:p>
          <a:p>
            <a:r>
              <a:t>Password strength validation: medium likelihood, high impact (security), high priority.</a:t>
            </a:r>
          </a:p>
          <a:p>
            <a:r>
              <a:t>Later weeks build on this for automation and regression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criteria: agreed conditions that must be met to consider a test phase complete.</a:t>
            </a:r>
          </a:p>
          <a:p>
            <a:r>
              <a:t>Time or budget used up, with the remaining risk understood and signed off, is also a legitimate stop.</a:t>
            </a:r>
          </a:p>
          <a:p>
            <a:r>
              <a:t>'We found no more bugs' only means no more were found (P1).</a:t>
            </a:r>
          </a:p>
          <a:p>
            <a:r>
              <a:t>A falling discovery rate may mean stability, or stale tests (P5).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A: all planned tests run, remaining failures cosmetic; the decision is to release with a first-week monitoring plan.</a:t>
            </a:r>
          </a:p>
          <a:p>
            <a:r>
              <a:t>Example B: Neha walks Ananya through the next reset change before coding (P3).</a:t>
            </a:r>
          </a:p>
          <a:p>
            <a:r>
              <a:t>Example C: interviews show the feature's name confuses users.</a:t>
            </a:r>
          </a:p>
          <a:p>
            <a:r>
              <a:t>Ask learners to invent one situation and name the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write these in an exam as official principles; do use them as practical guidance.</a:t>
            </a:r>
          </a:p>
          <a:p>
            <a:r>
              <a:t>Traceability: each test connects back to a requirement or story (RTM, Tuesday).</a:t>
            </a:r>
          </a:p>
          <a:p>
            <a:r>
              <a:t>Independence was covered in the testing mindset deck this morning.</a:t>
            </a:r>
          </a:p>
          <a:p>
            <a:r>
              <a:t>Different list lengths are not mistakes; just know which list is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'every module deserves identical effort' (P4); 'there is one best way to test' (P6); 'the 80/20 rule is exact'; 'early testing means no testing later'.</a:t>
            </a:r>
          </a:p>
          <a:p>
            <a:r>
              <a:t>Ask learners to match each row to its principle number before revealing it.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'Our regression suite has been green for six months. Which principle should worry us?' (5)</a:t>
            </a:r>
          </a:p>
          <a:p>
            <a:r>
              <a:t>Bridge: next deck, positive and negative testing: the first practical way to choose tests.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a story, an 'in practice' list and a common misunderstanding for each principle, plus the full misconceptions table.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Testing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seven ISTQB principles: why testing works the way it does, and how to decide what to test, how much and when to stop.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143744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1 Presence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827876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13812" y="3520440"/>
            <a:ext cx="130815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2 Exhaustive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493454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79390" y="3520440"/>
            <a:ext cx="89712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3 Early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747999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3935" y="3520440"/>
            <a:ext cx="130815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4 Clustering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413577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99513" y="3520440"/>
            <a:ext cx="122595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5 Pesticide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96949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82885" y="3520440"/>
            <a:ext cx="1061537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6 Context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15907" y="3630168"/>
            <a:ext cx="214452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01843" y="3520440"/>
            <a:ext cx="188360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7 Absence-of-errors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State the seven ISTQB testing principles in plain words.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why each principle holds, with a short example.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Recognise each principle at work in a team situation.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the principles to decide what to test first and when to stop.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Separate the official seven from other common heuristics.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Testing Can Show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Principles 1 and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Principles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5146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Testing shows the presence of defects, not their absence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173736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84708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5146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Exhaustive testing is impossible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3736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4708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146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Early testing saves time and money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8" y="1737360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184708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51460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Defects cluster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07108" y="374903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9988" y="385876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9988" y="4526279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Beware of the pesticide paradox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96028" y="374903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8908" y="385876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8908" y="4526279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Testing is context dependent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4948" y="374903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7827" y="3858768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669999"/>
                </a:solidFill>
                <a:latin typeface="Arial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7827" y="4526279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Absence-of-errors fallacy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1: Presence, Not Absence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1: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Testing shows the presence of defects, not their absence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06040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Why it is true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passing test proves one set of inputs, in one environment, worked. It says nothing about inputs you did not 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606040"/>
            <a:ext cx="5303520" cy="1920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Analogy: the black swan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thousand white swans raise confidence that all swans are white. One black swan proves it false.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80060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910328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600 tests pass before launch. Weeks later, a booking at 11:50 PM on the last day of the month emails the wrong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1 in Practice: Honest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64008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Instead of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Say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'The software is bug-free.'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'No defects were found by the tests we ran.'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'Registration works.'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'The 15 registration scenarios we designed pass.'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'All green, ready to ship.'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'Coverage is X; remaining risks are Y; exit criteria met.'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49834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Describe your coverage: it communicates the limits of your testing.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Aim tests at finding defects: a test designed to confirm will happily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2: Exhaustive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2: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Exhaustive testing is impossible, except in trivial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4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browsers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2696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6744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2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2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newsletter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account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3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97180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4936" y="2697480"/>
            <a:ext cx="1143000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1A1A1A"/>
                </a:solidFill>
                <a:latin typeface="Arial"/>
              </a:rPr>
              <a:t>5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languages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0690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= 10,800 combinations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40690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A1A1A"/>
                </a:solidFill>
                <a:latin typeface="Arial"/>
              </a:rPr>
              <a:t>≈ 3.75 days at 30 s per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...before typing a single character into a text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2 in Practice: Choose Smartly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Selecting what to test is not laziness: it is the core skill of a tester.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2926080" cy="2926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email field: endless possible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94560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Normal valid email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538728" y="2450592"/>
            <a:ext cx="1033272" cy="120700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798064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Missing '@'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538728" y="3054096"/>
            <a:ext cx="1033272" cy="603504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3401568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Two '@' signs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8728" y="3657600"/>
            <a:ext cx="1033272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4005072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Extremely long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38728" y="3657600"/>
            <a:ext cx="1033272" cy="603504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4608576"/>
            <a:ext cx="3291840" cy="512064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Empty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38728" y="3657600"/>
            <a:ext cx="1033272" cy="120700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194560"/>
            <a:ext cx="3355848" cy="2926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How to choose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Risk and priority first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Techniques: EP and BVA (Thursday)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Say what is not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394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Each representative stands in for a whole group of similar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and Where to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Principles 3 and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3: Early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3: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Early testing saves time and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1865376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3744" y="31318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9504" y="2743200"/>
            <a:ext cx="1865376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31318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743200"/>
            <a:ext cx="1865376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77456" y="31318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43216" y="2743200"/>
            <a:ext cx="1865376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4312" y="31318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20072" y="2743200"/>
            <a:ext cx="1865376" cy="7772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45336" y="3794760"/>
            <a:ext cx="6830568" cy="0"/>
          </a:xfrm>
          <a:prstGeom prst="line">
            <a:avLst/>
          </a:prstGeom>
          <a:ln w="381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886200"/>
            <a:ext cx="9107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shift-left: move testing activities towards the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526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Early testing includes static testing: reviewing requirements is testing.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Recap: cost rising with phase was Monday's SDLC deck; treat exact multipliers with caution.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3 in Practice: Ask 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IN A REQUIREMENTS REVIEW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Requirement: 'Discount codes are valid for one month.'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Tester: '30 days, one calendar month, or until the end of the month?' Three people had three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2918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Review stories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Ambiguity, contradictions, untestable words ('fast').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2998" y="32918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Join refinement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Ask questions before the code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3348" y="32918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Prepare cases early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Design tests while development happens.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329184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Think testability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In design and code reviews.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120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Every unanswered question is a potential defect caught for free.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4: Defects Cluster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4: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Defects cluster together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2468880"/>
          <a:ext cx="71323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2560320"/>
            <a:ext cx="3538728" cy="33832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Reading it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3 of 8 modules hold 81% of defects.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Roughly the 80/20 (Pareto) pattern.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rule of thumb, not a law.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4 in Practice: Follow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721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Track by module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Jira components or labels so defects can be counted.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645920"/>
            <a:ext cx="53721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Focus where it clusters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Extra tests, reviews and exploration, including neighbouring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474720"/>
            <a:ext cx="53721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Predict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Buggy last release usually means buggy next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474720"/>
            <a:ext cx="5372100" cy="1600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Keep a baseline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Low-defect areas still need basic testing.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Clusters are a signal about the system, not a verdict on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Keeping Testing Effective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Principles 5, 6 and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5: The Pesticide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5: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The same tests, repeated, stop finding new defects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9748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Same tests run every night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92958" y="32689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58718" y="269748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Defects they can see are found and fixed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32689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4788" y="269748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What remains is invisible to them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85098" y="326898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50858" y="2697480"/>
            <a:ext cx="2434590" cy="1143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Green result means less and less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68153" y="3840480"/>
            <a:ext cx="0" cy="365760"/>
          </a:xfrm>
          <a:prstGeom prst="line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29943" y="4206240"/>
            <a:ext cx="8538210" cy="0"/>
          </a:xfrm>
          <a:prstGeom prst="line">
            <a:avLst/>
          </a:prstGeom>
          <a:ln w="1905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829943" y="3840480"/>
            <a:ext cx="0" cy="36576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" y="4572000"/>
            <a:ext cx="10972800" cy="10515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681728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nightly suite green for months. Social sign-in was added with no test; it ships broken for new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5 in Practice: Refresh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Review regularly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When requirements change and on a schedule.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Add tests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For every new feature and every escaped defect.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Vary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Different inputs, paths, devices and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Explore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Mix in exploratory sessions: learn, design and run at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Prune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Remove duplicates and tests that cannot fail.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49039"/>
            <a:ext cx="350520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Question green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 the suite healthy, or asleep?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After every change ask: which tests are now outdated, and what new situations need tests?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6: Testing Is Context Dependent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6: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Testing is context dependent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06040"/>
            <a:ext cx="2571750" cy="23774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Banking app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Risk: money, fraud, penalties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Focus: security, accuracy, audit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Pace: slower, careful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2998" y="2606040"/>
            <a:ext cx="2571750" cy="23774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Video game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Risk: frustration, refunds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Focus: performance, fun, devices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Pace: fast patches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2606040"/>
            <a:ext cx="257175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Medical device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Risk: patient harm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Focus: safety, formal V&amp;V, evidence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Pace: slow, regulated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3698" y="2606040"/>
            <a:ext cx="257175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Marketing site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Risk: lost leads, brand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Focus: content, browsers, speed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Pace: very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A character walking through a wall is a funny video; the same miscalculation in a dose is a disaster.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7: Absence-of-Errors Fallacy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Principle 7:  </a:t>
            </a:r>
            <a:r>
              <a:rPr sz="1900" b="0" i="0">
                <a:solidFill>
                  <a:srgbClr val="FFFFFF"/>
                </a:solidFill>
                <a:latin typeface="Arial"/>
              </a:rPr>
              <a:t>A system with no known defects can still fail its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Verification passed: every test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Validation failed: not what users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93608" y="27432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Nobody uses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04488" y="3200400"/>
            <a:ext cx="5486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44968" y="3200400"/>
            <a:ext cx="54864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" y="3977639"/>
            <a:ext cx="10972800" cy="13258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87368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flawless registration form asks for twelve fields; users abandon it halfway.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Error messages say 'Error 4017'. Defect-free, and failing its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532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Link: verification vs validation, earlier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in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first, when to stop, and what is official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Test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Impact if it fails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1717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3736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Likelihood of failure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17170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37360"/>
            <a:ext cx="3383279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How often it is used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2880360"/>
          <a:ext cx="1097280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2103120"/>
                <a:gridCol w="219456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Likelihood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Login with valid credentials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Very 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Duplicate email at registration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Error message wording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Footer links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Recap: risk-based testing was Tuesday (test planning); clusters (P4) raise likelihood, context (P6) sets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We can never prove 'no defects' (P1) or test everything (P2). So testing stops on agreed exit criteria.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Planned tests run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e.g. 100% of high priority, 90% of the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2998" y="228600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Coverage reached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Required requirement coverage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228600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No open critical defects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Or remaining ones accepted by stakeholders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3698" y="2286000"/>
            <a:ext cx="2571750" cy="1737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Discovery rate low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...and the tests are fresh (P5)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438912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Stopping is a risk decision made with stakeholders, not a claim of perfection.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Recap: entry and exit criteria were Monday (STLC) and Tuesday (test plan).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in 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645920"/>
                <a:gridCol w="512064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Principles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Manager: '98% pass, so it is bug-free'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Review coverage and exit criteria; release with monitoring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Most new bugs come from password reset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4, 5, 3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Focus there; write fresh tests; walk through the next change early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Feature passes every test; usage is 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Talk to users; fix the confusing name and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532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Real situations rarely involve one principle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Official Seven vs Other Heuristics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Lists of 10 or 12 'principles' online mix the official seven with useful rules of thumb.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148840"/>
          <a:ext cx="1097280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512064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Heuristic (not official ISTQB)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Linked to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Tests should trace to requirements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Honest reporting (P1), fit for purpose (P7)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 the riskiest parts first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P2, P4 and P6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Independent testing finds different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Testing mindset deck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 planning is never finished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P5 and P6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Good testing is technical and creative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P2 and P5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Misconception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Reality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'No bugs found, so there are none'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Testing only shows defects exist (P1)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'Automation lets us test everything'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Faster, but the arithmetic is unchanged (P2)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'Wait until the build is ready'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Start with the requirements (P3)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'A green suite means we are safe'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Unreviewed suites go stale (P5)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'Zero defects is the goal'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Useful and fit for need is the goal (P7)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Tests reveal defects but never prove there are none: report coverage honestly.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Combinations explode: choose tests with risk and techniques.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Start early: reviewing requirements is testing.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Defects cluster: follow the data, keep a baseline elsewhere.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Tests wear out and context decides the approach.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Bug-free is not enough; stop on agreed exit criteria, not on hope.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Foundation Level certification and syllabus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Seven Principles of Software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https://www.guru99.com/software-testing-seven-principles.html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Software Testing guides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https://www.atlassian.com/continuous-delivery/software-testing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6373</Words>
  <Application>Microsoft Office PowerPoint</Application>
  <PresentationFormat>Widescreen</PresentationFormat>
  <Paragraphs>703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4" baseType="lpstr">
      <vt:lpstr>Arial</vt:lpstr>
      <vt:lpstr>Courier New</vt:lpstr>
      <vt:lpstr>Wingdings</vt:lpstr>
      <vt:lpstr>Learners Point</vt:lpstr>
      <vt:lpstr>Testing Principles</vt:lpstr>
      <vt:lpstr>Learning Objectives (1 of 2)</vt:lpstr>
      <vt:lpstr>Learning Objectives (2 of 2)</vt:lpstr>
      <vt:lpstr>Where the Principles Come From</vt:lpstr>
      <vt:lpstr>Origins</vt:lpstr>
      <vt:lpstr>Principle 1</vt:lpstr>
      <vt:lpstr>Principle 1: Plain Statement</vt:lpstr>
      <vt:lpstr>Principle 1: Why It Is True</vt:lpstr>
      <vt:lpstr>Principle 1: A Story</vt:lpstr>
      <vt:lpstr>Principle 1: In Practice</vt:lpstr>
      <vt:lpstr>Principle 1: Applied to Project 1</vt:lpstr>
      <vt:lpstr>Principle 1: Common Misunderstanding</vt:lpstr>
      <vt:lpstr>Principle 2</vt:lpstr>
      <vt:lpstr>Principle 2: Plain Statement</vt:lpstr>
      <vt:lpstr>Principle 2: Why It Is True</vt:lpstr>
      <vt:lpstr>Registration Form Choices</vt:lpstr>
      <vt:lpstr>Principle 2: A Story</vt:lpstr>
      <vt:lpstr>Principle 2: In Practice</vt:lpstr>
      <vt:lpstr>Principle 2: Applied to Project 1</vt:lpstr>
      <vt:lpstr>Principle 2: Common Misunderstanding</vt:lpstr>
      <vt:lpstr>Principle 3</vt:lpstr>
      <vt:lpstr>Principle 3: Plain Statement</vt:lpstr>
      <vt:lpstr>Principle 3: Why It Is True</vt:lpstr>
      <vt:lpstr>Principle 3: Handle Statistics with Care</vt:lpstr>
      <vt:lpstr>Principle 3: A Story</vt:lpstr>
      <vt:lpstr>Principle 3: In Practice</vt:lpstr>
      <vt:lpstr>Principle 3: Applied to Project 1</vt:lpstr>
      <vt:lpstr>Principle 3: Common Misunderstanding</vt:lpstr>
      <vt:lpstr>Principle 4</vt:lpstr>
      <vt:lpstr>Principle 4: Plain Statement</vt:lpstr>
      <vt:lpstr>Principle 4: Why It Is True</vt:lpstr>
      <vt:lpstr>Principle 4: The Pareto Principle</vt:lpstr>
      <vt:lpstr>Defects per Module (1 of 2)</vt:lpstr>
      <vt:lpstr>Defects per Module (2 of 2)</vt:lpstr>
      <vt:lpstr>Reading the Table</vt:lpstr>
      <vt:lpstr>Principle 4: A Story</vt:lpstr>
      <vt:lpstr>Principle 4: In Practice</vt:lpstr>
      <vt:lpstr>Principle 4: Applied to Project 1</vt:lpstr>
      <vt:lpstr>Principle 4: Common Misunderstanding</vt:lpstr>
      <vt:lpstr>Principle 5</vt:lpstr>
      <vt:lpstr>Principle 5: Plain Statement</vt:lpstr>
      <vt:lpstr>Principle 5: Why It Has That Name</vt:lpstr>
      <vt:lpstr>Principle 5: Old Tests Are Not Useless</vt:lpstr>
      <vt:lpstr>Principle 5: A Story</vt:lpstr>
      <vt:lpstr>Principle 5: In Practice</vt:lpstr>
      <vt:lpstr>Principle 5: Applied to Project 1</vt:lpstr>
      <vt:lpstr>Principle 5: Common Misunderstanding</vt:lpstr>
      <vt:lpstr>Principle 6</vt:lpstr>
      <vt:lpstr>Principle 6: Plain Statement</vt:lpstr>
      <vt:lpstr>Principle 6: Why It Is True</vt:lpstr>
      <vt:lpstr>Four Contexts Compared (1 of 2)</vt:lpstr>
      <vt:lpstr>Four Contexts Compared (2 of 2)</vt:lpstr>
      <vt:lpstr>Same Mistake, Different Significance</vt:lpstr>
      <vt:lpstr>Principle 6: A Story</vt:lpstr>
      <vt:lpstr>Principle 6: In Practice</vt:lpstr>
      <vt:lpstr>Principle 6: Applied to Project 1</vt:lpstr>
      <vt:lpstr>Principle 6: Common Misunderstanding</vt:lpstr>
      <vt:lpstr>Principle 7</vt:lpstr>
      <vt:lpstr>Principle 7: Plain Statement</vt:lpstr>
      <vt:lpstr>Principle 7: Why It Is True</vt:lpstr>
      <vt:lpstr>Principle 7: A Story</vt:lpstr>
      <vt:lpstr>Principle 7: In Practice</vt:lpstr>
      <vt:lpstr>Principle 7: Applied to Project 1</vt:lpstr>
      <vt:lpstr>Principle 7: Common Misunderstanding</vt:lpstr>
      <vt:lpstr>Additional Heuristics</vt:lpstr>
      <vt:lpstr>Other Commonly Cited Principles</vt:lpstr>
      <vt:lpstr>Additional Heuristics (1 of 2)</vt:lpstr>
      <vt:lpstr>Additional Heuristics (2 of 2)</vt:lpstr>
      <vt:lpstr>Why Lists Differ in Length</vt:lpstr>
      <vt:lpstr>The Seven at a Glance</vt:lpstr>
      <vt:lpstr>Seven Principles Summary (1 of 2)</vt:lpstr>
      <vt:lpstr>Seven Principles Summary (2 of 2)</vt:lpstr>
      <vt:lpstr>Principles Guide Decisions</vt:lpstr>
      <vt:lpstr>Prioritization</vt:lpstr>
      <vt:lpstr>A First Look at Risk-Based Testing</vt:lpstr>
      <vt:lpstr>Risk Table for Login and Registration</vt:lpstr>
      <vt:lpstr>Stopping Criteria</vt:lpstr>
      <vt:lpstr>Common Exit Criteria</vt:lpstr>
      <vt:lpstr>Stopping Is a Risk Decision</vt:lpstr>
      <vt:lpstr>Worked Examples</vt:lpstr>
      <vt:lpstr>Example A: The Launch Decision</vt:lpstr>
      <vt:lpstr>Example B: Where to Look</vt:lpstr>
      <vt:lpstr>Example C: The Perfect Product Nobody Wanted</vt:lpstr>
      <vt:lpstr>Common Misconceptions</vt:lpstr>
      <vt:lpstr>Common Misconceptions (1 of 3)</vt:lpstr>
      <vt:lpstr>Common Misconceptions (2 of 3)</vt:lpstr>
      <vt:lpstr>Common Misconceptions (3 of 3)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5</cp:revision>
  <dcterms:modified xsi:type="dcterms:W3CDTF">2026-10-24T16:53:57Z</dcterms:modified>
</cp:coreProperties>
</file>