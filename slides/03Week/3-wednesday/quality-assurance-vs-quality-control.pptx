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31" r:id="rId76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notesMaster" Target="notesMasters/notesMaster1.xml"/><Relationship Id="rId76" Type="http://schemas.openxmlformats.org/officeDocument/2006/relationships/slide" Target="slides/slide75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Before: total $15,000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Prevention</c:v>
                </c:pt>
                <c:pt idx="1">
                  <c:v>Appraisal</c:v>
                </c:pt>
                <c:pt idx="2">
                  <c:v>Internal failure</c:v>
                </c:pt>
                <c:pt idx="3">
                  <c:v>External failure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2000</c:v>
                </c:pt>
                <c:pt idx="1">
                  <c:v>5000</c:v>
                </c:pt>
                <c:pt idx="2">
                  <c:v>3000</c:v>
                </c:pt>
                <c:pt idx="3">
                  <c:v>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more prevention: total $11,800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Sheet1!$A$2:$A$5</c:f>
              <c:strCache>
                <c:ptCount val="4"/>
                <c:pt idx="0">
                  <c:v>Prevention</c:v>
                </c:pt>
                <c:pt idx="1">
                  <c:v>Appraisal</c:v>
                </c:pt>
                <c:pt idx="2">
                  <c:v>Internal failure</c:v>
                </c:pt>
                <c:pt idx="3">
                  <c:v>External failure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4000</c:v>
                </c:pt>
                <c:pt idx="1">
                  <c:v>5000</c:v>
                </c:pt>
                <c:pt idx="2">
                  <c:v>1800</c:v>
                </c:pt>
                <c:pt idx="3">
                  <c:v>1000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300">
                  <a:solidFill>
                    <a:srgbClr val="1A1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5A5A5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deck of the day: who owns quality, and what is the difference between assuring and controlling it?</a:t>
            </a:r>
          </a:p>
          <a:p>
            <a:r>
              <a:t>Job ads say 'QA Engineer' when they mean tester; after this deck learners can explain the real difference politely.</a:t>
            </a:r>
          </a:p>
          <a:p>
            <a:r>
              <a:t>One analogy runs through the deck: a car factory.</a:t>
            </a:r>
          </a:p>
          <a:p>
            <a:r>
              <a:t>Verification and validation follow in the next deck; this one is about process versus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first: 'Who is responsible for quality here?' Most beginners say 'the testers'. Keep the answer on the board.</a:t>
            </a:r>
          </a:p>
          <a:p>
            <a:r>
              <a:t>If quality is only checked at the end, problems are found late, when they are expensive and stressful to fix.</a:t>
            </a:r>
          </a:p>
          <a:p>
            <a:r>
              <a:t>By the end the class should answer: everyone, with QA and QC as two complementary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 gives the vocabulary for the rest of the deck.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Fitness for use is credited to Joseph Juran; conformance to requirements to Philip Crosby.</a:t>
            </a:r>
          </a:p>
          <a:p>
            <a:r>
              <a:t>A cheap pen and a luxury pen can both be high quality for their buyers.</a:t>
            </a:r>
          </a:p>
          <a:p>
            <a:r>
              <a:t>The first two views reappear in the next deck as verification (built right) and validation (right product).</a:t>
            </a:r>
          </a:p>
          <a:p>
            <a:r>
              <a:t>Ask: name a product you use that meets its spec but annoys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one-slide recap; Tuesday's requirements-analysis deck owns the eight characteristics.</a:t>
            </a:r>
          </a:p>
          <a:p>
            <a:r>
              <a:t>The 2023 revision of ISO/IEC 25010 renames some characteristics and adds safety; no need to memorise it.</a:t>
            </a:r>
          </a:p>
          <a:p>
            <a:r>
              <a:t>Point: quality has trade-offs, e.g. very secure but slow, very fast but hard to use.</a:t>
            </a:r>
          </a:p>
          <a:p>
            <a:r>
              <a:t>Detailed testing of non-functional characteristics comes on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of quality (CoQ) adds up the money spent achieving quality and the money lost by not achieving it.</a:t>
            </a:r>
          </a:p>
          <a:p>
            <a:r>
              <a:t>Prevention and appraisal are investments; internal and external failure are losses.</a:t>
            </a:r>
          </a:p>
          <a:p>
            <a:r>
              <a:t>External failure is the most expensive: customers are affected and trust is hard to win back.</a:t>
            </a:r>
          </a:p>
          <a:p>
            <a:r>
              <a:t>Ask: which category does a code review belong to? (Prevention, though it also appraises the code.)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Before: basic guidelines, testing only at the end; 30 defects found in test (~$100 each), 5 escaped (~$1,000 each).</a:t>
            </a:r>
          </a:p>
          <a:p>
            <a:r>
              <a:t>After: reviews, checklists and training; 18 defects found in test, 1 escaped.</a:t>
            </a:r>
          </a:p>
          <a:p>
            <a:r>
              <a:t>Business case for QA: cheaper to prevent than to find, cheaper to find in-house than in front of a customer.</a:t>
            </a:r>
          </a:p>
          <a:p>
            <a:r>
              <a:t>Treat exact multipliers ('100 times more!') with caution; the direction is reliable (Monday's cost of late defects).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 is the core comparison; most learners leave with this table in their heads.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QA: planned, systematic activities that make the way the team works capable of producing a good product.</a:t>
            </a:r>
          </a:p>
          <a:p>
            <a:r>
              <a:t>Requirements review (Tuesday) is a classic QA activity: it looks at the work before anything is built.</a:t>
            </a:r>
          </a:p>
          <a:p>
            <a:r>
              <a:t>Definition of Done and retrospectives came from Monday's Scrum deck.</a:t>
            </a:r>
          </a:p>
          <a:p>
            <a:r>
              <a:t>Example: Meera (SM) runs a retrospective; the team agrees a code-review checklist. That is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QC examines the actual product, or its parts and deliverables, against specified criteria.</a:t>
            </a:r>
          </a:p>
          <a:p>
            <a:r>
              <a:t>Testing is the biggest QC activity but not the only one: inspection and measurement count too.</a:t>
            </a:r>
          </a:p>
          <a:p>
            <a:r>
              <a:t>Defect reporting and retesting were Tuesday's defect lifecycle.</a:t>
            </a:r>
          </a:p>
          <a:p>
            <a:r>
              <a:t>Example: Ananya runs the login test cases and logs two defects. That is QC.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impact: QA spends prevention money; QC spends appraisal money and finds failure costs.</a:t>
            </a:r>
          </a:p>
          <a:p>
            <a:r>
              <a:t>Feedback speed: QA improves slowly, long-term; QC gives fast information about the current product.</a:t>
            </a:r>
          </a:p>
          <a:p>
            <a:r>
              <a:t>A code review prevents defects being merged (QA flavour) and examines a real work product (QC flavour). Real life is blurry.</a:t>
            </a:r>
          </a:p>
          <a:p>
            <a:r>
              <a:t>Responsibility: QA is shared by the whole team; QC is mostly testers plus developers checking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Good factories do both, then notice patterns: 'many rejects on Monday mornings, why?' That leads to a process fix, which is QA again.</a:t>
            </a:r>
          </a:p>
          <a:p>
            <a:r>
              <a:t>QE in the factory: tools that refuse to proceed unless torque is right, sensors on the line, data from cars in service.</a:t>
            </a:r>
          </a:p>
          <a:p>
            <a:r>
              <a:t>Prevention is never perfect, so detection is essential; detection alone is wasteful.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Designing good test cases is a QA-flavoured act of planning; executing them is QC.</a:t>
            </a:r>
          </a:p>
          <a:p>
            <a:r>
              <a:t>Today's exercise on positive and negative test cases for login and registration is where the two meet.</a:t>
            </a:r>
          </a:p>
          <a:p>
            <a:r>
              <a:t>More QA ideas: agree a defect severity scale; short training on writing a good report; Jira rule that a story cannot reach Done without checks.</a:t>
            </a:r>
          </a:p>
          <a:p>
            <a:r>
              <a:t>Ask learners to classify one more activity: 'set up a test environment checklist' (QA).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 places testing inside the bigger quality picture.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is a QC activity; QC is bigger than testing (inspection, measurement); quality work is bigger than QC.</a:t>
            </a:r>
          </a:p>
          <a:p>
            <a:r>
              <a:t>Some textbooks draw QA and QC as overlapping circles; some treat QC as part of QA. This is a teaching model, not a law.</a:t>
            </a:r>
          </a:p>
          <a:p>
            <a:r>
              <a:t>What never changes: prevent where you can, detect what slips through, keep improving.</a:t>
            </a:r>
          </a:p>
          <a:p>
            <a:r>
              <a:t>Ask: where does a code review sit? (On the QA/QC border.)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QE: quality built into the whole engineering process rather than checked at the end.</a:t>
            </a:r>
          </a:p>
          <a:p>
            <a:r>
              <a:t>Shift-left was introduced on Monday (SDLC); shift-right is new: learning from production.</a:t>
            </a:r>
          </a:p>
          <a:p>
            <a:r>
              <a:t>CI/CD pipelines are taught in Week 7; automation from Week 4.</a:t>
            </a:r>
          </a:p>
          <a:p>
            <a:r>
              <a:t>This programme points toward the engineering-minded end of the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Historically a 'QA department' tested at the end, so the QA label stuck to testers although testing is QC.</a:t>
            </a:r>
          </a:p>
          <a:p>
            <a:r>
              <a:t>In interviews, do not argue about titles; ask 'What does a typical day look like in this role?'</a:t>
            </a:r>
          </a:p>
          <a:p>
            <a:r>
              <a:t>Be ready to explain the real distinction politely: it signals professionalism.</a:t>
            </a:r>
          </a:p>
          <a:p>
            <a:r>
              <a:t>Career paths from manual testing to SDET and QE are in the manual vs automated deck's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quality is not a one-time achievement.</a:t>
            </a:r>
          </a:p>
          <a:p>
            <a:r>
              <a:t>This part has 4 concept slides, about 8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PDCA is also called the Deming or Shewhart cycle: Plan, Do, Check, Act, repeat.</a:t>
            </a:r>
          </a:p>
          <a:p>
            <a:r>
              <a:t>Continuous improvement means never claiming the process is perfect: small, steady, evidence-based changes.</a:t>
            </a:r>
          </a:p>
          <a:p>
            <a:r>
              <a:t>In Scrum, the sprint retrospective is the natural place to run a PDCA loop; that is why retros are a QA activity.</a:t>
            </a:r>
          </a:p>
          <a:p>
            <a:r>
              <a:t>Ask: what would you do if the Check step showed no improvement? (Adjust and go round again.)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quality gate is an automated checkpoint a change must pass to move forward.</a:t>
            </a:r>
          </a:p>
          <a:p>
            <a:r>
              <a:t>In Scrum, the Definition of Done acts as a quality gate for every story (Monday).</a:t>
            </a:r>
          </a:p>
          <a:p>
            <a:r>
              <a:t>Pipelines and CI/CD tools are taught in Week 7; today only the idea.</a:t>
            </a:r>
          </a:p>
          <a:p>
            <a:r>
              <a:t>Vikram (DevOps) usually owns the pipeline; the whole team owns the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QA and QC move left in Agile: stories and acceptance criteria are reviewed before coding.</a:t>
            </a:r>
          </a:p>
          <a:p>
            <a:r>
              <a:t>Developers write unit tests as they code; testers help shape the story with Rohan (PO).</a:t>
            </a:r>
          </a:p>
          <a:p>
            <a:r>
              <a:t>Shift-right adds monitoring, logs, error rates and user feedback after release.</a:t>
            </a:r>
          </a:p>
          <a:p>
            <a:r>
              <a:t>Monday's delivery-models deck covered Waterfall vs Agile; this slide is only the quality 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 9001 is not software-specific; organisations can be certified against it.</a:t>
            </a:r>
          </a:p>
          <a:p>
            <a:r>
              <a:t>CMMI: Capability Maturity Model Integration.</a:t>
            </a:r>
          </a:p>
          <a:p>
            <a:r>
              <a:t>Many employers value ISTQB Foundation Level; its glossary is in the resources.</a:t>
            </a:r>
          </a:p>
          <a:p>
            <a:r>
              <a:t>Memory hook: 9001 and CMMI are how an organisation works; 25010 is what quality means; 29119 is how to test; ISTQB is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'automation replaces QA/QC' (it still needs people to decide what to check); 'quality is only about code' (also requirements, design, usability, security).</a:t>
            </a:r>
          </a:p>
          <a:p>
            <a:r>
              <a:t>Ask: which of these have you heard at work?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'Is a retrospective QA or QC? Is running a regression suite QA or QC?'</a:t>
            </a:r>
          </a:p>
          <a:p>
            <a:r>
              <a:t>Bridge: next deck, verification and validation: built right, and the right product.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full QA and QC activity tables, the bakery mapping and the complete standards descriptions.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10/24/2026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10/24/2026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Quality Assurance vs Quality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Process versus product, prevention versus detection, and where Quality Engineering fits.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" y="3520440"/>
            <a:ext cx="1135273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Quality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838381" y="3630168"/>
            <a:ext cx="2713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00221" y="3520440"/>
            <a:ext cx="196750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Cost of quality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58186" y="3630168"/>
            <a:ext cx="2713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20026" y="3520440"/>
            <a:ext cx="103124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QA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741730" y="3630168"/>
            <a:ext cx="2713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03571" y="3520440"/>
            <a:ext cx="103124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QC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225275" y="3630168"/>
            <a:ext cx="2713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87115" y="3520440"/>
            <a:ext cx="103124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QE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708819" y="3630168"/>
            <a:ext cx="2713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70659" y="3520440"/>
            <a:ext cx="103124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PDCA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192363" y="3630168"/>
            <a:ext cx="27138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54203" y="3520440"/>
            <a:ext cx="103124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Gates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WEDNESDAY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Explain quality as fitness for use, conformance and user satisfaction.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 the four cost-of-quality categories to argue for prevention.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Distinguish QA (process, prevention) from QC (product, detection).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Place testing, QC, QA and Quality Engineering in one picture.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Describe PDCA, quality gates and the main quality standards.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Quality?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definitions, many dimensions, and 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Views of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3505200" cy="2103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Fitness for use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Does it serve the purpose the user needs?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Does the app help the person get the job done?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45920"/>
            <a:ext cx="3505200" cy="21031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Conformance to requirements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Does it match what was specified?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Stories and acceptance criteria met?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45920"/>
            <a:ext cx="3505200" cy="210312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5B2C83"/>
                </a:solidFill>
                <a:latin typeface="Arial"/>
              </a:rPr>
              <a:t>User satisfaction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Are users happy with it?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Easy, reliable, meets expectations?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4114800"/>
            <a:ext cx="10972800" cy="13716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224528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WHEN THEY DISAGREE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registration form that asks for details users do not have can meet every requirement and still be unfit for use.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Good quality work asks all three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Has Many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Quality is not just 'no bugs'. ISO/IEC 25010 names the characteristics of product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286000"/>
            <a:ext cx="2571750" cy="8229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Functional suitability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2998" y="2286000"/>
            <a:ext cx="2571750" cy="8229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Performance efficiency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3348" y="2286000"/>
            <a:ext cx="2571750" cy="8229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Compatibility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3698" y="2286000"/>
            <a:ext cx="2571750" cy="8229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337560"/>
            <a:ext cx="2571750" cy="8229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Reliability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2998" y="3337560"/>
            <a:ext cx="2571750" cy="8229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3348" y="3337560"/>
            <a:ext cx="2571750" cy="8229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Maintainability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13698" y="3337560"/>
            <a:ext cx="2571750" cy="82296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Portability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43484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54456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login page can be correct (functional) yet slow on a phone (performance) and unreadable to a screen reader (usability).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Recap: the characteristics were taught on Tuesday (requirements analysis).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Cost of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70248" y="164592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Cost of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743200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Cost of good quality: doing it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1928" y="2743200"/>
            <a:ext cx="5303520" cy="64008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Cost of poor quality: things going wrong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264408" y="2331720"/>
            <a:ext cx="2221992" cy="4114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75120" y="2331720"/>
            <a:ext cx="2258568" cy="4114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12648" y="3657600"/>
            <a:ext cx="257175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Prevention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Training, standards, requirement reviews, checklists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2998" y="3657600"/>
            <a:ext cx="2571750" cy="1828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Appraisal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Test execution, inspections, audits, test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3348" y="3657600"/>
            <a:ext cx="257175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Internal failure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Fixing and retesting defects found before release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13698" y="3657600"/>
            <a:ext cx="2571750" cy="1828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External failure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Support, hotfixes, refunds, lost customers, reputation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Pays: An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12648" y="160020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737360"/>
            <a:ext cx="3721608" cy="42062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Arial"/>
              </a:rPr>
              <a:t>What the numbers show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$2,000 more on prevention saved $3,200 in failure costs.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Defects escaping to customers fell from 5 to 1.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Numbers are invented; the pattern is widely observed.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and QC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Process and prevention, product and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Assurance: Build Quality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QA asks: "Are we working in a way that will produce good results?"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94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Process-oriented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0138" y="2194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Preventive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7628" y="2194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Proactive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45118" y="2194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Whole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17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Typical QA activities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520440"/>
            <a:ext cx="260604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Standards and guidelines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3520440"/>
            <a:ext cx="260604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Process audits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3520440"/>
            <a:ext cx="260604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Reviews and inspections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9408" y="3520440"/>
            <a:ext cx="260604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Training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389120"/>
            <a:ext cx="260604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Checklists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4389120"/>
            <a:ext cx="260604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Tool and process improvement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4389120"/>
            <a:ext cx="260604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Definition of Done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9408" y="4389120"/>
            <a:ext cx="2606040" cy="685800"/>
          </a:xfrm>
          <a:prstGeom prst="roundRect">
            <a:avLst>
              <a:gd name="adj" fmla="val 50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Retrospectives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257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Most QA activities do not run the software: they improve the way of working.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Control: Check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A5A5A"/>
                </a:solidFill>
                <a:latin typeface="Arial"/>
              </a:rPr>
              <a:t>QC asks: "Does this actual product meet the criteria?"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194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Product-oriented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0138" y="2194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Detective and corrective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7628" y="2194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Reactive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45118" y="2194560"/>
            <a:ext cx="2640330" cy="548640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After something is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17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Typical QC activities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520440"/>
            <a:ext cx="353568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3520440"/>
            <a:ext cx="353568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Inspecting deliverables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9767" y="3520440"/>
            <a:ext cx="353568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Finding and reporting defects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389120"/>
            <a:ext cx="353568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Checking acceptance criteria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4389120"/>
            <a:ext cx="353568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Retesting and regression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7" y="4389120"/>
            <a:ext cx="3535680" cy="685800"/>
          </a:xfrm>
          <a:prstGeom prst="roundRect">
            <a:avLst>
              <a:gd name="adj" fmla="val 50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Reporting quality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257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5A5A"/>
                </a:solidFill>
                <a:latin typeface="Arial"/>
              </a:rPr>
              <a:t>QC does not stop at 'found a problem': the fix is made and verified (corrective).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vs QC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4297680"/>
                <a:gridCol w="42976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Quality Assurance (QA)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Quality Control (QC)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Focus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The process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The product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Nature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Prevent defects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Detect and correct defects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Throughout, from the start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Mostly after something is built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Key question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Are we doing it the right way?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Is what we built good enough?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2E7D32"/>
                          </a:solidFill>
                          <a:latin typeface="Arial"/>
                        </a:rPr>
                        <a:t>Better processes, standards, skills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F4E79"/>
                          </a:solidFill>
                          <a:latin typeface="Arial"/>
                        </a:rPr>
                        <a:t>Test results, defect reports, status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Shared ground: reviews, checklists and metrics have both flavours.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A Car Factory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4592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QA on the assembly line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Written assembly procedures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Torque standards for every bolt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Training before workers join the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45920"/>
            <a:ext cx="5303520" cy="21031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QC at the end of the line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Brake test on every finished car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Inspection of paint and fit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Faulty cars sent back for rework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4023360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Only QC, no QA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Cars built carelessly, many rejected at the end: wasted parts; some faults still slip through.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4023360"/>
            <a:ext cx="5303520" cy="17373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Only QA, no QC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Perfect procedures, no brake test: a broken torque tool goes unnoticed until customers complain.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and QC on a Login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03520" cy="4434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64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QA: how the team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4846320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Review the login and registration requirements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Agree a test case template and naming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Write a Definition of Done for stories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Peer-review test cases with a checklist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Hold a short retrospective; pick one 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00200"/>
            <a:ext cx="5303520" cy="4434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764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QC: checking the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331720"/>
            <a:ext cx="4846320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Run positive cases: valid registration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Run negative cases: wrong password, empty fields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Check each acceptance criterion: pass or fail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Log defects in Jira with evidence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Retest fixes; quick regression nearby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Testing, QC, QA and QE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picture, and what the job titles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Nested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968" y="1691640"/>
            <a:ext cx="10424160" cy="4343400"/>
          </a:xfrm>
          <a:prstGeom prst="roundRect">
            <a:avLst>
              <a:gd name="adj" fmla="val 6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178308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Quality Engineering: build in, automate, CI/CD, shift-left and shift-right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78508" y="2116836"/>
            <a:ext cx="8641080" cy="3493008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7108" y="2208276"/>
            <a:ext cx="81838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Quality Assurance: process, prevention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0048" y="2542032"/>
            <a:ext cx="6858000" cy="264261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263347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Quality Control: product,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1588" y="2967228"/>
            <a:ext cx="5074920" cy="1792224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0188" y="3058668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Quality Engineering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3657600"/>
            <a:ext cx="10972800" cy="0"/>
          </a:xfrm>
          <a:prstGeom prst="line">
            <a:avLst/>
          </a:prstGeom>
          <a:ln w="317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12648" y="3703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42248" y="37033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1645920"/>
            <a:ext cx="3291840" cy="17373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Shift-left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Review requirements, test early, check code as it is written.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645920"/>
            <a:ext cx="3291840" cy="17373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Automation and CI/CD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Checks run on every change, quickly and repeatedly.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93608" y="1645920"/>
            <a:ext cx="3291840" cy="173736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5B2C83"/>
                </a:solidFill>
                <a:latin typeface="Arial"/>
              </a:rPr>
              <a:t>Shift-right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Monitoring, real usage, gradual rollouts after release.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206240"/>
            <a:ext cx="10972800" cy="14630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An engineering mindset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Quality problems are engineering problems: solve them with design, tooling and data, together with developers and the product owner from the start.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Titles and What They Mean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78638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Usually means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QA Analyst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Analyses requirements, designs and runs tests (mostly QC work)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QC Tester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Executes tests and reports defects; rarer in software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Quality Engineer (QE)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Builds quality into delivery: strategy, automation, CI/CD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SDET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Developer in test: frameworks, tools and automation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QA Lead / Manager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Plans testing, mentors, owns process and quality reporting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Titles are inconsistent: always read the actual job description.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Improving Continuously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PDCA, quality gates, Agile teams and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PDCA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3048" y="1600200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Plan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Many bugs come from unclear login requirements: add a review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3063240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Do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Next sprint, each story gets a 15-minute review before coding.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3048" y="4526280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1F4E79"/>
                </a:solidFill>
                <a:latin typeface="Arial"/>
              </a:rPr>
              <a:t>Check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Defects traced to unclear requirements: 12 → 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063240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2E7D32"/>
                </a:solidFill>
                <a:latin typeface="Arial"/>
              </a:rPr>
              <a:t>Act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Add the review to the Definition of Done; plan the next change.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70648" y="2286000"/>
            <a:ext cx="1216152" cy="77724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70648" y="4389120"/>
            <a:ext cx="1216152" cy="7315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441448" y="4389120"/>
            <a:ext cx="1371600" cy="73152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441448" y="2286000"/>
            <a:ext cx="1371600" cy="77724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27448" y="324612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PDCA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029200"/>
            <a:ext cx="33558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Check uses QC data.
Plan and Act are QA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Gates in 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103120"/>
            <a:ext cx="1332411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Commit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90779" y="262890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19379" y="2103120"/>
            <a:ext cx="1332411" cy="10515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Code review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7510" y="262890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26110" y="2103120"/>
            <a:ext cx="1332411" cy="10515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Build and unit tests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4242" y="262890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32842" y="2103120"/>
            <a:ext cx="1332411" cy="10515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Automated checks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10973" y="262890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39573" y="2103120"/>
            <a:ext cx="1332411" cy="10515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Deploy to 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7705" y="262890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46305" y="2103120"/>
            <a:ext cx="1332411" cy="1051560"/>
          </a:xfrm>
          <a:prstGeom prst="roundRect">
            <a:avLst>
              <a:gd name="adj" fmla="val 12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Smoke and acceptance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24436" y="2628900"/>
            <a:ext cx="18288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53036" y="2103120"/>
            <a:ext cx="1332411" cy="10515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Release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9379" y="1691640"/>
            <a:ext cx="13324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55A11"/>
                </a:solidFill>
                <a:latin typeface="Arial"/>
              </a:rPr>
              <a:t>Gate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6110" y="1691640"/>
            <a:ext cx="13324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55A11"/>
                </a:solidFill>
                <a:latin typeface="Arial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2842" y="1691640"/>
            <a:ext cx="13324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55A11"/>
                </a:solidFill>
                <a:latin typeface="Arial"/>
              </a:rPr>
              <a:t>Gate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6305" y="1691640"/>
            <a:ext cx="13324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55A11"/>
                </a:solidFill>
                <a:latin typeface="Arial"/>
              </a:rPr>
              <a:t>Gate 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45368" y="3154680"/>
            <a:ext cx="0" cy="548640"/>
          </a:xfrm>
          <a:prstGeom prst="line">
            <a:avLst/>
          </a:prstGeom>
          <a:ln w="22225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252728" y="3703320"/>
            <a:ext cx="9692640" cy="0"/>
          </a:xfrm>
          <a:prstGeom prst="line">
            <a:avLst/>
          </a:prstGeom>
          <a:ln w="22225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52728" y="3154680"/>
            <a:ext cx="0" cy="548640"/>
          </a:xfrm>
          <a:prstGeom prst="line">
            <a:avLst/>
          </a:prstGeom>
          <a:ln w="22225">
            <a:solidFill>
              <a:srgbClr val="8080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" y="37490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Monitoring, feedback and retrospectives feed back to the start (shift-right)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" y="434340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The gate is QA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rule 'no change moves on unless it passes' prevents bad changes.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1928" y="4343400"/>
            <a:ext cx="5303520" cy="14173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The checks are QC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Reviews, builds and tests examine the actual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in Agile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03520" cy="44348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64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30066"/>
                </a:solidFill>
                <a:latin typeface="Arial"/>
              </a:rPr>
              <a:t>Older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4846320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Testing phase at the end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QC as a late gate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QA as a separate department auditing from outside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'Send it to QA'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600200"/>
            <a:ext cx="5303520" cy="4434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764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Agile and 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331720"/>
            <a:ext cx="4846320" cy="3566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Quality is everyone's job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Testing inside every sprint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Testers in refinement before coding</a:t>
            </a:r>
          </a:p>
          <a:p>
            <a:pPr algn="l" marL="274320" indent="-274320">
              <a:spcAft>
                <a:spcPts val="8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Automated checks on every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Standards and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502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5669280"/>
                <a:gridCol w="22860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What it is about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Flavour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ISO 9001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Quality management system of an organisation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QA (process)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CMMI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Maturity of an organisation's processes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QA (process)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ISO/IEC 25010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What we mean by software product quality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Vocabulary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ISO/IEC/IEEE 29119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How to organise and document testing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QC (testing)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ISTQB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Testing certifications and a shared glossary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People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Know the names and purposes; details are learned on the job if an employer uses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120640"/>
                <a:gridCol w="58521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Treating QA and QC as the same thing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QA = process and prevention; QC = product and detection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'The QA team owns quality'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Quality is the whole team's job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Calling testing 'QA'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Testing is a QC activity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Seeing prevention as slowing us down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Show the cost-of-quality numbers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Equating quality with zero defects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Fit for use, meets criteria, acceptable risk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Quality is fitness for use, conformance and satisfaction, in many dimensions.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Prevention costs less than failure, especially failure in front of customers.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QA improves the process to prevent defects; QC checks the product to find them.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Testing sits inside QC; QE wraps everything with automation and early involvement.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PDCA turns QC data into QA improvements; gates enforce the rules.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You need both prevention and detection; neither alone is enough.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25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ASQ: Quality Assurance vs. Quality Control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https://asq.org/quality-resources/quality-assurance-vs-quality-control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ASQ: Cost of Quality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https://asq.org/quality-resources/cost-of-quality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6183</Words>
  <Application>Microsoft Office PowerPoint</Application>
  <PresentationFormat>Widescreen</PresentationFormat>
  <Paragraphs>715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Arial</vt:lpstr>
      <vt:lpstr>Courier New</vt:lpstr>
      <vt:lpstr>Wingdings</vt:lpstr>
      <vt:lpstr>Learners Point</vt:lpstr>
      <vt:lpstr>Quality Assurance vs Quality Control</vt:lpstr>
      <vt:lpstr>Learning Objectives (1 of 2)</vt:lpstr>
      <vt:lpstr>Learning Objectives (2 of 2)</vt:lpstr>
      <vt:lpstr>Why This Matters: Who Owns Quality?</vt:lpstr>
      <vt:lpstr>Three Terms</vt:lpstr>
      <vt:lpstr>What Is Quality?</vt:lpstr>
      <vt:lpstr>Three Ways to Think About Quality</vt:lpstr>
      <vt:lpstr>The Definitions Can Disagree</vt:lpstr>
      <vt:lpstr>Quality Is Multi-Dimensional</vt:lpstr>
      <vt:lpstr>ISO/IEC 25010 Characteristics</vt:lpstr>
      <vt:lpstr>ISO/IEC 25010 Notes</vt:lpstr>
      <vt:lpstr>The Cost of Quality</vt:lpstr>
      <vt:lpstr>Four Categories of Cost</vt:lpstr>
      <vt:lpstr>CoQ Example: Old Way of Working</vt:lpstr>
      <vt:lpstr>CoQ Example: After Investing in Prevention</vt:lpstr>
      <vt:lpstr>What the Example Shows</vt:lpstr>
      <vt:lpstr>Quality Assurance (QA)</vt:lpstr>
      <vt:lpstr>What Is QA?</vt:lpstr>
      <vt:lpstr>Common QA Activities (1 of 3)</vt:lpstr>
      <vt:lpstr>Common QA Activities (2 of 3)</vt:lpstr>
      <vt:lpstr>Common QA Activities (3 of 3)</vt:lpstr>
      <vt:lpstr>QA Activities: Notes</vt:lpstr>
      <vt:lpstr>Quality Control (QC)</vt:lpstr>
      <vt:lpstr>What Is QC?</vt:lpstr>
      <vt:lpstr>Common QC Activities</vt:lpstr>
      <vt:lpstr>The Corrective Part of QC</vt:lpstr>
      <vt:lpstr>Where Testing and QE Fit</vt:lpstr>
      <vt:lpstr>Where Does Testing Fit?</vt:lpstr>
      <vt:lpstr>What Is Quality Engineering?</vt:lpstr>
      <vt:lpstr>What QE Adds (continued)</vt:lpstr>
      <vt:lpstr>The Nested Model, Inside Out</vt:lpstr>
      <vt:lpstr>A Word of Caution on the Diagram</vt:lpstr>
      <vt:lpstr>Shared Areas of QA and QC</vt:lpstr>
      <vt:lpstr>QA vs QC in Detail</vt:lpstr>
      <vt:lpstr>QA vs QC Comparison (1 of 4)</vt:lpstr>
      <vt:lpstr>QA vs QC Comparison (2 of 4)</vt:lpstr>
      <vt:lpstr>QA vs QC Comparison (3 of 4)</vt:lpstr>
      <vt:lpstr>QA vs QC Comparison (4 of 4)</vt:lpstr>
      <vt:lpstr>You Need Both</vt:lpstr>
      <vt:lpstr>The Bakery Analogy</vt:lpstr>
      <vt:lpstr>Bakery: The Goal</vt:lpstr>
      <vt:lpstr>QA in the Bakery (the Process)</vt:lpstr>
      <vt:lpstr>QC in the Bakery (the Product)</vt:lpstr>
      <vt:lpstr>What If the Bakery Does Only One?</vt:lpstr>
      <vt:lpstr>Both, Plus Patterns</vt:lpstr>
      <vt:lpstr>Bakery Mapped to Software (1 of 2)</vt:lpstr>
      <vt:lpstr>Bakery Mapped to Software (2 of 2)</vt:lpstr>
      <vt:lpstr>Another Analogy: Car Factory</vt:lpstr>
      <vt:lpstr>PDCA</vt:lpstr>
      <vt:lpstr>The PDCA Cycle</vt:lpstr>
      <vt:lpstr>PDCA Steps with Software Examples</vt:lpstr>
      <vt:lpstr>PDCA Connects QA and QC</vt:lpstr>
      <vt:lpstr>Standards, Agile and Roles</vt:lpstr>
      <vt:lpstr>Standards and Models Overview</vt:lpstr>
      <vt:lpstr>Standards: How to Remember Them</vt:lpstr>
      <vt:lpstr>QA and QC in Agile and DevOps</vt:lpstr>
      <vt:lpstr>QA and QC in Agile and DevOps (continued)</vt:lpstr>
      <vt:lpstr>A Pipeline with Quality Gates</vt:lpstr>
      <vt:lpstr>Gates: QA or QC Flavor</vt:lpstr>
      <vt:lpstr>The Gate Insight</vt:lpstr>
      <vt:lpstr>Roles and Job Titles</vt:lpstr>
      <vt:lpstr>Why the Job-Title Confusion?</vt:lpstr>
      <vt:lpstr>Career Advice on Titles</vt:lpstr>
      <vt:lpstr>Applying It to Project 1</vt:lpstr>
      <vt:lpstr>Five QA Activities for Project 1</vt:lpstr>
      <vt:lpstr>More QA Ideas</vt:lpstr>
      <vt:lpstr>Five QC Activities for Project 1</vt:lpstr>
      <vt:lpstr>QA Plans, QC Executes</vt:lpstr>
      <vt:lpstr>Common Misconceptions</vt:lpstr>
      <vt:lpstr>Common Misconceptions (1 of 3)</vt:lpstr>
      <vt:lpstr>Common Misconceptions (2 of 3)</vt:lpstr>
      <vt:lpstr>Common Misconceptions (3 of 3)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3</cp:revision>
  <dcterms:modified xsi:type="dcterms:W3CDTF">2026-10-24T11:28:04Z</dcterms:modified>
</cp:coreProperties>
</file>