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39" r:id="rId8"/>
    <p:sldId id="340" r:id="rId9"/>
    <p:sldId id="341" r:id="rId10"/>
    <p:sldId id="342" r:id="rId11"/>
    <p:sldId id="343" r:id="rId12"/>
    <p:sldId id="344" r:id="rId13"/>
    <p:sldId id="345" r:id="rId14"/>
    <p:sldId id="346" r:id="rId15"/>
    <p:sldId id="347" r:id="rId16"/>
    <p:sldId id="348" r:id="rId17"/>
    <p:sldId id="349" r:id="rId18"/>
    <p:sldId id="350" r:id="rId19"/>
    <p:sldId id="351" r:id="rId20"/>
    <p:sldId id="352" r:id="rId21"/>
    <p:sldId id="353" r:id="rId22"/>
    <p:sldId id="354" r:id="rId23"/>
    <p:sldId id="355" r:id="rId24"/>
    <p:sldId id="356" r:id="rId25"/>
    <p:sldId id="357" r:id="rId26"/>
    <p:sldId id="358" r:id="rId27"/>
    <p:sldId id="359" r:id="rId28"/>
    <p:sldId id="360" r:id="rId29"/>
    <p:sldId id="361" r:id="rId30"/>
    <p:sldId id="362" r:id="rId31"/>
    <p:sldId id="363" r:id="rId32"/>
    <p:sldId id="364" r:id="rId33"/>
    <p:sldId id="365" r:id="rId34"/>
    <p:sldId id="366" r:id="rId35"/>
    <p:sldId id="338" r:id="rId83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notesMaster" Target="notesMasters/notesMaster1.xml"/><Relationship Id="rId83" Type="http://schemas.openxmlformats.org/officeDocument/2006/relationships/slide" Target="slides/slide82.xml"/><Relationship Id="rId84" Type="http://schemas.openxmlformats.org/officeDocument/2006/relationships/presProps" Target="presProps.xml"/><Relationship Id="rId85" Type="http://schemas.openxmlformats.org/officeDocument/2006/relationships/viewProps" Target="viewProps.xml"/><Relationship Id="rId86" Type="http://schemas.openxmlformats.org/officeDocument/2006/relationships/theme" Target="theme/theme1.xml"/><Relationship Id="rId8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deck of the day: the way of thinking that makes every later technique work.</a:t>
            </a:r>
          </a:p>
          <a:p>
            <a:r>
              <a:t>Order today: mindset, QA vs QC, verification vs validation, error/defect/failure, principles, positive and negative testing, manual vs automated.</a:t>
            </a:r>
          </a:p>
          <a:p>
            <a:r>
              <a:t>One analogy runs through this deck: an author and a proofreader.</a:t>
            </a:r>
          </a:p>
          <a:p>
            <a:r>
              <a:t>The cast used all week: Ananya (QE), Karan and Neha (developers), Rohan (PO), Meera (SM).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objectives map to the six parts (risk and ethics share the last part).</a:t>
            </a:r>
          </a:p>
          <a:p>
            <a:r>
              <a:t>Ask: 'What does a tester do that a developer does not?' Collect two or three answers and revisit them at the end.</a:t>
            </a:r>
          </a:p>
          <a:p>
            <a:r>
              <a:t>Techniques (Thursday) only help if the mindset decides when to use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1 sets up the idea that mindset is a habit, not a talent.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Tester 2 does not use a cleverer tool; the difference is curiosity about what nobody asked for.</a:t>
            </a:r>
          </a:p>
          <a:p>
            <a:r>
              <a:t>Employers say this way of thinking is what they look for in interviews.</a:t>
            </a:r>
          </a:p>
          <a:p>
            <a:r>
              <a:t>Ask the class for one more 'what if' on a login page before moving on.</a:t>
            </a:r>
          </a:p>
          <a:p>
            <a:r>
              <a:t>Each of Tester 2's questions maps to a category later in the deck (input, order, user, environment).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strong technique with a passive mindset only confirms what is already known.</a:t>
            </a:r>
          </a:p>
          <a:p>
            <a:r>
              <a:t>Most serious defects are found because a tester became curious, not because a case was written in advance.</a:t>
            </a:r>
          </a:p>
          <a:p>
            <a:r>
              <a:t>Mindset is how you behave with no script: a vague requirement, a close deadline, a build that 'looks fine'.</a:t>
            </a:r>
          </a:p>
          <a:p>
            <a:r>
              <a:t>Tools change; the curious, careful, constructive way of thinking keeps its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deck's one analogy: keep coming back to the author and the proofreader.</a:t>
            </a:r>
          </a:p>
          <a:p>
            <a:r>
              <a:t>A tester does not break the product; the weaknesses are already there, and the tester reveals them while they are cheap to fix.</a:t>
            </a:r>
          </a:p>
          <a:p>
            <a:r>
              <a:t>Developers should think like testers too: unit tests, code review, 'what if' while building.</a:t>
            </a:r>
          </a:p>
          <a:p>
            <a:r>
              <a:t>Testers need to think like builders: understanding how it works helps you find where it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2 names the traits; every one can be practised.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traits are about people and communication, not technical skill.</a:t>
            </a:r>
          </a:p>
          <a:p>
            <a:r>
              <a:t>Reflection: which three come naturally to you, and which two would you like to strengthen? Write them down.</a:t>
            </a:r>
          </a:p>
          <a:p>
            <a:r>
              <a:t>The next two slides give one short example per trait.</a:t>
            </a:r>
          </a:p>
          <a:p>
            <a:r>
              <a:t>Revisit the list at the end of the week: which did you use in the exercise?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example is something a tester noticed that nobody had asked them to check.</a:t>
            </a:r>
          </a:p>
          <a:p>
            <a:r>
              <a:t>Systems thinking: the product is front end, back end, database, third-party services, networks, devices and people.</a:t>
            </a:r>
          </a:p>
          <a:p>
            <a:r>
              <a:t>Ask learners for one more example from their own experience for any trait.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Humility: you can be wrong, you cannot test everything, and you can learn from anyone.</a:t>
            </a:r>
          </a:p>
          <a:p>
            <a:r>
              <a:t>Tenacity: 'it works for me' is the start of the investigation, not the end.</a:t>
            </a:r>
          </a:p>
          <a:p>
            <a:r>
              <a:t>Risk awareness links to the last part of this deck and to Tuesday's risk-based testing.</a:t>
            </a:r>
          </a:p>
          <a:p>
            <a:r>
              <a:t>Continuous learning: domain knowledge makes your questions sharper.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3 is the practical toolkit; learners use it in the afternoon demo.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feature is used by many different people in many situations, not by 'the user'.</a:t>
            </a:r>
          </a:p>
          <a:p>
            <a:r>
              <a:t>Attacker thinking means thinking about misuse to protect people, only on systems you are authorised to test.</a:t>
            </a:r>
          </a:p>
          <a:p>
            <a:r>
              <a:t>Accessibility covers permanent, temporary (a broken arm) and situational (bright sunlight) needs; it is ethical and often a legal requirement.</a:t>
            </a:r>
          </a:p>
          <a:p>
            <a:r>
              <a:t>Practice tip: before testing any feature, pick two perspectives and write one sentence each on what that person is trying to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simplest and most powerful testing tool: take something assumed to be normal and change one thing.</a:t>
            </a:r>
          </a:p>
          <a:p>
            <a:r>
              <a:t>Walk through one category with the class on a shopping cart: quantity zero? 10,000 items? price changes while in the cart?</a:t>
            </a:r>
          </a:p>
          <a:p>
            <a:r>
              <a:t>Tester 2 on the first slide used Input, Order, User and Environment.</a:t>
            </a:r>
          </a:p>
          <a:p>
            <a:r>
              <a:t>These categories return in the positive and negative testing deck as a formal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Testers are allowed, and expected, to ask questions.</a:t>
            </a:r>
          </a:p>
          <a:p>
            <a:r>
              <a:t>The best time is backlog refinement or planning: a cheap question prevents an expensive defect.</a:t>
            </a:r>
          </a:p>
          <a:p>
            <a:r>
              <a:t>A question is not an accusation; tone decides whether the next question is welcome.</a:t>
            </a:r>
          </a:p>
          <a:p>
            <a:r>
              <a:t>Ask Rohan (PO) about intent, Karan (developer) about how it is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Assumptions live in requirements ('users always have an email'), designs ('the server always responds'), code ('this list is never empty') and our heads ('nobody would do that').</a:t>
            </a:r>
          </a:p>
          <a:p>
            <a:r>
              <a:t>You do not need to read code: ask what the screen or the code is assuming, and what if that is wrong.</a:t>
            </a:r>
          </a:p>
          <a:p>
            <a:r>
              <a:t>In the example: len('   ') is 3, so three spaces pass a 3-character minimum; 500 passes an 18-or-older check.</a:t>
            </a:r>
          </a:p>
          <a:p>
            <a:r>
              <a:t>End-of-session habit: 'What did I assume? What did I skip because I felt sure?'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4: everyone has biases; process and independence counter them.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cognitive bias is a systematic shortcut in thinking; not laziness, everyone has them.</a:t>
            </a:r>
          </a:p>
          <a:p>
            <a:r>
              <a:t>Confirmation bias is the most common: we prefer proving ourselves right. Testing looks for the one case that proves us wrong.</a:t>
            </a:r>
          </a:p>
          <a:p>
            <a:r>
              <a:t>Anchoring also affects triage: once the first person calls a defect minor, others tend to agree.</a:t>
            </a:r>
          </a:p>
          <a:p>
            <a:r>
              <a:t>'Works on my machine' is a reminder, not an insult: the cure is exact steps, environment and a recording.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Independence is how far the tester is separated from the person who built the thing.</a:t>
            </a:r>
          </a:p>
          <a:p>
            <a:r>
              <a:t>Most teams mix levels: unit tests (1), peer review (2), embedded testers (3), occasional specialist assessment (5).</a:t>
            </a:r>
          </a:p>
          <a:p>
            <a:r>
              <a:t>A small internal tool may be fine with levels 1 to 3; a payment or medical system will want more.</a:t>
            </a:r>
          </a:p>
          <a:p>
            <a:r>
              <a:t>Independence of mind matters too: a questioning attitude narrows the gap even inside the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scepticism applies to AI suggestions; Week 8 covers AI in quality engineering properly.</a:t>
            </a:r>
          </a:p>
          <a:p>
            <a:r>
              <a:t>Never paste confidential data (customer records, credentials) into a tool your organisation has not approved.</a:t>
            </a:r>
          </a:p>
          <a:p>
            <a:r>
              <a:t>'The tool said it was fine' is not an acceptable explanation; accountability stays with the tester.</a:t>
            </a:r>
          </a:p>
          <a:p>
            <a:r>
              <a:t>Link: the manual vs automated deck later today returns to what a green result does and does not mean.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5: how you say it decides whether it gets fixed.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badly reported defect is ignored, misunderstood or slow to fix; reporting reflects how you treat colleagues.</a:t>
            </a:r>
          </a:p>
          <a:p>
            <a:r>
              <a:t>Avoid 'terrible', 'useless', 'you forgot', 'your code', and guesses about cause without proof.</a:t>
            </a:r>
          </a:p>
          <a:p>
            <a:r>
              <a:t>Full example from the written lesson: changed password 'NewPass#2024', Chrome 120, Windows 11, build 4.2.1.</a:t>
            </a:r>
          </a:p>
          <a:p>
            <a:r>
              <a:t>If unsure it is a defect, say so: 'I am not sure if this is intended. Could we check?'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Row 1: measured three times (8.7, 9.1, 9.4 s) on simulated slow 3G; about 1 s on a normal connection.</a:t>
            </a:r>
          </a:p>
          <a:p>
            <a:r>
              <a:t>Row 3 is Ananya talking to Karan: 'I tried the fix and step 3 still fails. I have the recording; maybe I have a different setting.'</a:t>
            </a:r>
          </a:p>
          <a:p>
            <a:r>
              <a:t>Use neutral words: 'I observed', 'the system shows'. Acknowledge good work; it buys attention for your next report.</a:t>
            </a:r>
          </a:p>
          <a:p>
            <a:r>
              <a:t>Choose the channel: a quick conversation can beat a long thread, but record the outcome in the tracker.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Developers (Karan, Neha) are partners solving the same problem; learn their language: pull requests, logs, architecture.</a:t>
            </a:r>
          </a:p>
          <a:p>
            <a:r>
              <a:t>Business terms for Rohan: 'Customers with a plus sign in their email get no welcome message' beats 'email regex fails'.</a:t>
            </a:r>
          </a:p>
          <a:p>
            <a:r>
              <a:t>Release decisions with known issues belong to those accountable for the business, informed by your honest information.</a:t>
            </a:r>
          </a:p>
          <a:p>
            <a:r>
              <a:t>Testers are quality advocates and coaches, not a gate at the end that catches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6 closes the deck: limited time and professional duty.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Exhaustive testing is impossible: one of the seven principles later today.</a:t>
            </a:r>
          </a:p>
          <a:p>
            <a:r>
              <a:t>Risk = likelihood of failure combined with impact (money, privacy, safety, reputation, users affected).</a:t>
            </a:r>
          </a:p>
          <a:p>
            <a:r>
              <a:t>Be transparent: tell stakeholders what was tested, what was not, and what risk remains.</a:t>
            </a:r>
          </a:p>
          <a:p>
            <a:r>
              <a:t>'Low risk' must be a judgement based on information, not a feeling.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Testers are trusted with systems, data and knowledge of weaknesses; ISTQB publishes a code of ethics.</a:t>
            </a:r>
          </a:p>
          <a:p>
            <a:r>
              <a:t>Use fake or masked data where possible; do not copy real personal data into public tools.</a:t>
            </a:r>
          </a:p>
          <a:p>
            <a:r>
              <a:t>Be kind in how you say it, not in what the fact is.</a:t>
            </a:r>
          </a:p>
          <a:p>
            <a:r>
              <a:t>Own your mistakes quickly; it is part of honesty.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class first: what would you do? Let two or three people answer.</a:t>
            </a:r>
          </a:p>
          <a:p>
            <a:r>
              <a:t>Release decisions belong to people like Rohan (PO) and Sunita (business owner), but they must have the facts.</a:t>
            </a:r>
          </a:p>
          <a:p>
            <a:r>
              <a:t>Silence is not an option; neither is leaking the issue outside the authorised channel.</a:t>
            </a:r>
          </a:p>
          <a:p>
            <a:r>
              <a:t>Long case study for self-study: the Mars Climate Orbiter unit mismatch, in the written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Others: testing your own work only; anchoring on the first explanation; testing without permission.</a:t>
            </a:r>
          </a:p>
          <a:p>
            <a:r>
              <a:t>Ask learners which mistake they have seen most often in previous jobs or study.</a:t>
            </a:r>
          </a:p>
          <a:p>
            <a:r>
              <a:t>Quick quiz: read a mistake aloud and ask the class for the fix before revealing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check: 'Name one bias and its counter-measure.'</a:t>
            </a:r>
          </a:p>
          <a:p>
            <a:r>
              <a:t>Bridge: the next deck asks who owns quality, and separates QA (process) from QC (product).</a:t>
            </a:r>
          </a:p>
          <a:p>
            <a:r>
              <a:t>Give learners one minute to write the takeaway they found most useful; take two or three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written lesson has the full trait examples, the six-perspective tables, the Mars Climate Orbiter case study and the price-format example.</a:t>
            </a:r>
          </a:p>
          <a:p>
            <a:r>
              <a:t>Resources are for self-study after class; none are needed for today's exercise.</a:t>
            </a:r>
          </a:p>
          <a:p>
            <a:r>
              <a:t>The written lesson for this topic is the full reference; slides are the presentation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10/24/2026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10/24/2026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Testing Mindset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Curiosity, skepticism and constructive communication: the way of thinking that makes every technique work.</a:t>
            </a:r>
          </a:p>
        </p:txBody>
      </p:sp>
      <p:sp>
        <p:nvSpPr>
          <p:cNvPr id="16" name="Oval 15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2648" y="3520440"/>
            <a:ext cx="1002246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Mindset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694754" y="3630168"/>
            <a:ext cx="23958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014195" y="3520440"/>
            <a:ext cx="910406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Traits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004462" y="3630168"/>
            <a:ext cx="23958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23903" y="3520440"/>
            <a:ext cx="1920639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User perspectives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324403" y="3630168"/>
            <a:ext cx="23958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643844" y="3520440"/>
            <a:ext cx="1369603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Questioning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093308" y="3630168"/>
            <a:ext cx="23958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12749" y="3520440"/>
            <a:ext cx="910406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Biases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403016" y="3630168"/>
            <a:ext cx="23958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722457" y="3520440"/>
            <a:ext cx="1553282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Communication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0355599" y="3630168"/>
            <a:ext cx="23958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675041" y="3520440"/>
            <a:ext cx="910406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Ethics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WEEK 3 · WEDNESDAY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612648" y="16459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70078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Explain what a testing mindset is and how it complements a developer's.</a:t>
            </a:r>
          </a:p>
        </p:txBody>
      </p:sp>
      <p:sp>
        <p:nvSpPr>
          <p:cNvPr id="5" name="Oval 4"/>
          <p:cNvSpPr/>
          <p:nvPr/>
        </p:nvSpPr>
        <p:spPr>
          <a:xfrm>
            <a:off x="612648" y="24688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52374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Describe the core traits of an effective tester.</a:t>
            </a:r>
          </a:p>
        </p:txBody>
      </p:sp>
      <p:sp>
        <p:nvSpPr>
          <p:cNvPr id="7" name="Oval 6"/>
          <p:cNvSpPr/>
          <p:nvPr/>
        </p:nvSpPr>
        <p:spPr>
          <a:xfrm>
            <a:off x="612648" y="32918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34670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Use user perspectives, what-if questions and challenged assumptions to find risks.</a:t>
            </a:r>
          </a:p>
        </p:txBody>
      </p:sp>
      <p:sp>
        <p:nvSpPr>
          <p:cNvPr id="9" name="Oval 8"/>
          <p:cNvSpPr/>
          <p:nvPr/>
        </p:nvSpPr>
        <p:spPr>
          <a:xfrm>
            <a:off x="612648" y="4114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4169663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Recognise cognitive biases and choose a suitable level of independence.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" y="4937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99262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Report problems constructively and act ethically under pressure.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Mindset?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lens, and why developer and tester lenses differ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3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Testers, One Login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A5A5A"/>
                </a:solidFill>
                <a:latin typeface="Arial"/>
              </a:rPr>
              <a:t>Same page, same two hours, same tools. Different way of thinking.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103120"/>
            <a:ext cx="5303520" cy="502920"/>
          </a:xfrm>
          <a:prstGeom prst="roundRect">
            <a:avLst>
              <a:gd name="adj" fmla="val 12000"/>
            </a:avLst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Tester 1: follows the requirements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2743200"/>
            <a:ext cx="5303520" cy="5486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Valid login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429000"/>
            <a:ext cx="5303520" cy="5486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Invalid password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4114800"/>
            <a:ext cx="5303520" cy="5486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Empty fields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4892040"/>
            <a:ext cx="530352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Result: everything passed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2103120"/>
            <a:ext cx="5303520" cy="50292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Tester 2: the same checks, then asks 'what if?'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2743200"/>
            <a:ext cx="5303520" cy="5486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Password with a trailing space?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3429000"/>
            <a:ext cx="5303520" cy="5486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Back button after logout?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8" y="4114800"/>
            <a:ext cx="5303520" cy="5486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Login clicked five times quickly?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1928" y="4800600"/>
            <a:ext cx="5303520" cy="5486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Screen reader announces the error?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4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Technique and Mindset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5303520" cy="17373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Technique: how to test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method you can look up: how to write a test case, how to pick boundary values.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Tools and frameworks change every few years.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81928" y="1645920"/>
            <a:ext cx="5303520" cy="17373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Mindset: what to wonder about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Habits and attitudes that decide when to reach for a technique.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Noticing what nobody asked you to check.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3703320"/>
            <a:ext cx="10972800" cy="86868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The tester's lens:  "How could this fail, and who would be affected if it did?"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8463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A5A5A"/>
                </a:solidFill>
                <a:latin typeface="Arial"/>
              </a:rPr>
              <a:t>Mindset is a set of habits, and habits can be practised.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5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Developer and Tester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60320"/>
                <a:gridCol w="4206240"/>
                <a:gridCol w="420624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Aspect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Developer lens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Tester lens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Main question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How do I make this work?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How could this fail, and for whom?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Direction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Build, construct, solve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Question, explore, challenge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View of input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The valid cases it was designed for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Unexpected, invalid and extreme cases too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Success feels like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 feature that works as designed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Information that makes the product better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12648" y="4709160"/>
            <a:ext cx="10972800" cy="132588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818888"/>
            <a:ext cx="105156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ANALOGY: AUTHOR AND PROOFREADER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An author reads a page and sees what they meant to write; a proofreader sees what is actually there.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Same page, different eyes: partners, not rivals. The best teams blur the 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6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Traits of an Effective Tester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Eleven traits, most of them about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7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Eleven Traits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3505200" cy="54864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Thinking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331720"/>
            <a:ext cx="3505200" cy="56692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Curiosity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3017520"/>
            <a:ext cx="3505200" cy="56692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Critical thinking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703320"/>
            <a:ext cx="3505200" cy="56692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Skepticism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4389120"/>
            <a:ext cx="3505200" cy="56692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Attention to detail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5074920"/>
            <a:ext cx="3505200" cy="56692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Systems thinking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6448" y="1645920"/>
            <a:ext cx="3505200" cy="548640"/>
          </a:xfrm>
          <a:prstGeom prst="roundRect">
            <a:avLst>
              <a:gd name="adj" fmla="val 12000"/>
            </a:avLst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People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6448" y="2331720"/>
            <a:ext cx="3505200" cy="566928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Empathy for the user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6448" y="3017520"/>
            <a:ext cx="3505200" cy="566928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Communication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6448" y="3703320"/>
            <a:ext cx="3505200" cy="566928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Humility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0248" y="1645920"/>
            <a:ext cx="3505200" cy="54864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Focus and growth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0248" y="2331720"/>
            <a:ext cx="3505200" cy="566928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Tenacity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0248" y="3017520"/>
            <a:ext cx="3505200" cy="566928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Risk awareness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0248" y="3703320"/>
            <a:ext cx="3505200" cy="566928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Continuous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Skepticism means asking for evidence, not distrusting people.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8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Thinking Traits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9502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822960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Trait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Short example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Curiosity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Search treats 'café' and 'cafe' differently; half the products go missing.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Critical thinking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'Respond quickly' becomes 'under 1 second, on a phone, with 100 users'.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Skepticism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After 'fixed', rerun the original steps and the nearby cases.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Attention to detail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Welcome email says 'Welcome, null': a real data bug.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Systems thinking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Username max 20 → 30: database, layout, emails, mobile app?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9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People and Persistence Traits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3505200" cy="201168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5B2C83"/>
                </a:solidFill>
                <a:latin typeface="Arial"/>
              </a:rPr>
              <a:t>Empathy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'Authentication failure 0x4F' becomes 'That email or password does not look right.'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645920"/>
            <a:ext cx="3505200" cy="201168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5B2C83"/>
                </a:solidFill>
                <a:latin typeface="Arial"/>
              </a:rPr>
              <a:t>Communication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Not 'checkout is broken' but exact page, action, browsers and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645920"/>
            <a:ext cx="3505200" cy="201168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5B2C83"/>
                </a:solidFill>
                <a:latin typeface="Arial"/>
              </a:rPr>
              <a:t>Humility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Codes are case-sensitive by design: thank, close, suggest a clearer message.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886200"/>
            <a:ext cx="3505200" cy="20116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  <a:latin typeface="Arial"/>
              </a:rPr>
              <a:t>Tenacity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crash 1 in 20 times turns out to need an expired session on an open form.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6448" y="3886200"/>
            <a:ext cx="3505200" cy="20116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  <a:latin typeface="Arial"/>
              </a:rPr>
              <a:t>Risk awareness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typo on 'About us' and a wrong payment total: test the total first.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0248" y="3886200"/>
            <a:ext cx="3505200" cy="20116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  <a:latin typeface="Arial"/>
              </a:rPr>
              <a:t>Continuous learning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New to payments? Read how refunds and declined cards work first.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10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Thinking Like Different Users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Perspectives, what-if questions and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11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Six User Perspectives on a Login 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3154680"/>
            <a:ext cx="3200400" cy="100584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Login 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164592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Typical user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Can I log in easily with correct details?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64592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Attacker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Thousands of passwords? Does the error reveal which emails exist?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93608" y="164592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Stressed user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Three typos and a double-click: is the message calm and clear?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452628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First-time user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Do I know the password rules before I type?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452628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Hurried user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One hand on a phone, weak signal: does autofill work?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93608" y="452628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5B2C83"/>
                </a:solidFill>
                <a:latin typeface="Arial"/>
              </a:rPr>
              <a:t>Accessibility user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Can I reach every field by Tab? Is the error announced?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58568" y="2971800"/>
            <a:ext cx="3822192" cy="18288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" y="2971800"/>
            <a:ext cx="0" cy="18288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080760" y="2971800"/>
            <a:ext cx="3858768" cy="18288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258568" y="4160520"/>
            <a:ext cx="3822192" cy="36576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080760" y="4160520"/>
            <a:ext cx="0" cy="36576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6080760" y="4160520"/>
            <a:ext cx="3858768" cy="36576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12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What-If Questioning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What if  [something unusual happens]  at  [this point]?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560320"/>
            <a:ext cx="2571750" cy="14173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Input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Empty, very long, emoji, zero, negative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12998" y="2560320"/>
            <a:ext cx="2571750" cy="14173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Order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Back button, refresh, double-click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3348" y="2560320"/>
            <a:ext cx="2571750" cy="14173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Environment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Slow network, small screen, old browser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13698" y="2560320"/>
            <a:ext cx="2571750" cy="14173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User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New, impatient, assistive tech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84248" y="4206240"/>
            <a:ext cx="2590800" cy="14173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External failure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Email service down, payment times 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3648" y="4206240"/>
            <a:ext cx="2590800" cy="14173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Amount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No records, one, a million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3047" y="4206240"/>
            <a:ext cx="2590800" cy="14173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Time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Session expires, midnight, leap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13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Asking Good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60320"/>
                <a:gridCol w="3840480"/>
                <a:gridCol w="457200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Habit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Weak question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Strong question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Be specific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What about passwords?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What should happen at 65 characters?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Open to explore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Does it work offline?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How should it behave with no internet?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Closed to confirm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Is it long enough?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Is the maximum 64 characters?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Be respectful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You forgot to say...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I want to make sure I understand the intent.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12648" y="4983480"/>
            <a:ext cx="10972800" cy="100584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09320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CLARIFYING QUESTIONS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Registration: Are usernames case-sensitive? What if the email already exists? Where are the password rules shown?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14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Challenging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A5A5A"/>
                </a:solidFill>
                <a:latin typeface="Arial"/>
              </a:rPr>
              <a:t>An assumption is something taken as true without checking. Most defects hide there.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286000"/>
            <a:ext cx="2434590" cy="9601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Notice it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92958" y="276606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458718" y="2286000"/>
            <a:ext cx="2434590" cy="9601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Name it in plain words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39028" y="276606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304788" y="2286000"/>
            <a:ext cx="2434590" cy="9601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Ask: what if it is not true?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85098" y="276606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50858" y="2286000"/>
            <a:ext cx="2434590" cy="9601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Decide: check, test or 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52044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Signal words: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41448" y="3520440"/>
            <a:ext cx="1409700" cy="438912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obviously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88307" y="3520440"/>
            <a:ext cx="1409700" cy="438912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always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5167" y="3520440"/>
            <a:ext cx="1409700" cy="438912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never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2028" y="3520440"/>
            <a:ext cx="1409700" cy="438912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everyone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28888" y="3520440"/>
            <a:ext cx="1409700" cy="438912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nobody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75748" y="3520440"/>
            <a:ext cx="1409700" cy="438912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just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" y="4389120"/>
            <a:ext cx="10972800" cy="137160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498848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register(username, age) assumes age is a whole number and username is not empty.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What if age is 'twenty' or 500? What if the username is three spaces?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15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Biases and Independence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How thinking goes wrong, and how separation helps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16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Cognitive Biases in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9502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60320"/>
                <a:gridCol w="4206240"/>
                <a:gridCol w="420624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Bias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Shows up as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Counter it by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Confirmation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Running only tests you expect to pass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Designing tests to disprove the claim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Anchoring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'This area is stable', so testing it lightly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Asking what evidence supports it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Familiarity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Missing a typo you have read twenty times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Fresh eyes, new order, another device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Optimism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'Tiny change, skip regression'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Asking for the worst realistic outcome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Works on my machine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Signing off a fix in one environment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Recording and varying the environment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17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Levels of Independence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4160520"/>
            <a:ext cx="2057400" cy="14173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E7D32"/>
                </a:solidFill>
                <a:latin typeface="Arial"/>
              </a:rPr>
              <a:t>1  Author tests own work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Unit tests by Karan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07208" y="3703320"/>
            <a:ext cx="2057400" cy="14173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E7D32"/>
                </a:solidFill>
                <a:latin typeface="Arial"/>
              </a:rPr>
              <a:t>2  Another developer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Peer review by Neha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1768" y="3246120"/>
            <a:ext cx="2057400" cy="14173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E7D32"/>
                </a:solidFill>
                <a:latin typeface="Arial"/>
              </a:rPr>
              <a:t>3  Tester in the team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Ananya in the sprint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96327" y="2788920"/>
            <a:ext cx="2057400" cy="14173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4E79"/>
                </a:solidFill>
                <a:latin typeface="Arial"/>
              </a:rPr>
              <a:t>4  Separate test group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Same company, other 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90888" y="2331720"/>
            <a:ext cx="2057400" cy="14173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4E79"/>
                </a:solidFill>
                <a:latin typeface="Arial"/>
              </a:rPr>
              <a:t>5  External testers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Specialist security firm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" y="5897880"/>
            <a:ext cx="1097280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2648" y="59436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More objectivity and fresh eyes 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8" y="59436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←  but slower feedback and less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554480"/>
            <a:ext cx="5943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A5A5A"/>
                </a:solidFill>
                <a:latin typeface="Arial"/>
              </a:rPr>
              <a:t>More separation from the author means fewer shared assumptions. More is not always better.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18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Automation Bias: Over-Trusting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A5A5A"/>
                </a:solidFill>
                <a:latin typeface="Arial"/>
              </a:rPr>
              <a:t>Automation bias: trusting a tool's result more than the evidence supports.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1945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The green suite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All tests pass, so the product is fine... but do the tests check the right things?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6448" y="21945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The generated list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Fifty suggested cases accepted, none for a stressed or accessibility user.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0248" y="21945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The clean scan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'No accessibility issues found', yet tools detect only part of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4343400"/>
            <a:ext cx="10972800" cy="77724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Ask of every tool result:  "What is this not checking?"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5349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A5A5A"/>
                </a:solidFill>
                <a:latin typeface="Arial"/>
              </a:rPr>
              <a:t>Run a few checks by hand and compare. Use tools to widen your thinking, not replace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19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Communicating and Collaborating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Reporting constructively and owning quality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20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 the Product, Not the Person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3383279" cy="8686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Factual: what you observed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041648" y="208026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407407" y="1645920"/>
            <a:ext cx="3383279" cy="8686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About the product, not the person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836408" y="2080260"/>
            <a:ext cx="320039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202167" y="1645920"/>
            <a:ext cx="3383279" cy="8686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Backed by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2834640"/>
            <a:ext cx="5303520" cy="19202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Before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"Login is broken again. Whoever changed it clearly did not test it. Fix ASAP."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2834640"/>
            <a:ext cx="5303520" cy="1920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After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"After a password change, login with the new password shows 'Invalid credentials'; the old password still works. Steps, build and recording attached."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5029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Report structure (summary, steps, expected, actual, environment) is Tuesday's defect report.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21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and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4023360"/>
                <a:gridCol w="4754880"/>
              </a:tblGrid>
              <a:tr h="82296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Problem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Before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After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Opinion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The registration page is too slow.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Confirmation takes ~9 s on slow 3G; requirement is 3 s.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Blame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You did not handle empty passwords.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Empty password shows a blank error banner.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Face to face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Your fix does not work.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Step 3 still fails for me. Can we look together?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1206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330066"/>
                </a:solidFill>
                <a:latin typeface="Arial"/>
              </a:rPr>
              <a:t>Start with what you saw. Add what you expected. Offer help.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22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With 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3505200" cy="32918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F4E79"/>
                </a:solidFill>
                <a:latin typeface="Arial"/>
              </a:rPr>
              <a:t>With developers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Share test ideas before coding starts.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Sit together to reproduce tricky bugs.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Ask what they already tested.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645920"/>
            <a:ext cx="3505200" cy="32918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5B2C83"/>
                </a:solidFill>
                <a:latin typeface="Arial"/>
              </a:rPr>
              <a:t>With the product owner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Ask what matters most to users.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Clarify acceptance criteria early.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Explain defects in business terms.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645920"/>
            <a:ext cx="3505200" cy="32918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With everyone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Quality is built in at every step.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Say 'How can I help?', not 'not my job'.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After an escape, fix the process, not the person.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52120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Three Amigos and whole-team quality were taught on Monday (Agile roles); here they become habits.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23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and Ethics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Choosing where to look, and behaving professionally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24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 Cannot Test Everything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A5A5A"/>
                </a:solidFill>
                <a:latin typeface="Arial"/>
              </a:rPr>
              <a:t>The question is not 'did we test everything?' but 'did we test the right things well enough?'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88920" y="2194560"/>
            <a:ext cx="4297680" cy="41148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Low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2194560"/>
            <a:ext cx="4297680" cy="41148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High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79" y="2743200"/>
            <a:ext cx="2011680" cy="132588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High likelihood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2743200"/>
            <a:ext cx="4297680" cy="13258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C55A11"/>
                </a:solidFill>
                <a:latin typeface="Arial"/>
              </a:rPr>
              <a:t>Test briefly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Help page text rewritten this sprint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2743200"/>
            <a:ext cx="4297680" cy="13258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C00000"/>
                </a:solidFill>
                <a:latin typeface="Arial"/>
              </a:rPr>
              <a:t>Test first, in depth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Login, registration 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79" y="4160520"/>
            <a:ext cx="2011680" cy="132588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Low likelihood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4160520"/>
            <a:ext cx="4297680" cy="13258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  <a:latin typeface="Arial"/>
              </a:rPr>
              <a:t>Test lightly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Colour of a footer link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4160520"/>
            <a:ext cx="4297680" cy="13258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C55A11"/>
                </a:solidFill>
                <a:latin typeface="Arial"/>
              </a:rPr>
              <a:t>Test carefully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Password reset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5A5A"/>
                </a:solidFill>
                <a:latin typeface="Arial"/>
              </a:rPr>
              <a:t>Recap: risk-based testing and the risk matrix were taught on Tuesday (test planning).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25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Professional Ethics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3505200" cy="20116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  <a:latin typeface="Arial"/>
              </a:rPr>
              <a:t>Honesty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Report what you found; never mark a test run that you did not run.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645920"/>
            <a:ext cx="3505200" cy="20116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  <a:latin typeface="Arial"/>
              </a:rPr>
              <a:t>Confidentiality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Keep customer data and vulnerabilities inside the authorised circle.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645920"/>
            <a:ext cx="3505200" cy="20116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  <a:latin typeface="Arial"/>
              </a:rPr>
              <a:t>Authorisation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Only test systems you have permission to test.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886200"/>
            <a:ext cx="3505200" cy="20116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  <a:latin typeface="Arial"/>
              </a:rPr>
              <a:t>Integrity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Pressure, friendship or reward do not change what you report.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6448" y="3886200"/>
            <a:ext cx="3505200" cy="20116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  <a:latin typeface="Arial"/>
              </a:rPr>
              <a:t>Public interest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If software could harm people, speak up through proper channels.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0248" y="3886200"/>
            <a:ext cx="3505200" cy="20116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  <a:latin typeface="Arial"/>
              </a:rPr>
              <a:t>Respect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Give credit, do not blame, keep learning and help others learn.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26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 Ethical Dilemma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10972800" cy="10972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" bIns="36576"/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Friday, release tomorrow. A saved address sometimes shows to another user.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You are told: "Let's not put that in writing; we'll fix it next sprint."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3108960"/>
            <a:ext cx="3383279" cy="10058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Record the defect honestly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41648" y="361188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407407" y="3108960"/>
            <a:ext cx="3383279" cy="10058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Explain the risk: privacy exposure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836408" y="3611880"/>
            <a:ext cx="320039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202167" y="3108960"/>
            <a:ext cx="3383279" cy="10058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Escalate to the release decision-makers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44805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You do not need to be dramatic. You need to be honest and make sure the right people have the information.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27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COMMON MISTAKES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303520"/>
                <a:gridCol w="566928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Mistake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Do instead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Testing only what you were told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Add what-if questions and other perspectives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Assuming 'nobody would do that'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Name the assumption and test it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Blaming the developer in a report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Describe the behaviour and the evidence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Trusting a green suite or a tool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Ask what it is not checking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Softening a serious finding under pressure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Record it honestly and escalate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28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12648" y="16002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6550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A mindset is a set of habits; in testing it matters as much as technique.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3317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38658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Developer and tester lenses are partners: build, then question.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30632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11810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Use many users' eyes, what-if questions and challenged assumptions.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3794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84962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Biases are normal: counter them with disproving tests and fresh eyes.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5262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58114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Report the product, not the person, with evidence; quality is a team job.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" y="5257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53126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Focus on risk, be transparent about gaps, and stay honest under pressure.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29 / 30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ISTQB: Foundation Level syllabus and code of ethics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https://www.istqb.org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ISTQB Glossary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https://glossary.istqb.org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Ministry of Testing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https://www.ministryoftesting.com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7381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544" y="37747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Atlassian Agile Coach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https://www.atlassian.com/agile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7044</Words>
  <Application>Microsoft Office PowerPoint</Application>
  <PresentationFormat>Widescreen</PresentationFormat>
  <Paragraphs>691</Paragraphs>
  <Slides>82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6" baseType="lpstr">
      <vt:lpstr>Arial</vt:lpstr>
      <vt:lpstr>Courier New</vt:lpstr>
      <vt:lpstr>Wingdings</vt:lpstr>
      <vt:lpstr>Learners Point</vt:lpstr>
      <vt:lpstr>Testing Mindset</vt:lpstr>
      <vt:lpstr>Learning Objectives (1 of 2)</vt:lpstr>
      <vt:lpstr>Learning Objectives (2 of 2)</vt:lpstr>
      <vt:lpstr>Why This Matters: Two Testers, One Login Page</vt:lpstr>
      <vt:lpstr>Mindset Matters as Much as Technique</vt:lpstr>
      <vt:lpstr>What Is a Mindset?</vt:lpstr>
      <vt:lpstr>What Is a Mindset?</vt:lpstr>
      <vt:lpstr>Analogy: Chef and Health Inspector</vt:lpstr>
      <vt:lpstr>Why Mindset Matters as Much as Technique</vt:lpstr>
      <vt:lpstr>Developer Mindset vs Tester Mindset</vt:lpstr>
      <vt:lpstr>This Is Not a Rivalry</vt:lpstr>
      <vt:lpstr>Analogy: Bridge Engineer and Inspector</vt:lpstr>
      <vt:lpstr>Core Traits of an Effective Tester</vt:lpstr>
      <vt:lpstr>Trait 1: Curiosity</vt:lpstr>
      <vt:lpstr>Trait 2: Critical Thinking</vt:lpstr>
      <vt:lpstr>Trait 3: Skepticism</vt:lpstr>
      <vt:lpstr>Trait 4: Attention to Detail</vt:lpstr>
      <vt:lpstr>Trait 5: Systems Thinking</vt:lpstr>
      <vt:lpstr>Trait 6: Empathy for the User</vt:lpstr>
      <vt:lpstr>Trait 7: Communication</vt:lpstr>
      <vt:lpstr>Trait 8: Tenacity</vt:lpstr>
      <vt:lpstr>Trait 9: Humility</vt:lpstr>
      <vt:lpstr>Trait 10: Risk Awareness</vt:lpstr>
      <vt:lpstr>Trait 11: Continuous Learning</vt:lpstr>
      <vt:lpstr>Reflection: Your Traits</vt:lpstr>
      <vt:lpstr>Thinking Like Different Users</vt:lpstr>
      <vt:lpstr>Six User Perspectives (1 of 2)</vt:lpstr>
      <vt:lpstr>Six User Perspectives (2 of 2)</vt:lpstr>
      <vt:lpstr>Attacker and Accessibility Notes</vt:lpstr>
      <vt:lpstr>Practice Tip: Pick Two Perspectives</vt:lpstr>
      <vt:lpstr>The Art of Questioning</vt:lpstr>
      <vt:lpstr>What-If Questioning</vt:lpstr>
      <vt:lpstr>Categories of What-If (1 of 2)</vt:lpstr>
      <vt:lpstr>Categories of What-If (2 of 2)</vt:lpstr>
      <vt:lpstr>Asking Good Questions</vt:lpstr>
      <vt:lpstr>Clarifying Questions: Registration</vt:lpstr>
      <vt:lpstr>Challenging Assumptions</vt:lpstr>
      <vt:lpstr>An Assumption Hiding in Code</vt:lpstr>
      <vt:lpstr>Questioning the Assumptions in register()</vt:lpstr>
      <vt:lpstr>Cognitive Biases and Independence</vt:lpstr>
      <vt:lpstr>What Is a Cognitive Bias?</vt:lpstr>
      <vt:lpstr>Cognitive Biases (1 of 2)</vt:lpstr>
      <vt:lpstr>Cognitive Biases (2 of 2)</vt:lpstr>
      <vt:lpstr>Notes on the Biases</vt:lpstr>
      <vt:lpstr>Independence of Testing</vt:lpstr>
      <vt:lpstr>Levels of Independence (1 of 2)</vt:lpstr>
      <vt:lpstr>Levels of Independence (2 of 2)</vt:lpstr>
      <vt:lpstr>Independence: Important Points</vt:lpstr>
      <vt:lpstr>Communicating and Collaborating</vt:lpstr>
      <vt:lpstr>Reporting Problems Constructively</vt:lpstr>
      <vt:lpstr>Before and After 1: Vague vs Factual</vt:lpstr>
      <vt:lpstr>Before and After 2: Opinion vs Evidence</vt:lpstr>
      <vt:lpstr>Before and After 3: Person vs Behaviour</vt:lpstr>
      <vt:lpstr>Before and After 4: Face to Face</vt:lpstr>
      <vt:lpstr>Tips for Tone</vt:lpstr>
      <vt:lpstr>Collaborating with Developers</vt:lpstr>
      <vt:lpstr>Collaborating with Product Owners</vt:lpstr>
      <vt:lpstr>Three Amigos</vt:lpstr>
      <vt:lpstr>Quality Is a Whole-Team Responsibility</vt:lpstr>
      <vt:lpstr>What Ownership Looks Like</vt:lpstr>
      <vt:lpstr>Risk, Ethics, Agile and AI</vt:lpstr>
      <vt:lpstr>You Can Never Test Everything</vt:lpstr>
      <vt:lpstr>Risk-Based Thinking</vt:lpstr>
      <vt:lpstr>Likelihood and Impact Grid</vt:lpstr>
      <vt:lpstr>Risk Applied to Project 1</vt:lpstr>
      <vt:lpstr>Risk Rules of Thumb</vt:lpstr>
      <vt:lpstr>Ethical and Professional Behaviour (1 of 2)</vt:lpstr>
      <vt:lpstr>Ethical and Professional Behaviour (2 of 2)</vt:lpstr>
      <vt:lpstr>Ethical Dilemma: Friday Release</vt:lpstr>
      <vt:lpstr>Mindset in Agile Teams</vt:lpstr>
      <vt:lpstr>Mindset in Agile Teams (continued)</vt:lpstr>
      <vt:lpstr>AI Tools: Support and Limits</vt:lpstr>
      <vt:lpstr>Always Verify AI Output</vt:lpstr>
      <vt:lpstr>Automation Bias: Examples</vt:lpstr>
      <vt:lpstr>Counter-Measures for Automation Bias</vt:lpstr>
      <vt:lpstr>Case Study</vt:lpstr>
      <vt:lpstr>Case Study: Mars Climate Orbiter, 1999</vt:lpstr>
      <vt:lpstr>Case Study: What Testers Learn</vt:lpstr>
      <vt:lpstr>An Everyday Version: Price Formats</vt:lpstr>
      <vt:lpstr>Summary (1 of 2)</vt:lpstr>
      <vt:lpstr>Summary (2 of 2)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3</cp:revision>
  <dcterms:modified xsi:type="dcterms:W3CDTF">2026-10-24T11:21:03Z</dcterms:modified>
</cp:coreProperties>
</file>