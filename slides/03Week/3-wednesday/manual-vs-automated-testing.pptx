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72" r:id="rId32"/>
    <p:sldId id="373" r:id="rId33"/>
    <p:sldId id="347" r:id="rId92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notesMaster" Target="notesMasters/notesMaster1.xml"/><Relationship Id="rId92" Type="http://schemas.openxmlformats.org/officeDocument/2006/relationships/slide" Target="slides/slide91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</c:v>
                </c:pt>
              </c:strCache>
            </c:strRef>
          </c:tx>
          <c:spPr>
            <a:ln w="34925">
              <a:solidFill>
                <a:srgbClr val="5B2C83"/>
              </a:solidFill>
            </a:ln>
          </c:spPr>
          <c:marker>
            <c:spPr>
              <a:solidFill>
                <a:srgbClr val="5B2C83"/>
              </a:solidFill>
              <a:ln>
                <a:solidFill>
                  <a:srgbClr val="5B2C83"/>
                </a:solidFill>
              </a:ln>
            </c:spPr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1280</c:v>
                </c:pt>
                <c:pt idx="2">
                  <c:v>2560</c:v>
                </c:pt>
                <c:pt idx="3">
                  <c:v>3840</c:v>
                </c:pt>
                <c:pt idx="4">
                  <c:v>5120</c:v>
                </c:pt>
                <c:pt idx="5">
                  <c:v>6400</c:v>
                </c:pt>
                <c:pt idx="6">
                  <c:v>7680</c:v>
                </c:pt>
                <c:pt idx="7">
                  <c:v>8960</c:v>
                </c:pt>
                <c:pt idx="8">
                  <c:v>10240</c:v>
                </c:pt>
                <c:pt idx="9">
                  <c:v>11520</c:v>
                </c:pt>
                <c:pt idx="10">
                  <c:v>12800</c:v>
                </c:pt>
                <c:pt idx="11">
                  <c:v>14080</c:v>
                </c:pt>
                <c:pt idx="12">
                  <c:v>15360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Automated (incl. $3,000 build)</c:v>
                </c:pt>
              </c:strCache>
            </c:strRef>
          </c:tx>
          <c:spPr>
            <a:ln w="34925">
              <a:solidFill>
                <a:srgbClr val="1F4E79"/>
              </a:solidFill>
            </a:ln>
          </c:spPr>
          <c:marker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3000</c:v>
                </c:pt>
                <c:pt idx="1">
                  <c:v>3280</c:v>
                </c:pt>
                <c:pt idx="2">
                  <c:v>3560</c:v>
                </c:pt>
                <c:pt idx="3">
                  <c:v>3840</c:v>
                </c:pt>
                <c:pt idx="4">
                  <c:v>4120</c:v>
                </c:pt>
                <c:pt idx="5">
                  <c:v>4400</c:v>
                </c:pt>
                <c:pt idx="6">
                  <c:v>4680</c:v>
                </c:pt>
                <c:pt idx="7">
                  <c:v>4960</c:v>
                </c:pt>
                <c:pt idx="8">
                  <c:v>5240</c:v>
                </c:pt>
                <c:pt idx="9">
                  <c:v>5520</c:v>
                </c:pt>
                <c:pt idx="10">
                  <c:v>5800</c:v>
                </c:pt>
                <c:pt idx="11">
                  <c:v>6080</c:v>
                </c:pt>
                <c:pt idx="12">
                  <c:v>6360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>
                    <a:solidFill>
                      <a:srgbClr val="5A5A5A"/>
                    </a:solidFill>
                    <a:latin typeface="Arial"/>
                  </a:rPr>
                  <a:t>Cumulative cost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deck of the day: who should run this test, a person or a program?</a:t>
            </a:r>
          </a:p>
          <a:p>
            <a:r>
              <a:t>Tools are named only; pytest starts in Week 4, Playwright in Week 4-5, CI/CD in Week 7, AI tools in Week 8.</a:t>
            </a:r>
          </a:p>
          <a:p>
            <a:r>
              <a:t>One analogy runs through the deck: washing dishes by hand vs a dishwasher.</a:t>
            </a:r>
          </a:p>
          <a:p>
            <a:r>
              <a:t>The Python login example, the automation lifecycle and career paths are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course moves from manual foundations (this week) to automation (Weeks 4 to 9).</a:t>
            </a:r>
          </a:p>
          <a:p>
            <a:r>
              <a:t>Ask: 'If you could automate every test, would you?' Revisit after the ROI part.</a:t>
            </a:r>
          </a:p>
          <a:p>
            <a:r>
              <a:t>Today's positive and negative cases are the raw material for tomorrow's automation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what people do better than programs, and where they struggle.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A dishwasher loaded wrong washes a dirty plate badly: an automated test with a wrong assertion passes a broken feature.</a:t>
            </a:r>
          </a:p>
          <a:p>
            <a:r>
              <a:t>It cannot wash a fragile antique: some tests are cheaper, safer or only possible by hand.</a:t>
            </a:r>
          </a:p>
          <a:p>
            <a:r>
              <a:t>Ask: what is the 'chipped plate' in software? (A confusing message, an ugly layout.)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human executes test cases by hand: reads, interacts, observes, compares actual with expected.</a:t>
            </a:r>
          </a:p>
          <a:p>
            <a:r>
              <a:t>A test case is Tuesday's documented steps, data and expected result.</a:t>
            </a:r>
          </a:p>
          <a:p>
            <a:r>
              <a:t>These are the same traits as this morning's testing mindset deck.</a:t>
            </a:r>
          </a:p>
          <a:p>
            <a:r>
              <a:t>Exploratory testing, where design and execution happen together, is taught on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Ad-hoc testing: informal, unplanned testing from experience, e.g. trying odd inputs on a brand-new screen.</a:t>
            </a:r>
          </a:p>
          <a:p>
            <a:r>
              <a:t>A suite of 500 manual cases may take days to run.</a:t>
            </a:r>
          </a:p>
          <a:p>
            <a:r>
              <a:t>Bored or tired people overlook failures: human error.</a:t>
            </a:r>
          </a:p>
          <a:p>
            <a:r>
              <a:t>To test twice as much you need roughly twice the people or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the building blocks, and what a green result really means.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Assertion: a statement that must be true; if false, the test fails. Example: the welcome message equals 'Welcome, testuser'.</a:t>
            </a:r>
          </a:p>
          <a:p>
            <a:r>
              <a:t>Framework examples (names only): pytest for Python, JUnit for Java; Week 4 starts pytest.</a:t>
            </a:r>
          </a:p>
          <a:p>
            <a:r>
              <a:t>Reports often include screenshots and logs.</a:t>
            </a:r>
          </a:p>
          <a:p>
            <a:r>
              <a:t>Expected and actual result mean the same as in manual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loop of every automated test.</a:t>
            </a:r>
          </a:p>
          <a:p>
            <a:r>
              <a:t>Week 2 taught Python's assert; Week 4 teaches pytest, which finds functions named test_ automatically.</a:t>
            </a:r>
          </a:p>
          <a:p>
            <a:r>
              <a:t>The full five-test login example (manual cases, app code, tests, mini runner) is in the written lesson.</a:t>
            </a:r>
          </a:p>
          <a:p>
            <a:r>
              <a:t>Try it in the lesson: change the stored password and watch the tests fail: a regression caught.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Flaky test: sometimes passes, sometimes fails, with no product change (timing, slow networks, unstable data).</a:t>
            </a:r>
          </a:p>
          <a:p>
            <a:r>
              <a:t>'All 800 tests passed' feels great; if the tests are shallow, serious defects can still hide (automation bias, mindset deck).</a:t>
            </a:r>
          </a:p>
          <a:p>
            <a:r>
              <a:t>Automation needs technical skill: coding, debugging, test design.</a:t>
            </a:r>
          </a:p>
          <a:p>
            <a:r>
              <a:t>Scripts that are not maintained become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neither column wins every row, so decide per test.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Accuracy: manual is prone to fatigue errors; automation does exactly what the script says, including exactly the wrong thing.</a:t>
            </a:r>
          </a:p>
          <a:p>
            <a:r>
              <a:t>Skills: manual needs domain knowledge and observation; automation adds programming and framework design.</a:t>
            </a:r>
          </a:p>
          <a:p>
            <a:r>
              <a:t>Feedback: manual results arrive hours or days after a change; automated ones in minutes.</a:t>
            </a:r>
          </a:p>
          <a:p>
            <a:r>
              <a:t>Initial investment: a tester and a document versus tools, framework, engineers and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more runs, the more the up-front cost is repaid; stable features mean less maintenance.</a:t>
            </a:r>
          </a:p>
          <a:p>
            <a:r>
              <a:t>Data-driven, regression and performance testing are taught on Friday.</a:t>
            </a:r>
          </a:p>
          <a:p>
            <a:r>
              <a:t>New feature: test by hand first, automate once it settles.</a:t>
            </a:r>
          </a:p>
          <a:p>
            <a:r>
              <a:t>Hard to automate: physical devices, CAPTCHAs, complex human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left to right: any answer that points down means keep it manual for now.</a:t>
            </a:r>
          </a:p>
          <a:p>
            <a:r>
              <a:t>'Needs human judgement' covers usability, look and feel, and wording.</a:t>
            </a:r>
          </a:p>
          <a:p>
            <a:r>
              <a:t>'Pays back' links to the ROI part next.</a:t>
            </a:r>
          </a:p>
          <a:p>
            <a:r>
              <a:t>Ask learners to run one of their registration cases through the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widget: explore it by hand; revisit automation when it stabilises.</a:t>
            </a:r>
          </a:p>
          <a:p>
            <a:r>
              <a:t>The flaky test: the product is fine, the test is badly designed (timing). Week 4-5 covers waits.</a:t>
            </a:r>
          </a:p>
          <a:p>
            <a:r>
              <a:t>Ignoring flakiness teaches the team to ignore failures, including real ones.</a:t>
            </a:r>
          </a:p>
          <a:p>
            <a:r>
              <a:t>Ask: what would change the widget decision?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all numbers are invented to make the arithmetic easy; real teams measure their own.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Break-even: where total savings equal total investment.</a:t>
            </a:r>
          </a:p>
          <a:p>
            <a:r>
              <a:t>ROI after 12 months: savings 12 × $1,000 = $12,000; net gain $9,000; ROI = $9,000 / $3,000 = 300%.</a:t>
            </a:r>
          </a:p>
          <a:p>
            <a:r>
              <a:t>Review time: 15 minutes per run at $40 an hour = $10.</a:t>
            </a:r>
          </a:p>
          <a:p>
            <a:r>
              <a:t>These are not industry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Manual grows by $1,280 a month; automated starts at $3,000 and grows by $280.</a:t>
            </a:r>
          </a:p>
          <a:p>
            <a:r>
              <a:t>Counter-example: a one-time migration check costs $160 by hand; scripting it costs thousands; keep it manual.</a:t>
            </a:r>
          </a:p>
          <a:p>
            <a:r>
              <a:t>If the UI changes every sprint and maintenance triples, break-even moves far out.</a:t>
            </a:r>
          </a:p>
          <a:p>
            <a:r>
              <a:t>The month axis is labelled 0 to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Automation costs more at first and pays back over time: it does not save money immediately.</a:t>
            </a:r>
          </a:p>
          <a:p>
            <a:r>
              <a:t>Rohan (PO) and Sunita (business owner) usually want this argument in money and time.</a:t>
            </a:r>
          </a:p>
          <a:p>
            <a:r>
              <a:t>Measure your own team's real costs before presenting a number.</a:t>
            </a:r>
          </a:p>
          <a:p>
            <a:r>
              <a:t>Ask: what would make the break-even month earlier?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the shape of a healthy suite and a hybrid way of working.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Popularised by Mike Cohn and discussed by Martin Fowler (see resources).</a:t>
            </a:r>
          </a:p>
          <a:p>
            <a:r>
              <a:t>Unit test: does login() return the right message for a wrong password? Usually written by developers.</a:t>
            </a:r>
          </a:p>
          <a:p>
            <a:r>
              <a:t>API test: send a login request to the server and check the response, no browser needed (Week 7).</a:t>
            </a:r>
          </a:p>
          <a:p>
            <a:r>
              <a:t>UI test: open the browser, type, click, read the result (Weeks 4 and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anti-pattern looks sensible but causes problems.</a:t>
            </a:r>
          </a:p>
          <a:p>
            <a:r>
              <a:t>Mostly UI tests turns the pyramid upside down.</a:t>
            </a:r>
          </a:p>
          <a:p>
            <a:r>
              <a:t>Later weeks return to the pyramid in detail; for now remember the shape.</a:t>
            </a:r>
          </a:p>
          <a:p>
            <a:r>
              <a:t>Ask: which level would you use to check every invalid email format? (Unit or API.)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Myth: 'automation will make manual testers obsolete'. Reality: roles evolve; many testers grow into automation.</a:t>
            </a:r>
          </a:p>
          <a:p>
            <a:r>
              <a:t>Myth: 'automation saves money immediately'. Reality: see the ROI part.</a:t>
            </a:r>
          </a:p>
          <a:p>
            <a:r>
              <a:t>Myth: 'automation is only for people who code like developers'. Reality: this course builds the skills step by step.</a:t>
            </a:r>
          </a:p>
          <a:p>
            <a:r>
              <a:t>Tools (names only, later weeks): Selenium, Playwright, Cypress, Postman, pytest, JUnit, JMeter, Appium, Jenkins,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Automation protects old features each sprint; manual effort focuses on the new ones.</a:t>
            </a:r>
          </a:p>
          <a:p>
            <a:r>
              <a:t>Automation has its own loop: select, design, build, run, maintain, report; maintenance never ends (written lesson).</a:t>
            </a:r>
          </a:p>
          <a:p>
            <a:r>
              <a:t>In CI/CD, automated tests are the gates that run on every change (Week 7).</a:t>
            </a:r>
          </a:p>
          <a:p>
            <a:r>
              <a:t>AI can draft tests and data but needs human review; Week 8 covers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automate later: cross-browser login once core scripts are stable; empty-field messages.</a:t>
            </a:r>
          </a:p>
          <a:p>
            <a:r>
              <a:t>Keep manual: whether error messages look right and sound helpful; exploratory sessions with odd inputs; anything under redesign.</a:t>
            </a:r>
          </a:p>
          <a:p>
            <a:r>
              <a:t>Exploration findings become the next automation candidates.</a:t>
            </a:r>
          </a:p>
          <a:p>
            <a:r>
              <a:t>Bridge to the exercise: mark each of your test cases 'automate' or 'keep manual' with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forgetting maintenance cost in the business case; automating a badly designed manual test as-is.</a:t>
            </a:r>
          </a:p>
          <a:p>
            <a:r>
              <a:t>Ask: which mistake have you seen in a team you worked with?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'A check runs once a quarter on a screen redesigned every sprint. Automate?'</a:t>
            </a:r>
          </a:p>
          <a:p>
            <a:r>
              <a:t>Bridge: the afternoon demo and exercise, then Thursday's test design techniques.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full comparison tables, the Python login example, the automation lifecycle, tool names and career paths.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10/24/2026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10/24/2026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Manual vs Automated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Who should run this test: a person or a program? Strengths, trade-offs, ROI, the pyramid and a hybrid strategy.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2648" y="3520440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746504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12264" y="3520440"/>
            <a:ext cx="135788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Automated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561588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27348" y="3520440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Decide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061204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26964" y="3520440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ROI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560820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26580" y="3520440"/>
            <a:ext cx="114757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Pyramid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165592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31352" y="3520440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Hybrid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WEDNESDAY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Describe the strengths and weaknesses of manual and automated testing.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Compare the two across the dimensions that matter.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Decide whether to automate a test with a checklist and a break-even estimate.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the test automation pyramid and the ice-cream cone anti-pattern.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Plan a hybrid strategy and correct common automation myths.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Human-executed: flexible, observant, slow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By Hand vs Dishwasher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03520" cy="3291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5B2C83"/>
                </a:solidFill>
                <a:latin typeface="Arial"/>
              </a:rPr>
              <a:t>Washing by hand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Flexible: a delicate glass, a burnt pot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Notices the chipped plate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Slow, tiring, quality varies with fatigue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45920"/>
            <a:ext cx="5303520" cy="3291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F4E79"/>
                </a:solidFill>
                <a:latin typeface="Arial"/>
              </a:rPr>
              <a:t>Dishwasher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500 plates the same way every night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Costs money, needs maintenance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Never notices a chipped 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521208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Manual testing is the flexible human; automation is the tireless machine. A good team uses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Manual Testing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865376" cy="9601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Read the step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3744" y="23088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9504" y="1828800"/>
            <a:ext cx="1865376" cy="9601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Act on the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00600" y="23088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66360" y="1828800"/>
            <a:ext cx="1865376" cy="9601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Observe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77456" y="23088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43216" y="1828800"/>
            <a:ext cx="1865376" cy="9601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Compare with expected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54312" y="230886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20072" y="1828800"/>
            <a:ext cx="1865376" cy="9601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Record pass or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7" y="28803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+ log a defect on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Skills of a good manual tester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0690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Curiosity and observation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40690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Domain knowledge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6632" y="40690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Clear 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40690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Critical thinking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0616" y="40690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Patience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029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None of these needs programming: manual testing is a common entry point.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Manual: Strengths and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03520" cy="4434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64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4846320" cy="3566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Exploration and curiosity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Usability: is it easy and pleasant?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Visual checks: squashed logo, overlap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Judgement: is the message rude or unclear?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Low start-up cost: test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00200"/>
            <a:ext cx="5303520" cy="44348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764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331720"/>
            <a:ext cx="4846320" cy="3566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Slow: human speed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Repetitive work leads to skipped steps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Hard to scale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Cannot re-run everything hourly, at 3 a.m., on 10 browsers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Cost repeats on every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Software executes, compares and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Automated Testing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27432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Test framework: structure, conventions, shared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2331720"/>
            <a:ext cx="229743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Test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30118" y="28575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6968" y="3474720"/>
            <a:ext cx="229743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Usernames, passwords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5878" y="2331720"/>
            <a:ext cx="2297430" cy="10515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Test script with assertions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39028" y="28575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95878" y="3474720"/>
            <a:ext cx="229743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Steps + 'this must be true'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4788" y="2331720"/>
            <a:ext cx="229743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Test runner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7938" y="28575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04788" y="3474720"/>
            <a:ext cx="229743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Finds and runs the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3698" y="2331720"/>
            <a:ext cx="2297430" cy="10515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Test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3698" y="3474720"/>
            <a:ext cx="229743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Passed, failed, skipped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091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 program follows the steps, compares actual with expected, and reports, with little human involvement during the run.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Arrange, Act, Assert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383279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Arrange: set up the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41648" y="22402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07407" y="1783080"/>
            <a:ext cx="3383279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Act: do the thing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24028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2167" y="1783080"/>
            <a:ext cx="3383279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Assert: check the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06324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0040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Courier New"/>
              </a:rPr>
              <a:t>def test_wrong_password():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Courier New"/>
              </a:rPr>
              <a:t>    assert login("testuser", "wrong") == "Error: invalid credentials"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5720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Each manual test case becomes one function; the expected result becomes the right side of ==.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It runs in a fraction of a second, identically every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Automation: Strengths and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03520" cy="3657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64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484632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Speed: hundreds of checks in minutes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Repeatable: no skipped steps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Coverage: more data, more browsers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Runs on every change and overnight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Fast feedback to developers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00200"/>
            <a:ext cx="5303520" cy="36576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764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331720"/>
            <a:ext cx="484632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Up-front cost to build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Maintenance whenever the app changes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Flaky tests destroy trust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Cannot judge usability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Checks only what it was told to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5440680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 green run means 'the things it checks still work', not 'the product is good'.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and Deciding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Which tests a program should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vs Automated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4206240"/>
                <a:gridCol w="42062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Automated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Speed per run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5B2C83"/>
                          </a:solidFill>
                          <a:latin typeface="Arial"/>
                        </a:rPr>
                        <a:t>Slow, human speed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4E79"/>
                          </a:solidFill>
                          <a:latin typeface="Arial"/>
                        </a:rPr>
                        <a:t>Fast, machine speed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Cost over time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5B2C83"/>
                          </a:solidFill>
                          <a:latin typeface="Arial"/>
                        </a:rPr>
                        <a:t>Low start, repeats every run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4E79"/>
                          </a:solidFill>
                          <a:latin typeface="Arial"/>
                        </a:rPr>
                        <a:t>High start, cheap per run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Exploration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5B2C83"/>
                          </a:solidFill>
                          <a:latin typeface="Arial"/>
                        </a:rPr>
                        <a:t>Excellent: adapts and notices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4E79"/>
                          </a:solidFill>
                          <a:latin typeface="Arial"/>
                        </a:rPr>
                        <a:t>Very limited: follows the script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Maintenance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5B2C83"/>
                          </a:solidFill>
                          <a:latin typeface="Arial"/>
                        </a:rPr>
                        <a:t>Light: update the document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4E79"/>
                          </a:solidFill>
                          <a:latin typeface="Arial"/>
                        </a:rPr>
                        <a:t>Heavy and continuous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Best fit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5B2C83"/>
                          </a:solidFill>
                          <a:latin typeface="Arial"/>
                        </a:rPr>
                        <a:t>New, changing, usability, one-off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4E79"/>
                          </a:solidFill>
                          <a:latin typeface="Arial"/>
                        </a:rPr>
                        <a:t>Stable, repetitive, data-heavy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Neither column wins every row: the two complement each 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 or Keep Manual?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Good automation candidates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03120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Repetitive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2103120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Stable 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971800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High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971800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Data-heavy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840479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Cross-browser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3840479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4709159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Smoke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4709159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160020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5B2C83"/>
                </a:solidFill>
                <a:latin typeface="Arial"/>
              </a:rPr>
              <a:t>Keep manual (for now)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2103120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One-time 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5128" y="2103120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UI changing every sprint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2971800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2971800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Exploratory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3840479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Brand-new feature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3840479"/>
            <a:ext cx="2560320" cy="68580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CAPTCHA, devices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Count the signs on each side; if mixed, start manual and revisit. A thinking aid, not a formula.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Decision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Diamond 3"/>
          <p:cNvSpPr/>
          <p:nvPr/>
        </p:nvSpPr>
        <p:spPr>
          <a:xfrm>
            <a:off x="612648" y="2011680"/>
            <a:ext cx="2240280" cy="123444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Run often?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52928" y="2624328"/>
            <a:ext cx="27432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15768" y="21488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yes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28216" y="3246120"/>
            <a:ext cx="0" cy="914400"/>
          </a:xfrm>
          <a:prstGeom prst="line">
            <a:avLst/>
          </a:prstGeom>
          <a:ln w="22225">
            <a:solidFill>
              <a:srgbClr val="5B2C8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01368" y="34747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2C83"/>
                </a:solidFill>
                <a:latin typeface="Arial"/>
              </a:rPr>
              <a:t>no</a:t>
            </a:r>
          </a:p>
        </p:txBody>
      </p:sp>
      <p:sp>
        <p:nvSpPr>
          <p:cNvPr id="9" name="Diamond 8"/>
          <p:cNvSpPr/>
          <p:nvPr/>
        </p:nvSpPr>
        <p:spPr>
          <a:xfrm>
            <a:off x="3127248" y="2011680"/>
            <a:ext cx="2240280" cy="123444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Feature stable?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67528" y="2624328"/>
            <a:ext cx="27432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30368" y="21488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yes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42816" y="3246120"/>
            <a:ext cx="0" cy="914400"/>
          </a:xfrm>
          <a:prstGeom prst="line">
            <a:avLst/>
          </a:prstGeom>
          <a:ln w="22225">
            <a:solidFill>
              <a:srgbClr val="5B2C8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15968" y="34747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2C83"/>
                </a:solidFill>
                <a:latin typeface="Arial"/>
              </a:rPr>
              <a:t>no</a:t>
            </a:r>
          </a:p>
        </p:txBody>
      </p:sp>
      <p:sp>
        <p:nvSpPr>
          <p:cNvPr id="14" name="Diamond 13"/>
          <p:cNvSpPr/>
          <p:nvPr/>
        </p:nvSpPr>
        <p:spPr>
          <a:xfrm>
            <a:off x="5641848" y="2011680"/>
            <a:ext cx="2240280" cy="123444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Needs human judgement?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82128" y="2624328"/>
            <a:ext cx="27432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44967" y="21488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no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57416" y="3246120"/>
            <a:ext cx="0" cy="914400"/>
          </a:xfrm>
          <a:prstGeom prst="line">
            <a:avLst/>
          </a:prstGeom>
          <a:ln w="22225">
            <a:solidFill>
              <a:srgbClr val="5B2C8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30568" y="34747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2C83"/>
                </a:solidFill>
                <a:latin typeface="Arial"/>
              </a:rPr>
              <a:t>yes</a:t>
            </a:r>
          </a:p>
        </p:txBody>
      </p:sp>
      <p:sp>
        <p:nvSpPr>
          <p:cNvPr id="19" name="Diamond 18"/>
          <p:cNvSpPr/>
          <p:nvPr/>
        </p:nvSpPr>
        <p:spPr>
          <a:xfrm>
            <a:off x="8156448" y="2011680"/>
            <a:ext cx="2240280" cy="123444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Feasible, pays back?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72016" y="3246120"/>
            <a:ext cx="0" cy="914400"/>
          </a:xfrm>
          <a:prstGeom prst="line">
            <a:avLst/>
          </a:prstGeom>
          <a:ln w="22225">
            <a:solidFill>
              <a:srgbClr val="5B2C8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345168" y="34747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2C83"/>
                </a:solidFill>
                <a:latin typeface="Arial"/>
              </a:rPr>
              <a:t>no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96728" y="2624328"/>
            <a:ext cx="36576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13848" y="21488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71048" y="2057400"/>
            <a:ext cx="914400" cy="11430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Auto-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4160520"/>
            <a:ext cx="10058400" cy="777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Keep manual (and revisit later)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Quick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886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2194560"/>
                <a:gridCol w="365760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Checkout stable for a year, 3 h by hand per release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Automate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Repetitive, stable, high risk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New recommendation widget, redesigned every few days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Manual for now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Scripts would keep breaking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One-off check after a data migration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Never pays back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UI test fails 1 run in 10, no code change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Fix the 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Clicks before the page is ready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Flaky tests are fixed or removed, never just re-run.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and Break-Even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illustrative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Break-Even Arithmetic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40 regression checks for a web app, run twice a week (8 runs a month).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94560"/>
            <a:ext cx="5303520" cy="21945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5B2C83"/>
                </a:solidFill>
                <a:latin typeface="Arial"/>
              </a:rPr>
              <a:t>Manual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4 h × $40 = $160 per run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8 runs = $1,280 per 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2194560"/>
            <a:ext cx="5303520" cy="2194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Automated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Build once: 60 h × $50 = $3,000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Then $200 upkeep + 8 × $10 review = $280 per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66344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Saving: $1,000 per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466344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Break-even: $3,000 / $1,000 = 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Cumulative Cost Over a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00200"/>
          <a:ext cx="75895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12480" y="1737360"/>
            <a:ext cx="3172968" cy="4206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Reading it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Month 3: lines cross (break-even).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Month 12: $15,360 vs $6,360.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one-off check never crosses.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Drives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7210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Number of runs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biggest driver: many runs favour automation, few favour manual.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645920"/>
            <a:ext cx="537210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55A11"/>
                </a:solidFill>
                <a:latin typeface="Arial"/>
              </a:rPr>
              <a:t>Stability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UI change adds maintenance and pushes break-even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611880"/>
            <a:ext cx="5372100" cy="17373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Hidden benefits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Faster feedback, fewer escaped defects, night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611880"/>
            <a:ext cx="5372100" cy="1737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00000"/>
                </a:solidFill>
                <a:latin typeface="Arial"/>
              </a:rPr>
              <a:t>Hidden costs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Flaky-test investigation, licences,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The calculation is only as good as its assumptions.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Pyramid and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Where automated tests belong, and how to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Test Automation Pyramid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4328" y="178308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UI / end-to-end: FEW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Whole journey through the screen; slow, fragile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09928" y="3108960"/>
            <a:ext cx="4206240" cy="11887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Service / API: SOME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Business logic through the API; faster, stabler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" y="4434840"/>
            <a:ext cx="6035040" cy="11887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Unit: MANY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One function in isolation; milliseconds, pinpoints the fault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680960" y="1828800"/>
            <a:ext cx="0" cy="384048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09560" y="182880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Moving up: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slower, costlier, fewer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420624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Moving down: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faster, cheaper, 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Anti-Pattern: The Ice-Cream Cone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8" y="178308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UI: MANY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09928" y="2971800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API: SOME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24328" y="416052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Unit: FEW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83080"/>
            <a:ext cx="2340864" cy="16002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Slow feedback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full suite takes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44584" y="1783080"/>
            <a:ext cx="2340864" cy="16002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Flaky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Browsers, timing and networks fail randomly.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611880"/>
            <a:ext cx="2340864" cy="16002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Costly upkeep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small screen change breaks dozens of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44584" y="3611880"/>
            <a:ext cx="2340864" cy="16002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Hard to diagnose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cause could be anywhere.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5440680"/>
            <a:ext cx="10972800" cy="6400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Test at the lowest practical level; keep UI tests for critical journeys.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Automation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Not a replacement for testers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It replaces repetitive execution, not thinking.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4592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Not 100%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Usability, exploration and one-offs stay with people.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4592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Not a silver bullet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Automating a bad test gives a bad test that runs fast.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Not free after the build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Scripts need ongoing care, and sometimes retiring.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Not the same as quality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Quality comes from the whole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Not just record and play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Recorded scripts are fragile without engineering.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Humans, especially exploring, usually find more new defects; automation re-checks known behaviour.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Hybrid Workflow in a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044952" cy="11430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New feature arrives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691640"/>
            <a:ext cx="3044952" cy="11430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Explore it by hand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7848" y="1691640"/>
            <a:ext cx="3044952" cy="1143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It stabilises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7848" y="3886200"/>
            <a:ext cx="3044952" cy="1143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Automate the valuable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3886200"/>
            <a:ext cx="3044952" cy="11430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Regression suite protects old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886200"/>
            <a:ext cx="3044952" cy="11430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Findings suggest new checks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258568"/>
            <a:ext cx="612648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2258568"/>
            <a:ext cx="612648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45752" y="2834640"/>
            <a:ext cx="0" cy="105156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315200" y="4453128"/>
            <a:ext cx="612648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657600" y="4453128"/>
            <a:ext cx="612648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30552" y="2834640"/>
            <a:ext cx="0" cy="1051560"/>
          </a:xfrm>
          <a:prstGeom prst="line">
            <a:avLst/>
          </a:prstGeom>
          <a:ln w="25400">
            <a:solidFill>
              <a:srgbClr val="1A1A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5349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Human time moves from repeated work to creative, high-value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and Registration: What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37760"/>
                <a:gridCol w="2194560"/>
                <a:gridCol w="38404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Valid login succeeds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Automate first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Critical, stable, every build (smoke)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Wrong password rejected with the right message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Automate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Security risk, simple to script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Duplicate email rejected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Automate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Key business rule, stable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Many invalid email and password formats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Automate later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Data-driven (Friday)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Is the form easy and clear to complete?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Keep manual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Needs human judgement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Start with critical, stable, quick checks, at the lowest practical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Trying to automate everything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Automate what repeats, is stable and matters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Automating a brand-new, changing UI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Explore by hand first; automate once it settles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Mostly UI tests (ice-cream cone)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Push checks down to unit and API level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Re-running flaky tests until green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Fix or remove them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Reading 'all green' as 'good product'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Ask what the suite does not check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Manual testing brings judgement and exploration; it is slow and repetitive.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Automation brings speed and repeatability; it costs build and upkeep.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Decide per test: repeats, stability, judgement, payback.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Run count drives ROI; break-even comes from your own numbers.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Pyramid: many unit, some API, few UI tests; avoid the ice-cream cone.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Use both: explore new work by hand, automate what has settled.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28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Martin Fowler: The Test Pyramid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https://martinfowler.com/bliki/TestPyramid.html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Selenium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https://www.selenium.dev/documentation/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Playwright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https://playwright.dev/docs/intro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7399</Words>
  <Application>Microsoft Office PowerPoint</Application>
  <PresentationFormat>Widescreen</PresentationFormat>
  <Paragraphs>982</Paragraphs>
  <Slides>91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5" baseType="lpstr">
      <vt:lpstr>Arial</vt:lpstr>
      <vt:lpstr>Courier New</vt:lpstr>
      <vt:lpstr>Wingdings</vt:lpstr>
      <vt:lpstr>Learners Point</vt:lpstr>
      <vt:lpstr>Manual vs Automated Testing</vt:lpstr>
      <vt:lpstr>Learning Objectives (1 of 2)</vt:lpstr>
      <vt:lpstr>Learning Objectives (2 of 2)</vt:lpstr>
      <vt:lpstr>Manual Testing</vt:lpstr>
      <vt:lpstr>Analogy: Dishes by Hand vs Dishwasher</vt:lpstr>
      <vt:lpstr>What Is Manual Testing?</vt:lpstr>
      <vt:lpstr>Skills of a Good Manual Tester</vt:lpstr>
      <vt:lpstr>Strengths of Manual Testing (1 of 2)</vt:lpstr>
      <vt:lpstr>Strengths of Manual Testing (2 of 2)</vt:lpstr>
      <vt:lpstr>Weaknesses of Manual Testing</vt:lpstr>
      <vt:lpstr>Automated Testing</vt:lpstr>
      <vt:lpstr>What Is Automated Testing?</vt:lpstr>
      <vt:lpstr>Building Blocks of Automation (1 of 2)</vt:lpstr>
      <vt:lpstr>Building Blocks of Automation (2 of 2)</vt:lpstr>
      <vt:lpstr>Arrange, Act, Assert</vt:lpstr>
      <vt:lpstr>Strengths of Automated Testing (1 of 2)</vt:lpstr>
      <vt:lpstr>Strengths of Automated Testing (2 of 2)</vt:lpstr>
      <vt:lpstr>Weaknesses of Automated Testing (1 of 2)</vt:lpstr>
      <vt:lpstr>Weaknesses of Automated Testing (2 of 2)</vt:lpstr>
      <vt:lpstr>Key Idea</vt:lpstr>
      <vt:lpstr>Comparing the Two</vt:lpstr>
      <vt:lpstr>Manual vs Automated (1 of 3)</vt:lpstr>
      <vt:lpstr>Manual vs Automated (2 of 3)</vt:lpstr>
      <vt:lpstr>Manual vs Automated (3 of 3)</vt:lpstr>
      <vt:lpstr>Neither Column Wins</vt:lpstr>
      <vt:lpstr>When to Automate</vt:lpstr>
      <vt:lpstr>The Decision Checklist</vt:lpstr>
      <vt:lpstr>Good Candidates for Automation (1 of 2)</vt:lpstr>
      <vt:lpstr>Good Candidates for Automation (2 of 2)</vt:lpstr>
      <vt:lpstr>Tests That Should Stay Manual (1 of 2)</vt:lpstr>
      <vt:lpstr>Tests That Should Stay Manual (2 of 2)</vt:lpstr>
      <vt:lpstr>A Quick Scoring Approach</vt:lpstr>
      <vt:lpstr>Automate or Keep Manual: Flow</vt:lpstr>
      <vt:lpstr>ROI and Break-Even</vt:lpstr>
      <vt:lpstr>Break-Even and ROI</vt:lpstr>
      <vt:lpstr>ROI Assumptions</vt:lpstr>
      <vt:lpstr>Monthly Cost and Break-Even</vt:lpstr>
      <vt:lpstr>Cumulative Cost by Month</vt:lpstr>
      <vt:lpstr>ROI After 12 Months</vt:lpstr>
      <vt:lpstr>Two Lessons from the Calculation</vt:lpstr>
      <vt:lpstr>The Test Automation Pyramid</vt:lpstr>
      <vt:lpstr>The Pyramid</vt:lpstr>
      <vt:lpstr>Pyramid Level Definitions</vt:lpstr>
      <vt:lpstr>Anti-Pattern: The Ice-Cream Cone</vt:lpstr>
      <vt:lpstr>The Guideline</vt:lpstr>
      <vt:lpstr>What Automation Is NOT</vt:lpstr>
      <vt:lpstr>What Test Automation Is NOT (1 of 2)</vt:lpstr>
      <vt:lpstr>What Test Automation Is NOT (2 of 2)</vt:lpstr>
      <vt:lpstr>Myths and Realities (1 of 3)</vt:lpstr>
      <vt:lpstr>Myths and Realities (2 of 3)</vt:lpstr>
      <vt:lpstr>Myths and Realities (3 of 3)</vt:lpstr>
      <vt:lpstr>Types, Tools and Lifecycle</vt:lpstr>
      <vt:lpstr>Types of Test Automation</vt:lpstr>
      <vt:lpstr>Common Tools: Names Only</vt:lpstr>
      <vt:lpstr>Common Tools</vt:lpstr>
      <vt:lpstr>The Test Automation Lifecycle</vt:lpstr>
      <vt:lpstr>Automation Lifecycle Stages</vt:lpstr>
      <vt:lpstr>CI/CD and AI</vt:lpstr>
      <vt:lpstr>Automation in CI/CD</vt:lpstr>
      <vt:lpstr>The Pipeline and Why It Matters</vt:lpstr>
      <vt:lpstr>Where AI Helps Today</vt:lpstr>
      <vt:lpstr>Honest Limitations of AI</vt:lpstr>
      <vt:lpstr>The Rule: Human Review Is Required</vt:lpstr>
      <vt:lpstr>Hybrid Strategy</vt:lpstr>
      <vt:lpstr>Automate vs Keep Manual</vt:lpstr>
      <vt:lpstr>A Hybrid Workflow in a Sprint</vt:lpstr>
      <vt:lpstr>Python Example: Login</vt:lpstr>
      <vt:lpstr>Setup</vt:lpstr>
      <vt:lpstr>Part A: Manual Test Cases</vt:lpstr>
      <vt:lpstr>Manual Execution</vt:lpstr>
      <vt:lpstr>Part B: The Application Code</vt:lpstr>
      <vt:lpstr>Part B: The Test Functions</vt:lpstr>
      <vt:lpstr>Part B: The Mini Runner</vt:lpstr>
      <vt:lpstr>Expected Output</vt:lpstr>
      <vt:lpstr>Reading the Code</vt:lpstr>
      <vt:lpstr>Part D: What to Notice</vt:lpstr>
      <vt:lpstr>Worked Examples</vt:lpstr>
      <vt:lpstr>Examples 1 and 2</vt:lpstr>
      <vt:lpstr>Examples 3 and 4</vt:lpstr>
      <vt:lpstr>Project 1: What to Automate First</vt:lpstr>
      <vt:lpstr>Project 1 Automation Priorities (1 of 3)</vt:lpstr>
      <vt:lpstr>Project 1 Automation Priorities (2 of 3)</vt:lpstr>
      <vt:lpstr>Project 1 Automation Priorities (3 of 3)</vt:lpstr>
      <vt:lpstr>Why This Order?</vt:lpstr>
      <vt:lpstr>Career Paths</vt:lpstr>
      <vt:lpstr>Career Ladder</vt:lpstr>
      <vt:lpstr>Skills Roadmap</vt:lpstr>
      <vt:lpstr>Manual Skills Never Stop Mattering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2026-10-24T16:59:04Z</dcterms:modified>
</cp:coreProperties>
</file>