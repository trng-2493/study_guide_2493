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56" r:id="rId4"/>
    <p:sldId id="357" r:id="rId5"/>
    <p:sldId id="358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67" r:id="rId15"/>
    <p:sldId id="368" r:id="rId16"/>
    <p:sldId id="369" r:id="rId17"/>
    <p:sldId id="370" r:id="rId18"/>
    <p:sldId id="371" r:id="rId19"/>
    <p:sldId id="372" r:id="rId20"/>
    <p:sldId id="373" r:id="rId21"/>
    <p:sldId id="374" r:id="rId22"/>
    <p:sldId id="375" r:id="rId23"/>
    <p:sldId id="376" r:id="rId24"/>
    <p:sldId id="377" r:id="rId25"/>
    <p:sldId id="378" r:id="rId26"/>
    <p:sldId id="379" r:id="rId27"/>
    <p:sldId id="380" r:id="rId28"/>
    <p:sldId id="381" r:id="rId29"/>
    <p:sldId id="382" r:id="rId30"/>
    <p:sldId id="383" r:id="rId31"/>
    <p:sldId id="384" r:id="rId32"/>
    <p:sldId id="385" r:id="rId33"/>
    <p:sldId id="355" r:id="rId101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101" Type="http://schemas.openxmlformats.org/officeDocument/2006/relationships/slide" Target="slides/slide10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Defects per KLOC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Sheet1!$A$2:$A$3</c:f>
              <c:strCache>
                <c:ptCount val="2"/>
                <c:pt idx="0">
                  <c:v>Checkout (6 KLOC)</c:v>
                </c:pt>
                <c:pt idx="1">
                  <c:v>Search (2 KLOC)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1.0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300">
                  <a:solidFill>
                    <a:srgbClr val="1A1A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300">
                <a:solidFill>
                  <a:srgbClr val="5A5A5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5A5A5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failed test from the previous deck becomes a defect; this deck follows it from 'found it' to 'fixed and verified'.</a:t>
            </a:r>
          </a:p>
          <a:p>
            <a:r>
              <a:t>Tool-neutral: the Jira mechanics come in the next two decks.</a:t>
            </a:r>
          </a:p>
          <a:p>
            <a:r>
              <a:t>One analogy runs through the deck: a hospital patient journey.</a:t>
            </a:r>
          </a:p>
          <a:p>
            <a:r>
              <a:t>Worked lifecycle stories (one bug through a week, a rejected bug, a deferred bug) are in the written lesson and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objectives map to the six parts (prevention and metrics share the last part).</a:t>
            </a:r>
          </a:p>
          <a:p>
            <a:r>
              <a:t>Error vs defect vs failure is formally taught on Wednesday; today 'defect' and 'bug' are used interchangeably.</a:t>
            </a:r>
          </a:p>
          <a:p>
            <a:r>
              <a:t>AI help with bug reports is Week 8; one caution only today: never let a tool invent steps or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two slides of foundations.</a:t>
            </a:r>
          </a:p>
          <a:p>
            <a:r>
              <a:t>This part has 2 concept slides, about 4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Defects can be in software, requirements, designs or tests.</a:t>
            </a:r>
          </a:p>
          <a:p>
            <a:r>
              <a:t>Examples in a web app: 'Place Order' does nothing; two items at 20.00 total 45.00; text overlaps on a phone; reset email takes 15 minutes against a 1-minute rule; changing a number in the URL shows another user's order.</a:t>
            </a:r>
          </a:p>
          <a:p>
            <a:r>
              <a:t>A defect can be about function, appearance, speed, security or data.</a:t>
            </a:r>
          </a:p>
          <a:p>
            <a:r>
              <a:t>Testers who know the requirements well find better bugs: link back to the requirements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analogy: keep the hospital picture in mind and most states feel familiar.</a:t>
            </a:r>
          </a:p>
          <a:p>
            <a:r>
              <a:t>Without a lifecycle: nobody knows who owns a bug, bugs get lost in chat, duplicates pile up, fixes are never rechecked, and managers have no picture of health.</a:t>
            </a:r>
          </a:p>
          <a:p>
            <a:r>
              <a:t>Tale of two testers: 'checkout broken' sits for two days and ships; a structured report is fixed before lunch. Same bug, different handling.</a:t>
            </a:r>
          </a:p>
          <a:p>
            <a:r>
              <a:t>Defects are the main output of testing; whether a release goes out depends on which defects are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 is the heart of the deck: the state diagram.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arrows as 'may move to'. It looks busy, but most defects travel the main path.</a:t>
            </a:r>
          </a:p>
          <a:p>
            <a:r>
              <a:t>Colours: red = the bug itself, orange = triage decision, blue = developer work, green = QE verification, grey = set aside.</a:t>
            </a:r>
          </a:p>
          <a:p>
            <a:r>
              <a:t>From New, triage can also send a defect to any side exit. Open can also go to Won't Fix or Deferred.</a:t>
            </a:r>
          </a:p>
          <a:p>
            <a:r>
              <a:t>A Closed or Rejected defect can be Reopened if new evidence appears. The clean Mermaid copy is in demos/2-tuesday/diagrams/defect-lifecycle-states.mermaid.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word 'believe' on Fixed: Fixed is not Verified.</a:t>
            </a:r>
          </a:p>
          <a:p>
            <a:r>
              <a:t>Some organisations skip Assigned and use Open as the first state after New; many tools merge Fixed and Ready for Retest.</a:t>
            </a:r>
          </a:p>
          <a:p>
            <a:r>
              <a:t>Some split Verified (tester confirms) from Closed (lead closes after release).</a:t>
            </a:r>
          </a:p>
          <a:p>
            <a:r>
              <a:t>Example: Ananya logs DEMO-207; triage assigns it to Karan; Karan fixes it in build 319; Ananya retests and closes.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Cannot Reproduce is a signal about the report as much as the product; intermittent problems are real, so note frequency and conditions.</a:t>
            </a:r>
          </a:p>
          <a:p>
            <a:r>
              <a:t>Deferred defects need a review date, or the list becomes a graveyard.</a:t>
            </a:r>
          </a:p>
          <a:p>
            <a:r>
              <a:t>If the tester believes the design itself is wrong, raise a change request instead of arguing Not a Bug.</a:t>
            </a:r>
          </a:p>
          <a:p>
            <a:r>
              <a:t>A defect reopened several times is a warning sign worth discussing in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move is not in the table, it should not happen. Most tools let administrators enforce this.</a:t>
            </a:r>
          </a:p>
          <a:p>
            <a:r>
              <a:t>A separate pair of eyes is the whole point of tester verification.</a:t>
            </a:r>
          </a:p>
          <a:p>
            <a:r>
              <a:t>The full transition table (about 20 rows) is in the written lesson; the Jira version is built in the boards and workflows deck.</a:t>
            </a:r>
          </a:p>
          <a:p>
            <a:r>
              <a:t>Ask: why must Fixed go through Ready for Retest before Closed? (The fix must be in a build the tester can use.)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simple workflows, Duplicate, Won't Fix and Cannot Reproduce are resolutions set on closing, not states. Jira commonly works this way.</a:t>
            </a:r>
          </a:p>
          <a:p>
            <a:r>
              <a:t>Detailed workflow: New, Assigned, Open, In Progress, Fixed, Ready for Retest, Retesting, Verified, Closed, Reopened, Deferred, Rejected.</a:t>
            </a:r>
          </a:p>
          <a:p>
            <a:r>
              <a:t>Risks: simple hides decisions in comments; detailed adds bureaucracy and queues.</a:t>
            </a:r>
          </a:p>
          <a:p>
            <a:r>
              <a:t>The skill: map any tool's names to the core ideas. One company's 'Resolved' is another's 'Fixed'.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the people around the lifecycle.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team: Ananya (QE) reports; Karan and Neha (developers) fix; Rohan (PO) decides business priority; Meera (SM) helps remove blockers.</a:t>
            </a:r>
          </a:p>
          <a:p>
            <a:r>
              <a:t>Developers also add a unit test where sensible and comment what changed and in which build.</a:t>
            </a:r>
          </a:p>
          <a:p>
            <a:r>
              <a:t>In small teams one person wears several hats; what matters is that every responsibility is covered and decisions are recorded.</a:t>
            </a:r>
          </a:p>
          <a:p>
            <a:r>
              <a:t>Colours follow the legend: green QE, blue development, orange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Triage is borrowed from medicine: sort patients so scarce resources help the most critical first.</a:t>
            </a:r>
          </a:p>
          <a:p>
            <a:r>
              <a:t>Also called defect review board, bug scrub or bug review.</a:t>
            </a:r>
          </a:p>
          <a:p>
            <a:r>
              <a:t>Purpose: every new defect understood and valid; consistent severity and priority; owners and target releases; duplicates removed; backlog healthy.</a:t>
            </a:r>
          </a:p>
          <a:p>
            <a:r>
              <a:t>Review overdue or stuck defects at the end of each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one defect through the diamonds left to right.</a:t>
            </a:r>
          </a:p>
          <a:p>
            <a:r>
              <a:t>Other outcomes: Won't Fix (closed with a documented business decision) and Escalate (raised to management when it threatens the release).</a:t>
            </a:r>
          </a:p>
          <a:p>
            <a:r>
              <a:t>The clean Mermaid version is demos/2-tuesday/diagrams/triage-decision-flow.mermaid; the demo runs a role-play triage.</a:t>
            </a:r>
          </a:p>
          <a:p>
            <a:r>
              <a:t>Request more info returns the defect to the reporter with specific questions, status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a stranger should be able to understand, reproduce and judge the defect without asking you anything.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developer has to come back with questions, the report was not finished.</a:t>
            </a:r>
          </a:p>
          <a:p>
            <a:r>
              <a:t>Title pattern: '[Checkout] Total shows 40.00 instead of 36.00 after a 10% coupon'.</a:t>
            </a:r>
          </a:p>
          <a:p>
            <a:r>
              <a:t>Reproducibility: Always, Sometimes, Once; frequency such as 3 of 10 attempts helps with intermittent issues.</a:t>
            </a:r>
          </a:p>
          <a:p>
            <a:r>
              <a:t>A copyable template is in the written lesson and the exercise templates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write 'the developer broke this'.</a:t>
            </a:r>
          </a:p>
          <a:p>
            <a:r>
              <a:t>A hint about the cause may go in a clearly marked comment, never as the main description.</a:t>
            </a:r>
          </a:p>
          <a:p>
            <a:r>
              <a:t>If your own steps don't reproduce it, they won't for anyone else.</a:t>
            </a:r>
          </a:p>
          <a:p>
            <a:r>
              <a:t>Changing one variable at a time is how a tester finds the trigger (for example, the apostrophe in the next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Bad: no steps, data, environment, build, expected or actual result, evidence; vague title; emotional tone. The developer must ask five questions.</a:t>
            </a:r>
          </a:p>
          <a:p>
            <a:r>
              <a:t>Good: severity High (customers blocked for affected addresses), priority High (revenue impact).</a:t>
            </a:r>
          </a:p>
          <a:p>
            <a:r>
              <a:t>Linked to test case TC-CHK-031 and requirement REQ-CHK-014: traceability.</a:t>
            </a:r>
          </a:p>
          <a:p>
            <a:r>
              <a:t>Exercise: rewrite three bad reports from the starter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two different questions about every defect.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Severity is usually set by the tester and confirmed in triage; priority is a business and scheduling decision.</a:t>
            </a:r>
          </a:p>
          <a:p>
            <a:r>
              <a:t>Priority considers customer impact, deadlines, risk and effort.</a:t>
            </a:r>
          </a:p>
          <a:p>
            <a:r>
              <a:t>Level names vary (Blocker/Major/Minor/Trivial); agree your team's definitions and write them down.</a:t>
            </a:r>
          </a:p>
          <a:p>
            <a:r>
              <a:t>The Jira deck shows that Priority is a default field and Severity usually a custom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More examples: double payment for one order (high/high); passwords shown in plain text (high/high).</a:t>
            </a:r>
          </a:p>
          <a:p>
            <a:r>
              <a:t>High/low: a crash in a rarely used admin report on an unsupported browser; a feature in a module retired next month.</a:t>
            </a:r>
          </a:p>
          <a:p>
            <a:r>
              <a:t>Low/high: a missing legal disclaimer before an audit; the wrong brand colour in the week of a customer demo.</a:t>
            </a:r>
          </a:p>
          <a:p>
            <a:r>
              <a:t>The same typo is low priority in March and high priority on launch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examples: discount accepted but not applied (functional); text overlaps a button on mobile (UI); search takes 12 seconds (performance); another user's order visible by changing the URL (security).</a:t>
            </a:r>
          </a:p>
          <a:p>
            <a:r>
              <a:t>Root cause is filled in by the developer or team after the fix.</a:t>
            </a:r>
          </a:p>
          <a:p>
            <a:r>
              <a:t>Defects tend to bunch in a few modules: defect clustering, a testing principle studied on Wednesday.</a:t>
            </a:r>
          </a:p>
          <a:p>
            <a:r>
              <a:t>This is why early QE involvement (the requirements deck) pays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6: what happens around defects day to day, and how teams stop creating them.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Checkout: 18 defects in 6 KLOC = 3.0 per KLOC; search: 2 in 2 KLOC = 1.0. Checkout has three times the density: examine its code and tests.</a:t>
            </a:r>
          </a:p>
          <a:p>
            <a:r>
              <a:t>Leakage: 5 / (20 + 5) = 20%: one in five defects reached customers. DRE = 80%. DDP is the same idea as DRE.</a:t>
            </a:r>
          </a:p>
          <a:p>
            <a:r>
              <a:t>Other measures: open vs closed trend, defects by severity and module, reopen rate, rejected/duplicate rate.</a:t>
            </a:r>
          </a:p>
          <a:p>
            <a:r>
              <a:t>Age: reported Monday 3 March, closed Friday 7 March = 4 days; agree one counting convention.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pushbacks: 'not a bug', 'low priority', 'can't reproduce'. Handled well, these talks are productive.</a:t>
            </a:r>
          </a:p>
          <a:p>
            <a:r>
              <a:t>Often the argument is really about when (priority), not whether (validity).</a:t>
            </a:r>
          </a:p>
          <a:p>
            <a:r>
              <a:t>Don't go over someone's head without telling them.</a:t>
            </a:r>
          </a:p>
          <a:p>
            <a:r>
              <a:t>Say thank you: a quick fix deserves recognition.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Retest the bug, regress around the fix; full regression is Friday.</a:t>
            </a:r>
          </a:p>
          <a:p>
            <a:r>
              <a:t>Variations for the apostrophe bug: other quotes, accents, a different browser.</a:t>
            </a:r>
          </a:p>
          <a:p>
            <a:r>
              <a:t>Traceability helps impact analysis, release decisions ('all defects linked to critical requirements are closed') and better retesting.</a:t>
            </a:r>
          </a:p>
          <a:p>
            <a:r>
              <a:t>A defect found by exploring should get a new or updated test case so it stays guarded.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Prevention mindset: 'How did this get here, and how do we stop it happening again?'</a:t>
            </a:r>
          </a:p>
          <a:p>
            <a:r>
              <a:t>Cost rises the later a defect is found (Monday's SDLC deck): a requirement typo costs minutes on paper, days in production.</a:t>
            </a:r>
          </a:p>
          <a:p>
            <a:r>
              <a:t>Keep asking why until you reach a cause you can act on; five is a guide, not a rule.</a:t>
            </a:r>
          </a:p>
          <a:p>
            <a:r>
              <a:t>Root cause analysis (RCA) looks past the symptom to the underlying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is the head; main bones are categories; small bones are specific causes.</a:t>
            </a:r>
          </a:p>
          <a:p>
            <a:r>
              <a:t>Pick categories that fit: people, process, tools, environment, requirements, code, data, testing.</a:t>
            </a:r>
          </a:p>
          <a:p>
            <a:r>
              <a:t>It won't give the answer by itself, but shows where to look and prevents tunnel vision.</a:t>
            </a:r>
          </a:p>
          <a:p>
            <a:r>
              <a:t>Typical prevention actions: better requirement reviews, checklists, pair testing, code reviews, unit tests, clearer acceptance criteria, shared test data,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skipping the duplicate search; emotional language; using metrics to blame people; letting AI invent steps or results (Week 8 covers AI tools).</a:t>
            </a:r>
          </a:p>
          <a:p>
            <a:r>
              <a:t>Ask learners which mistake creates the most 'Cannot Reproduce' outcomes.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'Who closes a fixed defect, and why?'</a:t>
            </a:r>
          </a:p>
          <a:p>
            <a:r>
              <a:t>Bridge: the next deck records all of this in Jira issues; the one after builds the Bug workflow.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the full transition table, the defect report template and three worked defect stories.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10/14/2025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10/14/2025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Defect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WEEK 3 · TUESDAY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From "found it" to "fixed and verified": states, reports, severity and priority, metrics and prevention.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3520440"/>
            <a:ext cx="1653785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Defect states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351460" y="3630168"/>
            <a:ext cx="25508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91570" y="3520440"/>
            <a:ext cx="969313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Triage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745911" y="3630168"/>
            <a:ext cx="25508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86021" y="3520440"/>
            <a:ext cx="1458221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Bug reports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629271" y="3630168"/>
            <a:ext cx="25508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69381" y="3520440"/>
            <a:ext cx="233825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Severity vs priority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392665" y="3630168"/>
            <a:ext cx="25508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32775" y="3520440"/>
            <a:ext cx="106709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Metrics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884897" y="3630168"/>
            <a:ext cx="25508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225007" y="3520440"/>
            <a:ext cx="136044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Prevention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Describe the lifecycle states, legal transitions and who moves a defect.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Explain triage and the roles that make defect decisions.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Write a clear, complete, reproducible defect report.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Distinguish severity from priority and classify defects.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Use defect metrics and root cause analysis to improve the process.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2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Defect Basics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a defect is and why it needs a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3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Defect?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A flaw in a work product that makes it behave differently from what it should.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148840"/>
            <a:ext cx="3200400" cy="47548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Requirements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0" y="2377440"/>
            <a:ext cx="640080" cy="1005840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12648" y="2715768"/>
            <a:ext cx="3200400" cy="47548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Design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40480" y="2944368"/>
            <a:ext cx="640080" cy="438912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2648" y="3282696"/>
            <a:ext cx="3200400" cy="47548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Acceptance criteria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840480" y="3383280"/>
            <a:ext cx="640080" cy="128016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2648" y="3849624"/>
            <a:ext cx="3200400" cy="47548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Standards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840480" y="3383280"/>
            <a:ext cx="640080" cy="694944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2648" y="4416552"/>
            <a:ext cx="3200400" cy="47548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Reasonable user expectation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840480" y="3383280"/>
            <a:ext cx="640080" cy="1261872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80560" y="292608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Expected behaviour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411480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Actual behaviour</a:t>
            </a:r>
          </a:p>
        </p:txBody>
      </p:sp>
      <p:sp>
        <p:nvSpPr>
          <p:cNvPr id="17" name="Oval 16"/>
          <p:cNvSpPr/>
          <p:nvPr/>
        </p:nvSpPr>
        <p:spPr>
          <a:xfrm>
            <a:off x="7498079" y="3291840"/>
            <a:ext cx="914400" cy="12801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≠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0" y="3383280"/>
            <a:ext cx="640079" cy="365759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858000" y="4114800"/>
            <a:ext cx="640079" cy="45720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412480" y="3931920"/>
            <a:ext cx="45720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869680" y="3429000"/>
            <a:ext cx="2715768" cy="100584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Defect (bug)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617720"/>
            <a:ext cx="271576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No expectation = no defect, only an observation.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4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Track a Lifecycle?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673352" cy="7772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Arrives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44752" y="2606040"/>
            <a:ext cx="0" cy="41148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12648" y="3017520"/>
            <a:ext cx="1673352" cy="7772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New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79" y="1828800"/>
            <a:ext cx="1673352" cy="7772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Triage nurse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00984" y="2606040"/>
            <a:ext cx="0" cy="41148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68879" y="3017520"/>
            <a:ext cx="1673352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Triage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828800"/>
            <a:ext cx="1673352" cy="7772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Assigned doctor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57216" y="2606040"/>
            <a:ext cx="0" cy="41148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25112" y="3017520"/>
            <a:ext cx="1673352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Assigned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828800"/>
            <a:ext cx="1673352" cy="7772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Treatment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13448" y="2606040"/>
            <a:ext cx="0" cy="41148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81344" y="3017520"/>
            <a:ext cx="1673352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 Progress / Fixed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1828800"/>
            <a:ext cx="1673352" cy="7772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Check-up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69680" y="2606040"/>
            <a:ext cx="0" cy="41148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37575" y="3017520"/>
            <a:ext cx="1673352" cy="7772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Retest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93807" y="1828800"/>
            <a:ext cx="1673352" cy="7772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Discharged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725911" y="2606040"/>
            <a:ext cx="0" cy="41148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893807" y="3017520"/>
            <a:ext cx="1673352" cy="7772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Closed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15087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A5A5A"/>
                </a:solidFill>
                <a:latin typeface="Arial"/>
              </a:rPr>
              <a:t>Patient journey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1148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Side paths: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nothing wrong (Not a Bug), come back later (Deferred), treatment failed (Reopened).</a:t>
            </a:r>
          </a:p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With a lifecycle: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every defect has a visible state, a named owner and a next step.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5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Defect Lifecycle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States, transitions, rules and workflow variations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6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Lifecycle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74320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29968" y="3172968"/>
            <a:ext cx="175564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05532" y="274320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Assigned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22852" y="3172968"/>
            <a:ext cx="175565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98417" y="274320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Open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15737" y="3172968"/>
            <a:ext cx="175565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91302" y="274320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 Progress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08622" y="3172968"/>
            <a:ext cx="175565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984187" y="274320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Fixed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01507" y="3172968"/>
            <a:ext cx="175565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577072" y="274320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Ready for Retest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994392" y="3172968"/>
            <a:ext cx="175564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69956" y="274320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Verified / Closed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1302" y="1600200"/>
            <a:ext cx="2377440" cy="640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Reopened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9285732" y="1920240"/>
            <a:ext cx="0" cy="82296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768742" y="1920240"/>
            <a:ext cx="1516990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914192" y="1920240"/>
            <a:ext cx="247711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914192" y="1920240"/>
            <a:ext cx="0" cy="82296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331452" y="19659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00000"/>
                </a:solidFill>
                <a:latin typeface="Arial"/>
              </a:rPr>
              <a:t>retest fails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" y="4343400"/>
            <a:ext cx="2057400" cy="731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Rejected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81528" y="4343400"/>
            <a:ext cx="2057400" cy="731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Duplicate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76088" y="4343400"/>
            <a:ext cx="2057400" cy="731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Not a Bug / Can't Reproduce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0648" y="4343400"/>
            <a:ext cx="2057400" cy="731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Deferred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65208" y="4343400"/>
            <a:ext cx="2057400" cy="731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Won't Fix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21308" y="3611880"/>
            <a:ext cx="0" cy="731520"/>
          </a:xfrm>
          <a:prstGeom prst="line">
            <a:avLst/>
          </a:prstGeom>
          <a:ln w="28575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367028" y="3703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55A11"/>
                </a:solidFill>
                <a:latin typeface="Arial"/>
              </a:rPr>
              <a:t>triage decides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53035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Happy path runs left to right. </a:t>
            </a:r>
            <a:r>
              <a:rPr sz="1600" b="0" i="0">
                <a:solidFill>
                  <a:srgbClr val="5A5A5A"/>
                </a:solidFill>
                <a:latin typeface="Arial"/>
              </a:rPr>
              <a:t>Side exits end in Closed with a reason; </a:t>
            </a:r>
            <a:r>
              <a:rPr sz="1600" b="1" i="0">
                <a:solidFill>
                  <a:srgbClr val="5A5A5A"/>
                </a:solidFill>
                <a:latin typeface="Arial"/>
              </a:rPr>
              <a:t>Deferred returns to Open when scheduled.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7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Path: Who Moves the Defect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2245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3108960"/>
                <a:gridCol w="493776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Moved in by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Means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Tester (any reporter)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Logged, not yet reviewed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Assigned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Dev lead / triage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Valid; severity, priority, owner set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Open → In Progress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Developer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Accepted, then actively being fixed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Fixed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Developer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Change merged; developer believes it works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Ready for Retest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Developer or pipeline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Fix deployed; build number recorded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Verified / Closed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Tester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Retest and nearby regression passed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8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Side Exits and the Reopen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5120640"/>
                <a:gridCol w="32918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Means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Decided by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Rejected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Not valid: correct behaviour or out of scope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Dev lead / triage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Duplicate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Same as an existing defect; linked to it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Triager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Not a Bug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Works as designed per the requirement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Developer; PO if unclear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Cannot Reproduce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Steps followed exactly; problem did not occur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Developer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Deferred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Valid, but fixed in a later release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Triage / PO, never a lone developer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Won't Fix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Valid, but will never be fixed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PO, with a business reason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5623560"/>
            <a:ext cx="10972800" cy="5486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Reopened: retest failed or the bug came back. Comment with evidence and the failing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9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21031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Golden rule 1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Developers fix; testers verify. Only the tester or reporter closes a fixed defect.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91640"/>
            <a:ext cx="5303520" cy="210312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Golden rule 2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Every 'not fixing' outcome needs a written reason: Rejected, Won't Fix, Deferred, Cannot Reproduce.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0690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The transition table is the rulebook: from, to, who, when.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4617720"/>
            <a:ext cx="1417320" cy="7772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New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29968" y="5001768"/>
            <a:ext cx="594360" cy="0"/>
          </a:xfrm>
          <a:prstGeom prst="line">
            <a:avLst/>
          </a:prstGeom>
          <a:ln w="317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24328" y="4617720"/>
            <a:ext cx="1417320" cy="7772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Closed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48640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✗ not allowed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4617720"/>
            <a:ext cx="1417320" cy="7772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Fixed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33288" y="5001768"/>
            <a:ext cx="594360" cy="0"/>
          </a:xfrm>
          <a:prstGeom prst="line">
            <a:avLst/>
          </a:prstGeom>
          <a:ln w="317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27648" y="4617720"/>
            <a:ext cx="1417320" cy="7772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Closed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548640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✗ not allowed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4617720"/>
            <a:ext cx="1417320" cy="7772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In Progress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36608" y="5001768"/>
            <a:ext cx="594359" cy="0"/>
          </a:xfrm>
          <a:prstGeom prst="line">
            <a:avLst/>
          </a:prstGeom>
          <a:ln w="317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30967" y="4617720"/>
            <a:ext cx="1417320" cy="7772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548640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✗ not allowed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10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vs Detailed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Simple 5-state (small, agile teams)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5740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To Do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90088" y="2441448"/>
            <a:ext cx="41148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01568" y="205740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In Progress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79008" y="2441448"/>
            <a:ext cx="41148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90488" y="205740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Fixed / Ready for Retest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67928" y="2441448"/>
            <a:ext cx="41148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979407" y="205740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3154680"/>
            <a:ext cx="2377440" cy="5486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Reopened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79208" y="2834640"/>
            <a:ext cx="0" cy="59436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779008" y="3429000"/>
            <a:ext cx="1600200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801368" y="3429000"/>
            <a:ext cx="1600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801368" y="2834640"/>
            <a:ext cx="0" cy="59436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" y="4023360"/>
          <a:ext cx="10972800" cy="2011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3840480"/>
                <a:gridCol w="47548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Simple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Detailed (about 12 states)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Best for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Small or agile teams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Large or regulated teams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Audit trail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Light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Strong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'Why' stored in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Resolution field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Distinct states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11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and Triage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Who touches a defect, and how a triage meeting turns lists into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12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Touches a Defect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27448" y="301752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Defect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691640"/>
            <a:ext cx="3383280" cy="12801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Tester / reporter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Finds, reports, retests, closes or reopens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02168" y="1691640"/>
            <a:ext cx="3383280" cy="12801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Dev lead / triager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Checks validity, proposes priority, assigns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4434840"/>
            <a:ext cx="3383280" cy="12801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Developer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Reproduces, fixes, notes build and cause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02168" y="4434840"/>
            <a:ext cx="3383280" cy="12801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Product owner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Business priority; final call on defer, won't fix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4800600"/>
            <a:ext cx="3383280" cy="12801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Release manager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Decides if a build can ship; approves hotfixes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95928" y="2331720"/>
            <a:ext cx="731520" cy="82296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470648" y="2331720"/>
            <a:ext cx="731520" cy="82296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995928" y="3840480"/>
            <a:ext cx="731520" cy="109728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7470648" y="3840480"/>
            <a:ext cx="731520" cy="109728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099048" y="3931920"/>
            <a:ext cx="0" cy="86868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13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Triage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A short, regular meeting that sorts new, reopened and disputed defects by urgency.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148840"/>
            <a:ext cx="3520440" cy="59436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Who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78892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QE lead or reporting testers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Dev lead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PO or BA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Release or project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2148840"/>
            <a:ext cx="3520440" cy="59436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When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278892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About 30 minutes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Daily during a test cycle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Twice weekly otherwise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9288" y="2148840"/>
            <a:ext cx="3520440" cy="59436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How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9288" y="278892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Highest severity first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Confirm reproducible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Agree severity and priority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Record decisions at once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5120640"/>
            <a:ext cx="10972800" cy="10058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23036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RULE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Triage is about decisions, not debates. A discussion longer than a few minutes goes offline.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14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Triage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Report complete?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04288" y="2395728"/>
            <a:ext cx="164591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7128" y="2011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D32"/>
                </a:solidFill>
                <a:latin typeface="Arial"/>
              </a:rPr>
              <a:t>Yes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53896" y="3108960"/>
            <a:ext cx="0" cy="54864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81328" y="3200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00000"/>
                </a:solidFill>
                <a:latin typeface="Arial"/>
              </a:rPr>
              <a:t>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657600"/>
            <a:ext cx="1691640" cy="10058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Request more info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79" y="182880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Reproducible?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60520" y="2395728"/>
            <a:ext cx="16459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23359" y="2011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D32"/>
                </a:solidFill>
                <a:latin typeface="Arial"/>
              </a:rPr>
              <a:t>Yes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7" y="3108960"/>
            <a:ext cx="0" cy="54864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37559" y="3200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00000"/>
                </a:solidFill>
                <a:latin typeface="Arial"/>
              </a:rPr>
              <a:t>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79" y="3657600"/>
            <a:ext cx="1691640" cy="10058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Cannot Reproduce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182880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Duplicate?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16752" y="2395728"/>
            <a:ext cx="16459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79592" y="2011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D32"/>
                </a:solidFill>
                <a:latin typeface="Arial"/>
              </a:rPr>
              <a:t>No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66359" y="3108960"/>
            <a:ext cx="0" cy="54864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93792" y="3200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00000"/>
                </a:solidFill>
                <a:latin typeface="Arial"/>
              </a:rP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5112" y="3657600"/>
            <a:ext cx="1691640" cy="10058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Link and close as Duplicate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182880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Deviates from the requirement?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72983" y="2395728"/>
            <a:ext cx="16459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35823" y="2011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D32"/>
                </a:solidFill>
                <a:latin typeface="Arial"/>
              </a:rPr>
              <a:t>Yes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22592" y="3108960"/>
            <a:ext cx="0" cy="54864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050024" y="3200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00000"/>
                </a:solidFill>
                <a:latin typeface="Arial"/>
              </a:rPr>
              <a:t>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657600"/>
            <a:ext cx="1691640" cy="10058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Not a Bug: cite the REQ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7575" y="182880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Needed in this release?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78824" y="3108960"/>
            <a:ext cx="0" cy="54864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906255" y="3200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00000"/>
                </a:solidFill>
                <a:latin typeface="Arial"/>
              </a:rPr>
              <a:t>No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37575" y="3657600"/>
            <a:ext cx="1691640" cy="10058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Defer with review date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29215" y="2395728"/>
            <a:ext cx="301753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592055" y="2011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D32"/>
                </a:solidFill>
                <a:latin typeface="Arial"/>
              </a:rPr>
              <a:t>Yes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30968" y="1783080"/>
            <a:ext cx="1554480" cy="123444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Set severity and priority; assign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49834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QE proposes severity;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the PO decides priority. Deferred items return at each release planning.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15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a Defect Report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Fields, rules of thumb, and good versus bad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16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Defect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Identify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Title: [Area] what fails, when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Short description and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69164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Where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Environment: OS, browser, role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Exact build or 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8" y="169164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Reproduce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Numbered minimal steps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Exact test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84048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C00000"/>
                </a:solidFill>
                <a:latin typeface="Arial"/>
              </a:rPr>
              <a:t>Result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Expected (cite the REQ)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Actual, exact message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384048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C55A11"/>
                </a:solidFill>
                <a:latin typeface="Arial"/>
              </a:rPr>
              <a:t>Classify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Severity, priority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Reproducibility, workaround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9288" y="384048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Prove and link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Screenshots, video, logs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Requirement and test case 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17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Rules of Thumb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One defect per report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Three problems, three linked reports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69164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Objective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Facts only; no 'terrible', no blame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8" y="169164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Reproducible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Re-run your own steps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9476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Minimal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Remove steps that are not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379476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Don't diagnose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Say what you saw, not what the code does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9288" y="379476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Search first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Is it already logged?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18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Bad vs Good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3931920" cy="54864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Bad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240280"/>
            <a:ext cx="3931920" cy="27432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Title: Checkout not working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"I tried to buy something and it did not work. Fix ASAP!"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Severity: High · no attachment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18888" y="1645920"/>
            <a:ext cx="6766560" cy="5486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Good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18888" y="2240280"/>
            <a:ext cx="6766560" cy="2743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[Checkout] Place Order returns Error 500 when the street has an apostrophe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Build 2.4.1-318 · QA · Chrome on Windows 11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Steps: log in · add item · checkout · street "12 O'Connor Street" · Place Order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Expected: confirmation page (REQ-CHK-014) · Actual: "Error 500", no order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Always (5/5) · workaround: omit the apostrophe · video and console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2120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The good report is longer but faster: the developer reproduces it in minutes and knows the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19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Severity, Priority and Classification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Damage versus order of repair, and spotting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20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Severity vs Priority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100584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Severity = damage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technical impact · set by the tester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91640"/>
            <a:ext cx="5303520" cy="100584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Priority = order of repair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business urgency · set by the PO /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88036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Critical: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crash, data loss, security, no workaround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3368" y="288036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P1 Urgent: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drop everything; maybe a hotfix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593591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High: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major function broken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3593591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P2 High: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fix before this release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306824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Medium: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limited, reasonable workaround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4306824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P3 Medium: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when capacity allows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02005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Low: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cosmetic, typo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02005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P4 Low: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if time permits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7607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In the hospital: severity is how bad the injury is; priority is who is treated first.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21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Severity / Priority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1691640"/>
            <a:ext cx="4754880" cy="19659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High severity · Low priority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App crashes on a 2 GB upload the UI already blocks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91640"/>
            <a:ext cx="4754880" cy="196596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High severity · High priority</a:t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Nobody can log in after the release: fix 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749039"/>
            <a:ext cx="4754880" cy="19659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Low severity · Low priority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Button 2 px off on a rare settings 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749039"/>
            <a:ext cx="4754880" cy="19659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Low severity · High priority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Typo in the 'Pay Now' button on launch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8521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Priority 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4747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Severity 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989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Severity is stable; priority moves with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22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Classifying Defects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59436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By type: what kind of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91640"/>
            <a:ext cx="5303520" cy="59436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By root cause: why it happened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423160"/>
            <a:ext cx="2606040" cy="530352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Functional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2423160"/>
            <a:ext cx="2606040" cy="530352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2423160"/>
            <a:ext cx="2606040" cy="530352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UI / visual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9408" y="2423160"/>
            <a:ext cx="2606040" cy="530352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044952"/>
            <a:ext cx="2606040" cy="530352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Performance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3044952"/>
            <a:ext cx="2606040" cy="530352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Coding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3044952"/>
            <a:ext cx="2606040" cy="530352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Security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9408" y="3044952"/>
            <a:ext cx="2606040" cy="530352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Data / 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666744"/>
            <a:ext cx="2606040" cy="530352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Compatibility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3666744"/>
            <a:ext cx="2606040" cy="530352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Configuration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0128" y="3666744"/>
            <a:ext cx="2606040" cy="530352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9408" y="3666744"/>
            <a:ext cx="2606040" cy="530352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Integration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4288536"/>
            <a:ext cx="2606040" cy="530352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Usability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4288536"/>
            <a:ext cx="2606040" cy="530352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Third-party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10128" y="4288536"/>
            <a:ext cx="2606040" cy="530352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Accessibility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408" y="4288536"/>
            <a:ext cx="2606040" cy="530352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Test / process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5074920"/>
            <a:ext cx="10972800" cy="105156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184648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USING ROOT CAUSES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40% of a release's defects trace to requirements? Invest in requirement reviews, not more testing at the end.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23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With Defects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Metrics, disagreements, retesting and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24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Defect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493776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Defect density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defects ÷ size (KLOC, stories)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606040"/>
            <a:ext cx="493776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Defect leakage %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after release ÷ all found × 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520440"/>
            <a:ext cx="493776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DRE (or DDP) %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100 − leakage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4434840"/>
            <a:ext cx="493776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Defect age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closed (or today) − reported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852160" y="1600200"/>
          <a:ext cx="5733288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52160" y="4434840"/>
            <a:ext cx="57332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Testing found 20; customers found 5 → leakage 20%, DRE 80%.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548640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59612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5C8A8A"/>
                </a:solidFill>
                <a:latin typeface="Arial"/>
              </a:rPr>
              <a:t>CAUTION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Metrics are a mirror for the process, never a weapon: don't rank or punish people by defect counts.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25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Disagreements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10972800" cy="6400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Karan: "Cannot reproduce. Works fine."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514600"/>
            <a:ext cx="3657600" cy="14630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Poor reply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"You're wrong. It fails every time."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44568" y="2514600"/>
            <a:ext cx="7040880" cy="14630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Better reply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"Thanks for trying. I re-ran it on build 318 and attached a video. My test user has an apostrophe in the address; could you try with that user? Happy to pair for five minutes."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20624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Attack the problem, not the person; lead with evidence.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Check your own work and the requirement first.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Unclear intent? The PO decides. Escalate calmly, and last.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Accept the decision, record your concern, move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26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 the Fix: Retest and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1673352" cy="10058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Requirement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330066"/>
                </a:solidFill>
                <a:latin typeface="Arial"/>
              </a:rPr>
              <a:t>REQ-CHK-014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2286000"/>
            <a:ext cx="182879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68879" y="1783080"/>
            <a:ext cx="1673352" cy="1005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Test case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TC-CHK-031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42231" y="2286000"/>
            <a:ext cx="182881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25112" y="1783080"/>
            <a:ext cx="1673352" cy="10058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Run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Fail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98464" y="2286000"/>
            <a:ext cx="182880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81344" y="1783080"/>
            <a:ext cx="1673352" cy="100584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Defect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DEMO-207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54696" y="2286000"/>
            <a:ext cx="182879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37575" y="1783080"/>
            <a:ext cx="1673352" cy="10058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Fix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build 319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10928" y="2286000"/>
            <a:ext cx="182879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893807" y="1783080"/>
            <a:ext cx="1673352" cy="10058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Retest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063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Retest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520440"/>
            <a:ext cx="109728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Confirm the build contains the fix (build number on the defect).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Repeat the original steps and data, then try variations.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Regress around the fix: run the key cases of that area.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Record build and verdict: Verified, or Reopened with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27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 Analysis: 5 Whys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4754880" cy="64008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Customer received a wrong discount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78408" y="2286000"/>
            <a:ext cx="0" cy="182879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12648" y="2468879"/>
            <a:ext cx="47548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Why 1?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Discount calculated before tax, not after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78408" y="2971800"/>
            <a:ext cx="0" cy="182879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12648" y="3154679"/>
            <a:ext cx="47548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Why 2?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Developer coded from the old requirement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78408" y="3657600"/>
            <a:ext cx="0" cy="18288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2648" y="3840480"/>
            <a:ext cx="47548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Why 3?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update was posted only in chat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78408" y="4343400"/>
            <a:ext cx="0" cy="18288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2648" y="4526280"/>
            <a:ext cx="47548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Why 4?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No rule to update requirements in one place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8408" y="5029200"/>
            <a:ext cx="0" cy="18288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2648" y="5212080"/>
            <a:ext cx="47548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Why 5?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team never agreed a change-control 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743200"/>
            <a:ext cx="5733288" cy="20116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Action</a:t>
            </a:r>
          </a:p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Record all requirement changes in the requirements tool, with a review step.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367528" y="4206240"/>
            <a:ext cx="484632" cy="132588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52160" y="4983480"/>
            <a:ext cx="573328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Fix the process, not just the product: not "tell the developer to be careful".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28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Fishbone (Ishikawa)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3886200"/>
            <a:ext cx="7726680" cy="0"/>
          </a:xfrm>
          <a:prstGeom prst="line">
            <a:avLst/>
          </a:prstGeom>
          <a:ln w="381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595360" y="3337560"/>
            <a:ext cx="2990088" cy="109728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Wrong discount in production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720" y="2148840"/>
            <a:ext cx="1463040" cy="173736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6916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51460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new joiner, not trained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0" y="2148840"/>
            <a:ext cx="1463040" cy="173736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08960" y="16916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51460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change not communicated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0" y="2148840"/>
            <a:ext cx="1463040" cy="173736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16916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Tools / env.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51460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test data differs from live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188720" y="3886200"/>
            <a:ext cx="1463040" cy="160020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" y="54864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Requirements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4348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unclear acceptance criteria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657600" y="3886200"/>
            <a:ext cx="1463040" cy="160020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108960" y="54864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4348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no tax + discount test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126480" y="3886200"/>
            <a:ext cx="1463040" cy="160020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577840" y="54864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Code /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4348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no code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572000"/>
            <a:ext cx="299008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Brainstorm causes by category; then run 5 Whys on the likeliest bone.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29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2245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303520"/>
                <a:gridCol w="566928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Vague title and no steps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[Area] symptom when condition; numbered steps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Several bugs in one report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One defect per report, linked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No build number or environment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Always record both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Developer closes their own fix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Tester verifies and closes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Deferring or rejecting with no reason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Record why, and a review date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Confusing severity with priority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Damage vs order of repair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30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Every defect has a visible state, a named owner and a defined next step.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Main path New to Verified/Closed; side exits need a reason; Reopened loops back.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Developers fix; testers verify. Triage turns defect lists into decisions.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 great report is specific, reproducible, objective, minimal and evidence-backed.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Severity is damage; priority is order. Classify by type and root cause.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Use metrics and RCA to improve the process, never to blame people.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31 / 32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Glossary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https://glossary.istqb.org/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Guru99: Defect / Bug Life Cycle in Software Testing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https://www.guru99.com/defect-life-cycle.html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Atlassian: Bug Tracking with Jira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https://www.atlassian.com/software/jira/bug-tracking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Defect Lifecycle  ·  Week 3 · Tuesday   |   32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Learners Point Template</Application>
  <PresentationFormat>Widescreen</PresentationFormat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</cp:coreProperties>
</file>