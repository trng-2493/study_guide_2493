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84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40" r:id="rId4"/>
    <p:sldId id="341" r:id="rId5"/>
    <p:sldId id="342" r:id="rId6"/>
    <p:sldId id="343" r:id="rId7"/>
    <p:sldId id="344" r:id="rId8"/>
    <p:sldId id="345" r:id="rId9"/>
    <p:sldId id="346" r:id="rId10"/>
    <p:sldId id="347" r:id="rId11"/>
    <p:sldId id="348" r:id="rId12"/>
    <p:sldId id="349" r:id="rId13"/>
    <p:sldId id="350" r:id="rId14"/>
    <p:sldId id="351" r:id="rId15"/>
    <p:sldId id="352" r:id="rId16"/>
    <p:sldId id="353" r:id="rId17"/>
    <p:sldId id="354" r:id="rId18"/>
    <p:sldId id="355" r:id="rId19"/>
    <p:sldId id="356" r:id="rId20"/>
    <p:sldId id="357" r:id="rId21"/>
    <p:sldId id="358" r:id="rId22"/>
    <p:sldId id="359" r:id="rId23"/>
    <p:sldId id="360" r:id="rId24"/>
    <p:sldId id="361" r:id="rId25"/>
    <p:sldId id="362" r:id="rId26"/>
    <p:sldId id="363" r:id="rId27"/>
    <p:sldId id="364" r:id="rId28"/>
    <p:sldId id="365" r:id="rId29"/>
    <p:sldId id="366" r:id="rId30"/>
    <p:sldId id="367" r:id="rId31"/>
    <p:sldId id="368" r:id="rId32"/>
    <p:sldId id="339" r:id="rId85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85" Type="http://schemas.openxmlformats.org/officeDocument/2006/relationships/slide" Target="slides/slide8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Created</c:v>
                </c:pt>
              </c:strCache>
            </c:strRef>
          </c:tx>
          <c:spPr>
            <a:ln w="34925">
              <a:solidFill>
                <a:srgbClr val="C00000"/>
              </a:solidFill>
            </a:ln>
          </c:spPr>
          <c:marker>
            <c:spPr>
              <a:solidFill>
                <a:srgbClr val="C00000"/>
              </a:solidFill>
              <a:ln>
                <a:solidFill>
                  <a:srgbClr val="C00000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Wk 1</c:v>
                </c:pt>
                <c:pt idx="1">
                  <c:v>Wk 2</c:v>
                </c:pt>
                <c:pt idx="2">
                  <c:v>Wk 3</c:v>
                </c:pt>
                <c:pt idx="3">
                  <c:v>Wk 4</c:v>
                </c:pt>
                <c:pt idx="4">
                  <c:v>Wk 5</c:v>
                </c:pt>
                <c:pt idx="5">
                  <c:v>Wk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14</c:v>
                </c:pt>
                <c:pt idx="2">
                  <c:v>23</c:v>
                </c:pt>
                <c:pt idx="3">
                  <c:v>30</c:v>
                </c:pt>
                <c:pt idx="4">
                  <c:v>34</c:v>
                </c:pt>
                <c:pt idx="5">
                  <c:v>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Resolved</c:v>
                </c:pt>
              </c:strCache>
            </c:strRef>
          </c:tx>
          <c:spPr>
            <a:ln w="34925">
              <a:solidFill>
                <a:srgbClr val="2E7D32"/>
              </a:solidFill>
            </a:ln>
          </c:spPr>
          <c:marker>
            <c:spPr>
              <a:solidFill>
                <a:srgbClr val="2E7D32"/>
              </a:solidFill>
              <a:ln>
                <a:solidFill>
                  <a:srgbClr val="2E7D32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Wk 1</c:v>
                </c:pt>
                <c:pt idx="1">
                  <c:v>Wk 2</c:v>
                </c:pt>
                <c:pt idx="2">
                  <c:v>Wk 3</c:v>
                </c:pt>
                <c:pt idx="3">
                  <c:v>Wk 4</c:v>
                </c:pt>
                <c:pt idx="4">
                  <c:v>Wk 5</c:v>
                </c:pt>
                <c:pt idx="5">
                  <c:v>Wk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14</c:v>
                </c:pt>
                <c:pt idx="3">
                  <c:v>22</c:v>
                </c:pt>
                <c:pt idx="4">
                  <c:v>30</c:v>
                </c:pt>
                <c:pt idx="5">
                  <c:v>35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300">
                <a:solidFill>
                  <a:srgbClr val="5A5A5A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300" b="0">
                    <a:solidFill>
                      <a:srgbClr val="5A5A5A"/>
                    </a:solidFill>
                    <a:latin typeface="Arial"/>
                  </a:rPr>
                  <a:t>Bugs (cumulative)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5A5A5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300"/>
          </a:pPr>
        </a:p>
      </c:txPr>
    </c:legend>
    <c:plotVisOnly val="1"/>
    <c:dispBlanksAs val="gap"/>
    <c:showDLblsOverMax val="0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Done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Sheet1!$A$2:$A$8</c:f>
              <c:strCache>
                <c:ptCount val="7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D9</c:v>
                </c:pt>
                <c:pt idx="5">
                  <c:v>D11</c:v>
                </c:pt>
                <c:pt idx="6">
                  <c:v>D13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 Testing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Sheet1!$A$2:$A$8</c:f>
              <c:strCache>
                <c:ptCount val="7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D9</c:v>
                </c:pt>
                <c:pt idx="5">
                  <c:v>D11</c:v>
                </c:pt>
                <c:pt idx="6">
                  <c:v>D13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 Progress</c:v>
                </c:pt>
              </c:strCache>
            </c:strRef>
          </c:tx>
          <c:spPr>
            <a:solidFill>
              <a:srgbClr val="1F4E79"/>
            </a:solidFill>
          </c:spPr>
          <c:cat>
            <c:strRef>
              <c:f>Sheet1!$A$2:$A$8</c:f>
              <c:strCache>
                <c:ptCount val="7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D9</c:v>
                </c:pt>
                <c:pt idx="5">
                  <c:v>D11</c:v>
                </c:pt>
                <c:pt idx="6">
                  <c:v>D13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 Do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Sheet1!$A$2:$A$8</c:f>
              <c:strCache>
                <c:ptCount val="7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D9</c:v>
                </c:pt>
                <c:pt idx="5">
                  <c:v>D11</c:v>
                </c:pt>
                <c:pt idx="6">
                  <c:v>D13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14</c:v>
                </c:pt>
                <c:pt idx="1">
                  <c:v>11</c:v>
                </c:pt>
                <c:pt idx="2">
                  <c:v>9</c:v>
                </c:pt>
                <c:pt idx="3">
                  <c:v>7</c:v>
                </c:pt>
                <c:pt idx="4">
                  <c:v>6</c:v>
                </c:pt>
                <c:pt idx="5">
                  <c:v>5</c:v>
                </c:pt>
                <c:pt idx="6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300">
                <a:solidFill>
                  <a:srgbClr val="5A5A5A"/>
                </a:solidFill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5A5A5A"/>
                </a:solidFill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300"/>
          </a:pPr>
        </a:p>
      </c:txPr>
    </c:legend>
    <c:plotVisOnly val="1"/>
    <c:dispBlanksAs val="zero"/>
    <c:showDLblsOverMax val="0"/>
  </c:chart>
  <c:txPr>
    <a:bodyPr/>
    <a:lstStyle/>
    <a:p>
      <a:pPr>
        <a:defRPr sz="1300">
          <a:latin typeface="Arial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Open bugs</c:v>
                </c:pt>
              </c:strCache>
            </c:strRef>
          </c:tx>
          <c:dPt>
            <c:idx val="0"/>
            <c:spPr>
              <a:solidFill>
                <a:srgbClr val="C00000"/>
              </a:solidFill>
            </c:spPr>
          </c:dPt>
          <c:dPt>
            <c:idx val="1"/>
            <c:spPr>
              <a:solidFill>
                <a:srgbClr val="C55A11"/>
              </a:solidFill>
            </c:spPr>
          </c:dPt>
          <c:dPt>
            <c:idx val="2"/>
            <c:spPr>
              <a:solidFill>
                <a:srgbClr val="1F4E79"/>
              </a:solidFill>
            </c:spPr>
          </c:dPt>
          <c:dPt>
            <c:idx val="3"/>
            <c:spPr>
              <a:solidFill>
                <a:srgbClr val="808080"/>
              </a:solidFill>
            </c:spPr>
          </c:dPt>
          <c:cat>
            <c:strRef>
              <c:f>Sheet1!$A$2:$A$5</c:f>
              <c:strCache>
                <c:ptCount val="4"/>
                <c:pt idx="0">
                  <c:v>Highest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5</c:v>
                </c:pt>
                <c:pt idx="2">
                  <c:v>8</c:v>
                </c:pt>
                <c:pt idx="3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Arial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does the defect lifecycle actually live, and how does the team see it? In workflows and boards.</a:t>
            </a:r>
          </a:p>
          <a:p>
            <a:r>
              <a:t>Monday covered the basic Scrum board, running a sprint and where reports live; Kanban, WIP and lead/cycle time were in the delivery models deck.</a:t>
            </a:r>
          </a:p>
          <a:p>
            <a:r>
              <a:t>Today: configuring boards for QE, reading quality reports, and building the Bug workflow.</a:t>
            </a:r>
          </a:p>
          <a:p>
            <a:r>
              <a:t>One analogy: the airport (rules for moving through it, and the departures screen).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Menus differ between Jira Cloud and Data Center, team- and company-managed projects, and releases; the ideas stay the same.</a:t>
            </a:r>
          </a:p>
          <a:p>
            <a:r>
              <a:t>Sample project: Demo Project, key DEMO.</a:t>
            </a:r>
          </a:p>
          <a:p>
            <a:r>
              <a:t>Screens are shown live in the demo; slides show the 3-4 key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1: what a board shows and how it connects to statuses.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deck's one analogy.</a:t>
            </a:r>
          </a:p>
          <a:p>
            <a:r>
              <a:t>Why it matters for QE: a bug sitting in Open for three weeks is a risk nobody sees; a board makes stalled work visible.</a:t>
            </a:r>
          </a:p>
          <a:p>
            <a:r>
              <a:t>With no 'In Testing' state, testing is invisible and gets squeezed at the end of the sprint.</a:t>
            </a:r>
          </a:p>
          <a:p>
            <a:r>
              <a:t>Workflows can enforce quality rules: a bug cannot close without a resolution.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only: Scrum vs Kanban as delivery models was Monday's delivery models deck; running a sprint in Jira was Monday's Jira deck.</a:t>
            </a:r>
          </a:p>
          <a:p>
            <a:r>
              <a:t>Purple is the legend colour for Agile events (sprints).</a:t>
            </a:r>
          </a:p>
          <a:p>
            <a:r>
              <a:t>Newer team-managed projects show Board and Backlog, with Sprints as a feature you switch on.</a:t>
            </a:r>
          </a:p>
          <a:p>
            <a:r>
              <a:t>Scope changes: discouraged mid-sprint on Scrum, allowed any time on Kanban.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Cards show key, summary, type icon, priority, assignee, optionally estimate and labels; click to open, drag to change status.</a:t>
            </a:r>
          </a:p>
          <a:p>
            <a:r>
              <a:t>Backlog: the ordered list of work not in a sprint. Active sprint: the running sprint's board.</a:t>
            </a:r>
          </a:p>
          <a:p>
            <a:r>
              <a:t>Versions (releases) such as v1.0: Fix Version says which release an issue targets; useful for 'bug count for v1.0'.</a:t>
            </a:r>
          </a:p>
          <a:p>
            <a:r>
              <a:t>This is a drawn board, not a screenshot; the real screen is shown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status is a state an issue can be in; a column displays one or more statuses.</a:t>
            </a:r>
          </a:p>
          <a:p>
            <a:r>
              <a:t>Every status should appear in exactly one column. The column name ('In Testing') can differ from the status name ('Ready for Retest').</a:t>
            </a:r>
          </a:p>
          <a:p>
            <a:r>
              <a:t>Removing a column returns its statuses to Unmapped: remap them.</a:t>
            </a:r>
          </a:p>
          <a:p>
            <a:r>
              <a:t>Company-managed: board menu → Configure; team-managed: Board settings. Names vary.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2: small settings that answer the team's daily questions.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actions: Board settings → Swimlanes → Base swimlanes on → add query lanes.</a:t>
            </a:r>
          </a:p>
          <a:p>
            <a:r>
              <a:t>Also: Projects (multi-project boards) and No swimlanes (small, simple boards).</a:t>
            </a:r>
          </a:p>
          <a:p>
            <a:r>
              <a:t>Order matters for query lanes.</a:t>
            </a:r>
          </a:p>
          <a:p>
            <a:r>
              <a:t>Ananya uses an assignee view for stand-up and a query lane for urgent bugs.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filter: a saved JQL condition shown as a button above the board; clicking hides non-matching cards.</a:t>
            </a:r>
          </a:p>
          <a:p>
            <a:r>
              <a:t>Key actions: Board settings → Quick filters → name, JQL → Add → test the button.</a:t>
            </a:r>
          </a:p>
          <a:p>
            <a:r>
              <a:t>Quick filters apply on top of the board filter; they cannot show an issue the board filter excludes.</a:t>
            </a:r>
          </a:p>
          <a:p>
            <a:r>
              <a:t>Example: 'What is waiting for me to retest?' Two clicks (Needs retest + Only my issues) replace a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 layout: Board settings → Card layout, separately for backlog and active sprint.</a:t>
            </a:r>
          </a:p>
          <a:p>
            <a:r>
              <a:t>Card colours: Board settings → Card colours → Based on → add JQL rules (blocked red, Highest orange, overdue purple).</a:t>
            </a:r>
          </a:p>
          <a:p>
            <a:r>
              <a:t>Estimation drives velocity and burndown; working days stop a weekend looking like 'no progress'.</a:t>
            </a:r>
          </a:p>
          <a:p>
            <a:r>
              <a:t>Story points themselves were Monday's Scrum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WIP = work in progress; a WIP limit is a column constraint. It warns; it does not block the drag.</a:t>
            </a:r>
          </a:p>
          <a:p>
            <a:r>
              <a:t>Key actions (Kanban, company-managed): Board settings → Columns → Column constraints → Issue count → Max per column.</a:t>
            </a:r>
          </a:p>
          <a:p>
            <a:r>
              <a:t>WIP, pull and lead/cycle time as concepts were Monday's delivery models deck.</a:t>
            </a:r>
          </a:p>
          <a:p>
            <a:r>
              <a:t>A Highest-priority production bug goes to the top or into the active sprint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3: charts a QE can bring to triage, review and retrospective.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Board → Reports (location varies). Burndown, burnup, velocity and sprint report are on Scrum boards; CFD and control chart on Kanban.</a:t>
            </a:r>
          </a:p>
          <a:p>
            <a:r>
              <a:t>Burndown that stays flat and drops on the last day usually means testing started late.</a:t>
            </a:r>
          </a:p>
          <a:p>
            <a:r>
              <a:t>Velocity is a planning aid, never a ranking between teams.</a:t>
            </a:r>
          </a:p>
          <a:p>
            <a:r>
              <a:t>Where these live in Jira was Monday; here we read them as a QE.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Weeks 1-3: bugs are found faster than fixed; weeks 4-6 the team catches up.</a:t>
            </a:r>
          </a:p>
          <a:p>
            <a:r>
              <a:t>Filter on issuetype = Bug for a QE view.</a:t>
            </a:r>
          </a:p>
          <a:p>
            <a:r>
              <a:t>Pair with defects by severity: a closing gap with open Critical bugs is still a risk.</a:t>
            </a:r>
          </a:p>
          <a:p>
            <a:r>
              <a:t>Illustrative data for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band is a status; vertical thickness = how many issues are in it that day; horizontal distance ≈ time spent there.</a:t>
            </a:r>
          </a:p>
          <a:p>
            <a:r>
              <a:t>Example from the written lesson: the In Testing band widened for three sprints; a WIP limit of 3 and developers helping with retests narrowed it in two weeks.</a:t>
            </a:r>
          </a:p>
          <a:p>
            <a:r>
              <a:t>Control chart: each dot is a finished issue (date vs time taken); tight clusters mean predictable delivery; outliers are worth a question.</a:t>
            </a:r>
          </a:p>
          <a:p>
            <a:r>
              <a:t>Lead time vs cycle time was Monday: whole wait vs active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Gadgets: Filter Results, Pie Chart, Two-dimensional Filter Statistics, Created vs Resolved, Sprint Burndown, Assigned to Me.</a:t>
            </a:r>
          </a:p>
          <a:p>
            <a:r>
              <a:t>Key actions: Dashboards → Create dashboard → name and sharing → Add gadget → pick filter → arrange.</a:t>
            </a:r>
          </a:p>
          <a:p>
            <a:r>
              <a:t>Dashboards can combine projects and be shared with stakeholders such as Sunita.</a:t>
            </a:r>
          </a:p>
          <a:p>
            <a:r>
              <a:t>Dashboards support conversations; they don't replace them. Basic dashboards were Monday.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4: encoding the defect lifecycle into the tool.</a:t>
            </a:r>
          </a:p>
          <a:p>
            <a:r>
              <a:t>This part has 5 concept slides, about 10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transition's name can differ from the destination status ('Send to test' leads to 'In Testing').</a:t>
            </a:r>
          </a:p>
          <a:p>
            <a:r>
              <a:t>Resolution answers 'how did it end?'; status answers 'where is it now?'. No resolution = unresolved = open.</a:t>
            </a:r>
          </a:p>
          <a:p>
            <a:r>
              <a:t>Every status belongs to exactly one category; JQL statusCategory = Done relies on this.</a:t>
            </a:r>
          </a:p>
          <a:p>
            <a:r>
              <a:t>Colours here follow Jira's category colours: grey To Do, blue In Progress, green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Customising encodes the defect lifecycle (previous deck) into the tool.</a:t>
            </a:r>
          </a:p>
          <a:p>
            <a:r>
              <a:t>'All transitions' templates are flexible but uncontrolled.</a:t>
            </a:r>
          </a:p>
          <a:p>
            <a:r>
              <a:t>Keep it simple: the fewest statuses that reflect real handoffs; 5 to 8 is typical.</a:t>
            </a:r>
          </a:p>
          <a:p>
            <a:r>
              <a:t>Document the workflow as a one-page diagram and table on the team wiki.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Mapped from the defect lifecycle: Open = New/Open (Assigned is the Assignee field); Fixed and Ready for Retest are merged; Verified/Closed = Closed with resolution Fixed.</a:t>
            </a:r>
          </a:p>
          <a:p>
            <a:r>
              <a:t>Rejected covers Not a Bug, Cannot Reproduce and Won't Fix through the resolution; Duplicate links to the original; Deferred stays unresolved (the bug still exists).</a:t>
            </a:r>
          </a:p>
          <a:p>
            <a:r>
              <a:t>Other transitions: Rejected → Reopened (QE with new evidence); Deferred → Open (PO, release planned).</a:t>
            </a:r>
          </a:p>
          <a:p>
            <a:r>
              <a:t>Clean copy: demos/2-tuesday/diagrams/bug-workflow-jira-mapping.mermaid. The demo builds this workflow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separate Closed, Rejected and Duplicate when all are Done? Reports tell different stories.</a:t>
            </a:r>
          </a:p>
          <a:p>
            <a:r>
              <a:t>High Rejected rate: unclear reports or misunderstood requirements. High Duplicate rate: testers not searching first.</a:t>
            </a:r>
          </a:p>
          <a:p>
            <a:r>
              <a:t>Closed-and-fixed count shows real fixes.</a:t>
            </a:r>
          </a:p>
          <a:p>
            <a:r>
              <a:t>JQL resolution = Unresolved finds unfinished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Default To Do → In Progress → Done hides testing; explicit QA states make it visible.</a:t>
            </a:r>
          </a:p>
          <a:p>
            <a:r>
              <a:t>In Review = code or peer review by Neha; In Testing owned by Ananya.</a:t>
            </a:r>
          </a:p>
          <a:p>
            <a:r>
              <a:t>Done means meets the Definition of Done.</a:t>
            </a:r>
          </a:p>
          <a:p>
            <a:r>
              <a:t>Reopen from Done is rare and should be discussed.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5: making the right thing easy and the wrong thing visible.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Conditions hide the button if they fail; validators block with an error.</a:t>
            </a:r>
          </a:p>
          <a:p>
            <a:r>
              <a:t>Standard post functions (set status, create history) run automatically; you rarely touch them.</a:t>
            </a:r>
          </a:p>
          <a:p>
            <a:r>
              <a:t>Example: 'Retest failed' shows a screen requiring a comment and evidence; a post function clears the resolution.</a:t>
            </a:r>
          </a:p>
          <a:p>
            <a:r>
              <a:t>In team-managed projects some post-function behaviour needs Jira Automation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Workflow scheme: which workflow applies to which issue type (Bugs use the Bug workflow, Stories the Story workflow).</a:t>
            </a:r>
          </a:p>
          <a:p>
            <a:r>
              <a:t>Issue type scheme: which types a project offers. Many projects can share a scheme, so admins edit carefully.</a:t>
            </a:r>
          </a:p>
          <a:p>
            <a:r>
              <a:t>No admin rights on a company-managed site? Design the workflow on paper, request it with the transition table, or practise on a free personal site.</a:t>
            </a:r>
          </a:p>
          <a:p>
            <a:r>
              <a:t>Key permissions: browse, create, edit, transition, assign, resolve, manage sprints.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'If this, check that, then do this.'</a:t>
            </a:r>
          </a:p>
          <a:p>
            <a:r>
              <a:t>Key actions: Project settings → Automation → Create rule → trigger → condition → action → name, turn on, test.</a:t>
            </a:r>
          </a:p>
          <a:p>
            <a:r>
              <a:t>Notifications: notify on assignment, on handoffs to you (Ready for Retest) and on @mentions; too many become noise.</a:t>
            </a:r>
          </a:p>
          <a:p>
            <a:r>
              <a:t>AI can draft rules and JQL in some plans; verify by testing (Week 8 covers AI tools).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DoD recap (Monday's Scrum deck): the team's shared checklist of what must be true before work counts as finished.</a:t>
            </a:r>
          </a:p>
          <a:p>
            <a:r>
              <a:t>Example: a developer drags a bug to Closed; the validator blocks it with 'Resolution is required'; they pick Fixed on the screen.</a:t>
            </a:r>
          </a:p>
          <a:p>
            <a:r>
              <a:t>Write the DoD where the team sees it: board header or team page.</a:t>
            </a:r>
          </a:p>
          <a:p>
            <a:r>
              <a:t>Moving a team from Waterfall-style handoffs to an Agile board is covered in the written lesson (section 2.14).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Others: everything can move anywhere; over-restricted transitions; one workflow for all issue types; using priority and rank interchangeably; ignoring red WIP limits; stale cards; untested AI-generated JQL or rules.</a:t>
            </a:r>
          </a:p>
          <a:p>
            <a:r>
              <a:t>Board used only for manager reporting: the team stops updating it.</a:t>
            </a:r>
          </a:p>
          <a:p>
            <a:r>
              <a:t>Quick quiz: read a mistake aloud and ask the class for the fix before revealing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check: 'Why must the resolution be cleared on reopen?'</a:t>
            </a:r>
          </a:p>
          <a:p>
            <a:r>
              <a:t>Bridge to the exercise: log, triage and move bugs through the Bug workflow in the Demo Project.</a:t>
            </a:r>
          </a:p>
          <a:p>
            <a:r>
              <a:t>Give learners one minute to write the takeaway they found most useful; take two or three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Atlassian documentation changes often; check it when screens differ.</a:t>
            </a:r>
          </a:p>
          <a:p>
            <a:r>
              <a:t>Resources are for self-study after class; none are needed for today's exercise.</a:t>
            </a:r>
          </a:p>
          <a:p>
            <a:r>
              <a:t>The written lesson for this topic is the full reference; slides are the presentation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10/14/2025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10/14/2025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Jira Boards and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WEEK 3 · TUESDAY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The picture and the rulebook: how a team sees its work, and how statuses and transitions encode the defect lifecycle and a QA stage.</a:t>
            </a:r>
          </a:p>
        </p:txBody>
      </p:sp>
      <p:sp>
        <p:nvSpPr>
          <p:cNvPr id="16" name="Oval 15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8" name="Oval 17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" y="3520440"/>
            <a:ext cx="1042416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Boards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746504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12264" y="3520440"/>
            <a:ext cx="1568196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Board setup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771900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37660" y="3520440"/>
            <a:ext cx="1147572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Reports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376672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42432" y="3520440"/>
            <a:ext cx="1357884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Workflows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191756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557516" y="3520440"/>
            <a:ext cx="1673352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Bug workflow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322308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88068" y="3520440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45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0078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Configure a board for QE work: columns, swimlanes, quick filters.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688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52374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Use reports and a dashboard to discuss quality with facts.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2918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34670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Explain statuses, transitions, resolutions and status categories.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4114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169663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Map the defect lifecycle to a Bug workflow and add a QA stage to stories.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937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99262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Use transition rules and automation to support the Definition of Done.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2 /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Boards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picture of the work: board types, anatomy and status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3 / 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Rulebook and the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5120640" cy="210312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Workflow = rulebook</a:t>
            </a:r>
          </a:p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Which states an issue can be in, and which moves are allowed.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64808" y="1737360"/>
            <a:ext cx="5120640" cy="210312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Board = picture</a:t>
            </a:r>
          </a:p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Every issue in its current state, visible at a glance.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33288" y="2788920"/>
            <a:ext cx="731520" cy="0"/>
          </a:xfrm>
          <a:prstGeom prst="line">
            <a:avLst/>
          </a:prstGeom>
          <a:ln w="31750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4114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Arial"/>
              </a:rPr>
              <a:t>Airport: you can't board before security (the rules); the departures screen shows where everything 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4937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Move a card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and the status changes; </a:t>
            </a:r>
            <a:r>
              <a:rPr sz="1800" b="1" i="0">
                <a:solidFill>
                  <a:srgbClr val="330066"/>
                </a:solidFill>
                <a:latin typeface="Arial"/>
              </a:rPr>
              <a:t>change the status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and the card moves. A board is a view, not a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4 / 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Scrum and Kanban Boards in Jira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303520" cy="594360"/>
          </a:xfrm>
          <a:prstGeom prst="roundRect">
            <a:avLst>
              <a:gd name="adj" fmla="val 12000"/>
            </a:avLst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Scrum 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1928" y="1691640"/>
            <a:ext cx="5303520" cy="59436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Kanban 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2377440"/>
            <a:ext cx="5303520" cy="621792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Shows the active sprint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2377440"/>
            <a:ext cx="5303520" cy="621792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Shows work in progress, no end 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3108960"/>
            <a:ext cx="5303520" cy="621792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Backlog screen for sprint planning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3108960"/>
            <a:ext cx="5303520" cy="621792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WIP limits on columns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840480"/>
            <a:ext cx="5303520" cy="621792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Burndown, velocity, sprint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3840480"/>
            <a:ext cx="5303520" cy="621792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Cumulative flow, control chart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4572000"/>
            <a:ext cx="5303520" cy="621792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Best for: regular product delivery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4572000"/>
            <a:ext cx="5303520" cy="621792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Best for: bug triage, support, continuous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440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Common QE set-up: a Scrum board for stories, plus a Kanban board for a bug-triage stream.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5 / 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Anatomy of a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1691640" cy="329184"/>
          </a:xfrm>
          <a:prstGeom prst="roundRect">
            <a:avLst>
              <a:gd name="adj" fmla="val 40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Only my issues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78608" y="1755648"/>
            <a:ext cx="1691640" cy="329184"/>
          </a:xfrm>
          <a:prstGeom prst="roundRect">
            <a:avLst>
              <a:gd name="adj" fmla="val 40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Bugs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755648"/>
            <a:ext cx="1691640" cy="329184"/>
          </a:xfrm>
          <a:prstGeom prst="roundRect">
            <a:avLst>
              <a:gd name="adj" fmla="val 40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Needs retest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286000"/>
            <a:ext cx="2011680" cy="411480"/>
          </a:xfrm>
          <a:prstGeom prst="roundRect">
            <a:avLst>
              <a:gd name="adj" fmla="val 5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330066"/>
                </a:solidFill>
                <a:latin typeface="Arial"/>
              </a:rPr>
              <a:t>To 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88336" y="2286000"/>
            <a:ext cx="2011680" cy="411480"/>
          </a:xfrm>
          <a:prstGeom prst="roundRect">
            <a:avLst>
              <a:gd name="adj" fmla="val 5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330066"/>
                </a:solidFill>
                <a:latin typeface="Arial"/>
              </a:rPr>
              <a:t>In Progress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64024" y="2286000"/>
            <a:ext cx="2011680" cy="411480"/>
          </a:xfrm>
          <a:prstGeom prst="roundRect">
            <a:avLst>
              <a:gd name="adj" fmla="val 5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330066"/>
                </a:solidFill>
                <a:latin typeface="Arial"/>
              </a:rPr>
              <a:t>In Testing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39712" y="2286000"/>
            <a:ext cx="2011680" cy="411480"/>
          </a:xfrm>
          <a:prstGeom prst="roundRect">
            <a:avLst>
              <a:gd name="adj" fmla="val 5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330066"/>
                </a:solidFill>
                <a:latin typeface="Arial"/>
              </a:rP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77063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A5A5A"/>
                </a:solidFill>
                <a:latin typeface="Arial"/>
              </a:rPr>
              <a:t>Swimlane: Karan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2648" y="4114800"/>
            <a:ext cx="82296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49808" y="310896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DEMO-4 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25496" y="310896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DEMO-2 Story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01184" y="310896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DEMO-3 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187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A5A5A"/>
                </a:solidFill>
                <a:latin typeface="Arial"/>
              </a:rPr>
              <a:t>Swimlane: Ananya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2648" y="5532120"/>
            <a:ext cx="82296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9808" y="4526279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DEMO-5 Task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01184" y="4526279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DEMO-9 Bug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76872" y="4526279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DEMO-7 Bug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1691640"/>
            <a:ext cx="2350008" cy="4572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Quick filters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2286000"/>
            <a:ext cx="2350008" cy="4572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Columns = statuses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3108960"/>
            <a:ext cx="2350008" cy="4572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Cards = issues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4206240"/>
            <a:ext cx="2350008" cy="4572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Swimlanes = rows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4846320"/>
            <a:ext cx="235000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Plus: backlog, active sprint, epics panel, versions.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6 / 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Columns and Status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0" y="1828800"/>
            <a:ext cx="2560320" cy="7772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Column: To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2880360"/>
            <a:ext cx="2560320" cy="7772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Column: In Progress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3931920"/>
            <a:ext cx="2560320" cy="7772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Column: In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4983480"/>
            <a:ext cx="2560320" cy="7772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Column: Done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783080"/>
            <a:ext cx="2926080" cy="5486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Open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38728" y="2057400"/>
            <a:ext cx="2221992" cy="155448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2648" y="2468880"/>
            <a:ext cx="2926080" cy="5486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Reopened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538728" y="2212848"/>
            <a:ext cx="2221992" cy="530352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2648" y="3154680"/>
            <a:ext cx="2926080" cy="5486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In Progress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538728" y="3264408"/>
            <a:ext cx="2221992" cy="164592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2648" y="3840480"/>
            <a:ext cx="2926080" cy="5486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Ready for Retest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38728" y="4114800"/>
            <a:ext cx="2221992" cy="201168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2648" y="4526280"/>
            <a:ext cx="2926080" cy="5486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Closed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38728" y="4800600"/>
            <a:ext cx="2221992" cy="566928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2648" y="5212080"/>
            <a:ext cx="2926080" cy="5486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Rejected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538728" y="5367528"/>
            <a:ext cx="2221992" cy="118872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778240" y="1737360"/>
            <a:ext cx="2807208" cy="1828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Unmapped status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Issues in it vanish from the board.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794760"/>
            <a:ext cx="280720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Key actions: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Board settings → Columns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Add column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Drag statuses in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Remap any unmapped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7 /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Configuring the Board for QE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Swimlanes, quick filters, card layout and WIP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8 / 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Swimlanes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0175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60320"/>
                <a:gridCol w="3291840"/>
                <a:gridCol w="512064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Based 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One lane per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QE use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Queries (JQL)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Your own condition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Expedite lane for high-priority bugs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Stories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Story with its sub-tasks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See testing sub-tasks per story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Assignees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Person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Stand-up: who is doing what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Epics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Feature area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Progress by feature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4892040"/>
            <a:ext cx="109728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Query lane: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issuetype = Bug AND priority in (Highest, High)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First matching lane claims the issue: keep an 'Everything else' lane last.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9 /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Filters and the Board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6766560" cy="3401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475488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Button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JQL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Bugs only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ourier New"/>
                        </a:rPr>
                        <a:t>issuetype = Bug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High priority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ourier New"/>
                        </a:rPr>
                        <a:t>priority in (Highest, High)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Needs retest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ourier New"/>
                        </a:rPr>
                        <a:t>status = "Ready for Retest"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My retests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ourier New"/>
                        </a:rPr>
                        <a:t>... AND reporter = currentUser()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Stale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ourier New"/>
                        </a:rPr>
                        <a:t>updated &lt;= -3d AND statusCategory != Done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80960" y="1600200"/>
            <a:ext cx="3904487" cy="22860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Board filter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saved JQL query decides which issues the board may show.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4069080"/>
            <a:ext cx="3904487" cy="13716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Card missing? Check the board filter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10 /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Cards, Colours and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520440" cy="3108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2E7D32"/>
                </a:solidFill>
                <a:latin typeface="Arial"/>
              </a:rPr>
              <a:t>Card layout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Add 1-3 useful fields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QE pick: priority, labels, fix version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Remove clutter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5968" y="1691640"/>
            <a:ext cx="3520440" cy="31089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C55A11"/>
                </a:solidFill>
                <a:latin typeface="Arial"/>
              </a:rPr>
              <a:t>Card colours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By priority, type or JQL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e.g. labels = blocked → red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Never colour alone: add a label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8" y="1691640"/>
            <a:ext cx="3520440" cy="31089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1F4E79"/>
                </a:solidFill>
                <a:latin typeface="Arial"/>
              </a:rPr>
              <a:t>Estimation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Story points, time or issue count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Issue count: simple for beginners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Set working days and holidays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51206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If every card is bright, nothing stands out. Use colour lightly.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11 /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WIP Limits and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2560320" cy="54864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In Progress  2/3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8" y="233172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DEMO-20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" y="2898648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DEMO-21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1691640"/>
            <a:ext cx="2560320" cy="54864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In Testing  4/2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233172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DEMO-25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8728" y="2898648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DEMO-26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3465576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DEMO-27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8" y="4032504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DEMO-28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70916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Over the limit: the header turns red. The team swarms on testing instead of starting new 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1691640"/>
            <a:ext cx="5303520" cy="18288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Rank ≠ priority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Priority = importance (a field). Rank = the actual order of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3749039"/>
            <a:ext cx="53035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Drag to rank, or Send to top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Two High bugs: one is still first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Disagree? Ask the 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12 / 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Reports and Dashboards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Turning board data into conversations about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13 /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Reports a QE 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2245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91840"/>
                <a:gridCol w="768096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Report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Question it answers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Burndown / burnup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Is testing piling up at the end? Did scope grow?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Sprint report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What finished, what didn't, what was added mid-sprint?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Created vs resolved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Are bugs arriving faster than we fix them?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Cumulative flow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Where is work piling up?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Control chart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How predictable is our cycle time?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Version report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Are we ready for this release?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14 /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Created vs Resolved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2648" y="1645920"/>
          <a:ext cx="69494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828800"/>
            <a:ext cx="3721608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C00000"/>
                </a:solidFill>
                <a:latin typeface="Arial"/>
              </a:rPr>
              <a:t>Gap widening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= open backlog growing.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Gap closing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= fixes catching up.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Check it before every release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15 / 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a Cumulative Flow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2648" y="1645920"/>
          <a:ext cx="69494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828800"/>
            <a:ext cx="3721608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Parallel bands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= smooth flow.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C00000"/>
                </a:solidFill>
                <a:latin typeface="Arial"/>
              </a:rPr>
              <a:t>A widening band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= a bottleneck: here, In Testing.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Fix: WIP limit on In Testing; developers help with retests.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16 / 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QE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10972800" cy="44805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95528" y="1783080"/>
          <a:ext cx="356616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5528" y="4663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Open bugs by priority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0" y="1920240"/>
          <a:ext cx="3657600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97280"/>
                <a:gridCol w="868680"/>
                <a:gridCol w="868680"/>
                <a:gridCol w="8229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Open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Retest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Closed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30066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30066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30066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0" y="3931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Priority × status grid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Retest queue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DEMO-31 · High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DEMO-28 · Medium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DEMO-25 · 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343400"/>
            <a:ext cx="7315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Each gadget = a saved filter. </a:t>
            </a:r>
            <a:r>
              <a:rPr sz="1300" b="0" i="0">
                <a:solidFill>
                  <a:srgbClr val="1A1A1A"/>
                </a:solidFill>
                <a:latin typeface="Courier New"/>
              </a:rPr>
              <a:t>e.g. project = DEMO AND issuetype = Bug AND statusCategory != Done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number should lead to a question: why are three High bugs still open?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17 /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Statuses, transitions and resolutions; the Bug workflow and a QA stage for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18 / 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Building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To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50408" y="18288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In Progress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42248" y="18288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Done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55848" y="2286000"/>
            <a:ext cx="2194560" cy="0"/>
          </a:xfrm>
          <a:prstGeom prst="line">
            <a:avLst/>
          </a:prstGeom>
          <a:ln w="317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293608" y="2286000"/>
            <a:ext cx="548640" cy="0"/>
          </a:xfrm>
          <a:prstGeom prst="line">
            <a:avLst/>
          </a:prstGeom>
          <a:ln w="317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355848" y="1874519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"Start progress"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200400"/>
            <a:ext cx="5394960" cy="11887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330066"/>
                </a:solidFill>
                <a:latin typeface="Arial"/>
              </a:rPr>
              <a:t>Status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where the issue is 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3200400"/>
            <a:ext cx="5394960" cy="11887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4E79"/>
                </a:solidFill>
                <a:latin typeface="Arial"/>
              </a:rPr>
              <a:t>Transition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 one-way move, shown as a button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4572000"/>
            <a:ext cx="5394960" cy="118872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330066"/>
                </a:solidFill>
                <a:latin typeface="Arial"/>
              </a:rPr>
              <a:t>Status category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To Do, In Progress or Done: drives reports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4572000"/>
            <a:ext cx="5394960" cy="11887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Resolution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why it finished: Fixed, Duplicate, Won't 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19 / 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QE Needs a Custom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459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Default: To Do ↔ In Progress ↔ Done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194560"/>
            <a:ext cx="5303520" cy="640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Nowhere to show 'waiting for retest'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2971800"/>
            <a:ext cx="5303520" cy="640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No Reopened 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749039"/>
            <a:ext cx="5303520" cy="640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Rejected and Deferred look the same as Done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4526279"/>
            <a:ext cx="5303520" cy="640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Often any status can move to any other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2194560"/>
            <a:ext cx="5303520" cy="2971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Guidance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Start from the default.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Add only statuses with real meaning.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Test on a sample project first.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Name statuses as states: 'In Testing', not 'Test it'.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20 / 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Bug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2240279"/>
            <a:ext cx="1005840" cy="548640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Create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18488" y="2514600"/>
            <a:ext cx="484632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103120" y="2103120"/>
            <a:ext cx="1737360" cy="8229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103120"/>
            <a:ext cx="1737360" cy="8229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In Progress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2103120"/>
            <a:ext cx="1737360" cy="8229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Ready for Retest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48088" y="2103120"/>
            <a:ext cx="1737360" cy="8229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Closed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40479" y="2377439"/>
            <a:ext cx="731521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749039" y="175564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Arial"/>
              </a:rPr>
              <a:t>Start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840479" y="2697479"/>
            <a:ext cx="731521" cy="0"/>
          </a:xfrm>
          <a:prstGeom prst="line">
            <a:avLst/>
          </a:prstGeom>
          <a:ln w="254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749039" y="27249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808080"/>
                </a:solidFill>
                <a:latin typeface="Arial"/>
              </a:rPr>
              <a:t>Stop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309360" y="2514600"/>
            <a:ext cx="73152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80760" y="175564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Arial"/>
              </a:rPr>
              <a:t>Ready for retest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8240" y="2514600"/>
            <a:ext cx="1069848" cy="0"/>
          </a:xfrm>
          <a:prstGeom prst="line">
            <a:avLst/>
          </a:prstGeom>
          <a:ln w="317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549640" y="175564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Arial"/>
              </a:rPr>
              <a:t>Verify and close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3749039"/>
            <a:ext cx="1737360" cy="8229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Reopened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89520" y="2926079"/>
            <a:ext cx="0" cy="82296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635240" y="31089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0000"/>
                </a:solidFill>
                <a:latin typeface="Arial"/>
              </a:rPr>
              <a:t>Retest failed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698480" y="2926079"/>
            <a:ext cx="0" cy="123444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8778240" y="4160520"/>
            <a:ext cx="1920240" cy="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418320" y="4206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C00000"/>
                </a:solidFill>
                <a:latin typeface="Arial"/>
              </a:rPr>
              <a:t>Reopen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5440680" y="4160520"/>
            <a:ext cx="16002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440680" y="2926079"/>
            <a:ext cx="0" cy="1234441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0" y="4206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Arial"/>
              </a:rPr>
              <a:t>Start progress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" y="4983480"/>
            <a:ext cx="137160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Rejected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1298448" y="2926079"/>
            <a:ext cx="1673352" cy="2057401"/>
          </a:xfrm>
          <a:prstGeom prst="line">
            <a:avLst/>
          </a:prstGeom>
          <a:ln w="19050">
            <a:solidFill>
              <a:srgbClr val="C55A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103120" y="4983480"/>
            <a:ext cx="137160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Duplicate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2788920" y="2926079"/>
            <a:ext cx="182880" cy="2057401"/>
          </a:xfrm>
          <a:prstGeom prst="line">
            <a:avLst/>
          </a:prstGeom>
          <a:ln w="19050">
            <a:solidFill>
              <a:srgbClr val="C55A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593592" y="4983480"/>
            <a:ext cx="1371600" cy="685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Deferred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971800" y="2926079"/>
            <a:ext cx="1307592" cy="2057401"/>
          </a:xfrm>
          <a:prstGeom prst="line">
            <a:avLst/>
          </a:prstGeom>
          <a:ln w="19050">
            <a:solidFill>
              <a:srgbClr val="C55A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12648" y="57150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55A11"/>
                </a:solidFill>
                <a:latin typeface="Arial"/>
              </a:rPr>
              <a:t>triage: Reject · Duplicate · Defer (each needs a comment)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4937760"/>
            <a:ext cx="24414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5A5A"/>
                </a:solidFill>
                <a:latin typeface="Arial"/>
              </a:rPr>
              <a:t>Grey = To Do · Blue = In Progress · Green = Done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21 /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Bug Statuses and Resolutions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71246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1828800"/>
                <a:gridCol w="3657600"/>
                <a:gridCol w="283464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Jira status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Resolution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Who moves it in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Open / Reopened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To Do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Reporter · tester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Developer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Ready for Retest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Developer (comment: build)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Closed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Fixed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Tester only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Rejected / Duplicate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Won't Do · Cannot Reproduce · Duplicate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Triage lead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Deferred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To Do (parked)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Left unresolved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5486400"/>
            <a:ext cx="10972800" cy="713232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596128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5C8A8A"/>
                </a:solidFill>
                <a:latin typeface="Arial"/>
              </a:rPr>
              <a:t>RULE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Clear the resolution on Reopen, or a reopened bug still looks resolved and vanishes from open-bug filters.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22 /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Story Workflow with a QA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2103120"/>
            <a:ext cx="1965960" cy="8686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To 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78608" y="2532888"/>
            <a:ext cx="274320" cy="0"/>
          </a:xfrm>
          <a:prstGeom prst="line">
            <a:avLst/>
          </a:prstGeom>
          <a:ln w="317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52928" y="2103120"/>
            <a:ext cx="1965960" cy="868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In Progress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18888" y="2532888"/>
            <a:ext cx="274320" cy="0"/>
          </a:xfrm>
          <a:prstGeom prst="line">
            <a:avLst/>
          </a:prstGeom>
          <a:ln w="317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93208" y="2103120"/>
            <a:ext cx="1965960" cy="868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In Review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59168" y="2532888"/>
            <a:ext cx="274320" cy="0"/>
          </a:xfrm>
          <a:prstGeom prst="line">
            <a:avLst/>
          </a:prstGeom>
          <a:ln w="317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33488" y="2103120"/>
            <a:ext cx="1965960" cy="868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In Testing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299448" y="2532888"/>
            <a:ext cx="274320" cy="0"/>
          </a:xfrm>
          <a:prstGeom prst="line">
            <a:avLst/>
          </a:prstGeom>
          <a:ln w="317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573768" y="2103120"/>
            <a:ext cx="1965960" cy="8686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Done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71616" y="2971800"/>
            <a:ext cx="0" cy="4114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133087" y="3383280"/>
            <a:ext cx="1938529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133087" y="2971800"/>
            <a:ext cx="0" cy="411480"/>
          </a:xfrm>
          <a:prstGeom prst="line">
            <a:avLst/>
          </a:prstGeom>
          <a:ln w="254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78808" y="34015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</a:rPr>
              <a:t>changes requested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11896" y="2971800"/>
            <a:ext cx="0" cy="86868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493008" y="3840480"/>
            <a:ext cx="4818888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493008" y="2971800"/>
            <a:ext cx="0" cy="86868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93208" y="38587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C00000"/>
                </a:solidFill>
                <a:latin typeface="Arial"/>
              </a:rPr>
              <a:t>fails testing: linked bug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389120"/>
            <a:ext cx="109728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In Testing = QE verifies against acceptance criteria.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 failing story gets a linked Bug and stays or returns, as agreed.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 full In Testing column exposes a testing bottleneck.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23 / 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Controls and Automation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Transition rules, permissions, automation and the Definition of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24 / 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Transition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2606040" cy="27432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C55A11"/>
                </a:solidFill>
                <a:latin typeface="Arial"/>
              </a:rPr>
              <a:t>Condition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5A5A5A"/>
                </a:solidFill>
                <a:latin typeface="Arial"/>
              </a:rPr>
              <a:t>Before the button shows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Only testers see 'Verify and close'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01568" y="1691640"/>
            <a:ext cx="2606040" cy="27432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C55A11"/>
                </a:solidFill>
                <a:latin typeface="Arial"/>
              </a:rPr>
              <a:t>Validator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5A5A5A"/>
                </a:solidFill>
                <a:latin typeface="Arial"/>
              </a:rPr>
              <a:t>When the button is clicked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Resolution required to close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0488" y="1691640"/>
            <a:ext cx="2606040" cy="27432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Post function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5A5A5A"/>
                </a:solidFill>
                <a:latin typeface="Arial"/>
              </a:rPr>
              <a:t>After the move succeeds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Assign back to the reporter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79407" y="1691640"/>
            <a:ext cx="2606040" cy="2743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Screen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5A5A5A"/>
                </a:solidFill>
                <a:latin typeface="Arial"/>
              </a:rPr>
              <a:t>Pop-up on the move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Ask for comment and build number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470916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A transition is a doorway: a guard checks your pass (condition) and your bag (validator); staff tag your luggage (post function).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Team-managed projects offer a smaller set of transition rules.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25 / 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Permissions and Schemes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291840" cy="10972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Permission: may transition at all?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 i="0">
                <a:solidFill>
                  <a:srgbClr val="1A1A1A"/>
                </a:solidFill>
                <a:latin typeface="Arial"/>
              </a:rPr>
              <a:t>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737360"/>
            <a:ext cx="3291840" cy="10972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Condition: is this move available?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 i="0">
                <a:solidFill>
                  <a:srgbClr val="1A1A1A"/>
                </a:solidFill>
                <a:latin typeface="Arial"/>
              </a:rPr>
              <a:t>=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737360"/>
            <a:ext cx="2807208" cy="109728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Who may change status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" y="3200400"/>
          <a:ext cx="10972800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26080"/>
                <a:gridCol w="3657600"/>
                <a:gridCol w="43891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Team-managed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Company-managed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Who edits workflows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Project admin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Jira admin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Shared?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This project only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Across projects via schemes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Depth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Statuses, basic rules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Conditions, validators, screens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2648" y="5486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Restrict only where independence matters: a tester, not the developer, closes a bug.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26 /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Jira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Trigger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Issue moved to Ready for Retest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95928" y="2423160"/>
            <a:ext cx="411480" cy="0"/>
          </a:xfrm>
          <a:prstGeom prst="line">
            <a:avLst/>
          </a:prstGeom>
          <a:ln w="317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407408" y="173736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Condition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Issue type = Bug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90688" y="2423160"/>
            <a:ext cx="411480" cy="0"/>
          </a:xfrm>
          <a:prstGeom prst="line">
            <a:avLst/>
          </a:prstGeom>
          <a:ln w="317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02168" y="173736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Action</a:t>
            </a:r>
          </a:p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Assign to reporter; add comment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" y="3429000"/>
          <a:ext cx="10972800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017520"/>
                <a:gridCol w="4023360"/>
                <a:gridCol w="39319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QE rule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Then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Comment on reopen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Moved to Reopened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Ask for failing-step evidence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Escalate stale bugs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Daily: Highest, untouched 2 days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Message the team lead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Story to testing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Story moved to In Testing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Assign QE; notify channel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2648" y="5715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Test in a sandbox, avoid loops, document every rule.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27 / 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Done Through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71246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023360"/>
                <a:gridCol w="694944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DoD rule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Workflow support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Tested before Done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In Testing status before Done, visible on the board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Only QA closes bugs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Condition on 'Verify and close'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Resolution recorded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Validator on Closed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Retest evidence documented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Screen requires a comment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No open linked bugs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Validator or automation check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Reopened work visible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Post function clears resolution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5486400"/>
            <a:ext cx="10972800" cy="713232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596128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5C8A8A"/>
                </a:solidFill>
                <a:latin typeface="Arial"/>
              </a:rPr>
              <a:t>LIMITS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tool makes skipping steps harder and visible; the team's agreement matters more. Review the DoD in retrospectives.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28 /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2245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669280"/>
                <a:gridCol w="530352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Do instead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15+ statuses (workflow sprawl)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5 to 8 meaningful statuses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Statuses for people ('With Karan')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Use the Assignee field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New status never mapped to a column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Map every status; cards vanish otherwise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Resolution not cleared on reopen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Post function clears it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Editing a shared workflow blindly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Check which projects use the scheme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Treating charts as targets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Use them to start conversations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29 /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002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6550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A board is the picture; a workflow is the rulebook. Map every status to a column.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3317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8658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Swimlanes, quick filters and WIP limits answer the team's daily questions.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11810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Created vs resolved, CFD and a QE dashboard turn data into quality conversations.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794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84962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Statuses, transitions, categories and resolutions make up a workflow.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5262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58114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The Bug workflow encodes the defect lifecycle; stories get an In Testing stage.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257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3126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Rules and automation support the DoD; keep workflows simple and documented.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30 / 31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Atlassian Support: Jira Software Cloud documentation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https://support.atlassian.com/jira-software-cloud/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Atlassian Support: Working with workflows and Jira administration guides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https://support.atlassian.com/jira-cloud-administration/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Atlassian Agile Coach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https://www.atlassian.com/agile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Jira Boards and Workflows  ·  Week 3 · Tuesday   |   31 /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Learners Point Template</Application>
  <PresentationFormat>Widescreen</PresentationFormat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</cp:coreProperties>
</file>