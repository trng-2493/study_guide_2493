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336" r:id="rId3"/>
    <p:sldId id="337" r:id="rId4"/>
    <p:sldId id="338" r:id="rId5"/>
    <p:sldId id="339" r:id="rId6"/>
    <p:sldId id="340" r:id="rId7"/>
    <p:sldId id="341" r:id="rId8"/>
    <p:sldId id="342" r:id="rId9"/>
    <p:sldId id="343" r:id="rId10"/>
    <p:sldId id="344" r:id="rId11"/>
    <p:sldId id="345" r:id="rId12"/>
    <p:sldId id="346" r:id="rId13"/>
    <p:sldId id="347" r:id="rId14"/>
    <p:sldId id="348" r:id="rId15"/>
    <p:sldId id="349" r:id="rId16"/>
    <p:sldId id="350" r:id="rId17"/>
    <p:sldId id="351" r:id="rId18"/>
    <p:sldId id="352" r:id="rId19"/>
    <p:sldId id="353" r:id="rId20"/>
    <p:sldId id="354" r:id="rId21"/>
    <p:sldId id="355" r:id="rId22"/>
    <p:sldId id="356" r:id="rId23"/>
    <p:sldId id="357" r:id="rId24"/>
    <p:sldId id="358" r:id="rId25"/>
    <p:sldId id="359" r:id="rId26"/>
    <p:sldId id="360" r:id="rId27"/>
    <p:sldId id="361" r:id="rId28"/>
    <p:sldId id="362" r:id="rId29"/>
    <p:sldId id="363" r:id="rId30"/>
    <p:sldId id="364" r:id="rId31"/>
    <p:sldId id="365" r:id="rId32"/>
    <p:sldId id="335" r:id="rId33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2759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Opening: requirements analysis is the first STLC phase and the cheapest place to find a defect.</a:t>
            </a:r>
          </a:p>
          <a:p>
            <a:r>
              <a:t>Today's flow: what a requirement is, how to judge it, how to review it, how to ask, and how to trace it.</a:t>
            </a:r>
          </a:p>
          <a:p>
            <a:r>
              <a:t>No code or environment is needed; a careful reader with good questions is enough.</a:t>
            </a:r>
          </a:p>
          <a:p>
            <a:r>
              <a:t>The worked review of a registration and login document is done live in the demo, not on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the five objectives aloud; they map to the five parts of the deck.</a:t>
            </a:r>
          </a:p>
          <a:p>
            <a:r>
              <a:t>Objective 4 links to Monday's Scrum deck: stories, INVEST and Given/When/Then are recapped, not retaught.</a:t>
            </a:r>
          </a:p>
          <a:p>
            <a:r>
              <a:t>Test design techniques that turn conditions into test cases are Thursday's topic.</a:t>
            </a:r>
          </a:p>
          <a:p>
            <a:r>
              <a:t>Ask learners which of these they have already seen in the STLC lesson (phase 1 was introduced on Monday).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 1 builds the vocabulary used for the rest of the day.</a:t>
            </a:r>
          </a:p>
          <a:p>
            <a:r>
              <a:t>Keep it brisk: definitions plus one example each.</a:t>
            </a:r>
          </a:p>
          <a:p>
            <a:r>
              <a:t>This part has 5 concept slides, about 10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requirement answers 'what should the product do, and how well?' It avoids 'how will we build it?'.</a:t>
            </a:r>
          </a:p>
          <a:p>
            <a:r>
              <a:t>Walk through the four statements: two are requirements, two are design decisions.</a:t>
            </a:r>
          </a:p>
          <a:p>
            <a:r>
              <a:t>Why it matters: a design detail written as a requirement over-constrains developers; a missing requirement leaves testers with no expected result.</a:t>
            </a:r>
          </a:p>
          <a:p>
            <a:r>
              <a:t>Shift-left (Monday SDLC deck) in one line: requirements analysis is the leftmost testing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Test basis: the body of knowledge tests are derived from. The requirement is the primary one.</a:t>
            </a:r>
          </a:p>
          <a:p>
            <a:r>
              <a:t>Test oracle: the source we consult to decide if behaviour is correct.</a:t>
            </a:r>
          </a:p>
          <a:p>
            <a:r>
              <a:t>If the requirement is silent or vague, the tester cannot call a result pass or fail objectively.</a:t>
            </a:r>
          </a:p>
          <a:p>
            <a:r>
              <a:t>Analyst's question: did we capture what the business needs? Tester's question: can I tell objectively whether it was done? Good testers ask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BRD = Business Requirements Document (the why); SRS = Software Requirements Specification (detailed what).</a:t>
            </a:r>
          </a:p>
          <a:p>
            <a:r>
              <a:t>Each source has strengths and weaknesses; the written lesson has the full comparison table.</a:t>
            </a:r>
          </a:p>
          <a:p>
            <a:r>
              <a:t>Know where a requirement came from so you know whom to ask.</a:t>
            </a:r>
          </a:p>
          <a:p>
            <a:r>
              <a:t>Implicit requirements: nobody writes 'the Submit button must work'. Conflicts: a wireframe shows a field the SRS never mentions; record it and ask, never silently pick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Each level feeds the next: the business goal motivates user needs, which are refined into precise system behaviour.</a:t>
            </a:r>
          </a:p>
          <a:p>
            <a:r>
              <a:t>System requirements are what we test directly; user and business levels tell us why, which helps when a rule is unclear.</a:t>
            </a:r>
          </a:p>
          <a:p>
            <a:r>
              <a:t>Ask: which level is 'the registration form must be easy'? (None yet: it is vague and needs rewriting.)</a:t>
            </a:r>
          </a:p>
          <a:p>
            <a:r>
              <a:t>Examples here are generic; the old course-project examples were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Functional vs non-functional: does it, versus how well. Today we only recognise NFRs and flag them when missing or vague; Friday is the deep dive.</a:t>
            </a:r>
          </a:p>
          <a:p>
            <a:r>
              <a:t>Classify quickly with the class: 'A user can log out from any page' (functional); 'Passwords are stored hashed' (NFR, security).</a:t>
            </a:r>
          </a:p>
          <a:p>
            <a:r>
              <a:t>Constraints limit environments, schedule, tools and even the data testers may use.</a:t>
            </a:r>
          </a:p>
          <a:p>
            <a:r>
              <a:t>Assumptions: write them down and ask whether they are confirmed; in the question log an assumption often becomes a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 2: what 'good' looks like, then the review process that finds the gaps.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these eight as the review checklist; the question on each card is what you ask of every sentence.</a:t>
            </a:r>
          </a:p>
          <a:p>
            <a:r>
              <a:t>Warning signs: jargon and long sentences (clear); 'appropriate', 'etc.', 'and/or' (unambiguous); 'TBD' or missing numbers (complete); two values for one rule (consistent).</a:t>
            </a:r>
          </a:p>
          <a:p>
            <a:r>
              <a:t>'fast', 'easy', 'robust' (testable); 'always', 'never', '100 percent' (feasible); no numbering (traceable); everything 'high' (prioritised).</a:t>
            </a:r>
          </a:p>
          <a:p>
            <a:r>
              <a:t>Testers are not the only judges of feasibility, but should flag absolute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one row at a time and ask the class to say what is wrong with the bad version before revealing the good one.</a:t>
            </a:r>
          </a:p>
          <a:p>
            <a:r>
              <a:t>Traceable: 'REQ-LOGIN-03: lock for 15 minutes after 5 failures. Source: security policy SP-12.'</a:t>
            </a:r>
          </a:p>
          <a:p>
            <a:r>
              <a:t>Prioritised: 40 requirements all 'high' gives no guidance; each needs Must/Should/Could/Won't.</a:t>
            </a:r>
          </a:p>
          <a:p>
            <a:r>
              <a:t>Turning vague qualities into measurable statements is one of the most valuable tester 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Static = no execution; dynamic = running the software.</a:t>
            </a:r>
          </a:p>
          <a:p>
            <a:r>
              <a:t>Finding a problem in a requirement is the cheapest point to fix it, and the review builds shared understanding.</a:t>
            </a:r>
          </a:p>
          <a:p>
            <a:r>
              <a:t>Inspection roles: moderator, author, reviewer, scribe; preparation time; measured results.</a:t>
            </a:r>
          </a:p>
          <a:p>
            <a:r>
              <a:t>ISTQB names all four types; for this course recognise them and know a walkthrough is the most common team 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Step 1: read once without criticising. Step 2: mark every unclear, ambiguous, incomplete, contradictory or untestable sentence.</a:t>
            </a:r>
          </a:p>
          <a:p>
            <a:r>
              <a:t>Step 3: compare wireframe, SRS and user story; disagreements are findings.</a:t>
            </a:r>
          </a:p>
          <a:p>
            <a:r>
              <a:t>Step 6 is orange because it is a gate: the requirement is not ready until the update is confirmed. The tester does not rewrite requirements; Farhan (BA) or Rohan (PO) does.</a:t>
            </a:r>
          </a:p>
          <a:p>
            <a:r>
              <a:t>The demo runs this process live on a flawed registration and login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 3 is the hunting guide: what problems look like and how to get them resolved.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Ambiguity examples: vague quantity ('a large number of users'), unclear reference ('it is stored'), 'and/or', 'not all fields are mandatory'.</a:t>
            </a:r>
          </a:p>
          <a:p>
            <a:r>
              <a:t>Typical gaps: error handling, boundaries (min/max), roles, account states, exact messages, NFRs, data formats.</a:t>
            </a:r>
          </a:p>
          <a:p>
            <a:r>
              <a:t>Contradictions can hide far apart in one document or between documents.</a:t>
            </a:r>
          </a:p>
          <a:p>
            <a:r>
              <a:t>Red is the legend colour for risk and bugs: each of these is a requirement defect.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Other red flags: 'flexible, robust, scalable, secure' alone (too broad); 'as needed, if necessary' (undefined condition); 'minimal, maximum' without a value.</a:t>
            </a:r>
          </a:p>
          <a:p>
            <a:r>
              <a:t>Shall, should and may: many organisations use shall = mandatory, should = recommended, may = optional. If a document mixes them, ask for the team's convention.</a:t>
            </a:r>
          </a:p>
          <a:p>
            <a:r>
              <a:t>Practice: give learners a sentence and have them circle the red-flag words.</a:t>
            </a:r>
          </a:p>
          <a:p>
            <a:r>
              <a:t>Full list is in the written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Finding an issue is half the job; getting it resolved depends on asking well.</a:t>
            </a:r>
          </a:p>
          <a:p>
            <a:r>
              <a:t>A good question is specific, answerable, neutral, tied to a requirement and explains why the answer matters.</a:t>
            </a:r>
          </a:p>
          <a:p>
            <a:r>
              <a:t>Impact example: 'Without this we cannot define a pass/fail check for the lockout rule.'</a:t>
            </a:r>
          </a:p>
          <a:p>
            <a:r>
              <a:t>Ananya directs business questions to Rohan (PO) and detail questions to Farhan (BA).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question log (clarification or query log) tracks every question from asked to answered to applied.</a:t>
            </a:r>
          </a:p>
          <a:p>
            <a:r>
              <a:t>It protects the team from forgotten questions and 'I thought we agreed' arguments.</a:t>
            </a:r>
          </a:p>
          <a:p>
            <a:r>
              <a:t>Other useful columns: raised by, date raised, directed to, answer, date answered, requirement version updated.</a:t>
            </a:r>
          </a:p>
          <a:p>
            <a:r>
              <a:t>Keep it visible: a shared spreadsheet, or Jira comments and linked issues on the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 4 turns clarified requirements into something we can check.</a:t>
            </a:r>
          </a:p>
          <a:p>
            <a:r>
              <a:t>This part has 5 concept slides, about 10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Acceptance criteria are not test cases: they say what done means; test cases (Thursday) give the detailed steps and data.</a:t>
            </a:r>
          </a:p>
          <a:p>
            <a:r>
              <a:t>Recap from Monday in one line: INVEST, and testers are especially responsible for the T (Testable).</a:t>
            </a:r>
          </a:p>
          <a:p>
            <a:r>
              <a:t>A story that fails INVEST is a signal to refine it, usually by splitting it or sharpening the criteria.</a:t>
            </a:r>
          </a:p>
          <a:p>
            <a:r>
              <a:t>Ask: what is missing from the example? (The failure paths: wrong password, locked account.)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Testability: how far a requirement lets us set up conditions and decide whether they are met.</a:t>
            </a:r>
          </a:p>
          <a:p>
            <a:r>
              <a:t>Record answers as testability notes; written early, they let developers build hooks during development.</a:t>
            </a:r>
          </a:p>
          <a:p>
            <a:r>
              <a:t>Some parts may need another method: inspection, analysis or demonstration.</a:t>
            </a:r>
          </a:p>
          <a:p>
            <a:r>
              <a:t>If behaviour changes randomly, automated tests become unreliable: flag non-determinism.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MoSCoW: the lowercase o's just make it pronounceable.</a:t>
            </a:r>
          </a:p>
          <a:p>
            <a:r>
              <a:t>Test effort is limited: priority tells us where to spend it. Risk follows priority in part; risk-based testing is in the next deck.</a:t>
            </a:r>
          </a:p>
          <a:p>
            <a:r>
              <a:t>When the schedule shrinks, testers help decide what to cut by showing the risk of each option.</a:t>
            </a:r>
          </a:p>
          <a:p>
            <a:r>
              <a:t>Example: Must = register and log in; Should = password reset; Could = 'Remember me'; Won't = social login this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Formal definition: an item or event of a component or system that could be verified by one or more test cases.</a:t>
            </a:r>
          </a:p>
          <a:p>
            <a:r>
              <a:t>Every 'if', 'must', 'only', 'unless' and 'after' marks a separate rule.</a:t>
            </a:r>
          </a:p>
          <a:p>
            <a:r>
              <a:t>For each rule write at least one success-path condition and one per failure or exception path.</a:t>
            </a:r>
          </a:p>
          <a:p>
            <a:r>
              <a:t>Next slide applies this to the lockout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each condition and ask which rule in the sentence it comes from.</a:t>
            </a:r>
          </a:p>
          <a:p>
            <a:r>
              <a:t>03-e cannot be written because the requirement is silent: it becomes question Q-003 in the log.</a:t>
            </a:r>
          </a:p>
          <a:p>
            <a:r>
              <a:t>A sixth condition, 'usable again after 15 minutes', also exists; the testability note on the previous part makes it practical.</a:t>
            </a:r>
          </a:p>
          <a:p>
            <a:r>
              <a:t>These IDs go into the RTM in the next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 5 connects requirements to everything downstream and closes the phase.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RTM: a table linking each requirement to the artefacts that verify it: conditions, test cases, results and defects.</a:t>
            </a:r>
          </a:p>
          <a:p>
            <a:r>
              <a:t>Bidirectional traceability (forward plus backward) is the usual goal.</a:t>
            </a:r>
          </a:p>
          <a:p>
            <a:r>
              <a:t>A test with no requirement may be unnecessary, or may reveal a missing requirement.</a:t>
            </a:r>
          </a:p>
          <a:p>
            <a:r>
              <a:t>This is the deck's one analogy: the book index.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Rows with None or Gap show where requirements are not yet testable.</a:t>
            </a:r>
          </a:p>
          <a:p>
            <a:r>
              <a:t>If REQ-LOGIN-03 changes to 30 minutes, scan for its conditions and cases to update.</a:t>
            </a:r>
          </a:p>
          <a:p>
            <a:r>
              <a:t>Start in a spreadsheet; Jira links or a test-management tool can maintain it later.</a:t>
            </a:r>
          </a:p>
          <a:p>
            <a:r>
              <a:t>Don't over-engineer: a simple, accurate matrix beats a perfect one nobody maintains.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Requirements change: markets shift, laws pass, users learn. Agile welcomes change; Waterfall controls it formally; either way, manage it.</a:t>
            </a:r>
          </a:p>
          <a:p>
            <a:r>
              <a:t>Impact on testing: conditions and cases change, data and environment may change, regression grows, estimates move, automation needs maintenance, risk rises.</a:t>
            </a:r>
          </a:p>
          <a:p>
            <a:r>
              <a:t>The decision (step 3) is a gate: the PO or a change control board decides.</a:t>
            </a:r>
          </a:p>
          <a:p>
            <a:r>
              <a:t>The example exposes a new gap: what happens to existing users with 8-character passwords?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Entry and exit criteria stop us starting too early or stopping too early (Monday's STLC lesson introduced them).</a:t>
            </a:r>
          </a:p>
          <a:p>
            <a:r>
              <a:t>Exit items: all requirements reviewed, significant issues logged, critical questions answered or escalated with a plan, clarified requirements versioned, testability notes and draft RTM done, review report accepted.</a:t>
            </a:r>
          </a:p>
          <a:p>
            <a:r>
              <a:t>In Agile teams the same ideas appear as the Definition of Ready for a story.</a:t>
            </a:r>
          </a:p>
          <a:p>
            <a:r>
              <a:t>Review report contents: documents and versions, issues by type and severity, assessment, recommendations,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More mistakes from the written lesson: ignoring NFRs, everything 'high priority', not versioning requirements, blaming the author, mixing design into requirements, forgetting assumptions.</a:t>
            </a:r>
          </a:p>
          <a:p>
            <a:r>
              <a:t>Ask learners which mistake they think is most common in real teams.</a:t>
            </a:r>
          </a:p>
          <a:p>
            <a:r>
              <a:t>Tie back: each mistake maps to a slide in today's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learners to name one red-flag word and one question they would ask about it.</a:t>
            </a:r>
          </a:p>
          <a:p>
            <a:r>
              <a:t>Bridge: the next deck turns clarified requirements into a test plan.</a:t>
            </a:r>
          </a:p>
          <a:p>
            <a:r>
              <a:t>Pointers: defect vs error vs failure and testing principles on Wednesday; test design techniques Thursday; non-functional testing Friday.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learners to the ISTQB glossary for exact definitions.</a:t>
            </a:r>
          </a:p>
          <a:p>
            <a:r>
              <a:t>The written lesson has the full worked review of a registration and login document.</a:t>
            </a:r>
          </a:p>
          <a:p>
            <a:r>
              <a:t>Resources are for self-study after class; none are needed for today's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10/26/2026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10/26/2026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Requirements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Reviewing what will be built before it is built: finding unclear, missing and untestable requirements while a fix is still just an edit.</a:t>
            </a:r>
          </a:p>
        </p:txBody>
      </p:sp>
      <p:sp>
        <p:nvSpPr>
          <p:cNvPr id="16" name="Oval 15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2648" y="3520440"/>
            <a:ext cx="1974529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Requirement types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669278" y="3630168"/>
            <a:ext cx="246303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997682" y="3520440"/>
            <a:ext cx="169128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Quality checks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771064" y="3630168"/>
            <a:ext cx="246303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099468" y="3520440"/>
            <a:ext cx="935951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Review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117520" y="3630168"/>
            <a:ext cx="246303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45924" y="3520440"/>
            <a:ext cx="121920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Questions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747225" y="3630168"/>
            <a:ext cx="246303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075629" y="3520440"/>
            <a:ext cx="2163361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Acceptance criteria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10321092" y="3630168"/>
            <a:ext cx="246303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649496" y="3520440"/>
            <a:ext cx="935951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RTM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612648" y="16459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700784"/>
            <a:ext cx="10287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Define a requirement and classify it by level and type.</a:t>
            </a:r>
          </a:p>
        </p:txBody>
      </p:sp>
      <p:sp>
        <p:nvSpPr>
          <p:cNvPr id="5" name="Oval 4"/>
          <p:cNvSpPr/>
          <p:nvPr/>
        </p:nvSpPr>
        <p:spPr>
          <a:xfrm>
            <a:off x="612648" y="24688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523744"/>
            <a:ext cx="10287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Judge a requirement against eight quality characteristics.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32918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346704"/>
            <a:ext cx="10287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Review requirements to find ambiguity, gaps, contradictions and untestable words.</a:t>
            </a:r>
          </a:p>
        </p:txBody>
      </p:sp>
      <p:sp>
        <p:nvSpPr>
          <p:cNvPr id="9" name="Oval 8"/>
          <p:cNvSpPr/>
          <p:nvPr/>
        </p:nvSpPr>
        <p:spPr>
          <a:xfrm>
            <a:off x="612648" y="4114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4169663"/>
            <a:ext cx="10287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Write clear questions, testable acceptance criteria and test conditions.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" y="4937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992624"/>
            <a:ext cx="10287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Build an RTM and use it to manage requirement changes.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 / 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Requirements and Their Types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a requirement is, where it comes from, and how we classify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3 / 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Requirement?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A5A5A"/>
                </a:solidFill>
                <a:latin typeface="Arial"/>
              </a:rPr>
              <a:t>A statement of what a system must do, how well, or within what limits.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194560"/>
            <a:ext cx="5212080" cy="54864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Requirement: WHAT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73368" y="2194560"/>
            <a:ext cx="5212080" cy="54864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Design decision: HOW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834640"/>
            <a:ext cx="5212080" cy="13716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"Users must be able to reset a forgotten password."</a:t>
            </a:r>
          </a:p>
          <a:p>
            <a:pPr algn="l">
              <a:spcAft>
                <a:spcPts val="200"/>
              </a:spcAft>
            </a:pPr>
            <a:endParaRPr sz="1600" b="0" i="0">
              <a:solidFill>
                <a:srgbClr val="1A1A1A"/>
              </a:solidFill>
              <a:latin typeface="Arial"/>
            </a:endParaRP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"An account locks for 15 minutes after 5 failed logins."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73368" y="2834640"/>
            <a:ext cx="5212080" cy="13716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"The reset feature stores a token in a cache."</a:t>
            </a:r>
          </a:p>
          <a:p>
            <a:pPr algn="l">
              <a:spcAft>
                <a:spcPts val="200"/>
              </a:spcAft>
            </a:pPr>
            <a:endParaRPr sz="1600" b="0" i="0">
              <a:solidFill>
                <a:srgbClr val="1A1A1A"/>
              </a:solidFill>
              <a:latin typeface="Arial"/>
            </a:endParaRP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"The lockout counter is a column in the users table."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448056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Stakeholder: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anyone with an interest: users, business owners, developers, testers, support, regulators.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Testers check the WHAT;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the HOW belongs to design.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4 / 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 Tester Cares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70248" y="182880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Requirement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2560320" y="2743200"/>
            <a:ext cx="2377440" cy="82296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223760" y="2743200"/>
            <a:ext cx="2377440" cy="82296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12648" y="3611880"/>
            <a:ext cx="5120640" cy="13716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t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Test basis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Where tests come from: we design checks from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64808" y="3611880"/>
            <a:ext cx="5120640" cy="13716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t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Test oracle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How we judge a result: pass or fail against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5212080"/>
            <a:ext cx="10972800" cy="96012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321808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"Show an appropriate error." Which text is correct? Without a precise requirement there is no reliable verdict.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5 / 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Requirements Come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27448" y="306324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Stakeholders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600200"/>
            <a:ext cx="2011680" cy="685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BRD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600200"/>
            <a:ext cx="2011680" cy="685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265176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User stories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3794760"/>
            <a:ext cx="2011680" cy="685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Use cases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484632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Regulations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484632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Existing 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94760"/>
            <a:ext cx="2011680" cy="685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Prototypes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34640" y="2103120"/>
            <a:ext cx="2103120" cy="96012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212080" y="2286000"/>
            <a:ext cx="457200" cy="77724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583680" y="2286000"/>
            <a:ext cx="1828800" cy="77724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7470648" y="2990088"/>
            <a:ext cx="1673352" cy="347472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7470648" y="3703320"/>
            <a:ext cx="1673352" cy="429767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6583680" y="3977639"/>
            <a:ext cx="1828800" cy="868681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120640" y="3977639"/>
            <a:ext cx="548640" cy="868681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834640" y="3703320"/>
            <a:ext cx="1892808" cy="429767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2648" y="57150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Watch for: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implicit needs nobody wrote down, and sources that disagree.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6 / 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Levels of Requirement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2743200" cy="100584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84448" y="1737360"/>
            <a:ext cx="7863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A goal of the organisation</a:t>
            </a:r>
          </a:p>
          <a:p>
            <a:pPr algn="l">
              <a:spcAft>
                <a:spcPts val="600"/>
              </a:spcAft>
            </a:pPr>
            <a:r>
              <a:rPr sz="1700" b="0" i="1">
                <a:solidFill>
                  <a:srgbClr val="1A1A1A"/>
                </a:solidFill>
                <a:latin typeface="Arial"/>
              </a:rPr>
              <a:t>"Grow registered customers this year."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35608" y="2697480"/>
            <a:ext cx="548640" cy="32004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161288" y="3017520"/>
            <a:ext cx="2743200" cy="10058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33087" y="3063239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What a user group must accomplish</a:t>
            </a:r>
          </a:p>
          <a:p>
            <a:pPr algn="l">
              <a:spcAft>
                <a:spcPts val="600"/>
              </a:spcAft>
            </a:pPr>
            <a:r>
              <a:rPr sz="1700" b="0" i="1">
                <a:solidFill>
                  <a:srgbClr val="1A1A1A"/>
                </a:solidFill>
                <a:latin typeface="Arial"/>
              </a:rPr>
              <a:t>"A visitor can create an account."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84248" y="4023360"/>
            <a:ext cx="548640" cy="32004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709928" y="4343400"/>
            <a:ext cx="2743200" cy="10058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4389120"/>
            <a:ext cx="676655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What the software must do, precisely</a:t>
            </a:r>
          </a:p>
          <a:p>
            <a:pPr algn="l">
              <a:spcAft>
                <a:spcPts val="600"/>
              </a:spcAft>
            </a:pPr>
            <a:r>
              <a:rPr sz="1700" b="0" i="1">
                <a:solidFill>
                  <a:srgbClr val="1A1A1A"/>
                </a:solidFill>
                <a:latin typeface="Arial"/>
              </a:rPr>
              <a:t>"Passwords need 8+ characters, a letter and a digit."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57150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A5A5A"/>
                </a:solidFill>
                <a:latin typeface="Arial"/>
              </a:rPr>
              <a:t>Testers work mostly with system requirements, and use the higher levels to understand intent.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7 /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Kinds of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5394960" cy="2057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t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2E7D32"/>
                </a:solidFill>
                <a:latin typeface="Arial"/>
              </a:rPr>
              <a:t>Functional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What the system does.</a:t>
            </a:r>
          </a:p>
          <a:p>
            <a:pPr algn="l">
              <a:spcAft>
                <a:spcPts val="200"/>
              </a:spcAft>
            </a:pPr>
            <a:r>
              <a:rPr sz="1700" b="0" i="1">
                <a:solidFill>
                  <a:srgbClr val="5A5A5A"/>
                </a:solidFill>
                <a:latin typeface="Arial"/>
              </a:rPr>
              <a:t>"Send a verification email after registration."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0488" y="1645920"/>
            <a:ext cx="5394960" cy="2057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t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2E7D32"/>
                </a:solidFill>
                <a:latin typeface="Arial"/>
              </a:rPr>
              <a:t>Non-functional (NFR)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How well it does it: speed, security, usability, compatibility.</a:t>
            </a:r>
          </a:p>
          <a:p>
            <a:pPr algn="l">
              <a:spcAft>
                <a:spcPts val="200"/>
              </a:spcAft>
            </a:pPr>
            <a:r>
              <a:rPr sz="1700" b="0" i="1">
                <a:solidFill>
                  <a:srgbClr val="5A5A5A"/>
                </a:solidFill>
                <a:latin typeface="Arial"/>
              </a:rPr>
              <a:t>"Login responds within 2 s for 95% of requests."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3886200"/>
            <a:ext cx="5394960" cy="20574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t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C55A11"/>
                </a:solidFill>
                <a:latin typeface="Arial"/>
              </a:rPr>
              <a:t>Constraint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A limit on design or delivery. A boundary, not a feature.</a:t>
            </a:r>
          </a:p>
          <a:p>
            <a:pPr algn="l">
              <a:spcAft>
                <a:spcPts val="200"/>
              </a:spcAft>
            </a:pPr>
            <a:r>
              <a:rPr sz="1700" b="0" i="1">
                <a:solidFill>
                  <a:srgbClr val="5A5A5A"/>
                </a:solidFill>
                <a:latin typeface="Arial"/>
              </a:rPr>
              <a:t>"Must run on the existing cloud provider."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3886200"/>
            <a:ext cx="5394960" cy="20574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t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C00000"/>
                </a:solidFill>
                <a:latin typeface="Arial"/>
              </a:rPr>
              <a:t>Assumption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Believed true, not yet confirmed: a hidden risk.</a:t>
            </a:r>
          </a:p>
          <a:p>
            <a:pPr algn="l">
              <a:spcAft>
                <a:spcPts val="200"/>
              </a:spcAft>
            </a:pPr>
            <a:r>
              <a:rPr sz="1700" b="0" i="1">
                <a:solidFill>
                  <a:srgbClr val="5A5A5A"/>
                </a:solidFill>
                <a:latin typeface="Arial"/>
              </a:rPr>
              <a:t>"Users have a working email address."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8 / 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Judging and Reviewing Requirements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Eight quality checks and how a tester runs a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9 / 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Eight Quality Characteristics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26060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t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330066"/>
                </a:solidFill>
                <a:latin typeface="Arial"/>
              </a:rPr>
              <a:t>Clear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Understood on first read?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01568" y="1691640"/>
            <a:ext cx="26060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t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330066"/>
                </a:solidFill>
                <a:latin typeface="Arial"/>
              </a:rPr>
              <a:t>Unambiguous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Only one meaning?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0488" y="1691640"/>
            <a:ext cx="26060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t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330066"/>
                </a:solidFill>
                <a:latin typeface="Arial"/>
              </a:rPr>
              <a:t>Complete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Inputs, outputs, errors, limits?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79407" y="1691640"/>
            <a:ext cx="26060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t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330066"/>
                </a:solidFill>
                <a:latin typeface="Arial"/>
              </a:rPr>
              <a:t>Consistent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Agrees with everything else?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3749039"/>
            <a:ext cx="2606040" cy="1828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t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Testable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Can I define pass or fail?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3749039"/>
            <a:ext cx="26060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t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330066"/>
                </a:solidFill>
                <a:latin typeface="Arial"/>
              </a:rPr>
              <a:t>Feasible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Can it really be built?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3749039"/>
            <a:ext cx="26060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t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330066"/>
                </a:solidFill>
                <a:latin typeface="Arial"/>
              </a:rPr>
              <a:t>Traceable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Has an ID and a known source?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79407" y="3749039"/>
            <a:ext cx="26060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t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330066"/>
                </a:solidFill>
                <a:latin typeface="Arial"/>
              </a:rPr>
              <a:t>Prioritised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Do we know how important?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5852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A5A5A"/>
                </a:solidFill>
                <a:latin typeface="Arial"/>
              </a:rPr>
              <a:t>Testers own Testable, and raise a flag on any of the other seven.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10 / 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Bad and Good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Check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Bad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Good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0066"/>
                          </a:solidFill>
                          <a:latin typeface="Arial"/>
                        </a:rPr>
                        <a:t>Unambiguous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Old accounts are deleted automatically.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Accounts with no login for 24 months are deactivated; owner warned 30 days before.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0066"/>
                          </a:solidFill>
                          <a:latin typeface="Arial"/>
                        </a:rPr>
                        <a:t>Complete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User registers with email and password.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Email must be unique; duplicate shows "An account with this email already exists."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0066"/>
                          </a:solidFill>
                          <a:latin typeface="Arial"/>
                        </a:rPr>
                        <a:t>Consistent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Section 3: 8+ characters. Section 5: 6+.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One password rule (REQ-PW-01), referenced everywhere.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0066"/>
                          </a:solidFill>
                          <a:latin typeface="Arial"/>
                        </a:rPr>
                        <a:t>Testable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The login page must be user-friendly.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First-time user logs in within 3 actions.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0066"/>
                          </a:solidFill>
                          <a:latin typeface="Arial"/>
                        </a:rPr>
                        <a:t>Feasible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Block 100% of fraudulent sign-ups.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Max 5 sign-ups per IP per hour; CAPTCHA after 3 failures.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11 / 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Static Review: From Informal to Formal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A5A5A"/>
                </a:solidFill>
                <a:latin typeface="Arial"/>
              </a:rPr>
              <a:t>Static testing examines documents without running anything; it finds defects at the lowest cost.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" y="2423160"/>
            <a:ext cx="10972800" cy="0"/>
          </a:xfrm>
          <a:prstGeom prst="line">
            <a:avLst/>
          </a:prstGeom>
          <a:ln w="381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205740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Low formality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42248" y="205740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High formality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743200"/>
            <a:ext cx="2606040" cy="23774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t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Informal review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colleague reads and comments; no fixed process.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E7D32"/>
                </a:solidFill>
                <a:latin typeface="Arial"/>
              </a:rPr>
              <a:t>Purpose: Quick feedback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2743200"/>
            <a:ext cx="2606040" cy="23774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t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Walkthrough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author leads the team through the document.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E7D32"/>
                </a:solidFill>
                <a:latin typeface="Arial"/>
              </a:rPr>
              <a:t>Purpose: Shared understanding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2743200"/>
            <a:ext cx="2606040" cy="23774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t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Technical review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Experts discuss and decide technical points.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E7D32"/>
                </a:solidFill>
                <a:latin typeface="Arial"/>
              </a:rPr>
              <a:t>Purpose: Agree on solutions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79407" y="2743200"/>
            <a:ext cx="2606040" cy="23774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t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Inspection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Defined roles, checklists, recorded defects.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E7D32"/>
                </a:solidFill>
                <a:latin typeface="Arial"/>
              </a:rPr>
              <a:t>Purpose: Find the most defects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534924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A5A5A"/>
                </a:solidFill>
                <a:latin typeface="Arial"/>
              </a:rPr>
              <a:t>Requirement review is also called requirement testing.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12 / 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Tester's Review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291840" cy="109728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1. Read once to understand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22776" y="2240280"/>
            <a:ext cx="420624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361688" y="1691640"/>
            <a:ext cx="3291840" cy="109728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2. Re-read with the checklist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671816" y="2240280"/>
            <a:ext cx="420624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110727" y="1691640"/>
            <a:ext cx="3291840" cy="109728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3. Compare the 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3154680"/>
            <a:ext cx="3291840" cy="109728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4. Write one question per issue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22776" y="3703320"/>
            <a:ext cx="420624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61688" y="3154680"/>
            <a:ext cx="3291840" cy="109728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5. Raise and record answers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71816" y="3703320"/>
            <a:ext cx="420624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110727" y="3154680"/>
            <a:ext cx="3291840" cy="10972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6. BA or PO updates; you confirm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756648" y="2788920"/>
            <a:ext cx="0" cy="18288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258568" y="2971800"/>
            <a:ext cx="7498080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58568" y="2971800"/>
            <a:ext cx="0" cy="18288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2648" y="4709160"/>
            <a:ext cx="10972800" cy="128016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4818888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5C8A8A"/>
                </a:solidFill>
                <a:latin typeface="Arial"/>
              </a:rPr>
              <a:t>TONE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Review the document, not the person: "I could not find what happens when..." rather than "You forgot...".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13 / 32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Problems and Asking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families of problems, red-flag words, questions and the question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14 / 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Families of Requirement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2606040" cy="64008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Ambiguity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377440"/>
            <a:ext cx="2606040" cy="24688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C00000"/>
                </a:solidFill>
                <a:latin typeface="Arial"/>
              </a:rPr>
              <a:t>More than one reading.</a:t>
            </a:r>
          </a:p>
          <a:p>
            <a:pPr algn="l">
              <a:spcAft>
                <a:spcPts val="200"/>
              </a:spcAft>
            </a:pPr>
            <a:endParaRPr sz="1600" b="1" i="0">
              <a:solidFill>
                <a:srgbClr val="C00000"/>
              </a:solidFill>
              <a:latin typeface="Arial"/>
            </a:endParaRPr>
          </a:p>
          <a:p>
            <a:pPr algn="l">
              <a:spcAft>
                <a:spcPts val="200"/>
              </a:spcAft>
            </a:pPr>
            <a:r>
              <a:rPr sz="1600" b="0" i="1">
                <a:solidFill>
                  <a:srgbClr val="1A1A1A"/>
                </a:solidFill>
                <a:latin typeface="Arial"/>
              </a:rPr>
              <a:t>"Emails are sent quickly." Seconds? Minutes?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01568" y="1691640"/>
            <a:ext cx="2606040" cy="64008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Gap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2377440"/>
            <a:ext cx="2606040" cy="24688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C00000"/>
                </a:solidFill>
                <a:latin typeface="Arial"/>
              </a:rPr>
              <a:t>Something is missing.</a:t>
            </a:r>
          </a:p>
          <a:p>
            <a:pPr algn="l">
              <a:spcAft>
                <a:spcPts val="200"/>
              </a:spcAft>
            </a:pPr>
            <a:endParaRPr sz="1600" b="1" i="0">
              <a:solidFill>
                <a:srgbClr val="C00000"/>
              </a:solidFill>
              <a:latin typeface="Arial"/>
            </a:endParaRPr>
          </a:p>
          <a:p>
            <a:pPr algn="l">
              <a:spcAft>
                <a:spcPts val="200"/>
              </a:spcAft>
            </a:pPr>
            <a:r>
              <a:rPr sz="1600" b="0" i="1">
                <a:solidFill>
                  <a:srgbClr val="1A1A1A"/>
                </a:solidFill>
                <a:latin typeface="Arial"/>
              </a:rPr>
              <a:t>No rule for a locked or unverified account.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1691640"/>
            <a:ext cx="2606040" cy="64008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Contradiction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2377440"/>
            <a:ext cx="2606040" cy="24688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C00000"/>
                </a:solidFill>
                <a:latin typeface="Arial"/>
              </a:rPr>
              <a:t>Two statements conflict.</a:t>
            </a:r>
          </a:p>
          <a:p>
            <a:pPr algn="l">
              <a:spcAft>
                <a:spcPts val="200"/>
              </a:spcAft>
            </a:pPr>
            <a:endParaRPr sz="1600" b="1" i="0">
              <a:solidFill>
                <a:srgbClr val="C00000"/>
              </a:solidFill>
              <a:latin typeface="Arial"/>
            </a:endParaRPr>
          </a:p>
          <a:p>
            <a:pPr algn="l">
              <a:spcAft>
                <a:spcPts val="200"/>
              </a:spcAft>
            </a:pPr>
            <a:r>
              <a:rPr sz="1600" b="0" i="1">
                <a:solidFill>
                  <a:srgbClr val="1A1A1A"/>
                </a:solidFill>
                <a:latin typeface="Arial"/>
              </a:rPr>
              <a:t>Log in with username (sec. 2) vs email (sec. 6).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79407" y="1691640"/>
            <a:ext cx="2606040" cy="64008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Untestable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79407" y="2377440"/>
            <a:ext cx="2606040" cy="24688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C00000"/>
                </a:solidFill>
                <a:latin typeface="Arial"/>
              </a:rPr>
              <a:t>No pass or fail possible.</a:t>
            </a:r>
          </a:p>
          <a:p>
            <a:pPr algn="l">
              <a:spcAft>
                <a:spcPts val="200"/>
              </a:spcAft>
            </a:pPr>
            <a:endParaRPr sz="1600" b="1" i="0">
              <a:solidFill>
                <a:srgbClr val="C00000"/>
              </a:solidFill>
              <a:latin typeface="Arial"/>
            </a:endParaRPr>
          </a:p>
          <a:p>
            <a:pPr algn="l">
              <a:spcAft>
                <a:spcPts val="200"/>
              </a:spcAft>
            </a:pPr>
            <a:r>
              <a:rPr sz="1600" b="0" i="1">
                <a:solidFill>
                  <a:srgbClr val="1A1A1A"/>
                </a:solidFill>
                <a:latin typeface="Arial"/>
              </a:rPr>
              <a:t>"The page must be intuitive."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5074920"/>
            <a:ext cx="10972800" cy="105156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5184648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TECHNIQUE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Gap hunting: ask "what if...?" for each rule. Nothing entered? Clicked twice? Network drops? Not allowed?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15 / 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Red-Flag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2245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Words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Why untestable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Ask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fast, quick, responsive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No number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How many seconds, under what load?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user-friendly, easy, intuitive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How do we measure it? Steps? Completion rate?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etc., such as, and so on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Open-ended list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Please list every item.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appropriate, adequate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Opinion-based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What exact criteria?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always, never, all, 100%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Often infeasible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Is there really no exception?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TBD, to be decided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Missing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When, and by whom?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16 / 32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Writing a Good Clarifying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5303520" cy="54864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Weak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81928" y="1645920"/>
            <a:ext cx="5303520" cy="54864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Strong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2240280"/>
            <a:ext cx="5303520" cy="105156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"Is the password thing okay?"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8" y="2240280"/>
            <a:ext cx="5303520" cy="10515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"REQ-PW-01 sets a minimum of 8. Is there a maximum, and what message is shown?"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3383280"/>
            <a:ext cx="5303520" cy="105156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"What about errors?"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3383280"/>
            <a:ext cx="5303520" cy="10515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"If the verification email fails, is the account still created?"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470916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Quote the ID · one thing per question · offer options (A or B?) · state the impact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Send it to the right person (PO, BA, architect), politely and without blame.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17 / 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Question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2194560" cy="73152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Open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55848" y="1737360"/>
            <a:ext cx="2194560" cy="7315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Answered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8" y="1737360"/>
            <a:ext cx="2194560" cy="73152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Closed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2743200"/>
            <a:ext cx="2194560" cy="6400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Escalated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07208" y="2103120"/>
            <a:ext cx="54864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50408" y="2103120"/>
            <a:ext cx="54864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709928" y="2468880"/>
            <a:ext cx="0" cy="59436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09928" y="3063240"/>
            <a:ext cx="164592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453128" y="2468880"/>
            <a:ext cx="0" cy="27432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595360" y="1737360"/>
            <a:ext cx="301752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A5A"/>
                </a:solidFill>
                <a:latin typeface="Arial"/>
              </a:rPr>
              <a:t>Closed = answer applied to the requirement.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A5A"/>
                </a:solidFill>
                <a:latin typeface="Arial"/>
              </a:rPr>
              <a:t>Escalated = this person cannot decide.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12648" y="3657600"/>
          <a:ext cx="1097280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Req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Question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0066"/>
                          </a:solidFill>
                          <a:latin typeface="Arial"/>
                        </a:rPr>
                        <a:t>Q-001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REQ-PW-01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Maximum password length?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Answered (64)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0066"/>
                          </a:solidFill>
                          <a:latin typeface="Arial"/>
                        </a:rPr>
                        <a:t>Q-002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REQ-REG-04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Create account if the email fails to send?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Open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0066"/>
                          </a:solidFill>
                          <a:latin typeface="Arial"/>
                        </a:rPr>
                        <a:t>Q-003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REQ-LOGIN-03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Does a successful login reset the counter?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Escalated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18 / 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Acceptance Criteria and Test Conditions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Making 'done' verifiable, judging testability, and choosing what to test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19 / 32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Acceptance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A5A5A"/>
                </a:solidFill>
                <a:latin typeface="Arial"/>
              </a:rPr>
              <a:t>The conditions a story must meet to be accepted: "this is done when..."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148840"/>
            <a:ext cx="3474720" cy="7315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Given a context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1688" y="2148840"/>
            <a:ext cx="3474720" cy="7315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When an 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0727" y="2148840"/>
            <a:ext cx="3474720" cy="73152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Then an outcome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87368" y="2514600"/>
            <a:ext cx="27432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836408" y="2514600"/>
            <a:ext cx="274319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2648" y="3154680"/>
            <a:ext cx="109728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A bulleted checklist is just as valid; each item must be checkable.</a:t>
            </a:r>
          </a:p>
          <a:p>
            <a:pPr marL="274320" indent="-274320" algn="l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Criteria define done for the business; test cases add steps and data.</a:t>
            </a:r>
          </a:p>
          <a:p>
            <a:pPr marL="274320" indent="-274320" algn="l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Story format, INVEST and Given/When/Then were covered on Monday.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5029200"/>
            <a:ext cx="10972800" cy="105156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5138928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Given a verified user, When they submit the correct email and password, Then the dashboard shows their name.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20 /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Testability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A5A5A"/>
                </a:solidFill>
                <a:latin typeface="Arial"/>
              </a:rPr>
              <a:t>Can we observe, control and repeat what the requirement describes?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103120"/>
            <a:ext cx="3520440" cy="12344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t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Observable?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message, state, record or log we can see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2103120"/>
            <a:ext cx="3520440" cy="12344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t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Measurable?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number, a list or a clear yes/no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9288" y="2103120"/>
            <a:ext cx="3520440" cy="12344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t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Controllable?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Can we set the inputs, time, services?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3520439"/>
            <a:ext cx="3520440" cy="12344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t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Data available?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Accounts locked, unverified, expired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3520439"/>
            <a:ext cx="3520440" cy="12344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t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Environment ready?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Email inbox, third-party services, devices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9288" y="3520439"/>
            <a:ext cx="3520440" cy="12344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t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Deterministic?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Same input, same result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5029200"/>
            <a:ext cx="10972800" cy="105156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5138928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TESTABILITY NOTE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REQ-LOGIN-03 locks for 15 minutes: too slow to test by waiting. Request a configurable lockout time in the test environment.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21 / 32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Prioritising with MoSCoW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2560320" cy="77724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Must have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691640"/>
            <a:ext cx="8293608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No value, unsafe or illegal without it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Test first and deepest; blocks release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2651760"/>
            <a:ext cx="2560320" cy="77724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Should have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651760"/>
            <a:ext cx="8293608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Important; a workaround exists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Test thoroughly after the Musts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3611880"/>
            <a:ext cx="2560320" cy="77724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Could have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3611880"/>
            <a:ext cx="8293608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Nice to have, if time allows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Test lightly or last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4572000"/>
            <a:ext cx="2560320" cy="777240"/>
          </a:xfrm>
          <a:prstGeom prst="roundRect">
            <a:avLst>
              <a:gd name="adj" fmla="val 12000"/>
            </a:avLst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Won't have (now)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4572000"/>
            <a:ext cx="8293608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Agreed out of scope for this release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No tests; record the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56235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A5A5A"/>
                </a:solidFill>
                <a:latin typeface="Arial"/>
              </a:rPr>
              <a:t>Priority is the business's call (the PO). Testers ask, and flag when everything is a Must.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22 / 32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Deriving Test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A5A5A"/>
                </a:solidFill>
                <a:latin typeface="Arial"/>
              </a:rPr>
              <a:t>A test condition is one specific thing worth checking: the bridge from requirement to test case.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286000"/>
            <a:ext cx="2514600" cy="13716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Take one requirement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45536" y="2971800"/>
            <a:ext cx="237743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401568" y="2286000"/>
            <a:ext cx="2514600" cy="13716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Split into rules (if, must, only, after)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34456" y="2971800"/>
            <a:ext cx="237744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190488" y="2286000"/>
            <a:ext cx="2514600" cy="13716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Write success and failure conditions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23376" y="2971800"/>
            <a:ext cx="237743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979407" y="2286000"/>
            <a:ext cx="2514600" cy="13716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Can't write one? It's a gap: 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406908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Here we decide what to test; Thursday's techniques decide the test cases.</a:t>
            </a:r>
          </a:p>
          <a:p>
            <a:pPr marL="274320" indent="-274320" algn="l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Every condition you cannot write cleanly is a weakness found.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23 / 32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Conditions: Lockout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REQ-LOGIN-03: lock an account for 15 minutes after 5 consecutive failed logins.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2468880"/>
          <a:ext cx="10972800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Condition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What we check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03-a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Not locked after fewer than 5 failures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03-b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Locked on the 5th consecutive failure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03-c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Locked account rejects even the correct password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03-d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Lockout message explains what happened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03-e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C00000"/>
                          </a:solidFill>
                          <a:latin typeface="Arial"/>
                        </a:rPr>
                        <a:t>Gap: does a successful login reset the counter?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24 / 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Traceability, Change and Phase Exit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RTM, managing requirement changes, and finishing the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25 / 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Requirement Traceability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201168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Source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96896" y="2468880"/>
            <a:ext cx="237744" cy="0"/>
          </a:xfrm>
          <a:prstGeom prst="line">
            <a:avLst/>
          </a:prstGeom>
          <a:ln w="25400">
            <a:solidFill>
              <a:srgbClr val="1A1A1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52928" y="201168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Requirement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37176" y="2468880"/>
            <a:ext cx="237744" cy="0"/>
          </a:xfrm>
          <a:prstGeom prst="line">
            <a:avLst/>
          </a:prstGeom>
          <a:ln w="25400">
            <a:solidFill>
              <a:srgbClr val="1A1A1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93208" y="201168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Test conditions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77456" y="2468880"/>
            <a:ext cx="237744" cy="0"/>
          </a:xfrm>
          <a:prstGeom prst="line">
            <a:avLst/>
          </a:prstGeom>
          <a:ln w="25400">
            <a:solidFill>
              <a:srgbClr val="1A1A1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33488" y="201168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Test cases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17736" y="2468880"/>
            <a:ext cx="237744" cy="0"/>
          </a:xfrm>
          <a:prstGeom prst="line">
            <a:avLst/>
          </a:prstGeom>
          <a:ln w="25400">
            <a:solidFill>
              <a:srgbClr val="1A1A1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573768" y="201168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Results and defects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26080" y="3246120"/>
            <a:ext cx="8412480" cy="0"/>
          </a:xfrm>
          <a:prstGeom prst="line">
            <a:avLst/>
          </a:prstGeom>
          <a:ln w="3175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926080" y="3291840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E7D32"/>
                </a:solidFill>
                <a:latin typeface="Arial"/>
              </a:rPr>
              <a:t>Forward: is every requirement covered?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2926080" y="3794760"/>
            <a:ext cx="8412480" cy="0"/>
          </a:xfrm>
          <a:prstGeom prst="line">
            <a:avLst/>
          </a:prstGeom>
          <a:ln w="3175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926080" y="3840480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F4E79"/>
                </a:solidFill>
                <a:latin typeface="Arial"/>
              </a:rPr>
              <a:t>Backward: does every test have a purpose?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457200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Uses: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coverage gaps · change impact · progress reporting · audit evidence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Think of it as the index at the back of a book: promise on one side, proof on the other.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26 / 32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an RTM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Req ID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Priority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Conditions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Coverage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REQ-REG-01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Must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REG-01-a to -d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Covered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REQ-REG-04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Should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None (Q-002 open)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C00000"/>
                          </a:solidFill>
                          <a:latin typeface="Arial"/>
                        </a:rPr>
                        <a:t>Gap: blocked by question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REQ-PW-01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Must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PW-01-a to -f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Covered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REQ-LOGIN-03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Should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LOGIN-03-a to -e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C55A11"/>
                          </a:solidFill>
                          <a:latin typeface="Arial"/>
                        </a:rPr>
                        <a:t>Partial: counter question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REQ-LOGIN-04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Should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LOGIN-04-a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Covered (needs load tool)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074920"/>
            <a:ext cx="10972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spcAft>
                <a:spcPts val="4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Use stable IDs; never reuse one.</a:t>
            </a:r>
          </a:p>
          <a:p>
            <a:pPr marL="274320" indent="-274320" algn="l">
              <a:spcAft>
                <a:spcPts val="4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Update on every change: a stale RTM misleads.</a:t>
            </a:r>
          </a:p>
          <a:p>
            <a:pPr marL="274320" indent="-274320" algn="l">
              <a:spcAft>
                <a:spcPts val="4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Later columns add test cases, results and defects.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27 / 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Managing a Requirement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1673352" cy="16459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1. Request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as a ticket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95144" y="2514600"/>
            <a:ext cx="164592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468879" y="1691640"/>
            <a:ext cx="1673352" cy="16459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2. Analyse impact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scope, code, tests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51376" y="2514600"/>
            <a:ext cx="164592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25112" y="1691640"/>
            <a:ext cx="1673352" cy="16459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3. Decide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approve, reject, defer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07607" y="2514600"/>
            <a:ext cx="164593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81344" y="1691640"/>
            <a:ext cx="1673352" cy="16459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4. Implement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requirement, then product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63840" y="2514600"/>
            <a:ext cx="164591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37575" y="1691640"/>
            <a:ext cx="1673352" cy="16459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5. Communicate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include testers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720072" y="2514600"/>
            <a:ext cx="164591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893807" y="1691640"/>
            <a:ext cx="1673352" cy="16459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6. Update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version, RTM,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6118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Testers: </a:t>
            </a:r>
            <a:r>
              <a:rPr sz="1800" b="0" i="0">
                <a:solidFill>
                  <a:srgbClr val="1A1A1A"/>
                </a:solidFill>
                <a:latin typeface="Arial"/>
              </a:rPr>
              <a:t>use the RTM for impact, insist changes are written down and versioned, and raise late-change risk honestly.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4617720"/>
            <a:ext cx="10972800" cy="146304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4727448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Rohan raises the minimum password to 10 characters. The RTM points to REQ-PW-01 and REQ-REG-01: update conditions and test data, fix scripts, add a check for existing users.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28 / 32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Exit and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2377440" cy="14630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Entry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Documents baselined, people and tools available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55848" y="1783080"/>
            <a:ext cx="3291840" cy="146304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Review and clarify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checklist, questions, conditions, RTM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13448" y="1783080"/>
            <a:ext cx="2377440" cy="14630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Exit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Reviewed, key questions closed, RTM drafted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90088" y="2514600"/>
            <a:ext cx="36576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47688" y="2514600"/>
            <a:ext cx="36576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692640" y="1783080"/>
            <a:ext cx="192024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E7D32"/>
                </a:solidFill>
                <a:latin typeface="Arial"/>
              </a:rPr>
              <a:t>Next: test planning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390888" y="2514600"/>
            <a:ext cx="256032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12648" y="35204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Deliverables handed over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3977639"/>
            <a:ext cx="167335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Review report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79" y="3977639"/>
            <a:ext cx="167335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Clarified requirements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3977639"/>
            <a:ext cx="167335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Question 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3977639"/>
            <a:ext cx="167335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Draft RTM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7575" y="3977639"/>
            <a:ext cx="167335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Testability notes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93807" y="3977639"/>
            <a:ext cx="167335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Input to test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1663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A5A5A"/>
                </a:solidFill>
                <a:latin typeface="Arial"/>
              </a:rPr>
              <a:t>12 of 40 requirements with open Must questions? Exit is not met. Proceeding anyway is a recorded risk decision.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29 / 32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COMMON MISTAKES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2245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52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Mistake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Do instead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Waiting for the software before reading requirements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Review as soon as requirements exist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Assuming what a vague sentence means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Ask, and record the answer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Asking verbally and never recording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Use a question log or Jira comments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Accepting 'fast', 'easy', 'etc.'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Request measurable values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Writing tests from unreviewed requirements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Analyse first, then design tests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Building an RTM and never updating it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Update it at every change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30 / 32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16002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655064"/>
            <a:ext cx="10287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A requirement says what, how well, or within what limits: the tester's test basis and oracle.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3317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386584"/>
            <a:ext cx="10287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Classify by level and type; write down constraints and assumptions.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0632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118104"/>
            <a:ext cx="10287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Judge every requirement against the eight characteristics.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794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849624"/>
            <a:ext cx="10287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Hunt for ambiguity, gaps, contradictions and untestable words; log every question.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5262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581144"/>
            <a:ext cx="10287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Acceptance criteria and test conditions make done verifiable.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" y="5257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5312664"/>
            <a:ext cx="10287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The RTM shows coverage and drives change impact; exit criteria close the phase.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31 / 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ISTQB Certified Tester Foundation Level syllabus and glossary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https://www.istqb.org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Atlassian Agile Coach: User Stories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https://www.atlassian.com/agile/project-management/user-stories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IIBA - BABOK Guide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https://www.iiba.org/business-analysis-body-of-knowledge/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7381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544" y="37747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Guru99: Requirement Traceability Matrix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https://www.guru99.com/traceability-matrix.html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32 /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4596</Words>
  <Application>Microsoft Office PowerPoint</Application>
  <PresentationFormat>Widescreen</PresentationFormat>
  <Paragraphs>574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Courier New</vt:lpstr>
      <vt:lpstr>Wingdings</vt:lpstr>
      <vt:lpstr>Learners Point</vt:lpstr>
      <vt:lpstr>Requirements Analysis</vt:lpstr>
      <vt:lpstr>Learning Objectives</vt:lpstr>
      <vt:lpstr>Requirements and Their Types</vt:lpstr>
      <vt:lpstr>What Is a Requirement?</vt:lpstr>
      <vt:lpstr>Why a Tester Cares</vt:lpstr>
      <vt:lpstr>Where Requirements Come From</vt:lpstr>
      <vt:lpstr>Three Levels of Requirement</vt:lpstr>
      <vt:lpstr>Four Kinds of Statement</vt:lpstr>
      <vt:lpstr>Judging and Reviewing Requirements</vt:lpstr>
      <vt:lpstr>Eight Quality Characteristics</vt:lpstr>
      <vt:lpstr>Bad and Good Requirements</vt:lpstr>
      <vt:lpstr>Static Review: From Informal to Formal</vt:lpstr>
      <vt:lpstr>A Tester's Review Process</vt:lpstr>
      <vt:lpstr>Finding Problems and Asking Questions</vt:lpstr>
      <vt:lpstr>Four Families of Requirement Problems</vt:lpstr>
      <vt:lpstr>Red-Flag Words</vt:lpstr>
      <vt:lpstr>Writing a Good Clarifying Question</vt:lpstr>
      <vt:lpstr>The Question Log</vt:lpstr>
      <vt:lpstr>Acceptance Criteria and Test Conditions</vt:lpstr>
      <vt:lpstr>Acceptance Criteria</vt:lpstr>
      <vt:lpstr>Testability Analysis</vt:lpstr>
      <vt:lpstr>Prioritising with MoSCoW</vt:lpstr>
      <vt:lpstr>Deriving Test Conditions</vt:lpstr>
      <vt:lpstr>Test Conditions: Lockout Example</vt:lpstr>
      <vt:lpstr>Traceability, Change and Phase Exit</vt:lpstr>
      <vt:lpstr>The Requirement Traceability Matrix</vt:lpstr>
      <vt:lpstr>Reading an RTM</vt:lpstr>
      <vt:lpstr>Managing a Requirement Change</vt:lpstr>
      <vt:lpstr>Phase Exit and Deliverables</vt:lpstr>
      <vt:lpstr>Common Mistakes</vt:lpstr>
      <vt:lpstr>Key Takeaways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6</cp:revision>
  <dcterms:modified xsi:type="dcterms:W3CDTF">2026-10-26T10:58:05Z</dcterms:modified>
</cp:coreProperties>
</file>