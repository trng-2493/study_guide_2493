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3" r:id="rId4"/>
    <p:sldId id="364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62" r:id="rId10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108" Type="http://schemas.openxmlformats.org/officeDocument/2006/relationships/slide" Target="slides/slide1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executed</c:v>
                </c:pt>
              </c:strCache>
            </c:strRef>
          </c:tx>
          <c:spPr>
            <a:ln w="34925">
              <a:solidFill>
                <a:srgbClr val="808080"/>
              </a:solidFill>
            </a:ln>
          </c:spPr>
          <c:marker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executed</c:v>
                </c:pt>
              </c:strCache>
            </c:strRef>
          </c:tx>
          <c:spPr>
            <a:ln w="34925">
              <a:solidFill>
                <a:srgbClr val="2E7D32"/>
              </a:solidFill>
            </a:ln>
          </c:spPr>
          <c:marker>
            <c:spPr>
              <a:solidFill>
                <a:srgbClr val="2E7D32"/>
              </a:solidFill>
              <a:ln>
                <a:solidFill>
                  <a:srgbClr val="2E7D3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15</c:v>
                </c:pt>
                <c:pt idx="2">
                  <c:v>30</c:v>
                </c:pt>
                <c:pt idx="3">
                  <c:v>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5A5A5A"/>
                    </a:solidFill>
                    <a:latin typeface="Arial"/>
                  </a:rPr>
                  <a:t>Test 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STLC phases 2 to 6 at core depth: plan, design cases, run, report, close.</a:t>
            </a:r>
          </a:p>
          <a:p>
            <a:r>
              <a:t>Requirements analysis (previous deck) fed us clarified requirements and an RTM.</a:t>
            </a:r>
          </a:p>
          <a:p>
            <a:r>
              <a:t>The sample plan, test cases and execution log are built live in the demo and exercise, not on slides.</a:t>
            </a:r>
          </a:p>
          <a:p>
            <a:r>
              <a:t>One analogy runs through the deck: a trip itinerary.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objectives, five parts.</a:t>
            </a:r>
          </a:p>
          <a:p>
            <a:r>
              <a:t>Interview link: 'Can you write a test plan and test cases, and how do you report progress?'</a:t>
            </a:r>
          </a:p>
          <a:p>
            <a:r>
              <a:t>Boundaries: defect reports are the next deck; test design techniques Thursday; testing principles Wednesday; regression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why we plan and what goes in the plan.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Definition: defining the objectives of testing and the approach for meeting them within time, people, budget, tools and environments.</a:t>
            </a:r>
          </a:p>
          <a:p>
            <a:r>
              <a:t>Purposes: align the team, reduce risk, control effort, define done, communicate, and leave an audit trail in regulated industries.</a:t>
            </a:r>
          </a:p>
          <a:p>
            <a:r>
              <a:t>A plan is a living document: update it when reality changes. 'Plans are useless, but planning is indispensable.'</a:t>
            </a:r>
          </a:p>
          <a:p>
            <a:r>
              <a:t>This is the deck's one analogy; use it again for execution (taking the trip and noting what happened at each stop).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Strategy: 'In general, how do we test here?' Rarely changes; reused across projects. Content: principles, test levels used, tool standards, defect management, metrics, automation approach.</a:t>
            </a:r>
          </a:p>
          <a:p>
            <a:r>
              <a:t>Plan: 'For this release, what exactly, who, and by when?' Specific scope, schedule, resources, environments, risks, criteria.</a:t>
            </a:r>
          </a:p>
          <a:p>
            <a:r>
              <a:t>Small teams may merge the two or quote a few strategy rules inside the plan; what matters is the difference in level.</a:t>
            </a:r>
          </a:p>
          <a:p>
            <a:r>
              <a:t>Trip version: strategy is the company travel policy; the plan is the itinerary for one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Standards: IEEE 829 and ISO/IEC/IEEE 29119-3 define plan outlines; learners need the sections, not clause numbers.</a:t>
            </a:r>
          </a:p>
          <a:p>
            <a:r>
              <a:t>The out-of-scope list protects you: social login, performance, third-party internals.</a:t>
            </a:r>
          </a:p>
          <a:p>
            <a:r>
              <a:t>Entry, exit, suspension and resumption criteria were introduced on Monday; here they get concrete values.</a:t>
            </a:r>
          </a:p>
          <a:p>
            <a:r>
              <a:t>Assumption: believed true but unconfirmed ('QA environment will be stable'). Dependency: something another team provides ('email service configured').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Levels were named in Monday's V-Model; here we decide which ones the plan covers.</a:t>
            </a:r>
          </a:p>
          <a:p>
            <a:r>
              <a:t>Unit: a password-length function. Integration: form saves to the database and calls the email service. System: register, verify, log in, lock out, log out through the UI. Acceptance: PO confirms a new customer can sign up in under two minutes.</a:t>
            </a:r>
          </a:p>
          <a:p>
            <a:r>
              <a:t>Types: functional (does it), non-functional (how well), regression (did a change break something, Friday), smoke and sanity (later in this deck).</a:t>
            </a:r>
          </a:p>
          <a:p>
            <a:r>
              <a:t>A typical plan focuses on system-level functional testing and relies on developers' unit and integration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Agile values working software over comprehensive documentation: that means just enough planning, not no plan.</a:t>
            </a:r>
          </a:p>
          <a:p>
            <a:r>
              <a:t>Planning happens in sprint planning, progress at the daily scrum, results at review and retrospective (Monday's Scrum deck).</a:t>
            </a:r>
          </a:p>
          <a:p>
            <a:r>
              <a:t>Many organisations use a master test plan for the release plus a one-pager per sprint or feature.</a:t>
            </a:r>
          </a:p>
          <a:p>
            <a:r>
              <a:t>The exercise asks learners to write a one-page plan for a login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we can never test everything, so we prioritise and estimate.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Exhaustive testing is impossible (testing principles, Wednesday), so prioritise by risk.</a:t>
            </a:r>
          </a:p>
          <a:p>
            <a:r>
              <a:t>Likelihood rises with complex code, new technology, frequent change. Impact: lost money or data, security, legal trouble, angry customers.</a:t>
            </a:r>
          </a:p>
          <a:p>
            <a:r>
              <a:t>Ratings are judgments: agree them with developers (Karan) and the PO (Rohan).</a:t>
            </a:r>
          </a:p>
          <a:p>
            <a:r>
              <a:t>The manager question: 'We only have two days left. What do you test?' Answer: the red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Estimation predicts effort (person-hours) and duration (calendar time). Always uncertain; give reasons.</a:t>
            </a:r>
          </a:p>
          <a:p>
            <a:r>
              <a:t>Experience-based has a structured form: Wideband Delphi, where experts estimate independently, discuss and re-estimate.</a:t>
            </a:r>
          </a:p>
          <a:p>
            <a:r>
              <a:t>Story points, velocity and planning poker were taught on Monday; a tester's voice in planning poker matters because test effort is often forgotten.</a:t>
            </a:r>
          </a:p>
          <a:p>
            <a:r>
              <a:t>Weaknesses: WBS forgets tasks; PERT relies on honest guesses; experience is imperfect; points need team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WBS conversion: 48 hours at 6 productive hours a day = 8 person-days; with two testers about 4 calendar days plus a buffer.</a:t>
            </a:r>
          </a:p>
          <a:p>
            <a:r>
              <a:t>PERT: the pessimistic value pulls the average above the most-likely 4 days; things usually take longer than we hope.</a:t>
            </a:r>
          </a:p>
          <a:p>
            <a:r>
              <a:t>Say it like this: 'About 4.5 days, give or take just over one day. I'd commit to 5.5 to 6.'</a:t>
            </a:r>
          </a:p>
          <a:p>
            <a:r>
              <a:t>Cross-check one technique with another when the stakes are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test case is one checklist line on the itinerary.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write cases instead of clicking around: repeatability, coverage, training, evidence, regression.</a:t>
            </a:r>
          </a:p>
          <a:p>
            <a:r>
              <a:t>Clicking without a script is exploratory testing (Friday): valuable, complements but does not replace planned cases.</a:t>
            </a:r>
          </a:p>
          <a:p>
            <a:r>
              <a:t>Precondition = state before step 1; test data = exact values; postcondition = state afterwards.</a:t>
            </a:r>
          </a:p>
          <a:p>
            <a:r>
              <a:t>Optional fields: author, environment, type (positive or negative), automation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list everything missing from the poor case before showing the critique.</a:t>
            </a:r>
          </a:p>
          <a:p>
            <a:r>
              <a:t>Good case: one purpose, explicit data, observable expected result, requirement link, priority.</a:t>
            </a:r>
          </a:p>
          <a:p>
            <a:r>
              <a:t>Test data uses example.com addresses, never real people.</a:t>
            </a:r>
          </a:p>
          <a:p>
            <a:r>
              <a:t>Thursday's techniques choose which inputs to test; today is about writing them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short and maintainable; avoid 30-step monsters.</a:t>
            </a:r>
          </a:p>
          <a:p>
            <a:r>
              <a:t>Dependent cases are allowed only when stated in the preconditions.</a:t>
            </a:r>
          </a:p>
          <a:p>
            <a:r>
              <a:t>Negative tests check the system rejects bad input with a clear message, no crash and no corrupted data; positive and negative testing is Wednesday.</a:t>
            </a:r>
          </a:p>
          <a:p>
            <a:r>
              <a:t>Exercise: rewrite three poor cases from the exercise starter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case can belong to several suites: a login case can be in Login, Smoke and Regression.</a:t>
            </a:r>
          </a:p>
          <a:p>
            <a:r>
              <a:t>Cycle (test run): Cycle 1 runs all cases on the first accepted build; after fixes, Cycle 2 retests and runs regression.</a:t>
            </a:r>
          </a:p>
          <a:p>
            <a:r>
              <a:t>Tools: Jira plus a test-management add-on (Xray, Zephyr) or TestRail store cases once and create an execution per cycle.</a:t>
            </a:r>
          </a:p>
          <a:p>
            <a:r>
              <a:t>Without a tool: a spreadsheet with one results column per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taking the trip and writing down what happened at each stop.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plan's entry criteria before running a single test; report any 'No' to the test lead immediately.</a:t>
            </a:r>
          </a:p>
          <a:p>
            <a:r>
              <a:t>A shaky environment produces false failures: tests fail because the environment is wrong, not the software.</a:t>
            </a:r>
          </a:p>
          <a:p>
            <a:r>
              <a:t>Environment checklist: correct build in the footer, database seeded, test mailbox, browsers, URLs, configuration such as lockout values, logs readable.</a:t>
            </a:r>
          </a:p>
          <a:p>
            <a:r>
              <a:t>Vikram (DevOps) owns environment fixes; Ananya raises a ticket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comes from hardware: switch on the new board; if smoke comes out, stop.</a:t>
            </a:r>
          </a:p>
          <a:p>
            <a:r>
              <a:t>Sanity example: after a fix to the password error message, check that message and the surrounding form.</a:t>
            </a:r>
          </a:p>
          <a:p>
            <a:r>
              <a:t>Teams use the two words loosely; learn the idea and check your team's meaning.</a:t>
            </a:r>
          </a:p>
          <a:p>
            <a:r>
              <a:t>Smoke suites are often scripted and automated; sanity checks are often quick and unscripted.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'improve' steps mid-run; finish what you can and raise a correction.</a:t>
            </a:r>
          </a:p>
          <a:p>
            <a:r>
              <a:t>Record what you saw, not what you assumed. A failed test is good news: a problem found before the customer.</a:t>
            </a:r>
          </a:p>
          <a:p>
            <a:r>
              <a:t>Never mark Pass because you are in a hurry, or Fail because you dislike the design.</a:t>
            </a:r>
          </a:p>
          <a:p>
            <a:r>
              <a:t>For a failure: retry once, search for duplicates, log the defect (next deck) and link it: 'Failed - DEMO-101'. Mask personal data in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up Blocked and Fail distorts metrics and hides the true picture.</a:t>
            </a:r>
          </a:p>
          <a:p>
            <a:r>
              <a:t>Not Run is also called Not Executed, Unexecuted or To Do.</a:t>
            </a:r>
          </a:p>
          <a:p>
            <a:r>
              <a:t>Use only statuses your team has agreed; some tools add In Progress.</a:t>
            </a:r>
          </a:p>
          <a:p>
            <a:r>
              <a:t>Blocked example 2: login cannot be tested because registration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Retesting is predictable: exactly the failed cases. Regression is selected by risk and impact, often automated.</a:t>
            </a:r>
          </a:p>
          <a:p>
            <a:r>
              <a:t>Timing: retest after the defect is fixed; regression after any change (fix, feature, configuration).</a:t>
            </a:r>
          </a:p>
          <a:p>
            <a:r>
              <a:t>The defect deck adds the retest checklist used before closing a bug.</a:t>
            </a:r>
          </a:p>
          <a:p>
            <a:r>
              <a:t>Friday owns regression testing; today we only plan time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telling the truth about where testing stands.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execution burn-up: 'tests executed' should rise toward the total.</a:t>
            </a:r>
          </a:p>
          <a:p>
            <a:r>
              <a:t>Track tests planned, executed, passed, failed, blocked, skipped, not run; defects found, open, fixed; effort spent versus planned.</a:t>
            </a:r>
          </a:p>
          <a:p>
            <a:r>
              <a:t>Day 2 here is behind plan; Day 3 caught up after a blocker was removed.</a:t>
            </a:r>
          </a:p>
          <a:p>
            <a:r>
              <a:t>Dashboards show the truth only if statuses are updated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Executed usually means Pass or Fail; Blocked, Skipped and Not Run are not executed.</a:t>
            </a:r>
          </a:p>
          <a:p>
            <a:r>
              <a:t>Some teams divide passes by total planned (90/120 = 75%); state your definition in the plan.</a:t>
            </a:r>
          </a:p>
          <a:p>
            <a:r>
              <a:t>Defect metrics (density, leakage, DDP) belong to the defect lifecycle deck, next.</a:t>
            </a:r>
          </a:p>
          <a:p>
            <a:r>
              <a:t>Vanity metrics: lots of cases run or bugs found is not automatically good. Never reward testers by bug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Contents: period and build, planned versus executed, results, new defects, blockers, risks, plan for tomorrow, help needed.</a:t>
            </a:r>
          </a:p>
          <a:p>
            <a:r>
              <a:t>Builds trust: no surprises at the end of the cycle.</a:t>
            </a:r>
          </a:p>
          <a:p>
            <a:r>
              <a:t>The full template is in the written lesson and the exercise templates folder.</a:t>
            </a:r>
          </a:p>
          <a:p>
            <a:r>
              <a:t>Prepared by Ananya; sent to Rohan, Meera, Karan and Vikram.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Blocked: idle time is the enemy; reorder work, and retest blocked cases as soon as the block is removed.</a:t>
            </a:r>
          </a:p>
          <a:p>
            <a:r>
              <a:t>Slippage options: add a tester, reduce scope with PO agreement, extend the date, parallelise, accept a stated risk.</a:t>
            </a:r>
          </a:p>
          <a:p>
            <a:r>
              <a:t>Example wording: 'At the current rate we finish on 12 March instead of 10 March.'</a:t>
            </a:r>
          </a:p>
          <a:p>
            <a:r>
              <a:t>Update the plan and risk list, and bring the lesson to the retrospective.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closure: verify exit criteria, finish documents, archive, learn lessons.</a:t>
            </a:r>
          </a:p>
          <a:p>
            <a:r>
              <a:t>The closure (summary or exit) report says what was tested, what was found, what remains, and the recommendation.</a:t>
            </a:r>
          </a:p>
          <a:p>
            <a:r>
              <a:t>Typical sections: execution summary, defect summary, exit criteria check, open risks, recommendation.</a:t>
            </a:r>
          </a:p>
          <a:p>
            <a:r>
              <a:t>Rohan (PO) and Sunita (business owner) make the release call using this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updating statuses only at day end; hiding a slipping schedule; treating the plan as a one-time document.</a:t>
            </a:r>
          </a:p>
          <a:p>
            <a:r>
              <a:t>Roles across planning and execution (written lesson): QE writes and runs cases; QE lead owns the plan; developers fix and deploy; PO decides defect priority and release.</a:t>
            </a:r>
          </a:p>
          <a:p>
            <a:r>
              <a:t>Ask learners which mistake costs the most if found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'What is the difference between Blocked and Fail?'</a:t>
            </a:r>
          </a:p>
          <a:p>
            <a:r>
              <a:t>Bridge: every failed test becomes a defect; the next deck follows it through its lifecycle.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contains the full sample plan, test cases and execution log for a login feature.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Planning and 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Deciding what, how, by whom and when to test, then running the tests, recording the truth and reporting it.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Test plan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061972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27732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Risk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56158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2734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Estimation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481827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4758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Test cases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402067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67827" y="352044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Execution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17151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82911" y="352044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what a test plan contains and how it differs from a strategy.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Prioritise testing with a risk matrix and estimate the effort.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test cases with standard fields; group them into suites and cycles.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Execute tests, record statuses and evidence, and handle blocked tests.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Track progress with execution metrics and write status and closure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Planning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 plan answers, strategy versus plan, plan anatomy and the Agile one-pager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3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Test Planning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8848" y="2926080"/>
            <a:ext cx="320040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Test plan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objectives and approach within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What?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scope 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10328" y="160020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Why?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6916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How?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approach, levels,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10896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Who?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5262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When?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schedule,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46634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Where?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environments,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262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What if?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risks, suspension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10896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Done?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exit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Like a trip itinerary: destination, route, people, times, plan B, and when the trip is 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4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Strategy vs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Test strategy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Organisation level · long-lived · owned by the QE lead or head of quality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50008" y="2788920"/>
            <a:ext cx="0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32461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Plan: Release 1.2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project level · changes often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788920"/>
            <a:ext cx="0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61688" y="32461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Plan: Login feature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project level · changes often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48088" y="2788920"/>
            <a:ext cx="0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10727" y="32461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Plan: Sprint 7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project level · changes often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434840"/>
          <a:ext cx="1097280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754880"/>
                <a:gridCol w="47548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Strategy says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Plan says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Web products are tested on the latest two Chrome and Firefox versions.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Login is tested on Chrome and Firefox, 3 to 14 March, by Ananya.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5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What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7744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Identifier, objective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Scope in / out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Items and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37744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Approach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Levels and types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Environment, test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Who and when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37744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Roles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Schedule, milestones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Estimate,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37744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Entry / exit / suspension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Risks, assumptions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Deliverables, approvals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709160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1888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 CRITERIA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Exit: all planned cases run; 95%+ passed; no open Critical or High defects; report approved.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Suspend if the smoke test fails; resume when a new build passes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6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Levels and Test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173736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Acceptance (UAT)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business users, 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7" y="2606039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System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QE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4167" y="3474720"/>
            <a:ext cx="640080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Integration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developers and QE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343400"/>
            <a:ext cx="786384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Unit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578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LEVELS: where in the build-up we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42248" y="1737360"/>
            <a:ext cx="2743200" cy="3429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TYPES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Functional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Non-functional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Regression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Smoke and sanity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Types say what quality we check, at any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7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One-Page Agile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603504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Scope in /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43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Approach and risk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2004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Environment and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657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114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Key dates in the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5720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Entry and exit (DoR / DoD)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029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Top 3 to 5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54864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737360"/>
            <a:ext cx="4636008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Just enough planning: nobody reads 30 pages in a 2-week sprint.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Definition of Done often acts as exit criteria.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 tasks appear as sub-tasks on the story.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Large, regulated or multi-team work still needs a full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8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Estimation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Deciding what to test first, and how long it will 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9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Risk-Based Testing: The 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Risk score = Likelihood × Impact (1 low, 2 medium, 3 high). Test the highest first and deepest.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Likelihood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2860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2860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2860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Likelihood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2004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32004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2004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891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Likelihood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1148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41148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114800"/>
            <a:ext cx="1371600" cy="868680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074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Impact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5074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Impact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074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Impact 3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75120" y="2286000"/>
          <a:ext cx="4910328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685800"/>
                <a:gridCol w="685800"/>
                <a:gridCol w="8869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Feature area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Account lockout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Password rules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Duplicate email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Small-phone layout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Email wording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Red 6-9: earliest, deepest · Orange 3-4: normal · Grey 1-2: light or last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10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Estimating Test 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Work breakdown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Split into small tasks, estimate each, add up.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Best when: Scope is known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91640"/>
            <a:ext cx="2606040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Three-point (PERT)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Optimistic, most likely, pessimistic.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Best when: Uncertainty is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91640"/>
            <a:ext cx="2606040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Experience-based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Past projects and expert judgement.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Best when: Similar work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7" y="1691640"/>
            <a:ext cx="2606040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Story points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Relative size; testing included (recap).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Best when: Agile team with velocity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2628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360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Always add a buffer (10-20%) and state assumptions: "assuming a stable environment and 8 builds or fewer".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11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WBS and PERT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576072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663440"/>
                <a:gridCol w="10972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Task (login and registration)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Hours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Review requirements, write conditions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Write and review 40 test cases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Data, environment, smoke 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Execute cycle 1, log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Retest, regression, reports, closure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Total (≈ 8 person-days)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91640"/>
            <a:ext cx="4910328" cy="10972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 = (O + 4M + P)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971800"/>
            <a:ext cx="49103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O = 2, M = 4, P = 9 days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E = (2 + 16 + 9) / 6 = 4.5 days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SD = (P − O) / 6 ≈ 1.2 days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Commit to about 5.5 to 6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12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Fields, good and poor cases, and how cases are grouped for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13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Test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Written before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2037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648" y="220370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TC-LOG-001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609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66090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Login succeeds with valid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181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11810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REQ-LOGIN-01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753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Preconditions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57530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User exists, verified, not 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32503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4032503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Open login · enter email · password · Log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89703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4489703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user01@example.com / Secure#2024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946903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Expected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4946903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Dashboard shows "Welcome"; Log out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04103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5404103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High (from risk)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645920"/>
            <a:ext cx="3172968" cy="4572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Filled during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148840"/>
            <a:ext cx="3172968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Actual result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Status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Build, date, tester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Defect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06240"/>
            <a:ext cx="317296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Postcondition: the state after the test, e.g. one new user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14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Poor vs Good Test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4206240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40280"/>
            <a:ext cx="420624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ID: 1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Title: Test login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Steps: Try to log in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Expected: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3208" y="1645920"/>
            <a:ext cx="649224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3208" y="2240280"/>
            <a:ext cx="64922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TC-LOG-001 · REQ-LOGIN-01 · High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Pre: user01 exists, verified, not locked; logged out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Steps: open Login · enter email · enter password · click Log in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Expected: Dashboard; header "Welcome, User One"; Log out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8920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Poor: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vague title, no data, no start point, "it works" cannot be verified. Two testers would disagree.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15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Qualities of a Good Test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One purpose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If five checks fail together, which broke?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Precise steps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Any teammate can follow without guessing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Observable result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URL, message text, saved data; never 'works properly'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Independent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hidden dependence on another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Traceable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Linked to a requirement and a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79476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Positive and negative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Invalid input handled safely, no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16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Suites and Test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377440" cy="3108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Test case repository</a:t>
            </a:r>
          </a:p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written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Registration suite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90088" y="2258568"/>
            <a:ext cx="758951" cy="112471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292608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Login suite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90088" y="3355848"/>
            <a:ext cx="758951" cy="2743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402336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Smoke suite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0088" y="3383280"/>
            <a:ext cx="758951" cy="106984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55279" y="2011680"/>
            <a:ext cx="3630168" cy="11887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Cycle 1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1.0.3 · Mon-Wed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492240" y="2606040"/>
            <a:ext cx="1463039" cy="59436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79" y="3520440"/>
            <a:ext cx="3630168" cy="11887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Cycle 2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1.0.4 · retest + regression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3200400"/>
            <a:ext cx="1463039" cy="91440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5257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Suite: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cases grouped for a purpose (a playlist). </a:t>
            </a:r>
            <a:r>
              <a:rPr sz="1700" b="1" i="0">
                <a:solidFill>
                  <a:srgbClr val="330066"/>
                </a:solidFill>
                <a:latin typeface="Arial"/>
              </a:rPr>
              <a:t>Cycle: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one round of execution on one build; each case gets a result per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17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Readiness, smoke tests, the execution routine, statuses and retesting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18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Ready to Execute?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556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Requirements baselined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1343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3774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Cases reviewed and approved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2935224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99923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Build deployed, version known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55701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62102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 data loaded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17880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24281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Access and tools ready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48006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86460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Environment checked (email inbox, config)</a:t>
            </a:r>
          </a:p>
        </p:txBody>
      </p:sp>
      <p:sp>
        <p:nvSpPr>
          <p:cNvPr id="16" name="Diamond 15"/>
          <p:cNvSpPr/>
          <p:nvPr/>
        </p:nvSpPr>
        <p:spPr>
          <a:xfrm>
            <a:off x="6858000" y="1828800"/>
            <a:ext cx="2011680" cy="14630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Smoke test passed?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560320"/>
            <a:ext cx="64008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2148840"/>
            <a:ext cx="2075688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Start execution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3291840"/>
            <a:ext cx="0" cy="64008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0" y="3931920"/>
            <a:ext cx="4727448" cy="822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Reject build, report at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983480"/>
            <a:ext cx="47274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Record build, browser, OS and date on every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19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Smoke vs Sanity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Smoke: broad and shallow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2423160"/>
            <a:ext cx="731520" cy="411480"/>
          </a:xfrm>
          <a:prstGeom prst="roundRect">
            <a:avLst>
              <a:gd name="adj" fmla="val 2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0632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new build, 15-30 minutes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Is the build testable at all?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Outcome: accept or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Sanity: narrow and deeper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5048" y="2377440"/>
            <a:ext cx="1097280" cy="548640"/>
          </a:xfrm>
          <a:prstGeom prst="roundRect">
            <a:avLst>
              <a:gd name="adj" fmla="val 2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30632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a small fix or change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this change behave sensibly?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Outcome: proceed or send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8006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1032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Smoke: site loads · Registration opens · Login opens · test user reaches Dashboard · Log out works. Any failure: build rejected.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20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Execution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1. Pick next case (highest risk first)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22776" y="2304288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61688" y="173736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2. Set up preconditions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71816" y="2304288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110727" y="173736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3. Follow steps exactly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91839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4. Compare actual with expected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22776" y="3858768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61688" y="3291839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5. Record status and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3858768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10727" y="3291839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6. Fail? Log and link a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2880360"/>
            <a:ext cx="0" cy="201168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258568" y="3081528"/>
            <a:ext cx="74980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58568" y="3081528"/>
            <a:ext cx="0" cy="210312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8" y="489204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01768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Evidence: screenshot with URL bar, short video, console or log lines, exact data, build. Name files TC-REG-003_short-password.png.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21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Test Statuses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6517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Not Run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07208" y="3108960"/>
            <a:ext cx="11247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0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attempt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6916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69748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70332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2062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Skipped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074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by decision, with a reason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09928" y="3566160"/>
            <a:ext cx="0" cy="640080"/>
          </a:xfrm>
          <a:prstGeom prst="line">
            <a:avLst/>
          </a:prstGeom>
          <a:ln w="2540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66560" y="173736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Pass: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every check matched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Fail: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ran it; behaviour was wrong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Blocked: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could not reach the check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808080"/>
                </a:solidFill>
                <a:latin typeface="Arial"/>
              </a:rPr>
              <a:t>Skipped: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deliberately not run this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5029200"/>
            <a:ext cx="8476488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138928"/>
            <a:ext cx="80192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Lockout case cannot run: QA lockout threshold is 50, not 5. That is Blocked, not Fail.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22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Retesting vs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73736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Fix in build 1.0.4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017520" y="2560320"/>
            <a:ext cx="2103120" cy="6400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40880" y="2560320"/>
            <a:ext cx="2103120" cy="6400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" y="3200400"/>
            <a:ext cx="512064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Retesting (confirmation)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Re-run the exact case that failed.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"Is the broken thing fixed?"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4808" y="3200400"/>
            <a:ext cx="512064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Regression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Re-run related cases that passed before.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"Did the fix break anything else?"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212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Reserve time for both in every cycle. Regression strategy and automation: Friday.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Tracking, Reporting and Closure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Progress, execution metrics, status reports, blockers and the closure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24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Progress Daily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4592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828800"/>
            <a:ext cx="39044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Update status as you finish each case, not at day end.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Compare actual with plan every day.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Planned 10 a day, doing 6? Raise it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25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Execution %</a:t>
            </a:r>
          </a:p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executed ÷ planned ×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Pass %</a:t>
            </a:r>
          </a:p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passed ÷ executed × 100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3108960"/>
          <a:ext cx="10972800" cy="1005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4114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Failed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Blocked + skipped + not run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4251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30066"/>
                </a:solidFill>
                <a:latin typeface="Arial"/>
              </a:rPr>
              <a:t>Executed = 102 → Execution 85% · Pass 88.2%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89204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01768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READ THE NUMBERS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"The pass rate looks healthy, but 18 tests give us no information yet, so I cannot recommend release."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26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Daily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85216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74519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920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Day 3 of 4 · build 1.0.3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2606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40 planned · 30 run · 26 pass · 4 fail · 2 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918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Defects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32918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 new · 5 open (2 High)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7763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Blockers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977639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Lockout threshold is 50 in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634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46634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Top security tests may slip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49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Help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53492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Vikram: fix setting by Thu 10:00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28800"/>
            <a:ext cx="472744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Brief, factual, honest.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Green / Amber / Red overall status.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 request for action, not a diary: who, what, by when.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27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Blocked Tests and Schedule Slips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Blocked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Schedule slipping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2316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1. Confirm it is truly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42316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1. Detect early: plan vs actual daily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136391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2. Record cause, owner, ticket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3136391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2. Report honestly with a new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849624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3. Escalate the same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3849624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3. Re-prioritise by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562856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4. Run unblocked tests meanwhile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562856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4. Offer options; others decide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5276088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5. Many blocked? Check suspension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5276088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5. Never mark tests passed unrun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28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 Closure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Exit criteria check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1031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16712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100% of planned tests executed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72491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889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Pass rate at least 95%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346704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41071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open Critical or High defects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396849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03250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Medium defects fixed or deferral approved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" y="459028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654296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requirement has an executed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91640"/>
            <a:ext cx="4636008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Recommendation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Release, subject to the PO accepting the listed risks.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886200"/>
            <a:ext cx="4636008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report recommends; the business decides.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349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Also: archive cases, data and results; hold a lessons-learned session; get sign-off.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29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53035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 out-of-scope list in the plan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State what will not be tested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Testing in random order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 the highest risk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Estimates with no buffer or assumptions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Add 10-20% and state assumptions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Vague expected results ('works properly')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Write observable results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Marking Blocked tests as Fail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Blocked, with cause and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Reporting only the pass 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Show blocked and not-run tests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30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plan answers what, why, how, who, when and what if; a strategy sits above it.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Risk = likelihood × impact decides the order and depth of testing.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Estimate with WBS, PERT, experience or points; add a buffer and assumptions.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Good test cases are precise, observable, traceable; suites group them, cycles run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Check readiness and smoke first; record Pass, Fail, Blocked, Skipped honestly with evidence.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Report daily and close with facts and a recommendation; the business decides.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31 / 32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Foundation Level syllabus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Test Plan: What is, How to Create (with Example)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https://www.guru99.com/test-planning.html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How to Write Test Cases: Sample Template with Examples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https://www.guru99.com/test-case.html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Test Planning and Execution  ·  Week 3 · Tuesday   | 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